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7"/>
  </p:notesMasterIdLst>
  <p:handoutMasterIdLst>
    <p:handoutMasterId r:id="rId28"/>
  </p:handoutMasterIdLst>
  <p:sldIdLst>
    <p:sldId id="277" r:id="rId3"/>
    <p:sldId id="354" r:id="rId4"/>
    <p:sldId id="265" r:id="rId5"/>
    <p:sldId id="281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2" r:id="rId17"/>
    <p:sldId id="346" r:id="rId18"/>
    <p:sldId id="347" r:id="rId19"/>
    <p:sldId id="348" r:id="rId20"/>
    <p:sldId id="349" r:id="rId21"/>
    <p:sldId id="312" r:id="rId22"/>
    <p:sldId id="311" r:id="rId23"/>
    <p:sldId id="313" r:id="rId24"/>
    <p:sldId id="350" r:id="rId25"/>
    <p:sldId id="27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66" d="100"/>
          <a:sy n="66" d="100"/>
        </p:scale>
        <p:origin x="55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t>6/14/2023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doaR30UPyyOY0IRVyChKPoZVB99BOTYyw61SPEVbYoxNepFQ/viewform?usp=pp_url" TargetMode="External"/><Relationship Id="rId2" Type="http://schemas.openxmlformats.org/officeDocument/2006/relationships/hyperlink" Target="https://docs.google.com/forms/d/1w8ZYvA6wP_wNW-mzrkGsNvNi170XonXmUYT-3bvPCPI/edit" TargetMode="Externa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eshare.net/PratyushSrivastava8/optical-fiber-cable-v2?from_action=save" TargetMode="External"/><Relationship Id="rId3" Type="http://schemas.openxmlformats.org/officeDocument/2006/relationships/hyperlink" Target="http://constructionmanuals.tpub.com/14026/css/Fiber-Buffers-193.htm" TargetMode="External"/><Relationship Id="rId7" Type="http://schemas.openxmlformats.org/officeDocument/2006/relationships/hyperlink" Target="https://www.slideshare.net/PratyushSrivastava8/optical-fiber-cable-" TargetMode="External"/><Relationship Id="rId12" Type="http://schemas.openxmlformats.org/officeDocument/2006/relationships/hyperlink" Target="https://images.app.goo.gl/LLWfgV3PjgLc9RbDA" TargetMode="External"/><Relationship Id="rId2" Type="http://schemas.openxmlformats.org/officeDocument/2006/relationships/hyperlink" Target="https://www.ispreview.co.uk/index.php/2013/07/alcatel-lucent-breaks-record-with-31tbps-over-a-single-fibre-optic-cable.html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computer.howstuffworks.com/fiber-optic2.htm" TargetMode="External"/><Relationship Id="rId11" Type="http://schemas.openxmlformats.org/officeDocument/2006/relationships/hyperlink" Target="http://fiberonda.com/single-mode-vs-multi-mode-fiber-optic-cable/" TargetMode="External"/><Relationship Id="rId5" Type="http://schemas.openxmlformats.org/officeDocument/2006/relationships/hyperlink" Target="https://www.slideshare.net/MadhumitaTamhane/optical-fiber-communication-part-1-optical-fiber-fundamentals" TargetMode="External"/><Relationship Id="rId10" Type="http://schemas.openxmlformats.org/officeDocument/2006/relationships/hyperlink" Target="https://www.explainthatstuff.com/fiberoptics.html" TargetMode="External"/><Relationship Id="rId4" Type="http://schemas.openxmlformats.org/officeDocument/2006/relationships/hyperlink" Target="https://www.slideshare.net/ankushsaini123/6796optical-fibres" TargetMode="External"/><Relationship Id="rId9" Type="http://schemas.openxmlformats.org/officeDocument/2006/relationships/hyperlink" Target="https://www.ques10.com/p/21598/derive-the-expression-of-numerical-aperture-for-a-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iberopticshare.com/what-are-the-components-of-optical-fiber.html" TargetMode="Externa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7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072674" y="156275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459213" y="6014156"/>
            <a:ext cx="6432043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FIBRE OPTICS </a:t>
            </a:r>
          </a:p>
          <a:p>
            <a:pPr eaLnBrk="1" hangingPunct="1"/>
            <a:r>
              <a:rPr lang="en-US" sz="1600">
                <a:latin typeface="Raleway ExtraBold" pitchFamily="34" charset="-52"/>
              </a:rPr>
              <a:t> </a:t>
            </a: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44063" y="1562755"/>
            <a:ext cx="10662138" cy="4262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: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DEPARTMENT: ALL ACADEMIC UNITS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(All Sections)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and Code: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Physics 23SPH-141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by: Deepak Kumar, </a:t>
            </a:r>
            <a:r>
              <a:rPr lang="en-US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Asso</a:t>
            </a: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Prof. Physics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-287717" y="1297692"/>
            <a:ext cx="4456567" cy="1328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br>
              <a:rPr lang="en-US" sz="4400" b="1" dirty="0">
                <a:latin typeface="Casper Bold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 Bold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956603" y="1055077"/>
            <a:ext cx="9811481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dirty="0"/>
              <a:t> </a:t>
            </a:r>
            <a:endParaRPr lang="en-US" sz="4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The course is designed to make the students industry ready to contribute in the growing demand of the industry at local, national and international level.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It will make the students competent to understand basic concepts and applications of advanced engineering physics and apply its principles in their respective fields at global platform.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It will enhance the skill level of the students and shall make them preferred choice for getting employment in industry and research labs.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It will give thorough knowledge of the discipline to enable students to disseminate knowledge in pursuing excellence in academic areas.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82351" y="331802"/>
            <a:ext cx="75402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mbria" panose="02040503050406030204" pitchFamily="18" charset="0"/>
                <a:ea typeface="Cambria" panose="02040503050406030204" pitchFamily="18" charset="0"/>
              </a:rPr>
              <a:t>Course Objectives</a:t>
            </a:r>
            <a:endParaRPr lang="en-US" sz="4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68390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571875" y="-105382"/>
            <a:ext cx="3500438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br>
              <a:rPr lang="en-US" sz="4400" b="1" dirty="0">
                <a:latin typeface="Casper Bold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 Bold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28468" y="98474"/>
            <a:ext cx="49294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Course Outcomes 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680" y="1287996"/>
            <a:ext cx="5213290" cy="5011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300788" y="6299199"/>
            <a:ext cx="51771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                       Figure 2.1 Optical fibres [1]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384121"/>
              </p:ext>
            </p:extLst>
          </p:nvPr>
        </p:nvGraphicFramePr>
        <p:xfrm>
          <a:off x="177421" y="2096487"/>
          <a:ext cx="5477164" cy="46373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4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9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CO Number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Title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completion of this course, the students are expected to learn</a:t>
                      </a:r>
                      <a:endParaRPr lang="en-US" sz="12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Level 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Quote the basic fundamental concepts of lasers, optical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crystallography, ultrasonic oscillations, semiconductor physics, quantum mechanics and nanotechnology.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Remember, Understand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6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Demonstrate the working of various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components, semiconductor devices; explain the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behaviour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of crystalline solids,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-scale systems.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Solve problems by applying principles related to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semiconductors, oscillations,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nanoscience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Applying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Compare various lasers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semiconducting devices, crystalline materials, structures at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nanoscale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on the basis of their properties for industrial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6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Develop various systems using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nanomaterials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for futuristic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Design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" y="1237956"/>
            <a:ext cx="5711134" cy="5620043"/>
          </a:xfrm>
        </p:spPr>
        <p:txBody>
          <a:bodyPr>
            <a:noAutofit/>
          </a:bodyPr>
          <a:lstStyle/>
          <a:p>
            <a:pPr marL="355600" indent="-342900">
              <a:lnSpc>
                <a:spcPct val="100000"/>
              </a:lnSpc>
              <a:spcBef>
                <a:spcPts val="310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 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Brief</a:t>
            </a: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Introduction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34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Optical fiber</a:t>
            </a:r>
            <a:r>
              <a:rPr lang="en-US" sz="2400" spc="-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construction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Critical angle &amp; </a:t>
            </a:r>
            <a:r>
              <a:rPr lang="en-US" sz="2400" spc="-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Total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Internal</a:t>
            </a:r>
            <a:r>
              <a:rPr lang="en-US" sz="2400" spc="-11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Reflection</a:t>
            </a:r>
          </a:p>
          <a:p>
            <a:pPr marL="469900" indent="-457200">
              <a:lnSpc>
                <a:spcPct val="100000"/>
              </a:lnSpc>
              <a:spcBef>
                <a:spcPts val="229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Acceptance angle &amp; acceptance</a:t>
            </a:r>
            <a:r>
              <a:rPr lang="en-US" sz="2400" spc="-1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cone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Numerical</a:t>
            </a:r>
            <a:r>
              <a:rPr lang="en-US" sz="2400" spc="-1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Aperture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V-Number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spc="-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Types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of fibers</a:t>
            </a:r>
          </a:p>
          <a:p>
            <a:pPr marL="469900" indent="-457200">
              <a:lnSpc>
                <a:spcPct val="100000"/>
              </a:lnSpc>
              <a:spcBef>
                <a:spcPts val="229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Dispersion &amp; its</a:t>
            </a:r>
            <a:r>
              <a:rPr lang="en-US" sz="2400" spc="-6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types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Attenuation and Losses in</a:t>
            </a:r>
            <a:r>
              <a:rPr lang="en-US" sz="2400" spc="-9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Fiber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Advantages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Disadvantages</a:t>
            </a:r>
          </a:p>
          <a:p>
            <a:pPr marL="469900" indent="-457200">
              <a:lnSpc>
                <a:spcPct val="100000"/>
              </a:lnSpc>
              <a:spcBef>
                <a:spcPts val="229"/>
              </a:spcBef>
              <a:buClr>
                <a:srgbClr val="DD8046"/>
              </a:buClr>
              <a:buSzPct val="60000"/>
              <a:buFont typeface="Arial" panose="020B0604020202020204" pitchFamily="34" charset="0"/>
              <a:buChar char="•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Applications</a:t>
            </a:r>
          </a:p>
          <a:p>
            <a:pPr>
              <a:lnSpc>
                <a:spcPct val="150000"/>
              </a:lnSpc>
            </a:pPr>
            <a:endParaRPr lang="en-US" dirty="0">
              <a:latin typeface="Casper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sper"/>
              <a:cs typeface="Arial" panose="020B0604020202020204" pitchFamily="34" charset="0"/>
            </a:endParaRPr>
          </a:p>
          <a:p>
            <a:endParaRPr lang="en-US" dirty="0">
              <a:latin typeface="Caspe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 rot="10800000" flipV="1">
            <a:off x="858129" y="285685"/>
            <a:ext cx="8553156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Brief Flow of Presentation</a:t>
            </a: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711134" y="6155323"/>
            <a:ext cx="5428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Figure 2.2  Basic structure </a:t>
            </a:r>
            <a:r>
              <a:rPr lang="en-US" sz="1600">
                <a:latin typeface="Casper"/>
              </a:rPr>
              <a:t>and parts </a:t>
            </a:r>
            <a:r>
              <a:rPr lang="en-US" sz="1600" dirty="0">
                <a:latin typeface="Casper"/>
              </a:rPr>
              <a:t>of optical fibre [2]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1" y="1486287"/>
            <a:ext cx="4157662" cy="414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994" y="0"/>
            <a:ext cx="11362005" cy="1617785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1940"/>
              </a:spcBef>
            </a:pPr>
            <a:r>
              <a:rPr lang="en-US" sz="4400" b="1" spc="-10" dirty="0">
                <a:latin typeface="Cambria"/>
                <a:cs typeface="Cambria"/>
              </a:rPr>
              <a:t>Types of Optical </a:t>
            </a:r>
            <a:r>
              <a:rPr lang="en-US" sz="4400" b="1" spc="-5" dirty="0">
                <a:latin typeface="Cambria"/>
                <a:cs typeface="Cambria"/>
              </a:rPr>
              <a:t>fibers based on </a:t>
            </a:r>
            <a:r>
              <a:rPr lang="en-US" sz="4400" b="1" spc="-10" dirty="0">
                <a:latin typeface="Cambria"/>
                <a:cs typeface="Cambria"/>
              </a:rPr>
              <a:t>modes </a:t>
            </a:r>
            <a:r>
              <a:rPr lang="en-US" sz="4400" b="1" spc="-5" dirty="0">
                <a:latin typeface="Cambria"/>
                <a:cs typeface="Cambria"/>
              </a:rPr>
              <a:t>and     refractive index </a:t>
            </a:r>
            <a:endParaRPr lang="en-US" sz="4400" dirty="0">
              <a:latin typeface="Cambria"/>
              <a:cs typeface="Cambri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5</a:t>
            </a:fld>
            <a:endParaRPr lang="en-US"/>
          </a:p>
        </p:txBody>
      </p:sp>
      <p:sp>
        <p:nvSpPr>
          <p:cNvPr id="6" name="object 4"/>
          <p:cNvSpPr txBox="1">
            <a:spLocks noGrp="1"/>
          </p:cNvSpPr>
          <p:nvPr>
            <p:ph idx="1"/>
          </p:nvPr>
        </p:nvSpPr>
        <p:spPr>
          <a:xfrm>
            <a:off x="196947" y="1617785"/>
            <a:ext cx="11631887" cy="4159087"/>
          </a:xfrm>
          <a:prstGeom prst="rect">
            <a:avLst/>
          </a:prstGeom>
        </p:spPr>
        <p:txBody>
          <a:bodyPr vert="horz" wrap="square" lIns="0" tIns="246380" rIns="0" bIns="0" rtlCol="0">
            <a:spAutoFit/>
          </a:bodyPr>
          <a:lstStyle/>
          <a:p>
            <a:pPr marL="354965" marR="5080" indent="-342900" algn="just">
              <a:lnSpc>
                <a:spcPct val="130000"/>
              </a:lnSpc>
              <a:spcBef>
                <a:spcPts val="650"/>
              </a:spcBef>
              <a:buClr>
                <a:srgbClr val="0AD0D9"/>
              </a:buClr>
              <a:buSzPct val="93181"/>
              <a:tabLst>
                <a:tab pos="287655" algn="l"/>
              </a:tabLst>
            </a:pPr>
            <a:r>
              <a:rPr lang="en-US" sz="2400" spc="-10" dirty="0">
                <a:latin typeface="Cambria"/>
                <a:cs typeface="Cambria"/>
              </a:rPr>
              <a:t>Mode is the one which describes the nature of propagation of  electromagnetic waves in a wave guide. </a:t>
            </a:r>
          </a:p>
          <a:p>
            <a:pPr marL="354965" marR="5080" indent="-342900" algn="just">
              <a:lnSpc>
                <a:spcPct val="130000"/>
              </a:lnSpc>
              <a:spcBef>
                <a:spcPts val="650"/>
              </a:spcBef>
              <a:buClr>
                <a:srgbClr val="0AD0D9"/>
              </a:buClr>
              <a:buSzPct val="93181"/>
              <a:tabLst>
                <a:tab pos="287655" algn="l"/>
              </a:tabLst>
            </a:pPr>
            <a:r>
              <a:rPr lang="en-US" sz="2400" spc="-10" dirty="0">
                <a:latin typeface="Cambria"/>
                <a:cs typeface="Cambria"/>
              </a:rPr>
              <a:t>It is the allowed direction whose associated angles satisfy the  conditions for </a:t>
            </a:r>
            <a:r>
              <a:rPr lang="en-US" sz="2400" b="1" spc="-10" dirty="0">
                <a:latin typeface="Cambria"/>
                <a:cs typeface="Cambria"/>
              </a:rPr>
              <a:t>total internal reflection </a:t>
            </a:r>
            <a:r>
              <a:rPr lang="en-US" sz="2400" spc="-10" dirty="0">
                <a:latin typeface="Cambria"/>
                <a:cs typeface="Cambria"/>
              </a:rPr>
              <a:t>and constructive  interference.</a:t>
            </a:r>
          </a:p>
          <a:p>
            <a:pPr marL="354965" marR="5080" indent="-342900" algn="just">
              <a:lnSpc>
                <a:spcPct val="130000"/>
              </a:lnSpc>
              <a:spcBef>
                <a:spcPts val="650"/>
              </a:spcBef>
              <a:buClr>
                <a:srgbClr val="0AD0D9"/>
              </a:buClr>
              <a:buSzPct val="93181"/>
              <a:tabLst>
                <a:tab pos="287655" algn="l"/>
              </a:tabLst>
            </a:pPr>
            <a:r>
              <a:rPr lang="en-US" sz="2400" spc="-10" dirty="0">
                <a:latin typeface="Cambria"/>
                <a:cs typeface="Cambria"/>
              </a:rPr>
              <a:t>Based on the number of modes that propagates through the optical fiber, they are classified as:</a:t>
            </a:r>
          </a:p>
          <a:p>
            <a:pPr marL="354965" marR="5080" indent="-342900" algn="just">
              <a:lnSpc>
                <a:spcPct val="130000"/>
              </a:lnSpc>
              <a:spcBef>
                <a:spcPts val="650"/>
              </a:spcBef>
              <a:buClr>
                <a:srgbClr val="0AD0D9"/>
              </a:buClr>
              <a:buSzPct val="93181"/>
              <a:tabLst>
                <a:tab pos="287655" algn="l"/>
              </a:tabLst>
            </a:pPr>
            <a:endParaRPr lang="en-US" sz="3800" spc="-1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532862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061" y="520505"/>
            <a:ext cx="7541183" cy="5978769"/>
          </a:xfrm>
        </p:spPr>
        <p:txBody>
          <a:bodyPr>
            <a:normAutofit fontScale="85000" lnSpcReduction="10000"/>
          </a:bodyPr>
          <a:lstStyle/>
          <a:p>
            <a:pPr marL="583565" marR="5080" indent="-571500" algn="just">
              <a:lnSpc>
                <a:spcPct val="130000"/>
              </a:lnSpc>
              <a:spcBef>
                <a:spcPts val="650"/>
              </a:spcBef>
              <a:buClr>
                <a:srgbClr val="0AD0D9"/>
              </a:buClr>
              <a:buSzPct val="93181"/>
              <a:tabLst>
                <a:tab pos="287655" algn="l"/>
              </a:tabLst>
            </a:pPr>
            <a:r>
              <a:rPr lang="en-US" sz="3100" b="1" spc="-10" dirty="0">
                <a:latin typeface="Cambria"/>
                <a:cs typeface="Cambria"/>
              </a:rPr>
              <a:t>Single Mode </a:t>
            </a:r>
            <a:r>
              <a:rPr lang="en-US" sz="3100" spc="-10" dirty="0">
                <a:latin typeface="Cambria"/>
                <a:cs typeface="Cambria"/>
              </a:rPr>
              <a:t>fibers can propagate only the fundamental mode.</a:t>
            </a:r>
          </a:p>
          <a:p>
            <a:pPr marL="583565" marR="5080" indent="-571500" algn="just">
              <a:lnSpc>
                <a:spcPct val="130000"/>
              </a:lnSpc>
              <a:spcBef>
                <a:spcPts val="650"/>
              </a:spcBef>
              <a:buClr>
                <a:srgbClr val="0AD0D9"/>
              </a:buClr>
              <a:buSzPct val="93181"/>
              <a:tabLst>
                <a:tab pos="287655" algn="l"/>
              </a:tabLst>
            </a:pPr>
            <a:r>
              <a:rPr lang="en-US" sz="3100" b="1" spc="-10" dirty="0">
                <a:latin typeface="Cambria"/>
                <a:cs typeface="Cambria"/>
              </a:rPr>
              <a:t>Multimode fibers </a:t>
            </a:r>
            <a:r>
              <a:rPr lang="en-US" sz="3100" spc="-10" dirty="0">
                <a:latin typeface="Cambria"/>
                <a:cs typeface="Cambria"/>
              </a:rPr>
              <a:t>can propagate hundreds of modes.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3400" b="1" spc="-5" dirty="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lang="en-US" sz="3100" b="1" spc="-5" dirty="0">
                <a:latin typeface="Cambria"/>
                <a:cs typeface="Cambria"/>
              </a:rPr>
              <a:t>Single </a:t>
            </a:r>
            <a:r>
              <a:rPr lang="en-US" sz="3100" b="1" dirty="0">
                <a:latin typeface="Cambria"/>
                <a:cs typeface="Cambria"/>
              </a:rPr>
              <a:t>mode</a:t>
            </a:r>
            <a:r>
              <a:rPr lang="en-US" sz="3100" b="1" spc="-50" dirty="0">
                <a:latin typeface="Cambria"/>
                <a:cs typeface="Cambria"/>
              </a:rPr>
              <a:t> </a:t>
            </a:r>
            <a:r>
              <a:rPr lang="en-US" sz="3100" b="1" dirty="0">
                <a:latin typeface="Cambria"/>
                <a:cs typeface="Cambria"/>
              </a:rPr>
              <a:t>fibers:</a:t>
            </a:r>
            <a:endParaRPr lang="en-US" sz="3100" dirty="0">
              <a:latin typeface="Cambria"/>
              <a:cs typeface="Cambria"/>
            </a:endParaRPr>
          </a:p>
          <a:p>
            <a:pPr marL="0" indent="0" algn="just">
              <a:lnSpc>
                <a:spcPct val="100000"/>
              </a:lnSpc>
              <a:spcBef>
                <a:spcPts val="50"/>
              </a:spcBef>
              <a:buNone/>
            </a:pPr>
            <a:endParaRPr lang="en-US" sz="3100" dirty="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</a:pPr>
            <a:r>
              <a:rPr lang="en-US" sz="3100" spc="-5" dirty="0">
                <a:latin typeface="Cambria"/>
                <a:cs typeface="Cambria"/>
              </a:rPr>
              <a:t>In</a:t>
            </a:r>
            <a:r>
              <a:rPr lang="en-US" sz="3100" spc="40" dirty="0">
                <a:latin typeface="Cambria"/>
                <a:cs typeface="Cambria"/>
              </a:rPr>
              <a:t> </a:t>
            </a:r>
            <a:r>
              <a:rPr lang="en-US" sz="3100" dirty="0">
                <a:latin typeface="Cambria"/>
                <a:cs typeface="Cambria"/>
              </a:rPr>
              <a:t>a</a:t>
            </a:r>
            <a:r>
              <a:rPr lang="en-US" sz="3100" spc="50" dirty="0">
                <a:latin typeface="Cambria"/>
                <a:cs typeface="Cambria"/>
              </a:rPr>
              <a:t> </a:t>
            </a:r>
            <a:r>
              <a:rPr lang="en-US" sz="3100" spc="-40" dirty="0">
                <a:latin typeface="Cambria"/>
                <a:cs typeface="Cambria"/>
              </a:rPr>
              <a:t>fiber,</a:t>
            </a:r>
            <a:r>
              <a:rPr lang="en-US" sz="3100" spc="50" dirty="0">
                <a:latin typeface="Cambria"/>
                <a:cs typeface="Cambria"/>
              </a:rPr>
              <a:t> </a:t>
            </a:r>
            <a:r>
              <a:rPr lang="en-US" sz="3100" spc="-10" dirty="0">
                <a:latin typeface="Cambria"/>
                <a:cs typeface="Cambria"/>
              </a:rPr>
              <a:t>if</a:t>
            </a:r>
            <a:r>
              <a:rPr lang="en-US" sz="3100" spc="45" dirty="0">
                <a:latin typeface="Cambria"/>
                <a:cs typeface="Cambria"/>
              </a:rPr>
              <a:t> </a:t>
            </a:r>
            <a:r>
              <a:rPr lang="en-US" sz="3100" spc="-15" dirty="0">
                <a:latin typeface="Cambria"/>
                <a:cs typeface="Cambria"/>
              </a:rPr>
              <a:t>only</a:t>
            </a:r>
            <a:r>
              <a:rPr lang="en-US" sz="3100" spc="50" dirty="0">
                <a:latin typeface="Cambria"/>
                <a:cs typeface="Cambria"/>
              </a:rPr>
              <a:t> </a:t>
            </a:r>
            <a:r>
              <a:rPr lang="en-US" sz="3100" b="1" spc="-5" dirty="0">
                <a:latin typeface="Cambria"/>
                <a:cs typeface="Cambria"/>
              </a:rPr>
              <a:t>one</a:t>
            </a:r>
            <a:r>
              <a:rPr lang="en-US" sz="3100" b="1" spc="50" dirty="0">
                <a:latin typeface="Cambria"/>
                <a:cs typeface="Cambria"/>
              </a:rPr>
              <a:t> </a:t>
            </a:r>
            <a:r>
              <a:rPr lang="en-US" sz="3100" b="1" spc="-5" dirty="0">
                <a:latin typeface="Cambria"/>
                <a:cs typeface="Cambria"/>
              </a:rPr>
              <a:t>mode</a:t>
            </a:r>
            <a:r>
              <a:rPr lang="en-US" sz="3100" b="1" spc="55" dirty="0">
                <a:latin typeface="Cambria"/>
                <a:cs typeface="Cambria"/>
              </a:rPr>
              <a:t> </a:t>
            </a:r>
            <a:r>
              <a:rPr lang="en-US" sz="3100" spc="-10" dirty="0">
                <a:latin typeface="Cambria"/>
                <a:cs typeface="Cambria"/>
              </a:rPr>
              <a:t>is</a:t>
            </a:r>
            <a:r>
              <a:rPr lang="en-US" sz="3100" spc="45" dirty="0">
                <a:latin typeface="Cambria"/>
                <a:cs typeface="Cambria"/>
              </a:rPr>
              <a:t> </a:t>
            </a:r>
            <a:r>
              <a:rPr lang="en-US" sz="3100" spc="-10" dirty="0">
                <a:latin typeface="Cambria"/>
                <a:cs typeface="Cambria"/>
              </a:rPr>
              <a:t>transmitted</a:t>
            </a:r>
            <a:r>
              <a:rPr lang="en-US" sz="3100" spc="30" dirty="0">
                <a:latin typeface="Cambria"/>
                <a:cs typeface="Cambria"/>
              </a:rPr>
              <a:t> </a:t>
            </a:r>
            <a:r>
              <a:rPr lang="en-US" sz="3100" spc="-15" dirty="0">
                <a:latin typeface="Cambria"/>
                <a:cs typeface="Cambria"/>
              </a:rPr>
              <a:t>through</a:t>
            </a:r>
            <a:r>
              <a:rPr lang="en-US" sz="3100" spc="45" dirty="0">
                <a:latin typeface="Cambria"/>
                <a:cs typeface="Cambria"/>
              </a:rPr>
              <a:t> </a:t>
            </a:r>
            <a:r>
              <a:rPr lang="en-US" sz="3100" spc="5" dirty="0">
                <a:latin typeface="Cambria"/>
                <a:cs typeface="Cambria"/>
              </a:rPr>
              <a:t>it,</a:t>
            </a:r>
            <a:r>
              <a:rPr lang="en-US" sz="3100" spc="40" dirty="0">
                <a:latin typeface="Cambria"/>
                <a:cs typeface="Cambria"/>
              </a:rPr>
              <a:t> </a:t>
            </a:r>
            <a:r>
              <a:rPr lang="en-US" sz="3100" spc="-5" dirty="0">
                <a:latin typeface="Cambria"/>
                <a:cs typeface="Cambria"/>
              </a:rPr>
              <a:t>then</a:t>
            </a:r>
            <a:r>
              <a:rPr lang="en-US" sz="3100" spc="55" dirty="0">
                <a:latin typeface="Cambria"/>
                <a:cs typeface="Cambria"/>
              </a:rPr>
              <a:t> </a:t>
            </a:r>
            <a:r>
              <a:rPr lang="en-US" sz="3100" spc="-10" dirty="0">
                <a:latin typeface="Cambria"/>
                <a:cs typeface="Cambria"/>
              </a:rPr>
              <a:t>it</a:t>
            </a:r>
            <a:r>
              <a:rPr lang="en-US" sz="3100" spc="55" dirty="0">
                <a:latin typeface="Cambria"/>
                <a:cs typeface="Cambria"/>
              </a:rPr>
              <a:t> </a:t>
            </a:r>
            <a:r>
              <a:rPr lang="en-US" sz="3100" spc="-5" dirty="0">
                <a:latin typeface="Cambria"/>
                <a:cs typeface="Cambria"/>
              </a:rPr>
              <a:t>is</a:t>
            </a:r>
            <a:r>
              <a:rPr lang="en-US" sz="3100" spc="45" dirty="0">
                <a:latin typeface="Cambria"/>
                <a:cs typeface="Cambria"/>
              </a:rPr>
              <a:t> </a:t>
            </a:r>
            <a:r>
              <a:rPr lang="en-US" sz="3100" spc="-5" dirty="0">
                <a:latin typeface="Cambria"/>
                <a:cs typeface="Cambria"/>
              </a:rPr>
              <a:t>said</a:t>
            </a:r>
            <a:r>
              <a:rPr lang="en-US" sz="3100" spc="35" dirty="0">
                <a:latin typeface="Cambria"/>
                <a:cs typeface="Cambria"/>
              </a:rPr>
              <a:t> </a:t>
            </a:r>
            <a:r>
              <a:rPr lang="en-US" sz="3100" spc="-5" dirty="0">
                <a:latin typeface="Cambria"/>
                <a:cs typeface="Cambria"/>
              </a:rPr>
              <a:t>to</a:t>
            </a:r>
            <a:r>
              <a:rPr lang="en-US" sz="3100" spc="35" dirty="0">
                <a:latin typeface="Cambria"/>
                <a:cs typeface="Cambria"/>
              </a:rPr>
              <a:t> </a:t>
            </a:r>
            <a:r>
              <a:rPr lang="en-US" sz="3100" spc="-5" dirty="0">
                <a:latin typeface="Cambria"/>
                <a:cs typeface="Cambria"/>
              </a:rPr>
              <a:t>be</a:t>
            </a:r>
            <a:r>
              <a:rPr lang="en-US" sz="3100" spc="50" dirty="0">
                <a:latin typeface="Cambria"/>
                <a:cs typeface="Cambria"/>
              </a:rPr>
              <a:t> </a:t>
            </a:r>
            <a:r>
              <a:rPr lang="en-US" sz="3100" dirty="0">
                <a:latin typeface="Cambria"/>
                <a:cs typeface="Cambria"/>
              </a:rPr>
              <a:t>a </a:t>
            </a:r>
            <a:r>
              <a:rPr lang="en-US" sz="3100" b="1" dirty="0">
                <a:latin typeface="Cambria"/>
                <a:cs typeface="Cambria"/>
              </a:rPr>
              <a:t>single mode</a:t>
            </a:r>
            <a:r>
              <a:rPr lang="en-US" sz="3100" b="1" spc="-70" dirty="0">
                <a:latin typeface="Cambria"/>
                <a:cs typeface="Cambria"/>
              </a:rPr>
              <a:t> </a:t>
            </a:r>
            <a:r>
              <a:rPr lang="en-US" sz="3100" b="1" spc="-35" dirty="0">
                <a:latin typeface="Cambria"/>
                <a:cs typeface="Cambria"/>
              </a:rPr>
              <a:t>fiber.</a:t>
            </a:r>
            <a:endParaRPr lang="en-US" sz="3100" dirty="0">
              <a:latin typeface="Cambria"/>
              <a:cs typeface="Cambria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</a:pPr>
            <a:endParaRPr lang="en-US" sz="3100" dirty="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</a:pPr>
            <a:r>
              <a:rPr lang="en-US" sz="3100" dirty="0">
                <a:latin typeface="Cambria"/>
                <a:cs typeface="Cambria"/>
              </a:rPr>
              <a:t>A </a:t>
            </a:r>
            <a:r>
              <a:rPr lang="en-US" sz="3100" spc="-5" dirty="0">
                <a:latin typeface="Cambria"/>
                <a:cs typeface="Cambria"/>
              </a:rPr>
              <a:t>typical </a:t>
            </a:r>
            <a:r>
              <a:rPr lang="en-US" sz="3100" b="1" spc="-5" dirty="0">
                <a:latin typeface="Cambria"/>
                <a:cs typeface="Cambria"/>
              </a:rPr>
              <a:t>single </a:t>
            </a:r>
            <a:r>
              <a:rPr lang="en-US" sz="3100" b="1" dirty="0">
                <a:latin typeface="Cambria"/>
                <a:cs typeface="Cambria"/>
              </a:rPr>
              <a:t>mode </a:t>
            </a:r>
            <a:r>
              <a:rPr lang="en-US" sz="3100" b="1" spc="-5" dirty="0">
                <a:latin typeface="Cambria"/>
                <a:cs typeface="Cambria"/>
              </a:rPr>
              <a:t>fiber </a:t>
            </a:r>
            <a:r>
              <a:rPr lang="en-US" sz="3100" spc="-15" dirty="0">
                <a:latin typeface="Cambria"/>
                <a:cs typeface="Cambria"/>
              </a:rPr>
              <a:t>may </a:t>
            </a:r>
            <a:r>
              <a:rPr lang="en-US" sz="3100" spc="-25" dirty="0">
                <a:latin typeface="Cambria"/>
                <a:cs typeface="Cambria"/>
              </a:rPr>
              <a:t>have </a:t>
            </a:r>
            <a:r>
              <a:rPr lang="en-US" sz="3100" dirty="0">
                <a:latin typeface="Cambria"/>
                <a:cs typeface="Cambria"/>
              </a:rPr>
              <a:t>a </a:t>
            </a:r>
            <a:r>
              <a:rPr lang="en-US" sz="3100" b="1" spc="-15" dirty="0">
                <a:latin typeface="Cambria"/>
                <a:cs typeface="Cambria"/>
              </a:rPr>
              <a:t>core </a:t>
            </a:r>
            <a:r>
              <a:rPr lang="en-US" sz="3100" b="1" spc="-10" dirty="0">
                <a:latin typeface="Cambria"/>
                <a:cs typeface="Cambria"/>
              </a:rPr>
              <a:t>radius </a:t>
            </a:r>
            <a:r>
              <a:rPr lang="en-US" sz="3100" b="1" dirty="0">
                <a:latin typeface="Cambria"/>
                <a:cs typeface="Cambria"/>
              </a:rPr>
              <a:t>of 3 </a:t>
            </a:r>
            <a:r>
              <a:rPr lang="en-US" sz="3100" b="1" spc="-5" dirty="0" err="1">
                <a:latin typeface="Cambria"/>
                <a:cs typeface="Cambria"/>
              </a:rPr>
              <a:t>μm</a:t>
            </a:r>
            <a:r>
              <a:rPr lang="en-US" sz="3100" b="1" spc="-5" dirty="0">
                <a:latin typeface="Cambria"/>
                <a:cs typeface="Cambria"/>
              </a:rPr>
              <a:t> </a:t>
            </a:r>
            <a:r>
              <a:rPr lang="en-US" sz="3100" dirty="0">
                <a:latin typeface="Cambria"/>
                <a:cs typeface="Cambria"/>
              </a:rPr>
              <a:t>and</a:t>
            </a:r>
            <a:r>
              <a:rPr lang="en-US" sz="3100" spc="400" dirty="0">
                <a:latin typeface="Cambria"/>
                <a:cs typeface="Cambria"/>
              </a:rPr>
              <a:t> </a:t>
            </a:r>
            <a:r>
              <a:rPr lang="en-US" sz="3100" dirty="0">
                <a:latin typeface="Cambria"/>
                <a:cs typeface="Cambria"/>
              </a:rPr>
              <a:t>a </a:t>
            </a:r>
            <a:r>
              <a:rPr lang="en-US" sz="3100" b="1" dirty="0">
                <a:latin typeface="Cambria"/>
                <a:cs typeface="Cambria"/>
              </a:rPr>
              <a:t>numerical </a:t>
            </a:r>
            <a:r>
              <a:rPr lang="en-US" sz="3100" b="1" spc="-5" dirty="0">
                <a:latin typeface="Cambria"/>
                <a:cs typeface="Cambria"/>
              </a:rPr>
              <a:t>aperture of </a:t>
            </a:r>
            <a:r>
              <a:rPr lang="en-US" sz="3100" b="1" dirty="0">
                <a:latin typeface="Cambria"/>
                <a:cs typeface="Cambria"/>
              </a:rPr>
              <a:t>0.1 </a:t>
            </a:r>
            <a:r>
              <a:rPr lang="en-US" sz="3100" dirty="0">
                <a:latin typeface="Cambria"/>
                <a:cs typeface="Cambria"/>
              </a:rPr>
              <a:t>at a </a:t>
            </a:r>
            <a:r>
              <a:rPr lang="en-US" sz="3100" b="1" spc="-20" dirty="0">
                <a:latin typeface="Cambria"/>
                <a:cs typeface="Cambria"/>
              </a:rPr>
              <a:t>wavelength </a:t>
            </a:r>
            <a:r>
              <a:rPr lang="en-US" sz="3100" b="1" spc="-5" dirty="0">
                <a:latin typeface="Cambria"/>
                <a:cs typeface="Cambria"/>
              </a:rPr>
              <a:t>of </a:t>
            </a:r>
            <a:r>
              <a:rPr lang="en-US" sz="3100" b="1" dirty="0">
                <a:latin typeface="Cambria"/>
                <a:cs typeface="Cambria"/>
              </a:rPr>
              <a:t>0.8</a:t>
            </a:r>
            <a:r>
              <a:rPr lang="en-US" sz="3100" b="1" spc="-110" dirty="0">
                <a:latin typeface="Cambria"/>
                <a:cs typeface="Cambria"/>
              </a:rPr>
              <a:t> </a:t>
            </a:r>
            <a:r>
              <a:rPr lang="en-US" sz="3100" b="1" dirty="0" err="1">
                <a:latin typeface="Cambria"/>
                <a:cs typeface="Cambria"/>
              </a:rPr>
              <a:t>μm</a:t>
            </a:r>
            <a:r>
              <a:rPr lang="en-US" sz="3100" b="1" dirty="0">
                <a:latin typeface="Cambria"/>
                <a:cs typeface="Cambria"/>
              </a:rPr>
              <a:t>.</a:t>
            </a:r>
            <a:endParaRPr lang="en-US" sz="3100" dirty="0">
              <a:latin typeface="Cambria"/>
              <a:cs typeface="Cambria"/>
            </a:endParaRPr>
          </a:p>
          <a:p>
            <a:pPr marL="354965" marR="5080" indent="-342900" algn="just">
              <a:lnSpc>
                <a:spcPct val="130000"/>
              </a:lnSpc>
              <a:spcBef>
                <a:spcPts val="650"/>
              </a:spcBef>
              <a:buClr>
                <a:srgbClr val="0AD0D9"/>
              </a:buClr>
              <a:buSzPct val="93181"/>
              <a:tabLst>
                <a:tab pos="287655" algn="l"/>
              </a:tabLst>
            </a:pPr>
            <a:endParaRPr lang="en-US" spc="-10" dirty="0">
              <a:latin typeface="Cambria"/>
              <a:cs typeface="Cambria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0954" y="1774746"/>
            <a:ext cx="3395701" cy="25426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5244" y="4822628"/>
            <a:ext cx="3806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Figure 2.3 Single mode fiber [8]</a:t>
            </a:r>
          </a:p>
        </p:txBody>
      </p:sp>
    </p:spTree>
    <p:extLst>
      <p:ext uri="{BB962C8B-B14F-4D97-AF65-F5344CB8AC3E}">
        <p14:creationId xmlns:p14="http://schemas.microsoft.com/office/powerpoint/2010/main" val="894584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0"/>
            <a:ext cx="9767252" cy="987425"/>
          </a:xfrm>
        </p:spPr>
        <p:txBody>
          <a:bodyPr>
            <a:noAutofit/>
          </a:bodyPr>
          <a:lstStyle/>
          <a:p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Features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of </a:t>
            </a:r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Single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Mode</a:t>
            </a:r>
            <a:r>
              <a:rPr lang="en-US" sz="4400" b="1" spc="-25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Fiber</a:t>
            </a:r>
            <a:endParaRPr lang="en-US" sz="4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3717" y="1505243"/>
            <a:ext cx="5753686" cy="3657600"/>
          </a:xfrm>
        </p:spPr>
        <p:txBody>
          <a:bodyPr>
            <a:normAutofit/>
          </a:bodyPr>
          <a:lstStyle/>
          <a:p>
            <a:pPr marL="287020" indent="-274955">
              <a:lnSpc>
                <a:spcPct val="100000"/>
              </a:lnSpc>
              <a:spcBef>
                <a:spcPts val="2020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287655" algn="l"/>
              </a:tabLst>
            </a:pPr>
            <a:r>
              <a:rPr lang="en-US" sz="2400" spc="-15" dirty="0">
                <a:latin typeface="Cambria"/>
                <a:cs typeface="Cambria"/>
              </a:rPr>
              <a:t>Only </a:t>
            </a:r>
            <a:r>
              <a:rPr lang="en-US" sz="2400" dirty="0">
                <a:latin typeface="Cambria"/>
                <a:cs typeface="Cambria"/>
              </a:rPr>
              <a:t>one </a:t>
            </a:r>
            <a:r>
              <a:rPr lang="en-US" sz="2400" spc="-5" dirty="0">
                <a:latin typeface="Cambria"/>
                <a:cs typeface="Cambria"/>
              </a:rPr>
              <a:t>path </a:t>
            </a:r>
            <a:r>
              <a:rPr lang="en-US" sz="2400" dirty="0">
                <a:latin typeface="Cambria"/>
                <a:cs typeface="Cambria"/>
              </a:rPr>
              <a:t>is</a:t>
            </a:r>
            <a:r>
              <a:rPr lang="en-US" sz="2400" spc="5" dirty="0">
                <a:latin typeface="Cambria"/>
                <a:cs typeface="Cambria"/>
              </a:rPr>
              <a:t> </a:t>
            </a:r>
            <a:r>
              <a:rPr lang="en-US" sz="2400" spc="-15" dirty="0">
                <a:latin typeface="Cambria"/>
                <a:cs typeface="Cambria"/>
              </a:rPr>
              <a:t>available.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014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287655" algn="l"/>
              </a:tabLst>
            </a:pPr>
            <a:r>
              <a:rPr lang="en-US" sz="2400" spc="-10" dirty="0">
                <a:latin typeface="Cambria"/>
                <a:cs typeface="Cambria"/>
              </a:rPr>
              <a:t>Core </a:t>
            </a:r>
            <a:r>
              <a:rPr lang="en-US" sz="2400" spc="-5" dirty="0">
                <a:latin typeface="Cambria"/>
                <a:cs typeface="Cambria"/>
              </a:rPr>
              <a:t>diameter </a:t>
            </a:r>
            <a:r>
              <a:rPr lang="en-US" sz="2400" dirty="0">
                <a:latin typeface="Cambria"/>
                <a:cs typeface="Cambria"/>
              </a:rPr>
              <a:t>is</a:t>
            </a:r>
            <a:r>
              <a:rPr lang="en-US" sz="2400" spc="-1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small</a:t>
            </a:r>
          </a:p>
          <a:p>
            <a:pPr marL="287020" indent="-274955">
              <a:lnSpc>
                <a:spcPct val="100000"/>
              </a:lnSpc>
              <a:spcBef>
                <a:spcPts val="2020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287655" algn="l"/>
              </a:tabLst>
            </a:pPr>
            <a:r>
              <a:rPr lang="en-US" sz="2400" dirty="0">
                <a:latin typeface="Cambria"/>
                <a:cs typeface="Cambria"/>
              </a:rPr>
              <a:t>No</a:t>
            </a:r>
            <a:r>
              <a:rPr lang="en-US" sz="2400" spc="-5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dispersion</a:t>
            </a:r>
          </a:p>
          <a:p>
            <a:pPr marL="287020" indent="-274955">
              <a:lnSpc>
                <a:spcPct val="100000"/>
              </a:lnSpc>
              <a:spcBef>
                <a:spcPts val="2014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Higher band </a:t>
            </a:r>
            <a:r>
              <a:rPr lang="en-US" sz="2400" dirty="0">
                <a:latin typeface="Cambria"/>
                <a:cs typeface="Cambria"/>
              </a:rPr>
              <a:t>width (1000</a:t>
            </a:r>
            <a:r>
              <a:rPr lang="en-US" sz="2400" spc="-50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MHz)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014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287655" algn="l"/>
              </a:tabLst>
            </a:pPr>
            <a:r>
              <a:rPr lang="en-US" sz="2400" dirty="0">
                <a:latin typeface="Cambria"/>
                <a:cs typeface="Cambria"/>
              </a:rPr>
              <a:t>Used </a:t>
            </a:r>
            <a:r>
              <a:rPr lang="en-US" sz="2400" spc="-10" dirty="0">
                <a:latin typeface="Cambria"/>
                <a:cs typeface="Cambria"/>
              </a:rPr>
              <a:t>for </a:t>
            </a:r>
            <a:r>
              <a:rPr lang="en-US" sz="2400" spc="-5" dirty="0">
                <a:latin typeface="Cambria"/>
                <a:cs typeface="Cambria"/>
              </a:rPr>
              <a:t>long haul</a:t>
            </a:r>
            <a:r>
              <a:rPr lang="en-US" sz="2400" spc="-30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communication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020"/>
              </a:spcBef>
              <a:buClr>
                <a:srgbClr val="0AD0D9"/>
              </a:buClr>
              <a:buSzPct val="93750"/>
              <a:buFont typeface="Wingdings"/>
              <a:buChar char=""/>
              <a:tabLst>
                <a:tab pos="287655" algn="l"/>
              </a:tabLst>
            </a:pPr>
            <a:r>
              <a:rPr lang="en-US" sz="2400" spc="-10" dirty="0">
                <a:latin typeface="Cambria"/>
                <a:cs typeface="Cambria"/>
              </a:rPr>
              <a:t>Fabrication </a:t>
            </a:r>
            <a:r>
              <a:rPr lang="en-US" sz="2400" dirty="0">
                <a:latin typeface="Cambria"/>
                <a:cs typeface="Cambria"/>
              </a:rPr>
              <a:t>is difficult and</a:t>
            </a:r>
            <a:r>
              <a:rPr lang="en-US" sz="2400" spc="-65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costly</a:t>
            </a:r>
            <a:endParaRPr lang="en-US" sz="2400" dirty="0">
              <a:latin typeface="Cambria"/>
              <a:cs typeface="Cambria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0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7" y="0"/>
            <a:ext cx="9739118" cy="1167319"/>
          </a:xfrm>
        </p:spPr>
        <p:txBody>
          <a:bodyPr>
            <a:noAutofit/>
          </a:bodyPr>
          <a:lstStyle/>
          <a:p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Disadvantages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of </a:t>
            </a:r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Single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Mode</a:t>
            </a:r>
            <a:r>
              <a:rPr lang="en-US" sz="4400" b="1" spc="-25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Fiber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0498" y="1659988"/>
            <a:ext cx="8088924" cy="3432517"/>
          </a:xfrm>
        </p:spPr>
        <p:txBody>
          <a:bodyPr/>
          <a:lstStyle/>
          <a:p>
            <a:pPr marL="12065" indent="0">
              <a:lnSpc>
                <a:spcPct val="100000"/>
              </a:lnSpc>
              <a:spcBef>
                <a:spcPts val="65"/>
              </a:spcBef>
              <a:buClr>
                <a:srgbClr val="DD8046"/>
              </a:buClr>
              <a:buSzPct val="59259"/>
              <a:buNone/>
              <a:tabLst>
                <a:tab pos="622300" algn="l"/>
                <a:tab pos="622935" algn="l"/>
              </a:tabLst>
            </a:pP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Difficult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couple light in and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out of the tiny</a:t>
            </a:r>
            <a:r>
              <a:rPr lang="en-US" sz="2400" spc="1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core</a:t>
            </a:r>
          </a:p>
          <a:p>
            <a:pPr marL="12065" indent="0">
              <a:lnSpc>
                <a:spcPct val="100000"/>
              </a:lnSpc>
              <a:spcBef>
                <a:spcPts val="65"/>
              </a:spcBef>
              <a:buClr>
                <a:srgbClr val="DD8046"/>
              </a:buClr>
              <a:buSzPct val="59259"/>
              <a:buNone/>
              <a:tabLst>
                <a:tab pos="622300" algn="l"/>
                <a:tab pos="622935" algn="l"/>
              </a:tabLst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065" indent="0">
              <a:lnSpc>
                <a:spcPct val="100000"/>
              </a:lnSpc>
              <a:spcBef>
                <a:spcPts val="60"/>
              </a:spcBef>
              <a:buClr>
                <a:srgbClr val="DD8046"/>
              </a:buClr>
              <a:buSzPct val="59259"/>
              <a:buNone/>
              <a:tabLst>
                <a:tab pos="622300" algn="l"/>
                <a:tab pos="622935" algn="l"/>
              </a:tabLst>
            </a:pP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Highly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directive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light source (laser) is</a:t>
            </a:r>
            <a:r>
              <a:rPr lang="en-US" sz="2400" spc="3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required</a:t>
            </a:r>
          </a:p>
          <a:p>
            <a:pPr marL="12065" indent="0">
              <a:lnSpc>
                <a:spcPct val="100000"/>
              </a:lnSpc>
              <a:spcBef>
                <a:spcPts val="60"/>
              </a:spcBef>
              <a:buClr>
                <a:srgbClr val="DD8046"/>
              </a:buClr>
              <a:buSzPct val="59259"/>
              <a:buNone/>
              <a:tabLst>
                <a:tab pos="622300" algn="l"/>
                <a:tab pos="622935" algn="l"/>
              </a:tabLst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12065" indent="0">
              <a:lnSpc>
                <a:spcPct val="100000"/>
              </a:lnSpc>
              <a:spcBef>
                <a:spcPts val="50"/>
              </a:spcBef>
              <a:buClr>
                <a:srgbClr val="DD8046"/>
              </a:buClr>
              <a:buSzPct val="59259"/>
              <a:buNone/>
              <a:tabLst>
                <a:tab pos="622300" algn="l"/>
                <a:tab pos="622935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Interfacing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modules are more</a:t>
            </a:r>
            <a:r>
              <a:rPr lang="en-US" sz="2400" spc="-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expensive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15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0586" y="0"/>
            <a:ext cx="7560013" cy="987425"/>
          </a:xfrm>
        </p:spPr>
        <p:txBody>
          <a:bodyPr>
            <a:normAutofit/>
          </a:bodyPr>
          <a:lstStyle/>
          <a:p>
            <a:r>
              <a:rPr lang="en-US" sz="4400" b="1" spc="-5" dirty="0">
                <a:latin typeface="Cambria"/>
                <a:cs typeface="Cambria"/>
              </a:rPr>
              <a:t>Multi mode fibers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579" y="987425"/>
            <a:ext cx="10065884" cy="5368925"/>
          </a:xfrm>
        </p:spPr>
        <p:txBody>
          <a:bodyPr>
            <a:normAutofit fontScale="92500" lnSpcReduction="10000"/>
          </a:bodyPr>
          <a:lstStyle/>
          <a:p>
            <a:pPr marL="469265" indent="-457200">
              <a:lnSpc>
                <a:spcPct val="100000"/>
              </a:lnSpc>
              <a:spcBef>
                <a:spcPts val="1240"/>
              </a:spcBef>
              <a:buClr>
                <a:srgbClr val="0AD0D9"/>
              </a:buClr>
              <a:buSzPct val="95000"/>
              <a:buFont typeface="Wingdings" panose="05000000000000000000" pitchFamily="2" charset="2"/>
              <a:buChar char="Ø"/>
              <a:tabLst>
                <a:tab pos="287655" algn="l"/>
              </a:tabLst>
            </a:pPr>
            <a:r>
              <a:rPr lang="en-US" sz="2600" spc="-5" dirty="0">
                <a:latin typeface="Cambria"/>
                <a:cs typeface="Cambria"/>
              </a:rPr>
              <a:t>If</a:t>
            </a:r>
            <a:r>
              <a:rPr lang="en-US" sz="2600" spc="295" dirty="0">
                <a:latin typeface="Cambria"/>
                <a:cs typeface="Cambria"/>
              </a:rPr>
              <a:t> </a:t>
            </a:r>
            <a:r>
              <a:rPr lang="en-US" sz="2600" spc="-10" dirty="0">
                <a:latin typeface="Cambria"/>
                <a:cs typeface="Cambria"/>
              </a:rPr>
              <a:t>more</a:t>
            </a:r>
            <a:r>
              <a:rPr lang="en-US" sz="2600" spc="270" dirty="0">
                <a:latin typeface="Cambria"/>
                <a:cs typeface="Cambria"/>
              </a:rPr>
              <a:t> </a:t>
            </a:r>
            <a:r>
              <a:rPr lang="en-US" sz="2600" spc="-5" dirty="0">
                <a:latin typeface="Cambria"/>
                <a:cs typeface="Cambria"/>
              </a:rPr>
              <a:t>than</a:t>
            </a:r>
            <a:r>
              <a:rPr lang="en-US" sz="2600" spc="285" dirty="0">
                <a:latin typeface="Cambria"/>
                <a:cs typeface="Cambria"/>
              </a:rPr>
              <a:t> </a:t>
            </a:r>
            <a:r>
              <a:rPr lang="en-US" sz="2600" dirty="0">
                <a:latin typeface="Cambria"/>
                <a:cs typeface="Cambria"/>
              </a:rPr>
              <a:t>one</a:t>
            </a:r>
            <a:r>
              <a:rPr lang="en-US" sz="2600" spc="285" dirty="0">
                <a:latin typeface="Cambria"/>
                <a:cs typeface="Cambria"/>
              </a:rPr>
              <a:t> </a:t>
            </a:r>
            <a:r>
              <a:rPr lang="en-US" sz="2600" spc="-5" dirty="0">
                <a:latin typeface="Cambria"/>
                <a:cs typeface="Cambria"/>
              </a:rPr>
              <a:t>mode</a:t>
            </a:r>
            <a:r>
              <a:rPr lang="en-US" sz="2600" spc="285" dirty="0">
                <a:latin typeface="Cambria"/>
                <a:cs typeface="Cambria"/>
              </a:rPr>
              <a:t> </a:t>
            </a:r>
            <a:r>
              <a:rPr lang="en-US" sz="2600" spc="-5" dirty="0">
                <a:latin typeface="Cambria"/>
                <a:cs typeface="Cambria"/>
              </a:rPr>
              <a:t>is</a:t>
            </a:r>
            <a:r>
              <a:rPr lang="en-US" sz="2600" spc="285" dirty="0">
                <a:latin typeface="Cambria"/>
                <a:cs typeface="Cambria"/>
              </a:rPr>
              <a:t> </a:t>
            </a:r>
            <a:r>
              <a:rPr lang="en-US" sz="2600" spc="-10" dirty="0">
                <a:latin typeface="Cambria"/>
                <a:cs typeface="Cambria"/>
              </a:rPr>
              <a:t>transmitted</a:t>
            </a:r>
            <a:r>
              <a:rPr lang="en-US" sz="2600" spc="285" dirty="0">
                <a:latin typeface="Cambria"/>
                <a:cs typeface="Cambria"/>
              </a:rPr>
              <a:t> </a:t>
            </a:r>
            <a:r>
              <a:rPr lang="en-US" sz="2600" spc="-10" dirty="0">
                <a:latin typeface="Cambria"/>
                <a:cs typeface="Cambria"/>
              </a:rPr>
              <a:t>through</a:t>
            </a:r>
            <a:r>
              <a:rPr lang="en-US" sz="2600" spc="295" dirty="0">
                <a:latin typeface="Cambria"/>
                <a:cs typeface="Cambria"/>
              </a:rPr>
              <a:t> </a:t>
            </a:r>
            <a:r>
              <a:rPr lang="en-US" sz="2600" spc="-5" dirty="0">
                <a:latin typeface="Cambria"/>
                <a:cs typeface="Cambria"/>
              </a:rPr>
              <a:t>optical</a:t>
            </a:r>
            <a:r>
              <a:rPr lang="en-US" sz="2600" spc="275" dirty="0">
                <a:latin typeface="Cambria"/>
                <a:cs typeface="Cambria"/>
              </a:rPr>
              <a:t> </a:t>
            </a:r>
            <a:r>
              <a:rPr lang="en-US" sz="2600" spc="-35" dirty="0">
                <a:latin typeface="Cambria"/>
                <a:cs typeface="Cambria"/>
              </a:rPr>
              <a:t>fiber,</a:t>
            </a:r>
            <a:r>
              <a:rPr lang="en-US" sz="2600" spc="285" dirty="0">
                <a:latin typeface="Cambria"/>
                <a:cs typeface="Cambria"/>
              </a:rPr>
              <a:t> </a:t>
            </a:r>
            <a:r>
              <a:rPr lang="en-US" sz="2600" spc="-5" dirty="0">
                <a:latin typeface="Cambria"/>
                <a:cs typeface="Cambria"/>
              </a:rPr>
              <a:t>then</a:t>
            </a:r>
            <a:r>
              <a:rPr lang="en-US" sz="2600" spc="290" dirty="0">
                <a:latin typeface="Cambria"/>
                <a:cs typeface="Cambria"/>
              </a:rPr>
              <a:t> </a:t>
            </a:r>
            <a:r>
              <a:rPr lang="en-US" sz="2600" spc="-5" dirty="0">
                <a:latin typeface="Cambria"/>
                <a:cs typeface="Cambria"/>
              </a:rPr>
              <a:t>it</a:t>
            </a:r>
            <a:r>
              <a:rPr lang="en-US" sz="2600" spc="295" dirty="0">
                <a:latin typeface="Cambria"/>
                <a:cs typeface="Cambria"/>
              </a:rPr>
              <a:t> </a:t>
            </a:r>
            <a:r>
              <a:rPr lang="en-US" sz="2600" spc="-20" dirty="0">
                <a:latin typeface="Cambria"/>
                <a:cs typeface="Cambria"/>
              </a:rPr>
              <a:t>is</a:t>
            </a:r>
            <a:r>
              <a:rPr lang="en-US" sz="2600" dirty="0">
                <a:latin typeface="Cambria"/>
                <a:cs typeface="Cambria"/>
              </a:rPr>
              <a:t> said </a:t>
            </a:r>
            <a:r>
              <a:rPr lang="en-US" sz="2600" spc="-5" dirty="0">
                <a:latin typeface="Cambria"/>
                <a:cs typeface="Cambria"/>
              </a:rPr>
              <a:t>to be </a:t>
            </a:r>
            <a:r>
              <a:rPr lang="en-US" sz="2600" dirty="0">
                <a:latin typeface="Cambria"/>
                <a:cs typeface="Cambria"/>
              </a:rPr>
              <a:t>a </a:t>
            </a:r>
            <a:r>
              <a:rPr lang="en-US" sz="2600" spc="-5" dirty="0">
                <a:latin typeface="Cambria"/>
                <a:cs typeface="Cambria"/>
              </a:rPr>
              <a:t>multimode</a:t>
            </a:r>
            <a:r>
              <a:rPr lang="en-US" sz="2600" spc="-85" dirty="0">
                <a:latin typeface="Cambria"/>
                <a:cs typeface="Cambria"/>
              </a:rPr>
              <a:t> </a:t>
            </a:r>
            <a:r>
              <a:rPr lang="en-US" sz="2600" spc="-35" dirty="0">
                <a:latin typeface="Cambria"/>
                <a:cs typeface="Cambria"/>
              </a:rPr>
              <a:t>fiber.</a:t>
            </a:r>
            <a:endParaRPr lang="en-US" sz="2600" dirty="0">
              <a:latin typeface="Cambria"/>
              <a:cs typeface="Cambria"/>
            </a:endParaRPr>
          </a:p>
          <a:p>
            <a:pPr marL="287020" marR="5080" indent="-274955" algn="just">
              <a:lnSpc>
                <a:spcPct val="15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655" algn="l"/>
              </a:tabLst>
            </a:pPr>
            <a:r>
              <a:rPr lang="en-US" sz="2600" dirty="0">
                <a:latin typeface="Cambria"/>
                <a:cs typeface="Cambria"/>
              </a:rPr>
              <a:t> The </a:t>
            </a:r>
            <a:r>
              <a:rPr lang="en-US" sz="2600" spc="-5" dirty="0">
                <a:latin typeface="Cambria"/>
                <a:cs typeface="Cambria"/>
              </a:rPr>
              <a:t>larger </a:t>
            </a:r>
            <a:r>
              <a:rPr lang="en-US" sz="2600" spc="-10" dirty="0">
                <a:latin typeface="Cambria"/>
                <a:cs typeface="Cambria"/>
              </a:rPr>
              <a:t>core radius </a:t>
            </a:r>
            <a:r>
              <a:rPr lang="en-US" sz="2600" spc="-5" dirty="0">
                <a:latin typeface="Cambria"/>
                <a:cs typeface="Cambria"/>
              </a:rPr>
              <a:t>of multimode fibers </a:t>
            </a:r>
            <a:r>
              <a:rPr lang="en-US" sz="2600" spc="-10" dirty="0">
                <a:latin typeface="Cambria"/>
                <a:cs typeface="Cambria"/>
              </a:rPr>
              <a:t>make it </a:t>
            </a:r>
            <a:r>
              <a:rPr lang="en-US" sz="2600" dirty="0">
                <a:latin typeface="Cambria"/>
                <a:cs typeface="Cambria"/>
              </a:rPr>
              <a:t>easier </a:t>
            </a:r>
            <a:r>
              <a:rPr lang="en-US" sz="2600" spc="-10" dirty="0">
                <a:latin typeface="Cambria"/>
                <a:cs typeface="Cambria"/>
              </a:rPr>
              <a:t>to launch  </a:t>
            </a:r>
            <a:r>
              <a:rPr lang="en-US" sz="2600" spc="-5" dirty="0">
                <a:latin typeface="Cambria"/>
                <a:cs typeface="Cambria"/>
              </a:rPr>
              <a:t>optical </a:t>
            </a:r>
            <a:r>
              <a:rPr lang="en-US" sz="2600" spc="-10" dirty="0">
                <a:latin typeface="Cambria"/>
                <a:cs typeface="Cambria"/>
              </a:rPr>
              <a:t>power into </a:t>
            </a:r>
            <a:r>
              <a:rPr lang="en-US" sz="2600" spc="-5" dirty="0">
                <a:latin typeface="Cambria"/>
                <a:cs typeface="Cambria"/>
              </a:rPr>
              <a:t>the fiber </a:t>
            </a:r>
            <a:r>
              <a:rPr lang="en-US" sz="2600" dirty="0">
                <a:latin typeface="Cambria"/>
                <a:cs typeface="Cambria"/>
              </a:rPr>
              <a:t>and </a:t>
            </a:r>
            <a:r>
              <a:rPr lang="en-US" sz="2600" spc="-10" dirty="0">
                <a:latin typeface="Cambria"/>
                <a:cs typeface="Cambria"/>
              </a:rPr>
              <a:t>facilitate </a:t>
            </a:r>
            <a:r>
              <a:rPr lang="en-US" sz="2600" spc="-5" dirty="0">
                <a:latin typeface="Cambria"/>
                <a:cs typeface="Cambria"/>
              </a:rPr>
              <a:t>the end </a:t>
            </a:r>
            <a:r>
              <a:rPr lang="en-US" sz="2600" spc="-10" dirty="0">
                <a:latin typeface="Cambria"/>
                <a:cs typeface="Cambria"/>
              </a:rPr>
              <a:t>to end </a:t>
            </a:r>
            <a:r>
              <a:rPr lang="en-US" sz="2600" spc="-5" dirty="0">
                <a:latin typeface="Cambria"/>
                <a:cs typeface="Cambria"/>
              </a:rPr>
              <a:t>connection </a:t>
            </a:r>
            <a:r>
              <a:rPr lang="en-US" sz="2600" spc="-10" dirty="0">
                <a:latin typeface="Cambria"/>
                <a:cs typeface="Cambria"/>
              </a:rPr>
              <a:t>of  </a:t>
            </a:r>
            <a:r>
              <a:rPr lang="en-US" sz="2600" spc="-5" dirty="0">
                <a:latin typeface="Cambria"/>
                <a:cs typeface="Cambria"/>
              </a:rPr>
              <a:t>similar</a:t>
            </a:r>
            <a:r>
              <a:rPr lang="en-US" sz="2600" spc="-40" dirty="0">
                <a:latin typeface="Cambria"/>
                <a:cs typeface="Cambria"/>
              </a:rPr>
              <a:t> </a:t>
            </a:r>
            <a:r>
              <a:rPr lang="en-US" sz="2600" spc="-10" dirty="0">
                <a:latin typeface="Cambria"/>
                <a:cs typeface="Cambria"/>
              </a:rPr>
              <a:t>powers.</a:t>
            </a:r>
          </a:p>
          <a:p>
            <a:pPr marL="287020" marR="5080" indent="-274955" algn="just">
              <a:lnSpc>
                <a:spcPct val="150000"/>
              </a:lnSpc>
              <a:spcBef>
                <a:spcPts val="480"/>
              </a:spcBef>
              <a:buClr>
                <a:srgbClr val="0AD0D9"/>
              </a:buClr>
              <a:buSzPct val="95000"/>
              <a:buFont typeface="Wingdings"/>
              <a:buChar char=""/>
              <a:tabLst>
                <a:tab pos="287655" algn="l"/>
              </a:tabLst>
            </a:pPr>
            <a:endParaRPr lang="en-US" dirty="0">
              <a:latin typeface="Cambria"/>
              <a:cs typeface="Cambria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Figure 2.4 Multimode Optical Fiber [8]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191" y="3630443"/>
            <a:ext cx="5466945" cy="188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504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668" y="0"/>
            <a:ext cx="9724966" cy="1186774"/>
          </a:xfrm>
        </p:spPr>
        <p:txBody>
          <a:bodyPr>
            <a:noAutofit/>
          </a:bodyPr>
          <a:lstStyle/>
          <a:p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Advantages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of </a:t>
            </a:r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Multi-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Mode</a:t>
            </a:r>
            <a:r>
              <a:rPr lang="en-US" sz="4400" b="1" spc="-25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Fiber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7668" y="1186775"/>
            <a:ext cx="9978184" cy="3835391"/>
          </a:xfrm>
        </p:spPr>
        <p:txBody>
          <a:bodyPr>
            <a:normAutofit/>
          </a:bodyPr>
          <a:lstStyle/>
          <a:p>
            <a:pPr marL="835025" lvl="1" indent="-457200">
              <a:lnSpc>
                <a:spcPct val="100000"/>
              </a:lnSpc>
              <a:spcBef>
                <a:spcPts val="615"/>
              </a:spcBef>
              <a:buClr>
                <a:srgbClr val="93B6D2"/>
              </a:buClr>
              <a:buSzPct val="69230"/>
              <a:buFont typeface="Wingdings" panose="05000000000000000000" pitchFamily="2" charset="2"/>
              <a:buChar char="Ø"/>
              <a:tabLst>
                <a:tab pos="653415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With a larger fiber core and good alignment tolerances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835025" lvl="1" indent="-457200">
              <a:lnSpc>
                <a:spcPct val="100000"/>
              </a:lnSpc>
              <a:spcBef>
                <a:spcPts val="615"/>
              </a:spcBef>
              <a:buClr>
                <a:srgbClr val="93B6D2"/>
              </a:buClr>
              <a:buSzPct val="69230"/>
              <a:buFont typeface="Wingdings" panose="05000000000000000000" pitchFamily="2" charset="2"/>
              <a:buChar char="Ø"/>
              <a:tabLst>
                <a:tab pos="653415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inexpensive</a:t>
            </a:r>
          </a:p>
          <a:p>
            <a:pPr marL="835025" lvl="1" indent="-45720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" panose="05000000000000000000" pitchFamily="2" charset="2"/>
              <a:buChar char="Ø"/>
              <a:tabLst>
                <a:tab pos="653415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easy to couple light into</a:t>
            </a:r>
            <a:r>
              <a:rPr lang="en-US" sz="2400" spc="-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Fiber</a:t>
            </a:r>
          </a:p>
          <a:p>
            <a:pPr marL="835025" lvl="1" indent="-45720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" panose="05000000000000000000" pitchFamily="2" charset="2"/>
              <a:buChar char="Ø"/>
              <a:tabLst>
                <a:tab pos="653415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multimode fiber cable also provides high speed and high bandwidth over short distances. </a:t>
            </a:r>
          </a:p>
          <a:p>
            <a:pPr marL="835025" lvl="1" indent="-45720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" panose="05000000000000000000" pitchFamily="2" charset="2"/>
              <a:buChar char="Ø"/>
              <a:tabLst>
                <a:tab pos="653415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multimode fiber cable is often used in data and audio/video applications in LANs.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36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0"/>
            <a:ext cx="9666084" cy="987425"/>
          </a:xfrm>
        </p:spPr>
        <p:txBody>
          <a:bodyPr>
            <a:noAutofit/>
          </a:bodyPr>
          <a:lstStyle/>
          <a:p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Disadvantages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of </a:t>
            </a:r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Multi-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Mode</a:t>
            </a:r>
            <a:r>
              <a:rPr lang="en-US" sz="4400" b="1" spc="-25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Fiber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6942" y="2124222"/>
            <a:ext cx="10328446" cy="3736828"/>
          </a:xfrm>
        </p:spPr>
        <p:txBody>
          <a:bodyPr/>
          <a:lstStyle/>
          <a:p>
            <a:pPr marL="571500" lvl="1" indent="-5715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 Multimode fiber cable has high dispersion and attenuation rate</a:t>
            </a:r>
          </a:p>
          <a:p>
            <a:pPr marL="0" lvl="1" indent="0">
              <a:spcBef>
                <a:spcPts val="1000"/>
              </a:spcBef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571500" lvl="1" indent="-571500"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quality of optical signals is reduced as the transmission distance is getting longer.</a:t>
            </a:r>
          </a:p>
          <a:p>
            <a:pPr marL="0" lvl="1" indent="0">
              <a:spcBef>
                <a:spcPts val="1000"/>
              </a:spcBef>
              <a:buNone/>
            </a:pPr>
            <a:endParaRPr lang="en-US" sz="38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0" indent="0" algn="r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922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357" y="323556"/>
            <a:ext cx="6035040" cy="1209822"/>
          </a:xfrm>
        </p:spPr>
        <p:txBody>
          <a:bodyPr>
            <a:noAutofit/>
          </a:bodyPr>
          <a:lstStyle/>
          <a:p>
            <a:r>
              <a:rPr lang="en-US" sz="4400" b="1" spc="-15" dirty="0">
                <a:latin typeface="Cambria"/>
                <a:cs typeface="Cambria"/>
              </a:rPr>
              <a:t>Step </a:t>
            </a:r>
            <a:r>
              <a:rPr lang="en-US" sz="4400" b="1" spc="-20" dirty="0">
                <a:latin typeface="Cambria"/>
                <a:cs typeface="Cambria"/>
              </a:rPr>
              <a:t>index </a:t>
            </a:r>
            <a:r>
              <a:rPr lang="en-US" sz="4400" b="1" spc="-10" dirty="0">
                <a:latin typeface="Cambria"/>
                <a:cs typeface="Cambria"/>
              </a:rPr>
              <a:t>fiber</a:t>
            </a:r>
            <a:r>
              <a:rPr lang="en-US" sz="4400" b="1" spc="40" dirty="0">
                <a:latin typeface="Cambria"/>
                <a:cs typeface="Cambria"/>
              </a:rPr>
              <a:t> </a:t>
            </a:r>
            <a:br>
              <a:rPr lang="en-US" sz="4400" dirty="0">
                <a:latin typeface="Cambria"/>
                <a:cs typeface="Cambria"/>
              </a:rPr>
            </a:b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12</a:t>
            </a:fld>
            <a:endParaRPr lang="en-US"/>
          </a:p>
        </p:txBody>
      </p:sp>
      <p:sp>
        <p:nvSpPr>
          <p:cNvPr id="6" name="object 4"/>
          <p:cNvSpPr txBox="1">
            <a:spLocks noGrp="1"/>
          </p:cNvSpPr>
          <p:nvPr>
            <p:ph idx="1"/>
          </p:nvPr>
        </p:nvSpPr>
        <p:spPr>
          <a:xfrm>
            <a:off x="886265" y="1206230"/>
            <a:ext cx="10367889" cy="5210144"/>
          </a:xfrm>
          <a:prstGeom prst="rect">
            <a:avLst/>
          </a:prstGeom>
        </p:spPr>
        <p:txBody>
          <a:bodyPr vert="horz" wrap="square" lIns="0" tIns="248920" rIns="0" bIns="0" rtlCol="0">
            <a:spAutoFit/>
          </a:bodyPr>
          <a:lstStyle/>
          <a:p>
            <a:pPr marL="287020" marR="5080" indent="-274955" algn="just">
              <a:lnSpc>
                <a:spcPct val="130000"/>
              </a:lnSpc>
              <a:spcBef>
                <a:spcPts val="640"/>
              </a:spcBef>
              <a:buClr>
                <a:srgbClr val="0AD0D9"/>
              </a:buClr>
              <a:buSzPct val="95238"/>
              <a:buFont typeface="Wingdings"/>
              <a:buChar char=""/>
              <a:tabLst>
                <a:tab pos="287655" algn="l"/>
              </a:tabLst>
            </a:pPr>
            <a:r>
              <a:rPr sz="2400" dirty="0">
                <a:latin typeface="Cambria"/>
                <a:cs typeface="Cambria"/>
              </a:rPr>
              <a:t>In a </a:t>
            </a:r>
            <a:r>
              <a:rPr sz="2400" spc="-10" dirty="0">
                <a:latin typeface="Cambria"/>
                <a:cs typeface="Cambria"/>
              </a:rPr>
              <a:t>step </a:t>
            </a:r>
            <a:r>
              <a:rPr sz="2400" spc="-5" dirty="0">
                <a:latin typeface="Cambria"/>
                <a:cs typeface="Cambria"/>
              </a:rPr>
              <a:t>index </a:t>
            </a:r>
            <a:r>
              <a:rPr sz="2400" spc="-40" dirty="0">
                <a:latin typeface="Cambria"/>
                <a:cs typeface="Cambria"/>
              </a:rPr>
              <a:t>fiber, </a:t>
            </a:r>
            <a:r>
              <a:rPr sz="2400" spc="-5" dirty="0">
                <a:latin typeface="Cambria"/>
                <a:cs typeface="Cambria"/>
              </a:rPr>
              <a:t>the </a:t>
            </a:r>
            <a:r>
              <a:rPr sz="2400" spc="-20" dirty="0">
                <a:latin typeface="Cambria"/>
                <a:cs typeface="Cambria"/>
              </a:rPr>
              <a:t>refractive </a:t>
            </a:r>
            <a:r>
              <a:rPr sz="2400" spc="-5" dirty="0">
                <a:latin typeface="Cambria"/>
                <a:cs typeface="Cambria"/>
              </a:rPr>
              <a:t>index changes </a:t>
            </a:r>
            <a:r>
              <a:rPr sz="2400" dirty="0">
                <a:latin typeface="Cambria"/>
                <a:cs typeface="Cambria"/>
              </a:rPr>
              <a:t>in a </a:t>
            </a:r>
            <a:r>
              <a:rPr sz="2400" spc="-10" dirty="0">
                <a:latin typeface="Cambria"/>
                <a:cs typeface="Cambria"/>
              </a:rPr>
              <a:t>step </a:t>
            </a:r>
            <a:r>
              <a:rPr sz="2400" spc="-5" dirty="0">
                <a:latin typeface="Cambria"/>
                <a:cs typeface="Cambria"/>
              </a:rPr>
              <a:t>fashion,  </a:t>
            </a:r>
            <a:r>
              <a:rPr sz="2400" spc="-15" dirty="0">
                <a:latin typeface="Cambria"/>
                <a:cs typeface="Cambria"/>
              </a:rPr>
              <a:t>from </a:t>
            </a:r>
            <a:r>
              <a:rPr sz="2400" spc="-5" dirty="0">
                <a:latin typeface="Cambria"/>
                <a:cs typeface="Cambria"/>
              </a:rPr>
              <a:t>the </a:t>
            </a:r>
            <a:r>
              <a:rPr sz="2400" spc="-15" dirty="0">
                <a:latin typeface="Cambria"/>
                <a:cs typeface="Cambria"/>
              </a:rPr>
              <a:t>centre </a:t>
            </a:r>
            <a:r>
              <a:rPr sz="2400" dirty="0">
                <a:latin typeface="Cambria"/>
                <a:cs typeface="Cambria"/>
              </a:rPr>
              <a:t>of </a:t>
            </a:r>
            <a:r>
              <a:rPr sz="2400" spc="-5" dirty="0">
                <a:latin typeface="Cambria"/>
                <a:cs typeface="Cambria"/>
              </a:rPr>
              <a:t>the </a:t>
            </a:r>
            <a:r>
              <a:rPr sz="2400" spc="-40" dirty="0">
                <a:latin typeface="Cambria"/>
                <a:cs typeface="Cambria"/>
              </a:rPr>
              <a:t>fiber, </a:t>
            </a:r>
            <a:r>
              <a:rPr sz="2400" spc="-5" dirty="0">
                <a:latin typeface="Cambria"/>
                <a:cs typeface="Cambria"/>
              </a:rPr>
              <a:t>the </a:t>
            </a:r>
            <a:r>
              <a:rPr sz="2400" spc="-10" dirty="0">
                <a:latin typeface="Cambria"/>
                <a:cs typeface="Cambria"/>
              </a:rPr>
              <a:t>core, </a:t>
            </a:r>
            <a:r>
              <a:rPr sz="2400" spc="-15" dirty="0">
                <a:latin typeface="Cambria"/>
                <a:cs typeface="Cambria"/>
              </a:rPr>
              <a:t>to </a:t>
            </a:r>
            <a:r>
              <a:rPr sz="2400" spc="-5" dirty="0">
                <a:latin typeface="Cambria"/>
                <a:cs typeface="Cambria"/>
              </a:rPr>
              <a:t>the outer </a:t>
            </a:r>
            <a:r>
              <a:rPr sz="2400" dirty="0">
                <a:latin typeface="Cambria"/>
                <a:cs typeface="Cambria"/>
              </a:rPr>
              <a:t>shell, </a:t>
            </a:r>
            <a:r>
              <a:rPr sz="2400" spc="-5" dirty="0">
                <a:latin typeface="Cambria"/>
                <a:cs typeface="Cambria"/>
              </a:rPr>
              <a:t>the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cladding.</a:t>
            </a:r>
          </a:p>
          <a:p>
            <a:pPr marL="287020" indent="-274955" algn="just">
              <a:lnSpc>
                <a:spcPct val="100000"/>
              </a:lnSpc>
              <a:spcBef>
                <a:spcPts val="1260"/>
              </a:spcBef>
              <a:buClr>
                <a:srgbClr val="0AD0D9"/>
              </a:buClr>
              <a:buSzPct val="95238"/>
              <a:buFont typeface="Wingdings"/>
              <a:buChar char=""/>
              <a:tabLst>
                <a:tab pos="287655" algn="l"/>
              </a:tabLst>
            </a:pPr>
            <a:r>
              <a:rPr sz="2400" dirty="0">
                <a:latin typeface="Cambria"/>
                <a:cs typeface="Cambria"/>
              </a:rPr>
              <a:t>It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high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the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core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and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lower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the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cladding.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light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the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fiber</a:t>
            </a:r>
            <a:r>
              <a:rPr lang="en-US" sz="2400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propagates </a:t>
            </a:r>
            <a:r>
              <a:rPr sz="2400" spc="-20" dirty="0">
                <a:latin typeface="Cambria"/>
                <a:cs typeface="Cambria"/>
              </a:rPr>
              <a:t>by </a:t>
            </a:r>
            <a:r>
              <a:rPr sz="2400" dirty="0">
                <a:latin typeface="Cambria"/>
                <a:cs typeface="Cambria"/>
              </a:rPr>
              <a:t>bouncing </a:t>
            </a:r>
            <a:r>
              <a:rPr sz="2400" spc="-5" dirty="0">
                <a:latin typeface="Cambria"/>
                <a:cs typeface="Cambria"/>
              </a:rPr>
              <a:t>back and </a:t>
            </a:r>
            <a:r>
              <a:rPr sz="2400" spc="-10" dirty="0">
                <a:latin typeface="Cambria"/>
                <a:cs typeface="Cambria"/>
              </a:rPr>
              <a:t>forth from </a:t>
            </a:r>
            <a:r>
              <a:rPr sz="2400" spc="-5" dirty="0">
                <a:latin typeface="Cambria"/>
                <a:cs typeface="Cambria"/>
              </a:rPr>
              <a:t>core-cladding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interface.</a:t>
            </a:r>
            <a:endParaRPr lang="en-US" sz="2400" spc="-10" dirty="0">
              <a:latin typeface="Cambria"/>
              <a:cs typeface="Cambria"/>
            </a:endParaRPr>
          </a:p>
          <a:p>
            <a:pPr marL="287020" indent="-274955" algn="just">
              <a:lnSpc>
                <a:spcPct val="100000"/>
              </a:lnSpc>
              <a:spcBef>
                <a:spcPts val="1260"/>
              </a:spcBef>
              <a:buClr>
                <a:srgbClr val="0AD0D9"/>
              </a:buClr>
              <a:buSzPct val="95238"/>
              <a:buFont typeface="Wingdings"/>
              <a:buChar char=""/>
              <a:tabLst>
                <a:tab pos="287655" algn="l"/>
              </a:tabLst>
            </a:pPr>
            <a:endParaRPr lang="en-US" sz="2400" spc="-10" dirty="0">
              <a:latin typeface="Cambria"/>
              <a:cs typeface="Cambria"/>
            </a:endParaRPr>
          </a:p>
          <a:p>
            <a:pPr marL="287020" indent="-274955" algn="just">
              <a:lnSpc>
                <a:spcPct val="100000"/>
              </a:lnSpc>
              <a:spcBef>
                <a:spcPts val="1260"/>
              </a:spcBef>
              <a:buClr>
                <a:srgbClr val="0AD0D9"/>
              </a:buClr>
              <a:buSzPct val="95238"/>
              <a:buFont typeface="Wingdings"/>
              <a:buChar char=""/>
              <a:tabLst>
                <a:tab pos="287655" algn="l"/>
              </a:tabLst>
            </a:pPr>
            <a:endParaRPr lang="en-US" sz="2400" spc="-10" dirty="0">
              <a:latin typeface="Cambria"/>
              <a:cs typeface="Cambria"/>
            </a:endParaRPr>
          </a:p>
          <a:p>
            <a:pPr marL="287020" indent="-274955" algn="just">
              <a:lnSpc>
                <a:spcPct val="100000"/>
              </a:lnSpc>
              <a:spcBef>
                <a:spcPts val="1260"/>
              </a:spcBef>
              <a:buClr>
                <a:srgbClr val="0AD0D9"/>
              </a:buClr>
              <a:buSzPct val="95238"/>
              <a:buFont typeface="Wingdings"/>
              <a:buChar char=""/>
              <a:tabLst>
                <a:tab pos="287655" algn="l"/>
              </a:tabLst>
            </a:pPr>
            <a:endParaRPr lang="en-US" sz="2400" spc="-10" dirty="0">
              <a:latin typeface="Cambria"/>
              <a:cs typeface="Cambria"/>
            </a:endParaRPr>
          </a:p>
          <a:p>
            <a:pPr marL="287020" indent="-274955" algn="just">
              <a:lnSpc>
                <a:spcPct val="100000"/>
              </a:lnSpc>
              <a:spcBef>
                <a:spcPts val="1260"/>
              </a:spcBef>
              <a:buClr>
                <a:srgbClr val="0AD0D9"/>
              </a:buClr>
              <a:buSzPct val="95238"/>
              <a:buFont typeface="Wingdings"/>
              <a:buChar char=""/>
              <a:tabLst>
                <a:tab pos="287655" algn="l"/>
              </a:tabLst>
            </a:pPr>
            <a:endParaRPr lang="en-US" sz="2400" spc="-10" dirty="0">
              <a:latin typeface="Cambria"/>
              <a:cs typeface="Cambria"/>
            </a:endParaRPr>
          </a:p>
          <a:p>
            <a:pPr marL="287020" indent="-274955" algn="just">
              <a:lnSpc>
                <a:spcPct val="100000"/>
              </a:lnSpc>
              <a:spcBef>
                <a:spcPts val="1260"/>
              </a:spcBef>
              <a:buClr>
                <a:srgbClr val="0AD0D9"/>
              </a:buClr>
              <a:buSzPct val="95238"/>
              <a:buFont typeface="Wingdings"/>
              <a:buChar char=""/>
              <a:tabLst>
                <a:tab pos="287655" algn="l"/>
              </a:tabLst>
            </a:pPr>
            <a:endParaRPr lang="en-US" sz="2400" spc="-10" dirty="0">
              <a:latin typeface="Cambria"/>
              <a:cs typeface="Cambria"/>
            </a:endParaRPr>
          </a:p>
          <a:p>
            <a:pPr marL="12065" indent="0" algn="just">
              <a:lnSpc>
                <a:spcPct val="100000"/>
              </a:lnSpc>
              <a:spcBef>
                <a:spcPts val="1260"/>
              </a:spcBef>
              <a:buClr>
                <a:srgbClr val="0AD0D9"/>
              </a:buClr>
              <a:buSzPct val="95238"/>
              <a:buNone/>
              <a:tabLst>
                <a:tab pos="287655" algn="l"/>
              </a:tabLst>
            </a:pPr>
            <a:r>
              <a:rPr lang="en-US" sz="1600" spc="-10" dirty="0">
                <a:latin typeface="Cambria"/>
                <a:cs typeface="Cambria"/>
              </a:rPr>
              <a:t>                                     Figure 2.5 Single mode step index [9]</a:t>
            </a:r>
            <a:endParaRPr lang="en-US" sz="2400" spc="-10" dirty="0">
              <a:latin typeface="Cambria"/>
              <a:cs typeface="Cambri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161" y="3507554"/>
            <a:ext cx="5967836" cy="227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745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3723" y="844062"/>
            <a:ext cx="9791114" cy="5512288"/>
          </a:xfrm>
        </p:spPr>
        <p:txBody>
          <a:bodyPr>
            <a:normAutofit/>
          </a:bodyPr>
          <a:lstStyle/>
          <a:p>
            <a:pPr marL="287020" marR="6350" indent="-274955" algn="just">
              <a:lnSpc>
                <a:spcPct val="130000"/>
              </a:lnSpc>
              <a:spcBef>
                <a:spcPts val="509"/>
              </a:spcBef>
              <a:buClr>
                <a:srgbClr val="0AD0D9"/>
              </a:buClr>
              <a:buSzPct val="95238"/>
              <a:buFont typeface="Wingdings"/>
              <a:buChar char=""/>
              <a:tabLst>
                <a:tab pos="287655" algn="l"/>
              </a:tabLst>
            </a:pPr>
            <a:r>
              <a:rPr lang="en-US" sz="2400" dirty="0">
                <a:latin typeface="Cambria"/>
                <a:cs typeface="Cambria"/>
              </a:rPr>
              <a:t>The </a:t>
            </a:r>
            <a:r>
              <a:rPr lang="en-US" sz="2400" spc="-10" dirty="0">
                <a:latin typeface="Cambria"/>
                <a:cs typeface="Cambria"/>
              </a:rPr>
              <a:t>step </a:t>
            </a:r>
            <a:r>
              <a:rPr lang="en-US" sz="2400" spc="-5" dirty="0">
                <a:latin typeface="Cambria"/>
                <a:cs typeface="Cambria"/>
              </a:rPr>
              <a:t>index fibers </a:t>
            </a:r>
            <a:r>
              <a:rPr lang="en-US" sz="2400" spc="-15" dirty="0">
                <a:latin typeface="Cambria"/>
                <a:cs typeface="Cambria"/>
              </a:rPr>
              <a:t>propagate </a:t>
            </a:r>
            <a:r>
              <a:rPr lang="en-US" sz="2400" spc="-5" dirty="0">
                <a:latin typeface="Cambria"/>
                <a:cs typeface="Cambria"/>
              </a:rPr>
              <a:t>both single and multimode </a:t>
            </a:r>
            <a:r>
              <a:rPr lang="en-US" sz="2400" dirty="0">
                <a:latin typeface="Cambria"/>
                <a:cs typeface="Cambria"/>
              </a:rPr>
              <a:t>signals  within </a:t>
            </a:r>
            <a:r>
              <a:rPr lang="en-US" sz="2400" spc="-5" dirty="0">
                <a:latin typeface="Cambria"/>
                <a:cs typeface="Cambria"/>
              </a:rPr>
              <a:t>the </a:t>
            </a:r>
            <a:r>
              <a:rPr lang="en-US" sz="2400" dirty="0">
                <a:latin typeface="Cambria"/>
                <a:cs typeface="Cambria"/>
              </a:rPr>
              <a:t>fiber</a:t>
            </a:r>
            <a:r>
              <a:rPr lang="en-US" sz="2400" spc="10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core.</a:t>
            </a:r>
            <a:endParaRPr lang="en-US" sz="2400" dirty="0">
              <a:latin typeface="Cambria"/>
              <a:cs typeface="Cambria"/>
            </a:endParaRPr>
          </a:p>
          <a:p>
            <a:pPr marL="287020" marR="7620" indent="-274955" algn="just">
              <a:lnSpc>
                <a:spcPct val="130000"/>
              </a:lnSpc>
              <a:spcBef>
                <a:spcPts val="500"/>
              </a:spcBef>
              <a:buClr>
                <a:srgbClr val="0AD0D9"/>
              </a:buClr>
              <a:buSzPct val="95238"/>
              <a:buFont typeface="Wingdings"/>
              <a:buChar char=""/>
              <a:tabLst>
                <a:tab pos="287655" algn="l"/>
              </a:tabLst>
            </a:pPr>
            <a:r>
              <a:rPr lang="en-US" sz="2400" dirty="0">
                <a:latin typeface="Cambria"/>
                <a:cs typeface="Cambria"/>
              </a:rPr>
              <a:t>The </a:t>
            </a:r>
            <a:r>
              <a:rPr lang="en-US" sz="2400" spc="-5" dirty="0">
                <a:latin typeface="Cambria"/>
                <a:cs typeface="Cambria"/>
              </a:rPr>
              <a:t>light </a:t>
            </a:r>
            <a:r>
              <a:rPr lang="en-US" sz="2400" spc="-30" dirty="0">
                <a:latin typeface="Cambria"/>
                <a:cs typeface="Cambria"/>
              </a:rPr>
              <a:t>rays </a:t>
            </a:r>
            <a:r>
              <a:rPr lang="en-US" sz="2400" spc="-10" dirty="0">
                <a:latin typeface="Cambria"/>
                <a:cs typeface="Cambria"/>
              </a:rPr>
              <a:t>propagating through </a:t>
            </a:r>
            <a:r>
              <a:rPr lang="en-US" sz="2400" dirty="0">
                <a:latin typeface="Cambria"/>
                <a:cs typeface="Cambria"/>
              </a:rPr>
              <a:t>it </a:t>
            </a:r>
            <a:r>
              <a:rPr lang="en-US" sz="2400" spc="-20" dirty="0">
                <a:latin typeface="Cambria"/>
                <a:cs typeface="Cambria"/>
              </a:rPr>
              <a:t>are </a:t>
            </a:r>
            <a:r>
              <a:rPr lang="en-US" sz="2400" dirty="0">
                <a:latin typeface="Cambria"/>
                <a:cs typeface="Cambria"/>
              </a:rPr>
              <a:t>in </a:t>
            </a:r>
            <a:r>
              <a:rPr lang="en-US" sz="2400" spc="-5" dirty="0">
                <a:latin typeface="Cambria"/>
                <a:cs typeface="Cambria"/>
              </a:rPr>
              <a:t>the </a:t>
            </a:r>
            <a:r>
              <a:rPr lang="en-US" sz="2400" spc="-10" dirty="0">
                <a:latin typeface="Cambria"/>
                <a:cs typeface="Cambria"/>
              </a:rPr>
              <a:t>form </a:t>
            </a:r>
            <a:r>
              <a:rPr lang="en-US" sz="2400" dirty="0">
                <a:latin typeface="Cambria"/>
                <a:cs typeface="Cambria"/>
              </a:rPr>
              <a:t>of </a:t>
            </a:r>
            <a:r>
              <a:rPr lang="en-US" sz="2400" spc="-5" dirty="0" err="1">
                <a:latin typeface="Cambria"/>
                <a:cs typeface="Cambria"/>
              </a:rPr>
              <a:t>meridinal</a:t>
            </a:r>
            <a:r>
              <a:rPr lang="en-US" sz="2400" spc="-5" dirty="0">
                <a:latin typeface="Cambria"/>
                <a:cs typeface="Cambria"/>
              </a:rPr>
              <a:t>  </a:t>
            </a:r>
            <a:r>
              <a:rPr lang="en-US" sz="2400" spc="-30" dirty="0">
                <a:latin typeface="Cambria"/>
                <a:cs typeface="Cambria"/>
              </a:rPr>
              <a:t>rays </a:t>
            </a:r>
            <a:r>
              <a:rPr lang="en-US" sz="2400" spc="-5" dirty="0">
                <a:latin typeface="Cambria"/>
                <a:cs typeface="Cambria"/>
              </a:rPr>
              <a:t>which </a:t>
            </a:r>
            <a:r>
              <a:rPr lang="en-US" sz="2400" dirty="0">
                <a:latin typeface="Cambria"/>
                <a:cs typeface="Cambria"/>
              </a:rPr>
              <a:t>will </a:t>
            </a:r>
            <a:r>
              <a:rPr lang="en-US" sz="2400" spc="-10" dirty="0">
                <a:latin typeface="Cambria"/>
                <a:cs typeface="Cambria"/>
              </a:rPr>
              <a:t>cross </a:t>
            </a:r>
            <a:r>
              <a:rPr lang="en-US" sz="2400" spc="-5" dirty="0">
                <a:latin typeface="Cambria"/>
                <a:cs typeface="Cambria"/>
              </a:rPr>
              <a:t>the </a:t>
            </a:r>
            <a:r>
              <a:rPr lang="en-US" sz="2400" dirty="0">
                <a:latin typeface="Cambria"/>
                <a:cs typeface="Cambria"/>
              </a:rPr>
              <a:t>fiber </a:t>
            </a:r>
            <a:r>
              <a:rPr lang="en-US" sz="2400" spc="-15" dirty="0">
                <a:latin typeface="Cambria"/>
                <a:cs typeface="Cambria"/>
              </a:rPr>
              <a:t>core </a:t>
            </a:r>
            <a:r>
              <a:rPr lang="en-US" sz="2400" spc="-5" dirty="0">
                <a:latin typeface="Cambria"/>
                <a:cs typeface="Cambria"/>
              </a:rPr>
              <a:t>axis during </a:t>
            </a:r>
            <a:r>
              <a:rPr lang="en-US" sz="2400" spc="-20" dirty="0">
                <a:latin typeface="Cambria"/>
                <a:cs typeface="Cambria"/>
              </a:rPr>
              <a:t>every </a:t>
            </a:r>
            <a:r>
              <a:rPr lang="en-US" sz="2400" spc="-10" dirty="0">
                <a:latin typeface="Cambria"/>
                <a:cs typeface="Cambria"/>
              </a:rPr>
              <a:t>reflection at  </a:t>
            </a:r>
            <a:r>
              <a:rPr lang="en-US" sz="2400" spc="-5" dirty="0">
                <a:latin typeface="Cambria"/>
                <a:cs typeface="Cambria"/>
              </a:rPr>
              <a:t>the </a:t>
            </a:r>
            <a:r>
              <a:rPr lang="en-US" sz="2400" spc="-15" dirty="0">
                <a:latin typeface="Cambria"/>
                <a:cs typeface="Cambria"/>
              </a:rPr>
              <a:t>core </a:t>
            </a:r>
            <a:r>
              <a:rPr lang="en-US" sz="2400" dirty="0">
                <a:latin typeface="Cambria"/>
                <a:cs typeface="Cambria"/>
              </a:rPr>
              <a:t>– cladding </a:t>
            </a:r>
            <a:r>
              <a:rPr lang="en-US" sz="2400" spc="-5" dirty="0">
                <a:latin typeface="Cambria"/>
                <a:cs typeface="Cambria"/>
              </a:rPr>
              <a:t>boundary and </a:t>
            </a:r>
            <a:r>
              <a:rPr lang="en-US" sz="2400" spc="-20" dirty="0">
                <a:latin typeface="Cambria"/>
                <a:cs typeface="Cambria"/>
              </a:rPr>
              <a:t>are </a:t>
            </a:r>
            <a:r>
              <a:rPr lang="en-US" sz="2400" spc="-10" dirty="0">
                <a:latin typeface="Cambria"/>
                <a:cs typeface="Cambria"/>
              </a:rPr>
              <a:t>propagating </a:t>
            </a:r>
            <a:r>
              <a:rPr lang="en-US" sz="2400" dirty="0">
                <a:latin typeface="Cambria"/>
                <a:cs typeface="Cambria"/>
              </a:rPr>
              <a:t>in a </a:t>
            </a:r>
            <a:r>
              <a:rPr lang="en-US" sz="2400" dirty="0" err="1">
                <a:latin typeface="Cambria"/>
                <a:cs typeface="Cambria"/>
              </a:rPr>
              <a:t>zig</a:t>
            </a:r>
            <a:r>
              <a:rPr lang="en-US" sz="2400" dirty="0">
                <a:latin typeface="Cambria"/>
                <a:cs typeface="Cambria"/>
              </a:rPr>
              <a:t> – </a:t>
            </a:r>
            <a:r>
              <a:rPr lang="en-US" sz="2400" spc="-10" dirty="0" err="1">
                <a:latin typeface="Cambria"/>
                <a:cs typeface="Cambria"/>
              </a:rPr>
              <a:t>zag</a:t>
            </a:r>
            <a:r>
              <a:rPr lang="en-US" sz="2400" spc="-10" dirty="0">
                <a:latin typeface="Cambria"/>
                <a:cs typeface="Cambria"/>
              </a:rPr>
              <a:t>  </a:t>
            </a:r>
            <a:r>
              <a:rPr lang="en-US" sz="2400" spc="-35" dirty="0">
                <a:latin typeface="Cambria"/>
                <a:cs typeface="Cambria"/>
              </a:rPr>
              <a:t>manner.</a:t>
            </a:r>
          </a:p>
          <a:p>
            <a:pPr marL="12065" marR="7620" indent="0" algn="just">
              <a:lnSpc>
                <a:spcPct val="130000"/>
              </a:lnSpc>
              <a:spcBef>
                <a:spcPts val="500"/>
              </a:spcBef>
              <a:buClr>
                <a:srgbClr val="0AD0D9"/>
              </a:buClr>
              <a:buSzPct val="95238"/>
              <a:buNone/>
              <a:tabLst>
                <a:tab pos="287655" algn="l"/>
              </a:tabLst>
            </a:pPr>
            <a:endParaRPr lang="en-US" spc="-35" dirty="0">
              <a:latin typeface="Cambria"/>
              <a:cs typeface="Cambria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</a:t>
            </a:r>
            <a:r>
              <a:rPr lang="en-US" sz="1600" dirty="0"/>
              <a:t>Figure 2.6 Multimode Step index Fiber [9]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36" y="3633926"/>
            <a:ext cx="8886825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837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6430" y="-1"/>
            <a:ext cx="5831807" cy="1167319"/>
          </a:xfrm>
        </p:spPr>
        <p:txBody>
          <a:bodyPr>
            <a:normAutofit fontScale="90000"/>
          </a:bodyPr>
          <a:lstStyle/>
          <a:p>
            <a:r>
              <a:rPr lang="en-US" sz="4400" b="1" spc="-15" dirty="0">
                <a:latin typeface="Cambria" panose="02040503050406030204" pitchFamily="18" charset="0"/>
                <a:ea typeface="Cambria" panose="02040503050406030204" pitchFamily="18" charset="0"/>
              </a:rPr>
              <a:t>Graded </a:t>
            </a:r>
            <a:r>
              <a:rPr lang="en-US" sz="4400" b="1" spc="-20" dirty="0">
                <a:latin typeface="Cambria" panose="02040503050406030204" pitchFamily="18" charset="0"/>
                <a:ea typeface="Cambria" panose="02040503050406030204" pitchFamily="18" charset="0"/>
              </a:rPr>
              <a:t>index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fiber</a:t>
            </a:r>
            <a:r>
              <a:rPr lang="en-US" sz="4400" b="1" spc="15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br>
              <a:rPr lang="en-US" sz="3800" b="1" spc="-5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3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3526" y="900332"/>
            <a:ext cx="10928252" cy="5456019"/>
          </a:xfrm>
        </p:spPr>
        <p:txBody>
          <a:bodyPr>
            <a:normAutofit fontScale="55000" lnSpcReduction="20000"/>
          </a:bodyPr>
          <a:lstStyle/>
          <a:p>
            <a:pPr marL="287020" marR="5080" indent="-274955" algn="just">
              <a:lnSpc>
                <a:spcPct val="150000"/>
              </a:lnSpc>
              <a:spcBef>
                <a:spcPts val="690"/>
              </a:spcBef>
              <a:buClr>
                <a:srgbClr val="0AD0D9"/>
              </a:buClr>
              <a:buSzPct val="93181"/>
              <a:buFont typeface="Wingdings"/>
              <a:buChar char=""/>
              <a:tabLst>
                <a:tab pos="287655" algn="l"/>
              </a:tabLst>
            </a:pPr>
            <a:r>
              <a:rPr lang="en-US" sz="4400" spc="-5" dirty="0">
                <a:latin typeface="Cambria"/>
                <a:cs typeface="Cambria"/>
              </a:rPr>
              <a:t>In </a:t>
            </a:r>
            <a:r>
              <a:rPr lang="en-US" sz="4400" spc="-10" dirty="0">
                <a:latin typeface="Cambria"/>
                <a:cs typeface="Cambria"/>
              </a:rPr>
              <a:t>graded index </a:t>
            </a:r>
            <a:r>
              <a:rPr lang="en-US" sz="4400" spc="-5" dirty="0">
                <a:latin typeface="Cambria"/>
                <a:cs typeface="Cambria"/>
              </a:rPr>
              <a:t>fibers, the </a:t>
            </a:r>
            <a:r>
              <a:rPr lang="en-US" sz="4400" spc="-20" dirty="0">
                <a:latin typeface="Cambria"/>
                <a:cs typeface="Cambria"/>
              </a:rPr>
              <a:t>refractive </a:t>
            </a:r>
            <a:r>
              <a:rPr lang="en-US" sz="4400" spc="-5" dirty="0">
                <a:latin typeface="Cambria"/>
                <a:cs typeface="Cambria"/>
              </a:rPr>
              <a:t>index of </a:t>
            </a:r>
            <a:r>
              <a:rPr lang="en-US" sz="4400" spc="-10" dirty="0">
                <a:latin typeface="Cambria"/>
                <a:cs typeface="Cambria"/>
              </a:rPr>
              <a:t>the core varies  </a:t>
            </a:r>
            <a:r>
              <a:rPr lang="en-US" sz="4400" spc="-15" dirty="0">
                <a:latin typeface="Cambria"/>
                <a:cs typeface="Cambria"/>
              </a:rPr>
              <a:t>gradually </a:t>
            </a:r>
            <a:r>
              <a:rPr lang="en-US" sz="4400" spc="-5" dirty="0">
                <a:latin typeface="Cambria"/>
                <a:cs typeface="Cambria"/>
              </a:rPr>
              <a:t>as a function of </a:t>
            </a:r>
            <a:r>
              <a:rPr lang="en-US" sz="4400" spc="-15" dirty="0">
                <a:latin typeface="Cambria"/>
                <a:cs typeface="Cambria"/>
              </a:rPr>
              <a:t>radial </a:t>
            </a:r>
            <a:r>
              <a:rPr lang="en-US" sz="4400" spc="-5" dirty="0">
                <a:latin typeface="Cambria"/>
                <a:cs typeface="Cambria"/>
              </a:rPr>
              <a:t>distance </a:t>
            </a:r>
            <a:r>
              <a:rPr lang="en-US" sz="4400" spc="-15" dirty="0">
                <a:latin typeface="Cambria"/>
                <a:cs typeface="Cambria"/>
              </a:rPr>
              <a:t>from </a:t>
            </a:r>
            <a:r>
              <a:rPr lang="en-US" sz="4400" spc="-10" dirty="0">
                <a:latin typeface="Cambria"/>
                <a:cs typeface="Cambria"/>
              </a:rPr>
              <a:t>the </a:t>
            </a:r>
            <a:r>
              <a:rPr lang="en-US" sz="4400" spc="-5" dirty="0">
                <a:latin typeface="Cambria"/>
                <a:cs typeface="Cambria"/>
              </a:rPr>
              <a:t>fiber</a:t>
            </a:r>
            <a:r>
              <a:rPr lang="en-US" sz="4400" spc="240" dirty="0">
                <a:latin typeface="Cambria"/>
                <a:cs typeface="Cambria"/>
              </a:rPr>
              <a:t> </a:t>
            </a:r>
            <a:r>
              <a:rPr lang="en-US" sz="4400" spc="-40" dirty="0">
                <a:latin typeface="Cambria"/>
                <a:cs typeface="Cambria"/>
              </a:rPr>
              <a:t>center. </a:t>
            </a:r>
          </a:p>
          <a:p>
            <a:pPr marL="287020" marR="5080" indent="-274955" algn="just">
              <a:lnSpc>
                <a:spcPct val="150000"/>
              </a:lnSpc>
              <a:spcBef>
                <a:spcPts val="690"/>
              </a:spcBef>
              <a:buClr>
                <a:srgbClr val="0AD0D9"/>
              </a:buClr>
              <a:buSzPct val="93181"/>
              <a:buFont typeface="Wingdings"/>
              <a:buChar char=""/>
              <a:tabLst>
                <a:tab pos="287655" algn="l"/>
              </a:tabLst>
            </a:pPr>
            <a:r>
              <a:rPr lang="en-US" sz="4400" spc="-5" dirty="0">
                <a:latin typeface="Cambria"/>
                <a:cs typeface="Cambria"/>
              </a:rPr>
              <a:t>The</a:t>
            </a:r>
            <a:r>
              <a:rPr lang="en-US" sz="4400" spc="50" dirty="0">
                <a:latin typeface="Cambria"/>
                <a:cs typeface="Cambria"/>
              </a:rPr>
              <a:t> </a:t>
            </a:r>
            <a:r>
              <a:rPr lang="en-US" sz="4400" spc="-20" dirty="0">
                <a:latin typeface="Cambria"/>
                <a:cs typeface="Cambria"/>
              </a:rPr>
              <a:t>refractive</a:t>
            </a:r>
            <a:r>
              <a:rPr lang="en-US" sz="4400" spc="60" dirty="0">
                <a:latin typeface="Cambria"/>
                <a:cs typeface="Cambria"/>
              </a:rPr>
              <a:t> </a:t>
            </a:r>
            <a:r>
              <a:rPr lang="en-US" sz="4400" spc="-5" dirty="0">
                <a:latin typeface="Cambria"/>
                <a:cs typeface="Cambria"/>
              </a:rPr>
              <a:t>index</a:t>
            </a:r>
            <a:r>
              <a:rPr lang="en-US" sz="4400" spc="50" dirty="0">
                <a:latin typeface="Cambria"/>
                <a:cs typeface="Cambria"/>
              </a:rPr>
              <a:t> </a:t>
            </a:r>
            <a:r>
              <a:rPr lang="en-US" sz="4400" spc="-5" dirty="0">
                <a:latin typeface="Cambria"/>
                <a:cs typeface="Cambria"/>
              </a:rPr>
              <a:t>of</a:t>
            </a:r>
            <a:r>
              <a:rPr lang="en-US" sz="4400" spc="55" dirty="0">
                <a:latin typeface="Cambria"/>
                <a:cs typeface="Cambria"/>
              </a:rPr>
              <a:t> </a:t>
            </a:r>
            <a:r>
              <a:rPr lang="en-US" sz="4400" spc="-5" dirty="0">
                <a:latin typeface="Cambria"/>
                <a:cs typeface="Cambria"/>
              </a:rPr>
              <a:t>the</a:t>
            </a:r>
            <a:r>
              <a:rPr lang="en-US" sz="4400" spc="60" dirty="0">
                <a:latin typeface="Cambria"/>
                <a:cs typeface="Cambria"/>
              </a:rPr>
              <a:t> </a:t>
            </a:r>
            <a:r>
              <a:rPr lang="en-US" sz="4400" spc="-10" dirty="0">
                <a:latin typeface="Cambria"/>
                <a:cs typeface="Cambria"/>
              </a:rPr>
              <a:t>core</a:t>
            </a:r>
            <a:r>
              <a:rPr lang="en-US" sz="4400" spc="55" dirty="0">
                <a:latin typeface="Cambria"/>
                <a:cs typeface="Cambria"/>
              </a:rPr>
              <a:t> </a:t>
            </a:r>
            <a:r>
              <a:rPr lang="en-US" sz="4400" spc="-10" dirty="0">
                <a:latin typeface="Cambria"/>
                <a:cs typeface="Cambria"/>
              </a:rPr>
              <a:t>decreases</a:t>
            </a:r>
            <a:r>
              <a:rPr lang="en-US" sz="4400" spc="80" dirty="0">
                <a:latin typeface="Cambria"/>
                <a:cs typeface="Cambria"/>
              </a:rPr>
              <a:t> </a:t>
            </a:r>
            <a:r>
              <a:rPr lang="en-US" sz="4400" spc="-10" dirty="0">
                <a:latin typeface="Cambria"/>
                <a:cs typeface="Cambria"/>
              </a:rPr>
              <a:t>as</a:t>
            </a:r>
            <a:r>
              <a:rPr lang="en-US" sz="4400" spc="70" dirty="0">
                <a:latin typeface="Cambria"/>
                <a:cs typeface="Cambria"/>
              </a:rPr>
              <a:t> </a:t>
            </a:r>
            <a:r>
              <a:rPr lang="en-US" sz="4400" spc="-15" dirty="0">
                <a:latin typeface="Cambria"/>
                <a:cs typeface="Cambria"/>
              </a:rPr>
              <a:t>we</a:t>
            </a:r>
            <a:r>
              <a:rPr lang="en-US" sz="4400" spc="55" dirty="0">
                <a:latin typeface="Cambria"/>
                <a:cs typeface="Cambria"/>
              </a:rPr>
              <a:t> </a:t>
            </a:r>
            <a:r>
              <a:rPr lang="en-US" sz="4400" spc="-25" dirty="0">
                <a:latin typeface="Cambria"/>
                <a:cs typeface="Cambria"/>
              </a:rPr>
              <a:t>move</a:t>
            </a:r>
            <a:r>
              <a:rPr lang="en-US" sz="4400" spc="55" dirty="0">
                <a:latin typeface="Cambria"/>
                <a:cs typeface="Cambria"/>
              </a:rPr>
              <a:t> </a:t>
            </a:r>
            <a:r>
              <a:rPr lang="en-US" sz="4400" spc="-30" dirty="0">
                <a:latin typeface="Cambria"/>
                <a:cs typeface="Cambria"/>
              </a:rPr>
              <a:t>away</a:t>
            </a:r>
            <a:r>
              <a:rPr lang="en-US" sz="4400" spc="55" dirty="0">
                <a:latin typeface="Cambria"/>
                <a:cs typeface="Cambria"/>
              </a:rPr>
              <a:t> </a:t>
            </a:r>
            <a:r>
              <a:rPr lang="en-US" sz="4400" spc="-10" dirty="0">
                <a:latin typeface="Cambria"/>
                <a:cs typeface="Cambria"/>
              </a:rPr>
              <a:t>from</a:t>
            </a:r>
            <a:r>
              <a:rPr lang="en-US" sz="4400" dirty="0">
                <a:latin typeface="Cambria"/>
                <a:cs typeface="Cambria"/>
              </a:rPr>
              <a:t> </a:t>
            </a:r>
            <a:r>
              <a:rPr lang="en-US" sz="4400" spc="-10" dirty="0">
                <a:latin typeface="Cambria"/>
                <a:cs typeface="Cambria"/>
              </a:rPr>
              <a:t>the</a:t>
            </a:r>
            <a:r>
              <a:rPr lang="en-US" sz="4400" spc="10" dirty="0">
                <a:latin typeface="Cambria"/>
                <a:cs typeface="Cambria"/>
              </a:rPr>
              <a:t> </a:t>
            </a:r>
            <a:r>
              <a:rPr lang="en-US" sz="4400" spc="-10" dirty="0">
                <a:latin typeface="Cambria"/>
                <a:cs typeface="Cambria"/>
              </a:rPr>
              <a:t>centre.</a:t>
            </a:r>
          </a:p>
          <a:p>
            <a:pPr marL="287020" marR="5080" indent="-274955" algn="just">
              <a:lnSpc>
                <a:spcPct val="150000"/>
              </a:lnSpc>
              <a:spcBef>
                <a:spcPts val="690"/>
              </a:spcBef>
              <a:buClr>
                <a:srgbClr val="0AD0D9"/>
              </a:buClr>
              <a:buSzPct val="93181"/>
              <a:buFont typeface="Wingdings"/>
              <a:buChar char=""/>
              <a:tabLst>
                <a:tab pos="287655" algn="l"/>
              </a:tabLst>
            </a:pPr>
            <a:r>
              <a:rPr lang="en-US" sz="4400" spc="-5" dirty="0">
                <a:latin typeface="Cambria"/>
                <a:cs typeface="Cambria"/>
              </a:rPr>
              <a:t>The </a:t>
            </a:r>
            <a:r>
              <a:rPr lang="en-US" sz="4400" spc="-20" dirty="0">
                <a:latin typeface="Cambria"/>
                <a:cs typeface="Cambria"/>
              </a:rPr>
              <a:t>refractive </a:t>
            </a:r>
            <a:r>
              <a:rPr lang="en-US" sz="4400" spc="-5" dirty="0">
                <a:latin typeface="Cambria"/>
                <a:cs typeface="Cambria"/>
              </a:rPr>
              <a:t>index of </a:t>
            </a:r>
            <a:r>
              <a:rPr lang="en-US" sz="4400" spc="-10" dirty="0">
                <a:latin typeface="Cambria"/>
                <a:cs typeface="Cambria"/>
              </a:rPr>
              <a:t>the core </a:t>
            </a:r>
            <a:r>
              <a:rPr lang="en-US" sz="4400" spc="-5" dirty="0">
                <a:latin typeface="Cambria"/>
                <a:cs typeface="Cambria"/>
              </a:rPr>
              <a:t>is </a:t>
            </a:r>
            <a:r>
              <a:rPr lang="en-US" sz="4400" spc="-10" dirty="0">
                <a:latin typeface="Cambria"/>
                <a:cs typeface="Cambria"/>
              </a:rPr>
              <a:t>made </a:t>
            </a:r>
            <a:r>
              <a:rPr lang="en-US" sz="4400" spc="-15" dirty="0">
                <a:latin typeface="Cambria"/>
                <a:cs typeface="Cambria"/>
              </a:rPr>
              <a:t>to vary </a:t>
            </a:r>
            <a:r>
              <a:rPr lang="en-US" sz="4400" dirty="0">
                <a:latin typeface="Cambria"/>
                <a:cs typeface="Cambria"/>
              </a:rPr>
              <a:t>in </a:t>
            </a:r>
            <a:r>
              <a:rPr lang="en-US" sz="4400" spc="-10" dirty="0">
                <a:latin typeface="Cambria"/>
                <a:cs typeface="Cambria"/>
              </a:rPr>
              <a:t>the form of  </a:t>
            </a:r>
            <a:r>
              <a:rPr lang="en-US" sz="4400" spc="-15" dirty="0">
                <a:latin typeface="Cambria"/>
                <a:cs typeface="Cambria"/>
              </a:rPr>
              <a:t>parabolic </a:t>
            </a:r>
            <a:r>
              <a:rPr lang="en-US" sz="4400" spc="-10" dirty="0">
                <a:latin typeface="Cambria"/>
                <a:cs typeface="Cambria"/>
              </a:rPr>
              <a:t>manner </a:t>
            </a:r>
            <a:r>
              <a:rPr lang="en-US" sz="4400" spc="-5" dirty="0">
                <a:latin typeface="Cambria"/>
                <a:cs typeface="Cambria"/>
              </a:rPr>
              <a:t>such that </a:t>
            </a:r>
            <a:r>
              <a:rPr lang="en-US" sz="4400" spc="-10" dirty="0">
                <a:latin typeface="Cambria"/>
                <a:cs typeface="Cambria"/>
              </a:rPr>
              <a:t>the </a:t>
            </a:r>
            <a:r>
              <a:rPr lang="en-US" sz="4400" spc="-5" dirty="0">
                <a:latin typeface="Cambria"/>
                <a:cs typeface="Cambria"/>
              </a:rPr>
              <a:t>maximum </a:t>
            </a:r>
            <a:r>
              <a:rPr lang="en-US" sz="4400" spc="-20" dirty="0">
                <a:latin typeface="Cambria"/>
                <a:cs typeface="Cambria"/>
              </a:rPr>
              <a:t>refractive </a:t>
            </a:r>
            <a:r>
              <a:rPr lang="en-US" sz="4400" spc="-5" dirty="0">
                <a:latin typeface="Cambria"/>
                <a:cs typeface="Cambria"/>
              </a:rPr>
              <a:t>index is  </a:t>
            </a:r>
            <a:r>
              <a:rPr lang="en-US" sz="4400" spc="-10" dirty="0">
                <a:latin typeface="Cambria"/>
                <a:cs typeface="Cambria"/>
              </a:rPr>
              <a:t>present </a:t>
            </a:r>
            <a:r>
              <a:rPr lang="en-US" sz="4400" spc="-5" dirty="0">
                <a:latin typeface="Cambria"/>
                <a:cs typeface="Cambria"/>
              </a:rPr>
              <a:t>at </a:t>
            </a:r>
            <a:r>
              <a:rPr lang="en-US" sz="4400" spc="-10" dirty="0">
                <a:latin typeface="Cambria"/>
                <a:cs typeface="Cambria"/>
              </a:rPr>
              <a:t>the centre </a:t>
            </a:r>
            <a:r>
              <a:rPr lang="en-US" sz="4400" spc="-5" dirty="0">
                <a:latin typeface="Cambria"/>
                <a:cs typeface="Cambria"/>
              </a:rPr>
              <a:t>of </a:t>
            </a:r>
            <a:r>
              <a:rPr lang="en-US" sz="4400" spc="-10" dirty="0">
                <a:latin typeface="Cambria"/>
                <a:cs typeface="Cambria"/>
              </a:rPr>
              <a:t>the</a:t>
            </a:r>
            <a:r>
              <a:rPr lang="en-US" sz="4400" spc="114" dirty="0">
                <a:latin typeface="Cambria"/>
                <a:cs typeface="Cambria"/>
              </a:rPr>
              <a:t> </a:t>
            </a:r>
            <a:r>
              <a:rPr lang="en-US" sz="4400" spc="-10" dirty="0">
                <a:latin typeface="Cambria"/>
                <a:cs typeface="Cambria"/>
              </a:rPr>
              <a:t>core.</a:t>
            </a:r>
            <a:endParaRPr lang="en-US" sz="3800" spc="-40" dirty="0">
              <a:latin typeface="Cambria"/>
              <a:cs typeface="Cambria"/>
            </a:endParaRPr>
          </a:p>
          <a:p>
            <a:pPr marL="12065" marR="5080" algn="just">
              <a:lnSpc>
                <a:spcPct val="150000"/>
              </a:lnSpc>
              <a:spcBef>
                <a:spcPts val="690"/>
              </a:spcBef>
              <a:buClr>
                <a:srgbClr val="0AD0D9"/>
              </a:buClr>
              <a:buSzPct val="93181"/>
              <a:tabLst>
                <a:tab pos="287655" algn="l"/>
              </a:tabLst>
            </a:pPr>
            <a:r>
              <a:rPr lang="en-US" sz="7200" spc="-40" dirty="0">
                <a:latin typeface="Cambria"/>
                <a:cs typeface="Cambria"/>
              </a:rPr>
              <a:t> </a:t>
            </a:r>
          </a:p>
          <a:p>
            <a:pPr marL="12065" marR="5080" algn="just">
              <a:lnSpc>
                <a:spcPct val="150000"/>
              </a:lnSpc>
              <a:spcBef>
                <a:spcPts val="690"/>
              </a:spcBef>
              <a:buClr>
                <a:srgbClr val="0AD0D9"/>
              </a:buClr>
              <a:buSzPct val="93181"/>
              <a:tabLst>
                <a:tab pos="287655" algn="l"/>
              </a:tabLst>
            </a:pPr>
            <a:endParaRPr lang="en-US" sz="7200" spc="-40" dirty="0">
              <a:latin typeface="Cambria"/>
              <a:cs typeface="Cambria"/>
            </a:endParaRPr>
          </a:p>
          <a:p>
            <a:pPr marL="12065" marR="5080" algn="just">
              <a:lnSpc>
                <a:spcPct val="150000"/>
              </a:lnSpc>
              <a:spcBef>
                <a:spcPts val="690"/>
              </a:spcBef>
              <a:buClr>
                <a:srgbClr val="0AD0D9"/>
              </a:buClr>
              <a:buSzPct val="93181"/>
              <a:tabLst>
                <a:tab pos="287655" algn="l"/>
              </a:tabLst>
            </a:pPr>
            <a:r>
              <a:rPr lang="en-US" sz="2900" spc="-40" dirty="0">
                <a:latin typeface="Cambria"/>
                <a:cs typeface="Cambria"/>
              </a:rPr>
              <a:t>Figure 2.7Graded Index Fiber [9]</a:t>
            </a:r>
          </a:p>
          <a:p>
            <a:pPr marL="12065" marR="5080" algn="just">
              <a:lnSpc>
                <a:spcPct val="150000"/>
              </a:lnSpc>
              <a:spcBef>
                <a:spcPts val="690"/>
              </a:spcBef>
              <a:buClr>
                <a:srgbClr val="0AD0D9"/>
              </a:buClr>
              <a:buSzPct val="93181"/>
              <a:tabLst>
                <a:tab pos="287655" algn="l"/>
              </a:tabLst>
            </a:pPr>
            <a:r>
              <a:rPr lang="en-US" sz="3800" spc="-40" dirty="0">
                <a:latin typeface="Cambria"/>
                <a:cs typeface="Cambria"/>
              </a:rPr>
              <a:t>                             </a:t>
            </a:r>
          </a:p>
          <a:p>
            <a:pPr marL="287020" marR="5080" indent="-274955" algn="just">
              <a:lnSpc>
                <a:spcPct val="150000"/>
              </a:lnSpc>
              <a:spcBef>
                <a:spcPts val="690"/>
              </a:spcBef>
              <a:buClr>
                <a:srgbClr val="0AD0D9"/>
              </a:buClr>
              <a:buSzPct val="93181"/>
              <a:buFont typeface="Wingdings"/>
              <a:buChar char=""/>
              <a:tabLst>
                <a:tab pos="287655" algn="l"/>
              </a:tabLst>
            </a:pPr>
            <a:endParaRPr lang="en-US" sz="3800" dirty="0">
              <a:latin typeface="Cambria"/>
              <a:cs typeface="Cambria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975" y="3881338"/>
            <a:ext cx="7427742" cy="247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43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042809" y="0"/>
            <a:ext cx="762648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3800" b="1" spc="-4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Summary of types </a:t>
            </a:r>
            <a:r>
              <a:rPr lang="en-US" sz="3800" b="1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of</a:t>
            </a:r>
            <a:r>
              <a:rPr lang="en-US" sz="3800" b="1" spc="-30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 </a:t>
            </a:r>
            <a:r>
              <a:rPr lang="en-US" sz="3800" b="1" spc="-15" dirty="0"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Fibers</a:t>
            </a:r>
            <a:endParaRPr lang="en-US" sz="3800" b="1" dirty="0">
              <a:latin typeface="Cambria" panose="02040503050406030204" pitchFamily="18" charset="0"/>
              <a:ea typeface="Cambria" panose="02040503050406030204" pitchFamily="18" charset="0"/>
              <a:cs typeface="Calibri"/>
            </a:endParaRPr>
          </a:p>
        </p:txBody>
      </p:sp>
      <p:sp>
        <p:nvSpPr>
          <p:cNvPr id="8" name="object 3"/>
          <p:cNvSpPr/>
          <p:nvPr/>
        </p:nvSpPr>
        <p:spPr>
          <a:xfrm>
            <a:off x="992220" y="972766"/>
            <a:ext cx="9747115" cy="51751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84834" y="6356350"/>
            <a:ext cx="4405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Figure 2.8 Different types Of optical fibre [6]</a:t>
            </a:r>
          </a:p>
        </p:txBody>
      </p:sp>
    </p:spTree>
    <p:extLst>
      <p:ext uri="{BB962C8B-B14F-4D97-AF65-F5344CB8AC3E}">
        <p14:creationId xmlns:p14="http://schemas.microsoft.com/office/powerpoint/2010/main" val="3189486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656" y="168812"/>
            <a:ext cx="11113476" cy="860560"/>
          </a:xfrm>
        </p:spPr>
        <p:txBody>
          <a:bodyPr>
            <a:noAutofit/>
          </a:bodyPr>
          <a:lstStyle/>
          <a:p>
            <a:r>
              <a:rPr lang="en-US" sz="4400" b="1" spc="-30" dirty="0">
                <a:latin typeface="Cambria" panose="02040503050406030204" pitchFamily="18" charset="0"/>
                <a:ea typeface="Cambria" panose="02040503050406030204" pitchFamily="18" charset="0"/>
              </a:rPr>
              <a:t>Advantages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of </a:t>
            </a:r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optical fiber</a:t>
            </a:r>
            <a:r>
              <a:rPr lang="en-US" sz="4400" b="1" spc="135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communication</a:t>
            </a:r>
            <a:endParaRPr lang="en-US" sz="4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656" y="1225685"/>
            <a:ext cx="9439421" cy="4935964"/>
          </a:xfrm>
        </p:spPr>
        <p:txBody>
          <a:bodyPr>
            <a:normAutofit/>
          </a:bodyPr>
          <a:lstStyle/>
          <a:p>
            <a:pPr marL="287020" indent="-274955">
              <a:lnSpc>
                <a:spcPct val="100000"/>
              </a:lnSpc>
              <a:spcBef>
                <a:spcPts val="3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Increased </a:t>
            </a:r>
            <a:r>
              <a:rPr lang="en-US" sz="2400" spc="-10" dirty="0">
                <a:latin typeface="Cambria"/>
                <a:cs typeface="Cambria"/>
              </a:rPr>
              <a:t>Bandwidth </a:t>
            </a:r>
            <a:r>
              <a:rPr lang="en-US" sz="2400" dirty="0">
                <a:latin typeface="Cambria"/>
                <a:cs typeface="Cambria"/>
              </a:rPr>
              <a:t>and Channel</a:t>
            </a:r>
            <a:r>
              <a:rPr lang="en-US" sz="2400" spc="-3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Capacity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10" dirty="0">
                <a:latin typeface="Cambria"/>
                <a:cs typeface="Cambria"/>
              </a:rPr>
              <a:t>Low </a:t>
            </a:r>
            <a:r>
              <a:rPr lang="en-US" sz="2400" spc="-5" dirty="0">
                <a:latin typeface="Cambria"/>
                <a:cs typeface="Cambria"/>
              </a:rPr>
              <a:t>Signal</a:t>
            </a:r>
            <a:r>
              <a:rPr lang="en-US" sz="2400" spc="-10" dirty="0">
                <a:latin typeface="Cambria"/>
                <a:cs typeface="Cambria"/>
              </a:rPr>
              <a:t> Attenuation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Immune </a:t>
            </a:r>
            <a:r>
              <a:rPr lang="en-US" sz="2400" spc="-15" dirty="0">
                <a:latin typeface="Cambria"/>
                <a:cs typeface="Cambria"/>
              </a:rPr>
              <a:t>to</a:t>
            </a:r>
            <a:r>
              <a:rPr lang="en-US" sz="2400" dirty="0">
                <a:latin typeface="Cambria"/>
                <a:cs typeface="Cambria"/>
              </a:rPr>
              <a:t> Noise</a:t>
            </a:r>
          </a:p>
          <a:p>
            <a:pPr marL="287020" indent="-27495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No</a:t>
            </a:r>
            <a:r>
              <a:rPr lang="en-US" sz="2400" spc="-10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Crosstalk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15" dirty="0">
                <a:latin typeface="Cambria"/>
                <a:cs typeface="Cambria"/>
              </a:rPr>
              <a:t>Lower </a:t>
            </a:r>
            <a:r>
              <a:rPr lang="en-US" sz="2400" spc="-5" dirty="0">
                <a:latin typeface="Cambria"/>
                <a:cs typeface="Cambria"/>
              </a:rPr>
              <a:t>Bit </a:t>
            </a:r>
            <a:r>
              <a:rPr lang="en-US" sz="2400" spc="-10" dirty="0">
                <a:latin typeface="Cambria"/>
                <a:cs typeface="Cambria"/>
              </a:rPr>
              <a:t>Error</a:t>
            </a:r>
            <a:r>
              <a:rPr lang="en-US" sz="2400" spc="-15" dirty="0">
                <a:latin typeface="Cambria"/>
                <a:cs typeface="Cambria"/>
              </a:rPr>
              <a:t> Rates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Signal</a:t>
            </a:r>
            <a:r>
              <a:rPr lang="en-US" sz="2400" spc="-30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Security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8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Electrical</a:t>
            </a:r>
            <a:r>
              <a:rPr lang="en-US" sz="2400" spc="-1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Isolation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10" dirty="0">
                <a:latin typeface="Cambria"/>
                <a:cs typeface="Cambria"/>
              </a:rPr>
              <a:t>Reduced </a:t>
            </a:r>
            <a:r>
              <a:rPr lang="en-US" sz="2400" spc="-5" dirty="0">
                <a:latin typeface="Cambria"/>
                <a:cs typeface="Cambria"/>
              </a:rPr>
              <a:t>Size </a:t>
            </a:r>
            <a:r>
              <a:rPr lang="en-US" sz="2400" dirty="0">
                <a:latin typeface="Cambria"/>
                <a:cs typeface="Cambria"/>
              </a:rPr>
              <a:t>and </a:t>
            </a:r>
            <a:r>
              <a:rPr lang="en-US" sz="2400" spc="-30" dirty="0">
                <a:latin typeface="Cambria"/>
                <a:cs typeface="Cambria"/>
              </a:rPr>
              <a:t>Weight </a:t>
            </a:r>
            <a:r>
              <a:rPr lang="en-US" sz="2400" spc="-5" dirty="0">
                <a:latin typeface="Cambria"/>
                <a:cs typeface="Cambria"/>
              </a:rPr>
              <a:t>of</a:t>
            </a:r>
            <a:r>
              <a:rPr lang="en-US" sz="2400" spc="3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Cables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Radiation </a:t>
            </a:r>
            <a:r>
              <a:rPr lang="en-US" sz="2400" spc="-10" dirty="0">
                <a:latin typeface="Cambria"/>
                <a:cs typeface="Cambria"/>
              </a:rPr>
              <a:t>Resistant </a:t>
            </a:r>
            <a:r>
              <a:rPr lang="en-US" sz="2400" dirty="0">
                <a:latin typeface="Cambria"/>
                <a:cs typeface="Cambria"/>
              </a:rPr>
              <a:t>and </a:t>
            </a:r>
            <a:r>
              <a:rPr lang="en-US" sz="2400" spc="-10" dirty="0">
                <a:latin typeface="Cambria"/>
                <a:cs typeface="Cambria"/>
              </a:rPr>
              <a:t>Environment</a:t>
            </a:r>
            <a:r>
              <a:rPr lang="en-US" sz="2400" spc="-30" dirty="0">
                <a:latin typeface="Cambria"/>
                <a:cs typeface="Cambria"/>
              </a:rPr>
              <a:t> </a:t>
            </a:r>
            <a:r>
              <a:rPr lang="en-US" sz="2400" spc="-15" dirty="0">
                <a:latin typeface="Cambria"/>
                <a:cs typeface="Cambria"/>
              </a:rPr>
              <a:t>Friendly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29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655" algn="l"/>
              </a:tabLst>
            </a:pPr>
            <a:r>
              <a:rPr lang="en-US" sz="2400" spc="-10" dirty="0">
                <a:latin typeface="Cambria"/>
                <a:cs typeface="Cambria"/>
              </a:rPr>
              <a:t>Resistant </a:t>
            </a:r>
            <a:r>
              <a:rPr lang="en-US" sz="2400" spc="-15" dirty="0">
                <a:latin typeface="Cambria"/>
                <a:cs typeface="Cambria"/>
              </a:rPr>
              <a:t>to </a:t>
            </a:r>
            <a:r>
              <a:rPr lang="en-US" sz="2400" spc="-25" dirty="0">
                <a:latin typeface="Cambria"/>
                <a:cs typeface="Cambria"/>
              </a:rPr>
              <a:t>Temperature </a:t>
            </a:r>
            <a:r>
              <a:rPr lang="en-US" sz="2400" spc="-15" dirty="0">
                <a:latin typeface="Cambria"/>
                <a:cs typeface="Cambria"/>
              </a:rPr>
              <a:t>Variations</a:t>
            </a:r>
            <a:r>
              <a:rPr lang="en-US" sz="2400" spc="-2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etc.</a:t>
            </a:r>
            <a:endParaRPr lang="en-US" sz="2400" dirty="0">
              <a:latin typeface="Cambria"/>
              <a:cs typeface="Cambria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068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410" y="492125"/>
            <a:ext cx="11063590" cy="800100"/>
          </a:xfrm>
        </p:spPr>
        <p:txBody>
          <a:bodyPr>
            <a:normAutofit fontScale="90000"/>
          </a:bodyPr>
          <a:lstStyle/>
          <a:p>
            <a:r>
              <a:rPr lang="en-US" sz="4400" b="1" spc="-15" dirty="0">
                <a:latin typeface="Cambria" panose="02040503050406030204" pitchFamily="18" charset="0"/>
                <a:ea typeface="Cambria" panose="02040503050406030204" pitchFamily="18" charset="0"/>
              </a:rPr>
              <a:t>Disadvantages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of optical </a:t>
            </a:r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fiber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communication</a:t>
            </a:r>
            <a:endParaRPr lang="en-US" sz="4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847" y="1556426"/>
            <a:ext cx="10633953" cy="4799924"/>
          </a:xfrm>
        </p:spPr>
        <p:txBody>
          <a:bodyPr/>
          <a:lstStyle/>
          <a:p>
            <a:pPr marL="287020" indent="-274955">
              <a:lnSpc>
                <a:spcPct val="100000"/>
              </a:lnSpc>
              <a:spcBef>
                <a:spcPts val="770"/>
              </a:spcBef>
              <a:buClr>
                <a:srgbClr val="0AD0D9"/>
              </a:buClr>
              <a:buSzPct val="94642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Specialist skills</a:t>
            </a:r>
            <a:r>
              <a:rPr lang="en-US" sz="2400" spc="-15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needed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94642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Cost of</a:t>
            </a:r>
            <a:r>
              <a:rPr lang="en-US" sz="2400" spc="-10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installation</a:t>
            </a:r>
            <a:endParaRPr lang="en-US" sz="2400" dirty="0">
              <a:latin typeface="Cambria"/>
              <a:cs typeface="Cambria"/>
            </a:endParaRPr>
          </a:p>
          <a:p>
            <a:pPr marL="287020" marR="5080" indent="-274955">
              <a:lnSpc>
                <a:spcPct val="100000"/>
              </a:lnSpc>
              <a:spcBef>
                <a:spcPts val="670"/>
              </a:spcBef>
              <a:buClr>
                <a:srgbClr val="0AD0D9"/>
              </a:buClr>
              <a:buSzPct val="94642"/>
              <a:buFont typeface="Wingdings 2"/>
              <a:buChar char=""/>
              <a:tabLst>
                <a:tab pos="287655" algn="l"/>
                <a:tab pos="1498600" algn="l"/>
                <a:tab pos="3596004" algn="l"/>
              </a:tabLst>
            </a:pPr>
            <a:r>
              <a:rPr lang="en-US" sz="2400" spc="-5" dirty="0">
                <a:latin typeface="Cambria"/>
                <a:cs typeface="Cambria"/>
              </a:rPr>
              <a:t>Cost</a:t>
            </a:r>
            <a:r>
              <a:rPr lang="en-US" sz="2400" spc="39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of </a:t>
            </a:r>
            <a:r>
              <a:rPr lang="en-US" sz="2400" spc="-10" dirty="0">
                <a:latin typeface="Cambria"/>
                <a:cs typeface="Cambria"/>
              </a:rPr>
              <a:t>transmission </a:t>
            </a:r>
            <a:r>
              <a:rPr lang="en-US" sz="2400" spc="-5" dirty="0">
                <a:latin typeface="Cambria"/>
                <a:cs typeface="Cambria"/>
              </a:rPr>
              <a:t>equipment </a:t>
            </a:r>
            <a:r>
              <a:rPr lang="en-US" sz="2400" spc="-10" dirty="0">
                <a:latin typeface="Cambria"/>
                <a:cs typeface="Cambria"/>
              </a:rPr>
              <a:t>from </a:t>
            </a:r>
            <a:r>
              <a:rPr lang="en-US" sz="2400" spc="-5" dirty="0">
                <a:latin typeface="Cambria"/>
                <a:cs typeface="Cambria"/>
              </a:rPr>
              <a:t>electrical </a:t>
            </a:r>
            <a:r>
              <a:rPr lang="en-US" sz="2400" spc="-30" dirty="0">
                <a:latin typeface="Cambria"/>
                <a:cs typeface="Cambria"/>
              </a:rPr>
              <a:t>to  </a:t>
            </a:r>
            <a:r>
              <a:rPr lang="en-US" sz="2400" spc="-5" dirty="0">
                <a:latin typeface="Cambria"/>
                <a:cs typeface="Cambria"/>
              </a:rPr>
              <a:t>optical signals</a:t>
            </a:r>
            <a:endParaRPr lang="en-US" sz="2400" dirty="0">
              <a:latin typeface="Cambria"/>
              <a:cs typeface="Cambria"/>
            </a:endParaRPr>
          </a:p>
          <a:p>
            <a:pPr marL="287020" indent="-274955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94642"/>
              <a:buFont typeface="Wingdings 2"/>
              <a:buChar char=""/>
              <a:tabLst>
                <a:tab pos="287655" algn="l"/>
              </a:tabLst>
            </a:pPr>
            <a:r>
              <a:rPr lang="en-US" sz="2400" spc="-5" dirty="0">
                <a:latin typeface="Cambria"/>
                <a:cs typeface="Cambria"/>
              </a:rPr>
              <a:t>Optical </a:t>
            </a:r>
            <a:r>
              <a:rPr lang="en-US" sz="2400" dirty="0">
                <a:latin typeface="Cambria"/>
                <a:cs typeface="Cambria"/>
              </a:rPr>
              <a:t>fibers </a:t>
            </a:r>
            <a:r>
              <a:rPr lang="en-US" sz="2400" spc="-5" dirty="0">
                <a:latin typeface="Cambria"/>
                <a:cs typeface="Cambria"/>
              </a:rPr>
              <a:t>can </a:t>
            </a:r>
            <a:r>
              <a:rPr lang="en-US" sz="2400" spc="-10" dirty="0">
                <a:latin typeface="Cambria"/>
                <a:cs typeface="Cambria"/>
              </a:rPr>
              <a:t>not </a:t>
            </a:r>
            <a:r>
              <a:rPr lang="en-US" sz="2400" spc="-5" dirty="0">
                <a:latin typeface="Cambria"/>
                <a:cs typeface="Cambria"/>
              </a:rPr>
              <a:t>carry electrical</a:t>
            </a:r>
            <a:r>
              <a:rPr lang="en-US" sz="2400" spc="20" dirty="0">
                <a:latin typeface="Cambria"/>
                <a:cs typeface="Cambria"/>
              </a:rPr>
              <a:t> </a:t>
            </a:r>
            <a:r>
              <a:rPr lang="en-US" sz="2400" spc="-15" dirty="0">
                <a:latin typeface="Cambria"/>
                <a:cs typeface="Cambria"/>
              </a:rPr>
              <a:t>power</a:t>
            </a:r>
            <a:endParaRPr lang="en-US" sz="2400" dirty="0">
              <a:latin typeface="Cambria"/>
              <a:cs typeface="Cambria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37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03" y="-1"/>
            <a:ext cx="7934179" cy="1284051"/>
          </a:xfrm>
        </p:spPr>
        <p:txBody>
          <a:bodyPr>
            <a:noAutofit/>
          </a:bodyPr>
          <a:lstStyle/>
          <a:p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Applications </a:t>
            </a: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of </a:t>
            </a:r>
            <a:r>
              <a:rPr lang="en-US" sz="4400" b="1" spc="-5" dirty="0">
                <a:latin typeface="Cambria" panose="02040503050406030204" pitchFamily="18" charset="0"/>
                <a:ea typeface="Cambria" panose="02040503050406030204" pitchFamily="18" charset="0"/>
              </a:rPr>
              <a:t>optical fiber</a:t>
            </a:r>
            <a:r>
              <a:rPr lang="en-US" sz="4400" b="1" spc="-15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4400" b="1" spc="-10" dirty="0">
                <a:latin typeface="Cambria" panose="02040503050406030204" pitchFamily="18" charset="0"/>
                <a:ea typeface="Cambria" panose="02040503050406030204" pitchFamily="18" charset="0"/>
              </a:rPr>
              <a:t>communication</a:t>
            </a:r>
            <a:endParaRPr lang="en-US" sz="4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5098" y="1284051"/>
            <a:ext cx="11634281" cy="5719863"/>
          </a:xfrm>
        </p:spPr>
        <p:txBody>
          <a:bodyPr>
            <a:norm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spc="-5" dirty="0">
                <a:latin typeface="Cambria"/>
                <a:cs typeface="Cambria"/>
              </a:rPr>
              <a:t>As fibers </a:t>
            </a:r>
            <a:r>
              <a:rPr lang="en-US" sz="2400" spc="-15" dirty="0">
                <a:latin typeface="Cambria"/>
                <a:cs typeface="Cambria"/>
              </a:rPr>
              <a:t>are </a:t>
            </a:r>
            <a:r>
              <a:rPr lang="en-US" sz="2400" spc="-10" dirty="0">
                <a:latin typeface="Cambria"/>
                <a:cs typeface="Cambria"/>
              </a:rPr>
              <a:t>very </a:t>
            </a:r>
            <a:r>
              <a:rPr lang="en-US" sz="2400" spc="-5" dirty="0">
                <a:latin typeface="Cambria"/>
                <a:cs typeface="Cambria"/>
              </a:rPr>
              <a:t>flexible, they </a:t>
            </a:r>
            <a:r>
              <a:rPr lang="en-US" sz="2400" spc="-15" dirty="0">
                <a:latin typeface="Cambria"/>
                <a:cs typeface="Cambria"/>
              </a:rPr>
              <a:t>are </a:t>
            </a:r>
            <a:r>
              <a:rPr lang="en-US" sz="2400" spc="-5" dirty="0">
                <a:latin typeface="Cambria"/>
                <a:cs typeface="Cambria"/>
              </a:rPr>
              <a:t>used </a:t>
            </a:r>
            <a:r>
              <a:rPr lang="en-US" sz="2400" dirty="0">
                <a:latin typeface="Cambria"/>
                <a:cs typeface="Cambria"/>
              </a:rPr>
              <a:t>in </a:t>
            </a:r>
            <a:r>
              <a:rPr lang="en-US" sz="2400" spc="-5" dirty="0">
                <a:latin typeface="Cambria"/>
                <a:cs typeface="Cambria"/>
              </a:rPr>
              <a:t>flexible </a:t>
            </a:r>
            <a:r>
              <a:rPr lang="en-US" sz="2400" dirty="0">
                <a:latin typeface="Cambria"/>
                <a:cs typeface="Cambria"/>
              </a:rPr>
              <a:t>digital</a:t>
            </a:r>
            <a:r>
              <a:rPr lang="en-US" sz="2400" spc="114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cameras.</a:t>
            </a:r>
            <a:endParaRPr lang="en-US"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Font typeface="Wingdings"/>
              <a:buChar char=""/>
            </a:pPr>
            <a:endParaRPr lang="en-US"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spc="-5" dirty="0">
                <a:latin typeface="Cambria"/>
                <a:cs typeface="Cambria"/>
              </a:rPr>
              <a:t>Fibers </a:t>
            </a:r>
            <a:r>
              <a:rPr lang="en-US" sz="2400" spc="-15" dirty="0">
                <a:latin typeface="Cambria"/>
                <a:cs typeface="Cambria"/>
              </a:rPr>
              <a:t>are </a:t>
            </a:r>
            <a:r>
              <a:rPr lang="en-US" sz="2400" dirty="0">
                <a:latin typeface="Cambria"/>
                <a:cs typeface="Cambria"/>
              </a:rPr>
              <a:t>used in </a:t>
            </a:r>
            <a:r>
              <a:rPr lang="en-US" sz="2400" spc="-5" dirty="0">
                <a:latin typeface="Cambria"/>
                <a:cs typeface="Cambria"/>
              </a:rPr>
              <a:t>mechanical imaging i.e. </a:t>
            </a:r>
            <a:r>
              <a:rPr lang="en-US" sz="2400" spc="-15" dirty="0">
                <a:latin typeface="Cambria"/>
                <a:cs typeface="Cambria"/>
              </a:rPr>
              <a:t>for </a:t>
            </a:r>
            <a:r>
              <a:rPr lang="en-US" sz="2400" spc="-5" dirty="0">
                <a:latin typeface="Cambria"/>
                <a:cs typeface="Cambria"/>
              </a:rPr>
              <a:t>inspection </a:t>
            </a:r>
            <a:r>
              <a:rPr lang="en-US" sz="2400" dirty="0">
                <a:latin typeface="Cambria"/>
                <a:cs typeface="Cambria"/>
              </a:rPr>
              <a:t>of </a:t>
            </a:r>
            <a:r>
              <a:rPr lang="en-US" sz="2400" spc="-5" dirty="0">
                <a:latin typeface="Cambria"/>
                <a:cs typeface="Cambria"/>
              </a:rPr>
              <a:t>mechanical welds</a:t>
            </a:r>
            <a:r>
              <a:rPr lang="en-US" sz="2400" spc="-11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in</a:t>
            </a:r>
          </a:p>
          <a:p>
            <a:pPr marL="286385">
              <a:lnSpc>
                <a:spcPct val="100000"/>
              </a:lnSpc>
              <a:spcBef>
                <a:spcPts val="1515"/>
              </a:spcBef>
            </a:pPr>
            <a:r>
              <a:rPr lang="en-US" sz="2400" spc="-5" dirty="0">
                <a:latin typeface="Cambria"/>
                <a:cs typeface="Cambria"/>
              </a:rPr>
              <a:t>pipes and </a:t>
            </a:r>
            <a:r>
              <a:rPr lang="en-US" sz="2400" dirty="0">
                <a:latin typeface="Cambria"/>
                <a:cs typeface="Cambria"/>
              </a:rPr>
              <a:t>engines of </a:t>
            </a:r>
            <a:r>
              <a:rPr lang="en-US" sz="2400" spc="-10" dirty="0">
                <a:latin typeface="Cambria"/>
                <a:cs typeface="Cambria"/>
              </a:rPr>
              <a:t>rockets, </a:t>
            </a:r>
            <a:r>
              <a:rPr lang="en-US" sz="2400" spc="-5" dirty="0">
                <a:latin typeface="Cambria"/>
                <a:cs typeface="Cambria"/>
              </a:rPr>
              <a:t>space shuttles,</a:t>
            </a:r>
            <a:r>
              <a:rPr lang="en-US" sz="2400" spc="1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airplanes.</a:t>
            </a:r>
            <a:endParaRPr lang="en-US"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US"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dirty="0">
                <a:latin typeface="Cambria"/>
                <a:cs typeface="Cambria"/>
              </a:rPr>
              <a:t>Fibers </a:t>
            </a:r>
            <a:r>
              <a:rPr lang="en-US" sz="2400" spc="-15" dirty="0">
                <a:latin typeface="Cambria"/>
                <a:cs typeface="Cambria"/>
              </a:rPr>
              <a:t>are </a:t>
            </a:r>
            <a:r>
              <a:rPr lang="en-US" sz="2400" spc="-5" dirty="0">
                <a:latin typeface="Cambria"/>
                <a:cs typeface="Cambria"/>
              </a:rPr>
              <a:t>used </a:t>
            </a:r>
            <a:r>
              <a:rPr lang="en-US" sz="2400" dirty="0">
                <a:latin typeface="Cambria"/>
                <a:cs typeface="Cambria"/>
              </a:rPr>
              <a:t>in </a:t>
            </a:r>
            <a:r>
              <a:rPr lang="en-US" sz="2400" spc="-5" dirty="0">
                <a:latin typeface="Cambria"/>
                <a:cs typeface="Cambria"/>
              </a:rPr>
              <a:t>medical imaging such as endoscopes and</a:t>
            </a:r>
            <a:r>
              <a:rPr lang="en-US" sz="2400" spc="1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laparoscopes.</a:t>
            </a:r>
            <a:endParaRPr lang="en-US"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Font typeface="Wingdings"/>
              <a:buChar char=""/>
            </a:pPr>
            <a:endParaRPr lang="en-US"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spc="-5" dirty="0">
                <a:latin typeface="Cambria"/>
                <a:cs typeface="Cambria"/>
              </a:rPr>
              <a:t>Fibers can be used </a:t>
            </a:r>
            <a:r>
              <a:rPr lang="en-US" sz="2400" dirty="0">
                <a:latin typeface="Cambria"/>
                <a:cs typeface="Cambria"/>
              </a:rPr>
              <a:t>under </a:t>
            </a:r>
            <a:r>
              <a:rPr lang="en-US" sz="2400" spc="-5" dirty="0">
                <a:latin typeface="Cambria"/>
                <a:cs typeface="Cambria"/>
              </a:rPr>
              <a:t>sea</a:t>
            </a:r>
            <a:r>
              <a:rPr lang="en-US" sz="2400" spc="10" dirty="0">
                <a:latin typeface="Cambria"/>
                <a:cs typeface="Cambria"/>
              </a:rPr>
              <a:t> </a:t>
            </a:r>
            <a:r>
              <a:rPr lang="en-US" sz="2400" dirty="0">
                <a:latin typeface="Cambria"/>
                <a:cs typeface="Cambria"/>
              </a:rPr>
              <a:t>communication.</a:t>
            </a: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AD0D9"/>
              </a:buClr>
              <a:buFont typeface="Wingdings"/>
              <a:buChar char=""/>
            </a:pPr>
            <a:endParaRPr lang="en-US"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dirty="0">
                <a:latin typeface="Cambria"/>
                <a:cs typeface="Cambria"/>
              </a:rPr>
              <a:t>Fibers </a:t>
            </a:r>
            <a:r>
              <a:rPr lang="en-US" sz="2400" spc="-15" dirty="0">
                <a:latin typeface="Cambria"/>
                <a:cs typeface="Cambria"/>
              </a:rPr>
              <a:t>are </a:t>
            </a:r>
            <a:r>
              <a:rPr lang="en-US" sz="2400" spc="-5" dirty="0">
                <a:latin typeface="Cambria"/>
                <a:cs typeface="Cambria"/>
              </a:rPr>
              <a:t>used </a:t>
            </a:r>
            <a:r>
              <a:rPr lang="en-US" sz="2400" dirty="0">
                <a:latin typeface="Cambria"/>
                <a:cs typeface="Cambria"/>
              </a:rPr>
              <a:t>in </a:t>
            </a:r>
            <a:r>
              <a:rPr lang="en-US" sz="2400" spc="-5" dirty="0">
                <a:latin typeface="Cambria"/>
                <a:cs typeface="Cambria"/>
              </a:rPr>
              <a:t>military applications such as </a:t>
            </a:r>
            <a:r>
              <a:rPr lang="en-US" sz="2400" spc="-10" dirty="0">
                <a:latin typeface="Cambria"/>
                <a:cs typeface="Cambria"/>
              </a:rPr>
              <a:t>aircrafts, </a:t>
            </a:r>
            <a:r>
              <a:rPr lang="en-US" sz="2400" spc="-5" dirty="0">
                <a:latin typeface="Cambria"/>
                <a:cs typeface="Cambria"/>
              </a:rPr>
              <a:t>ships, tanks</a:t>
            </a:r>
            <a:r>
              <a:rPr lang="en-US" sz="2400" spc="85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etc.</a:t>
            </a:r>
            <a:endParaRPr lang="en-US"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AD0D9"/>
              </a:buClr>
              <a:buFont typeface="Wingdings"/>
              <a:buChar char=""/>
            </a:pPr>
            <a:endParaRPr lang="en-US" dirty="0">
              <a:latin typeface="Cambria"/>
              <a:cs typeface="Cambria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66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89984" y="831714"/>
            <a:ext cx="9490986" cy="5296711"/>
          </a:xfrm>
        </p:spPr>
        <p:txBody>
          <a:bodyPr>
            <a:normAutofit/>
          </a:bodyPr>
          <a:lstStyle/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dirty="0">
                <a:latin typeface="Cambria"/>
                <a:cs typeface="Cambria"/>
              </a:rPr>
              <a:t>Nuclear </a:t>
            </a:r>
            <a:r>
              <a:rPr lang="en-US" sz="2400" spc="-5" dirty="0">
                <a:latin typeface="Cambria"/>
                <a:cs typeface="Cambria"/>
              </a:rPr>
              <a:t>testing applications use </a:t>
            </a:r>
            <a:r>
              <a:rPr lang="en-US" sz="2400" dirty="0">
                <a:latin typeface="Cambria"/>
                <a:cs typeface="Cambria"/>
              </a:rPr>
              <a:t>optical fiber </a:t>
            </a:r>
            <a:r>
              <a:rPr lang="en-US" sz="2400" spc="-10" dirty="0">
                <a:latin typeface="Cambria"/>
                <a:cs typeface="Cambria"/>
              </a:rPr>
              <a:t>phase </a:t>
            </a:r>
            <a:r>
              <a:rPr lang="en-US" sz="2400" spc="-5" dirty="0">
                <a:latin typeface="Cambria"/>
                <a:cs typeface="Cambria"/>
              </a:rPr>
              <a:t>sensors and</a:t>
            </a:r>
            <a:r>
              <a:rPr lang="en-US" sz="2400" spc="5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transducers</a:t>
            </a:r>
            <a:endParaRPr lang="en-US"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AD0D9"/>
              </a:buClr>
              <a:buFont typeface="Wingdings"/>
              <a:buChar char=""/>
            </a:pPr>
            <a:endParaRPr lang="en-US"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dirty="0">
                <a:latin typeface="Cambria"/>
                <a:cs typeface="Cambria"/>
              </a:rPr>
              <a:t>Fibers </a:t>
            </a:r>
            <a:r>
              <a:rPr lang="en-US" sz="2400" spc="-15" dirty="0">
                <a:latin typeface="Cambria"/>
                <a:cs typeface="Cambria"/>
              </a:rPr>
              <a:t>are </a:t>
            </a:r>
            <a:r>
              <a:rPr lang="en-US" sz="2400" spc="-5" dirty="0">
                <a:latin typeface="Cambria"/>
                <a:cs typeface="Cambria"/>
              </a:rPr>
              <a:t>used </a:t>
            </a:r>
            <a:r>
              <a:rPr lang="en-US" sz="2400" dirty="0">
                <a:latin typeface="Cambria"/>
                <a:cs typeface="Cambria"/>
              </a:rPr>
              <a:t>in </a:t>
            </a:r>
            <a:r>
              <a:rPr lang="en-US" sz="2400" spc="-5" dirty="0">
                <a:latin typeface="Cambria"/>
                <a:cs typeface="Cambria"/>
              </a:rPr>
              <a:t>public </a:t>
            </a:r>
            <a:r>
              <a:rPr lang="en-US" sz="2400" dirty="0">
                <a:latin typeface="Cambria"/>
                <a:cs typeface="Cambria"/>
              </a:rPr>
              <a:t>utility </a:t>
            </a:r>
            <a:r>
              <a:rPr lang="en-US" sz="2400" spc="-5" dirty="0">
                <a:latin typeface="Cambria"/>
                <a:cs typeface="Cambria"/>
              </a:rPr>
              <a:t>organizations </a:t>
            </a:r>
            <a:r>
              <a:rPr lang="en-US" sz="2400" spc="-10" dirty="0">
                <a:latin typeface="Cambria"/>
                <a:cs typeface="Cambria"/>
              </a:rPr>
              <a:t>like </a:t>
            </a:r>
            <a:r>
              <a:rPr lang="en-US" sz="2400" spc="-25" dirty="0">
                <a:latin typeface="Cambria"/>
                <a:cs typeface="Cambria"/>
              </a:rPr>
              <a:t>railways, </a:t>
            </a:r>
            <a:r>
              <a:rPr lang="en-US" sz="2400" dirty="0">
                <a:latin typeface="Cambria"/>
                <a:cs typeface="Cambria"/>
              </a:rPr>
              <a:t>TV </a:t>
            </a:r>
            <a:r>
              <a:rPr lang="en-US" sz="2400" spc="-10" dirty="0">
                <a:latin typeface="Cambria"/>
                <a:cs typeface="Cambria"/>
              </a:rPr>
              <a:t>transmission</a:t>
            </a:r>
            <a:r>
              <a:rPr lang="en-US" sz="2400" spc="110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etc.</a:t>
            </a:r>
            <a:endParaRPr lang="en-US"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AD0D9"/>
              </a:buClr>
              <a:buFont typeface="Wingdings"/>
              <a:buChar char=""/>
            </a:pPr>
            <a:endParaRPr lang="en-US" sz="24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dirty="0">
                <a:latin typeface="Cambria"/>
                <a:cs typeface="Cambria"/>
              </a:rPr>
              <a:t>Fibers </a:t>
            </a:r>
            <a:r>
              <a:rPr lang="en-US" sz="2400" spc="-15" dirty="0">
                <a:latin typeface="Cambria"/>
                <a:cs typeface="Cambria"/>
              </a:rPr>
              <a:t>are </a:t>
            </a:r>
            <a:r>
              <a:rPr lang="en-US" sz="2400" spc="-5" dirty="0">
                <a:latin typeface="Cambria"/>
                <a:cs typeface="Cambria"/>
              </a:rPr>
              <a:t>used </a:t>
            </a:r>
            <a:r>
              <a:rPr lang="en-US" sz="2400" dirty="0">
                <a:latin typeface="Cambria"/>
                <a:cs typeface="Cambria"/>
              </a:rPr>
              <a:t>in LAN </a:t>
            </a:r>
            <a:r>
              <a:rPr lang="en-US" sz="2400" spc="-10" dirty="0">
                <a:latin typeface="Cambria"/>
                <a:cs typeface="Cambria"/>
              </a:rPr>
              <a:t>systems </a:t>
            </a:r>
            <a:r>
              <a:rPr lang="en-US" sz="2400" dirty="0">
                <a:latin typeface="Cambria"/>
                <a:cs typeface="Cambria"/>
              </a:rPr>
              <a:t>of </a:t>
            </a:r>
            <a:r>
              <a:rPr lang="en-US" sz="2400" spc="-5" dirty="0">
                <a:latin typeface="Cambria"/>
                <a:cs typeface="Cambria"/>
              </a:rPr>
              <a:t>offices, industrial plants and colleges</a:t>
            </a:r>
            <a:r>
              <a:rPr lang="en-US" sz="2400" spc="80" dirty="0">
                <a:latin typeface="Cambria"/>
                <a:cs typeface="Cambria"/>
              </a:rPr>
              <a:t> </a:t>
            </a:r>
            <a:r>
              <a:rPr lang="en-US" sz="2400" spc="-5" dirty="0">
                <a:latin typeface="Cambria"/>
                <a:cs typeface="Cambria"/>
              </a:rPr>
              <a:t>etc.</a:t>
            </a:r>
            <a:endParaRPr lang="en-US" sz="2400" dirty="0">
              <a:latin typeface="Cambria"/>
              <a:cs typeface="Cambria"/>
            </a:endParaRPr>
          </a:p>
          <a:p>
            <a:pPr marL="286385" marR="5080" indent="-274320">
              <a:lnSpc>
                <a:spcPct val="170100"/>
              </a:lnSpc>
              <a:spcBef>
                <a:spcPts val="430"/>
              </a:spcBef>
              <a:buClr>
                <a:srgbClr val="0AD0D9"/>
              </a:buClr>
              <a:buSzPct val="94444"/>
              <a:buFont typeface="Wingdings"/>
              <a:buChar char=""/>
              <a:tabLst>
                <a:tab pos="287020" algn="l"/>
              </a:tabLst>
            </a:pPr>
            <a:r>
              <a:rPr lang="en-US" sz="2400" dirty="0">
                <a:latin typeface="Cambria"/>
                <a:cs typeface="Cambria"/>
              </a:rPr>
              <a:t>Fibers </a:t>
            </a:r>
            <a:r>
              <a:rPr lang="en-US" sz="2400" spc="-15" dirty="0">
                <a:latin typeface="Cambria"/>
                <a:cs typeface="Cambria"/>
              </a:rPr>
              <a:t>are </a:t>
            </a:r>
            <a:r>
              <a:rPr lang="en-US" sz="2400" dirty="0">
                <a:latin typeface="Cambria"/>
                <a:cs typeface="Cambria"/>
              </a:rPr>
              <a:t>used in </a:t>
            </a:r>
            <a:r>
              <a:rPr lang="en-US" sz="2400" spc="-5" dirty="0">
                <a:latin typeface="Cambria"/>
                <a:cs typeface="Cambria"/>
              </a:rPr>
              <a:t>telecommunication such as </a:t>
            </a:r>
            <a:r>
              <a:rPr lang="en-US" sz="2400" spc="-10" dirty="0">
                <a:latin typeface="Cambria"/>
                <a:cs typeface="Cambria"/>
              </a:rPr>
              <a:t>voice </a:t>
            </a:r>
            <a:r>
              <a:rPr lang="en-US" sz="2400" spc="-5" dirty="0">
                <a:latin typeface="Cambria"/>
                <a:cs typeface="Cambria"/>
              </a:rPr>
              <a:t>telephones, </a:t>
            </a:r>
            <a:r>
              <a:rPr lang="en-US" sz="2400" dirty="0">
                <a:latin typeface="Cambria"/>
                <a:cs typeface="Cambria"/>
              </a:rPr>
              <a:t>video </a:t>
            </a:r>
            <a:r>
              <a:rPr lang="en-US" sz="2400" spc="-5" dirty="0">
                <a:latin typeface="Cambria"/>
                <a:cs typeface="Cambria"/>
              </a:rPr>
              <a:t>phones,  </a:t>
            </a:r>
            <a:r>
              <a:rPr lang="en-US" sz="2400" spc="-10" dirty="0">
                <a:latin typeface="Cambria"/>
                <a:cs typeface="Cambria"/>
              </a:rPr>
              <a:t>telegraph </a:t>
            </a:r>
            <a:r>
              <a:rPr lang="en-US" sz="2400" spc="-5" dirty="0">
                <a:latin typeface="Cambria"/>
                <a:cs typeface="Cambria"/>
              </a:rPr>
              <a:t>services, message services and data</a:t>
            </a:r>
            <a:r>
              <a:rPr lang="en-US" sz="2400" spc="50" dirty="0">
                <a:latin typeface="Cambria"/>
                <a:cs typeface="Cambria"/>
              </a:rPr>
              <a:t> </a:t>
            </a:r>
            <a:r>
              <a:rPr lang="en-US" sz="2400" spc="-10" dirty="0">
                <a:latin typeface="Cambria"/>
                <a:cs typeface="Cambria"/>
              </a:rPr>
              <a:t>networks.</a:t>
            </a:r>
            <a:endParaRPr lang="en-US" sz="2400" dirty="0">
              <a:latin typeface="Cambria"/>
              <a:cs typeface="Cambria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728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4450" y="457200"/>
            <a:ext cx="3457575" cy="685800"/>
          </a:xfrm>
        </p:spPr>
        <p:txBody>
          <a:bodyPr>
            <a:normAutofit/>
          </a:bodyPr>
          <a:lstStyle/>
          <a:p>
            <a:r>
              <a:rPr lang="en-US" sz="3800" b="1" dirty="0">
                <a:latin typeface="Cambria" panose="02040503050406030204" pitchFamily="18" charset="0"/>
                <a:ea typeface="Cambria" panose="02040503050406030204" pitchFamily="18" charset="0"/>
              </a:rPr>
              <a:t>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8363" y="1585912"/>
            <a:ext cx="8718550" cy="4411663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571748" y="1143000"/>
            <a:ext cx="560277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10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Brief</a:t>
            </a: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Introduction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34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Optical fiber</a:t>
            </a:r>
            <a:r>
              <a:rPr lang="en-US" sz="2400" spc="-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construction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Critical angle &amp; </a:t>
            </a:r>
            <a:r>
              <a:rPr lang="en-US" sz="2400" spc="-4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Total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Internal</a:t>
            </a:r>
            <a:r>
              <a:rPr lang="en-US" sz="2400" spc="-114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Reflection</a:t>
            </a:r>
          </a:p>
          <a:p>
            <a:pPr marL="469900" indent="-457200">
              <a:lnSpc>
                <a:spcPct val="100000"/>
              </a:lnSpc>
              <a:spcBef>
                <a:spcPts val="229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Acceptance angle &amp; acceptance</a:t>
            </a:r>
            <a:r>
              <a:rPr lang="en-US" sz="2400" spc="-12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cone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Numerical</a:t>
            </a:r>
            <a:r>
              <a:rPr lang="en-US" sz="2400" spc="-14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Aperture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V-Number</a:t>
            </a:r>
          </a:p>
          <a:p>
            <a:pPr marL="469900" indent="-457200">
              <a:lnSpc>
                <a:spcPct val="100000"/>
              </a:lnSpc>
              <a:spcBef>
                <a:spcPts val="215"/>
              </a:spcBef>
              <a:buClr>
                <a:srgbClr val="DD8046"/>
              </a:buClr>
              <a:buSzPct val="60000"/>
              <a:buFont typeface="Wingdings" panose="05000000000000000000" pitchFamily="2" charset="2"/>
              <a:buChar char="v"/>
              <a:tabLst>
                <a:tab pos="332105" algn="l"/>
                <a:tab pos="332740" algn="l"/>
              </a:tabLst>
            </a:pPr>
            <a:r>
              <a:rPr lang="en-US" sz="2400" spc="-2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Types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of fibers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013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4229" y="1"/>
            <a:ext cx="5458264" cy="928468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Assessment Test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5813" y="1385889"/>
            <a:ext cx="8543925" cy="5335586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Quiz link for Assessment Test:-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  <a:hlinkClick r:id="rId2"/>
            </a:endParaRP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https://docs.google.com/forms/d/e/1FAIpQLSdoaR30UPyyOY0IRVyChKPoZVB99BOTYyw61SPEVbYoxNepFQ/viewform?usp=pp_url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Home Assignment :-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Q.1 Which fiber is preferred for under sea communication?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Q.2 Differentiate SMF and MMF Fibers.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58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5863" y="357188"/>
            <a:ext cx="3028950" cy="630237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5459" y="1120462"/>
            <a:ext cx="9734416" cy="5601013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[1]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https://www.ispreview.co.uk/index.php/2013/07/alcatel-lucent-breaks-record-with-31tbps-over-a-single-fibre-optic-cable.html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[2]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http://constructionmanuals.tpub.com/14026/css/Fiber-Buffers-193.htm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[3]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https://www.slideshare.net/ankushsaini123/6796optical-fibres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[4]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https://www.slideshare.net/MadhumitaTamhane/optical-fiber-communication-part-1- optical-fiber-fundamentals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[5] (a)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 http://constructionmanuals.tpub.com/14026/css/Fiber-Buffers-193.htm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     (b)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https://computer.howstuffworks.com/fiber-optic2.htm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[6]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7"/>
              </a:rPr>
              <a:t>https://www.slideshare.net/PratyushSrivastava8/optical-fiber-cable-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8"/>
              </a:rPr>
              <a:t>v2?from_action=save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[7]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9"/>
              </a:rPr>
              <a:t>https://www.ques10.com/p/21598/derive-the-expression-of-numerical-aperture-                   for-a-/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[8]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10"/>
              </a:rPr>
              <a:t>https://www.explainthatstuff.com/fiberoptics.html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[9]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hlinkClick r:id="rId11"/>
              </a:rPr>
              <a:t>http://fiberonda.com/single-mode-vs-multi-mode-fiber-optic-cable/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[10] </a:t>
            </a:r>
            <a:r>
              <a:rPr lang="en-US" sz="2000" u="sng" dirty="0">
                <a:hlinkClick r:id="rId12"/>
              </a:rPr>
              <a:t>https://images.app.goo.gl/LLWfgV3PjgLc9RbDA</a:t>
            </a:r>
            <a:r>
              <a:rPr lang="en-US" sz="2000" dirty="0"/>
              <a:t>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b="1" dirty="0">
              <a:hlinkClick r:id="rId3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60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7669" y="1400783"/>
            <a:ext cx="10557720" cy="49750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Text book </a:t>
            </a:r>
          </a:p>
          <a:p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Beiser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A.,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Ghatak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Garg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S.C., Applied Physics, Edition 1st, (2013), Tata McGraw-Hill, Noida. 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Laud B.B., Laser and Non -Linear Optics, Edition 1st, (1991), Wiley Eastern Ltd. </a:t>
            </a:r>
          </a:p>
          <a:p>
            <a:pPr marL="0" indent="0">
              <a:buNone/>
            </a:pPr>
            <a:r>
              <a:rPr lang="en-US" sz="4400" b="1" dirty="0">
                <a:latin typeface="Cambria" panose="02040503050406030204" pitchFamily="18" charset="0"/>
                <a:ea typeface="Cambria" panose="02040503050406030204" pitchFamily="18" charset="0"/>
              </a:rPr>
              <a:t>E- content</a:t>
            </a:r>
          </a:p>
          <a:p>
            <a:pPr marL="0" indent="0">
              <a:buNone/>
            </a:pPr>
            <a:r>
              <a:rPr lang="en-US" sz="48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hlinkClick r:id="rId2"/>
              </a:rPr>
              <a:t>http://www.fiberopticshare.com/what-are-the-components-of-optical-fiber.html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33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lum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Box 14"/>
          <p:cNvSpPr txBox="1"/>
          <p:nvPr/>
        </p:nvSpPr>
        <p:spPr>
          <a:xfrm>
            <a:off x="3914775" y="5474881"/>
            <a:ext cx="3755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per"/>
              </a:rPr>
              <a:t>For Queries:-</a:t>
            </a:r>
          </a:p>
          <a:p>
            <a:r>
              <a:rPr lang="en-US" dirty="0">
                <a:latin typeface="Casper"/>
              </a:rPr>
              <a:t>deepak.e1972@cumail.in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3806</TotalTime>
  <Words>1509</Words>
  <Application>Microsoft Office PowerPoint</Application>
  <PresentationFormat>Widescreen</PresentationFormat>
  <Paragraphs>215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Arial</vt:lpstr>
      <vt:lpstr>Arial Black</vt:lpstr>
      <vt:lpstr>Calibri</vt:lpstr>
      <vt:lpstr>Calibri Light</vt:lpstr>
      <vt:lpstr>Cambria</vt:lpstr>
      <vt:lpstr>Casper</vt:lpstr>
      <vt:lpstr>Casper Bold</vt:lpstr>
      <vt:lpstr>Raleway ExtraBold</vt:lpstr>
      <vt:lpstr>Times New Roman</vt:lpstr>
      <vt:lpstr>Wingdings</vt:lpstr>
      <vt:lpstr>Wingdings 2</vt:lpstr>
      <vt:lpstr>1_Office Theme</vt:lpstr>
      <vt:lpstr>Contents Slide Master</vt:lpstr>
      <vt:lpstr>CorelDRAW</vt:lpstr>
      <vt:lpstr>PowerPoint Presentation</vt:lpstr>
      <vt:lpstr> </vt:lpstr>
      <vt:lpstr> </vt:lpstr>
      <vt:lpstr>Brief Flow of Presentation</vt:lpstr>
      <vt:lpstr>Types of Optical fibers based on modes and     refractive index </vt:lpstr>
      <vt:lpstr>PowerPoint Presentation</vt:lpstr>
      <vt:lpstr>Features of Single Mode Fiber</vt:lpstr>
      <vt:lpstr>Disadvantages of Single Mode Fiber</vt:lpstr>
      <vt:lpstr>Multi mode fibers</vt:lpstr>
      <vt:lpstr>Advantages of Multi- Mode Fiber</vt:lpstr>
      <vt:lpstr>Disadvantages of Multi-Mode Fiber</vt:lpstr>
      <vt:lpstr>Step index fiber  </vt:lpstr>
      <vt:lpstr>PowerPoint Presentation</vt:lpstr>
      <vt:lpstr>Graded index fiber  </vt:lpstr>
      <vt:lpstr>PowerPoint Presentation</vt:lpstr>
      <vt:lpstr>Advantages of optical fiber communication</vt:lpstr>
      <vt:lpstr>Disadvantages of optical fiber communication</vt:lpstr>
      <vt:lpstr>Applications of optical fiber  communication</vt:lpstr>
      <vt:lpstr>PowerPoint Presentation</vt:lpstr>
      <vt:lpstr>Summary</vt:lpstr>
      <vt:lpstr>Assessment Test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Indu Gupta</cp:lastModifiedBy>
  <cp:revision>288</cp:revision>
  <dcterms:created xsi:type="dcterms:W3CDTF">2019-01-09T10:33:58Z</dcterms:created>
  <dcterms:modified xsi:type="dcterms:W3CDTF">2023-06-14T08:06:29Z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1697691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S9.0.1</vt:lpwstr>
  </property>
</Properties>
</file>