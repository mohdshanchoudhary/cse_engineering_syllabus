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29"/>
  </p:notesMasterIdLst>
  <p:handoutMasterIdLst>
    <p:handoutMasterId r:id="rId30"/>
  </p:handoutMasterIdLst>
  <p:sldIdLst>
    <p:sldId id="277" r:id="rId3"/>
    <p:sldId id="354" r:id="rId4"/>
    <p:sldId id="265" r:id="rId5"/>
    <p:sldId id="281" r:id="rId6"/>
    <p:sldId id="331" r:id="rId7"/>
    <p:sldId id="335" r:id="rId8"/>
    <p:sldId id="338" r:id="rId9"/>
    <p:sldId id="339" r:id="rId10"/>
    <p:sldId id="336" r:id="rId11"/>
    <p:sldId id="337" r:id="rId12"/>
    <p:sldId id="334" r:id="rId13"/>
    <p:sldId id="340" r:id="rId14"/>
    <p:sldId id="341" r:id="rId15"/>
    <p:sldId id="342" r:id="rId16"/>
    <p:sldId id="343" r:id="rId17"/>
    <p:sldId id="344" r:id="rId18"/>
    <p:sldId id="345" r:id="rId19"/>
    <p:sldId id="346" r:id="rId20"/>
    <p:sldId id="347" r:id="rId21"/>
    <p:sldId id="348" r:id="rId22"/>
    <p:sldId id="349" r:id="rId23"/>
    <p:sldId id="312" r:id="rId24"/>
    <p:sldId id="311" r:id="rId25"/>
    <p:sldId id="313" r:id="rId26"/>
    <p:sldId id="350" r:id="rId27"/>
    <p:sldId id="27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66" d="100"/>
          <a:sy n="66" d="100"/>
        </p:scale>
        <p:origin x="55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t>6/14/2023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t>6/14/2023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forms/d/e/1FAIpQLSdoaR30UPyyOY0IRVyChKPoZVB99BOTYyw61SPEVbYoxNepFQ/viewform?usp=pp_url" TargetMode="External"/><Relationship Id="rId2" Type="http://schemas.openxmlformats.org/officeDocument/2006/relationships/hyperlink" Target="https://docs.google.com/forms/d/1w8ZYvA6wP_wNW-mzrkGsNvNi170XonXmUYT-3bvPCPI/edit" TargetMode="Externa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eshare.net/PratyushSrivastava8/optical-fiber-cable-v2?from_action=save" TargetMode="External"/><Relationship Id="rId3" Type="http://schemas.openxmlformats.org/officeDocument/2006/relationships/hyperlink" Target="http://constructionmanuals.tpub.com/14026/css/Fiber-Buffers-193.htm" TargetMode="External"/><Relationship Id="rId7" Type="http://schemas.openxmlformats.org/officeDocument/2006/relationships/hyperlink" Target="https://www.slideshare.net/PratyushSrivastava8/optical-fiber-cable-" TargetMode="External"/><Relationship Id="rId12" Type="http://schemas.openxmlformats.org/officeDocument/2006/relationships/hyperlink" Target="https://images.app.goo.gl/LLWfgV3PjgLc9RbDA" TargetMode="External"/><Relationship Id="rId2" Type="http://schemas.openxmlformats.org/officeDocument/2006/relationships/hyperlink" Target="https://www.ispreview.co.uk/index.php/2013/07/alcatel-lucent-breaks-record-with-31tbps-over-a-single-fibre-optic-cable.html" TargetMode="Externa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computer.howstuffworks.com/fiber-optic2.htm" TargetMode="External"/><Relationship Id="rId11" Type="http://schemas.openxmlformats.org/officeDocument/2006/relationships/hyperlink" Target="http://fiberonda.com/single-mode-vs-multi-mode-fiber-optic-cable/" TargetMode="External"/><Relationship Id="rId5" Type="http://schemas.openxmlformats.org/officeDocument/2006/relationships/hyperlink" Target="https://www.slideshare.net/MadhumitaTamhane/optical-fiber-communication-part-1-optical-fiber-fundamentals" TargetMode="External"/><Relationship Id="rId10" Type="http://schemas.openxmlformats.org/officeDocument/2006/relationships/hyperlink" Target="https://www.explainthatstuff.com/fiberoptics.html" TargetMode="External"/><Relationship Id="rId4" Type="http://schemas.openxmlformats.org/officeDocument/2006/relationships/hyperlink" Target="https://www.slideshare.net/ankushsaini123/6796optical-fibres" TargetMode="External"/><Relationship Id="rId9" Type="http://schemas.openxmlformats.org/officeDocument/2006/relationships/hyperlink" Target="https://www.ques10.com/p/21598/derive-the-expression-of-numerical-aperture-for-a-/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fiberopticshare.com/what-are-the-components-of-optical-fiber.html" TargetMode="Externa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542734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304721"/>
              </p:ext>
            </p:extLst>
          </p:nvPr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7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072674" y="156275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-459213" y="6014156"/>
            <a:ext cx="6432043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FIBRE OPTICS </a:t>
            </a:r>
          </a:p>
          <a:p>
            <a:pPr eaLnBrk="1" hangingPunct="1"/>
            <a:r>
              <a:rPr lang="en-US" sz="1600">
                <a:latin typeface="Raleway ExtraBold" pitchFamily="34" charset="-52"/>
              </a:rPr>
              <a:t> </a:t>
            </a: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844063" y="1562755"/>
            <a:ext cx="10662138" cy="4262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INSTITUTE : UIE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DEPARTMENT: ALL ACADEMIC UNITS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(All Sections)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 and Code: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Engineering Physics 23SPH-141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Prepared by: Deepak Kumar,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Asso</a:t>
            </a:r>
            <a:r>
              <a:rPr lang="en-US" sz="28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Prof. Physics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</a:t>
            </a: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-287717" y="1297692"/>
            <a:ext cx="4456567" cy="1328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br>
              <a:rPr lang="en-US" sz="4400" b="1" dirty="0">
                <a:latin typeface="Casper Bold"/>
                <a:ea typeface="Karla" pitchFamily="2" charset="0"/>
                <a:cs typeface="Karla" pitchFamily="2" charset="0"/>
              </a:rPr>
            </a:br>
            <a:endParaRPr lang="en-US" sz="4400" dirty="0">
              <a:latin typeface="Casper Bold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956603" y="1055077"/>
            <a:ext cx="9811481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400" dirty="0"/>
              <a:t> </a:t>
            </a:r>
            <a:endParaRPr lang="en-US" sz="4400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The course is designed to make the students industry ready to contribute in the growing demand of the industry at local, national and international level.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It will make the students competent to understand basic concepts and applications of advanced engineering physics and apply its principles in their respective fields at global platform.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It will enhance the skill level of the students and shall make them preferred choice for getting employment in industry and research labs.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It will give thorough knowledge of the discipline to enable students to disseminate knowledge in pursuing excellence in academic areas.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82351" y="331802"/>
            <a:ext cx="754028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Cambria" panose="02040503050406030204" pitchFamily="18" charset="0"/>
                <a:ea typeface="Cambria" panose="02040503050406030204" pitchFamily="18" charset="0"/>
              </a:rPr>
              <a:t>Course Objectives</a:t>
            </a:r>
            <a:endParaRPr lang="en-US" sz="4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683904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t>3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3571875" y="-105382"/>
            <a:ext cx="3500438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br>
              <a:rPr lang="en-US" sz="4400" b="1" dirty="0">
                <a:latin typeface="Casper Bold"/>
                <a:ea typeface="Karla" pitchFamily="2" charset="0"/>
                <a:cs typeface="Karla" pitchFamily="2" charset="0"/>
              </a:rPr>
            </a:br>
            <a:endParaRPr lang="en-US" sz="4400" dirty="0">
              <a:latin typeface="Casper Bold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28468" y="98474"/>
            <a:ext cx="492940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</a:rPr>
              <a:t>Course Outcomes 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3680" y="1287996"/>
            <a:ext cx="5213290" cy="5011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300788" y="6299199"/>
            <a:ext cx="51771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sper"/>
              </a:rPr>
              <a:t>                       Figure 2.1 Optical fibres [1]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520097"/>
              </p:ext>
            </p:extLst>
          </p:nvPr>
        </p:nvGraphicFramePr>
        <p:xfrm>
          <a:off x="177421" y="2096487"/>
          <a:ext cx="5477164" cy="463739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843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1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2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994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CO Number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Title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 completion of this course, the students are expected to learn</a:t>
                      </a:r>
                      <a:endParaRPr lang="en-US" sz="12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Level 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6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Quote the basic fundamental concepts of lasers, optical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crystallography, ultrasonic oscillations, semiconductor physics, quantum mechanics and nanotechnology.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Remember, Understand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69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Demonstrate the working of various lasers,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components, semiconductor devices; explain the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behaviour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of crystalline solids, quantum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-scale systems.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6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Solve problems by applying principles related to lasers,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semiconductors, oscillations, quantum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nanoscience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Applying 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6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Compare various lasers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semiconducting devices, crystalline materials, structures at quantum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nanoscale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on the basis of their properties for industrial applications.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Analyze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76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Develop various systems using lasers,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semiconductors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nanomaterials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for futuristic applications.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  <a:latin typeface="+mn-lt"/>
                        </a:rPr>
                        <a:t>Design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" y="1237956"/>
            <a:ext cx="5711134" cy="5620043"/>
          </a:xfrm>
        </p:spPr>
        <p:txBody>
          <a:bodyPr>
            <a:noAutofit/>
          </a:bodyPr>
          <a:lstStyle/>
          <a:p>
            <a:pPr marL="355600" indent="-342900">
              <a:lnSpc>
                <a:spcPct val="100000"/>
              </a:lnSpc>
              <a:spcBef>
                <a:spcPts val="310"/>
              </a:spcBef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rPr>
              <a:t> 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Brief</a:t>
            </a:r>
            <a:r>
              <a:rPr lang="en-US" sz="2400" spc="-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Introduction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234"/>
              </a:spcBef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Optical fiber</a:t>
            </a:r>
            <a:r>
              <a:rPr lang="en-US" sz="2400" spc="-4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construction</a:t>
            </a:r>
          </a:p>
          <a:p>
            <a:pPr marL="469900" indent="-457200">
              <a:lnSpc>
                <a:spcPct val="100000"/>
              </a:lnSpc>
              <a:spcBef>
                <a:spcPts val="215"/>
              </a:spcBef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Critical angle &amp; </a:t>
            </a:r>
            <a:r>
              <a:rPr lang="en-US" sz="2400" spc="-4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Total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Internal</a:t>
            </a:r>
            <a:r>
              <a:rPr lang="en-US" sz="2400" spc="-114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Reflection</a:t>
            </a:r>
          </a:p>
          <a:p>
            <a:pPr marL="469900" indent="-457200">
              <a:lnSpc>
                <a:spcPct val="100000"/>
              </a:lnSpc>
              <a:spcBef>
                <a:spcPts val="229"/>
              </a:spcBef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Acceptance angle &amp; acceptance</a:t>
            </a:r>
            <a:r>
              <a:rPr lang="en-US" sz="2400" spc="-12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cone</a:t>
            </a:r>
          </a:p>
          <a:p>
            <a:pPr marL="469900" indent="-457200">
              <a:lnSpc>
                <a:spcPct val="100000"/>
              </a:lnSpc>
              <a:spcBef>
                <a:spcPts val="215"/>
              </a:spcBef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Numerical</a:t>
            </a:r>
            <a:r>
              <a:rPr lang="en-US" sz="2400" spc="-14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Aperture</a:t>
            </a:r>
          </a:p>
          <a:p>
            <a:pPr marL="469900" indent="-457200">
              <a:lnSpc>
                <a:spcPct val="100000"/>
              </a:lnSpc>
              <a:spcBef>
                <a:spcPts val="215"/>
              </a:spcBef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332105" algn="l"/>
                <a:tab pos="332740" algn="l"/>
              </a:tabLst>
            </a:pPr>
            <a:r>
              <a:rPr lang="en-US" sz="2400" spc="-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V-Number</a:t>
            </a:r>
          </a:p>
          <a:p>
            <a:pPr marL="469900" indent="-457200">
              <a:lnSpc>
                <a:spcPct val="100000"/>
              </a:lnSpc>
              <a:spcBef>
                <a:spcPts val="215"/>
              </a:spcBef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332105" algn="l"/>
                <a:tab pos="332740" algn="l"/>
              </a:tabLst>
            </a:pPr>
            <a:r>
              <a:rPr lang="en-US" sz="2400" spc="-2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Types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of fibers</a:t>
            </a:r>
          </a:p>
          <a:p>
            <a:pPr marL="469900" indent="-457200">
              <a:lnSpc>
                <a:spcPct val="100000"/>
              </a:lnSpc>
              <a:spcBef>
                <a:spcPts val="229"/>
              </a:spcBef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Dispersion &amp; its</a:t>
            </a:r>
            <a:r>
              <a:rPr lang="en-US" sz="2400" spc="-6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types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215"/>
              </a:spcBef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Attenuation and Losses in</a:t>
            </a:r>
            <a:r>
              <a:rPr lang="en-US" sz="2400" spc="-9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Fiber</a:t>
            </a:r>
          </a:p>
          <a:p>
            <a:pPr marL="469900" indent="-457200">
              <a:lnSpc>
                <a:spcPct val="100000"/>
              </a:lnSpc>
              <a:spcBef>
                <a:spcPts val="215"/>
              </a:spcBef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Advantages</a:t>
            </a:r>
          </a:p>
          <a:p>
            <a:pPr marL="469900" indent="-457200">
              <a:lnSpc>
                <a:spcPct val="100000"/>
              </a:lnSpc>
              <a:spcBef>
                <a:spcPts val="215"/>
              </a:spcBef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Disadvantages</a:t>
            </a:r>
          </a:p>
          <a:p>
            <a:pPr marL="469900" indent="-457200">
              <a:lnSpc>
                <a:spcPct val="100000"/>
              </a:lnSpc>
              <a:spcBef>
                <a:spcPts val="229"/>
              </a:spcBef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Applications</a:t>
            </a:r>
          </a:p>
          <a:p>
            <a:pPr>
              <a:lnSpc>
                <a:spcPct val="150000"/>
              </a:lnSpc>
            </a:pPr>
            <a:endParaRPr lang="en-US" dirty="0">
              <a:latin typeface="Casper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Casper"/>
              <a:cs typeface="Arial" panose="020B0604020202020204" pitchFamily="34" charset="0"/>
            </a:endParaRPr>
          </a:p>
          <a:p>
            <a:endParaRPr lang="en-US" dirty="0">
              <a:latin typeface="Casper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t>4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 rot="10800000" flipV="1">
            <a:off x="858129" y="285685"/>
            <a:ext cx="8553156" cy="70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</a:rPr>
              <a:t>Brief Flow of Presentation</a:t>
            </a: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711134" y="6155323"/>
            <a:ext cx="54281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sper"/>
              </a:rPr>
              <a:t>Figure 2.2  Basic structure </a:t>
            </a:r>
            <a:r>
              <a:rPr lang="en-US" sz="1600">
                <a:latin typeface="Casper"/>
              </a:rPr>
              <a:t>and parts </a:t>
            </a:r>
            <a:r>
              <a:rPr lang="en-US" sz="1600" dirty="0">
                <a:latin typeface="Casper"/>
              </a:rPr>
              <a:t>of optical fibre [2]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1" y="1486287"/>
            <a:ext cx="4157662" cy="414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3046" y="1139482"/>
            <a:ext cx="10297551" cy="510657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latin typeface="Cambria"/>
                <a:cs typeface="Cambria"/>
              </a:rPr>
              <a:t>The </a:t>
            </a:r>
            <a:r>
              <a:rPr lang="en-US" sz="2400" spc="-5" dirty="0">
                <a:latin typeface="Cambria"/>
                <a:cs typeface="Cambria"/>
              </a:rPr>
              <a:t>dispersion cause that optical pulses to broaden as they </a:t>
            </a:r>
            <a:r>
              <a:rPr lang="en-US" sz="2400" spc="-20" dirty="0">
                <a:latin typeface="Cambria"/>
                <a:cs typeface="Cambria"/>
              </a:rPr>
              <a:t>travel </a:t>
            </a:r>
            <a:r>
              <a:rPr lang="en-US" sz="2400" spc="-5" dirty="0">
                <a:latin typeface="Cambria"/>
                <a:cs typeface="Cambria"/>
              </a:rPr>
              <a:t>along </a:t>
            </a:r>
            <a:r>
              <a:rPr lang="en-US" sz="2400" dirty="0">
                <a:latin typeface="Cambria"/>
                <a:cs typeface="Cambria"/>
              </a:rPr>
              <a:t>a </a:t>
            </a:r>
            <a:r>
              <a:rPr lang="en-US" sz="2400" spc="-30" dirty="0">
                <a:latin typeface="Cambria"/>
                <a:cs typeface="Cambria"/>
              </a:rPr>
              <a:t>fiber, </a:t>
            </a:r>
            <a:r>
              <a:rPr lang="en-US" sz="2400" spc="-5" dirty="0">
                <a:latin typeface="Cambria"/>
                <a:cs typeface="Cambria"/>
              </a:rPr>
              <a:t>the  </a:t>
            </a:r>
            <a:r>
              <a:rPr lang="en-US" sz="2400" spc="-15" dirty="0">
                <a:latin typeface="Cambria"/>
                <a:cs typeface="Cambria"/>
              </a:rPr>
              <a:t>overlap </a:t>
            </a:r>
            <a:r>
              <a:rPr lang="en-US" sz="2400" spc="-5" dirty="0">
                <a:latin typeface="Cambria"/>
                <a:cs typeface="Cambria"/>
              </a:rPr>
              <a:t>between neighboring pulses, </a:t>
            </a:r>
            <a:r>
              <a:rPr lang="en-US" sz="2400" spc="-10" dirty="0">
                <a:latin typeface="Cambria"/>
                <a:cs typeface="Cambria"/>
              </a:rPr>
              <a:t>creating </a:t>
            </a:r>
            <a:r>
              <a:rPr lang="en-US" sz="2400" spc="-5" dirty="0">
                <a:latin typeface="Cambria"/>
                <a:cs typeface="Cambria"/>
              </a:rPr>
              <a:t>errors </a:t>
            </a:r>
            <a:r>
              <a:rPr lang="en-US" sz="2400" dirty="0">
                <a:latin typeface="Cambria"/>
                <a:cs typeface="Cambria"/>
              </a:rPr>
              <a:t>in </a:t>
            </a:r>
            <a:r>
              <a:rPr lang="en-US" sz="2400" spc="-5" dirty="0">
                <a:latin typeface="Cambria"/>
                <a:cs typeface="Cambria"/>
              </a:rPr>
              <a:t>the </a:t>
            </a:r>
            <a:r>
              <a:rPr lang="en-US" sz="2400" spc="-15" dirty="0">
                <a:latin typeface="Cambria"/>
                <a:cs typeface="Cambria"/>
              </a:rPr>
              <a:t>receiver </a:t>
            </a:r>
            <a:r>
              <a:rPr lang="en-US" sz="2400" dirty="0">
                <a:latin typeface="Cambria"/>
                <a:cs typeface="Cambria"/>
              </a:rPr>
              <a:t>output,  </a:t>
            </a:r>
            <a:r>
              <a:rPr lang="en-US" sz="2400" spc="-5" dirty="0">
                <a:latin typeface="Cambria"/>
                <a:cs typeface="Cambria"/>
              </a:rPr>
              <a:t>resulting </a:t>
            </a:r>
            <a:r>
              <a:rPr lang="en-US" sz="2400" dirty="0">
                <a:latin typeface="Cambria"/>
                <a:cs typeface="Cambria"/>
              </a:rPr>
              <a:t>in </a:t>
            </a:r>
            <a:r>
              <a:rPr lang="en-US" sz="2400" spc="-5" dirty="0">
                <a:latin typeface="Cambria"/>
                <a:cs typeface="Cambria"/>
              </a:rPr>
              <a:t>the limitation </a:t>
            </a:r>
            <a:r>
              <a:rPr lang="en-US" sz="2400" dirty="0">
                <a:latin typeface="Cambria"/>
                <a:cs typeface="Cambria"/>
              </a:rPr>
              <a:t>of </a:t>
            </a:r>
            <a:r>
              <a:rPr lang="en-US" sz="2400" spc="-5" dirty="0">
                <a:latin typeface="Cambria"/>
                <a:cs typeface="Cambria"/>
              </a:rPr>
              <a:t>information-carrying capacity </a:t>
            </a:r>
            <a:r>
              <a:rPr lang="en-US" sz="2400" dirty="0">
                <a:latin typeface="Cambria"/>
                <a:cs typeface="Cambria"/>
              </a:rPr>
              <a:t>of a</a:t>
            </a:r>
            <a:r>
              <a:rPr lang="en-US" sz="2400" spc="-20" dirty="0">
                <a:latin typeface="Cambria"/>
                <a:cs typeface="Cambria"/>
              </a:rPr>
              <a:t> </a:t>
            </a:r>
            <a:r>
              <a:rPr lang="en-US" sz="2400" spc="-35" dirty="0">
                <a:latin typeface="Cambria"/>
                <a:cs typeface="Cambria"/>
              </a:rPr>
              <a:t>fiber.</a:t>
            </a:r>
          </a:p>
          <a:p>
            <a:pPr marL="0" indent="0" algn="just">
              <a:buNone/>
            </a:pPr>
            <a:r>
              <a:rPr lang="en-US" sz="2400" dirty="0">
                <a:latin typeface="Cambria"/>
                <a:cs typeface="Cambria"/>
              </a:rPr>
              <a:t>In </a:t>
            </a:r>
            <a:r>
              <a:rPr lang="en-US" sz="2400" spc="-5" dirty="0">
                <a:latin typeface="Cambria"/>
                <a:cs typeface="Cambria"/>
              </a:rPr>
              <a:t>communication, dispersion </a:t>
            </a:r>
            <a:r>
              <a:rPr lang="en-US" sz="2400" dirty="0">
                <a:latin typeface="Cambria"/>
                <a:cs typeface="Cambria"/>
              </a:rPr>
              <a:t>is used </a:t>
            </a:r>
            <a:r>
              <a:rPr lang="en-US" sz="2400" spc="-5" dirty="0">
                <a:latin typeface="Cambria"/>
                <a:cs typeface="Cambria"/>
              </a:rPr>
              <a:t>to </a:t>
            </a:r>
            <a:r>
              <a:rPr lang="en-US" sz="2400" dirty="0">
                <a:latin typeface="Cambria"/>
                <a:cs typeface="Cambria"/>
              </a:rPr>
              <a:t>describe </a:t>
            </a:r>
            <a:r>
              <a:rPr lang="en-US" sz="2400" spc="-15" dirty="0">
                <a:latin typeface="Cambria"/>
                <a:cs typeface="Cambria"/>
              </a:rPr>
              <a:t>any </a:t>
            </a:r>
            <a:r>
              <a:rPr lang="en-US" sz="2400" spc="-10" dirty="0">
                <a:latin typeface="Cambria"/>
                <a:cs typeface="Cambria"/>
              </a:rPr>
              <a:t>process </a:t>
            </a:r>
            <a:r>
              <a:rPr lang="en-US" sz="2400" spc="-15" dirty="0">
                <a:latin typeface="Cambria"/>
                <a:cs typeface="Cambria"/>
              </a:rPr>
              <a:t>by </a:t>
            </a:r>
            <a:r>
              <a:rPr lang="en-US" sz="2400" spc="-5" dirty="0">
                <a:latin typeface="Cambria"/>
                <a:cs typeface="Cambria"/>
              </a:rPr>
              <a:t>which </a:t>
            </a:r>
            <a:r>
              <a:rPr lang="en-US" sz="2400" spc="-15" dirty="0">
                <a:latin typeface="Cambria"/>
                <a:cs typeface="Cambria"/>
              </a:rPr>
              <a:t>any  </a:t>
            </a:r>
            <a:r>
              <a:rPr lang="en-US" sz="2400" spc="-5" dirty="0">
                <a:latin typeface="Cambria"/>
                <a:cs typeface="Cambria"/>
              </a:rPr>
              <a:t>electromagnetic </a:t>
            </a:r>
            <a:r>
              <a:rPr lang="en-US" sz="2400" dirty="0">
                <a:latin typeface="Cambria"/>
                <a:cs typeface="Cambria"/>
              </a:rPr>
              <a:t>signal </a:t>
            </a:r>
            <a:r>
              <a:rPr lang="en-US" sz="2400" spc="-10" dirty="0">
                <a:latin typeface="Cambria"/>
                <a:cs typeface="Cambria"/>
              </a:rPr>
              <a:t>propagating </a:t>
            </a:r>
            <a:r>
              <a:rPr lang="en-US" sz="2400" dirty="0">
                <a:latin typeface="Cambria"/>
                <a:cs typeface="Cambria"/>
              </a:rPr>
              <a:t>in a </a:t>
            </a:r>
            <a:r>
              <a:rPr lang="en-US" sz="2400" spc="-10" dirty="0">
                <a:latin typeface="Cambria"/>
                <a:cs typeface="Cambria"/>
              </a:rPr>
              <a:t>physical </a:t>
            </a:r>
            <a:r>
              <a:rPr lang="en-US" sz="2400" spc="-5" dirty="0">
                <a:latin typeface="Cambria"/>
                <a:cs typeface="Cambria"/>
              </a:rPr>
              <a:t>medium </a:t>
            </a:r>
            <a:r>
              <a:rPr lang="en-US" sz="2400" dirty="0">
                <a:latin typeface="Cambria"/>
                <a:cs typeface="Cambria"/>
              </a:rPr>
              <a:t>is </a:t>
            </a:r>
            <a:r>
              <a:rPr lang="en-US" sz="2400" spc="-10" dirty="0">
                <a:latin typeface="Cambria"/>
                <a:cs typeface="Cambria"/>
              </a:rPr>
              <a:t>degraded </a:t>
            </a:r>
            <a:r>
              <a:rPr lang="en-US" sz="2400" dirty="0">
                <a:latin typeface="Cambria"/>
                <a:cs typeface="Cambria"/>
              </a:rPr>
              <a:t>because </a:t>
            </a:r>
            <a:r>
              <a:rPr lang="en-US" sz="2400" spc="-5" dirty="0">
                <a:latin typeface="Cambria"/>
                <a:cs typeface="Cambria"/>
              </a:rPr>
              <a:t>the </a:t>
            </a:r>
            <a:r>
              <a:rPr lang="en-US" sz="2400" spc="-10" dirty="0">
                <a:latin typeface="Cambria"/>
                <a:cs typeface="Cambria"/>
              </a:rPr>
              <a:t>various </a:t>
            </a:r>
            <a:r>
              <a:rPr lang="en-US" sz="2400" spc="-30" dirty="0">
                <a:latin typeface="Cambria"/>
                <a:cs typeface="Cambria"/>
              </a:rPr>
              <a:t>wave </a:t>
            </a:r>
            <a:r>
              <a:rPr lang="en-US" sz="2400" spc="-5" dirty="0">
                <a:latin typeface="Cambria"/>
                <a:cs typeface="Cambria"/>
              </a:rPr>
              <a:t>characteristics (i.e., frequencies) </a:t>
            </a:r>
            <a:r>
              <a:rPr lang="en-US" sz="2400" dirty="0">
                <a:latin typeface="Cambria"/>
                <a:cs typeface="Cambria"/>
              </a:rPr>
              <a:t>of </a:t>
            </a:r>
            <a:r>
              <a:rPr lang="en-US" sz="2400" spc="-5" dirty="0">
                <a:latin typeface="Cambria"/>
                <a:cs typeface="Cambria"/>
              </a:rPr>
              <a:t>the signal </a:t>
            </a:r>
            <a:r>
              <a:rPr lang="en-US" sz="2400" spc="-20" dirty="0">
                <a:latin typeface="Cambria"/>
                <a:cs typeface="Cambria"/>
              </a:rPr>
              <a:t>have  </a:t>
            </a:r>
            <a:r>
              <a:rPr lang="en-US" sz="2400" spc="-10" dirty="0">
                <a:latin typeface="Cambria"/>
                <a:cs typeface="Cambria"/>
              </a:rPr>
              <a:t>different  propagation </a:t>
            </a:r>
            <a:r>
              <a:rPr lang="en-US" sz="2400" spc="-5" dirty="0">
                <a:latin typeface="Cambria"/>
                <a:cs typeface="Cambria"/>
              </a:rPr>
              <a:t>velocities within the </a:t>
            </a:r>
            <a:r>
              <a:rPr lang="en-US" sz="2400" spc="-10" dirty="0">
                <a:latin typeface="Cambria"/>
                <a:cs typeface="Cambria"/>
              </a:rPr>
              <a:t>physical</a:t>
            </a:r>
            <a:r>
              <a:rPr lang="en-US" sz="2400" spc="-30" dirty="0">
                <a:latin typeface="Cambria"/>
                <a:cs typeface="Cambria"/>
              </a:rPr>
              <a:t> </a:t>
            </a:r>
            <a:r>
              <a:rPr lang="en-US" sz="2400" spc="-5" dirty="0">
                <a:latin typeface="Cambria"/>
                <a:cs typeface="Cambria"/>
              </a:rPr>
              <a:t>medium.</a:t>
            </a:r>
          </a:p>
          <a:p>
            <a:pPr marL="0" indent="0" algn="just"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Types of Dispersion </a:t>
            </a:r>
          </a:p>
          <a:p>
            <a:pPr marL="0" indent="0">
              <a:lnSpc>
                <a:spcPct val="100000"/>
              </a:lnSpc>
              <a:spcBef>
                <a:spcPts val="5"/>
              </a:spcBef>
              <a:buClr>
                <a:srgbClr val="DD8046"/>
              </a:buClr>
              <a:buSzPct val="59090"/>
              <a:buNone/>
              <a:tabLst>
                <a:tab pos="333375" algn="l"/>
              </a:tabLst>
            </a:pPr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5"/>
              </a:spcBef>
              <a:buClr>
                <a:srgbClr val="DD8046"/>
              </a:buClr>
              <a:buSzPct val="59090"/>
              <a:buNone/>
              <a:tabLst>
                <a:tab pos="333375" algn="l"/>
              </a:tabLst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Dispersion  are of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two</a:t>
            </a:r>
            <a:r>
              <a:rPr lang="en-US" sz="2400" spc="-3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types:</a:t>
            </a:r>
          </a:p>
          <a:p>
            <a:pPr marL="835025" lvl="1" indent="-457200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69696"/>
              <a:buFont typeface="Wingdings" panose="05000000000000000000" pitchFamily="2" charset="2"/>
              <a:buChar char="Ø"/>
              <a:tabLst>
                <a:tab pos="768350" algn="l"/>
                <a:tab pos="768985" algn="l"/>
              </a:tabLst>
            </a:pP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Intra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modal or Chromatic</a:t>
            </a:r>
            <a:r>
              <a:rPr lang="en-US" sz="2400" spc="-3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Dispersion</a:t>
            </a:r>
          </a:p>
          <a:p>
            <a:pPr marL="835025" lvl="1" indent="-457200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69696"/>
              <a:buFont typeface="Wingdings" panose="05000000000000000000" pitchFamily="2" charset="2"/>
              <a:buChar char="Ø"/>
              <a:tabLst>
                <a:tab pos="768350" algn="l"/>
                <a:tab pos="768985" algn="l"/>
              </a:tabLst>
            </a:pP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Intermodal or Modal</a:t>
            </a:r>
            <a:r>
              <a:rPr lang="en-US" sz="2400" spc="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Dispersion</a:t>
            </a:r>
          </a:p>
          <a:p>
            <a:pPr marL="0" indent="0" algn="just">
              <a:buNone/>
            </a:pPr>
            <a:endParaRPr lang="en-US" sz="2400" dirty="0">
              <a:latin typeface="Cambria"/>
              <a:cs typeface="Cambria"/>
            </a:endParaRPr>
          </a:p>
          <a:p>
            <a:pPr marL="0" indent="0" algn="just">
              <a:buNone/>
            </a:pPr>
            <a:endParaRPr lang="en-US" sz="2400" dirty="0">
              <a:latin typeface="Cambria"/>
              <a:cs typeface="Cambria"/>
            </a:endParaRP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5</a:t>
            </a:fld>
            <a:endParaRPr lang="en-US"/>
          </a:p>
        </p:txBody>
      </p:sp>
      <p:sp>
        <p:nvSpPr>
          <p:cNvPr id="6" name="object 2"/>
          <p:cNvSpPr txBox="1">
            <a:spLocks noGrp="1"/>
          </p:cNvSpPr>
          <p:nvPr>
            <p:ph type="title"/>
          </p:nvPr>
        </p:nvSpPr>
        <p:spPr>
          <a:xfrm>
            <a:off x="2237362" y="146006"/>
            <a:ext cx="5719863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latin typeface="Cambria" panose="02040503050406030204" pitchFamily="18" charset="0"/>
                <a:ea typeface="Cambria" panose="02040503050406030204" pitchFamily="18" charset="0"/>
              </a:rPr>
              <a:t>D</a:t>
            </a:r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</a:rPr>
              <a:t>ispersion</a:t>
            </a:r>
            <a:r>
              <a:rPr sz="44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sz="4400" b="1" spc="-55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sz="4400" b="1" dirty="0">
                <a:latin typeface="Cambria" panose="02040503050406030204" pitchFamily="18" charset="0"/>
                <a:ea typeface="Cambria" panose="02040503050406030204" pitchFamily="18" charset="0"/>
              </a:rPr>
              <a:t>T</a:t>
            </a:r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</a:rPr>
              <a:t>ypes</a:t>
            </a:r>
            <a:endParaRPr sz="4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450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2197" y="0"/>
            <a:ext cx="9875519" cy="1562100"/>
          </a:xfrm>
        </p:spPr>
        <p:txBody>
          <a:bodyPr>
            <a:noAutofit/>
          </a:bodyPr>
          <a:lstStyle/>
          <a:p>
            <a:pPr lvl="1" algn="l" rtl="0">
              <a:lnSpc>
                <a:spcPct val="90000"/>
              </a:lnSpc>
              <a:spcBef>
                <a:spcPct val="0"/>
              </a:spcBef>
            </a:pPr>
            <a:r>
              <a:rPr lang="en-US" sz="44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Intra </a:t>
            </a:r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modal or Chromatic</a:t>
            </a:r>
            <a:r>
              <a:rPr lang="en-US" sz="4400" b="1" spc="-3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Dispersion</a:t>
            </a:r>
            <a:b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</a:br>
            <a:endParaRPr lang="en-US" sz="4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562100"/>
            <a:ext cx="10821988" cy="4298950"/>
          </a:xfrm>
        </p:spPr>
        <p:txBody>
          <a:bodyPr>
            <a:normAutofit/>
          </a:bodyPr>
          <a:lstStyle/>
          <a:p>
            <a:pPr marL="286385" marR="7620" indent="-274320" algn="just">
              <a:lnSpc>
                <a:spcPct val="150100"/>
              </a:lnSpc>
              <a:spcBef>
                <a:spcPts val="1410"/>
              </a:spcBef>
              <a:buClr>
                <a:srgbClr val="0AD0D9"/>
              </a:buClr>
              <a:buSzPct val="93750"/>
              <a:buFont typeface="Wingdings"/>
              <a:buChar char=""/>
              <a:tabLst>
                <a:tab pos="287020" algn="l"/>
              </a:tabLst>
            </a:pPr>
            <a:r>
              <a:rPr lang="en-US" sz="2400" b="1" spc="-10" dirty="0" err="1">
                <a:latin typeface="Cambria"/>
                <a:cs typeface="Cambria"/>
              </a:rPr>
              <a:t>Intramodal</a:t>
            </a:r>
            <a:r>
              <a:rPr lang="en-US" sz="2400" b="1" spc="-10" dirty="0">
                <a:latin typeface="Cambria"/>
                <a:cs typeface="Cambria"/>
              </a:rPr>
              <a:t> </a:t>
            </a:r>
            <a:r>
              <a:rPr lang="en-US" sz="2400" b="1" spc="-5" dirty="0">
                <a:latin typeface="Cambria"/>
                <a:cs typeface="Cambria"/>
              </a:rPr>
              <a:t>or </a:t>
            </a:r>
            <a:r>
              <a:rPr lang="en-US" sz="2400" b="1" spc="-10" dirty="0">
                <a:latin typeface="Cambria"/>
                <a:cs typeface="Cambria"/>
              </a:rPr>
              <a:t>Chromatic </a:t>
            </a:r>
            <a:r>
              <a:rPr lang="en-US" sz="2400" b="1" spc="-5" dirty="0">
                <a:latin typeface="Cambria"/>
                <a:cs typeface="Cambria"/>
              </a:rPr>
              <a:t>dispersion </a:t>
            </a:r>
            <a:r>
              <a:rPr lang="en-US" sz="2400" spc="-5" dirty="0">
                <a:latin typeface="Cambria"/>
                <a:cs typeface="Cambria"/>
              </a:rPr>
              <a:t>(CD) </a:t>
            </a:r>
            <a:r>
              <a:rPr lang="en-US" sz="2400" dirty="0">
                <a:latin typeface="Cambria"/>
                <a:cs typeface="Cambria"/>
              </a:rPr>
              <a:t>is </a:t>
            </a:r>
            <a:r>
              <a:rPr lang="en-US" sz="2400" spc="-5" dirty="0">
                <a:latin typeface="Cambria"/>
                <a:cs typeface="Cambria"/>
              </a:rPr>
              <a:t>caused </a:t>
            </a:r>
            <a:r>
              <a:rPr lang="en-US" sz="2400" spc="-15" dirty="0">
                <a:latin typeface="Cambria"/>
                <a:cs typeface="Cambria"/>
              </a:rPr>
              <a:t>by </a:t>
            </a:r>
            <a:r>
              <a:rPr lang="en-US" sz="2400" spc="-10" dirty="0">
                <a:latin typeface="Cambria"/>
                <a:cs typeface="Cambria"/>
              </a:rPr>
              <a:t>the fact </a:t>
            </a:r>
            <a:r>
              <a:rPr lang="en-US" sz="2400" spc="-5" dirty="0">
                <a:latin typeface="Cambria"/>
                <a:cs typeface="Cambria"/>
              </a:rPr>
              <a:t>that single mode glass fibers  </a:t>
            </a:r>
            <a:r>
              <a:rPr lang="en-US" sz="2400" spc="-10" dirty="0">
                <a:latin typeface="Cambria"/>
                <a:cs typeface="Cambria"/>
              </a:rPr>
              <a:t>transmit </a:t>
            </a:r>
            <a:r>
              <a:rPr lang="en-US" sz="2400" spc="-5" dirty="0">
                <a:latin typeface="Cambria"/>
                <a:cs typeface="Cambria"/>
              </a:rPr>
              <a:t>light of </a:t>
            </a:r>
            <a:r>
              <a:rPr lang="en-US" sz="2400" spc="-10" dirty="0">
                <a:latin typeface="Cambria"/>
                <a:cs typeface="Cambria"/>
              </a:rPr>
              <a:t>different </a:t>
            </a:r>
            <a:r>
              <a:rPr lang="en-US" sz="2400" spc="-15" dirty="0">
                <a:latin typeface="Cambria"/>
                <a:cs typeface="Cambria"/>
              </a:rPr>
              <a:t>wavelengths </a:t>
            </a:r>
            <a:r>
              <a:rPr lang="en-US" sz="2400" spc="-5" dirty="0">
                <a:latin typeface="Cambria"/>
                <a:cs typeface="Cambria"/>
              </a:rPr>
              <a:t>at different speeds. The </a:t>
            </a:r>
            <a:r>
              <a:rPr lang="en-US" sz="2400" spc="-10" dirty="0">
                <a:latin typeface="Cambria"/>
                <a:cs typeface="Cambria"/>
              </a:rPr>
              <a:t>ratio </a:t>
            </a:r>
            <a:r>
              <a:rPr lang="en-US" sz="2400" spc="-5" dirty="0">
                <a:latin typeface="Cambria"/>
                <a:cs typeface="Cambria"/>
              </a:rPr>
              <a:t>of the speed of light in a  medium </a:t>
            </a:r>
            <a:r>
              <a:rPr lang="en-US" sz="2400" spc="-10" dirty="0">
                <a:latin typeface="Cambria"/>
                <a:cs typeface="Cambria"/>
              </a:rPr>
              <a:t>to </a:t>
            </a:r>
            <a:r>
              <a:rPr lang="en-US" sz="2400" spc="-5" dirty="0">
                <a:latin typeface="Cambria"/>
                <a:cs typeface="Cambria"/>
              </a:rPr>
              <a:t>the speed in a </a:t>
            </a:r>
            <a:r>
              <a:rPr lang="en-US" sz="2400" spc="-10" dirty="0">
                <a:latin typeface="Cambria"/>
                <a:cs typeface="Cambria"/>
              </a:rPr>
              <a:t>vacuum </a:t>
            </a:r>
            <a:r>
              <a:rPr lang="en-US" sz="2400" spc="-5" dirty="0">
                <a:latin typeface="Cambria"/>
                <a:cs typeface="Cambria"/>
              </a:rPr>
              <a:t>defines the </a:t>
            </a:r>
            <a:r>
              <a:rPr lang="en-US" sz="2400" spc="-10" dirty="0">
                <a:latin typeface="Cambria"/>
                <a:cs typeface="Cambria"/>
              </a:rPr>
              <a:t>index </a:t>
            </a:r>
            <a:r>
              <a:rPr lang="en-US" sz="2400" spc="-5" dirty="0">
                <a:latin typeface="Cambria"/>
                <a:cs typeface="Cambria"/>
              </a:rPr>
              <a:t>of </a:t>
            </a:r>
            <a:r>
              <a:rPr lang="en-US" sz="2400" spc="-10" dirty="0">
                <a:latin typeface="Cambria"/>
                <a:cs typeface="Cambria"/>
              </a:rPr>
              <a:t>refraction </a:t>
            </a:r>
            <a:r>
              <a:rPr lang="en-US" sz="2400" spc="-5" dirty="0">
                <a:latin typeface="Cambria"/>
                <a:cs typeface="Cambria"/>
              </a:rPr>
              <a:t>or </a:t>
            </a:r>
            <a:r>
              <a:rPr lang="en-US" sz="2400" spc="-15" dirty="0">
                <a:latin typeface="Cambria"/>
                <a:cs typeface="Cambria"/>
              </a:rPr>
              <a:t>refractive </a:t>
            </a:r>
            <a:r>
              <a:rPr lang="en-US" sz="2400" spc="-5" dirty="0">
                <a:latin typeface="Cambria"/>
                <a:cs typeface="Cambria"/>
              </a:rPr>
              <a:t>index </a:t>
            </a:r>
            <a:r>
              <a:rPr lang="en-US" sz="2400" spc="5" dirty="0">
                <a:latin typeface="Cambria"/>
                <a:cs typeface="Cambria"/>
              </a:rPr>
              <a:t>of </a:t>
            </a:r>
            <a:r>
              <a:rPr lang="en-US" sz="2400" spc="-5" dirty="0">
                <a:latin typeface="Cambria"/>
                <a:cs typeface="Cambria"/>
              </a:rPr>
              <a:t>the  material.</a:t>
            </a:r>
            <a:endParaRPr lang="en-US" sz="2400" dirty="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345"/>
              </a:spcBef>
              <a:buClr>
                <a:srgbClr val="0AD0D9"/>
              </a:buClr>
              <a:buSzPct val="95000"/>
              <a:buFont typeface="Wingdings"/>
              <a:buChar char=""/>
              <a:tabLst>
                <a:tab pos="287020" algn="l"/>
              </a:tabLst>
            </a:pPr>
            <a:r>
              <a:rPr lang="en-US" sz="2400" b="1" spc="-5" dirty="0">
                <a:latin typeface="Cambria"/>
                <a:cs typeface="Cambria"/>
              </a:rPr>
              <a:t>Material</a:t>
            </a:r>
            <a:r>
              <a:rPr lang="en-US" sz="2400" b="1" spc="-40" dirty="0">
                <a:latin typeface="Cambria"/>
                <a:cs typeface="Cambria"/>
              </a:rPr>
              <a:t> </a:t>
            </a:r>
            <a:r>
              <a:rPr lang="en-US" sz="2400" b="1" dirty="0">
                <a:latin typeface="Cambria"/>
                <a:cs typeface="Cambria"/>
              </a:rPr>
              <a:t>Dispersion</a:t>
            </a:r>
            <a:endParaRPr lang="en-US" sz="2400" dirty="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710"/>
              </a:spcBef>
              <a:buClr>
                <a:srgbClr val="0AD0D9"/>
              </a:buClr>
              <a:buSzPct val="93750"/>
              <a:buFont typeface="Wingdings"/>
              <a:buChar char=""/>
              <a:tabLst>
                <a:tab pos="287020" algn="l"/>
              </a:tabLst>
            </a:pPr>
            <a:r>
              <a:rPr lang="en-US" sz="2400" spc="-5" dirty="0">
                <a:latin typeface="Cambria"/>
                <a:cs typeface="Cambria"/>
              </a:rPr>
              <a:t>This is due </a:t>
            </a:r>
            <a:r>
              <a:rPr lang="en-US" sz="2400" spc="-10" dirty="0">
                <a:latin typeface="Cambria"/>
                <a:cs typeface="Cambria"/>
              </a:rPr>
              <a:t>to </a:t>
            </a:r>
            <a:r>
              <a:rPr lang="en-US" sz="2400" spc="-5" dirty="0">
                <a:latin typeface="Cambria"/>
                <a:cs typeface="Cambria"/>
              </a:rPr>
              <a:t>intrinsic properties of </a:t>
            </a:r>
            <a:r>
              <a:rPr lang="en-US" sz="2400" spc="-10" dirty="0">
                <a:latin typeface="Cambria"/>
                <a:cs typeface="Cambria"/>
              </a:rPr>
              <a:t>the </a:t>
            </a:r>
            <a:r>
              <a:rPr lang="en-US" sz="2400" spc="-5" dirty="0">
                <a:latin typeface="Cambria"/>
                <a:cs typeface="Cambria"/>
              </a:rPr>
              <a:t>material,</a:t>
            </a:r>
            <a:r>
              <a:rPr lang="en-US" sz="2400" spc="70" dirty="0">
                <a:latin typeface="Cambria"/>
                <a:cs typeface="Cambria"/>
              </a:rPr>
              <a:t> </a:t>
            </a:r>
            <a:r>
              <a:rPr lang="en-US" sz="2400" spc="-10" dirty="0">
                <a:latin typeface="Cambria"/>
                <a:cs typeface="Cambria"/>
              </a:rPr>
              <a:t>glass.</a:t>
            </a:r>
            <a:endParaRPr lang="en-US" sz="2400" dirty="0">
              <a:latin typeface="Cambria"/>
              <a:cs typeface="Cambria"/>
            </a:endParaRPr>
          </a:p>
          <a:p>
            <a:pPr marL="286385" marR="9525" indent="-274320">
              <a:lnSpc>
                <a:spcPct val="130000"/>
              </a:lnSpc>
              <a:spcBef>
                <a:spcPts val="385"/>
              </a:spcBef>
              <a:buClr>
                <a:srgbClr val="0AD0D9"/>
              </a:buClr>
              <a:buSzPct val="93750"/>
              <a:buFont typeface="Wingdings"/>
              <a:buChar char=""/>
              <a:tabLst>
                <a:tab pos="287020" algn="l"/>
              </a:tabLst>
            </a:pPr>
            <a:r>
              <a:rPr lang="en-US" sz="2400" spc="-5" dirty="0">
                <a:latin typeface="Cambria"/>
                <a:cs typeface="Cambria"/>
              </a:rPr>
              <a:t>Glass is a </a:t>
            </a:r>
            <a:r>
              <a:rPr lang="en-US" sz="2400" spc="-10" dirty="0">
                <a:latin typeface="Cambria"/>
                <a:cs typeface="Cambria"/>
              </a:rPr>
              <a:t>dispersive </a:t>
            </a:r>
            <a:r>
              <a:rPr lang="en-US" sz="2400" spc="-5" dirty="0">
                <a:latin typeface="Cambria"/>
                <a:cs typeface="Cambria"/>
              </a:rPr>
              <a:t>medium. </a:t>
            </a:r>
            <a:r>
              <a:rPr lang="en-US" sz="2400" spc="-45" dirty="0">
                <a:latin typeface="Cambria"/>
                <a:cs typeface="Cambria"/>
              </a:rPr>
              <a:t>We</a:t>
            </a:r>
            <a:r>
              <a:rPr lang="en-US" sz="2400" spc="260" dirty="0">
                <a:latin typeface="Cambria"/>
                <a:cs typeface="Cambria"/>
              </a:rPr>
              <a:t> </a:t>
            </a:r>
            <a:r>
              <a:rPr lang="en-US" sz="2400" spc="-5" dirty="0">
                <a:latin typeface="Cambria"/>
                <a:cs typeface="Cambria"/>
              </a:rPr>
              <a:t>can </a:t>
            </a:r>
            <a:r>
              <a:rPr lang="en-US" sz="2400" spc="-10" dirty="0">
                <a:latin typeface="Cambria"/>
                <a:cs typeface="Cambria"/>
              </a:rPr>
              <a:t>recall from </a:t>
            </a:r>
            <a:r>
              <a:rPr lang="en-US" sz="2400" spc="-5" dirty="0">
                <a:latin typeface="Cambria"/>
                <a:cs typeface="Cambria"/>
              </a:rPr>
              <a:t>our high school </a:t>
            </a:r>
            <a:r>
              <a:rPr lang="en-US" sz="2400" spc="-10" dirty="0">
                <a:latin typeface="Cambria"/>
                <a:cs typeface="Cambria"/>
              </a:rPr>
              <a:t>physics </a:t>
            </a:r>
            <a:r>
              <a:rPr lang="en-US" sz="2400" spc="-5" dirty="0">
                <a:latin typeface="Cambria"/>
                <a:cs typeface="Cambria"/>
              </a:rPr>
              <a:t>that glass </a:t>
            </a:r>
            <a:r>
              <a:rPr lang="en-US" sz="2400" dirty="0">
                <a:latin typeface="Cambria"/>
                <a:cs typeface="Cambria"/>
              </a:rPr>
              <a:t>has  </a:t>
            </a:r>
            <a:r>
              <a:rPr lang="en-US" sz="2400" spc="-10" dirty="0">
                <a:latin typeface="Cambria"/>
                <a:cs typeface="Cambria"/>
              </a:rPr>
              <a:t>different </a:t>
            </a:r>
            <a:r>
              <a:rPr lang="en-US" sz="2400" spc="-20" dirty="0">
                <a:latin typeface="Cambria"/>
                <a:cs typeface="Cambria"/>
              </a:rPr>
              <a:t>refractive </a:t>
            </a:r>
            <a:r>
              <a:rPr lang="en-US" sz="2400" spc="-10" dirty="0">
                <a:latin typeface="Cambria"/>
                <a:cs typeface="Cambria"/>
              </a:rPr>
              <a:t>index </a:t>
            </a:r>
            <a:r>
              <a:rPr lang="en-US" sz="2400" spc="-15" dirty="0">
                <a:latin typeface="Cambria"/>
                <a:cs typeface="Cambria"/>
              </a:rPr>
              <a:t>for </a:t>
            </a:r>
            <a:r>
              <a:rPr lang="en-US" sz="2400" spc="-10" dirty="0">
                <a:latin typeface="Cambria"/>
                <a:cs typeface="Cambria"/>
              </a:rPr>
              <a:t>different</a:t>
            </a:r>
            <a:r>
              <a:rPr lang="en-US" sz="2400" spc="114" dirty="0">
                <a:latin typeface="Cambria"/>
                <a:cs typeface="Cambria"/>
              </a:rPr>
              <a:t> </a:t>
            </a:r>
            <a:r>
              <a:rPr lang="en-US" sz="2400" spc="-5" dirty="0">
                <a:latin typeface="Cambria"/>
                <a:cs typeface="Cambria"/>
              </a:rPr>
              <a:t>colors.</a:t>
            </a:r>
            <a:endParaRPr lang="en-US" sz="2400" dirty="0">
              <a:latin typeface="Cambria"/>
              <a:cs typeface="Cambria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137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846" y="1206230"/>
            <a:ext cx="10635541" cy="5150120"/>
          </a:xfrm>
        </p:spPr>
        <p:txBody>
          <a:bodyPr>
            <a:normAutofit/>
          </a:bodyPr>
          <a:lstStyle/>
          <a:p>
            <a:pPr marL="287020" indent="-274320">
              <a:lnSpc>
                <a:spcPct val="100000"/>
              </a:lnSpc>
              <a:spcBef>
                <a:spcPts val="960"/>
              </a:spcBef>
              <a:buClr>
                <a:srgbClr val="0AD0D9"/>
              </a:buClr>
              <a:buSzPct val="93750"/>
              <a:buFont typeface="Wingdings"/>
              <a:buChar char=""/>
              <a:tabLst>
                <a:tab pos="287020" algn="l"/>
              </a:tabLst>
            </a:pPr>
            <a:r>
              <a:rPr lang="en-US" sz="2400" spc="-10" dirty="0">
                <a:latin typeface="Cambria"/>
                <a:cs typeface="Cambria"/>
              </a:rPr>
              <a:t>Different </a:t>
            </a:r>
            <a:r>
              <a:rPr lang="en-US" sz="2400" spc="-5" dirty="0">
                <a:latin typeface="Cambria"/>
                <a:cs typeface="Cambria"/>
              </a:rPr>
              <a:t>colors </a:t>
            </a:r>
            <a:r>
              <a:rPr lang="en-US" sz="2400" spc="-10" dirty="0">
                <a:latin typeface="Cambria"/>
                <a:cs typeface="Cambria"/>
              </a:rPr>
              <a:t>(wavelengths) </a:t>
            </a:r>
            <a:r>
              <a:rPr lang="en-US" sz="2400" spc="-25" dirty="0">
                <a:latin typeface="Cambria"/>
                <a:cs typeface="Cambria"/>
              </a:rPr>
              <a:t>have </a:t>
            </a:r>
            <a:r>
              <a:rPr lang="en-US" sz="2400" spc="-10" dirty="0">
                <a:latin typeface="Cambria"/>
                <a:cs typeface="Cambria"/>
              </a:rPr>
              <a:t>different velocity </a:t>
            </a:r>
            <a:r>
              <a:rPr lang="en-US" sz="2400" spc="-5" dirty="0">
                <a:latin typeface="Cambria"/>
                <a:cs typeface="Cambria"/>
              </a:rPr>
              <a:t>in</a:t>
            </a:r>
            <a:r>
              <a:rPr lang="en-US" sz="2400" spc="160" dirty="0">
                <a:latin typeface="Cambria"/>
                <a:cs typeface="Cambria"/>
              </a:rPr>
              <a:t> </a:t>
            </a:r>
            <a:r>
              <a:rPr lang="en-US" sz="2400" spc="-10" dirty="0">
                <a:latin typeface="Cambria"/>
                <a:cs typeface="Cambria"/>
              </a:rPr>
              <a:t>glass.</a:t>
            </a:r>
            <a:endParaRPr lang="en-US" sz="2400" dirty="0">
              <a:latin typeface="Cambria"/>
              <a:cs typeface="Cambria"/>
            </a:endParaRPr>
          </a:p>
          <a:p>
            <a:pPr marL="286385" marR="5080" indent="-274320">
              <a:lnSpc>
                <a:spcPct val="130000"/>
              </a:lnSpc>
              <a:spcBef>
                <a:spcPts val="390"/>
              </a:spcBef>
              <a:buClr>
                <a:srgbClr val="0AD0D9"/>
              </a:buClr>
              <a:buSzPct val="93750"/>
              <a:buFont typeface="Wingdings"/>
              <a:buChar char=""/>
              <a:tabLst>
                <a:tab pos="287020" algn="l"/>
              </a:tabLst>
            </a:pPr>
            <a:r>
              <a:rPr lang="en-US" sz="2400" spc="-5" dirty="0">
                <a:latin typeface="Cambria"/>
                <a:cs typeface="Cambria"/>
              </a:rPr>
              <a:t>A type of </a:t>
            </a:r>
            <a:r>
              <a:rPr lang="en-US" sz="2400" dirty="0">
                <a:latin typeface="Cambria"/>
                <a:cs typeface="Cambria"/>
              </a:rPr>
              <a:t>dispersion </a:t>
            </a:r>
            <a:r>
              <a:rPr lang="en-US" sz="2400" spc="-10" dirty="0">
                <a:latin typeface="Cambria"/>
                <a:cs typeface="Cambria"/>
              </a:rPr>
              <a:t>that </a:t>
            </a:r>
            <a:r>
              <a:rPr lang="en-US" sz="2400" spc="-5" dirty="0">
                <a:latin typeface="Cambria"/>
                <a:cs typeface="Cambria"/>
              </a:rPr>
              <a:t>occurs in optical fiber due </a:t>
            </a:r>
            <a:r>
              <a:rPr lang="en-US" sz="2400" spc="-10" dirty="0">
                <a:latin typeface="Cambria"/>
                <a:cs typeface="Cambria"/>
              </a:rPr>
              <a:t>to the interaction </a:t>
            </a:r>
            <a:r>
              <a:rPr lang="en-US" sz="2400" spc="-5" dirty="0">
                <a:latin typeface="Cambria"/>
                <a:cs typeface="Cambria"/>
              </a:rPr>
              <a:t>of </a:t>
            </a:r>
            <a:r>
              <a:rPr lang="en-US" sz="2400" spc="-10" dirty="0">
                <a:latin typeface="Cambria"/>
                <a:cs typeface="Cambria"/>
              </a:rPr>
              <a:t>various wavelengths  </a:t>
            </a:r>
            <a:r>
              <a:rPr lang="en-US" sz="2400" spc="-5" dirty="0">
                <a:latin typeface="Cambria"/>
                <a:cs typeface="Cambria"/>
              </a:rPr>
              <a:t>with </a:t>
            </a:r>
            <a:r>
              <a:rPr lang="en-US" sz="2400" spc="-10" dirty="0">
                <a:latin typeface="Cambria"/>
                <a:cs typeface="Cambria"/>
              </a:rPr>
              <a:t>the physical matter </a:t>
            </a:r>
            <a:r>
              <a:rPr lang="en-US" sz="2400" spc="-5" dirty="0">
                <a:latin typeface="Cambria"/>
                <a:cs typeface="Cambria"/>
              </a:rPr>
              <a:t>in </a:t>
            </a:r>
            <a:r>
              <a:rPr lang="en-US" sz="2400" spc="-10" dirty="0">
                <a:latin typeface="Cambria"/>
                <a:cs typeface="Cambria"/>
              </a:rPr>
              <a:t>the </a:t>
            </a:r>
            <a:r>
              <a:rPr lang="en-US" sz="2400" spc="-5" dirty="0">
                <a:latin typeface="Cambria"/>
                <a:cs typeface="Cambria"/>
              </a:rPr>
              <a:t>crystalline </a:t>
            </a:r>
            <a:r>
              <a:rPr lang="en-US" sz="2400" spc="-10" dirty="0">
                <a:latin typeface="Cambria"/>
                <a:cs typeface="Cambria"/>
              </a:rPr>
              <a:t>structure </a:t>
            </a:r>
            <a:r>
              <a:rPr lang="en-US" sz="2400" spc="-5" dirty="0">
                <a:latin typeface="Cambria"/>
                <a:cs typeface="Cambria"/>
              </a:rPr>
              <a:t>of </a:t>
            </a:r>
            <a:r>
              <a:rPr lang="en-US" sz="2400" spc="-10" dirty="0">
                <a:latin typeface="Cambria"/>
                <a:cs typeface="Cambria"/>
              </a:rPr>
              <a:t>the</a:t>
            </a:r>
            <a:r>
              <a:rPr lang="en-US" sz="2400" spc="135" dirty="0">
                <a:latin typeface="Cambria"/>
                <a:cs typeface="Cambria"/>
              </a:rPr>
              <a:t> </a:t>
            </a:r>
            <a:r>
              <a:rPr lang="en-US" sz="2400" spc="-10" dirty="0">
                <a:latin typeface="Cambria"/>
                <a:cs typeface="Cambria"/>
              </a:rPr>
              <a:t>glass.</a:t>
            </a:r>
            <a:endParaRPr lang="en-US" sz="2400" dirty="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955"/>
              </a:spcBef>
              <a:buClr>
                <a:srgbClr val="0AD0D9"/>
              </a:buClr>
              <a:buSzPct val="93750"/>
              <a:buFont typeface="Wingdings"/>
              <a:buChar char=""/>
              <a:tabLst>
                <a:tab pos="287020" algn="l"/>
              </a:tabLst>
            </a:pPr>
            <a:r>
              <a:rPr lang="en-US" sz="2400" spc="-5" dirty="0">
                <a:latin typeface="Cambria"/>
                <a:cs typeface="Cambria"/>
              </a:rPr>
              <a:t>The </a:t>
            </a:r>
            <a:r>
              <a:rPr lang="en-US" sz="2400" spc="-20" dirty="0">
                <a:latin typeface="Cambria"/>
                <a:cs typeface="Cambria"/>
              </a:rPr>
              <a:t>refractive </a:t>
            </a:r>
            <a:r>
              <a:rPr lang="en-US" sz="2400" spc="-10" dirty="0">
                <a:latin typeface="Cambria"/>
                <a:cs typeface="Cambria"/>
              </a:rPr>
              <a:t>index </a:t>
            </a:r>
            <a:r>
              <a:rPr lang="en-US" sz="2400" spc="-5" dirty="0">
                <a:latin typeface="Cambria"/>
                <a:cs typeface="Cambria"/>
              </a:rPr>
              <a:t>of </a:t>
            </a:r>
            <a:r>
              <a:rPr lang="en-US" sz="2400" spc="-10" dirty="0">
                <a:latin typeface="Cambria"/>
                <a:cs typeface="Cambria"/>
              </a:rPr>
              <a:t>the glass </a:t>
            </a:r>
            <a:r>
              <a:rPr lang="en-US" sz="2400" spc="-15" dirty="0">
                <a:latin typeface="Cambria"/>
                <a:cs typeface="Cambria"/>
              </a:rPr>
              <a:t>varies </a:t>
            </a:r>
            <a:r>
              <a:rPr lang="en-US" sz="2400" spc="-5" dirty="0">
                <a:latin typeface="Cambria"/>
                <a:cs typeface="Cambria"/>
              </a:rPr>
              <a:t>according </a:t>
            </a:r>
            <a:r>
              <a:rPr lang="en-US" sz="2400" spc="-10" dirty="0">
                <a:latin typeface="Cambria"/>
                <a:cs typeface="Cambria"/>
              </a:rPr>
              <a:t>to the </a:t>
            </a:r>
            <a:r>
              <a:rPr lang="en-US" sz="2400" spc="-15" dirty="0">
                <a:latin typeface="Cambria"/>
                <a:cs typeface="Cambria"/>
              </a:rPr>
              <a:t>wavelength </a:t>
            </a:r>
            <a:r>
              <a:rPr lang="en-US" sz="2400" spc="-5" dirty="0">
                <a:latin typeface="Cambria"/>
                <a:cs typeface="Cambria"/>
              </a:rPr>
              <a:t>of </a:t>
            </a:r>
            <a:r>
              <a:rPr lang="en-US" sz="2400" spc="-10" dirty="0">
                <a:latin typeface="Cambria"/>
                <a:cs typeface="Cambria"/>
              </a:rPr>
              <a:t>the </a:t>
            </a:r>
            <a:r>
              <a:rPr lang="en-US" sz="2400" spc="-5" dirty="0">
                <a:latin typeface="Cambria"/>
                <a:cs typeface="Cambria"/>
              </a:rPr>
              <a:t>optical</a:t>
            </a:r>
            <a:r>
              <a:rPr lang="en-US" sz="2400" spc="235" dirty="0">
                <a:latin typeface="Cambria"/>
                <a:cs typeface="Cambria"/>
              </a:rPr>
              <a:t> </a:t>
            </a:r>
            <a:r>
              <a:rPr lang="en-US" sz="2400" spc="-5" dirty="0">
                <a:latin typeface="Cambria"/>
                <a:cs typeface="Cambria"/>
              </a:rPr>
              <a:t>signal.</a:t>
            </a:r>
            <a:endParaRPr lang="en-US" sz="2400" dirty="0">
              <a:latin typeface="Cambria"/>
              <a:cs typeface="Cambria"/>
            </a:endParaRPr>
          </a:p>
          <a:p>
            <a:pPr marL="286385" marR="7620" indent="-274320">
              <a:lnSpc>
                <a:spcPct val="130100"/>
              </a:lnSpc>
              <a:spcBef>
                <a:spcPts val="385"/>
              </a:spcBef>
              <a:buClr>
                <a:srgbClr val="0AD0D9"/>
              </a:buClr>
              <a:buSzPct val="93750"/>
              <a:buFont typeface="Wingdings"/>
              <a:buChar char=""/>
              <a:tabLst>
                <a:tab pos="287020" algn="l"/>
              </a:tabLst>
            </a:pPr>
            <a:r>
              <a:rPr lang="en-US" sz="2400" spc="-5" dirty="0">
                <a:latin typeface="Cambria"/>
                <a:cs typeface="Cambria"/>
              </a:rPr>
              <a:t>Material </a:t>
            </a:r>
            <a:r>
              <a:rPr lang="en-US" sz="2400" dirty="0">
                <a:latin typeface="Cambria"/>
                <a:cs typeface="Cambria"/>
              </a:rPr>
              <a:t>dispersion </a:t>
            </a:r>
            <a:r>
              <a:rPr lang="en-US" sz="2400" spc="-5" dirty="0">
                <a:latin typeface="Cambria"/>
                <a:cs typeface="Cambria"/>
              </a:rPr>
              <a:t>is </a:t>
            </a:r>
            <a:r>
              <a:rPr lang="en-US" sz="2400" spc="-10" dirty="0">
                <a:latin typeface="Cambria"/>
                <a:cs typeface="Cambria"/>
              </a:rPr>
              <a:t>the </a:t>
            </a:r>
            <a:r>
              <a:rPr lang="en-US" sz="2400" spc="-5" dirty="0">
                <a:latin typeface="Cambria"/>
                <a:cs typeface="Cambria"/>
              </a:rPr>
              <a:t>phenomena </a:t>
            </a:r>
            <a:r>
              <a:rPr lang="en-US" sz="2400" spc="-15" dirty="0">
                <a:latin typeface="Cambria"/>
                <a:cs typeface="Cambria"/>
              </a:rPr>
              <a:t>whereby </a:t>
            </a:r>
            <a:r>
              <a:rPr lang="en-US" sz="2400" spc="-5" dirty="0">
                <a:latin typeface="Cambria"/>
                <a:cs typeface="Cambria"/>
              </a:rPr>
              <a:t>materials cause a “bundle” of light to </a:t>
            </a:r>
            <a:r>
              <a:rPr lang="en-US" sz="2400" spc="-10" dirty="0">
                <a:latin typeface="Cambria"/>
                <a:cs typeface="Cambria"/>
              </a:rPr>
              <a:t>spread  </a:t>
            </a:r>
            <a:r>
              <a:rPr lang="en-US" sz="2400" spc="-5" dirty="0">
                <a:latin typeface="Cambria"/>
                <a:cs typeface="Cambria"/>
              </a:rPr>
              <a:t>out as it</a:t>
            </a:r>
            <a:r>
              <a:rPr lang="en-US" sz="2400" spc="10" dirty="0">
                <a:latin typeface="Cambria"/>
                <a:cs typeface="Cambria"/>
              </a:rPr>
              <a:t> </a:t>
            </a:r>
            <a:r>
              <a:rPr lang="en-US" sz="2400" spc="-10" dirty="0">
                <a:latin typeface="Cambria"/>
                <a:cs typeface="Cambria"/>
              </a:rPr>
              <a:t>propagates.</a:t>
            </a:r>
            <a:endParaRPr lang="en-US" sz="2400" dirty="0">
              <a:latin typeface="Cambria"/>
              <a:cs typeface="Cambria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751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9317" y="1153551"/>
            <a:ext cx="10902462" cy="5202799"/>
          </a:xfrm>
        </p:spPr>
        <p:txBody>
          <a:bodyPr>
            <a:normAutofit/>
          </a:bodyPr>
          <a:lstStyle/>
          <a:p>
            <a:pPr marL="12065" marR="6985" indent="0" algn="just">
              <a:lnSpc>
                <a:spcPct val="140000"/>
              </a:lnSpc>
              <a:spcBef>
                <a:spcPts val="110"/>
              </a:spcBef>
              <a:buClr>
                <a:srgbClr val="0AD0D9"/>
              </a:buClr>
              <a:buSzPct val="94736"/>
              <a:buNone/>
              <a:tabLst>
                <a:tab pos="287020" algn="l"/>
              </a:tabLst>
            </a:pPr>
            <a:r>
              <a:rPr lang="en-US" sz="2400" spc="-5" dirty="0">
                <a:latin typeface="Cambria"/>
                <a:cs typeface="Cambria"/>
              </a:rPr>
              <a:t>This is due </a:t>
            </a:r>
            <a:r>
              <a:rPr lang="en-US" sz="2400" spc="-15" dirty="0">
                <a:latin typeface="Cambria"/>
                <a:cs typeface="Cambria"/>
              </a:rPr>
              <a:t>dispersive nature </a:t>
            </a:r>
            <a:r>
              <a:rPr lang="en-US" sz="2400" spc="-5" dirty="0">
                <a:latin typeface="Cambria"/>
                <a:cs typeface="Cambria"/>
              </a:rPr>
              <a:t>of </a:t>
            </a:r>
            <a:r>
              <a:rPr lang="en-US" sz="2400" spc="-10" dirty="0">
                <a:latin typeface="Cambria"/>
                <a:cs typeface="Cambria"/>
              </a:rPr>
              <a:t>the </a:t>
            </a:r>
            <a:r>
              <a:rPr lang="en-US" sz="2400" spc="-5" dirty="0">
                <a:latin typeface="Cambria"/>
                <a:cs typeface="Cambria"/>
              </a:rPr>
              <a:t>bound medium. In a bound medium </a:t>
            </a:r>
            <a:r>
              <a:rPr lang="en-US" sz="2400" spc="-15" dirty="0">
                <a:latin typeface="Cambria"/>
                <a:cs typeface="Cambria"/>
              </a:rPr>
              <a:t>like </a:t>
            </a:r>
            <a:r>
              <a:rPr lang="en-US" sz="2400" spc="-10" dirty="0">
                <a:latin typeface="Cambria"/>
                <a:cs typeface="Cambria"/>
              </a:rPr>
              <a:t>the  </a:t>
            </a:r>
            <a:r>
              <a:rPr lang="en-US" sz="2400" spc="-5" dirty="0">
                <a:latin typeface="Cambria"/>
                <a:cs typeface="Cambria"/>
              </a:rPr>
              <a:t>optical </a:t>
            </a:r>
            <a:r>
              <a:rPr lang="en-US" sz="2400" spc="-35" dirty="0">
                <a:latin typeface="Cambria"/>
                <a:cs typeface="Cambria"/>
              </a:rPr>
              <a:t>fiber, </a:t>
            </a:r>
            <a:r>
              <a:rPr lang="en-US" sz="2400" spc="-10" dirty="0">
                <a:latin typeface="Cambria"/>
                <a:cs typeface="Cambria"/>
              </a:rPr>
              <a:t>the velocity </a:t>
            </a:r>
            <a:r>
              <a:rPr lang="en-US" sz="2400" spc="-5" dirty="0">
                <a:latin typeface="Cambria"/>
                <a:cs typeface="Cambria"/>
              </a:rPr>
              <a:t>is a function of</a:t>
            </a:r>
            <a:r>
              <a:rPr lang="en-US" sz="2400" spc="40" dirty="0">
                <a:latin typeface="Cambria"/>
                <a:cs typeface="Cambria"/>
              </a:rPr>
              <a:t> </a:t>
            </a:r>
            <a:r>
              <a:rPr lang="en-US" sz="2400" spc="-25" dirty="0">
                <a:latin typeface="Cambria"/>
                <a:cs typeface="Cambria"/>
              </a:rPr>
              <a:t>frequency.</a:t>
            </a:r>
            <a:endParaRPr lang="en-US" sz="2400" dirty="0">
              <a:latin typeface="Cambria"/>
              <a:cs typeface="Cambria"/>
            </a:endParaRPr>
          </a:p>
          <a:p>
            <a:pPr marL="12065" marR="5080" indent="0" algn="just">
              <a:lnSpc>
                <a:spcPct val="140000"/>
              </a:lnSpc>
              <a:spcBef>
                <a:spcPts val="455"/>
              </a:spcBef>
              <a:buClr>
                <a:srgbClr val="0AD0D9"/>
              </a:buClr>
              <a:buSzPct val="94736"/>
              <a:buNone/>
              <a:tabLst>
                <a:tab pos="287020" algn="l"/>
              </a:tabLst>
            </a:pPr>
            <a:endParaRPr lang="en-US" sz="1600" spc="-20" dirty="0">
              <a:latin typeface="Cambria"/>
              <a:cs typeface="Cambria"/>
            </a:endParaRPr>
          </a:p>
          <a:p>
            <a:pPr marL="12065" marR="5080" indent="0" algn="just">
              <a:lnSpc>
                <a:spcPct val="140000"/>
              </a:lnSpc>
              <a:spcBef>
                <a:spcPts val="455"/>
              </a:spcBef>
              <a:buClr>
                <a:srgbClr val="0AD0D9"/>
              </a:buClr>
              <a:buSzPct val="94736"/>
              <a:buNone/>
              <a:tabLst>
                <a:tab pos="287020" algn="l"/>
              </a:tabLst>
            </a:pPr>
            <a:endParaRPr lang="en-US" sz="1600" spc="-20" dirty="0">
              <a:latin typeface="Cambria"/>
              <a:cs typeface="Cambria"/>
            </a:endParaRPr>
          </a:p>
          <a:p>
            <a:pPr marL="12065" marR="5080" indent="0" algn="just">
              <a:lnSpc>
                <a:spcPct val="140000"/>
              </a:lnSpc>
              <a:spcBef>
                <a:spcPts val="455"/>
              </a:spcBef>
              <a:buClr>
                <a:srgbClr val="0AD0D9"/>
              </a:buClr>
              <a:buSzPct val="94736"/>
              <a:buNone/>
              <a:tabLst>
                <a:tab pos="287020" algn="l"/>
              </a:tabLst>
            </a:pPr>
            <a:endParaRPr lang="en-US" sz="1600" spc="-20" dirty="0">
              <a:latin typeface="Cambria"/>
              <a:cs typeface="Cambria"/>
            </a:endParaRPr>
          </a:p>
          <a:p>
            <a:pPr marL="12065" marR="5080" indent="0" algn="just">
              <a:lnSpc>
                <a:spcPct val="140000"/>
              </a:lnSpc>
              <a:spcBef>
                <a:spcPts val="455"/>
              </a:spcBef>
              <a:buClr>
                <a:srgbClr val="0AD0D9"/>
              </a:buClr>
              <a:buSzPct val="94736"/>
              <a:buNone/>
              <a:tabLst>
                <a:tab pos="287020" algn="l"/>
              </a:tabLst>
            </a:pPr>
            <a:endParaRPr lang="en-US" sz="1600" spc="-20" dirty="0">
              <a:latin typeface="Cambria"/>
              <a:cs typeface="Cambria"/>
            </a:endParaRPr>
          </a:p>
          <a:p>
            <a:pPr marL="12065" marR="5080" indent="0" algn="just">
              <a:lnSpc>
                <a:spcPct val="140000"/>
              </a:lnSpc>
              <a:spcBef>
                <a:spcPts val="455"/>
              </a:spcBef>
              <a:buClr>
                <a:srgbClr val="0AD0D9"/>
              </a:buClr>
              <a:buSzPct val="94736"/>
              <a:buNone/>
              <a:tabLst>
                <a:tab pos="287020" algn="l"/>
              </a:tabLst>
            </a:pPr>
            <a:r>
              <a:rPr lang="en-US" sz="1600" spc="-20" dirty="0">
                <a:latin typeface="Cambria"/>
                <a:cs typeface="Cambria"/>
              </a:rPr>
              <a:t>                                                                                                 Figure 2.3 Waveguide </a:t>
            </a:r>
            <a:r>
              <a:rPr lang="en-US" sz="1600" spc="-10" dirty="0">
                <a:latin typeface="Cambria"/>
                <a:cs typeface="Cambria"/>
              </a:rPr>
              <a:t>dispersion</a:t>
            </a:r>
            <a:r>
              <a:rPr lang="en-US" sz="1600" spc="-20" dirty="0">
                <a:latin typeface="Cambria"/>
                <a:cs typeface="Cambria"/>
              </a:rPr>
              <a:t> [2]</a:t>
            </a:r>
          </a:p>
          <a:p>
            <a:pPr marL="354965" marR="5080" indent="-342900" algn="just">
              <a:lnSpc>
                <a:spcPct val="140000"/>
              </a:lnSpc>
              <a:spcBef>
                <a:spcPts val="455"/>
              </a:spcBef>
              <a:buClr>
                <a:srgbClr val="0AD0D9"/>
              </a:buClr>
              <a:buSzPct val="94736"/>
              <a:tabLst>
                <a:tab pos="287020" algn="l"/>
              </a:tabLst>
            </a:pPr>
            <a:r>
              <a:rPr lang="en-US" sz="2400" spc="-20" dirty="0">
                <a:latin typeface="Cambria"/>
                <a:cs typeface="Cambria"/>
              </a:rPr>
              <a:t>Waveguide </a:t>
            </a:r>
            <a:r>
              <a:rPr lang="en-US" sz="2400" spc="-10" dirty="0">
                <a:latin typeface="Cambria"/>
                <a:cs typeface="Cambria"/>
              </a:rPr>
              <a:t>dispersion </a:t>
            </a:r>
            <a:r>
              <a:rPr lang="en-US" sz="2400" spc="-5" dirty="0">
                <a:latin typeface="Cambria"/>
                <a:cs typeface="Cambria"/>
              </a:rPr>
              <a:t>is </a:t>
            </a:r>
            <a:r>
              <a:rPr lang="en-US" sz="2400" spc="-10" dirty="0">
                <a:latin typeface="Cambria"/>
                <a:cs typeface="Cambria"/>
              </a:rPr>
              <a:t>chromatic </a:t>
            </a:r>
            <a:r>
              <a:rPr lang="en-US" sz="2400" spc="-5" dirty="0">
                <a:latin typeface="Cambria"/>
                <a:cs typeface="Cambria"/>
              </a:rPr>
              <a:t>dispersion </a:t>
            </a:r>
            <a:r>
              <a:rPr lang="en-US" sz="2400" spc="-10" dirty="0">
                <a:latin typeface="Cambria"/>
                <a:cs typeface="Cambria"/>
              </a:rPr>
              <a:t>which </a:t>
            </a:r>
            <a:r>
              <a:rPr lang="en-US" sz="2400" spc="-5" dirty="0">
                <a:latin typeface="Cambria"/>
                <a:cs typeface="Cambria"/>
              </a:rPr>
              <a:t>arises </a:t>
            </a:r>
            <a:r>
              <a:rPr lang="en-US" sz="2400" spc="-10" dirty="0">
                <a:latin typeface="Cambria"/>
                <a:cs typeface="Cambria"/>
              </a:rPr>
              <a:t>from </a:t>
            </a:r>
            <a:r>
              <a:rPr lang="en-US" sz="2400" spc="-15" dirty="0">
                <a:latin typeface="Cambria"/>
                <a:cs typeface="Cambria"/>
              </a:rPr>
              <a:t>waveguide  </a:t>
            </a:r>
            <a:r>
              <a:rPr lang="en-US" sz="2400" spc="-5" dirty="0">
                <a:latin typeface="Cambria"/>
                <a:cs typeface="Cambria"/>
              </a:rPr>
              <a:t>effects: </a:t>
            </a:r>
            <a:r>
              <a:rPr lang="en-US" sz="2400" spc="-10" dirty="0">
                <a:latin typeface="Cambria"/>
                <a:cs typeface="Cambria"/>
              </a:rPr>
              <a:t>the </a:t>
            </a:r>
            <a:r>
              <a:rPr lang="en-US" sz="2400" spc="-15" dirty="0">
                <a:latin typeface="Cambria"/>
                <a:cs typeface="Cambria"/>
              </a:rPr>
              <a:t>dispersive </a:t>
            </a:r>
            <a:r>
              <a:rPr lang="en-US" sz="2400" spc="-10" dirty="0">
                <a:latin typeface="Cambria"/>
                <a:cs typeface="Cambria"/>
              </a:rPr>
              <a:t>phase </a:t>
            </a:r>
            <a:r>
              <a:rPr lang="en-US" sz="2400" spc="-5" dirty="0">
                <a:latin typeface="Cambria"/>
                <a:cs typeface="Cambria"/>
              </a:rPr>
              <a:t>shifts </a:t>
            </a:r>
            <a:r>
              <a:rPr lang="en-US" sz="2400" spc="-10" dirty="0">
                <a:latin typeface="Cambria"/>
                <a:cs typeface="Cambria"/>
              </a:rPr>
              <a:t>for </a:t>
            </a:r>
            <a:r>
              <a:rPr lang="en-US" sz="2400" spc="-5" dirty="0">
                <a:latin typeface="Cambria"/>
                <a:cs typeface="Cambria"/>
              </a:rPr>
              <a:t>a </a:t>
            </a:r>
            <a:r>
              <a:rPr lang="en-US" sz="2400" spc="-35" dirty="0">
                <a:latin typeface="Cambria"/>
                <a:cs typeface="Cambria"/>
              </a:rPr>
              <a:t>wave </a:t>
            </a:r>
            <a:r>
              <a:rPr lang="en-US" sz="2400" spc="-5" dirty="0">
                <a:latin typeface="Cambria"/>
                <a:cs typeface="Cambria"/>
              </a:rPr>
              <a:t>in a </a:t>
            </a:r>
            <a:r>
              <a:rPr lang="en-US" sz="2400" spc="-15" dirty="0">
                <a:latin typeface="Cambria"/>
                <a:cs typeface="Cambria"/>
              </a:rPr>
              <a:t>waveguide </a:t>
            </a:r>
            <a:r>
              <a:rPr lang="en-US" sz="2400" spc="-10" dirty="0">
                <a:latin typeface="Cambria"/>
                <a:cs typeface="Cambria"/>
              </a:rPr>
              <a:t>differ from </a:t>
            </a:r>
            <a:r>
              <a:rPr lang="en-US" sz="2400" spc="-5" dirty="0">
                <a:latin typeface="Cambria"/>
                <a:cs typeface="Cambria"/>
              </a:rPr>
              <a:t>those  </a:t>
            </a:r>
            <a:r>
              <a:rPr lang="en-US" sz="2400" spc="-10" dirty="0">
                <a:latin typeface="Cambria"/>
                <a:cs typeface="Cambria"/>
              </a:rPr>
              <a:t>which the </a:t>
            </a:r>
            <a:r>
              <a:rPr lang="en-US" sz="2400" spc="-30" dirty="0">
                <a:latin typeface="Cambria"/>
                <a:cs typeface="Cambria"/>
              </a:rPr>
              <a:t>wave </a:t>
            </a:r>
            <a:r>
              <a:rPr lang="en-US" sz="2400" spc="-10" dirty="0">
                <a:latin typeface="Cambria"/>
                <a:cs typeface="Cambria"/>
              </a:rPr>
              <a:t>would experience </a:t>
            </a:r>
            <a:r>
              <a:rPr lang="en-US" sz="2400" spc="-5" dirty="0">
                <a:latin typeface="Cambria"/>
                <a:cs typeface="Cambria"/>
              </a:rPr>
              <a:t>in a homogeneous medium.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8</a:t>
            </a:fld>
            <a:endParaRPr lang="en-US"/>
          </a:p>
        </p:txBody>
      </p:sp>
      <p:sp>
        <p:nvSpPr>
          <p:cNvPr id="6" name="object 10"/>
          <p:cNvSpPr/>
          <p:nvPr/>
        </p:nvSpPr>
        <p:spPr>
          <a:xfrm>
            <a:off x="1703363" y="2337105"/>
            <a:ext cx="7772400" cy="15133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856936" y="107111"/>
            <a:ext cx="794824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spc="-35" dirty="0">
                <a:latin typeface="Cambria"/>
                <a:cs typeface="Cambria"/>
              </a:rPr>
              <a:t>Waveguide</a:t>
            </a:r>
            <a:r>
              <a:rPr lang="en-US" sz="4400" b="1" dirty="0">
                <a:latin typeface="Cambria"/>
                <a:cs typeface="Cambria"/>
              </a:rPr>
              <a:t> </a:t>
            </a:r>
            <a:r>
              <a:rPr lang="en-US" sz="4400" b="1" spc="-5" dirty="0">
                <a:latin typeface="Cambria"/>
                <a:cs typeface="Cambria"/>
              </a:rPr>
              <a:t>Dispersion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951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0"/>
            <a:ext cx="9303018" cy="987425"/>
          </a:xfrm>
        </p:spPr>
        <p:txBody>
          <a:bodyPr>
            <a:noAutofit/>
          </a:bodyPr>
          <a:lstStyle/>
          <a:p>
            <a:r>
              <a:rPr lang="en-US" sz="44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Inter</a:t>
            </a:r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modal or modal</a:t>
            </a:r>
            <a:r>
              <a:rPr lang="en-US" sz="4400" b="1" spc="-3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Dispersion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3218" y="1336432"/>
            <a:ext cx="10733650" cy="4825218"/>
          </a:xfrm>
        </p:spPr>
        <p:txBody>
          <a:bodyPr>
            <a:normAutofit lnSpcReduction="10000"/>
          </a:bodyPr>
          <a:lstStyle/>
          <a:p>
            <a:pPr marL="287020" indent="-274320">
              <a:lnSpc>
                <a:spcPct val="100000"/>
              </a:lnSpc>
              <a:spcBef>
                <a:spcPts val="484"/>
              </a:spcBef>
              <a:buClr>
                <a:srgbClr val="0AD0D9"/>
              </a:buClr>
              <a:buSzPct val="95000"/>
              <a:buFont typeface="Wingdings"/>
              <a:buChar char=""/>
              <a:tabLst>
                <a:tab pos="287020" algn="l"/>
              </a:tabLst>
            </a:pPr>
            <a:r>
              <a:rPr lang="en-US" sz="2400" dirty="0">
                <a:latin typeface="Cambria"/>
                <a:cs typeface="Cambria"/>
              </a:rPr>
              <a:t>In a </a:t>
            </a:r>
            <a:r>
              <a:rPr lang="en-US" sz="2400" spc="-5" dirty="0">
                <a:latin typeface="Cambria"/>
                <a:cs typeface="Cambria"/>
              </a:rPr>
              <a:t>multimode fiber </a:t>
            </a:r>
            <a:r>
              <a:rPr lang="en-US" sz="2400" spc="-10" dirty="0">
                <a:latin typeface="Cambria"/>
                <a:cs typeface="Cambria"/>
              </a:rPr>
              <a:t>different </a:t>
            </a:r>
            <a:r>
              <a:rPr lang="en-US" sz="2400" spc="-5" dirty="0">
                <a:latin typeface="Cambria"/>
                <a:cs typeface="Cambria"/>
              </a:rPr>
              <a:t>modes </a:t>
            </a:r>
            <a:r>
              <a:rPr lang="en-US" sz="2400" spc="-20" dirty="0">
                <a:latin typeface="Cambria"/>
                <a:cs typeface="Cambria"/>
              </a:rPr>
              <a:t>travel </a:t>
            </a:r>
            <a:r>
              <a:rPr lang="en-US" sz="2400" dirty="0">
                <a:latin typeface="Cambria"/>
                <a:cs typeface="Cambria"/>
              </a:rPr>
              <a:t>at </a:t>
            </a:r>
            <a:r>
              <a:rPr lang="en-US" sz="2400" spc="-10" dirty="0">
                <a:latin typeface="Cambria"/>
                <a:cs typeface="Cambria"/>
              </a:rPr>
              <a:t>different</a:t>
            </a:r>
            <a:r>
              <a:rPr lang="en-US" sz="2400" spc="-145" dirty="0">
                <a:latin typeface="Cambria"/>
                <a:cs typeface="Cambria"/>
              </a:rPr>
              <a:t> </a:t>
            </a:r>
            <a:r>
              <a:rPr lang="en-US" sz="2400" spc="-10" dirty="0">
                <a:latin typeface="Cambria"/>
                <a:cs typeface="Cambria"/>
              </a:rPr>
              <a:t>velocities.</a:t>
            </a:r>
            <a:endParaRPr lang="en-US" sz="2400" dirty="0">
              <a:latin typeface="Cambria"/>
              <a:cs typeface="Cambria"/>
            </a:endParaRPr>
          </a:p>
          <a:p>
            <a:pPr marL="12065" marR="5080" indent="0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None/>
              <a:tabLst>
                <a:tab pos="287020" algn="l"/>
              </a:tabLst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12065" marR="5080" indent="0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None/>
              <a:tabLst>
                <a:tab pos="287020" algn="l"/>
              </a:tabLst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12065" marR="5080" indent="0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None/>
              <a:tabLst>
                <a:tab pos="287020" algn="l"/>
              </a:tabLst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12065" marR="5080" indent="0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None/>
              <a:tabLst>
                <a:tab pos="287020" algn="l"/>
              </a:tabLst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12065" marR="5080" indent="0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None/>
              <a:tabLst>
                <a:tab pos="287020" algn="l"/>
              </a:tabLst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12065" marR="5080" indent="0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None/>
              <a:tabLst>
                <a:tab pos="287020" algn="l"/>
              </a:tabLst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12065" marR="5080" indent="0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None/>
              <a:tabLst>
                <a:tab pos="287020" algn="l"/>
              </a:tabLst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12065" marR="5080" indent="0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None/>
              <a:tabLst>
                <a:tab pos="287020" algn="l"/>
              </a:tabLst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                              </a:t>
            </a:r>
          </a:p>
          <a:p>
            <a:pPr marL="12065" marR="5080" indent="0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None/>
              <a:tabLst>
                <a:tab pos="287020" algn="l"/>
              </a:tabLst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                                                              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Figure 2.4 Modal</a:t>
            </a:r>
            <a:r>
              <a:rPr lang="en-US" sz="1600" spc="-3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Dispersion [2]</a:t>
            </a:r>
            <a:endParaRPr lang="en-US" sz="1600" dirty="0">
              <a:latin typeface="Cambria"/>
              <a:cs typeface="Cambria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9</a:t>
            </a:fld>
            <a:endParaRPr lang="en-US"/>
          </a:p>
        </p:txBody>
      </p:sp>
      <p:sp>
        <p:nvSpPr>
          <p:cNvPr id="6" name="object 10"/>
          <p:cNvSpPr/>
          <p:nvPr/>
        </p:nvSpPr>
        <p:spPr>
          <a:xfrm>
            <a:off x="652800" y="1998062"/>
            <a:ext cx="8832716" cy="35019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60786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10</a:t>
            </a:fld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1111348" y="492371"/>
            <a:ext cx="9988061" cy="6538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7020" indent="-274320">
              <a:spcBef>
                <a:spcPts val="480"/>
              </a:spcBef>
              <a:buClr>
                <a:srgbClr val="0AD0D9"/>
              </a:buClr>
              <a:buSzPct val="95000"/>
              <a:buFont typeface="Wingdings"/>
              <a:buChar char=""/>
              <a:tabLst>
                <a:tab pos="287020" algn="l"/>
              </a:tabLst>
            </a:pPr>
            <a:r>
              <a:rPr lang="en-US" sz="2400" spc="-5" dirty="0">
                <a:latin typeface="Cambria"/>
                <a:cs typeface="Cambria"/>
              </a:rPr>
              <a:t>If </a:t>
            </a:r>
            <a:r>
              <a:rPr lang="en-US" sz="2400" dirty="0">
                <a:latin typeface="Cambria"/>
                <a:cs typeface="Cambria"/>
              </a:rPr>
              <a:t>a </a:t>
            </a:r>
            <a:r>
              <a:rPr lang="en-US" sz="2400" spc="-5" dirty="0">
                <a:latin typeface="Cambria"/>
                <a:cs typeface="Cambria"/>
              </a:rPr>
              <a:t>pulse is </a:t>
            </a:r>
            <a:r>
              <a:rPr lang="en-US" sz="2400" spc="-10" dirty="0">
                <a:latin typeface="Cambria"/>
                <a:cs typeface="Cambria"/>
              </a:rPr>
              <a:t>constituted from </a:t>
            </a:r>
            <a:r>
              <a:rPr lang="en-US" sz="2400" spc="-15" dirty="0">
                <a:latin typeface="Cambria"/>
                <a:cs typeface="Cambria"/>
              </a:rPr>
              <a:t>different </a:t>
            </a:r>
            <a:r>
              <a:rPr lang="en-US" sz="2400" dirty="0">
                <a:latin typeface="Cambria"/>
                <a:cs typeface="Cambria"/>
              </a:rPr>
              <a:t>modes </a:t>
            </a:r>
            <a:r>
              <a:rPr lang="en-US" sz="2400" spc="-5" dirty="0">
                <a:latin typeface="Cambria"/>
                <a:cs typeface="Cambria"/>
              </a:rPr>
              <a:t>then </a:t>
            </a:r>
            <a:r>
              <a:rPr lang="en-US" sz="2400" spc="-10" dirty="0">
                <a:latin typeface="Cambria"/>
                <a:cs typeface="Cambria"/>
              </a:rPr>
              <a:t>intermodal </a:t>
            </a:r>
            <a:r>
              <a:rPr lang="en-US" sz="2400" spc="-5" dirty="0">
                <a:latin typeface="Cambria"/>
                <a:cs typeface="Cambria"/>
              </a:rPr>
              <a:t>dispersion  </a:t>
            </a:r>
            <a:r>
              <a:rPr lang="en-US" sz="2400" dirty="0">
                <a:latin typeface="Cambria"/>
                <a:cs typeface="Cambria"/>
              </a:rPr>
              <a:t>occurs.</a:t>
            </a:r>
          </a:p>
          <a:p>
            <a:pPr marL="287020" indent="-274320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Wingdings"/>
              <a:buChar char=""/>
              <a:tabLst>
                <a:tab pos="287020" algn="l"/>
              </a:tabLst>
            </a:pPr>
            <a:r>
              <a:rPr lang="en-US" sz="2400" dirty="0">
                <a:latin typeface="Cambria"/>
                <a:cs typeface="Cambria"/>
              </a:rPr>
              <a:t>Modal dispersion </a:t>
            </a:r>
            <a:r>
              <a:rPr lang="en-US" sz="2400" spc="-5" dirty="0">
                <a:latin typeface="Cambria"/>
                <a:cs typeface="Cambria"/>
              </a:rPr>
              <a:t>is greatest in multimode step </a:t>
            </a:r>
            <a:r>
              <a:rPr lang="en-US" sz="2400" spc="-10" dirty="0">
                <a:latin typeface="Cambria"/>
                <a:cs typeface="Cambria"/>
              </a:rPr>
              <a:t>index</a:t>
            </a:r>
            <a:r>
              <a:rPr lang="en-US" sz="2400" spc="-165" dirty="0">
                <a:latin typeface="Cambria"/>
                <a:cs typeface="Cambria"/>
              </a:rPr>
              <a:t> </a:t>
            </a:r>
            <a:r>
              <a:rPr lang="en-US" sz="2400" spc="-5" dirty="0">
                <a:latin typeface="Cambria"/>
                <a:cs typeface="Cambria"/>
              </a:rPr>
              <a:t>fibers.</a:t>
            </a:r>
            <a:endParaRPr lang="en-US" sz="2400" dirty="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Wingdings"/>
              <a:buChar char=""/>
              <a:tabLst>
                <a:tab pos="287020" algn="l"/>
              </a:tabLst>
            </a:pPr>
            <a:r>
              <a:rPr lang="en-US" sz="2400" dirty="0">
                <a:latin typeface="Cambria"/>
                <a:cs typeface="Cambria"/>
              </a:rPr>
              <a:t>The </a:t>
            </a:r>
            <a:r>
              <a:rPr lang="en-US" sz="2400" spc="-10" dirty="0">
                <a:latin typeface="Cambria"/>
                <a:cs typeface="Cambria"/>
              </a:rPr>
              <a:t>more </a:t>
            </a:r>
            <a:r>
              <a:rPr lang="en-US" sz="2400" spc="-5" dirty="0">
                <a:latin typeface="Cambria"/>
                <a:cs typeface="Cambria"/>
              </a:rPr>
              <a:t>modes the </a:t>
            </a:r>
            <a:r>
              <a:rPr lang="en-US" sz="2400" spc="-10" dirty="0">
                <a:latin typeface="Cambria"/>
                <a:cs typeface="Cambria"/>
              </a:rPr>
              <a:t>greater </a:t>
            </a:r>
            <a:r>
              <a:rPr lang="en-US" sz="2400" spc="-5" dirty="0">
                <a:latin typeface="Cambria"/>
                <a:cs typeface="Cambria"/>
              </a:rPr>
              <a:t>the </a:t>
            </a:r>
            <a:r>
              <a:rPr lang="en-US" sz="2400" dirty="0">
                <a:latin typeface="Cambria"/>
                <a:cs typeface="Cambria"/>
              </a:rPr>
              <a:t>modal</a:t>
            </a:r>
            <a:r>
              <a:rPr lang="en-US" sz="2400" spc="-150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dispersion.</a:t>
            </a:r>
          </a:p>
          <a:p>
            <a:pPr marL="287020" indent="-274320">
              <a:lnSpc>
                <a:spcPct val="100000"/>
              </a:lnSpc>
              <a:spcBef>
                <a:spcPts val="484"/>
              </a:spcBef>
              <a:buClr>
                <a:srgbClr val="0AD0D9"/>
              </a:buClr>
              <a:buSzPct val="95000"/>
              <a:buFont typeface="Wingdings"/>
              <a:buChar char=""/>
              <a:tabLst>
                <a:tab pos="287020" algn="l"/>
              </a:tabLst>
            </a:pPr>
            <a:r>
              <a:rPr lang="en-US" sz="2400" spc="-10" dirty="0">
                <a:latin typeface="Cambria"/>
                <a:cs typeface="Cambria"/>
              </a:rPr>
              <a:t>Typical bandwidth </a:t>
            </a:r>
            <a:r>
              <a:rPr lang="en-US" sz="2400" dirty="0">
                <a:latin typeface="Cambria"/>
                <a:cs typeface="Cambria"/>
              </a:rPr>
              <a:t>of a </a:t>
            </a:r>
            <a:r>
              <a:rPr lang="en-US" sz="2400" spc="-5" dirty="0">
                <a:latin typeface="Cambria"/>
                <a:cs typeface="Cambria"/>
              </a:rPr>
              <a:t>step </a:t>
            </a:r>
            <a:r>
              <a:rPr lang="en-US" sz="2400" spc="-10" dirty="0">
                <a:latin typeface="Cambria"/>
                <a:cs typeface="Cambria"/>
              </a:rPr>
              <a:t>index </a:t>
            </a:r>
            <a:r>
              <a:rPr lang="en-US" sz="2400" spc="-5" dirty="0">
                <a:latin typeface="Cambria"/>
                <a:cs typeface="Cambria"/>
              </a:rPr>
              <a:t>fiber </a:t>
            </a:r>
            <a:r>
              <a:rPr lang="en-US" sz="2400" spc="-10" dirty="0">
                <a:latin typeface="Cambria"/>
                <a:cs typeface="Cambria"/>
              </a:rPr>
              <a:t>may </a:t>
            </a:r>
            <a:r>
              <a:rPr lang="en-US" sz="2400" spc="-5" dirty="0">
                <a:latin typeface="Cambria"/>
                <a:cs typeface="Cambria"/>
              </a:rPr>
              <a:t>be </a:t>
            </a:r>
            <a:r>
              <a:rPr lang="en-US" sz="2400" dirty="0">
                <a:latin typeface="Cambria"/>
                <a:cs typeface="Cambria"/>
              </a:rPr>
              <a:t>as </a:t>
            </a:r>
            <a:r>
              <a:rPr lang="en-US" sz="2400" spc="-5" dirty="0">
                <a:latin typeface="Cambria"/>
                <a:cs typeface="Cambria"/>
              </a:rPr>
              <a:t>low </a:t>
            </a:r>
            <a:r>
              <a:rPr lang="en-US" sz="2400" dirty="0">
                <a:latin typeface="Cambria"/>
                <a:cs typeface="Cambria"/>
              </a:rPr>
              <a:t>as </a:t>
            </a:r>
            <a:r>
              <a:rPr lang="en-US" sz="2400" spc="-5" dirty="0">
                <a:latin typeface="Cambria"/>
                <a:cs typeface="Cambria"/>
              </a:rPr>
              <a:t>10 </a:t>
            </a:r>
            <a:r>
              <a:rPr lang="en-US" sz="2400" dirty="0">
                <a:latin typeface="Cambria"/>
                <a:cs typeface="Cambria"/>
              </a:rPr>
              <a:t>MHz </a:t>
            </a:r>
            <a:r>
              <a:rPr lang="en-US" sz="2400" spc="-15" dirty="0">
                <a:latin typeface="Cambria"/>
                <a:cs typeface="Cambria"/>
              </a:rPr>
              <a:t>over </a:t>
            </a:r>
            <a:r>
              <a:rPr lang="en-US" sz="2400" dirty="0">
                <a:latin typeface="Cambria"/>
                <a:cs typeface="Cambria"/>
              </a:rPr>
              <a:t>1</a:t>
            </a:r>
            <a:r>
              <a:rPr lang="en-US" sz="2400" spc="-70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km.</a:t>
            </a:r>
          </a:p>
          <a:p>
            <a:endParaRPr lang="en-US" dirty="0"/>
          </a:p>
          <a:p>
            <a:r>
              <a:rPr lang="en-US" sz="4400" b="1" spc="-10" dirty="0">
                <a:latin typeface="Cambria"/>
                <a:cs typeface="Cambria"/>
              </a:rPr>
              <a:t>Attenuation </a:t>
            </a:r>
            <a:r>
              <a:rPr lang="en-US" sz="4400" b="1" dirty="0">
                <a:latin typeface="Cambria"/>
                <a:cs typeface="Cambria"/>
              </a:rPr>
              <a:t>in </a:t>
            </a:r>
            <a:r>
              <a:rPr lang="en-US" sz="4400" b="1" spc="-5" dirty="0">
                <a:latin typeface="Cambria"/>
                <a:cs typeface="Cambria"/>
              </a:rPr>
              <a:t>Optical</a:t>
            </a:r>
            <a:r>
              <a:rPr lang="en-US" sz="4400" b="1" spc="-80" dirty="0">
                <a:latin typeface="Cambria"/>
                <a:cs typeface="Cambria"/>
              </a:rPr>
              <a:t> </a:t>
            </a:r>
            <a:r>
              <a:rPr lang="en-US" sz="4400" b="1" spc="-5" dirty="0">
                <a:latin typeface="Cambria"/>
                <a:cs typeface="Cambria"/>
              </a:rPr>
              <a:t>Fibers</a:t>
            </a:r>
          </a:p>
          <a:p>
            <a:pPr marL="312420" indent="-312420">
              <a:lnSpc>
                <a:spcPct val="100000"/>
              </a:lnSpc>
              <a:spcBef>
                <a:spcPts val="800"/>
              </a:spcBef>
              <a:buClr>
                <a:srgbClr val="0AD0D9"/>
              </a:buClr>
              <a:buSzPct val="94444"/>
              <a:buFont typeface="Wingdings"/>
              <a:buChar char=""/>
              <a:tabLst>
                <a:tab pos="312420" algn="l"/>
              </a:tabLst>
            </a:pPr>
            <a:r>
              <a:rPr lang="en-US" sz="2400" spc="-10" dirty="0">
                <a:latin typeface="Cambria"/>
                <a:cs typeface="Cambria"/>
              </a:rPr>
              <a:t>Attenuation </a:t>
            </a:r>
            <a:r>
              <a:rPr lang="en-US" sz="2400" spc="-5" dirty="0">
                <a:latin typeface="Cambria"/>
                <a:cs typeface="Cambria"/>
              </a:rPr>
              <a:t>limits </a:t>
            </a:r>
            <a:r>
              <a:rPr lang="en-US" sz="2400" dirty="0">
                <a:latin typeface="Cambria"/>
                <a:cs typeface="Cambria"/>
              </a:rPr>
              <a:t>the </a:t>
            </a:r>
            <a:r>
              <a:rPr lang="en-US" sz="2400" spc="-5" dirty="0">
                <a:latin typeface="Cambria"/>
                <a:cs typeface="Cambria"/>
              </a:rPr>
              <a:t>optical </a:t>
            </a:r>
            <a:r>
              <a:rPr lang="en-US" sz="2400" spc="-10" dirty="0">
                <a:latin typeface="Cambria"/>
                <a:cs typeface="Cambria"/>
              </a:rPr>
              <a:t>power </a:t>
            </a:r>
            <a:r>
              <a:rPr lang="en-US" sz="2400" spc="-5" dirty="0">
                <a:latin typeface="Cambria"/>
                <a:cs typeface="Cambria"/>
              </a:rPr>
              <a:t>which can </a:t>
            </a:r>
            <a:r>
              <a:rPr lang="en-US" sz="2400" spc="-10" dirty="0">
                <a:latin typeface="Cambria"/>
                <a:cs typeface="Cambria"/>
              </a:rPr>
              <a:t>reach </a:t>
            </a:r>
            <a:r>
              <a:rPr lang="en-US" sz="2400" spc="-5" dirty="0">
                <a:latin typeface="Cambria"/>
                <a:cs typeface="Cambria"/>
              </a:rPr>
              <a:t>the </a:t>
            </a:r>
            <a:r>
              <a:rPr lang="en-US" sz="2400" spc="-35" dirty="0">
                <a:latin typeface="Cambria"/>
                <a:cs typeface="Cambria"/>
              </a:rPr>
              <a:t>receiver, </a:t>
            </a:r>
            <a:r>
              <a:rPr lang="en-US" sz="2400" dirty="0">
                <a:latin typeface="Cambria"/>
                <a:cs typeface="Cambria"/>
              </a:rPr>
              <a:t>limiting</a:t>
            </a:r>
            <a:r>
              <a:rPr lang="en-US" sz="2400" spc="240" dirty="0">
                <a:latin typeface="Cambria"/>
                <a:cs typeface="Cambria"/>
              </a:rPr>
              <a:t> </a:t>
            </a:r>
            <a:r>
              <a:rPr lang="en-US" sz="2400" spc="-5" dirty="0">
                <a:latin typeface="Cambria"/>
                <a:cs typeface="Cambria"/>
              </a:rPr>
              <a:t>the</a:t>
            </a:r>
            <a:r>
              <a:rPr lang="en-US" sz="2400" dirty="0">
                <a:latin typeface="Cambria"/>
                <a:cs typeface="Cambria"/>
              </a:rPr>
              <a:t> </a:t>
            </a:r>
            <a:r>
              <a:rPr lang="en-US" sz="2400" spc="-10" dirty="0">
                <a:latin typeface="Cambria"/>
                <a:cs typeface="Cambria"/>
              </a:rPr>
              <a:t>operating </a:t>
            </a:r>
            <a:r>
              <a:rPr lang="en-US" sz="2400" spc="-5" dirty="0">
                <a:latin typeface="Cambria"/>
                <a:cs typeface="Cambria"/>
              </a:rPr>
              <a:t>span </a:t>
            </a:r>
            <a:r>
              <a:rPr lang="en-US" sz="2400" dirty="0">
                <a:latin typeface="Cambria"/>
                <a:cs typeface="Cambria"/>
              </a:rPr>
              <a:t>of a</a:t>
            </a:r>
            <a:r>
              <a:rPr lang="en-US" sz="2400" spc="-15" dirty="0">
                <a:latin typeface="Cambria"/>
                <a:cs typeface="Cambria"/>
              </a:rPr>
              <a:t> </a:t>
            </a:r>
            <a:r>
              <a:rPr lang="en-US" sz="2400" spc="-10" dirty="0">
                <a:latin typeface="Cambria"/>
                <a:cs typeface="Cambria"/>
              </a:rPr>
              <a:t>system.</a:t>
            </a:r>
            <a:endParaRPr lang="en-US" sz="2400" dirty="0">
              <a:latin typeface="Cambria"/>
              <a:cs typeface="Cambria"/>
            </a:endParaRPr>
          </a:p>
          <a:p>
            <a:pPr marL="311785" marR="31750" indent="-274320">
              <a:lnSpc>
                <a:spcPct val="130000"/>
              </a:lnSpc>
              <a:spcBef>
                <a:spcPts val="434"/>
              </a:spcBef>
              <a:buClr>
                <a:srgbClr val="0AD0D9"/>
              </a:buClr>
              <a:buSzPct val="94444"/>
              <a:buFont typeface="Wingdings"/>
              <a:buChar char=""/>
              <a:tabLst>
                <a:tab pos="312420" algn="l"/>
              </a:tabLst>
            </a:pPr>
            <a:r>
              <a:rPr lang="en-US" sz="2400" spc="-5" dirty="0">
                <a:latin typeface="Cambria"/>
                <a:cs typeface="Cambria"/>
              </a:rPr>
              <a:t>Once the </a:t>
            </a:r>
            <a:r>
              <a:rPr lang="en-US" sz="2400" spc="-10" dirty="0">
                <a:latin typeface="Cambria"/>
                <a:cs typeface="Cambria"/>
              </a:rPr>
              <a:t>power </a:t>
            </a:r>
            <a:r>
              <a:rPr lang="en-US" sz="2400" dirty="0">
                <a:latin typeface="Cambria"/>
                <a:cs typeface="Cambria"/>
              </a:rPr>
              <a:t>of </a:t>
            </a:r>
            <a:r>
              <a:rPr lang="en-US" sz="2400" spc="-5" dirty="0">
                <a:latin typeface="Cambria"/>
                <a:cs typeface="Cambria"/>
              </a:rPr>
              <a:t>an optical pulse </a:t>
            </a:r>
            <a:r>
              <a:rPr lang="en-US" sz="2400" dirty="0">
                <a:latin typeface="Cambria"/>
                <a:cs typeface="Cambria"/>
              </a:rPr>
              <a:t>is </a:t>
            </a:r>
            <a:r>
              <a:rPr lang="en-US" sz="2400" spc="-5" dirty="0">
                <a:latin typeface="Cambria"/>
                <a:cs typeface="Cambria"/>
              </a:rPr>
              <a:t>reduced to </a:t>
            </a:r>
            <a:r>
              <a:rPr lang="en-US" sz="2400" dirty="0">
                <a:latin typeface="Cambria"/>
                <a:cs typeface="Cambria"/>
              </a:rPr>
              <a:t>a </a:t>
            </a:r>
            <a:r>
              <a:rPr lang="en-US" sz="2400" spc="-5" dirty="0">
                <a:latin typeface="Cambria"/>
                <a:cs typeface="Cambria"/>
              </a:rPr>
              <a:t>point </a:t>
            </a:r>
            <a:r>
              <a:rPr lang="en-US" sz="2400" spc="-15" dirty="0">
                <a:latin typeface="Cambria"/>
                <a:cs typeface="Cambria"/>
              </a:rPr>
              <a:t>where </a:t>
            </a:r>
            <a:r>
              <a:rPr lang="en-US" sz="2400" spc="-5" dirty="0">
                <a:latin typeface="Cambria"/>
                <a:cs typeface="Cambria"/>
              </a:rPr>
              <a:t>the </a:t>
            </a:r>
            <a:r>
              <a:rPr lang="en-US" sz="2400" spc="-15" dirty="0">
                <a:latin typeface="Cambria"/>
                <a:cs typeface="Cambria"/>
              </a:rPr>
              <a:t>receiver </a:t>
            </a:r>
            <a:r>
              <a:rPr lang="en-US" sz="2400" dirty="0">
                <a:latin typeface="Cambria"/>
                <a:cs typeface="Cambria"/>
              </a:rPr>
              <a:t>is </a:t>
            </a:r>
            <a:r>
              <a:rPr lang="en-US" sz="2400" spc="-5" dirty="0">
                <a:latin typeface="Cambria"/>
                <a:cs typeface="Cambria"/>
              </a:rPr>
              <a:t>unable  to detect the pulse, an </a:t>
            </a:r>
            <a:r>
              <a:rPr lang="en-US" sz="2400" spc="-10" dirty="0">
                <a:latin typeface="Cambria"/>
                <a:cs typeface="Cambria"/>
              </a:rPr>
              <a:t>error</a:t>
            </a:r>
            <a:r>
              <a:rPr lang="en-US" sz="2400" spc="20" dirty="0">
                <a:latin typeface="Cambria"/>
                <a:cs typeface="Cambria"/>
              </a:rPr>
              <a:t> </a:t>
            </a:r>
            <a:r>
              <a:rPr lang="en-US" sz="2400" spc="-5" dirty="0">
                <a:latin typeface="Cambria"/>
                <a:cs typeface="Cambria"/>
              </a:rPr>
              <a:t>occurs.</a:t>
            </a:r>
            <a:endParaRPr lang="en-US" sz="2400" dirty="0">
              <a:latin typeface="Cambria"/>
              <a:cs typeface="Cambria"/>
            </a:endParaRPr>
          </a:p>
          <a:p>
            <a:endParaRPr lang="en-US" sz="4400" b="1" spc="-5" dirty="0">
              <a:latin typeface="Cambria"/>
              <a:cs typeface="Cambria"/>
            </a:endParaRPr>
          </a:p>
          <a:p>
            <a:br>
              <a:rPr lang="en-US" dirty="0">
                <a:latin typeface="Cambria"/>
                <a:cs typeface="Cambria"/>
              </a:rPr>
            </a:br>
            <a:r>
              <a:rPr lang="en-US" dirty="0">
                <a:latin typeface="Cambria"/>
                <a:cs typeface="Cambria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546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82880" y="1245139"/>
                <a:ext cx="10747717" cy="4803969"/>
              </a:xfrm>
            </p:spPr>
            <p:txBody>
              <a:bodyPr>
                <a:normAutofit/>
              </a:bodyPr>
              <a:lstStyle/>
              <a:p>
                <a:pPr marL="312420" indent="-274320" algn="just">
                  <a:lnSpc>
                    <a:spcPct val="100000"/>
                  </a:lnSpc>
                  <a:spcBef>
                    <a:spcPts val="1080"/>
                  </a:spcBef>
                  <a:buClr>
                    <a:srgbClr val="0AD0D9"/>
                  </a:buClr>
                  <a:buSzPct val="94444"/>
                  <a:buFont typeface="Wingdings"/>
                  <a:buChar char=""/>
                  <a:tabLst>
                    <a:tab pos="312420" algn="l"/>
                  </a:tabLst>
                </a:pPr>
                <a:r>
                  <a:rPr lang="en-US" sz="2400" b="1" spc="-10" dirty="0">
                    <a:latin typeface="Cambria"/>
                    <a:cs typeface="Cambria"/>
                  </a:rPr>
                  <a:t>Attenuation </a:t>
                </a:r>
                <a:r>
                  <a:rPr lang="en-US" sz="2400" dirty="0">
                    <a:latin typeface="Cambria"/>
                    <a:cs typeface="Cambria"/>
                  </a:rPr>
                  <a:t>is </a:t>
                </a:r>
                <a:r>
                  <a:rPr lang="en-US" sz="2400" spc="-10" dirty="0">
                    <a:latin typeface="Cambria"/>
                    <a:cs typeface="Cambria"/>
                  </a:rPr>
                  <a:t>mainly </a:t>
                </a:r>
                <a:r>
                  <a:rPr lang="en-US" sz="2400" dirty="0">
                    <a:latin typeface="Cambria"/>
                    <a:cs typeface="Cambria"/>
                  </a:rPr>
                  <a:t>a </a:t>
                </a:r>
                <a:r>
                  <a:rPr lang="en-US" sz="2400" spc="-10" dirty="0">
                    <a:latin typeface="Cambria"/>
                    <a:cs typeface="Cambria"/>
                  </a:rPr>
                  <a:t>result</a:t>
                </a:r>
                <a:r>
                  <a:rPr lang="en-US" sz="2400" spc="20" dirty="0">
                    <a:latin typeface="Cambria"/>
                    <a:cs typeface="Cambria"/>
                  </a:rPr>
                  <a:t> </a:t>
                </a:r>
                <a:r>
                  <a:rPr lang="en-US" sz="2400" spc="-5" dirty="0">
                    <a:latin typeface="Cambria"/>
                    <a:cs typeface="Cambria"/>
                  </a:rPr>
                  <a:t>of:</a:t>
                </a:r>
                <a:endParaRPr lang="en-US" sz="2400" dirty="0">
                  <a:latin typeface="Cambria"/>
                  <a:cs typeface="Cambria"/>
                </a:endParaRPr>
              </a:p>
              <a:p>
                <a:pPr marL="312420" indent="-274320" algn="just">
                  <a:lnSpc>
                    <a:spcPct val="100000"/>
                  </a:lnSpc>
                  <a:spcBef>
                    <a:spcPts val="1080"/>
                  </a:spcBef>
                  <a:buClr>
                    <a:srgbClr val="0AD0D9"/>
                  </a:buClr>
                  <a:buSzPct val="94444"/>
                  <a:buFont typeface="Wingdings"/>
                  <a:buChar char=""/>
                  <a:tabLst>
                    <a:tab pos="312420" algn="l"/>
                  </a:tabLst>
                </a:pPr>
                <a:r>
                  <a:rPr lang="en-US" sz="2400" b="1" spc="-5" dirty="0">
                    <a:latin typeface="Cambria"/>
                    <a:cs typeface="Cambria"/>
                  </a:rPr>
                  <a:t>Light</a:t>
                </a:r>
                <a:r>
                  <a:rPr lang="en-US" sz="2400" b="1" spc="-15" dirty="0">
                    <a:latin typeface="Cambria"/>
                    <a:cs typeface="Cambria"/>
                  </a:rPr>
                  <a:t> </a:t>
                </a:r>
                <a:r>
                  <a:rPr lang="en-US" sz="2400" b="1" spc="-5" dirty="0">
                    <a:latin typeface="Cambria"/>
                    <a:cs typeface="Cambria"/>
                  </a:rPr>
                  <a:t>Absorption</a:t>
                </a:r>
                <a:endParaRPr lang="en-US" sz="2400" dirty="0">
                  <a:latin typeface="Cambria"/>
                  <a:cs typeface="Cambria"/>
                </a:endParaRPr>
              </a:p>
              <a:p>
                <a:pPr marL="312420" indent="-274320" algn="just">
                  <a:lnSpc>
                    <a:spcPct val="100000"/>
                  </a:lnSpc>
                  <a:spcBef>
                    <a:spcPts val="1080"/>
                  </a:spcBef>
                  <a:buClr>
                    <a:srgbClr val="0AD0D9"/>
                  </a:buClr>
                  <a:buSzPct val="94444"/>
                  <a:buFont typeface="Wingdings"/>
                  <a:buChar char=""/>
                  <a:tabLst>
                    <a:tab pos="312420" algn="l"/>
                  </a:tabLst>
                </a:pPr>
                <a:r>
                  <a:rPr lang="en-US" sz="2400" b="1" spc="-5" dirty="0">
                    <a:latin typeface="Cambria"/>
                    <a:cs typeface="Cambria"/>
                  </a:rPr>
                  <a:t>Scattering of</a:t>
                </a:r>
                <a:r>
                  <a:rPr lang="en-US" sz="2400" b="1" spc="10" dirty="0">
                    <a:latin typeface="Cambria"/>
                    <a:cs typeface="Cambria"/>
                  </a:rPr>
                  <a:t> </a:t>
                </a:r>
                <a:r>
                  <a:rPr lang="en-US" sz="2400" b="1" spc="-10" dirty="0">
                    <a:latin typeface="Cambria"/>
                    <a:cs typeface="Cambria"/>
                  </a:rPr>
                  <a:t>light</a:t>
                </a:r>
                <a:endParaRPr lang="en-US" sz="2400" dirty="0">
                  <a:latin typeface="Cambria"/>
                  <a:cs typeface="Cambria"/>
                </a:endParaRPr>
              </a:p>
              <a:p>
                <a:pPr marL="312420" indent="-274320" algn="just">
                  <a:lnSpc>
                    <a:spcPct val="100000"/>
                  </a:lnSpc>
                  <a:spcBef>
                    <a:spcPts val="1080"/>
                  </a:spcBef>
                  <a:buClr>
                    <a:srgbClr val="0AD0D9"/>
                  </a:buClr>
                  <a:buSzPct val="94444"/>
                  <a:buFont typeface="Wingdings"/>
                  <a:buChar char=""/>
                  <a:tabLst>
                    <a:tab pos="312420" algn="l"/>
                  </a:tabLst>
                </a:pPr>
                <a:r>
                  <a:rPr lang="en-US" sz="2400" b="1" spc="-5" dirty="0">
                    <a:latin typeface="Cambria"/>
                    <a:cs typeface="Cambria"/>
                  </a:rPr>
                  <a:t>Bending</a:t>
                </a:r>
                <a:r>
                  <a:rPr lang="en-US" sz="2400" b="1" spc="-20" dirty="0">
                    <a:latin typeface="Cambria"/>
                    <a:cs typeface="Cambria"/>
                  </a:rPr>
                  <a:t> </a:t>
                </a:r>
                <a:r>
                  <a:rPr lang="en-US" sz="2400" b="1" spc="-5" dirty="0">
                    <a:latin typeface="Cambria"/>
                    <a:cs typeface="Cambria"/>
                  </a:rPr>
                  <a:t>losses</a:t>
                </a:r>
                <a:endParaRPr lang="en-US" sz="2400" dirty="0">
                  <a:latin typeface="Cambria"/>
                  <a:cs typeface="Cambria"/>
                </a:endParaRPr>
              </a:p>
              <a:p>
                <a:pPr marL="312420" indent="-274320" algn="just">
                  <a:lnSpc>
                    <a:spcPct val="100000"/>
                  </a:lnSpc>
                  <a:spcBef>
                    <a:spcPts val="1080"/>
                  </a:spcBef>
                  <a:buClr>
                    <a:srgbClr val="0AD0D9"/>
                  </a:buClr>
                  <a:buSzPct val="94444"/>
                  <a:buFont typeface="Wingdings"/>
                  <a:buChar char=""/>
                  <a:tabLst>
                    <a:tab pos="312420" algn="l"/>
                  </a:tabLst>
                </a:pPr>
                <a:r>
                  <a:rPr lang="en-US" sz="2400" b="1" spc="-10" dirty="0">
                    <a:latin typeface="Cambria"/>
                    <a:cs typeface="Cambria"/>
                  </a:rPr>
                  <a:t>Attenuation</a:t>
                </a:r>
                <a:r>
                  <a:rPr lang="en-US" sz="2400" b="1" spc="185" dirty="0">
                    <a:latin typeface="Cambria"/>
                    <a:cs typeface="Cambria"/>
                  </a:rPr>
                  <a:t> </a:t>
                </a:r>
                <a:r>
                  <a:rPr lang="en-US" sz="2400" dirty="0">
                    <a:latin typeface="Cambria"/>
                    <a:cs typeface="Cambria"/>
                  </a:rPr>
                  <a:t>is</a:t>
                </a:r>
                <a:r>
                  <a:rPr lang="en-US" sz="2400" spc="175" dirty="0">
                    <a:latin typeface="Cambria"/>
                    <a:cs typeface="Cambria"/>
                  </a:rPr>
                  <a:t> </a:t>
                </a:r>
                <a:r>
                  <a:rPr lang="en-US" sz="2400" spc="-5" dirty="0">
                    <a:latin typeface="Cambria"/>
                    <a:cs typeface="Cambria"/>
                  </a:rPr>
                  <a:t>defined</a:t>
                </a:r>
                <a:r>
                  <a:rPr lang="en-US" sz="2400" spc="180" dirty="0">
                    <a:latin typeface="Cambria"/>
                    <a:cs typeface="Cambria"/>
                  </a:rPr>
                  <a:t> </a:t>
                </a:r>
                <a:r>
                  <a:rPr lang="en-US" sz="2400" spc="-5" dirty="0">
                    <a:latin typeface="Cambria"/>
                    <a:cs typeface="Cambria"/>
                  </a:rPr>
                  <a:t>as</a:t>
                </a:r>
                <a:r>
                  <a:rPr lang="en-US" sz="2400" spc="170" dirty="0">
                    <a:latin typeface="Cambria"/>
                    <a:cs typeface="Cambria"/>
                  </a:rPr>
                  <a:t> </a:t>
                </a:r>
                <a:r>
                  <a:rPr lang="en-US" sz="2400" spc="-5" dirty="0">
                    <a:latin typeface="Cambria"/>
                    <a:cs typeface="Cambria"/>
                  </a:rPr>
                  <a:t>the</a:t>
                </a:r>
                <a:r>
                  <a:rPr lang="en-US" sz="2400" spc="185" dirty="0">
                    <a:latin typeface="Cambria"/>
                    <a:cs typeface="Cambria"/>
                  </a:rPr>
                  <a:t> </a:t>
                </a:r>
                <a:r>
                  <a:rPr lang="en-US" sz="2400" spc="-10" dirty="0">
                    <a:latin typeface="Cambria"/>
                    <a:cs typeface="Cambria"/>
                  </a:rPr>
                  <a:t>ratio</a:t>
                </a:r>
                <a:r>
                  <a:rPr lang="en-US" sz="2400" spc="190" dirty="0">
                    <a:latin typeface="Cambria"/>
                    <a:cs typeface="Cambria"/>
                  </a:rPr>
                  <a:t> </a:t>
                </a:r>
                <a:r>
                  <a:rPr lang="en-US" sz="2400" dirty="0">
                    <a:latin typeface="Cambria"/>
                    <a:cs typeface="Cambria"/>
                  </a:rPr>
                  <a:t>of</a:t>
                </a:r>
                <a:r>
                  <a:rPr lang="en-US" sz="2400" spc="180" dirty="0">
                    <a:latin typeface="Cambria"/>
                    <a:cs typeface="Cambria"/>
                  </a:rPr>
                  <a:t> </a:t>
                </a:r>
                <a:r>
                  <a:rPr lang="en-US" sz="2400" spc="-5" dirty="0">
                    <a:latin typeface="Cambria"/>
                    <a:cs typeface="Cambria"/>
                  </a:rPr>
                  <a:t>optical</a:t>
                </a:r>
                <a:r>
                  <a:rPr lang="en-US" sz="2400" spc="165" dirty="0">
                    <a:latin typeface="Cambria"/>
                    <a:cs typeface="Cambria"/>
                  </a:rPr>
                  <a:t> </a:t>
                </a:r>
                <a:r>
                  <a:rPr lang="en-US" sz="2400" dirty="0">
                    <a:latin typeface="Cambria"/>
                    <a:cs typeface="Cambria"/>
                  </a:rPr>
                  <a:t>input</a:t>
                </a:r>
                <a:r>
                  <a:rPr lang="en-US" sz="2400" spc="185" dirty="0">
                    <a:latin typeface="Cambria"/>
                    <a:cs typeface="Cambria"/>
                  </a:rPr>
                  <a:t> </a:t>
                </a:r>
                <a:r>
                  <a:rPr lang="en-US" sz="2400" spc="-10" dirty="0">
                    <a:latin typeface="Cambria"/>
                    <a:cs typeface="Cambria"/>
                  </a:rPr>
                  <a:t>power</a:t>
                </a:r>
                <a:r>
                  <a:rPr lang="en-US" sz="2400" spc="180" dirty="0">
                    <a:latin typeface="Cambria"/>
                    <a:cs typeface="Cambria"/>
                  </a:rPr>
                  <a:t> </a:t>
                </a:r>
                <a:r>
                  <a:rPr lang="en-US" sz="2400" spc="5" dirty="0">
                    <a:latin typeface="Cambria"/>
                    <a:cs typeface="Cambria"/>
                  </a:rPr>
                  <a:t>(P</a:t>
                </a:r>
                <a:r>
                  <a:rPr lang="en-US" sz="2400" spc="7" baseline="-21604" dirty="0">
                    <a:latin typeface="Cambria"/>
                    <a:cs typeface="Cambria"/>
                  </a:rPr>
                  <a:t>in</a:t>
                </a:r>
                <a:r>
                  <a:rPr lang="en-US" sz="2400" spc="5" dirty="0">
                    <a:latin typeface="Cambria"/>
                    <a:cs typeface="Cambria"/>
                  </a:rPr>
                  <a:t>)</a:t>
                </a:r>
                <a:r>
                  <a:rPr lang="en-US" sz="2400" spc="180" dirty="0">
                    <a:latin typeface="Cambria"/>
                    <a:cs typeface="Cambria"/>
                  </a:rPr>
                  <a:t> </a:t>
                </a:r>
                <a:r>
                  <a:rPr lang="en-US" sz="2400" spc="-5" dirty="0">
                    <a:latin typeface="Cambria"/>
                    <a:cs typeface="Cambria"/>
                  </a:rPr>
                  <a:t>to</a:t>
                </a:r>
                <a:r>
                  <a:rPr lang="en-US" sz="2400" spc="180" dirty="0">
                    <a:latin typeface="Cambria"/>
                    <a:cs typeface="Cambria"/>
                  </a:rPr>
                  <a:t> </a:t>
                </a:r>
                <a:r>
                  <a:rPr lang="en-US" sz="2400" spc="-5" dirty="0">
                    <a:latin typeface="Cambria"/>
                    <a:cs typeface="Cambria"/>
                  </a:rPr>
                  <a:t>the</a:t>
                </a:r>
                <a:r>
                  <a:rPr lang="en-US" sz="2400" spc="180" dirty="0">
                    <a:latin typeface="Cambria"/>
                    <a:cs typeface="Cambria"/>
                  </a:rPr>
                  <a:t> </a:t>
                </a:r>
                <a:r>
                  <a:rPr lang="en-US" sz="2400" spc="-5" dirty="0">
                    <a:latin typeface="Cambria"/>
                    <a:cs typeface="Cambria"/>
                  </a:rPr>
                  <a:t>optical</a:t>
                </a:r>
                <a:r>
                  <a:rPr lang="en-US" sz="2400" spc="175" dirty="0">
                    <a:latin typeface="Cambria"/>
                    <a:cs typeface="Cambria"/>
                  </a:rPr>
                  <a:t> </a:t>
                </a:r>
                <a:r>
                  <a:rPr lang="en-US" sz="2400" spc="-5" dirty="0">
                    <a:latin typeface="Cambria"/>
                    <a:cs typeface="Cambria"/>
                  </a:rPr>
                  <a:t>output</a:t>
                </a:r>
                <a:r>
                  <a:rPr lang="en-US" sz="2400" dirty="0">
                    <a:latin typeface="Cambria"/>
                    <a:cs typeface="Cambria"/>
                  </a:rPr>
                  <a:t> </a:t>
                </a:r>
                <a:r>
                  <a:rPr lang="en-US" sz="2400" spc="-10" dirty="0">
                    <a:latin typeface="Cambria"/>
                    <a:cs typeface="Cambria"/>
                  </a:rPr>
                  <a:t>power</a:t>
                </a:r>
                <a:r>
                  <a:rPr lang="en-US" sz="2400" spc="5" dirty="0">
                    <a:latin typeface="Cambria"/>
                    <a:cs typeface="Cambria"/>
                  </a:rPr>
                  <a:t> </a:t>
                </a:r>
                <a:r>
                  <a:rPr lang="en-US" sz="2400" spc="-5" dirty="0">
                    <a:latin typeface="Cambria"/>
                    <a:cs typeface="Cambria"/>
                  </a:rPr>
                  <a:t>(P</a:t>
                </a:r>
                <a:r>
                  <a:rPr lang="en-US" sz="2400" spc="-7" baseline="-21604" dirty="0">
                    <a:latin typeface="Cambria"/>
                    <a:cs typeface="Cambria"/>
                  </a:rPr>
                  <a:t>out</a:t>
                </a:r>
                <a:r>
                  <a:rPr lang="en-US" sz="2400" spc="-5" dirty="0">
                    <a:latin typeface="Cambria"/>
                    <a:cs typeface="Cambria"/>
                  </a:rPr>
                  <a:t>).</a:t>
                </a:r>
                <a:endParaRPr lang="en-US" sz="2400" dirty="0">
                  <a:latin typeface="Cambria"/>
                  <a:cs typeface="Cambria"/>
                </a:endParaRPr>
              </a:p>
              <a:p>
                <a:pPr marL="312420" indent="-274320" algn="just">
                  <a:lnSpc>
                    <a:spcPct val="100000"/>
                  </a:lnSpc>
                  <a:spcBef>
                    <a:spcPts val="1080"/>
                  </a:spcBef>
                  <a:buClr>
                    <a:srgbClr val="0AD0D9"/>
                  </a:buClr>
                  <a:buSzPct val="94444"/>
                  <a:buFont typeface="Wingdings"/>
                  <a:buChar char=""/>
                  <a:tabLst>
                    <a:tab pos="312420" algn="l"/>
                  </a:tabLst>
                </a:pPr>
                <a:r>
                  <a:rPr lang="en-US" sz="2400" dirty="0">
                    <a:latin typeface="Cambria"/>
                    <a:cs typeface="Cambria"/>
                  </a:rPr>
                  <a:t>The </a:t>
                </a:r>
                <a:r>
                  <a:rPr lang="en-US" sz="2400" spc="-10" dirty="0">
                    <a:latin typeface="Cambria"/>
                    <a:cs typeface="Cambria"/>
                  </a:rPr>
                  <a:t>following </a:t>
                </a:r>
                <a:r>
                  <a:rPr lang="en-US" sz="2400" dirty="0">
                    <a:latin typeface="Cambria"/>
                    <a:cs typeface="Cambria"/>
                  </a:rPr>
                  <a:t>equation </a:t>
                </a:r>
                <a:r>
                  <a:rPr lang="en-US" sz="2400" spc="-5" dirty="0">
                    <a:latin typeface="Cambria"/>
                    <a:cs typeface="Cambria"/>
                  </a:rPr>
                  <a:t>defines signal attenuation as </a:t>
                </a:r>
                <a:r>
                  <a:rPr lang="en-US" sz="2400" dirty="0">
                    <a:latin typeface="Cambria"/>
                    <a:cs typeface="Cambria"/>
                  </a:rPr>
                  <a:t>a </a:t>
                </a:r>
                <a:r>
                  <a:rPr lang="en-US" sz="2400" spc="-5" dirty="0">
                    <a:latin typeface="Cambria"/>
                    <a:cs typeface="Cambria"/>
                  </a:rPr>
                  <a:t>unit </a:t>
                </a:r>
                <a:r>
                  <a:rPr lang="en-US" sz="2400" dirty="0">
                    <a:latin typeface="Cambria"/>
                    <a:cs typeface="Cambria"/>
                  </a:rPr>
                  <a:t>of </a:t>
                </a:r>
                <a:r>
                  <a:rPr lang="en-US" sz="2400" spc="-5" dirty="0">
                    <a:latin typeface="Cambria"/>
                    <a:cs typeface="Cambria"/>
                  </a:rPr>
                  <a:t>length</a:t>
                </a:r>
                <a:r>
                  <a:rPr lang="en-US" sz="2400" spc="-35" dirty="0">
                    <a:latin typeface="Cambria"/>
                    <a:cs typeface="Cambria"/>
                  </a:rPr>
                  <a:t> </a:t>
                </a:r>
                <a:r>
                  <a:rPr lang="en-US" sz="2400" dirty="0">
                    <a:latin typeface="Cambria"/>
                    <a:cs typeface="Cambria"/>
                  </a:rPr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r>
                  <a:rPr lang="en-US" sz="3000" dirty="0"/>
                  <a:t>Attenuation = </a:t>
                </a:r>
                <a:r>
                  <a:rPr lang="el-GR" sz="3000" dirty="0"/>
                  <a:t>α</a:t>
                </a:r>
                <a:r>
                  <a:rPr lang="en-US" sz="30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lang="en-US" sz="3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dirty="0" smtClean="0">
                            <a:latin typeface="Cambria Math" panose="02040503050406030204" pitchFamily="18" charset="0"/>
                          </a:rPr>
                          <m:t>𝐿𝑜𝑔</m:t>
                        </m:r>
                      </m:e>
                      <m:sub>
                        <m:r>
                          <a:rPr lang="en-US" sz="30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en-US" sz="30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00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30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000" b="0" i="1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3000" b="0" i="1" dirty="0" smtClean="0">
                                    <a:latin typeface="Cambria Math" panose="02040503050406030204" pitchFamily="18" charset="0"/>
                                  </a:rPr>
                                  <m:t>𝑖𝑛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30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000" b="0" i="1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3000" b="0" i="1" dirty="0" smtClean="0">
                                    <a:latin typeface="Cambria Math" panose="02040503050406030204" pitchFamily="18" charset="0"/>
                                  </a:rPr>
                                  <m:t>𝑜𝑢𝑡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sz="3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2880" y="1245139"/>
                <a:ext cx="10747717" cy="4803969"/>
              </a:xfrm>
              <a:blipFill rotWithShape="0">
                <a:blip r:embed="rId2"/>
                <a:stretch>
                  <a:fillRect l="-284" t="-1015" r="-8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812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1524" y="987425"/>
            <a:ext cx="8748908" cy="4873625"/>
          </a:xfrm>
        </p:spPr>
        <p:txBody>
          <a:bodyPr>
            <a:normAutofit/>
          </a:bodyPr>
          <a:lstStyle/>
          <a:p>
            <a:pPr marL="0" marR="4869815" indent="0" algn="just">
              <a:lnSpc>
                <a:spcPct val="150100"/>
              </a:lnSpc>
              <a:spcBef>
                <a:spcPts val="100"/>
              </a:spcBef>
              <a:buClr>
                <a:srgbClr val="0AD0D9"/>
              </a:buClr>
              <a:buSzPct val="93750"/>
              <a:buNone/>
              <a:tabLst>
                <a:tab pos="287655" algn="l"/>
              </a:tabLst>
            </a:pPr>
            <a:r>
              <a:rPr lang="en-US" sz="2400" b="1" spc="-10" dirty="0">
                <a:latin typeface="Cambria"/>
                <a:cs typeface="Cambria"/>
              </a:rPr>
              <a:t>Absorption</a:t>
            </a:r>
            <a:r>
              <a:rPr lang="en-US" sz="2400" b="1" dirty="0">
                <a:latin typeface="Cambria"/>
                <a:cs typeface="Cambria"/>
              </a:rPr>
              <a:t> Loss:</a:t>
            </a:r>
            <a:endParaRPr lang="en-US" sz="2400" dirty="0">
              <a:latin typeface="Cambria"/>
              <a:cs typeface="Cambria"/>
            </a:endParaRPr>
          </a:p>
          <a:p>
            <a:pPr marL="287020" marR="5080" indent="-274955" algn="just">
              <a:lnSpc>
                <a:spcPct val="130000"/>
              </a:lnSpc>
              <a:spcBef>
                <a:spcPts val="575"/>
              </a:spcBef>
              <a:buClr>
                <a:srgbClr val="0AD0D9"/>
              </a:buClr>
              <a:buSzPct val="93750"/>
              <a:buFont typeface="Wingdings"/>
              <a:buChar char=""/>
              <a:tabLst>
                <a:tab pos="287655" algn="l"/>
              </a:tabLst>
            </a:pPr>
            <a:r>
              <a:rPr lang="en-US" sz="2400" spc="-5" dirty="0">
                <a:latin typeface="Cambria"/>
                <a:cs typeface="Cambria"/>
              </a:rPr>
              <a:t>Caused </a:t>
            </a:r>
            <a:r>
              <a:rPr lang="en-US" sz="2400" spc="-25" dirty="0">
                <a:latin typeface="Cambria"/>
                <a:cs typeface="Cambria"/>
              </a:rPr>
              <a:t>by </a:t>
            </a:r>
            <a:r>
              <a:rPr lang="en-US" sz="2400" spc="-5" dirty="0">
                <a:latin typeface="Cambria"/>
                <a:cs typeface="Cambria"/>
              </a:rPr>
              <a:t>the fiber itself </a:t>
            </a:r>
            <a:r>
              <a:rPr lang="en-US" sz="2400" dirty="0">
                <a:latin typeface="Cambria"/>
                <a:cs typeface="Cambria"/>
              </a:rPr>
              <a:t>or </a:t>
            </a:r>
            <a:r>
              <a:rPr lang="en-US" sz="2400" spc="-25" dirty="0">
                <a:latin typeface="Cambria"/>
                <a:cs typeface="Cambria"/>
              </a:rPr>
              <a:t>by </a:t>
            </a:r>
            <a:r>
              <a:rPr lang="en-US" sz="2400" spc="-5" dirty="0">
                <a:latin typeface="Cambria"/>
                <a:cs typeface="Cambria"/>
              </a:rPr>
              <a:t>impurities </a:t>
            </a:r>
            <a:r>
              <a:rPr lang="en-US" sz="2400" dirty="0">
                <a:latin typeface="Cambria"/>
                <a:cs typeface="Cambria"/>
              </a:rPr>
              <a:t>in </a:t>
            </a:r>
            <a:r>
              <a:rPr lang="en-US" sz="2400" spc="-10" dirty="0">
                <a:latin typeface="Cambria"/>
                <a:cs typeface="Cambria"/>
              </a:rPr>
              <a:t>the </a:t>
            </a:r>
            <a:r>
              <a:rPr lang="en-US" sz="2400" spc="-45" dirty="0">
                <a:latin typeface="Cambria"/>
                <a:cs typeface="Cambria"/>
              </a:rPr>
              <a:t>fiber, </a:t>
            </a:r>
            <a:r>
              <a:rPr lang="en-US" sz="2400" spc="-5" dirty="0">
                <a:latin typeface="Cambria"/>
                <a:cs typeface="Cambria"/>
              </a:rPr>
              <a:t>such  </a:t>
            </a:r>
            <a:r>
              <a:rPr lang="en-US" sz="2400" dirty="0">
                <a:latin typeface="Cambria"/>
                <a:cs typeface="Cambria"/>
              </a:rPr>
              <a:t>as </a:t>
            </a:r>
            <a:r>
              <a:rPr lang="en-US" sz="2400" spc="-15" dirty="0">
                <a:latin typeface="Cambria"/>
                <a:cs typeface="Cambria"/>
              </a:rPr>
              <a:t>water </a:t>
            </a:r>
            <a:r>
              <a:rPr lang="en-US" sz="2400" dirty="0">
                <a:latin typeface="Cambria"/>
                <a:cs typeface="Cambria"/>
              </a:rPr>
              <a:t>and</a:t>
            </a:r>
            <a:r>
              <a:rPr lang="en-US" sz="2400" spc="5" dirty="0">
                <a:latin typeface="Cambria"/>
                <a:cs typeface="Cambria"/>
              </a:rPr>
              <a:t> </a:t>
            </a:r>
            <a:r>
              <a:rPr lang="en-US" sz="2400" spc="-5" dirty="0">
                <a:latin typeface="Cambria"/>
                <a:cs typeface="Cambria"/>
              </a:rPr>
              <a:t>metals.</a:t>
            </a:r>
            <a:endParaRPr lang="en-US" sz="2400" dirty="0">
              <a:latin typeface="Cambria"/>
              <a:cs typeface="Cambria"/>
            </a:endParaRPr>
          </a:p>
          <a:p>
            <a:pPr marL="12700" algn="just">
              <a:lnSpc>
                <a:spcPct val="100000"/>
              </a:lnSpc>
              <a:spcBef>
                <a:spcPts val="1440"/>
              </a:spcBef>
            </a:pPr>
            <a:r>
              <a:rPr lang="en-US" sz="2400" b="1" spc="-5" dirty="0">
                <a:latin typeface="Cambria"/>
                <a:cs typeface="Cambria"/>
              </a:rPr>
              <a:t>Scattering</a:t>
            </a:r>
            <a:r>
              <a:rPr lang="en-US" sz="2400" b="1" dirty="0">
                <a:latin typeface="Cambria"/>
                <a:cs typeface="Cambria"/>
              </a:rPr>
              <a:t> Loss:</a:t>
            </a:r>
            <a:endParaRPr lang="en-US" sz="2400" dirty="0">
              <a:latin typeface="Cambria"/>
              <a:cs typeface="Cambria"/>
            </a:endParaRPr>
          </a:p>
          <a:p>
            <a:pPr marL="287020" marR="5080" indent="-274955" algn="just">
              <a:lnSpc>
                <a:spcPct val="130000"/>
              </a:lnSpc>
              <a:spcBef>
                <a:spcPts val="580"/>
              </a:spcBef>
              <a:buClr>
                <a:srgbClr val="0AD0D9"/>
              </a:buClr>
              <a:buSzPct val="93750"/>
              <a:buFont typeface="Wingdings"/>
              <a:buChar char=""/>
              <a:tabLst>
                <a:tab pos="287655" algn="l"/>
                <a:tab pos="1580515" algn="l"/>
                <a:tab pos="2280920" algn="l"/>
                <a:tab pos="3968115" algn="l"/>
                <a:tab pos="5063490" algn="l"/>
                <a:tab pos="5571490" algn="l"/>
                <a:tab pos="6185535" algn="l"/>
                <a:tab pos="7804784" algn="l"/>
              </a:tabLst>
            </a:pPr>
            <a:r>
              <a:rPr lang="en-US" sz="2400" spc="-5" dirty="0">
                <a:latin typeface="Cambria"/>
                <a:cs typeface="Cambria"/>
              </a:rPr>
              <a:t>Int</a:t>
            </a:r>
            <a:r>
              <a:rPr lang="en-US" sz="2400" spc="-15" dirty="0">
                <a:latin typeface="Cambria"/>
                <a:cs typeface="Cambria"/>
              </a:rPr>
              <a:t>r</a:t>
            </a:r>
            <a:r>
              <a:rPr lang="en-US" sz="2400" dirty="0">
                <a:latin typeface="Cambria"/>
                <a:cs typeface="Cambria"/>
              </a:rPr>
              <a:t>i</a:t>
            </a:r>
            <a:r>
              <a:rPr lang="en-US" sz="2400" spc="5" dirty="0">
                <a:latin typeface="Cambria"/>
                <a:cs typeface="Cambria"/>
              </a:rPr>
              <a:t>n</a:t>
            </a:r>
            <a:r>
              <a:rPr lang="en-US" sz="2400" spc="-15" dirty="0">
                <a:latin typeface="Cambria"/>
                <a:cs typeface="Cambria"/>
              </a:rPr>
              <a:t>s</a:t>
            </a:r>
            <a:r>
              <a:rPr lang="en-US" sz="2400" dirty="0">
                <a:latin typeface="Cambria"/>
                <a:cs typeface="Cambria"/>
              </a:rPr>
              <a:t>ic	</a:t>
            </a:r>
            <a:r>
              <a:rPr lang="en-US" sz="2400" spc="-5" dirty="0">
                <a:latin typeface="Cambria"/>
                <a:cs typeface="Cambria"/>
              </a:rPr>
              <a:t>los</a:t>
            </a:r>
            <a:r>
              <a:rPr lang="en-US" sz="2400" dirty="0">
                <a:latin typeface="Cambria"/>
                <a:cs typeface="Cambria"/>
              </a:rPr>
              <a:t>s	</a:t>
            </a:r>
            <a:r>
              <a:rPr lang="en-US" sz="2400" spc="-5" dirty="0">
                <a:latin typeface="Cambria"/>
                <a:cs typeface="Cambria"/>
              </a:rPr>
              <a:t>mec</a:t>
            </a:r>
            <a:r>
              <a:rPr lang="en-US" sz="2400" spc="-10" dirty="0">
                <a:latin typeface="Cambria"/>
                <a:cs typeface="Cambria"/>
              </a:rPr>
              <a:t>h</a:t>
            </a:r>
            <a:r>
              <a:rPr lang="en-US" sz="2400" spc="-5" dirty="0">
                <a:latin typeface="Cambria"/>
                <a:cs typeface="Cambria"/>
              </a:rPr>
              <a:t>a</a:t>
            </a:r>
            <a:r>
              <a:rPr lang="en-US" sz="2400" spc="15" dirty="0">
                <a:latin typeface="Cambria"/>
                <a:cs typeface="Cambria"/>
              </a:rPr>
              <a:t>n</a:t>
            </a:r>
            <a:r>
              <a:rPr lang="en-US" sz="2400" dirty="0">
                <a:latin typeface="Cambria"/>
                <a:cs typeface="Cambria"/>
              </a:rPr>
              <a:t>ism	ca</a:t>
            </a:r>
            <a:r>
              <a:rPr lang="en-US" sz="2400" spc="5" dirty="0">
                <a:latin typeface="Cambria"/>
                <a:cs typeface="Cambria"/>
              </a:rPr>
              <a:t>u</a:t>
            </a:r>
            <a:r>
              <a:rPr lang="en-US" sz="2400" dirty="0">
                <a:latin typeface="Cambria"/>
                <a:cs typeface="Cambria"/>
              </a:rPr>
              <a:t>s</a:t>
            </a:r>
            <a:r>
              <a:rPr lang="en-US" sz="2400" spc="15" dirty="0">
                <a:latin typeface="Cambria"/>
                <a:cs typeface="Cambria"/>
              </a:rPr>
              <a:t>e</a:t>
            </a:r>
            <a:r>
              <a:rPr lang="en-US" sz="2400" dirty="0">
                <a:latin typeface="Cambria"/>
                <a:cs typeface="Cambria"/>
              </a:rPr>
              <a:t>d	</a:t>
            </a:r>
            <a:r>
              <a:rPr lang="en-US" sz="2400" spc="-45" dirty="0">
                <a:latin typeface="Cambria"/>
                <a:cs typeface="Cambria"/>
              </a:rPr>
              <a:t>b</a:t>
            </a:r>
            <a:r>
              <a:rPr lang="en-US" sz="2400" dirty="0">
                <a:latin typeface="Cambria"/>
                <a:cs typeface="Cambria"/>
              </a:rPr>
              <a:t>y	</a:t>
            </a:r>
            <a:r>
              <a:rPr lang="en-US" sz="2400" spc="-5" dirty="0">
                <a:latin typeface="Cambria"/>
                <a:cs typeface="Cambria"/>
              </a:rPr>
              <a:t>th</a:t>
            </a:r>
            <a:r>
              <a:rPr lang="en-US" sz="2400" dirty="0">
                <a:latin typeface="Cambria"/>
                <a:cs typeface="Cambria"/>
              </a:rPr>
              <a:t>e	i</a:t>
            </a:r>
            <a:r>
              <a:rPr lang="en-US" sz="2400" spc="5" dirty="0">
                <a:latin typeface="Cambria"/>
                <a:cs typeface="Cambria"/>
              </a:rPr>
              <a:t>n</a:t>
            </a:r>
            <a:r>
              <a:rPr lang="en-US" sz="2400" spc="-25" dirty="0">
                <a:latin typeface="Cambria"/>
                <a:cs typeface="Cambria"/>
              </a:rPr>
              <a:t>t</a:t>
            </a:r>
            <a:r>
              <a:rPr lang="en-US" sz="2400" spc="-10" dirty="0">
                <a:latin typeface="Cambria"/>
                <a:cs typeface="Cambria"/>
              </a:rPr>
              <a:t>e</a:t>
            </a:r>
            <a:r>
              <a:rPr lang="en-US" sz="2400" spc="-45" dirty="0">
                <a:latin typeface="Cambria"/>
                <a:cs typeface="Cambria"/>
              </a:rPr>
              <a:t>r</a:t>
            </a:r>
            <a:r>
              <a:rPr lang="en-US" sz="2400" spc="-5" dirty="0">
                <a:latin typeface="Cambria"/>
                <a:cs typeface="Cambria"/>
              </a:rPr>
              <a:t>ac</a:t>
            </a:r>
            <a:r>
              <a:rPr lang="en-US" sz="2400" dirty="0">
                <a:latin typeface="Cambria"/>
                <a:cs typeface="Cambria"/>
              </a:rPr>
              <a:t>ti</a:t>
            </a:r>
            <a:r>
              <a:rPr lang="en-US" sz="2400" spc="-10" dirty="0">
                <a:latin typeface="Cambria"/>
                <a:cs typeface="Cambria"/>
              </a:rPr>
              <a:t>o</a:t>
            </a:r>
            <a:r>
              <a:rPr lang="en-US" sz="2400" dirty="0">
                <a:latin typeface="Cambria"/>
                <a:cs typeface="Cambria"/>
              </a:rPr>
              <a:t>n	</a:t>
            </a:r>
            <a:r>
              <a:rPr lang="en-US" sz="2400" spc="-5" dirty="0">
                <a:latin typeface="Cambria"/>
                <a:cs typeface="Cambria"/>
              </a:rPr>
              <a:t>of  </a:t>
            </a:r>
            <a:r>
              <a:rPr lang="en-US" sz="2400" spc="-10" dirty="0">
                <a:latin typeface="Cambria"/>
                <a:cs typeface="Cambria"/>
              </a:rPr>
              <a:t>photons </a:t>
            </a:r>
            <a:r>
              <a:rPr lang="en-US" sz="2400" spc="-5" dirty="0">
                <a:latin typeface="Cambria"/>
                <a:cs typeface="Cambria"/>
              </a:rPr>
              <a:t>with the glass</a:t>
            </a:r>
            <a:r>
              <a:rPr lang="en-US" sz="2400" spc="25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itself.</a:t>
            </a:r>
          </a:p>
          <a:p>
            <a:pPr marL="12700" algn="just">
              <a:lnSpc>
                <a:spcPct val="100000"/>
              </a:lnSpc>
              <a:spcBef>
                <a:spcPts val="1440"/>
              </a:spcBef>
            </a:pPr>
            <a:r>
              <a:rPr lang="en-US" sz="2400" b="1" spc="-5" dirty="0">
                <a:latin typeface="Cambria"/>
                <a:cs typeface="Cambria"/>
              </a:rPr>
              <a:t>Bending </a:t>
            </a:r>
            <a:r>
              <a:rPr lang="en-US" sz="2400" b="1" dirty="0">
                <a:latin typeface="Cambria"/>
                <a:cs typeface="Cambria"/>
              </a:rPr>
              <a:t>loss:</a:t>
            </a:r>
            <a:endParaRPr lang="en-US" sz="2400" dirty="0">
              <a:latin typeface="Cambria"/>
              <a:cs typeface="Cambria"/>
            </a:endParaRPr>
          </a:p>
          <a:p>
            <a:pPr marL="287020" indent="-274955" algn="just">
              <a:lnSpc>
                <a:spcPct val="100000"/>
              </a:lnSpc>
              <a:spcBef>
                <a:spcPts val="1440"/>
              </a:spcBef>
              <a:buClr>
                <a:srgbClr val="0AD0D9"/>
              </a:buClr>
              <a:buSzPct val="93750"/>
              <a:buFont typeface="Wingdings"/>
              <a:buChar char=""/>
              <a:tabLst>
                <a:tab pos="287655" algn="l"/>
              </a:tabLst>
            </a:pPr>
            <a:r>
              <a:rPr lang="en-US" sz="2400" spc="-5" dirty="0">
                <a:latin typeface="Cambria"/>
                <a:cs typeface="Cambria"/>
              </a:rPr>
              <a:t>Loss induced </a:t>
            </a:r>
            <a:r>
              <a:rPr lang="en-US" sz="2400" spc="-25" dirty="0">
                <a:latin typeface="Cambria"/>
                <a:cs typeface="Cambria"/>
              </a:rPr>
              <a:t>by </a:t>
            </a:r>
            <a:r>
              <a:rPr lang="en-US" sz="2400" spc="-15" dirty="0">
                <a:latin typeface="Cambria"/>
                <a:cs typeface="Cambria"/>
              </a:rPr>
              <a:t>physical </a:t>
            </a:r>
            <a:r>
              <a:rPr lang="en-US" sz="2400" spc="-5" dirty="0">
                <a:latin typeface="Cambria"/>
                <a:cs typeface="Cambria"/>
              </a:rPr>
              <a:t>stress on the</a:t>
            </a:r>
            <a:r>
              <a:rPr lang="en-US" sz="2400" spc="90" dirty="0">
                <a:latin typeface="Cambria"/>
                <a:cs typeface="Cambria"/>
              </a:rPr>
              <a:t> </a:t>
            </a:r>
            <a:r>
              <a:rPr lang="en-US" sz="2400" spc="-40" dirty="0">
                <a:latin typeface="Cambria"/>
                <a:cs typeface="Cambria"/>
              </a:rPr>
              <a:t>fiber.</a:t>
            </a:r>
            <a:endParaRPr lang="en-US" sz="2400" dirty="0">
              <a:latin typeface="Cambria"/>
              <a:cs typeface="Cambria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964987" y="252920"/>
            <a:ext cx="70817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spc="-15" dirty="0">
                <a:latin typeface="Cambria"/>
                <a:cs typeface="Cambria"/>
              </a:rPr>
              <a:t>Types </a:t>
            </a:r>
            <a:r>
              <a:rPr lang="en-US" sz="4400" b="1" dirty="0">
                <a:latin typeface="Cambria"/>
                <a:cs typeface="Cambria"/>
              </a:rPr>
              <a:t>of</a:t>
            </a:r>
            <a:r>
              <a:rPr lang="en-US" sz="4400" b="1" spc="-65" dirty="0">
                <a:latin typeface="Cambria"/>
                <a:cs typeface="Cambria"/>
              </a:rPr>
              <a:t> </a:t>
            </a:r>
            <a:r>
              <a:rPr lang="en-US" sz="4400" b="1" spc="-10" dirty="0">
                <a:latin typeface="Cambria"/>
                <a:cs typeface="Cambria"/>
              </a:rPr>
              <a:t>Attenuation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416268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009" y="0"/>
            <a:ext cx="8356209" cy="83657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40"/>
              </a:spcBef>
            </a:pPr>
            <a:r>
              <a:rPr lang="en-US" sz="4400" b="1" spc="-5" dirty="0">
                <a:latin typeface="Cambria"/>
                <a:cs typeface="Cambria"/>
              </a:rPr>
              <a:t>Material Absorption</a:t>
            </a:r>
            <a:r>
              <a:rPr lang="en-US" sz="4400" b="1" spc="-45" dirty="0">
                <a:latin typeface="Cambria"/>
                <a:cs typeface="Cambria"/>
              </a:rPr>
              <a:t> </a:t>
            </a:r>
            <a:r>
              <a:rPr lang="en-US" sz="4400" b="1" dirty="0">
                <a:latin typeface="Cambria"/>
                <a:cs typeface="Cambria"/>
              </a:rPr>
              <a:t>Losses</a:t>
            </a:r>
            <a:endParaRPr lang="en-US" sz="4400" dirty="0">
              <a:latin typeface="Cambria"/>
              <a:cs typeface="Cambri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7864" y="987426"/>
            <a:ext cx="9909342" cy="5734050"/>
          </a:xfrm>
        </p:spPr>
        <p:txBody>
          <a:bodyPr>
            <a:normAutofit fontScale="77500" lnSpcReduction="20000"/>
          </a:bodyPr>
          <a:lstStyle/>
          <a:p>
            <a:pPr marL="287020" indent="-274320" algn="just">
              <a:lnSpc>
                <a:spcPct val="100000"/>
              </a:lnSpc>
              <a:spcBef>
                <a:spcPts val="420"/>
              </a:spcBef>
              <a:buClr>
                <a:srgbClr val="0AD0D9"/>
              </a:buClr>
              <a:buSzPct val="95000"/>
              <a:buFont typeface="Wingdings"/>
              <a:buChar char=""/>
              <a:tabLst>
                <a:tab pos="287020" algn="l"/>
              </a:tabLst>
            </a:pP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Material</a:t>
            </a:r>
            <a:r>
              <a:rPr lang="en-US" sz="3100" spc="-7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absorption</a:t>
            </a:r>
            <a:r>
              <a:rPr lang="en-US" sz="3100" spc="-4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is</a:t>
            </a:r>
            <a:r>
              <a:rPr lang="en-US" sz="3100" spc="-9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caused </a:t>
            </a:r>
            <a:r>
              <a:rPr lang="en-US" sz="3100" spc="-1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by</a:t>
            </a:r>
            <a:r>
              <a:rPr lang="en-US" sz="3100" spc="-10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absorption</a:t>
            </a:r>
            <a:r>
              <a:rPr lang="en-US" sz="3100" spc="-10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of</a:t>
            </a:r>
            <a:r>
              <a:rPr lang="en-US" sz="3100" spc="2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photons</a:t>
            </a:r>
            <a:r>
              <a:rPr lang="en-US" sz="3100" spc="-10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within</a:t>
            </a:r>
            <a:r>
              <a:rPr lang="en-US" sz="3100" spc="-7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the</a:t>
            </a:r>
            <a:r>
              <a:rPr lang="en-US" sz="3100" spc="-7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-2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fiber.</a:t>
            </a:r>
            <a:endParaRPr lang="en-US" sz="3100" dirty="0">
              <a:latin typeface="Cambria" panose="02040503050406030204" pitchFamily="18" charset="0"/>
              <a:ea typeface="Cambria" panose="02040503050406030204" pitchFamily="18" charset="0"/>
              <a:cs typeface="Constantia"/>
            </a:endParaRPr>
          </a:p>
          <a:p>
            <a:pPr marL="286385" marR="9525" indent="-274320" algn="just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Wingdings"/>
              <a:buChar char=""/>
              <a:tabLst>
                <a:tab pos="287020" algn="l"/>
              </a:tabLst>
            </a:pPr>
            <a: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– When a </a:t>
            </a:r>
            <a:r>
              <a:rPr lang="en-US" sz="3100" spc="-1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material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is </a:t>
            </a:r>
            <a:r>
              <a:rPr lang="en-US" sz="3100" spc="-1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illuminated, </a:t>
            </a:r>
            <a:r>
              <a:rPr lang="en-US" sz="3100" spc="-1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photons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can </a:t>
            </a:r>
            <a:r>
              <a:rPr lang="en-US" sz="3100" spc="-1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make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the </a:t>
            </a:r>
            <a:r>
              <a:rPr lang="en-US" sz="3100" spc="-1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valence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electrons  of</a:t>
            </a:r>
            <a:r>
              <a:rPr lang="en-US" sz="3100" spc="-1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an</a:t>
            </a:r>
            <a:r>
              <a:rPr lang="en-US" sz="3100" spc="-7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-1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atom</a:t>
            </a:r>
            <a:r>
              <a:rPr lang="en-US" sz="3100" spc="-7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transition</a:t>
            </a:r>
            <a:r>
              <a:rPr lang="en-US" sz="3100" spc="-8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-1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to</a:t>
            </a:r>
            <a:r>
              <a:rPr lang="en-US" sz="3100" spc="-7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higher</a:t>
            </a:r>
            <a:r>
              <a:rPr lang="en-US" sz="3100" spc="-13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energy</a:t>
            </a:r>
            <a:r>
              <a:rPr lang="en-US" sz="3100" spc="-7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-1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levels</a:t>
            </a:r>
            <a:endParaRPr lang="en-US" sz="3100" dirty="0">
              <a:latin typeface="Cambria" panose="02040503050406030204" pitchFamily="18" charset="0"/>
              <a:ea typeface="Cambria" panose="02040503050406030204" pitchFamily="18" charset="0"/>
              <a:cs typeface="Constantia"/>
            </a:endParaRPr>
          </a:p>
          <a:p>
            <a:pPr marL="286385" marR="7620" indent="-274320" algn="just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Wingdings"/>
              <a:buChar char=""/>
              <a:tabLst>
                <a:tab pos="287020" algn="l"/>
              </a:tabLst>
            </a:pPr>
            <a: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– </a:t>
            </a:r>
            <a:r>
              <a:rPr lang="en-US" sz="3100" spc="-1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Photon is </a:t>
            </a:r>
            <a:r>
              <a:rPr lang="en-US" sz="3100" spc="-1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destroyed,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and the radiant </a:t>
            </a:r>
            <a: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energy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is </a:t>
            </a:r>
            <a:r>
              <a:rPr lang="en-US" sz="3100" spc="-1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transformed </a:t>
            </a:r>
            <a:r>
              <a:rPr lang="en-US" sz="3100" spc="-1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into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electric  potential </a:t>
            </a:r>
            <a:r>
              <a:rPr lang="en-US" sz="3100" spc="-3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energy.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This </a:t>
            </a:r>
            <a: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energy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can</a:t>
            </a:r>
            <a:r>
              <a:rPr lang="en-US" sz="3100" spc="-34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then</a:t>
            </a:r>
          </a:p>
          <a:p>
            <a:pPr marL="287020" indent="-274320" algn="just">
              <a:lnSpc>
                <a:spcPct val="100000"/>
              </a:lnSpc>
              <a:spcBef>
                <a:spcPts val="484"/>
              </a:spcBef>
              <a:buClr>
                <a:srgbClr val="0AD0D9"/>
              </a:buClr>
              <a:buSzPct val="95000"/>
              <a:buFont typeface="Wingdings"/>
              <a:buChar char=""/>
              <a:tabLst>
                <a:tab pos="287020" algn="l"/>
              </a:tabLst>
            </a:pPr>
            <a: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Be </a:t>
            </a:r>
            <a:r>
              <a:rPr lang="en-US" sz="3100" spc="-1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re-emitted</a:t>
            </a:r>
            <a:r>
              <a:rPr lang="en-US" sz="3100" spc="-12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(scattering)</a:t>
            </a:r>
            <a:endParaRPr lang="en-US" sz="3100" dirty="0">
              <a:latin typeface="Cambria" panose="02040503050406030204" pitchFamily="18" charset="0"/>
              <a:ea typeface="Cambria" panose="02040503050406030204" pitchFamily="18" charset="0"/>
              <a:cs typeface="Constantia"/>
            </a:endParaRPr>
          </a:p>
          <a:p>
            <a:pPr marL="287020" indent="-274320" algn="just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Wingdings"/>
              <a:buChar char=""/>
              <a:tabLst>
                <a:tab pos="287020" algn="l"/>
              </a:tabLst>
            </a:pP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-1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Frees</a:t>
            </a:r>
            <a:r>
              <a:rPr lang="en-US" sz="3100" spc="-6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the</a:t>
            </a:r>
            <a:r>
              <a:rPr lang="en-US" sz="3100" spc="-10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electron</a:t>
            </a:r>
            <a:r>
              <a:rPr lang="en-US" sz="3100" spc="-6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(photoelectric</a:t>
            </a:r>
            <a:r>
              <a:rPr lang="en-US" sz="3100" spc="-14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effects)</a:t>
            </a:r>
            <a:r>
              <a:rPr lang="en-US" sz="3100" spc="-1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(not</a:t>
            </a:r>
            <a:r>
              <a:rPr lang="en-US" sz="3100" spc="-8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in</a:t>
            </a:r>
            <a:r>
              <a:rPr lang="en-US" sz="3100" spc="-5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fibers)</a:t>
            </a:r>
            <a:endParaRPr lang="en-US" sz="3100" dirty="0">
              <a:latin typeface="Cambria" panose="02040503050406030204" pitchFamily="18" charset="0"/>
              <a:ea typeface="Cambria" panose="02040503050406030204" pitchFamily="18" charset="0"/>
              <a:cs typeface="Constantia"/>
            </a:endParaRPr>
          </a:p>
          <a:p>
            <a:pPr marL="287020" indent="-274320" algn="just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Wingdings"/>
              <a:buChar char=""/>
              <a:tabLst>
                <a:tab pos="287020" algn="l"/>
              </a:tabLst>
            </a:pP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Dissipated</a:t>
            </a:r>
            <a:r>
              <a:rPr lang="en-US" sz="3100" spc="-3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-1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to</a:t>
            </a:r>
            <a:r>
              <a:rPr lang="en-US" sz="3100" spc="-10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the</a:t>
            </a:r>
            <a:r>
              <a:rPr lang="en-US" sz="3100" spc="-7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rest</a:t>
            </a:r>
            <a:r>
              <a:rPr lang="en-US" sz="3100" spc="-114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of</a:t>
            </a:r>
            <a:r>
              <a:rPr lang="en-US" sz="3100" spc="1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the</a:t>
            </a:r>
            <a:r>
              <a:rPr lang="en-US" sz="3100" spc="-5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material</a:t>
            </a:r>
            <a:r>
              <a:rPr lang="en-US" sz="3100" spc="-1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(transformed</a:t>
            </a:r>
            <a:r>
              <a:rPr lang="en-US" sz="3100" spc="-4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-1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into</a:t>
            </a:r>
            <a:r>
              <a:rPr lang="en-US" sz="3100" spc="-7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heat)</a:t>
            </a:r>
          </a:p>
          <a:p>
            <a:pPr marL="287020" indent="-274320" algn="just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Wingdings"/>
              <a:buChar char=""/>
              <a:tabLst>
                <a:tab pos="287020" algn="l"/>
              </a:tabLst>
            </a:pPr>
            <a: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In</a:t>
            </a:r>
            <a:r>
              <a:rPr lang="en-US" sz="3100" spc="-3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-1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an</a:t>
            </a:r>
            <a:r>
              <a:rPr lang="en-US" sz="3100" spc="-4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optical</a:t>
            </a:r>
            <a:r>
              <a:rPr lang="en-US" sz="3100" spc="-1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fiber</a:t>
            </a:r>
            <a:r>
              <a:rPr lang="en-US" sz="3100" spc="-7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-1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Material</a:t>
            </a:r>
            <a:r>
              <a:rPr lang="en-US" sz="3100" spc="-2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Absorption</a:t>
            </a:r>
            <a:r>
              <a:rPr lang="en-US" sz="3100" spc="-2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-1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is</a:t>
            </a:r>
            <a:r>
              <a:rPr lang="en-US" sz="3100" spc="-5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the</a:t>
            </a:r>
            <a:r>
              <a:rPr lang="en-US" sz="3100" spc="-5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optical</a:t>
            </a:r>
            <a:r>
              <a:rPr lang="en-US" sz="3100" spc="-1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-2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power</a:t>
            </a:r>
            <a:r>
              <a:rPr lang="en-US" sz="3100" spc="-8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that</a:t>
            </a:r>
            <a:r>
              <a:rPr lang="en-US" sz="3100" spc="-4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-1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is</a:t>
            </a:r>
            <a:r>
              <a:rPr lang="en-US" sz="3100" spc="-4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-1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effectively</a:t>
            </a:r>
            <a:endParaRPr lang="en-US" sz="3100" dirty="0">
              <a:latin typeface="Cambria" panose="02040503050406030204" pitchFamily="18" charset="0"/>
              <a:ea typeface="Cambria" panose="02040503050406030204" pitchFamily="18" charset="0"/>
              <a:cs typeface="Constantia"/>
            </a:endParaRPr>
          </a:p>
          <a:p>
            <a:pPr marL="286385" algn="just">
              <a:lnSpc>
                <a:spcPct val="100000"/>
              </a:lnSpc>
            </a:pPr>
            <a:r>
              <a:rPr lang="en-US" sz="3100" spc="-2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converted</a:t>
            </a:r>
            <a:r>
              <a:rPr lang="en-US" sz="3100" spc="-6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-1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to</a:t>
            </a:r>
            <a:r>
              <a:rPr lang="en-US" sz="3100" spc="-7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heat</a:t>
            </a:r>
            <a:r>
              <a:rPr lang="en-US" sz="3100" spc="-114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dissipation</a:t>
            </a:r>
            <a:r>
              <a:rPr lang="en-US" sz="3100" spc="-12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within</a:t>
            </a:r>
            <a:r>
              <a:rPr lang="en-US" sz="3100" spc="-8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the</a:t>
            </a:r>
            <a:r>
              <a:rPr lang="en-US" sz="3100" spc="-7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-2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fiber.</a:t>
            </a:r>
            <a:endParaRPr lang="en-US" sz="3100" dirty="0">
              <a:latin typeface="Cambria" panose="02040503050406030204" pitchFamily="18" charset="0"/>
              <a:ea typeface="Cambria" panose="02040503050406030204" pitchFamily="18" charset="0"/>
              <a:cs typeface="Constantia"/>
            </a:endParaRPr>
          </a:p>
          <a:p>
            <a:pPr marL="287020" indent="-274320" algn="just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Wingdings"/>
              <a:buChar char=""/>
              <a:tabLst>
                <a:tab pos="287020" algn="l"/>
              </a:tabLst>
            </a:pPr>
            <a: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-7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Two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types of absorption</a:t>
            </a:r>
            <a:r>
              <a:rPr lang="en-US" sz="3100" spc="-24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exist:</a:t>
            </a:r>
          </a:p>
          <a:p>
            <a:pPr marL="286385" marR="9525" indent="-274320" algn="just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Wingdings"/>
              <a:buChar char=""/>
              <a:tabLst>
                <a:tab pos="287020" algn="l"/>
              </a:tabLst>
            </a:pPr>
            <a: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– </a:t>
            </a:r>
            <a:r>
              <a:rPr lang="en-US" sz="3100" b="1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Intrinsic </a:t>
            </a:r>
            <a:r>
              <a:rPr lang="en-US" sz="3100" b="1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Absorption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, caused </a:t>
            </a:r>
            <a:r>
              <a:rPr lang="en-US" sz="3100" spc="-1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by </a:t>
            </a:r>
            <a:r>
              <a:rPr lang="en-US" sz="3100" spc="-1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interaction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with one or </a:t>
            </a:r>
            <a:r>
              <a:rPr lang="en-US" sz="3100" spc="-1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more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of the  components of the</a:t>
            </a:r>
            <a:r>
              <a:rPr lang="en-US" sz="3100" spc="-17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-1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glass.</a:t>
            </a:r>
            <a:endParaRPr lang="en-US" sz="3100" dirty="0">
              <a:latin typeface="Cambria" panose="02040503050406030204" pitchFamily="18" charset="0"/>
              <a:ea typeface="Cambria" panose="02040503050406030204" pitchFamily="18" charset="0"/>
              <a:cs typeface="Constantia"/>
            </a:endParaRPr>
          </a:p>
          <a:p>
            <a:pPr marL="287020" indent="-274320" algn="just">
              <a:lnSpc>
                <a:spcPct val="100000"/>
              </a:lnSpc>
              <a:spcBef>
                <a:spcPts val="495"/>
              </a:spcBef>
              <a:buClr>
                <a:srgbClr val="0AD0D9"/>
              </a:buClr>
              <a:buSzPct val="95000"/>
              <a:buFont typeface="Wingdings"/>
              <a:buChar char=""/>
              <a:tabLst>
                <a:tab pos="287020" algn="l"/>
              </a:tabLst>
            </a:pPr>
            <a: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–</a:t>
            </a:r>
            <a:r>
              <a:rPr lang="en-US" sz="3100" spc="-1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b="1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Extrinsic</a:t>
            </a:r>
            <a:r>
              <a:rPr lang="en-US" sz="3100" b="1" spc="-12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b="1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Absorption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,</a:t>
            </a:r>
            <a:r>
              <a:rPr lang="en-US" sz="3100" spc="-8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caused </a:t>
            </a:r>
            <a:r>
              <a:rPr lang="en-US" sz="3100" spc="-1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by</a:t>
            </a:r>
            <a:r>
              <a:rPr lang="en-US" sz="3100" spc="-5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impurities</a:t>
            </a:r>
            <a:r>
              <a:rPr lang="en-US" sz="3100" spc="-11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within</a:t>
            </a:r>
            <a:r>
              <a:rPr lang="en-US" sz="3100" spc="-6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the</a:t>
            </a:r>
            <a:r>
              <a:rPr lang="en-US" sz="3100" spc="-114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glass.</a:t>
            </a:r>
            <a:endParaRPr lang="en-US" sz="3100" dirty="0">
              <a:latin typeface="Cambria" panose="02040503050406030204" pitchFamily="18" charset="0"/>
              <a:ea typeface="Cambria" panose="02040503050406030204" pitchFamily="18" charset="0"/>
              <a:cs typeface="Constantia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211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1858" y="1083212"/>
            <a:ext cx="9777047" cy="5430130"/>
          </a:xfrm>
        </p:spPr>
        <p:txBody>
          <a:bodyPr>
            <a:normAutofit fontScale="92500" lnSpcReduction="20000"/>
          </a:bodyPr>
          <a:lstStyle/>
          <a:p>
            <a:pPr marL="286385" marR="5715" indent="-274320" algn="just">
              <a:lnSpc>
                <a:spcPct val="150000"/>
              </a:lnSpc>
              <a:spcBef>
                <a:spcPts val="45"/>
              </a:spcBef>
              <a:buClr>
                <a:srgbClr val="0AD0D9"/>
              </a:buClr>
              <a:buSzPct val="95000"/>
              <a:buFont typeface="Wingdings 2"/>
              <a:buChar char=""/>
              <a:tabLst>
                <a:tab pos="287020" algn="l"/>
              </a:tabLst>
            </a:pPr>
            <a:r>
              <a:rPr lang="en-US" sz="2600" b="1" spc="-5" dirty="0">
                <a:latin typeface="Cambria"/>
                <a:cs typeface="Cambria"/>
              </a:rPr>
              <a:t>Intrinsic Absorption </a:t>
            </a:r>
            <a:r>
              <a:rPr lang="en-US" sz="2600" spc="-5" dirty="0">
                <a:latin typeface="Cambria"/>
                <a:cs typeface="Cambria"/>
              </a:rPr>
              <a:t>is caused </a:t>
            </a:r>
            <a:r>
              <a:rPr lang="en-US" sz="2600" spc="-15" dirty="0">
                <a:latin typeface="Cambria"/>
                <a:cs typeface="Cambria"/>
              </a:rPr>
              <a:t>by </a:t>
            </a:r>
            <a:r>
              <a:rPr lang="en-US" sz="2600" spc="-5" dirty="0">
                <a:latin typeface="Cambria"/>
                <a:cs typeface="Cambria"/>
              </a:rPr>
              <a:t>basic fiber material </a:t>
            </a:r>
            <a:r>
              <a:rPr lang="en-US" sz="2600" spc="-10" dirty="0">
                <a:latin typeface="Cambria"/>
                <a:cs typeface="Cambria"/>
              </a:rPr>
              <a:t>properties. </a:t>
            </a:r>
            <a:r>
              <a:rPr lang="en-US" sz="2600" spc="-5" dirty="0">
                <a:latin typeface="Cambria"/>
                <a:cs typeface="Cambria"/>
              </a:rPr>
              <a:t>If </a:t>
            </a:r>
            <a:r>
              <a:rPr lang="en-US" sz="2600" dirty="0">
                <a:latin typeface="Cambria"/>
                <a:cs typeface="Cambria"/>
              </a:rPr>
              <a:t>an  </a:t>
            </a:r>
            <a:r>
              <a:rPr lang="en-US" sz="2600" spc="-5" dirty="0">
                <a:latin typeface="Cambria"/>
                <a:cs typeface="Cambria"/>
              </a:rPr>
              <a:t>optical fiber </a:t>
            </a:r>
            <a:r>
              <a:rPr lang="en-US" sz="2600" spc="-10" dirty="0">
                <a:latin typeface="Cambria"/>
                <a:cs typeface="Cambria"/>
              </a:rPr>
              <a:t>is absolutely pure, </a:t>
            </a:r>
            <a:r>
              <a:rPr lang="en-US" sz="2600" spc="-5" dirty="0">
                <a:latin typeface="Cambria"/>
                <a:cs typeface="Cambria"/>
              </a:rPr>
              <a:t>with no imperfections </a:t>
            </a:r>
            <a:r>
              <a:rPr lang="en-US" sz="2600" dirty="0">
                <a:latin typeface="Cambria"/>
                <a:cs typeface="Cambria"/>
              </a:rPr>
              <a:t>or </a:t>
            </a:r>
            <a:r>
              <a:rPr lang="en-US" sz="2600" spc="-10" dirty="0">
                <a:latin typeface="Cambria"/>
                <a:cs typeface="Cambria"/>
              </a:rPr>
              <a:t>impurities, </a:t>
            </a:r>
            <a:r>
              <a:rPr lang="en-US" sz="2600" spc="-5" dirty="0">
                <a:latin typeface="Cambria"/>
                <a:cs typeface="Cambria"/>
              </a:rPr>
              <a:t>ten </a:t>
            </a:r>
            <a:r>
              <a:rPr lang="en-US" sz="2600" spc="-10" dirty="0">
                <a:latin typeface="Cambria"/>
                <a:cs typeface="Cambria"/>
              </a:rPr>
              <a:t>all  </a:t>
            </a:r>
            <a:r>
              <a:rPr lang="en-US" sz="2600" spc="-5" dirty="0">
                <a:latin typeface="Cambria"/>
                <a:cs typeface="Cambria"/>
              </a:rPr>
              <a:t>absorption </a:t>
            </a:r>
            <a:r>
              <a:rPr lang="en-US" sz="2600" spc="-10" dirty="0">
                <a:latin typeface="Cambria"/>
                <a:cs typeface="Cambria"/>
              </a:rPr>
              <a:t>will </a:t>
            </a:r>
            <a:r>
              <a:rPr lang="en-US" sz="2600" spc="-5" dirty="0">
                <a:latin typeface="Cambria"/>
                <a:cs typeface="Cambria"/>
              </a:rPr>
              <a:t>be intrinsic. Intrinsic absorption </a:t>
            </a:r>
            <a:r>
              <a:rPr lang="en-US" sz="2600" spc="-10" dirty="0">
                <a:latin typeface="Cambria"/>
                <a:cs typeface="Cambria"/>
              </a:rPr>
              <a:t>in </a:t>
            </a:r>
            <a:r>
              <a:rPr lang="en-US" sz="2600" dirty="0">
                <a:latin typeface="Cambria"/>
                <a:cs typeface="Cambria"/>
              </a:rPr>
              <a:t>the </a:t>
            </a:r>
            <a:r>
              <a:rPr lang="en-US" sz="2600" spc="-15" dirty="0">
                <a:latin typeface="Cambria"/>
                <a:cs typeface="Cambria"/>
              </a:rPr>
              <a:t>ultraviolet </a:t>
            </a:r>
            <a:r>
              <a:rPr lang="en-US" sz="2600" spc="-10" dirty="0">
                <a:latin typeface="Cambria"/>
                <a:cs typeface="Cambria"/>
              </a:rPr>
              <a:t>region </a:t>
            </a:r>
            <a:r>
              <a:rPr lang="en-US" sz="2600" spc="-20" dirty="0">
                <a:latin typeface="Cambria"/>
                <a:cs typeface="Cambria"/>
              </a:rPr>
              <a:t>is  </a:t>
            </a:r>
            <a:r>
              <a:rPr lang="en-US" sz="2600" spc="-5" dirty="0">
                <a:latin typeface="Cambria"/>
                <a:cs typeface="Cambria"/>
              </a:rPr>
              <a:t>caused </a:t>
            </a:r>
            <a:r>
              <a:rPr lang="en-US" sz="2600" spc="-15" dirty="0">
                <a:latin typeface="Cambria"/>
                <a:cs typeface="Cambria"/>
              </a:rPr>
              <a:t>by </a:t>
            </a:r>
            <a:r>
              <a:rPr lang="en-US" sz="2600" spc="-5" dirty="0">
                <a:latin typeface="Cambria"/>
                <a:cs typeface="Cambria"/>
              </a:rPr>
              <a:t>electronic absorption bands. </a:t>
            </a:r>
            <a:r>
              <a:rPr lang="en-US" sz="2600" b="1" spc="-5" dirty="0">
                <a:latin typeface="Cambria"/>
                <a:cs typeface="Cambria"/>
              </a:rPr>
              <a:t>Intrinsic </a:t>
            </a:r>
            <a:r>
              <a:rPr lang="en-US" sz="2600" b="1" spc="-10" dirty="0">
                <a:latin typeface="Cambria"/>
                <a:cs typeface="Cambria"/>
              </a:rPr>
              <a:t>Absorption </a:t>
            </a:r>
            <a:r>
              <a:rPr lang="en-US" sz="2600" dirty="0">
                <a:latin typeface="Cambria"/>
                <a:cs typeface="Cambria"/>
              </a:rPr>
              <a:t>occurs </a:t>
            </a:r>
            <a:r>
              <a:rPr lang="en-US" sz="2600" spc="-10" dirty="0">
                <a:latin typeface="Cambria"/>
                <a:cs typeface="Cambria"/>
              </a:rPr>
              <a:t>when </a:t>
            </a:r>
            <a:r>
              <a:rPr lang="en-US" sz="2600" dirty="0">
                <a:latin typeface="Cambria"/>
                <a:cs typeface="Cambria"/>
              </a:rPr>
              <a:t>a  </a:t>
            </a:r>
            <a:r>
              <a:rPr lang="en-US" sz="2600" spc="-10" dirty="0">
                <a:latin typeface="Cambria"/>
                <a:cs typeface="Cambria"/>
              </a:rPr>
              <a:t>light </a:t>
            </a:r>
            <a:r>
              <a:rPr lang="en-US" sz="2600" spc="-5" dirty="0">
                <a:latin typeface="Cambria"/>
                <a:cs typeface="Cambria"/>
              </a:rPr>
              <a:t>particle (photon) </a:t>
            </a:r>
            <a:r>
              <a:rPr lang="en-US" sz="2600" spc="-15" dirty="0">
                <a:latin typeface="Cambria"/>
                <a:cs typeface="Cambria"/>
              </a:rPr>
              <a:t>interacts </a:t>
            </a:r>
            <a:r>
              <a:rPr lang="en-US" sz="2600" spc="-5" dirty="0">
                <a:latin typeface="Cambria"/>
                <a:cs typeface="Cambria"/>
              </a:rPr>
              <a:t>with </a:t>
            </a:r>
            <a:r>
              <a:rPr lang="en-US" sz="2600" dirty="0">
                <a:latin typeface="Cambria"/>
                <a:cs typeface="Cambria"/>
              </a:rPr>
              <a:t>an </a:t>
            </a:r>
            <a:r>
              <a:rPr lang="en-US" sz="2600" spc="-5" dirty="0">
                <a:latin typeface="Cambria"/>
                <a:cs typeface="Cambria"/>
              </a:rPr>
              <a:t>electron and </a:t>
            </a:r>
            <a:r>
              <a:rPr lang="en-US" sz="2600" spc="-15" dirty="0">
                <a:latin typeface="Cambria"/>
                <a:cs typeface="Cambria"/>
              </a:rPr>
              <a:t>excites </a:t>
            </a:r>
            <a:r>
              <a:rPr lang="en-US" sz="2600" spc="-10" dirty="0">
                <a:latin typeface="Cambria"/>
                <a:cs typeface="Cambria"/>
              </a:rPr>
              <a:t>it </a:t>
            </a:r>
            <a:r>
              <a:rPr lang="en-US" sz="2600" spc="-5" dirty="0">
                <a:latin typeface="Cambria"/>
                <a:cs typeface="Cambria"/>
              </a:rPr>
              <a:t>to </a:t>
            </a:r>
            <a:r>
              <a:rPr lang="en-US" sz="2600" dirty="0">
                <a:latin typeface="Cambria"/>
                <a:cs typeface="Cambria"/>
              </a:rPr>
              <a:t>a </a:t>
            </a:r>
            <a:r>
              <a:rPr lang="en-US" sz="2600" spc="-5" dirty="0">
                <a:latin typeface="Cambria"/>
                <a:cs typeface="Cambria"/>
              </a:rPr>
              <a:t>higher  energy</a:t>
            </a:r>
            <a:r>
              <a:rPr lang="en-US" sz="2600" spc="-15" dirty="0">
                <a:latin typeface="Cambria"/>
                <a:cs typeface="Cambria"/>
              </a:rPr>
              <a:t> level.</a:t>
            </a:r>
            <a:endParaRPr lang="en-US" sz="2600" dirty="0">
              <a:latin typeface="Cambria"/>
              <a:cs typeface="Cambria"/>
            </a:endParaRPr>
          </a:p>
          <a:p>
            <a:pPr marL="286385" marR="5080" indent="-274320" algn="just">
              <a:lnSpc>
                <a:spcPct val="1501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Wingdings"/>
              <a:buChar char=""/>
              <a:tabLst>
                <a:tab pos="287020" algn="l"/>
              </a:tabLst>
            </a:pPr>
            <a:r>
              <a:rPr lang="en-US" sz="2600" b="1" spc="-5" dirty="0">
                <a:latin typeface="Cambria"/>
                <a:cs typeface="Cambria"/>
              </a:rPr>
              <a:t>Extrinsic Absorption </a:t>
            </a:r>
            <a:r>
              <a:rPr lang="en-US" sz="2600" spc="-5" dirty="0">
                <a:latin typeface="Cambria"/>
                <a:cs typeface="Cambria"/>
              </a:rPr>
              <a:t>is caused </a:t>
            </a:r>
            <a:r>
              <a:rPr lang="en-US" sz="2600" spc="-15" dirty="0">
                <a:latin typeface="Cambria"/>
                <a:cs typeface="Cambria"/>
              </a:rPr>
              <a:t>by </a:t>
            </a:r>
            <a:r>
              <a:rPr lang="en-US" sz="2600" spc="-5" dirty="0">
                <a:latin typeface="Cambria"/>
                <a:cs typeface="Cambria"/>
              </a:rPr>
              <a:t>impurities </a:t>
            </a:r>
            <a:r>
              <a:rPr lang="en-US" sz="2600" dirty="0">
                <a:latin typeface="Cambria"/>
                <a:cs typeface="Cambria"/>
              </a:rPr>
              <a:t>caused </a:t>
            </a:r>
            <a:r>
              <a:rPr lang="en-US" sz="2600" spc="-15" dirty="0">
                <a:latin typeface="Cambria"/>
                <a:cs typeface="Cambria"/>
              </a:rPr>
              <a:t>by </a:t>
            </a:r>
            <a:r>
              <a:rPr lang="en-US" sz="2600" spc="-5" dirty="0">
                <a:latin typeface="Cambria"/>
                <a:cs typeface="Cambria"/>
              </a:rPr>
              <a:t>impurities  introduced </a:t>
            </a:r>
            <a:r>
              <a:rPr lang="en-US" sz="2600" spc="-10" dirty="0">
                <a:latin typeface="Cambria"/>
                <a:cs typeface="Cambria"/>
              </a:rPr>
              <a:t>into </a:t>
            </a:r>
            <a:r>
              <a:rPr lang="en-US" sz="2600" spc="-5" dirty="0">
                <a:latin typeface="Cambria"/>
                <a:cs typeface="Cambria"/>
              </a:rPr>
              <a:t>the fiber </a:t>
            </a:r>
            <a:r>
              <a:rPr lang="en-US" sz="2600" spc="-10" dirty="0">
                <a:latin typeface="Cambria"/>
                <a:cs typeface="Cambria"/>
              </a:rPr>
              <a:t>material. </a:t>
            </a:r>
            <a:r>
              <a:rPr lang="en-US" sz="2600" spc="-5" dirty="0">
                <a:latin typeface="Cambria"/>
                <a:cs typeface="Cambria"/>
              </a:rPr>
              <a:t>The metal </a:t>
            </a:r>
            <a:r>
              <a:rPr lang="en-US" sz="2600" spc="-10" dirty="0">
                <a:latin typeface="Cambria"/>
                <a:cs typeface="Cambria"/>
              </a:rPr>
              <a:t>impurities </a:t>
            </a:r>
            <a:r>
              <a:rPr lang="en-US" sz="2600" spc="-5" dirty="0">
                <a:latin typeface="Cambria"/>
                <a:cs typeface="Cambria"/>
              </a:rPr>
              <a:t>such </a:t>
            </a:r>
            <a:r>
              <a:rPr lang="en-US" sz="2600" dirty="0">
                <a:latin typeface="Cambria"/>
                <a:cs typeface="Cambria"/>
              </a:rPr>
              <a:t>as </a:t>
            </a:r>
            <a:r>
              <a:rPr lang="en-US" sz="2600" spc="-15" dirty="0">
                <a:latin typeface="Cambria"/>
                <a:cs typeface="Cambria"/>
              </a:rPr>
              <a:t>iron, </a:t>
            </a:r>
            <a:r>
              <a:rPr lang="en-US" sz="2600" spc="-10" dirty="0">
                <a:latin typeface="Cambria"/>
                <a:cs typeface="Cambria"/>
              </a:rPr>
              <a:t>nickel  </a:t>
            </a:r>
            <a:r>
              <a:rPr lang="en-US" sz="2600" dirty="0">
                <a:latin typeface="Cambria"/>
                <a:cs typeface="Cambria"/>
              </a:rPr>
              <a:t>and </a:t>
            </a:r>
            <a:r>
              <a:rPr lang="en-US" sz="2600" spc="-10" dirty="0">
                <a:latin typeface="Cambria"/>
                <a:cs typeface="Cambria"/>
              </a:rPr>
              <a:t>chromium are introduced into </a:t>
            </a:r>
            <a:r>
              <a:rPr lang="en-US" sz="2600" spc="-5" dirty="0">
                <a:latin typeface="Cambria"/>
                <a:cs typeface="Cambria"/>
              </a:rPr>
              <a:t>the fiber during fabrication. </a:t>
            </a:r>
            <a:r>
              <a:rPr lang="en-US" sz="2600" b="1" spc="-10" dirty="0">
                <a:latin typeface="Cambria"/>
                <a:cs typeface="Cambria"/>
              </a:rPr>
              <a:t>Extrinsic  </a:t>
            </a:r>
            <a:r>
              <a:rPr lang="en-US" sz="2600" b="1" spc="-5" dirty="0">
                <a:latin typeface="Cambria"/>
                <a:cs typeface="Cambria"/>
              </a:rPr>
              <a:t>Absorption </a:t>
            </a:r>
            <a:r>
              <a:rPr lang="en-US" sz="2600" spc="-5" dirty="0">
                <a:latin typeface="Cambria"/>
                <a:cs typeface="Cambria"/>
              </a:rPr>
              <a:t>is </a:t>
            </a:r>
            <a:r>
              <a:rPr lang="en-US" sz="2600" dirty="0">
                <a:latin typeface="Cambria"/>
                <a:cs typeface="Cambria"/>
              </a:rPr>
              <a:t>caused </a:t>
            </a:r>
            <a:r>
              <a:rPr lang="en-US" sz="2600" spc="-15" dirty="0">
                <a:latin typeface="Cambria"/>
                <a:cs typeface="Cambria"/>
              </a:rPr>
              <a:t>by </a:t>
            </a:r>
            <a:r>
              <a:rPr lang="en-US" sz="2600" spc="-5" dirty="0">
                <a:latin typeface="Cambria"/>
                <a:cs typeface="Cambria"/>
              </a:rPr>
              <a:t>the </a:t>
            </a:r>
            <a:r>
              <a:rPr lang="en-US" sz="2600" b="1" spc="-5" dirty="0">
                <a:latin typeface="Cambria"/>
                <a:cs typeface="Cambria"/>
              </a:rPr>
              <a:t>electronic </a:t>
            </a:r>
            <a:r>
              <a:rPr lang="en-US" sz="2600" b="1" spc="-10" dirty="0">
                <a:latin typeface="Cambria"/>
                <a:cs typeface="Cambria"/>
              </a:rPr>
              <a:t>transition </a:t>
            </a:r>
            <a:r>
              <a:rPr lang="en-US" sz="2600" spc="-5" dirty="0">
                <a:latin typeface="Cambria"/>
                <a:cs typeface="Cambria"/>
              </a:rPr>
              <a:t>of these metal </a:t>
            </a:r>
            <a:r>
              <a:rPr lang="en-US" sz="2600" spc="-10" dirty="0">
                <a:latin typeface="Cambria"/>
                <a:cs typeface="Cambria"/>
              </a:rPr>
              <a:t>ions </a:t>
            </a:r>
            <a:r>
              <a:rPr lang="en-US" sz="2600" spc="-15" dirty="0">
                <a:latin typeface="Cambria"/>
                <a:cs typeface="Cambria"/>
              </a:rPr>
              <a:t>from  </a:t>
            </a:r>
            <a:r>
              <a:rPr lang="en-US" sz="2600" dirty="0">
                <a:latin typeface="Cambria"/>
                <a:cs typeface="Cambria"/>
              </a:rPr>
              <a:t>one </a:t>
            </a:r>
            <a:r>
              <a:rPr lang="en-US" sz="2600" spc="-5" dirty="0">
                <a:latin typeface="Cambria"/>
                <a:cs typeface="Cambria"/>
              </a:rPr>
              <a:t>energy </a:t>
            </a:r>
            <a:r>
              <a:rPr lang="en-US" sz="2600" spc="-15" dirty="0">
                <a:latin typeface="Cambria"/>
                <a:cs typeface="Cambria"/>
              </a:rPr>
              <a:t>level </a:t>
            </a:r>
            <a:r>
              <a:rPr lang="en-US" sz="2600" spc="-5" dirty="0">
                <a:latin typeface="Cambria"/>
                <a:cs typeface="Cambria"/>
              </a:rPr>
              <a:t>to another energy</a:t>
            </a:r>
            <a:r>
              <a:rPr lang="en-US" sz="2600" spc="-65" dirty="0">
                <a:latin typeface="Cambria"/>
                <a:cs typeface="Cambria"/>
              </a:rPr>
              <a:t> </a:t>
            </a:r>
            <a:r>
              <a:rPr lang="en-US" sz="2600" spc="-15" dirty="0">
                <a:latin typeface="Cambria"/>
                <a:cs typeface="Cambria"/>
              </a:rPr>
              <a:t>level.</a:t>
            </a:r>
            <a:endParaRPr lang="en-US" sz="2600" dirty="0">
              <a:latin typeface="Cambria"/>
              <a:cs typeface="Cambria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9203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062" y="0"/>
            <a:ext cx="8032652" cy="125202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900" b="1" spc="-5" dirty="0">
                <a:latin typeface="Cambria"/>
                <a:cs typeface="Cambria"/>
              </a:rPr>
              <a:t>Fiber Bend</a:t>
            </a:r>
            <a:r>
              <a:rPr lang="en-US" sz="4900" b="1" spc="-30" dirty="0">
                <a:latin typeface="Cambria"/>
                <a:cs typeface="Cambria"/>
              </a:rPr>
              <a:t> </a:t>
            </a:r>
            <a:r>
              <a:rPr lang="en-US" sz="4900" b="1" dirty="0">
                <a:latin typeface="Cambria"/>
                <a:cs typeface="Cambria"/>
              </a:rPr>
              <a:t>Losses</a:t>
            </a:r>
            <a:br>
              <a:rPr lang="en-US" sz="4400" dirty="0">
                <a:latin typeface="Cambria"/>
                <a:cs typeface="Cambria"/>
              </a:rPr>
            </a:b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17784"/>
            <a:ext cx="10086535" cy="3629465"/>
          </a:xfrm>
        </p:spPr>
        <p:txBody>
          <a:bodyPr>
            <a:normAutofit/>
          </a:bodyPr>
          <a:lstStyle/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lang="en-US" sz="2600" spc="-5" dirty="0">
                <a:latin typeface="Cambria"/>
                <a:cs typeface="Cambria"/>
              </a:rPr>
              <a:t>Bending loss is </a:t>
            </a:r>
            <a:r>
              <a:rPr lang="en-US" sz="2600" dirty="0">
                <a:latin typeface="Cambria"/>
                <a:cs typeface="Cambria"/>
              </a:rPr>
              <a:t>classified </a:t>
            </a:r>
            <a:r>
              <a:rPr lang="en-US" sz="2600" spc="-5" dirty="0">
                <a:latin typeface="Cambria"/>
                <a:cs typeface="Cambria"/>
              </a:rPr>
              <a:t>according to the bend </a:t>
            </a:r>
            <a:r>
              <a:rPr lang="en-US" sz="2600" spc="-10" dirty="0">
                <a:latin typeface="Cambria"/>
                <a:cs typeface="Cambria"/>
              </a:rPr>
              <a:t>radius </a:t>
            </a:r>
            <a:r>
              <a:rPr lang="en-US" sz="2600" dirty="0">
                <a:latin typeface="Cambria"/>
                <a:cs typeface="Cambria"/>
              </a:rPr>
              <a:t>of </a:t>
            </a:r>
            <a:r>
              <a:rPr lang="en-US" sz="2600" spc="-10" dirty="0">
                <a:latin typeface="Cambria"/>
                <a:cs typeface="Cambria"/>
              </a:rPr>
              <a:t>curvature</a:t>
            </a:r>
            <a:r>
              <a:rPr lang="en-US" sz="2600" spc="-150" dirty="0">
                <a:latin typeface="Cambria"/>
                <a:cs typeface="Cambria"/>
              </a:rPr>
              <a:t> </a:t>
            </a:r>
            <a:r>
              <a:rPr lang="en-US" sz="2600" dirty="0">
                <a:latin typeface="Cambria"/>
                <a:cs typeface="Cambria"/>
              </a:rPr>
              <a:t>:</a:t>
            </a:r>
          </a:p>
          <a:p>
            <a:pPr marL="927100" algn="just">
              <a:lnSpc>
                <a:spcPct val="100000"/>
              </a:lnSpc>
              <a:spcBef>
                <a:spcPts val="1685"/>
              </a:spcBef>
              <a:tabLst>
                <a:tab pos="1841500" algn="l"/>
                <a:tab pos="4585335" algn="l"/>
                <a:tab pos="5499735" algn="l"/>
              </a:tabLst>
            </a:pPr>
            <a:r>
              <a:rPr lang="en-US" sz="2600" b="1" dirty="0">
                <a:latin typeface="Cambria"/>
                <a:cs typeface="Cambria"/>
              </a:rPr>
              <a:t>1.	</a:t>
            </a:r>
            <a:r>
              <a:rPr lang="en-US" sz="2600" b="1" spc="-5" dirty="0" err="1">
                <a:latin typeface="Cambria"/>
                <a:cs typeface="Cambria"/>
              </a:rPr>
              <a:t>Microbend</a:t>
            </a:r>
            <a:r>
              <a:rPr lang="en-US" sz="2600" b="1" spc="-20" dirty="0">
                <a:latin typeface="Cambria"/>
                <a:cs typeface="Cambria"/>
              </a:rPr>
              <a:t> </a:t>
            </a:r>
            <a:r>
              <a:rPr lang="en-US" sz="2600" b="1" dirty="0">
                <a:latin typeface="Cambria"/>
                <a:cs typeface="Cambria"/>
              </a:rPr>
              <a:t>Loss	2.	</a:t>
            </a:r>
            <a:r>
              <a:rPr lang="en-US" sz="2600" b="1" spc="-5" dirty="0" err="1">
                <a:latin typeface="Cambria"/>
                <a:cs typeface="Cambria"/>
              </a:rPr>
              <a:t>Macrobend</a:t>
            </a:r>
            <a:r>
              <a:rPr lang="en-US" sz="2600" b="1" spc="-5" dirty="0">
                <a:latin typeface="Cambria"/>
                <a:cs typeface="Cambria"/>
              </a:rPr>
              <a:t> </a:t>
            </a:r>
            <a:r>
              <a:rPr lang="en-US" sz="2600" b="1" dirty="0">
                <a:latin typeface="Cambria"/>
                <a:cs typeface="Cambria"/>
              </a:rPr>
              <a:t>Loss</a:t>
            </a:r>
            <a:endParaRPr lang="en-US" sz="2600" dirty="0">
              <a:latin typeface="Cambria"/>
              <a:cs typeface="Cambria"/>
            </a:endParaRPr>
          </a:p>
          <a:p>
            <a:pPr marL="286385" marR="5080" indent="-274320" algn="just">
              <a:lnSpc>
                <a:spcPct val="15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Wingdings"/>
              <a:buChar char=""/>
              <a:tabLst>
                <a:tab pos="287020" algn="l"/>
              </a:tabLst>
            </a:pPr>
            <a:r>
              <a:rPr lang="en-US" sz="2600" b="1" spc="-5" dirty="0" err="1">
                <a:latin typeface="Cambria"/>
                <a:cs typeface="Cambria"/>
              </a:rPr>
              <a:t>Microbend</a:t>
            </a:r>
            <a:r>
              <a:rPr lang="en-US" sz="2600" b="1" spc="-5" dirty="0">
                <a:latin typeface="Cambria"/>
                <a:cs typeface="Cambria"/>
              </a:rPr>
              <a:t> </a:t>
            </a:r>
            <a:r>
              <a:rPr lang="en-US" sz="2600" b="1" spc="-10" dirty="0">
                <a:latin typeface="Cambria"/>
                <a:cs typeface="Cambria"/>
              </a:rPr>
              <a:t>Loss </a:t>
            </a:r>
            <a:r>
              <a:rPr lang="en-US" sz="2600" spc="-10" dirty="0">
                <a:latin typeface="Cambria"/>
                <a:cs typeface="Cambria"/>
              </a:rPr>
              <a:t>are </a:t>
            </a:r>
            <a:r>
              <a:rPr lang="en-US" sz="2600" spc="-5" dirty="0">
                <a:latin typeface="Cambria"/>
                <a:cs typeface="Cambria"/>
              </a:rPr>
              <a:t>caused </a:t>
            </a:r>
            <a:r>
              <a:rPr lang="en-US" sz="2600" spc="-15" dirty="0">
                <a:latin typeface="Cambria"/>
                <a:cs typeface="Cambria"/>
              </a:rPr>
              <a:t>by </a:t>
            </a:r>
            <a:r>
              <a:rPr lang="en-US" sz="2600" spc="-5" dirty="0">
                <a:latin typeface="Cambria"/>
                <a:cs typeface="Cambria"/>
              </a:rPr>
              <a:t>small discontinuities or </a:t>
            </a:r>
            <a:r>
              <a:rPr lang="en-US" sz="2600" spc="-10" dirty="0">
                <a:latin typeface="Cambria"/>
                <a:cs typeface="Cambria"/>
              </a:rPr>
              <a:t>imperfections in </a:t>
            </a:r>
            <a:r>
              <a:rPr lang="en-US" sz="2600" spc="-5" dirty="0">
                <a:latin typeface="Cambria"/>
                <a:cs typeface="Cambria"/>
              </a:rPr>
              <a:t>the  </a:t>
            </a:r>
            <a:r>
              <a:rPr lang="en-US" sz="2600" spc="-35" dirty="0">
                <a:latin typeface="Cambria"/>
                <a:cs typeface="Cambria"/>
              </a:rPr>
              <a:t>fiber. </a:t>
            </a:r>
            <a:r>
              <a:rPr lang="en-US" sz="2600" spc="-15" dirty="0">
                <a:latin typeface="Cambria"/>
                <a:cs typeface="Cambria"/>
              </a:rPr>
              <a:t>Uneven </a:t>
            </a:r>
            <a:r>
              <a:rPr lang="en-US" sz="2600" dirty="0">
                <a:latin typeface="Cambria"/>
                <a:cs typeface="Cambria"/>
              </a:rPr>
              <a:t>coating </a:t>
            </a:r>
            <a:r>
              <a:rPr lang="en-US" sz="2600" spc="-5" dirty="0">
                <a:latin typeface="Cambria"/>
                <a:cs typeface="Cambria"/>
              </a:rPr>
              <a:t>applications </a:t>
            </a:r>
            <a:r>
              <a:rPr lang="en-US" sz="2600" dirty="0">
                <a:latin typeface="Cambria"/>
                <a:cs typeface="Cambria"/>
              </a:rPr>
              <a:t>and </a:t>
            </a:r>
            <a:r>
              <a:rPr lang="en-US" sz="2600" spc="-10" dirty="0">
                <a:latin typeface="Cambria"/>
                <a:cs typeface="Cambria"/>
              </a:rPr>
              <a:t>improper cabling procedure increases  micro </a:t>
            </a:r>
            <a:r>
              <a:rPr lang="en-US" sz="2600" spc="-5" dirty="0">
                <a:latin typeface="Cambria"/>
                <a:cs typeface="Cambria"/>
              </a:rPr>
              <a:t>bend loss. External </a:t>
            </a:r>
            <a:r>
              <a:rPr lang="en-US" sz="2600" spc="-10" dirty="0">
                <a:latin typeface="Cambria"/>
                <a:cs typeface="Cambria"/>
              </a:rPr>
              <a:t>forces are </a:t>
            </a:r>
            <a:r>
              <a:rPr lang="en-US" sz="2600" spc="-5" dirty="0">
                <a:latin typeface="Cambria"/>
                <a:cs typeface="Cambria"/>
              </a:rPr>
              <a:t>also </a:t>
            </a:r>
            <a:r>
              <a:rPr lang="en-US" sz="2600" dirty="0">
                <a:latin typeface="Cambria"/>
                <a:cs typeface="Cambria"/>
              </a:rPr>
              <a:t>a </a:t>
            </a:r>
            <a:r>
              <a:rPr lang="en-US" sz="2600" spc="-5" dirty="0">
                <a:latin typeface="Cambria"/>
                <a:cs typeface="Cambria"/>
              </a:rPr>
              <a:t>source </a:t>
            </a:r>
            <a:r>
              <a:rPr lang="en-US" sz="2600" dirty="0">
                <a:latin typeface="Cambria"/>
                <a:cs typeface="Cambria"/>
              </a:rPr>
              <a:t>of </a:t>
            </a:r>
            <a:r>
              <a:rPr lang="en-US" sz="2600" spc="-10" dirty="0">
                <a:latin typeface="Cambria"/>
                <a:cs typeface="Cambria"/>
              </a:rPr>
              <a:t>micro</a:t>
            </a:r>
            <a:r>
              <a:rPr lang="en-US" sz="2600" spc="-150" dirty="0">
                <a:latin typeface="Cambria"/>
                <a:cs typeface="Cambria"/>
              </a:rPr>
              <a:t> </a:t>
            </a:r>
            <a:r>
              <a:rPr lang="en-US" sz="2600" spc="-5" dirty="0">
                <a:latin typeface="Cambria"/>
                <a:cs typeface="Cambria"/>
              </a:rPr>
              <a:t>bends.</a:t>
            </a:r>
            <a:endParaRPr lang="en-US" dirty="0">
              <a:latin typeface="Cambria"/>
              <a:cs typeface="Cambria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1988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5642" y="1206231"/>
            <a:ext cx="5756876" cy="5515244"/>
          </a:xfrm>
        </p:spPr>
        <p:txBody>
          <a:bodyPr/>
          <a:lstStyle/>
          <a:p>
            <a:pPr marL="469900" indent="-457200">
              <a:lnSpc>
                <a:spcPct val="100000"/>
              </a:lnSpc>
              <a:spcBef>
                <a:spcPts val="1245"/>
              </a:spcBef>
              <a:buAutoNum type="arabicPeriod" startAt="2"/>
            </a:pPr>
            <a:r>
              <a:rPr lang="en-US" sz="2400" b="1" spc="-5" dirty="0" err="1">
                <a:latin typeface="Cambria"/>
                <a:cs typeface="Cambria"/>
              </a:rPr>
              <a:t>Macrobend</a:t>
            </a:r>
            <a:r>
              <a:rPr lang="en-US" sz="2400" b="1" spc="-5" dirty="0">
                <a:latin typeface="Cambria"/>
                <a:cs typeface="Cambria"/>
              </a:rPr>
              <a:t> </a:t>
            </a:r>
            <a:r>
              <a:rPr lang="en-US" sz="2400" b="1" dirty="0">
                <a:latin typeface="Cambria"/>
                <a:cs typeface="Cambria"/>
              </a:rPr>
              <a:t>Loss</a:t>
            </a:r>
          </a:p>
          <a:p>
            <a:pPr marL="469900" indent="-457200">
              <a:lnSpc>
                <a:spcPct val="100000"/>
              </a:lnSpc>
              <a:spcBef>
                <a:spcPts val="1245"/>
              </a:spcBef>
              <a:buAutoNum type="arabicPeriod" startAt="2"/>
            </a:pPr>
            <a:endParaRPr lang="en-US" sz="2400" dirty="0">
              <a:latin typeface="Cambria"/>
              <a:cs typeface="Cambria"/>
            </a:endParaRPr>
          </a:p>
          <a:p>
            <a:pPr marL="286385" marR="5080" indent="-274320" algn="just">
              <a:lnSpc>
                <a:spcPct val="15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Wingdings"/>
              <a:buChar char=""/>
              <a:tabLst>
                <a:tab pos="287020" algn="l"/>
              </a:tabLst>
            </a:pPr>
            <a:r>
              <a:rPr lang="en-US" sz="2400" b="1" spc="-5" dirty="0" err="1">
                <a:latin typeface="Cambria"/>
                <a:cs typeface="Cambria"/>
              </a:rPr>
              <a:t>Macrobend</a:t>
            </a:r>
            <a:r>
              <a:rPr lang="en-US" sz="2400" b="1" spc="-5" dirty="0">
                <a:latin typeface="Cambria"/>
                <a:cs typeface="Cambria"/>
              </a:rPr>
              <a:t> </a:t>
            </a:r>
            <a:r>
              <a:rPr lang="en-US" sz="2400" b="1" spc="-10" dirty="0">
                <a:latin typeface="Cambria"/>
                <a:cs typeface="Cambria"/>
              </a:rPr>
              <a:t>Losses </a:t>
            </a:r>
            <a:r>
              <a:rPr lang="en-US" sz="2400" spc="-15" dirty="0">
                <a:latin typeface="Cambria"/>
                <a:cs typeface="Cambria"/>
              </a:rPr>
              <a:t>are </a:t>
            </a:r>
            <a:r>
              <a:rPr lang="en-US" sz="2400" spc="-10" dirty="0">
                <a:latin typeface="Cambria"/>
                <a:cs typeface="Cambria"/>
              </a:rPr>
              <a:t>observed </a:t>
            </a:r>
            <a:r>
              <a:rPr lang="en-US" sz="2400" spc="-5" dirty="0">
                <a:latin typeface="Cambria"/>
                <a:cs typeface="Cambria"/>
              </a:rPr>
              <a:t>when </a:t>
            </a:r>
            <a:r>
              <a:rPr lang="en-US" sz="2400" dirty="0">
                <a:latin typeface="Cambria"/>
                <a:cs typeface="Cambria"/>
              </a:rPr>
              <a:t>a </a:t>
            </a:r>
            <a:r>
              <a:rPr lang="en-US" sz="2400" spc="-5" dirty="0">
                <a:latin typeface="Cambria"/>
                <a:cs typeface="Cambria"/>
              </a:rPr>
              <a:t>fiber </a:t>
            </a:r>
            <a:r>
              <a:rPr lang="en-US" sz="2400" spc="-10" dirty="0">
                <a:latin typeface="Cambria"/>
                <a:cs typeface="Cambria"/>
              </a:rPr>
              <a:t>bend’s radius </a:t>
            </a:r>
            <a:r>
              <a:rPr lang="en-US" sz="2400" spc="-5" dirty="0">
                <a:latin typeface="Cambria"/>
                <a:cs typeface="Cambria"/>
              </a:rPr>
              <a:t>of </a:t>
            </a:r>
            <a:r>
              <a:rPr lang="en-US" sz="2400" spc="-15" dirty="0">
                <a:latin typeface="Cambria"/>
                <a:cs typeface="Cambria"/>
              </a:rPr>
              <a:t>curvature </a:t>
            </a:r>
            <a:r>
              <a:rPr lang="en-US" sz="2400" spc="-5" dirty="0">
                <a:latin typeface="Cambria"/>
                <a:cs typeface="Cambria"/>
              </a:rPr>
              <a:t>is  </a:t>
            </a:r>
            <a:r>
              <a:rPr lang="en-US" sz="2400" spc="-10" dirty="0">
                <a:latin typeface="Cambria"/>
                <a:cs typeface="Cambria"/>
              </a:rPr>
              <a:t>large compared to </a:t>
            </a:r>
            <a:r>
              <a:rPr lang="en-US" sz="2400" spc="-5" dirty="0">
                <a:latin typeface="Cambria"/>
                <a:cs typeface="Cambria"/>
              </a:rPr>
              <a:t>the fiber </a:t>
            </a:r>
            <a:r>
              <a:rPr lang="en-US" sz="2400" spc="-30" dirty="0">
                <a:latin typeface="Cambria"/>
                <a:cs typeface="Cambria"/>
              </a:rPr>
              <a:t>diameter. </a:t>
            </a:r>
            <a:r>
              <a:rPr lang="en-US" sz="2400" spc="-5" dirty="0">
                <a:latin typeface="Cambria"/>
                <a:cs typeface="Cambria"/>
              </a:rPr>
              <a:t>These bends </a:t>
            </a:r>
            <a:r>
              <a:rPr lang="en-US" sz="2400" spc="-10" dirty="0">
                <a:latin typeface="Cambria"/>
                <a:cs typeface="Cambria"/>
              </a:rPr>
              <a:t>are </a:t>
            </a:r>
            <a:r>
              <a:rPr lang="en-US" sz="2400" dirty="0">
                <a:latin typeface="Cambria"/>
                <a:cs typeface="Cambria"/>
              </a:rPr>
              <a:t>a </a:t>
            </a:r>
            <a:r>
              <a:rPr lang="en-US" sz="2400" spc="-10" dirty="0">
                <a:latin typeface="Cambria"/>
                <a:cs typeface="Cambria"/>
              </a:rPr>
              <a:t>great source </a:t>
            </a:r>
            <a:r>
              <a:rPr lang="en-US" sz="2400" dirty="0">
                <a:latin typeface="Cambria"/>
                <a:cs typeface="Cambria"/>
              </a:rPr>
              <a:t>of </a:t>
            </a:r>
            <a:r>
              <a:rPr lang="en-US" sz="2400" spc="-5" dirty="0">
                <a:latin typeface="Cambria"/>
                <a:cs typeface="Cambria"/>
              </a:rPr>
              <a:t>loss  </a:t>
            </a:r>
            <a:r>
              <a:rPr lang="en-US" sz="2400" spc="-10" dirty="0">
                <a:latin typeface="Cambria"/>
                <a:cs typeface="Cambria"/>
              </a:rPr>
              <a:t>when </a:t>
            </a:r>
            <a:r>
              <a:rPr lang="en-US" sz="2400" dirty="0">
                <a:latin typeface="Cambria"/>
                <a:cs typeface="Cambria"/>
              </a:rPr>
              <a:t>the </a:t>
            </a:r>
            <a:r>
              <a:rPr lang="en-US" sz="2400" spc="-5" dirty="0">
                <a:latin typeface="Cambria"/>
                <a:cs typeface="Cambria"/>
              </a:rPr>
              <a:t>radius </a:t>
            </a:r>
            <a:r>
              <a:rPr lang="en-US" sz="2400" dirty="0">
                <a:latin typeface="Cambria"/>
                <a:cs typeface="Cambria"/>
              </a:rPr>
              <a:t>of </a:t>
            </a:r>
            <a:r>
              <a:rPr lang="en-US" sz="2400" spc="-10" dirty="0">
                <a:latin typeface="Cambria"/>
                <a:cs typeface="Cambria"/>
              </a:rPr>
              <a:t>curvature </a:t>
            </a:r>
            <a:r>
              <a:rPr lang="en-US" sz="2400" spc="-5" dirty="0">
                <a:latin typeface="Cambria"/>
                <a:cs typeface="Cambria"/>
              </a:rPr>
              <a:t>is less </a:t>
            </a:r>
            <a:r>
              <a:rPr lang="en-US" sz="2400" dirty="0">
                <a:latin typeface="Cambria"/>
                <a:cs typeface="Cambria"/>
              </a:rPr>
              <a:t>than </a:t>
            </a:r>
            <a:r>
              <a:rPr lang="en-US" sz="2400" spc="-15" dirty="0">
                <a:latin typeface="Cambria"/>
                <a:cs typeface="Cambria"/>
              </a:rPr>
              <a:t>several</a:t>
            </a:r>
            <a:r>
              <a:rPr lang="en-US" sz="2400" spc="-105" dirty="0">
                <a:latin typeface="Cambria"/>
                <a:cs typeface="Cambria"/>
              </a:rPr>
              <a:t> </a:t>
            </a:r>
            <a:r>
              <a:rPr lang="en-US" sz="2400" spc="-5" dirty="0">
                <a:latin typeface="Cambria"/>
                <a:cs typeface="Cambria"/>
              </a:rPr>
              <a:t>centimeters.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16</a:t>
            </a:fld>
            <a:endParaRPr lang="en-US"/>
          </a:p>
        </p:txBody>
      </p:sp>
      <p:grpSp>
        <p:nvGrpSpPr>
          <p:cNvPr id="6" name="object 10"/>
          <p:cNvGrpSpPr/>
          <p:nvPr/>
        </p:nvGrpSpPr>
        <p:grpSpPr>
          <a:xfrm>
            <a:off x="6053195" y="0"/>
            <a:ext cx="5836596" cy="3968884"/>
            <a:chOff x="1143000" y="4114800"/>
            <a:chExt cx="7385684" cy="2743200"/>
          </a:xfrm>
        </p:grpSpPr>
        <p:sp>
          <p:nvSpPr>
            <p:cNvPr id="7" name="object 11"/>
            <p:cNvSpPr/>
            <p:nvPr/>
          </p:nvSpPr>
          <p:spPr>
            <a:xfrm>
              <a:off x="1143000" y="4267199"/>
              <a:ext cx="7385304" cy="25907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12"/>
            <p:cNvSpPr/>
            <p:nvPr/>
          </p:nvSpPr>
          <p:spPr>
            <a:xfrm>
              <a:off x="3657600" y="4114800"/>
              <a:ext cx="1133855" cy="4008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13"/>
            <p:cNvSpPr/>
            <p:nvPr/>
          </p:nvSpPr>
          <p:spPr>
            <a:xfrm>
              <a:off x="4876800" y="6515098"/>
              <a:ext cx="1152144" cy="3429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6053195" y="3774850"/>
            <a:ext cx="5562600" cy="265480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6485206" y="5992837"/>
            <a:ext cx="48685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pc="-5" dirty="0">
                <a:latin typeface="Cambria"/>
                <a:cs typeface="Cambria"/>
              </a:rPr>
              <a:t>Figure 2.5 represent micro and </a:t>
            </a:r>
            <a:r>
              <a:rPr lang="en-US" spc="-5" dirty="0" err="1">
                <a:latin typeface="Cambria"/>
                <a:cs typeface="Cambria"/>
              </a:rPr>
              <a:t>macrobend</a:t>
            </a:r>
            <a:r>
              <a:rPr lang="en-US" spc="-5" dirty="0">
                <a:latin typeface="Cambria"/>
                <a:cs typeface="Cambria"/>
              </a:rPr>
              <a:t> in optical fiber [2]</a:t>
            </a:r>
            <a:endParaRPr lang="en-US" dirty="0">
              <a:latin typeface="Cambria"/>
              <a:cs typeface="Cambri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3792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758" y="0"/>
            <a:ext cx="7851842" cy="700391"/>
          </a:xfrm>
        </p:spPr>
        <p:txBody>
          <a:bodyPr>
            <a:noAutofit/>
          </a:bodyPr>
          <a:lstStyle/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lang="en-US" sz="4400" b="1" dirty="0">
                <a:latin typeface="Cambria"/>
                <a:cs typeface="Cambria"/>
              </a:rPr>
              <a:t>Linear </a:t>
            </a:r>
            <a:r>
              <a:rPr lang="en-US" sz="4400" b="1" spc="-5" dirty="0">
                <a:latin typeface="Cambria"/>
                <a:cs typeface="Cambria"/>
              </a:rPr>
              <a:t>Scattering</a:t>
            </a:r>
            <a:r>
              <a:rPr lang="en-US" sz="4400" b="1" spc="-60" dirty="0">
                <a:latin typeface="Cambria"/>
                <a:cs typeface="Cambria"/>
              </a:rPr>
              <a:t> </a:t>
            </a:r>
            <a:r>
              <a:rPr lang="en-US" sz="4400" b="1" dirty="0">
                <a:latin typeface="Cambria"/>
                <a:cs typeface="Cambria"/>
              </a:rPr>
              <a:t>Losses</a:t>
            </a:r>
            <a:endParaRPr lang="en-US" sz="4400" dirty="0">
              <a:latin typeface="Cambria"/>
              <a:cs typeface="Cambri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3355" y="700391"/>
            <a:ext cx="7053300" cy="6021084"/>
          </a:xfrm>
        </p:spPr>
        <p:txBody>
          <a:bodyPr>
            <a:normAutofit fontScale="70000" lnSpcReduction="20000"/>
          </a:bodyPr>
          <a:lstStyle/>
          <a:p>
            <a:pPr marL="286385" marR="5080" indent="-274320" algn="just">
              <a:lnSpc>
                <a:spcPct val="130100"/>
              </a:lnSpc>
              <a:spcBef>
                <a:spcPts val="155"/>
              </a:spcBef>
              <a:buClr>
                <a:srgbClr val="0AD0D9"/>
              </a:buClr>
              <a:buSzPct val="94444"/>
              <a:buFont typeface="Wingdings"/>
              <a:buChar char=""/>
              <a:tabLst>
                <a:tab pos="287020" algn="l"/>
              </a:tabLst>
            </a:pPr>
            <a:r>
              <a:rPr lang="en-US" sz="3400" b="1" spc="-5" dirty="0">
                <a:latin typeface="Cambria"/>
                <a:cs typeface="Cambria"/>
              </a:rPr>
              <a:t>Light scattering </a:t>
            </a:r>
            <a:r>
              <a:rPr lang="en-US" sz="3400" dirty="0">
                <a:latin typeface="Cambria"/>
                <a:cs typeface="Cambria"/>
              </a:rPr>
              <a:t>is a </a:t>
            </a:r>
            <a:r>
              <a:rPr lang="en-US" sz="3400" spc="-10" dirty="0">
                <a:latin typeface="Cambria"/>
                <a:cs typeface="Cambria"/>
              </a:rPr>
              <a:t>form </a:t>
            </a:r>
            <a:r>
              <a:rPr lang="en-US" sz="3400" dirty="0">
                <a:latin typeface="Cambria"/>
                <a:cs typeface="Cambria"/>
              </a:rPr>
              <a:t>of </a:t>
            </a:r>
            <a:r>
              <a:rPr lang="en-US" sz="3400" spc="-5" dirty="0">
                <a:latin typeface="Cambria"/>
                <a:cs typeface="Cambria"/>
              </a:rPr>
              <a:t>scattering in </a:t>
            </a:r>
            <a:r>
              <a:rPr lang="en-US" sz="3400" spc="-10" dirty="0">
                <a:latin typeface="Cambria"/>
                <a:cs typeface="Cambria"/>
              </a:rPr>
              <a:t>which light </a:t>
            </a:r>
            <a:r>
              <a:rPr lang="en-US" sz="3400" spc="-5" dirty="0">
                <a:latin typeface="Cambria"/>
                <a:cs typeface="Cambria"/>
              </a:rPr>
              <a:t>in the </a:t>
            </a:r>
            <a:r>
              <a:rPr lang="en-US" sz="3400" spc="-10" dirty="0">
                <a:latin typeface="Cambria"/>
                <a:cs typeface="Cambria"/>
              </a:rPr>
              <a:t>form </a:t>
            </a:r>
            <a:r>
              <a:rPr lang="en-US" sz="3400" dirty="0">
                <a:latin typeface="Cambria"/>
                <a:cs typeface="Cambria"/>
              </a:rPr>
              <a:t>of </a:t>
            </a:r>
            <a:r>
              <a:rPr lang="en-US" sz="3400" spc="-10" dirty="0">
                <a:latin typeface="Cambria"/>
                <a:cs typeface="Cambria"/>
              </a:rPr>
              <a:t>propagating  </a:t>
            </a:r>
            <a:r>
              <a:rPr lang="en-US" sz="3400" spc="-5" dirty="0">
                <a:latin typeface="Cambria"/>
                <a:cs typeface="Cambria"/>
              </a:rPr>
              <a:t>energy </a:t>
            </a:r>
            <a:r>
              <a:rPr lang="en-US" sz="3400" dirty="0">
                <a:latin typeface="Cambria"/>
                <a:cs typeface="Cambria"/>
              </a:rPr>
              <a:t>is</a:t>
            </a:r>
            <a:r>
              <a:rPr lang="en-US" sz="3400" spc="10" dirty="0">
                <a:latin typeface="Cambria"/>
                <a:cs typeface="Cambria"/>
              </a:rPr>
              <a:t> </a:t>
            </a:r>
            <a:r>
              <a:rPr lang="en-US" sz="3400" spc="-10" dirty="0">
                <a:latin typeface="Cambria"/>
                <a:cs typeface="Cambria"/>
              </a:rPr>
              <a:t>scattered.</a:t>
            </a:r>
            <a:endParaRPr lang="en-US" sz="3400" dirty="0">
              <a:latin typeface="Cambria"/>
              <a:cs typeface="Cambria"/>
            </a:endParaRPr>
          </a:p>
          <a:p>
            <a:pPr marL="286385" marR="7620" indent="-274320" algn="just">
              <a:lnSpc>
                <a:spcPct val="130000"/>
              </a:lnSpc>
              <a:spcBef>
                <a:spcPts val="430"/>
              </a:spcBef>
              <a:buClr>
                <a:srgbClr val="0AD0D9"/>
              </a:buClr>
              <a:buSzPct val="94444"/>
              <a:buFont typeface="Wingdings"/>
              <a:buChar char=""/>
              <a:tabLst>
                <a:tab pos="287020" algn="l"/>
              </a:tabLst>
            </a:pPr>
            <a:r>
              <a:rPr lang="en-US" sz="3400" spc="-5" dirty="0">
                <a:latin typeface="Cambria"/>
                <a:cs typeface="Cambria"/>
              </a:rPr>
              <a:t>Light scattering can </a:t>
            </a:r>
            <a:r>
              <a:rPr lang="en-US" sz="3400" dirty="0">
                <a:latin typeface="Cambria"/>
                <a:cs typeface="Cambria"/>
              </a:rPr>
              <a:t>be </a:t>
            </a:r>
            <a:r>
              <a:rPr lang="en-US" sz="3400" spc="-5" dirty="0">
                <a:latin typeface="Cambria"/>
                <a:cs typeface="Cambria"/>
              </a:rPr>
              <a:t>thought </a:t>
            </a:r>
            <a:r>
              <a:rPr lang="en-US" sz="3400" dirty="0">
                <a:latin typeface="Cambria"/>
                <a:cs typeface="Cambria"/>
              </a:rPr>
              <a:t>of </a:t>
            </a:r>
            <a:r>
              <a:rPr lang="en-US" sz="3400" spc="-5" dirty="0">
                <a:latin typeface="Cambria"/>
                <a:cs typeface="Cambria"/>
              </a:rPr>
              <a:t>as </a:t>
            </a:r>
            <a:r>
              <a:rPr lang="en-US" sz="3400" dirty="0">
                <a:latin typeface="Cambria"/>
                <a:cs typeface="Cambria"/>
              </a:rPr>
              <a:t>the </a:t>
            </a:r>
            <a:r>
              <a:rPr lang="en-US" sz="3400" spc="-5" dirty="0">
                <a:latin typeface="Cambria"/>
                <a:cs typeface="Cambria"/>
              </a:rPr>
              <a:t>deflection </a:t>
            </a:r>
            <a:r>
              <a:rPr lang="en-US" sz="3400" dirty="0">
                <a:latin typeface="Cambria"/>
                <a:cs typeface="Cambria"/>
              </a:rPr>
              <a:t>of a </a:t>
            </a:r>
            <a:r>
              <a:rPr lang="en-US" sz="3400" spc="-30" dirty="0">
                <a:latin typeface="Cambria"/>
                <a:cs typeface="Cambria"/>
              </a:rPr>
              <a:t>ray </a:t>
            </a:r>
            <a:r>
              <a:rPr lang="en-US" sz="3400" spc="-5" dirty="0">
                <a:latin typeface="Cambria"/>
                <a:cs typeface="Cambria"/>
              </a:rPr>
              <a:t>from </a:t>
            </a:r>
            <a:r>
              <a:rPr lang="en-US" sz="3400" dirty="0">
                <a:latin typeface="Cambria"/>
                <a:cs typeface="Cambria"/>
              </a:rPr>
              <a:t>a </a:t>
            </a:r>
            <a:r>
              <a:rPr lang="en-US" sz="3400" spc="-10" dirty="0">
                <a:latin typeface="Cambria"/>
                <a:cs typeface="Cambria"/>
              </a:rPr>
              <a:t>straight </a:t>
            </a:r>
            <a:r>
              <a:rPr lang="en-US" sz="3400" spc="-5" dirty="0">
                <a:latin typeface="Cambria"/>
                <a:cs typeface="Cambria"/>
              </a:rPr>
              <a:t>path, </a:t>
            </a:r>
            <a:r>
              <a:rPr lang="en-US" sz="3400" spc="-10" dirty="0">
                <a:latin typeface="Cambria"/>
                <a:cs typeface="Cambria"/>
              </a:rPr>
              <a:t>for  example </a:t>
            </a:r>
            <a:r>
              <a:rPr lang="en-US" sz="3400" spc="-15" dirty="0">
                <a:latin typeface="Cambria"/>
                <a:cs typeface="Cambria"/>
              </a:rPr>
              <a:t>by </a:t>
            </a:r>
            <a:r>
              <a:rPr lang="en-US" sz="3400" spc="-5" dirty="0">
                <a:latin typeface="Cambria"/>
                <a:cs typeface="Cambria"/>
              </a:rPr>
              <a:t>irregularities </a:t>
            </a:r>
            <a:r>
              <a:rPr lang="en-US" sz="3400" dirty="0">
                <a:latin typeface="Cambria"/>
                <a:cs typeface="Cambria"/>
              </a:rPr>
              <a:t>in </a:t>
            </a:r>
            <a:r>
              <a:rPr lang="en-US" sz="3400" spc="-5" dirty="0">
                <a:latin typeface="Cambria"/>
                <a:cs typeface="Cambria"/>
              </a:rPr>
              <a:t>the </a:t>
            </a:r>
            <a:r>
              <a:rPr lang="en-US" sz="3400" spc="-10" dirty="0">
                <a:latin typeface="Cambria"/>
                <a:cs typeface="Cambria"/>
              </a:rPr>
              <a:t>propagation </a:t>
            </a:r>
            <a:r>
              <a:rPr lang="en-US" sz="3400" spc="-5" dirty="0">
                <a:latin typeface="Cambria"/>
                <a:cs typeface="Cambria"/>
              </a:rPr>
              <a:t>medium, particles, </a:t>
            </a:r>
            <a:r>
              <a:rPr lang="en-US" sz="3400" dirty="0">
                <a:latin typeface="Cambria"/>
                <a:cs typeface="Cambria"/>
              </a:rPr>
              <a:t>or </a:t>
            </a:r>
            <a:r>
              <a:rPr lang="en-US" sz="3400" spc="-5" dirty="0">
                <a:latin typeface="Cambria"/>
                <a:cs typeface="Cambria"/>
              </a:rPr>
              <a:t>in the </a:t>
            </a:r>
            <a:r>
              <a:rPr lang="en-US" sz="3400" spc="-10" dirty="0">
                <a:latin typeface="Cambria"/>
                <a:cs typeface="Cambria"/>
              </a:rPr>
              <a:t>interface  between two</a:t>
            </a:r>
            <a:r>
              <a:rPr lang="en-US" sz="3400" spc="20" dirty="0">
                <a:latin typeface="Cambria"/>
                <a:cs typeface="Cambria"/>
              </a:rPr>
              <a:t> </a:t>
            </a:r>
            <a:r>
              <a:rPr lang="en-US" sz="3400" spc="-5" dirty="0">
                <a:latin typeface="Cambria"/>
                <a:cs typeface="Cambria"/>
              </a:rPr>
              <a:t>media.</a:t>
            </a:r>
            <a:endParaRPr lang="en-US" sz="3400" dirty="0">
              <a:latin typeface="Cambria"/>
              <a:cs typeface="Cambria"/>
            </a:endParaRPr>
          </a:p>
          <a:p>
            <a:pPr marL="286385" marR="6985" indent="-274320" algn="just">
              <a:lnSpc>
                <a:spcPct val="130000"/>
              </a:lnSpc>
              <a:spcBef>
                <a:spcPts val="434"/>
              </a:spcBef>
              <a:buClr>
                <a:srgbClr val="0AD0D9"/>
              </a:buClr>
              <a:buSzPct val="94444"/>
              <a:buFont typeface="Wingdings"/>
              <a:buChar char=""/>
              <a:tabLst>
                <a:tab pos="287020" algn="l"/>
              </a:tabLst>
            </a:pPr>
            <a:r>
              <a:rPr lang="en-US" sz="3400" spc="-5" dirty="0">
                <a:latin typeface="Cambria"/>
                <a:cs typeface="Cambria"/>
              </a:rPr>
              <a:t>Deviations </a:t>
            </a:r>
            <a:r>
              <a:rPr lang="en-US" sz="3400" spc="-10" dirty="0">
                <a:latin typeface="Cambria"/>
                <a:cs typeface="Cambria"/>
              </a:rPr>
              <a:t>from </a:t>
            </a:r>
            <a:r>
              <a:rPr lang="en-US" sz="3400" spc="-5" dirty="0">
                <a:latin typeface="Cambria"/>
                <a:cs typeface="Cambria"/>
              </a:rPr>
              <a:t>the </a:t>
            </a:r>
            <a:r>
              <a:rPr lang="en-US" sz="3400" spc="-10" dirty="0">
                <a:latin typeface="Cambria"/>
                <a:cs typeface="Cambria"/>
              </a:rPr>
              <a:t>law </a:t>
            </a:r>
            <a:r>
              <a:rPr lang="en-US" sz="3400" dirty="0">
                <a:latin typeface="Cambria"/>
                <a:cs typeface="Cambria"/>
              </a:rPr>
              <a:t>of </a:t>
            </a:r>
            <a:r>
              <a:rPr lang="en-US" sz="3400" spc="-10" dirty="0">
                <a:latin typeface="Cambria"/>
                <a:cs typeface="Cambria"/>
              </a:rPr>
              <a:t>reflection </a:t>
            </a:r>
            <a:r>
              <a:rPr lang="en-US" sz="3400" dirty="0">
                <a:latin typeface="Cambria"/>
                <a:cs typeface="Cambria"/>
              </a:rPr>
              <a:t>due </a:t>
            </a:r>
            <a:r>
              <a:rPr lang="en-US" sz="3400" spc="-5" dirty="0">
                <a:latin typeface="Cambria"/>
                <a:cs typeface="Cambria"/>
              </a:rPr>
              <a:t>to irregularities </a:t>
            </a:r>
            <a:r>
              <a:rPr lang="en-US" sz="3400" dirty="0">
                <a:latin typeface="Cambria"/>
                <a:cs typeface="Cambria"/>
              </a:rPr>
              <a:t>on a </a:t>
            </a:r>
            <a:r>
              <a:rPr lang="en-US" sz="3400" spc="-10" dirty="0">
                <a:latin typeface="Cambria"/>
                <a:cs typeface="Cambria"/>
              </a:rPr>
              <a:t>surface </a:t>
            </a:r>
            <a:r>
              <a:rPr lang="en-US" sz="3400" spc="-15" dirty="0">
                <a:latin typeface="Cambria"/>
                <a:cs typeface="Cambria"/>
              </a:rPr>
              <a:t>are </a:t>
            </a:r>
            <a:r>
              <a:rPr lang="en-US" sz="3400" spc="-5" dirty="0">
                <a:latin typeface="Cambria"/>
                <a:cs typeface="Cambria"/>
              </a:rPr>
              <a:t>also  </a:t>
            </a:r>
            <a:r>
              <a:rPr lang="en-US" sz="3400" spc="-10" dirty="0">
                <a:latin typeface="Cambria"/>
                <a:cs typeface="Cambria"/>
              </a:rPr>
              <a:t>usually </a:t>
            </a:r>
            <a:r>
              <a:rPr lang="en-US" sz="3400" spc="-5" dirty="0">
                <a:latin typeface="Cambria"/>
                <a:cs typeface="Cambria"/>
              </a:rPr>
              <a:t>considered to be </a:t>
            </a:r>
            <a:r>
              <a:rPr lang="en-US" sz="3400" dirty="0">
                <a:latin typeface="Cambria"/>
                <a:cs typeface="Cambria"/>
              </a:rPr>
              <a:t>a </a:t>
            </a:r>
            <a:r>
              <a:rPr lang="en-US" sz="3400" spc="-10" dirty="0">
                <a:latin typeface="Cambria"/>
                <a:cs typeface="Cambria"/>
              </a:rPr>
              <a:t>form </a:t>
            </a:r>
            <a:r>
              <a:rPr lang="en-US" sz="3400" dirty="0">
                <a:latin typeface="Cambria"/>
                <a:cs typeface="Cambria"/>
              </a:rPr>
              <a:t>of</a:t>
            </a:r>
            <a:r>
              <a:rPr lang="en-US" sz="3400" spc="40" dirty="0">
                <a:latin typeface="Cambria"/>
                <a:cs typeface="Cambria"/>
              </a:rPr>
              <a:t> </a:t>
            </a:r>
            <a:r>
              <a:rPr lang="en-US" sz="3400" spc="-5" dirty="0">
                <a:latin typeface="Cambria"/>
                <a:cs typeface="Cambria"/>
              </a:rPr>
              <a:t>scattering.</a:t>
            </a:r>
            <a:endParaRPr lang="en-US" sz="3400" dirty="0">
              <a:latin typeface="Cambria"/>
              <a:cs typeface="Cambria"/>
            </a:endParaRPr>
          </a:p>
          <a:p>
            <a:pPr marL="286385" marR="7620" indent="-274320" algn="just">
              <a:lnSpc>
                <a:spcPct val="130100"/>
              </a:lnSpc>
              <a:spcBef>
                <a:spcPts val="430"/>
              </a:spcBef>
              <a:buClr>
                <a:srgbClr val="0AD0D9"/>
              </a:buClr>
              <a:buSzPct val="94444"/>
              <a:buFont typeface="Wingdings"/>
              <a:buChar char=""/>
              <a:tabLst>
                <a:tab pos="287020" algn="l"/>
              </a:tabLst>
            </a:pPr>
            <a:r>
              <a:rPr lang="en-US" sz="3400" spc="-5" dirty="0">
                <a:latin typeface="Cambria"/>
                <a:cs typeface="Cambria"/>
              </a:rPr>
              <a:t>When these irregularities </a:t>
            </a:r>
            <a:r>
              <a:rPr lang="en-US" sz="3400" spc="-15" dirty="0">
                <a:latin typeface="Cambria"/>
                <a:cs typeface="Cambria"/>
              </a:rPr>
              <a:t>are </a:t>
            </a:r>
            <a:r>
              <a:rPr lang="en-US" sz="3400" spc="-10" dirty="0">
                <a:latin typeface="Cambria"/>
                <a:cs typeface="Cambria"/>
              </a:rPr>
              <a:t>considered </a:t>
            </a:r>
            <a:r>
              <a:rPr lang="en-US" sz="3400" spc="-5" dirty="0">
                <a:latin typeface="Cambria"/>
                <a:cs typeface="Cambria"/>
              </a:rPr>
              <a:t>to </a:t>
            </a:r>
            <a:r>
              <a:rPr lang="en-US" sz="3400" spc="-10" dirty="0">
                <a:latin typeface="Cambria"/>
                <a:cs typeface="Cambria"/>
              </a:rPr>
              <a:t>be random </a:t>
            </a:r>
            <a:r>
              <a:rPr lang="en-US" sz="3400" spc="-5" dirty="0">
                <a:latin typeface="Cambria"/>
                <a:cs typeface="Cambria"/>
              </a:rPr>
              <a:t>and dense enough that their  individual </a:t>
            </a:r>
            <a:r>
              <a:rPr lang="en-US" sz="3400" spc="-10" dirty="0">
                <a:latin typeface="Cambria"/>
                <a:cs typeface="Cambria"/>
              </a:rPr>
              <a:t>effects </a:t>
            </a:r>
            <a:r>
              <a:rPr lang="en-US" sz="3400" spc="-20" dirty="0">
                <a:latin typeface="Cambria"/>
                <a:cs typeface="Cambria"/>
              </a:rPr>
              <a:t>average </a:t>
            </a:r>
            <a:r>
              <a:rPr lang="en-US" sz="3400" spc="5" dirty="0">
                <a:latin typeface="Cambria"/>
                <a:cs typeface="Cambria"/>
              </a:rPr>
              <a:t>out, </a:t>
            </a:r>
            <a:r>
              <a:rPr lang="en-US" sz="3400" spc="-5" dirty="0">
                <a:latin typeface="Cambria"/>
                <a:cs typeface="Cambria"/>
              </a:rPr>
              <a:t>this kind </a:t>
            </a:r>
            <a:r>
              <a:rPr lang="en-US" sz="3400" dirty="0">
                <a:latin typeface="Cambria"/>
                <a:cs typeface="Cambria"/>
              </a:rPr>
              <a:t>of </a:t>
            </a:r>
            <a:r>
              <a:rPr lang="en-US" sz="3400" spc="-10" dirty="0">
                <a:latin typeface="Cambria"/>
                <a:cs typeface="Cambria"/>
              </a:rPr>
              <a:t>scattered reflection </a:t>
            </a:r>
            <a:r>
              <a:rPr lang="en-US" sz="3400" dirty="0">
                <a:latin typeface="Cambria"/>
                <a:cs typeface="Cambria"/>
              </a:rPr>
              <a:t>is </a:t>
            </a:r>
            <a:r>
              <a:rPr lang="en-US" sz="3400" spc="-5" dirty="0">
                <a:latin typeface="Cambria"/>
                <a:cs typeface="Cambria"/>
              </a:rPr>
              <a:t>commonly </a:t>
            </a:r>
            <a:r>
              <a:rPr lang="en-US" sz="3400" spc="-15" dirty="0">
                <a:latin typeface="Cambria"/>
                <a:cs typeface="Cambria"/>
              </a:rPr>
              <a:t>referred  </a:t>
            </a:r>
            <a:r>
              <a:rPr lang="en-US" sz="3400" spc="-5" dirty="0">
                <a:latin typeface="Cambria"/>
                <a:cs typeface="Cambria"/>
              </a:rPr>
              <a:t>to as diffuse</a:t>
            </a:r>
            <a:r>
              <a:rPr lang="en-US" sz="3400" spc="30" dirty="0">
                <a:latin typeface="Cambria"/>
                <a:cs typeface="Cambria"/>
              </a:rPr>
              <a:t> </a:t>
            </a:r>
            <a:r>
              <a:rPr lang="en-US" sz="3400" spc="-5" dirty="0">
                <a:latin typeface="Cambria"/>
                <a:cs typeface="Cambria"/>
              </a:rPr>
              <a:t>reflection.</a:t>
            </a:r>
            <a:endParaRPr lang="en-US" sz="3400" dirty="0">
              <a:latin typeface="Cambria"/>
              <a:cs typeface="Cambria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17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45" y="2690222"/>
            <a:ext cx="4486694" cy="2419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758" y="5359791"/>
            <a:ext cx="4094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2.6 Light scattering [10]</a:t>
            </a:r>
          </a:p>
        </p:txBody>
      </p:sp>
    </p:spTree>
    <p:extLst>
      <p:ext uri="{BB962C8B-B14F-4D97-AF65-F5344CB8AC3E}">
        <p14:creationId xmlns:p14="http://schemas.microsoft.com/office/powerpoint/2010/main" val="9396388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9656" y="168812"/>
            <a:ext cx="11113476" cy="860560"/>
          </a:xfrm>
        </p:spPr>
        <p:txBody>
          <a:bodyPr>
            <a:noAutofit/>
          </a:bodyPr>
          <a:lstStyle/>
          <a:p>
            <a:r>
              <a:rPr lang="en-US" sz="4400" b="1" spc="-30" dirty="0">
                <a:latin typeface="Cambria" panose="02040503050406030204" pitchFamily="18" charset="0"/>
                <a:ea typeface="Cambria" panose="02040503050406030204" pitchFamily="18" charset="0"/>
              </a:rPr>
              <a:t>Advantages </a:t>
            </a:r>
            <a:r>
              <a:rPr lang="en-US" sz="4400" b="1" spc="-5" dirty="0">
                <a:latin typeface="Cambria" panose="02040503050406030204" pitchFamily="18" charset="0"/>
                <a:ea typeface="Cambria" panose="02040503050406030204" pitchFamily="18" charset="0"/>
              </a:rPr>
              <a:t>of </a:t>
            </a:r>
            <a:r>
              <a:rPr lang="en-US" sz="4400" b="1" spc="-10" dirty="0">
                <a:latin typeface="Cambria" panose="02040503050406030204" pitchFamily="18" charset="0"/>
                <a:ea typeface="Cambria" panose="02040503050406030204" pitchFamily="18" charset="0"/>
              </a:rPr>
              <a:t>optical fiber</a:t>
            </a:r>
            <a:r>
              <a:rPr lang="en-US" sz="4400" b="1" spc="135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4400" b="1" spc="-10" dirty="0">
                <a:latin typeface="Cambria" panose="02040503050406030204" pitchFamily="18" charset="0"/>
                <a:ea typeface="Cambria" panose="02040503050406030204" pitchFamily="18" charset="0"/>
              </a:rPr>
              <a:t>communication</a:t>
            </a:r>
            <a:endParaRPr lang="en-US" sz="4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9656" y="1225685"/>
            <a:ext cx="9439421" cy="4935964"/>
          </a:xfrm>
        </p:spPr>
        <p:txBody>
          <a:bodyPr>
            <a:normAutofit/>
          </a:bodyPr>
          <a:lstStyle/>
          <a:p>
            <a:pPr marL="287020" indent="-274955">
              <a:lnSpc>
                <a:spcPct val="100000"/>
              </a:lnSpc>
              <a:spcBef>
                <a:spcPts val="385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7655" algn="l"/>
              </a:tabLst>
            </a:pPr>
            <a:r>
              <a:rPr lang="en-US" sz="2400" spc="-5" dirty="0">
                <a:latin typeface="Cambria"/>
                <a:cs typeface="Cambria"/>
              </a:rPr>
              <a:t>Increased </a:t>
            </a:r>
            <a:r>
              <a:rPr lang="en-US" sz="2400" spc="-10" dirty="0">
                <a:latin typeface="Cambria"/>
                <a:cs typeface="Cambria"/>
              </a:rPr>
              <a:t>Bandwidth </a:t>
            </a:r>
            <a:r>
              <a:rPr lang="en-US" sz="2400" dirty="0">
                <a:latin typeface="Cambria"/>
                <a:cs typeface="Cambria"/>
              </a:rPr>
              <a:t>and Channel</a:t>
            </a:r>
            <a:r>
              <a:rPr lang="en-US" sz="2400" spc="-35" dirty="0">
                <a:latin typeface="Cambria"/>
                <a:cs typeface="Cambria"/>
              </a:rPr>
              <a:t> </a:t>
            </a:r>
            <a:r>
              <a:rPr lang="en-US" sz="2400" spc="-5" dirty="0">
                <a:latin typeface="Cambria"/>
                <a:cs typeface="Cambria"/>
              </a:rPr>
              <a:t>Capacity</a:t>
            </a:r>
            <a:endParaRPr lang="en-US" sz="2400" dirty="0">
              <a:latin typeface="Cambria"/>
              <a:cs typeface="Cambria"/>
            </a:endParaRPr>
          </a:p>
          <a:p>
            <a:pPr marL="287020" indent="-274955">
              <a:lnSpc>
                <a:spcPct val="100000"/>
              </a:lnSpc>
              <a:spcBef>
                <a:spcPts val="29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7655" algn="l"/>
              </a:tabLst>
            </a:pPr>
            <a:r>
              <a:rPr lang="en-US" sz="2400" spc="-10" dirty="0">
                <a:latin typeface="Cambria"/>
                <a:cs typeface="Cambria"/>
              </a:rPr>
              <a:t>Low </a:t>
            </a:r>
            <a:r>
              <a:rPr lang="en-US" sz="2400" spc="-5" dirty="0">
                <a:latin typeface="Cambria"/>
                <a:cs typeface="Cambria"/>
              </a:rPr>
              <a:t>Signal</a:t>
            </a:r>
            <a:r>
              <a:rPr lang="en-US" sz="2400" spc="-10" dirty="0">
                <a:latin typeface="Cambria"/>
                <a:cs typeface="Cambria"/>
              </a:rPr>
              <a:t> Attenuation</a:t>
            </a:r>
            <a:endParaRPr lang="en-US" sz="2400" dirty="0">
              <a:latin typeface="Cambria"/>
              <a:cs typeface="Cambria"/>
            </a:endParaRPr>
          </a:p>
          <a:p>
            <a:pPr marL="287020" indent="-274955">
              <a:lnSpc>
                <a:spcPct val="100000"/>
              </a:lnSpc>
              <a:spcBef>
                <a:spcPts val="285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7655" algn="l"/>
              </a:tabLst>
            </a:pPr>
            <a:r>
              <a:rPr lang="en-US" sz="2400" spc="-5" dirty="0">
                <a:latin typeface="Cambria"/>
                <a:cs typeface="Cambria"/>
              </a:rPr>
              <a:t>Immune </a:t>
            </a:r>
            <a:r>
              <a:rPr lang="en-US" sz="2400" spc="-15" dirty="0">
                <a:latin typeface="Cambria"/>
                <a:cs typeface="Cambria"/>
              </a:rPr>
              <a:t>to</a:t>
            </a:r>
            <a:r>
              <a:rPr lang="en-US" sz="2400" dirty="0">
                <a:latin typeface="Cambria"/>
                <a:cs typeface="Cambria"/>
              </a:rPr>
              <a:t> Noise</a:t>
            </a:r>
          </a:p>
          <a:p>
            <a:pPr marL="287020" indent="-274955">
              <a:lnSpc>
                <a:spcPct val="100000"/>
              </a:lnSpc>
              <a:spcBef>
                <a:spcPts val="29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7655" algn="l"/>
              </a:tabLst>
            </a:pPr>
            <a:r>
              <a:rPr lang="en-US" sz="2400" spc="-5" dirty="0">
                <a:latin typeface="Cambria"/>
                <a:cs typeface="Cambria"/>
              </a:rPr>
              <a:t>No</a:t>
            </a:r>
            <a:r>
              <a:rPr lang="en-US" sz="2400" spc="-10" dirty="0">
                <a:latin typeface="Cambria"/>
                <a:cs typeface="Cambria"/>
              </a:rPr>
              <a:t> </a:t>
            </a:r>
            <a:r>
              <a:rPr lang="en-US" sz="2400" spc="-5" dirty="0">
                <a:latin typeface="Cambria"/>
                <a:cs typeface="Cambria"/>
              </a:rPr>
              <a:t>Crosstalk</a:t>
            </a:r>
            <a:endParaRPr lang="en-US" sz="2400" dirty="0">
              <a:latin typeface="Cambria"/>
              <a:cs typeface="Cambria"/>
            </a:endParaRPr>
          </a:p>
          <a:p>
            <a:pPr marL="287020" indent="-274955">
              <a:lnSpc>
                <a:spcPct val="100000"/>
              </a:lnSpc>
              <a:spcBef>
                <a:spcPts val="29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7655" algn="l"/>
              </a:tabLst>
            </a:pPr>
            <a:r>
              <a:rPr lang="en-US" sz="2400" spc="-15" dirty="0">
                <a:latin typeface="Cambria"/>
                <a:cs typeface="Cambria"/>
              </a:rPr>
              <a:t>Lower </a:t>
            </a:r>
            <a:r>
              <a:rPr lang="en-US" sz="2400" spc="-5" dirty="0">
                <a:latin typeface="Cambria"/>
                <a:cs typeface="Cambria"/>
              </a:rPr>
              <a:t>Bit </a:t>
            </a:r>
            <a:r>
              <a:rPr lang="en-US" sz="2400" spc="-10" dirty="0">
                <a:latin typeface="Cambria"/>
                <a:cs typeface="Cambria"/>
              </a:rPr>
              <a:t>Error</a:t>
            </a:r>
            <a:r>
              <a:rPr lang="en-US" sz="2400" spc="-15" dirty="0">
                <a:latin typeface="Cambria"/>
                <a:cs typeface="Cambria"/>
              </a:rPr>
              <a:t> Rates</a:t>
            </a:r>
            <a:endParaRPr lang="en-US" sz="2400" dirty="0">
              <a:latin typeface="Cambria"/>
              <a:cs typeface="Cambria"/>
            </a:endParaRPr>
          </a:p>
          <a:p>
            <a:pPr marL="287020" indent="-274955">
              <a:lnSpc>
                <a:spcPct val="100000"/>
              </a:lnSpc>
              <a:spcBef>
                <a:spcPts val="29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7655" algn="l"/>
              </a:tabLst>
            </a:pPr>
            <a:r>
              <a:rPr lang="en-US" sz="2400" spc="-5" dirty="0">
                <a:latin typeface="Cambria"/>
                <a:cs typeface="Cambria"/>
              </a:rPr>
              <a:t>Signal</a:t>
            </a:r>
            <a:r>
              <a:rPr lang="en-US" sz="2400" spc="-30" dirty="0">
                <a:latin typeface="Cambria"/>
                <a:cs typeface="Cambria"/>
              </a:rPr>
              <a:t> </a:t>
            </a:r>
            <a:r>
              <a:rPr lang="en-US" sz="2400" spc="-5" dirty="0">
                <a:latin typeface="Cambria"/>
                <a:cs typeface="Cambria"/>
              </a:rPr>
              <a:t>Security</a:t>
            </a:r>
            <a:endParaRPr lang="en-US" sz="2400" dirty="0">
              <a:latin typeface="Cambria"/>
              <a:cs typeface="Cambria"/>
            </a:endParaRPr>
          </a:p>
          <a:p>
            <a:pPr marL="287020" indent="-274955">
              <a:lnSpc>
                <a:spcPct val="100000"/>
              </a:lnSpc>
              <a:spcBef>
                <a:spcPts val="285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7655" algn="l"/>
              </a:tabLst>
            </a:pPr>
            <a:r>
              <a:rPr lang="en-US" sz="2400" spc="-5" dirty="0">
                <a:latin typeface="Cambria"/>
                <a:cs typeface="Cambria"/>
              </a:rPr>
              <a:t>Electrical</a:t>
            </a:r>
            <a:r>
              <a:rPr lang="en-US" sz="2400" spc="-15" dirty="0">
                <a:latin typeface="Cambria"/>
                <a:cs typeface="Cambria"/>
              </a:rPr>
              <a:t> </a:t>
            </a:r>
            <a:r>
              <a:rPr lang="en-US" sz="2400" spc="-5" dirty="0">
                <a:latin typeface="Cambria"/>
                <a:cs typeface="Cambria"/>
              </a:rPr>
              <a:t>Isolation</a:t>
            </a:r>
            <a:endParaRPr lang="en-US" sz="2400" dirty="0">
              <a:latin typeface="Cambria"/>
              <a:cs typeface="Cambria"/>
            </a:endParaRPr>
          </a:p>
          <a:p>
            <a:pPr marL="287020" indent="-274955">
              <a:lnSpc>
                <a:spcPct val="100000"/>
              </a:lnSpc>
              <a:spcBef>
                <a:spcPts val="29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7655" algn="l"/>
              </a:tabLst>
            </a:pPr>
            <a:r>
              <a:rPr lang="en-US" sz="2400" spc="-10" dirty="0">
                <a:latin typeface="Cambria"/>
                <a:cs typeface="Cambria"/>
              </a:rPr>
              <a:t>Reduced </a:t>
            </a:r>
            <a:r>
              <a:rPr lang="en-US" sz="2400" spc="-5" dirty="0">
                <a:latin typeface="Cambria"/>
                <a:cs typeface="Cambria"/>
              </a:rPr>
              <a:t>Size </a:t>
            </a:r>
            <a:r>
              <a:rPr lang="en-US" sz="2400" dirty="0">
                <a:latin typeface="Cambria"/>
                <a:cs typeface="Cambria"/>
              </a:rPr>
              <a:t>and </a:t>
            </a:r>
            <a:r>
              <a:rPr lang="en-US" sz="2400" spc="-30" dirty="0">
                <a:latin typeface="Cambria"/>
                <a:cs typeface="Cambria"/>
              </a:rPr>
              <a:t>Weight </a:t>
            </a:r>
            <a:r>
              <a:rPr lang="en-US" sz="2400" spc="-5" dirty="0">
                <a:latin typeface="Cambria"/>
                <a:cs typeface="Cambria"/>
              </a:rPr>
              <a:t>of</a:t>
            </a:r>
            <a:r>
              <a:rPr lang="en-US" sz="2400" spc="35" dirty="0">
                <a:latin typeface="Cambria"/>
                <a:cs typeface="Cambria"/>
              </a:rPr>
              <a:t> </a:t>
            </a:r>
            <a:r>
              <a:rPr lang="en-US" sz="2400" spc="-5" dirty="0">
                <a:latin typeface="Cambria"/>
                <a:cs typeface="Cambria"/>
              </a:rPr>
              <a:t>Cables</a:t>
            </a:r>
            <a:endParaRPr lang="en-US" sz="2400" dirty="0">
              <a:latin typeface="Cambria"/>
              <a:cs typeface="Cambria"/>
            </a:endParaRPr>
          </a:p>
          <a:p>
            <a:pPr marL="287020" indent="-274955">
              <a:lnSpc>
                <a:spcPct val="100000"/>
              </a:lnSpc>
              <a:spcBef>
                <a:spcPts val="29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7655" algn="l"/>
              </a:tabLst>
            </a:pPr>
            <a:r>
              <a:rPr lang="en-US" sz="2400" spc="-5" dirty="0">
                <a:latin typeface="Cambria"/>
                <a:cs typeface="Cambria"/>
              </a:rPr>
              <a:t>Radiation </a:t>
            </a:r>
            <a:r>
              <a:rPr lang="en-US" sz="2400" spc="-10" dirty="0">
                <a:latin typeface="Cambria"/>
                <a:cs typeface="Cambria"/>
              </a:rPr>
              <a:t>Resistant </a:t>
            </a:r>
            <a:r>
              <a:rPr lang="en-US" sz="2400" dirty="0">
                <a:latin typeface="Cambria"/>
                <a:cs typeface="Cambria"/>
              </a:rPr>
              <a:t>and </a:t>
            </a:r>
            <a:r>
              <a:rPr lang="en-US" sz="2400" spc="-10" dirty="0">
                <a:latin typeface="Cambria"/>
                <a:cs typeface="Cambria"/>
              </a:rPr>
              <a:t>Environment</a:t>
            </a:r>
            <a:r>
              <a:rPr lang="en-US" sz="2400" spc="-30" dirty="0">
                <a:latin typeface="Cambria"/>
                <a:cs typeface="Cambria"/>
              </a:rPr>
              <a:t> </a:t>
            </a:r>
            <a:r>
              <a:rPr lang="en-US" sz="2400" spc="-15" dirty="0">
                <a:latin typeface="Cambria"/>
                <a:cs typeface="Cambria"/>
              </a:rPr>
              <a:t>Friendly</a:t>
            </a:r>
            <a:endParaRPr lang="en-US" sz="2400" dirty="0">
              <a:latin typeface="Cambria"/>
              <a:cs typeface="Cambria"/>
            </a:endParaRPr>
          </a:p>
          <a:p>
            <a:pPr marL="287020" indent="-274955">
              <a:lnSpc>
                <a:spcPct val="100000"/>
              </a:lnSpc>
              <a:spcBef>
                <a:spcPts val="29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7655" algn="l"/>
              </a:tabLst>
            </a:pPr>
            <a:r>
              <a:rPr lang="en-US" sz="2400" spc="-10" dirty="0">
                <a:latin typeface="Cambria"/>
                <a:cs typeface="Cambria"/>
              </a:rPr>
              <a:t>Resistant </a:t>
            </a:r>
            <a:r>
              <a:rPr lang="en-US" sz="2400" spc="-15" dirty="0">
                <a:latin typeface="Cambria"/>
                <a:cs typeface="Cambria"/>
              </a:rPr>
              <a:t>to </a:t>
            </a:r>
            <a:r>
              <a:rPr lang="en-US" sz="2400" spc="-25" dirty="0">
                <a:latin typeface="Cambria"/>
                <a:cs typeface="Cambria"/>
              </a:rPr>
              <a:t>Temperature </a:t>
            </a:r>
            <a:r>
              <a:rPr lang="en-US" sz="2400" spc="-15" dirty="0">
                <a:latin typeface="Cambria"/>
                <a:cs typeface="Cambria"/>
              </a:rPr>
              <a:t>Variations</a:t>
            </a:r>
            <a:r>
              <a:rPr lang="en-US" sz="2400" spc="-25" dirty="0">
                <a:latin typeface="Cambria"/>
                <a:cs typeface="Cambria"/>
              </a:rPr>
              <a:t> </a:t>
            </a:r>
            <a:r>
              <a:rPr lang="en-US" sz="2400" spc="-5" dirty="0">
                <a:latin typeface="Cambria"/>
                <a:cs typeface="Cambria"/>
              </a:rPr>
              <a:t>etc.</a:t>
            </a:r>
            <a:endParaRPr lang="en-US" sz="2400" dirty="0">
              <a:latin typeface="Cambria"/>
              <a:cs typeface="Cambria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0686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410" y="492125"/>
            <a:ext cx="11063590" cy="800100"/>
          </a:xfrm>
        </p:spPr>
        <p:txBody>
          <a:bodyPr>
            <a:normAutofit fontScale="90000"/>
          </a:bodyPr>
          <a:lstStyle/>
          <a:p>
            <a:r>
              <a:rPr lang="en-US" sz="4400" b="1" spc="-15" dirty="0">
                <a:latin typeface="Cambria" panose="02040503050406030204" pitchFamily="18" charset="0"/>
                <a:ea typeface="Cambria" panose="02040503050406030204" pitchFamily="18" charset="0"/>
              </a:rPr>
              <a:t>Disadvantages </a:t>
            </a:r>
            <a:r>
              <a:rPr lang="en-US" sz="4400" b="1" spc="-5" dirty="0">
                <a:latin typeface="Cambria" panose="02040503050406030204" pitchFamily="18" charset="0"/>
                <a:ea typeface="Cambria" panose="02040503050406030204" pitchFamily="18" charset="0"/>
              </a:rPr>
              <a:t>of optical </a:t>
            </a:r>
            <a:r>
              <a:rPr lang="en-US" sz="4400" b="1" spc="-10" dirty="0">
                <a:latin typeface="Cambria" panose="02040503050406030204" pitchFamily="18" charset="0"/>
                <a:ea typeface="Cambria" panose="02040503050406030204" pitchFamily="18" charset="0"/>
              </a:rPr>
              <a:t>fiber </a:t>
            </a:r>
            <a:r>
              <a:rPr lang="en-US" sz="4400" b="1" spc="-5" dirty="0">
                <a:latin typeface="Cambria" panose="02040503050406030204" pitchFamily="18" charset="0"/>
                <a:ea typeface="Cambria" panose="02040503050406030204" pitchFamily="18" charset="0"/>
              </a:rPr>
              <a:t>communication</a:t>
            </a:r>
            <a:endParaRPr lang="en-US" sz="4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9847" y="1556426"/>
            <a:ext cx="10633953" cy="4799924"/>
          </a:xfrm>
        </p:spPr>
        <p:txBody>
          <a:bodyPr/>
          <a:lstStyle/>
          <a:p>
            <a:pPr marL="287020" indent="-274955">
              <a:lnSpc>
                <a:spcPct val="100000"/>
              </a:lnSpc>
              <a:spcBef>
                <a:spcPts val="770"/>
              </a:spcBef>
              <a:buClr>
                <a:srgbClr val="0AD0D9"/>
              </a:buClr>
              <a:buSzPct val="94642"/>
              <a:buFont typeface="Wingdings 2"/>
              <a:buChar char=""/>
              <a:tabLst>
                <a:tab pos="287655" algn="l"/>
              </a:tabLst>
            </a:pPr>
            <a:r>
              <a:rPr lang="en-US" sz="2400" spc="-5" dirty="0">
                <a:latin typeface="Cambria"/>
                <a:cs typeface="Cambria"/>
              </a:rPr>
              <a:t>Specialist skills</a:t>
            </a:r>
            <a:r>
              <a:rPr lang="en-US" sz="2400" spc="-15" dirty="0">
                <a:latin typeface="Cambria"/>
                <a:cs typeface="Cambria"/>
              </a:rPr>
              <a:t> </a:t>
            </a:r>
            <a:r>
              <a:rPr lang="en-US" sz="2400" spc="-10" dirty="0">
                <a:latin typeface="Cambria"/>
                <a:cs typeface="Cambria"/>
              </a:rPr>
              <a:t>needed</a:t>
            </a:r>
            <a:endParaRPr lang="en-US" sz="2400" dirty="0">
              <a:latin typeface="Cambria"/>
              <a:cs typeface="Cambria"/>
            </a:endParaRPr>
          </a:p>
          <a:p>
            <a:pPr marL="287020" indent="-274955">
              <a:lnSpc>
                <a:spcPct val="100000"/>
              </a:lnSpc>
              <a:spcBef>
                <a:spcPts val="675"/>
              </a:spcBef>
              <a:buClr>
                <a:srgbClr val="0AD0D9"/>
              </a:buClr>
              <a:buSzPct val="94642"/>
              <a:buFont typeface="Wingdings 2"/>
              <a:buChar char=""/>
              <a:tabLst>
                <a:tab pos="287655" algn="l"/>
              </a:tabLst>
            </a:pPr>
            <a:r>
              <a:rPr lang="en-US" sz="2400" spc="-5" dirty="0">
                <a:latin typeface="Cambria"/>
                <a:cs typeface="Cambria"/>
              </a:rPr>
              <a:t>Cost of</a:t>
            </a:r>
            <a:r>
              <a:rPr lang="en-US" sz="2400" spc="-10" dirty="0">
                <a:latin typeface="Cambria"/>
                <a:cs typeface="Cambria"/>
              </a:rPr>
              <a:t> </a:t>
            </a:r>
            <a:r>
              <a:rPr lang="en-US" sz="2400" spc="-5" dirty="0">
                <a:latin typeface="Cambria"/>
                <a:cs typeface="Cambria"/>
              </a:rPr>
              <a:t>installation</a:t>
            </a:r>
            <a:endParaRPr lang="en-US" sz="2400" dirty="0">
              <a:latin typeface="Cambria"/>
              <a:cs typeface="Cambria"/>
            </a:endParaRPr>
          </a:p>
          <a:p>
            <a:pPr marL="287020" marR="5080" indent="-274955">
              <a:lnSpc>
                <a:spcPct val="100000"/>
              </a:lnSpc>
              <a:spcBef>
                <a:spcPts val="670"/>
              </a:spcBef>
              <a:buClr>
                <a:srgbClr val="0AD0D9"/>
              </a:buClr>
              <a:buSzPct val="94642"/>
              <a:buFont typeface="Wingdings 2"/>
              <a:buChar char=""/>
              <a:tabLst>
                <a:tab pos="287655" algn="l"/>
                <a:tab pos="1498600" algn="l"/>
                <a:tab pos="3596004" algn="l"/>
              </a:tabLst>
            </a:pPr>
            <a:r>
              <a:rPr lang="en-US" sz="2400" spc="-5" dirty="0">
                <a:latin typeface="Cambria"/>
                <a:cs typeface="Cambria"/>
              </a:rPr>
              <a:t>Cost</a:t>
            </a:r>
            <a:r>
              <a:rPr lang="en-US" sz="2400" spc="395" dirty="0">
                <a:latin typeface="Cambria"/>
                <a:cs typeface="Cambria"/>
              </a:rPr>
              <a:t> </a:t>
            </a:r>
            <a:r>
              <a:rPr lang="en-US" sz="2400" spc="-5" dirty="0">
                <a:latin typeface="Cambria"/>
                <a:cs typeface="Cambria"/>
              </a:rPr>
              <a:t>of </a:t>
            </a:r>
            <a:r>
              <a:rPr lang="en-US" sz="2400" spc="-10" dirty="0">
                <a:latin typeface="Cambria"/>
                <a:cs typeface="Cambria"/>
              </a:rPr>
              <a:t>transmission </a:t>
            </a:r>
            <a:r>
              <a:rPr lang="en-US" sz="2400" spc="-5" dirty="0">
                <a:latin typeface="Cambria"/>
                <a:cs typeface="Cambria"/>
              </a:rPr>
              <a:t>equipment </a:t>
            </a:r>
            <a:r>
              <a:rPr lang="en-US" sz="2400" spc="-10" dirty="0">
                <a:latin typeface="Cambria"/>
                <a:cs typeface="Cambria"/>
              </a:rPr>
              <a:t>from </a:t>
            </a:r>
            <a:r>
              <a:rPr lang="en-US" sz="2400" spc="-5" dirty="0">
                <a:latin typeface="Cambria"/>
                <a:cs typeface="Cambria"/>
              </a:rPr>
              <a:t>electrical </a:t>
            </a:r>
            <a:r>
              <a:rPr lang="en-US" sz="2400" spc="-30" dirty="0">
                <a:latin typeface="Cambria"/>
                <a:cs typeface="Cambria"/>
              </a:rPr>
              <a:t>to  </a:t>
            </a:r>
            <a:r>
              <a:rPr lang="en-US" sz="2400" spc="-5" dirty="0">
                <a:latin typeface="Cambria"/>
                <a:cs typeface="Cambria"/>
              </a:rPr>
              <a:t>optical signals</a:t>
            </a:r>
            <a:endParaRPr lang="en-US" sz="2400" dirty="0">
              <a:latin typeface="Cambria"/>
              <a:cs typeface="Cambria"/>
            </a:endParaRPr>
          </a:p>
          <a:p>
            <a:pPr marL="287020" indent="-274955">
              <a:lnSpc>
                <a:spcPct val="100000"/>
              </a:lnSpc>
              <a:spcBef>
                <a:spcPts val="675"/>
              </a:spcBef>
              <a:buClr>
                <a:srgbClr val="0AD0D9"/>
              </a:buClr>
              <a:buSzPct val="94642"/>
              <a:buFont typeface="Wingdings 2"/>
              <a:buChar char=""/>
              <a:tabLst>
                <a:tab pos="287655" algn="l"/>
              </a:tabLst>
            </a:pPr>
            <a:r>
              <a:rPr lang="en-US" sz="2400" spc="-5" dirty="0">
                <a:latin typeface="Cambria"/>
                <a:cs typeface="Cambria"/>
              </a:rPr>
              <a:t>Optical </a:t>
            </a:r>
            <a:r>
              <a:rPr lang="en-US" sz="2400" dirty="0">
                <a:latin typeface="Cambria"/>
                <a:cs typeface="Cambria"/>
              </a:rPr>
              <a:t>fibers </a:t>
            </a:r>
            <a:r>
              <a:rPr lang="en-US" sz="2400" spc="-5" dirty="0">
                <a:latin typeface="Cambria"/>
                <a:cs typeface="Cambria"/>
              </a:rPr>
              <a:t>can </a:t>
            </a:r>
            <a:r>
              <a:rPr lang="en-US" sz="2400" spc="-10" dirty="0">
                <a:latin typeface="Cambria"/>
                <a:cs typeface="Cambria"/>
              </a:rPr>
              <a:t>not </a:t>
            </a:r>
            <a:r>
              <a:rPr lang="en-US" sz="2400" spc="-5" dirty="0">
                <a:latin typeface="Cambria"/>
                <a:cs typeface="Cambria"/>
              </a:rPr>
              <a:t>carry electrical</a:t>
            </a:r>
            <a:r>
              <a:rPr lang="en-US" sz="2400" spc="20" dirty="0">
                <a:latin typeface="Cambria"/>
                <a:cs typeface="Cambria"/>
              </a:rPr>
              <a:t> </a:t>
            </a:r>
            <a:r>
              <a:rPr lang="en-US" sz="2400" spc="-15" dirty="0">
                <a:latin typeface="Cambria"/>
                <a:cs typeface="Cambria"/>
              </a:rPr>
              <a:t>power</a:t>
            </a:r>
            <a:endParaRPr lang="en-US" sz="2400" dirty="0">
              <a:latin typeface="Cambria"/>
              <a:cs typeface="Cambria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4376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03" y="-1"/>
            <a:ext cx="7934179" cy="1284051"/>
          </a:xfrm>
        </p:spPr>
        <p:txBody>
          <a:bodyPr>
            <a:noAutofit/>
          </a:bodyPr>
          <a:lstStyle/>
          <a:p>
            <a:r>
              <a:rPr lang="en-US" sz="4400" b="1" spc="-10" dirty="0">
                <a:latin typeface="Cambria" panose="02040503050406030204" pitchFamily="18" charset="0"/>
                <a:ea typeface="Cambria" panose="02040503050406030204" pitchFamily="18" charset="0"/>
              </a:rPr>
              <a:t>Applications </a:t>
            </a:r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</a:rPr>
              <a:t>of </a:t>
            </a:r>
            <a:r>
              <a:rPr lang="en-US" sz="4400" b="1" spc="-5" dirty="0">
                <a:latin typeface="Cambria" panose="02040503050406030204" pitchFamily="18" charset="0"/>
                <a:ea typeface="Cambria" panose="02040503050406030204" pitchFamily="18" charset="0"/>
              </a:rPr>
              <a:t>optical fiber</a:t>
            </a:r>
            <a:r>
              <a:rPr lang="en-US" sz="4400" b="1" spc="-15" dirty="0"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r>
              <a:rPr lang="en-US" sz="4400" b="1" spc="-10" dirty="0">
                <a:latin typeface="Cambria" panose="02040503050406030204" pitchFamily="18" charset="0"/>
                <a:ea typeface="Cambria" panose="02040503050406030204" pitchFamily="18" charset="0"/>
              </a:rPr>
              <a:t>communication</a:t>
            </a:r>
            <a:endParaRPr lang="en-US" sz="4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5098" y="1284051"/>
            <a:ext cx="11634281" cy="5719863"/>
          </a:xfrm>
        </p:spPr>
        <p:txBody>
          <a:bodyPr>
            <a:norm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0AD0D9"/>
              </a:buClr>
              <a:buSzPct val="94444"/>
              <a:buFont typeface="Wingdings"/>
              <a:buChar char=""/>
              <a:tabLst>
                <a:tab pos="287020" algn="l"/>
              </a:tabLst>
            </a:pPr>
            <a:r>
              <a:rPr lang="en-US" sz="2400" spc="-5" dirty="0">
                <a:latin typeface="Cambria"/>
                <a:cs typeface="Cambria"/>
              </a:rPr>
              <a:t>As fibers </a:t>
            </a:r>
            <a:r>
              <a:rPr lang="en-US" sz="2400" spc="-15" dirty="0">
                <a:latin typeface="Cambria"/>
                <a:cs typeface="Cambria"/>
              </a:rPr>
              <a:t>are </a:t>
            </a:r>
            <a:r>
              <a:rPr lang="en-US" sz="2400" spc="-10" dirty="0">
                <a:latin typeface="Cambria"/>
                <a:cs typeface="Cambria"/>
              </a:rPr>
              <a:t>very </a:t>
            </a:r>
            <a:r>
              <a:rPr lang="en-US" sz="2400" spc="-5" dirty="0">
                <a:latin typeface="Cambria"/>
                <a:cs typeface="Cambria"/>
              </a:rPr>
              <a:t>flexible, they </a:t>
            </a:r>
            <a:r>
              <a:rPr lang="en-US" sz="2400" spc="-15" dirty="0">
                <a:latin typeface="Cambria"/>
                <a:cs typeface="Cambria"/>
              </a:rPr>
              <a:t>are </a:t>
            </a:r>
            <a:r>
              <a:rPr lang="en-US" sz="2400" spc="-5" dirty="0">
                <a:latin typeface="Cambria"/>
                <a:cs typeface="Cambria"/>
              </a:rPr>
              <a:t>used </a:t>
            </a:r>
            <a:r>
              <a:rPr lang="en-US" sz="2400" dirty="0">
                <a:latin typeface="Cambria"/>
                <a:cs typeface="Cambria"/>
              </a:rPr>
              <a:t>in </a:t>
            </a:r>
            <a:r>
              <a:rPr lang="en-US" sz="2400" spc="-5" dirty="0">
                <a:latin typeface="Cambria"/>
                <a:cs typeface="Cambria"/>
              </a:rPr>
              <a:t>flexible </a:t>
            </a:r>
            <a:r>
              <a:rPr lang="en-US" sz="2400" dirty="0">
                <a:latin typeface="Cambria"/>
                <a:cs typeface="Cambria"/>
              </a:rPr>
              <a:t>digital</a:t>
            </a:r>
            <a:r>
              <a:rPr lang="en-US" sz="2400" spc="114" dirty="0">
                <a:latin typeface="Cambria"/>
                <a:cs typeface="Cambria"/>
              </a:rPr>
              <a:t> </a:t>
            </a:r>
            <a:r>
              <a:rPr lang="en-US" sz="2400" spc="-10" dirty="0">
                <a:latin typeface="Cambria"/>
                <a:cs typeface="Cambria"/>
              </a:rPr>
              <a:t>cameras.</a:t>
            </a:r>
            <a:endParaRPr lang="en-US"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0AD0D9"/>
              </a:buClr>
              <a:buFont typeface="Wingdings"/>
              <a:buChar char=""/>
            </a:pPr>
            <a:endParaRPr lang="en-US" sz="2400" dirty="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Clr>
                <a:srgbClr val="0AD0D9"/>
              </a:buClr>
              <a:buSzPct val="94444"/>
              <a:buFont typeface="Wingdings"/>
              <a:buChar char=""/>
              <a:tabLst>
                <a:tab pos="287020" algn="l"/>
              </a:tabLst>
            </a:pPr>
            <a:r>
              <a:rPr lang="en-US" sz="2400" spc="-5" dirty="0">
                <a:latin typeface="Cambria"/>
                <a:cs typeface="Cambria"/>
              </a:rPr>
              <a:t>Fibers </a:t>
            </a:r>
            <a:r>
              <a:rPr lang="en-US" sz="2400" spc="-15" dirty="0">
                <a:latin typeface="Cambria"/>
                <a:cs typeface="Cambria"/>
              </a:rPr>
              <a:t>are </a:t>
            </a:r>
            <a:r>
              <a:rPr lang="en-US" sz="2400" dirty="0">
                <a:latin typeface="Cambria"/>
                <a:cs typeface="Cambria"/>
              </a:rPr>
              <a:t>used in </a:t>
            </a:r>
            <a:r>
              <a:rPr lang="en-US" sz="2400" spc="-5" dirty="0">
                <a:latin typeface="Cambria"/>
                <a:cs typeface="Cambria"/>
              </a:rPr>
              <a:t>mechanical imaging i.e. </a:t>
            </a:r>
            <a:r>
              <a:rPr lang="en-US" sz="2400" spc="-15" dirty="0">
                <a:latin typeface="Cambria"/>
                <a:cs typeface="Cambria"/>
              </a:rPr>
              <a:t>for </a:t>
            </a:r>
            <a:r>
              <a:rPr lang="en-US" sz="2400" spc="-5" dirty="0">
                <a:latin typeface="Cambria"/>
                <a:cs typeface="Cambria"/>
              </a:rPr>
              <a:t>inspection </a:t>
            </a:r>
            <a:r>
              <a:rPr lang="en-US" sz="2400" dirty="0">
                <a:latin typeface="Cambria"/>
                <a:cs typeface="Cambria"/>
              </a:rPr>
              <a:t>of </a:t>
            </a:r>
            <a:r>
              <a:rPr lang="en-US" sz="2400" spc="-5" dirty="0">
                <a:latin typeface="Cambria"/>
                <a:cs typeface="Cambria"/>
              </a:rPr>
              <a:t>mechanical welds</a:t>
            </a:r>
            <a:r>
              <a:rPr lang="en-US" sz="2400" spc="-110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in</a:t>
            </a:r>
          </a:p>
          <a:p>
            <a:pPr marL="286385">
              <a:lnSpc>
                <a:spcPct val="100000"/>
              </a:lnSpc>
              <a:spcBef>
                <a:spcPts val="1515"/>
              </a:spcBef>
            </a:pPr>
            <a:r>
              <a:rPr lang="en-US" sz="2400" spc="-5" dirty="0">
                <a:latin typeface="Cambria"/>
                <a:cs typeface="Cambria"/>
              </a:rPr>
              <a:t>pipes and </a:t>
            </a:r>
            <a:r>
              <a:rPr lang="en-US" sz="2400" dirty="0">
                <a:latin typeface="Cambria"/>
                <a:cs typeface="Cambria"/>
              </a:rPr>
              <a:t>engines of </a:t>
            </a:r>
            <a:r>
              <a:rPr lang="en-US" sz="2400" spc="-10" dirty="0">
                <a:latin typeface="Cambria"/>
                <a:cs typeface="Cambria"/>
              </a:rPr>
              <a:t>rockets, </a:t>
            </a:r>
            <a:r>
              <a:rPr lang="en-US" sz="2400" spc="-5" dirty="0">
                <a:latin typeface="Cambria"/>
                <a:cs typeface="Cambria"/>
              </a:rPr>
              <a:t>space shuttles,</a:t>
            </a:r>
            <a:r>
              <a:rPr lang="en-US" sz="2400" spc="15" dirty="0">
                <a:latin typeface="Cambria"/>
                <a:cs typeface="Cambria"/>
              </a:rPr>
              <a:t> </a:t>
            </a:r>
            <a:r>
              <a:rPr lang="en-US" sz="2400" spc="-5" dirty="0">
                <a:latin typeface="Cambria"/>
                <a:cs typeface="Cambria"/>
              </a:rPr>
              <a:t>airplanes.</a:t>
            </a:r>
            <a:endParaRPr lang="en-US"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lang="en-US" sz="2400" dirty="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Clr>
                <a:srgbClr val="0AD0D9"/>
              </a:buClr>
              <a:buSzPct val="94444"/>
              <a:buFont typeface="Wingdings"/>
              <a:buChar char=""/>
              <a:tabLst>
                <a:tab pos="287020" algn="l"/>
              </a:tabLst>
            </a:pPr>
            <a:r>
              <a:rPr lang="en-US" sz="2400" dirty="0">
                <a:latin typeface="Cambria"/>
                <a:cs typeface="Cambria"/>
              </a:rPr>
              <a:t>Fibers </a:t>
            </a:r>
            <a:r>
              <a:rPr lang="en-US" sz="2400" spc="-15" dirty="0">
                <a:latin typeface="Cambria"/>
                <a:cs typeface="Cambria"/>
              </a:rPr>
              <a:t>are </a:t>
            </a:r>
            <a:r>
              <a:rPr lang="en-US" sz="2400" spc="-5" dirty="0">
                <a:latin typeface="Cambria"/>
                <a:cs typeface="Cambria"/>
              </a:rPr>
              <a:t>used </a:t>
            </a:r>
            <a:r>
              <a:rPr lang="en-US" sz="2400" dirty="0">
                <a:latin typeface="Cambria"/>
                <a:cs typeface="Cambria"/>
              </a:rPr>
              <a:t>in </a:t>
            </a:r>
            <a:r>
              <a:rPr lang="en-US" sz="2400" spc="-5" dirty="0">
                <a:latin typeface="Cambria"/>
                <a:cs typeface="Cambria"/>
              </a:rPr>
              <a:t>medical imaging such as endoscopes and</a:t>
            </a:r>
            <a:r>
              <a:rPr lang="en-US" sz="2400" spc="15" dirty="0">
                <a:latin typeface="Cambria"/>
                <a:cs typeface="Cambria"/>
              </a:rPr>
              <a:t> </a:t>
            </a:r>
            <a:r>
              <a:rPr lang="en-US" sz="2400" spc="-5" dirty="0">
                <a:latin typeface="Cambria"/>
                <a:cs typeface="Cambria"/>
              </a:rPr>
              <a:t>laparoscopes.</a:t>
            </a:r>
            <a:endParaRPr lang="en-US"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0AD0D9"/>
              </a:buClr>
              <a:buFont typeface="Wingdings"/>
              <a:buChar char=""/>
            </a:pPr>
            <a:endParaRPr lang="en-US" sz="2400" dirty="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4444"/>
              <a:buFont typeface="Wingdings"/>
              <a:buChar char=""/>
              <a:tabLst>
                <a:tab pos="287020" algn="l"/>
              </a:tabLst>
            </a:pPr>
            <a:r>
              <a:rPr lang="en-US" sz="2400" spc="-5" dirty="0">
                <a:latin typeface="Cambria"/>
                <a:cs typeface="Cambria"/>
              </a:rPr>
              <a:t>Fibers can be used </a:t>
            </a:r>
            <a:r>
              <a:rPr lang="en-US" sz="2400" dirty="0">
                <a:latin typeface="Cambria"/>
                <a:cs typeface="Cambria"/>
              </a:rPr>
              <a:t>under </a:t>
            </a:r>
            <a:r>
              <a:rPr lang="en-US" sz="2400" spc="-5" dirty="0">
                <a:latin typeface="Cambria"/>
                <a:cs typeface="Cambria"/>
              </a:rPr>
              <a:t>sea</a:t>
            </a:r>
            <a:r>
              <a:rPr lang="en-US" sz="2400" spc="10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communication.</a:t>
            </a: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AD0D9"/>
              </a:buClr>
              <a:buFont typeface="Wingdings"/>
              <a:buChar char=""/>
            </a:pPr>
            <a:endParaRPr lang="en-US" sz="2400" dirty="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4444"/>
              <a:buFont typeface="Wingdings"/>
              <a:buChar char=""/>
              <a:tabLst>
                <a:tab pos="287020" algn="l"/>
              </a:tabLst>
            </a:pPr>
            <a:r>
              <a:rPr lang="en-US" sz="2400" dirty="0">
                <a:latin typeface="Cambria"/>
                <a:cs typeface="Cambria"/>
              </a:rPr>
              <a:t>Fibers </a:t>
            </a:r>
            <a:r>
              <a:rPr lang="en-US" sz="2400" spc="-15" dirty="0">
                <a:latin typeface="Cambria"/>
                <a:cs typeface="Cambria"/>
              </a:rPr>
              <a:t>are </a:t>
            </a:r>
            <a:r>
              <a:rPr lang="en-US" sz="2400" spc="-5" dirty="0">
                <a:latin typeface="Cambria"/>
                <a:cs typeface="Cambria"/>
              </a:rPr>
              <a:t>used </a:t>
            </a:r>
            <a:r>
              <a:rPr lang="en-US" sz="2400" dirty="0">
                <a:latin typeface="Cambria"/>
                <a:cs typeface="Cambria"/>
              </a:rPr>
              <a:t>in </a:t>
            </a:r>
            <a:r>
              <a:rPr lang="en-US" sz="2400" spc="-5" dirty="0">
                <a:latin typeface="Cambria"/>
                <a:cs typeface="Cambria"/>
              </a:rPr>
              <a:t>military applications such as </a:t>
            </a:r>
            <a:r>
              <a:rPr lang="en-US" sz="2400" spc="-10" dirty="0">
                <a:latin typeface="Cambria"/>
                <a:cs typeface="Cambria"/>
              </a:rPr>
              <a:t>aircrafts, </a:t>
            </a:r>
            <a:r>
              <a:rPr lang="en-US" sz="2400" spc="-5" dirty="0">
                <a:latin typeface="Cambria"/>
                <a:cs typeface="Cambria"/>
              </a:rPr>
              <a:t>ships, tanks</a:t>
            </a:r>
            <a:r>
              <a:rPr lang="en-US" sz="2400" spc="85" dirty="0">
                <a:latin typeface="Cambria"/>
                <a:cs typeface="Cambria"/>
              </a:rPr>
              <a:t> </a:t>
            </a:r>
            <a:r>
              <a:rPr lang="en-US" sz="2400" spc="-5" dirty="0">
                <a:latin typeface="Cambria"/>
                <a:cs typeface="Cambria"/>
              </a:rPr>
              <a:t>etc.</a:t>
            </a:r>
            <a:endParaRPr lang="en-US"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0AD0D9"/>
              </a:buClr>
              <a:buFont typeface="Wingdings"/>
              <a:buChar char=""/>
            </a:pPr>
            <a:endParaRPr lang="en-US" dirty="0">
              <a:latin typeface="Cambria"/>
              <a:cs typeface="Cambria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3662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89984" y="831714"/>
            <a:ext cx="9490986" cy="5296711"/>
          </a:xfrm>
        </p:spPr>
        <p:txBody>
          <a:bodyPr>
            <a:normAutofit/>
          </a:bodyPr>
          <a:lstStyle/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4444"/>
              <a:buFont typeface="Wingdings"/>
              <a:buChar char=""/>
              <a:tabLst>
                <a:tab pos="287020" algn="l"/>
              </a:tabLst>
            </a:pPr>
            <a:r>
              <a:rPr lang="en-US" sz="2400" dirty="0">
                <a:latin typeface="Cambria"/>
                <a:cs typeface="Cambria"/>
              </a:rPr>
              <a:t>Nuclear </a:t>
            </a:r>
            <a:r>
              <a:rPr lang="en-US" sz="2400" spc="-5" dirty="0">
                <a:latin typeface="Cambria"/>
                <a:cs typeface="Cambria"/>
              </a:rPr>
              <a:t>testing applications use </a:t>
            </a:r>
            <a:r>
              <a:rPr lang="en-US" sz="2400" dirty="0">
                <a:latin typeface="Cambria"/>
                <a:cs typeface="Cambria"/>
              </a:rPr>
              <a:t>optical fiber </a:t>
            </a:r>
            <a:r>
              <a:rPr lang="en-US" sz="2400" spc="-10" dirty="0">
                <a:latin typeface="Cambria"/>
                <a:cs typeface="Cambria"/>
              </a:rPr>
              <a:t>phase </a:t>
            </a:r>
            <a:r>
              <a:rPr lang="en-US" sz="2400" spc="-5" dirty="0">
                <a:latin typeface="Cambria"/>
                <a:cs typeface="Cambria"/>
              </a:rPr>
              <a:t>sensors and</a:t>
            </a:r>
            <a:r>
              <a:rPr lang="en-US" sz="2400" spc="5" dirty="0">
                <a:latin typeface="Cambria"/>
                <a:cs typeface="Cambria"/>
              </a:rPr>
              <a:t> </a:t>
            </a:r>
            <a:r>
              <a:rPr lang="en-US" sz="2400" spc="-10" dirty="0">
                <a:latin typeface="Cambria"/>
                <a:cs typeface="Cambria"/>
              </a:rPr>
              <a:t>transducers</a:t>
            </a:r>
            <a:endParaRPr lang="en-US"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0AD0D9"/>
              </a:buClr>
              <a:buFont typeface="Wingdings"/>
              <a:buChar char=""/>
            </a:pPr>
            <a:endParaRPr lang="en-US" sz="2400" dirty="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4444"/>
              <a:buFont typeface="Wingdings"/>
              <a:buChar char=""/>
              <a:tabLst>
                <a:tab pos="287020" algn="l"/>
              </a:tabLst>
            </a:pPr>
            <a:r>
              <a:rPr lang="en-US" sz="2400" dirty="0">
                <a:latin typeface="Cambria"/>
                <a:cs typeface="Cambria"/>
              </a:rPr>
              <a:t>Fibers </a:t>
            </a:r>
            <a:r>
              <a:rPr lang="en-US" sz="2400" spc="-15" dirty="0">
                <a:latin typeface="Cambria"/>
                <a:cs typeface="Cambria"/>
              </a:rPr>
              <a:t>are </a:t>
            </a:r>
            <a:r>
              <a:rPr lang="en-US" sz="2400" spc="-5" dirty="0">
                <a:latin typeface="Cambria"/>
                <a:cs typeface="Cambria"/>
              </a:rPr>
              <a:t>used </a:t>
            </a:r>
            <a:r>
              <a:rPr lang="en-US" sz="2400" dirty="0">
                <a:latin typeface="Cambria"/>
                <a:cs typeface="Cambria"/>
              </a:rPr>
              <a:t>in </a:t>
            </a:r>
            <a:r>
              <a:rPr lang="en-US" sz="2400" spc="-5" dirty="0">
                <a:latin typeface="Cambria"/>
                <a:cs typeface="Cambria"/>
              </a:rPr>
              <a:t>public </a:t>
            </a:r>
            <a:r>
              <a:rPr lang="en-US" sz="2400" dirty="0">
                <a:latin typeface="Cambria"/>
                <a:cs typeface="Cambria"/>
              </a:rPr>
              <a:t>utility </a:t>
            </a:r>
            <a:r>
              <a:rPr lang="en-US" sz="2400" spc="-5" dirty="0">
                <a:latin typeface="Cambria"/>
                <a:cs typeface="Cambria"/>
              </a:rPr>
              <a:t>organizations </a:t>
            </a:r>
            <a:r>
              <a:rPr lang="en-US" sz="2400" spc="-10" dirty="0">
                <a:latin typeface="Cambria"/>
                <a:cs typeface="Cambria"/>
              </a:rPr>
              <a:t>like </a:t>
            </a:r>
            <a:r>
              <a:rPr lang="en-US" sz="2400" spc="-25" dirty="0">
                <a:latin typeface="Cambria"/>
                <a:cs typeface="Cambria"/>
              </a:rPr>
              <a:t>railways, </a:t>
            </a:r>
            <a:r>
              <a:rPr lang="en-US" sz="2400" dirty="0">
                <a:latin typeface="Cambria"/>
                <a:cs typeface="Cambria"/>
              </a:rPr>
              <a:t>TV </a:t>
            </a:r>
            <a:r>
              <a:rPr lang="en-US" sz="2400" spc="-10" dirty="0">
                <a:latin typeface="Cambria"/>
                <a:cs typeface="Cambria"/>
              </a:rPr>
              <a:t>transmission</a:t>
            </a:r>
            <a:r>
              <a:rPr lang="en-US" sz="2400" spc="110" dirty="0">
                <a:latin typeface="Cambria"/>
                <a:cs typeface="Cambria"/>
              </a:rPr>
              <a:t> </a:t>
            </a:r>
            <a:r>
              <a:rPr lang="en-US" sz="2400" spc="-5" dirty="0">
                <a:latin typeface="Cambria"/>
                <a:cs typeface="Cambria"/>
              </a:rPr>
              <a:t>etc.</a:t>
            </a:r>
            <a:endParaRPr lang="en-US"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0AD0D9"/>
              </a:buClr>
              <a:buFont typeface="Wingdings"/>
              <a:buChar char=""/>
            </a:pPr>
            <a:endParaRPr lang="en-US" sz="2400" dirty="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4444"/>
              <a:buFont typeface="Wingdings"/>
              <a:buChar char=""/>
              <a:tabLst>
                <a:tab pos="287020" algn="l"/>
              </a:tabLst>
            </a:pPr>
            <a:r>
              <a:rPr lang="en-US" sz="2400" dirty="0">
                <a:latin typeface="Cambria"/>
                <a:cs typeface="Cambria"/>
              </a:rPr>
              <a:t>Fibers </a:t>
            </a:r>
            <a:r>
              <a:rPr lang="en-US" sz="2400" spc="-15" dirty="0">
                <a:latin typeface="Cambria"/>
                <a:cs typeface="Cambria"/>
              </a:rPr>
              <a:t>are </a:t>
            </a:r>
            <a:r>
              <a:rPr lang="en-US" sz="2400" spc="-5" dirty="0">
                <a:latin typeface="Cambria"/>
                <a:cs typeface="Cambria"/>
              </a:rPr>
              <a:t>used </a:t>
            </a:r>
            <a:r>
              <a:rPr lang="en-US" sz="2400" dirty="0">
                <a:latin typeface="Cambria"/>
                <a:cs typeface="Cambria"/>
              </a:rPr>
              <a:t>in LAN </a:t>
            </a:r>
            <a:r>
              <a:rPr lang="en-US" sz="2400" spc="-10" dirty="0">
                <a:latin typeface="Cambria"/>
                <a:cs typeface="Cambria"/>
              </a:rPr>
              <a:t>systems </a:t>
            </a:r>
            <a:r>
              <a:rPr lang="en-US" sz="2400" dirty="0">
                <a:latin typeface="Cambria"/>
                <a:cs typeface="Cambria"/>
              </a:rPr>
              <a:t>of </a:t>
            </a:r>
            <a:r>
              <a:rPr lang="en-US" sz="2400" spc="-5" dirty="0">
                <a:latin typeface="Cambria"/>
                <a:cs typeface="Cambria"/>
              </a:rPr>
              <a:t>offices, industrial plants and colleges</a:t>
            </a:r>
            <a:r>
              <a:rPr lang="en-US" sz="2400" spc="80" dirty="0">
                <a:latin typeface="Cambria"/>
                <a:cs typeface="Cambria"/>
              </a:rPr>
              <a:t> </a:t>
            </a:r>
            <a:r>
              <a:rPr lang="en-US" sz="2400" spc="-5" dirty="0">
                <a:latin typeface="Cambria"/>
                <a:cs typeface="Cambria"/>
              </a:rPr>
              <a:t>etc.</a:t>
            </a:r>
            <a:endParaRPr lang="en-US" sz="2400" dirty="0">
              <a:latin typeface="Cambria"/>
              <a:cs typeface="Cambria"/>
            </a:endParaRPr>
          </a:p>
          <a:p>
            <a:pPr marL="286385" marR="5080" indent="-274320">
              <a:lnSpc>
                <a:spcPct val="170100"/>
              </a:lnSpc>
              <a:spcBef>
                <a:spcPts val="430"/>
              </a:spcBef>
              <a:buClr>
                <a:srgbClr val="0AD0D9"/>
              </a:buClr>
              <a:buSzPct val="94444"/>
              <a:buFont typeface="Wingdings"/>
              <a:buChar char=""/>
              <a:tabLst>
                <a:tab pos="287020" algn="l"/>
              </a:tabLst>
            </a:pPr>
            <a:r>
              <a:rPr lang="en-US" sz="2400" dirty="0">
                <a:latin typeface="Cambria"/>
                <a:cs typeface="Cambria"/>
              </a:rPr>
              <a:t>Fibers </a:t>
            </a:r>
            <a:r>
              <a:rPr lang="en-US" sz="2400" spc="-15" dirty="0">
                <a:latin typeface="Cambria"/>
                <a:cs typeface="Cambria"/>
              </a:rPr>
              <a:t>are </a:t>
            </a:r>
            <a:r>
              <a:rPr lang="en-US" sz="2400" dirty="0">
                <a:latin typeface="Cambria"/>
                <a:cs typeface="Cambria"/>
              </a:rPr>
              <a:t>used in </a:t>
            </a:r>
            <a:r>
              <a:rPr lang="en-US" sz="2400" spc="-5" dirty="0">
                <a:latin typeface="Cambria"/>
                <a:cs typeface="Cambria"/>
              </a:rPr>
              <a:t>telecommunication such as </a:t>
            </a:r>
            <a:r>
              <a:rPr lang="en-US" sz="2400" spc="-10" dirty="0">
                <a:latin typeface="Cambria"/>
                <a:cs typeface="Cambria"/>
              </a:rPr>
              <a:t>voice </a:t>
            </a:r>
            <a:r>
              <a:rPr lang="en-US" sz="2400" spc="-5" dirty="0">
                <a:latin typeface="Cambria"/>
                <a:cs typeface="Cambria"/>
              </a:rPr>
              <a:t>telephones, </a:t>
            </a:r>
            <a:r>
              <a:rPr lang="en-US" sz="2400" dirty="0">
                <a:latin typeface="Cambria"/>
                <a:cs typeface="Cambria"/>
              </a:rPr>
              <a:t>video </a:t>
            </a:r>
            <a:r>
              <a:rPr lang="en-US" sz="2400" spc="-5" dirty="0">
                <a:latin typeface="Cambria"/>
                <a:cs typeface="Cambria"/>
              </a:rPr>
              <a:t>phones,  </a:t>
            </a:r>
            <a:r>
              <a:rPr lang="en-US" sz="2400" spc="-10" dirty="0">
                <a:latin typeface="Cambria"/>
                <a:cs typeface="Cambria"/>
              </a:rPr>
              <a:t>telegraph </a:t>
            </a:r>
            <a:r>
              <a:rPr lang="en-US" sz="2400" spc="-5" dirty="0">
                <a:latin typeface="Cambria"/>
                <a:cs typeface="Cambria"/>
              </a:rPr>
              <a:t>services, message services and data</a:t>
            </a:r>
            <a:r>
              <a:rPr lang="en-US" sz="2400" spc="50" dirty="0">
                <a:latin typeface="Cambria"/>
                <a:cs typeface="Cambria"/>
              </a:rPr>
              <a:t> </a:t>
            </a:r>
            <a:r>
              <a:rPr lang="en-US" sz="2400" spc="-10" dirty="0">
                <a:latin typeface="Cambria"/>
                <a:cs typeface="Cambria"/>
              </a:rPr>
              <a:t>networks.</a:t>
            </a:r>
            <a:endParaRPr lang="en-US" sz="2400" dirty="0">
              <a:latin typeface="Cambria"/>
              <a:cs typeface="Cambria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7280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4450" y="457200"/>
            <a:ext cx="3457575" cy="685800"/>
          </a:xfrm>
        </p:spPr>
        <p:txBody>
          <a:bodyPr>
            <a:normAutofit/>
          </a:bodyPr>
          <a:lstStyle/>
          <a:p>
            <a:r>
              <a:rPr lang="en-US" sz="3800" b="1" dirty="0">
                <a:latin typeface="Cambria" panose="02040503050406030204" pitchFamily="18" charset="0"/>
                <a:ea typeface="Cambria" panose="02040503050406030204" pitchFamily="18" charset="0"/>
              </a:rPr>
              <a:t>Summary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8363" y="1585912"/>
            <a:ext cx="8718550" cy="4411663"/>
          </a:xfrm>
        </p:spPr>
        <p:txBody>
          <a:bodyPr>
            <a:normAutofit/>
          </a:bodyPr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22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571748" y="1143000"/>
            <a:ext cx="5602776" cy="4267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10"/>
              </a:spcBef>
              <a:buClr>
                <a:srgbClr val="DD8046"/>
              </a:buClr>
              <a:buSzPct val="60000"/>
              <a:buFont typeface="Wingdings" panose="05000000000000000000" pitchFamily="2" charset="2"/>
              <a:buChar char="v"/>
              <a:tabLst>
                <a:tab pos="332105" algn="l"/>
                <a:tab pos="332740" algn="l"/>
              </a:tabLst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Brief</a:t>
            </a:r>
            <a:r>
              <a:rPr lang="en-US" sz="2400" spc="-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Introduction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234"/>
              </a:spcBef>
              <a:buClr>
                <a:srgbClr val="DD8046"/>
              </a:buClr>
              <a:buSzPct val="60000"/>
              <a:buFont typeface="Wingdings" panose="05000000000000000000" pitchFamily="2" charset="2"/>
              <a:buChar char="v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Optical fiber</a:t>
            </a:r>
            <a:r>
              <a:rPr lang="en-US" sz="2400" spc="-4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construction</a:t>
            </a:r>
          </a:p>
          <a:p>
            <a:pPr marL="469900" indent="-457200">
              <a:lnSpc>
                <a:spcPct val="100000"/>
              </a:lnSpc>
              <a:spcBef>
                <a:spcPts val="215"/>
              </a:spcBef>
              <a:buClr>
                <a:srgbClr val="DD8046"/>
              </a:buClr>
              <a:buSzPct val="60000"/>
              <a:buFont typeface="Wingdings" panose="05000000000000000000" pitchFamily="2" charset="2"/>
              <a:buChar char="v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Critical angle &amp; </a:t>
            </a:r>
            <a:r>
              <a:rPr lang="en-US" sz="2400" spc="-4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Total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Internal</a:t>
            </a:r>
            <a:r>
              <a:rPr lang="en-US" sz="2400" spc="-114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Reflection</a:t>
            </a:r>
          </a:p>
          <a:p>
            <a:pPr marL="469900" indent="-457200">
              <a:lnSpc>
                <a:spcPct val="100000"/>
              </a:lnSpc>
              <a:spcBef>
                <a:spcPts val="229"/>
              </a:spcBef>
              <a:buClr>
                <a:srgbClr val="DD8046"/>
              </a:buClr>
              <a:buSzPct val="60000"/>
              <a:buFont typeface="Wingdings" panose="05000000000000000000" pitchFamily="2" charset="2"/>
              <a:buChar char="v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Acceptance angle &amp; acceptance</a:t>
            </a:r>
            <a:r>
              <a:rPr lang="en-US" sz="2400" spc="-12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cone</a:t>
            </a:r>
          </a:p>
          <a:p>
            <a:pPr marL="469900" indent="-457200">
              <a:lnSpc>
                <a:spcPct val="100000"/>
              </a:lnSpc>
              <a:spcBef>
                <a:spcPts val="215"/>
              </a:spcBef>
              <a:buClr>
                <a:srgbClr val="DD8046"/>
              </a:buClr>
              <a:buSzPct val="60000"/>
              <a:buFont typeface="Wingdings" panose="05000000000000000000" pitchFamily="2" charset="2"/>
              <a:buChar char="v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Numerical</a:t>
            </a:r>
            <a:r>
              <a:rPr lang="en-US" sz="2400" spc="-14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Aperture</a:t>
            </a:r>
          </a:p>
          <a:p>
            <a:pPr marL="469900" indent="-457200">
              <a:lnSpc>
                <a:spcPct val="100000"/>
              </a:lnSpc>
              <a:spcBef>
                <a:spcPts val="215"/>
              </a:spcBef>
              <a:buClr>
                <a:srgbClr val="DD8046"/>
              </a:buClr>
              <a:buSzPct val="60000"/>
              <a:buFont typeface="Wingdings" panose="05000000000000000000" pitchFamily="2" charset="2"/>
              <a:buChar char="v"/>
              <a:tabLst>
                <a:tab pos="332105" algn="l"/>
                <a:tab pos="332740" algn="l"/>
              </a:tabLst>
            </a:pPr>
            <a:r>
              <a:rPr lang="en-US" sz="2400" spc="-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V-Number</a:t>
            </a:r>
          </a:p>
          <a:p>
            <a:pPr marL="469900" indent="-457200">
              <a:lnSpc>
                <a:spcPct val="100000"/>
              </a:lnSpc>
              <a:spcBef>
                <a:spcPts val="215"/>
              </a:spcBef>
              <a:buClr>
                <a:srgbClr val="DD8046"/>
              </a:buClr>
              <a:buSzPct val="60000"/>
              <a:buFont typeface="Wingdings" panose="05000000000000000000" pitchFamily="2" charset="2"/>
              <a:buChar char="v"/>
              <a:tabLst>
                <a:tab pos="332105" algn="l"/>
                <a:tab pos="332740" algn="l"/>
              </a:tabLst>
            </a:pPr>
            <a:r>
              <a:rPr lang="en-US" sz="2400" spc="-2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Types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of fibers</a:t>
            </a:r>
          </a:p>
          <a:p>
            <a:pPr marL="469900" indent="-457200">
              <a:lnSpc>
                <a:spcPct val="100000"/>
              </a:lnSpc>
              <a:spcBef>
                <a:spcPts val="229"/>
              </a:spcBef>
              <a:buClr>
                <a:srgbClr val="DD8046"/>
              </a:buClr>
              <a:buSzPct val="60000"/>
              <a:buFont typeface="Wingdings" panose="05000000000000000000" pitchFamily="2" charset="2"/>
              <a:buChar char="v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Dispersion &amp; its</a:t>
            </a:r>
            <a:r>
              <a:rPr lang="en-US" sz="2400" spc="-6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types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215"/>
              </a:spcBef>
              <a:buClr>
                <a:srgbClr val="DD8046"/>
              </a:buClr>
              <a:buSzPct val="60000"/>
              <a:buFont typeface="Wingdings" panose="05000000000000000000" pitchFamily="2" charset="2"/>
              <a:buChar char="v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Attenuation and Losses in</a:t>
            </a:r>
            <a:r>
              <a:rPr lang="en-US" sz="2400" spc="-9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Fiber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0139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4229" y="1"/>
            <a:ext cx="5458264" cy="928468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</a:rPr>
              <a:t>Assessment Test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5813" y="1385889"/>
            <a:ext cx="8543925" cy="5335586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Quiz link for Assessment Test:-</a:t>
            </a:r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  <a:hlinkClick r:id="rId2"/>
            </a:endParaRP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https://docs.google.com/forms/d/e/1FAIpQLSdoaR30UPyyOY0IRVyChKPoZVB99BOTYyw61SPEVbYoxNepFQ/viewform?usp=pp_url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Home Assignment :-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Q.1 Give types of dispersion losses.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Q.2 What is macro and micro bend?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0581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5863" y="357188"/>
            <a:ext cx="3028950" cy="630237"/>
          </a:xfrm>
        </p:spPr>
        <p:txBody>
          <a:bodyPr>
            <a:noAutofit/>
          </a:bodyPr>
          <a:lstStyle/>
          <a:p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5459" y="1120462"/>
            <a:ext cx="9734416" cy="5601013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[1] 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https://www.ispreview.co.uk/index.php/2013/07/alcatel-lucent-breaks-record-with-31tbps-over-a-single-fibre-optic-cable.html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[2]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http://constructionmanuals.tpub.com/14026/css/Fiber-Buffers-193.htm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[3]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4"/>
              </a:rPr>
              <a:t>https://www.slideshare.net/ankushsaini123/6796optical-fibres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[4]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5"/>
              </a:rPr>
              <a:t>https://www.slideshare.net/MadhumitaTamhane/optical-fiber-communication-part-1- optical-fiber-fundamentals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[5] (a)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 http://constructionmanuals.tpub.com/14026/css/Fiber-Buffers-193.htm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      (b)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6"/>
              </a:rPr>
              <a:t>https://computer.howstuffworks.com/fiber-optic2.htm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[6]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7"/>
              </a:rPr>
              <a:t>https://www.slideshare.net/PratyushSrivastava8/optical-fiber-cable-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8"/>
              </a:rPr>
              <a:t>v2?from_action=save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[7]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9"/>
              </a:rPr>
              <a:t>https://www.ques10.com/p/21598/derive-the-expression-of-numerical-aperture-                   for-a-/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[8]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10"/>
              </a:rPr>
              <a:t>https://www.explainthatstuff.com/fiberoptics.html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[9]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11"/>
              </a:rPr>
              <a:t>http://fiberonda.com/single-mode-vs-multi-mode-fiber-optic-cable/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[10] </a:t>
            </a:r>
            <a:r>
              <a:rPr lang="en-US" sz="2000" u="sng" dirty="0">
                <a:hlinkClick r:id="rId12"/>
              </a:rPr>
              <a:t>https://images.app.goo.gl/LLWfgV3PjgLc9RbDA</a:t>
            </a:r>
            <a:r>
              <a:rPr lang="en-US" sz="2000" dirty="0"/>
              <a:t> 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b="1" dirty="0">
              <a:hlinkClick r:id="rId3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3603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7669" y="1400783"/>
            <a:ext cx="10557720" cy="49750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</a:rPr>
              <a:t>Text book </a:t>
            </a:r>
          </a:p>
          <a:p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Beiser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A.,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Ghatak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A,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Garg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S.C., Applied Physics, Edition 1st, (2013), Tata McGraw-Hill, Noida. 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Laud B.B., Laser and Non -Linear Optics, Edition 1st, (1991), Wiley Eastern Ltd. </a:t>
            </a:r>
          </a:p>
          <a:p>
            <a:pPr marL="0" indent="0">
              <a:buNone/>
            </a:pPr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</a:rPr>
              <a:t>E- content</a:t>
            </a:r>
          </a:p>
          <a:p>
            <a:pPr marL="0" indent="0">
              <a:buNone/>
            </a:pPr>
            <a:r>
              <a:rPr lang="en-US" sz="48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hlinkClick r:id="rId2"/>
              </a:rPr>
              <a:t>http://www.fiberopticshare.com/what-are-the-components-of-optical-fiber.html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6339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" imgW="2169000" imgH="2169360" progId="">
                    <p:embed/>
                  </p:oleObj>
                </mc:Choice>
                <mc:Fallback>
                  <p:oleObj name="CorelDRAW" r:id="rId2" imgW="2169000" imgH="216936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lum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TextBox 14"/>
          <p:cNvSpPr txBox="1"/>
          <p:nvPr/>
        </p:nvSpPr>
        <p:spPr>
          <a:xfrm>
            <a:off x="3914775" y="5474881"/>
            <a:ext cx="3755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sper"/>
              </a:rPr>
              <a:t>For Queries:-</a:t>
            </a:r>
          </a:p>
          <a:p>
            <a:r>
              <a:rPr lang="en-US" dirty="0">
                <a:latin typeface="Casper"/>
              </a:rPr>
              <a:t>deepak.e1972@cumail.in</a:t>
            </a:r>
          </a:p>
        </p:txBody>
      </p: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3807</TotalTime>
  <Words>2020</Words>
  <Application>Microsoft Office PowerPoint</Application>
  <PresentationFormat>Widescreen</PresentationFormat>
  <Paragraphs>240</Paragraphs>
  <Slides>26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41" baseType="lpstr">
      <vt:lpstr>Arial</vt:lpstr>
      <vt:lpstr>Arial Black</vt:lpstr>
      <vt:lpstr>Calibri</vt:lpstr>
      <vt:lpstr>Calibri Light</vt:lpstr>
      <vt:lpstr>Cambria</vt:lpstr>
      <vt:lpstr>Cambria Math</vt:lpstr>
      <vt:lpstr>Casper</vt:lpstr>
      <vt:lpstr>Casper Bold</vt:lpstr>
      <vt:lpstr>Raleway ExtraBold</vt:lpstr>
      <vt:lpstr>Times New Roman</vt:lpstr>
      <vt:lpstr>Wingdings</vt:lpstr>
      <vt:lpstr>Wingdings 2</vt:lpstr>
      <vt:lpstr>1_Office Theme</vt:lpstr>
      <vt:lpstr>Contents Slide Master</vt:lpstr>
      <vt:lpstr>CorelDRAW</vt:lpstr>
      <vt:lpstr>PowerPoint Presentation</vt:lpstr>
      <vt:lpstr> </vt:lpstr>
      <vt:lpstr> </vt:lpstr>
      <vt:lpstr>Brief Flow of Presentation</vt:lpstr>
      <vt:lpstr>Dispersion  Types</vt:lpstr>
      <vt:lpstr>Intra modal or Chromatic Dispersion </vt:lpstr>
      <vt:lpstr>PowerPoint Presentation</vt:lpstr>
      <vt:lpstr>PowerPoint Presentation</vt:lpstr>
      <vt:lpstr>Intermodal or modal Dispersion</vt:lpstr>
      <vt:lpstr>PowerPoint Presentation</vt:lpstr>
      <vt:lpstr>PowerPoint Presentation</vt:lpstr>
      <vt:lpstr>PowerPoint Presentation</vt:lpstr>
      <vt:lpstr>Material Absorption Losses</vt:lpstr>
      <vt:lpstr>PowerPoint Presentation</vt:lpstr>
      <vt:lpstr>Fiber Bend Losses </vt:lpstr>
      <vt:lpstr>PowerPoint Presentation</vt:lpstr>
      <vt:lpstr>Linear Scattering Losses</vt:lpstr>
      <vt:lpstr>Advantages of optical fiber communication</vt:lpstr>
      <vt:lpstr>Disadvantages of optical fiber communication</vt:lpstr>
      <vt:lpstr>Applications of optical fiber  communication</vt:lpstr>
      <vt:lpstr>PowerPoint Presentation</vt:lpstr>
      <vt:lpstr>Summary</vt:lpstr>
      <vt:lpstr>Assessment Test</vt:lpstr>
      <vt:lpstr>References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Indu Gupta</cp:lastModifiedBy>
  <cp:revision>286</cp:revision>
  <dcterms:created xsi:type="dcterms:W3CDTF">2019-01-09T10:33:58Z</dcterms:created>
  <dcterms:modified xsi:type="dcterms:W3CDTF">2023-06-14T08:06:19Z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1697691</vt:lpwstr>
  </property>
  <property fmtid="{D5CDD505-2E9C-101B-9397-08002B2CF9AE}" pid="3" name="NXPowerLiteSettings">
    <vt:lpwstr>C7000400038000</vt:lpwstr>
  </property>
  <property fmtid="{D5CDD505-2E9C-101B-9397-08002B2CF9AE}" pid="4" name="NXPowerLiteVersion">
    <vt:lpwstr>S9.0.1</vt:lpwstr>
  </property>
</Properties>
</file>