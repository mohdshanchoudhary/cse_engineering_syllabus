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3"/>
  </p:notesMasterIdLst>
  <p:handoutMasterIdLst>
    <p:handoutMasterId r:id="rId24"/>
  </p:handoutMasterIdLst>
  <p:sldIdLst>
    <p:sldId id="277" r:id="rId3"/>
    <p:sldId id="354" r:id="rId4"/>
    <p:sldId id="265" r:id="rId5"/>
    <p:sldId id="281" r:id="rId6"/>
    <p:sldId id="310" r:id="rId7"/>
    <p:sldId id="285" r:id="rId8"/>
    <p:sldId id="300" r:id="rId9"/>
    <p:sldId id="307" r:id="rId10"/>
    <p:sldId id="308" r:id="rId11"/>
    <p:sldId id="309" r:id="rId12"/>
    <p:sldId id="301" r:id="rId13"/>
    <p:sldId id="303" r:id="rId14"/>
    <p:sldId id="302" r:id="rId15"/>
    <p:sldId id="305" r:id="rId16"/>
    <p:sldId id="306" r:id="rId17"/>
    <p:sldId id="304" r:id="rId18"/>
    <p:sldId id="311" r:id="rId19"/>
    <p:sldId id="313" r:id="rId20"/>
    <p:sldId id="350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5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oaR30UPyyOY0IRVyChKPoZVB99BOTYyw61SPEVbYoxNepFQ/viewform?usp=pp_url" TargetMode="External"/><Relationship Id="rId2" Type="http://schemas.openxmlformats.org/officeDocument/2006/relationships/hyperlink" Target="https://docs.google.com/forms/d/1w8ZYvA6wP_wNW-mzrkGsNvNi170XonXmUYT-3bvPCPI/edit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hare.net/PratyushSrivastava8/optical-fiber-cable-v2?from_action=save" TargetMode="External"/><Relationship Id="rId3" Type="http://schemas.openxmlformats.org/officeDocument/2006/relationships/hyperlink" Target="http://constructionmanuals.tpub.com/14026/css/Fiber-Buffers-193.htm" TargetMode="External"/><Relationship Id="rId7" Type="http://schemas.openxmlformats.org/officeDocument/2006/relationships/hyperlink" Target="https://www.slideshare.net/PratyushSrivastava8/optical-fiber-cable-" TargetMode="External"/><Relationship Id="rId12" Type="http://schemas.openxmlformats.org/officeDocument/2006/relationships/hyperlink" Target="https://images.app.goo.gl/LLWfgV3PjgLc9RbDA" TargetMode="External"/><Relationship Id="rId2" Type="http://schemas.openxmlformats.org/officeDocument/2006/relationships/hyperlink" Target="https://www.ispreview.co.uk/index.php/2013/07/alcatel-lucent-breaks-record-with-31tbps-over-a-single-fibre-optic-cable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omputer.howstuffworks.com/fiber-optic2.htm" TargetMode="External"/><Relationship Id="rId11" Type="http://schemas.openxmlformats.org/officeDocument/2006/relationships/hyperlink" Target="http://fiberonda.com/single-mode-vs-multi-mode-fiber-optic-cable/" TargetMode="External"/><Relationship Id="rId5" Type="http://schemas.openxmlformats.org/officeDocument/2006/relationships/hyperlink" Target="https://www.slideshare.net/MadhumitaTamhane/optical-fiber-communication-part-1-optical-fiber-fundamentals" TargetMode="External"/><Relationship Id="rId10" Type="http://schemas.openxmlformats.org/officeDocument/2006/relationships/hyperlink" Target="https://www.explainthatstuff.com/fiberoptics.html" TargetMode="External"/><Relationship Id="rId4" Type="http://schemas.openxmlformats.org/officeDocument/2006/relationships/hyperlink" Target="https://www.slideshare.net/ankushsaini123/6796optical-fibres" TargetMode="External"/><Relationship Id="rId9" Type="http://schemas.openxmlformats.org/officeDocument/2006/relationships/hyperlink" Target="https://www.ques10.com/p/21598/derive-the-expression-of-numerical-aperture-for-a-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iberopticshare.com/what-are-the-components-of-optical-fiber.html" TargetMode="Externa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72674" y="156275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459213" y="6014156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 OPTICS </a:t>
            </a:r>
          </a:p>
          <a:p>
            <a:pPr eaLnBrk="1" hangingPunct="1"/>
            <a:r>
              <a:rPr lang="en-US" sz="1600">
                <a:latin typeface="Raleway ExtraBold" pitchFamily="34" charset="-52"/>
              </a:rPr>
              <a:t> 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41979" y="1562755"/>
            <a:ext cx="9564221" cy="3327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by: Deepak Kumar, </a:t>
            </a:r>
            <a:r>
              <a:rPr lang="en-US" sz="28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</a:t>
            </a:r>
            <a:r>
              <a:rPr lang="en-US" sz="28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Prof. Physics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-287717" y="1297692"/>
            <a:ext cx="4456567" cy="1328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56603" y="1055077"/>
            <a:ext cx="9811481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/>
              <a:t> </a:t>
            </a:r>
            <a:endParaRPr lang="en-US" sz="4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course is designed to make the students industry ready to contribute in the growing demand of the industry at local, national and international level.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enhance the skill level of the students and shall make them preferred choice for getting employment in industry and research labs.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give thorough knowledge of the discipline to enable students to disseminate knowledge in pursuing excellence in academic areas.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82351" y="331802"/>
            <a:ext cx="75402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Course Objectives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8390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571875" y="-105382"/>
            <a:ext cx="350043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28468" y="98474"/>
            <a:ext cx="49294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Course Outcomes 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0" y="1287996"/>
            <a:ext cx="5213290" cy="5011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300788" y="6299199"/>
            <a:ext cx="5177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                     Figure 2.1 Optical fibres [1]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843312"/>
              </p:ext>
            </p:extLst>
          </p:nvPr>
        </p:nvGraphicFramePr>
        <p:xfrm>
          <a:off x="177421" y="2096487"/>
          <a:ext cx="5477164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" y="1237956"/>
            <a:ext cx="5711134" cy="5620043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Brief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Introduction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34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Optical fiber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construction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Critical angle &amp; 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Total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Internal</a:t>
            </a:r>
            <a:r>
              <a:rPr lang="en-US" sz="2400" spc="-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Reflection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Acceptance angle &amp; acceptance</a:t>
            </a:r>
            <a:r>
              <a:rPr lang="en-US" sz="2400" spc="-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Numerical</a:t>
            </a:r>
            <a:r>
              <a:rPr lang="en-US" sz="2400" spc="-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Aperture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V-Number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of fibers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 &amp; its</a:t>
            </a:r>
            <a:r>
              <a:rPr lang="en-US" sz="2400"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Attenuation and Losses in</a:t>
            </a:r>
            <a:r>
              <a:rPr lang="en-US" sz="2400" spc="-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Fiber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Advantages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Disadvantages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Applications</a:t>
            </a:r>
          </a:p>
          <a:p>
            <a:pPr>
              <a:lnSpc>
                <a:spcPct val="150000"/>
              </a:lnSpc>
            </a:pPr>
            <a:endParaRPr lang="en-US" dirty="0">
              <a:latin typeface="Casper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sper"/>
              <a:cs typeface="Arial" panose="020B0604020202020204" pitchFamily="34" charset="0"/>
            </a:endParaRPr>
          </a:p>
          <a:p>
            <a:endParaRPr lang="en-US" dirty="0">
              <a:latin typeface="Caspe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 rot="10800000" flipV="1">
            <a:off x="858129" y="285685"/>
            <a:ext cx="8553156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Brief Flow of Presentation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711134" y="6155323"/>
            <a:ext cx="5428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2.2  Basic structure </a:t>
            </a:r>
            <a:r>
              <a:rPr lang="en-US" sz="1600">
                <a:latin typeface="Casper"/>
              </a:rPr>
              <a:t>and parts </a:t>
            </a:r>
            <a:r>
              <a:rPr lang="en-US" sz="1600" dirty="0">
                <a:latin typeface="Casper"/>
              </a:rPr>
              <a:t>of optical fibre [2]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1" y="1486287"/>
            <a:ext cx="4157662" cy="41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806" y="154746"/>
            <a:ext cx="8510953" cy="844060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Definition of Optical fiber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8662" y="1600201"/>
            <a:ext cx="9043987" cy="475615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optical fiber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is a flexible, transparent fiber made by glass (silica) or plastic to a diameter slightly thicker than that of a human hair.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Optical fiber is a dielectric waveguide and ideally has a cylindrical shape.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It consists of a core made up of a dielectric material which is surrounded by a cladding made up of a dielectric material of lower refractive index than core.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1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080" y="1633707"/>
            <a:ext cx="4495799" cy="426861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Core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Cladding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Buffering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Core having higher refractive index than cladding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sper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72954" y="1614488"/>
            <a:ext cx="4370483" cy="42878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218797" y="6085473"/>
            <a:ext cx="4998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2.3  Parts of optical fiber [3]</a:t>
            </a:r>
          </a:p>
        </p:txBody>
      </p:sp>
      <p:sp>
        <p:nvSpPr>
          <p:cNvPr id="11" name="object 4"/>
          <p:cNvSpPr/>
          <p:nvPr/>
        </p:nvSpPr>
        <p:spPr>
          <a:xfrm>
            <a:off x="5238750" y="1439863"/>
            <a:ext cx="6343650" cy="43481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71003" y="0"/>
            <a:ext cx="69681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Parts of </a:t>
            </a:r>
            <a:r>
              <a:rPr lang="en-US" sz="4400" b="1" spc="-5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Optical</a:t>
            </a:r>
            <a:r>
              <a:rPr lang="en-US" sz="4400" b="1" spc="-12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spc="-5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Fiber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74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175657"/>
            <a:ext cx="10288588" cy="4685393"/>
          </a:xfrm>
        </p:spPr>
        <p:txBody>
          <a:bodyPr>
            <a:normAutofit/>
          </a:bodyPr>
          <a:lstStyle/>
          <a:p>
            <a:pPr algn="just"/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Core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–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thin glass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center of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fiber where 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light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travels.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Book Antiqua"/>
            </a:endParaRPr>
          </a:p>
          <a:p>
            <a:pPr algn="just"/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Clad</a:t>
            </a:r>
            <a:r>
              <a:rPr lang="en-US" sz="2400" b="1" spc="-2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d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i</a:t>
            </a:r>
            <a:r>
              <a:rPr lang="en-US" sz="2400" b="1" spc="-1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n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– outer	optic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l material  surrounding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the</a:t>
            </a:r>
            <a:r>
              <a:rPr lang="en-US" sz="2400" spc="-3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core.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Book Antiqua"/>
            </a:endParaRPr>
          </a:p>
          <a:p>
            <a:pPr marL="315595" marR="3368675" indent="-303530" algn="just">
              <a:lnSpc>
                <a:spcPts val="4600"/>
              </a:lnSpc>
              <a:spcBef>
                <a:spcPts val="1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Buffer Coating-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 plastic coating that </a:t>
            </a:r>
          </a:p>
          <a:p>
            <a:pPr marL="12065" marR="3368675" indent="0" algn="just">
              <a:lnSpc>
                <a:spcPts val="4600"/>
              </a:lnSpc>
              <a:spcBef>
                <a:spcPts val="175"/>
              </a:spcBef>
              <a:buNone/>
              <a:tabLst>
                <a:tab pos="355600" algn="l"/>
                <a:tab pos="35623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         protects the fiber.</a:t>
            </a:r>
          </a:p>
          <a:p>
            <a:pPr marL="315595" marR="3368675" indent="-303530">
              <a:lnSpc>
                <a:spcPts val="4600"/>
              </a:lnSpc>
              <a:spcBef>
                <a:spcPts val="1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endParaRPr lang="en-US" dirty="0">
              <a:latin typeface="Book Antiqua"/>
              <a:cs typeface="Book Antiqu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5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018" y="225084"/>
            <a:ext cx="7343336" cy="762342"/>
          </a:xfrm>
        </p:spPr>
        <p:txBody>
          <a:bodyPr>
            <a:noAutofit/>
          </a:bodyPr>
          <a:lstStyle/>
          <a:p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FIBER</a:t>
            </a:r>
            <a:r>
              <a:rPr lang="en-US" sz="4400" b="1" spc="-6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MANUFACTURE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476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tabLst>
                <a:tab pos="298450" algn="l"/>
              </a:tabLst>
            </a:pP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I-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Glass-Glass</a:t>
            </a:r>
            <a:r>
              <a:rPr lang="en-US" sz="2400" spc="-4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Fiber</a:t>
            </a: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382270" indent="-357505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381635" algn="l"/>
                <a:tab pos="38290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Glass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as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silica (SiO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) with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refractive Index (RI)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of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1.458 at</a:t>
            </a:r>
            <a:r>
              <a:rPr lang="en-US" sz="2400" spc="-13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850nm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310515" indent="-2857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Addition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of GeO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and P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5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increases</a:t>
            </a:r>
            <a:r>
              <a:rPr lang="en-US" sz="2400" spc="35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RI.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310515" indent="-2857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98450" algn="l"/>
                <a:tab pos="2021839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Addition</a:t>
            </a:r>
            <a:r>
              <a:rPr lang="en-US" sz="2400" spc="-2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of B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3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and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fluorine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decreases</a:t>
            </a:r>
            <a:r>
              <a:rPr lang="en-US" sz="2400" spc="-32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RI.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57913" y="5868988"/>
            <a:ext cx="5554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Figure 2.4 Increase or decrease of RI by adding dopants [4].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517" y="1790307"/>
            <a:ext cx="6173061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72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852" y="0"/>
            <a:ext cx="7301133" cy="987425"/>
          </a:xfrm>
        </p:spPr>
        <p:txBody>
          <a:bodyPr>
            <a:noAutofit/>
          </a:bodyPr>
          <a:lstStyle/>
          <a:p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FIBER</a:t>
            </a:r>
            <a:r>
              <a:rPr lang="en-US" sz="4400" b="1" spc="-6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MANUFACTURE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2025" y="1167618"/>
            <a:ext cx="6915149" cy="5690382"/>
          </a:xfrm>
        </p:spPr>
        <p:txBody>
          <a:bodyPr>
            <a:noAutofit/>
          </a:bodyPr>
          <a:lstStyle/>
          <a:p>
            <a:pPr marL="12065" indent="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None/>
              <a:tabLst>
                <a:tab pos="285750" algn="l"/>
              </a:tabLst>
            </a:pP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II- Plastic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clad Glass</a:t>
            </a:r>
            <a:r>
              <a:rPr lang="en-US" sz="2400" spc="-4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Fiber</a:t>
            </a: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tabLst>
                <a:tab pos="368935" algn="l"/>
                <a:tab pos="37020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Glass core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and plastic</a:t>
            </a:r>
            <a:r>
              <a:rPr lang="en-US" sz="2400" spc="-6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cladding.</a:t>
            </a: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tabLst>
                <a:tab pos="28575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Higher</a:t>
            </a:r>
            <a:r>
              <a:rPr lang="en-US" sz="2400" spc="-2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losses.</a:t>
            </a: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tabLst>
                <a:tab pos="28575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Short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distance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(several hundred</a:t>
            </a:r>
            <a:r>
              <a:rPr lang="en-US" sz="2400" spc="-7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meters).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tabLst>
                <a:tab pos="285750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Reduced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cost.</a:t>
            </a:r>
          </a:p>
          <a:p>
            <a:pPr marL="469265" indent="-457200">
              <a:lnSpc>
                <a:spcPct val="100000"/>
              </a:lnSpc>
              <a:buClr>
                <a:srgbClr val="FD8537"/>
              </a:buClr>
              <a:buSzPct val="68750"/>
              <a:tabLst>
                <a:tab pos="285750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Core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Silicon resin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RI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=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1.405 at</a:t>
            </a:r>
            <a:r>
              <a:rPr lang="en-US" sz="2400" spc="-7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850nm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marR="5080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tabLst>
                <a:tab pos="285750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Clad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is Teflon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PEP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Perfluoronated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ethylene</a:t>
            </a:r>
            <a:r>
              <a:rPr lang="en-US" sz="2400" spc="-11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propylene)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with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RI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=</a:t>
            </a:r>
            <a:r>
              <a:rPr lang="en-US" sz="2400" spc="-3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1.338.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tabLst>
                <a:tab pos="285750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Large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NA with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large RI</a:t>
            </a:r>
            <a:r>
              <a:rPr lang="en-US" sz="2400" spc="-4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difference.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tabLst>
                <a:tab pos="285750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Core </a:t>
            </a:r>
            <a:r>
              <a:rPr lang="en-US" sz="2400" spc="-5" dirty="0" err="1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dia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of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150 to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600µm.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tabLst>
                <a:tab pos="285750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LED as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source.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294228"/>
            <a:ext cx="3932237" cy="4574760"/>
          </a:xfrm>
        </p:spPr>
        <p:txBody>
          <a:bodyPr>
            <a:normAutofit/>
          </a:bodyPr>
          <a:lstStyle/>
          <a:p>
            <a:pPr marL="2476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tabLst>
                <a:tab pos="298450" algn="l"/>
              </a:tabLst>
            </a:pPr>
            <a:r>
              <a:rPr lang="en-US" sz="2700" spc="-5" dirty="0">
                <a:solidFill>
                  <a:srgbClr val="565F6C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   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I-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Glass-Glass</a:t>
            </a:r>
            <a:r>
              <a:rPr lang="en-US" sz="2400" spc="-4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Fiber</a:t>
            </a: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310515" indent="-2857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sz="24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Combinations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can</a:t>
            </a:r>
            <a:r>
              <a:rPr lang="en-US" sz="2400" spc="-2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be—</a:t>
            </a:r>
          </a:p>
          <a:p>
            <a:pPr marL="310515" indent="-2857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GeO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- SiO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core, SiO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spc="-12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Cladding.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310515" indent="-2857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P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5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- SiO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core, SiO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spc="-9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Cladding.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310515" indent="-2857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SiO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core,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B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3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-SiO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spc="-82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Cladding.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310515" indent="-2857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GeO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-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B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3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- SiO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core,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B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</a:t>
            </a:r>
            <a:r>
              <a:rPr lang="en-US" sz="24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3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-SiO</a:t>
            </a:r>
            <a:r>
              <a:rPr lang="en-US" sz="2400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2</a:t>
            </a:r>
            <a:r>
              <a:rPr lang="en-US" sz="2400" spc="-179" baseline="-20833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Cladding.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1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5070" y="0"/>
            <a:ext cx="5866227" cy="1058862"/>
          </a:xfrm>
        </p:spPr>
        <p:txBody>
          <a:bodyPr>
            <a:noAutofit/>
          </a:bodyPr>
          <a:lstStyle/>
          <a:p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FIBER</a:t>
            </a:r>
            <a:r>
              <a:rPr lang="en-US" sz="4400" b="1" spc="-6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MANUFACTURE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9350" y="1228725"/>
            <a:ext cx="5457824" cy="4957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Remember!</a:t>
            </a: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Germanium dioxide and phosphorus pentaoxide increase the refractive index of glass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Boron oxide decreases the refractive index of glass.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These oxides are known as dopants.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Changing composition of the mixture during the process influences refractive index profile of the preform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609" y="1228725"/>
            <a:ext cx="5731265" cy="5127625"/>
          </a:xfrm>
        </p:spPr>
        <p:txBody>
          <a:bodyPr>
            <a:normAutofit fontScale="85000" lnSpcReduction="20000"/>
          </a:bodyPr>
          <a:lstStyle/>
          <a:p>
            <a:pPr marL="12065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tabLst>
                <a:tab pos="285750" algn="l"/>
              </a:tabLst>
            </a:pPr>
            <a:r>
              <a:rPr lang="en-US" sz="31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III- </a:t>
            </a:r>
            <a:r>
              <a:rPr lang="en-US" sz="31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Plastic</a:t>
            </a:r>
            <a:r>
              <a:rPr lang="en-US" sz="31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31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Fiber</a:t>
            </a:r>
            <a:endParaRPr lang="en-US" sz="31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Very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short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distance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(100m</a:t>
            </a:r>
            <a:r>
              <a:rPr lang="en-US" sz="3100" spc="-4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max).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High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attenuation.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Low cost,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tough, durable,</a:t>
            </a:r>
            <a:r>
              <a:rPr lang="en-US" sz="3100" spc="-7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inexpensive.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Core </a:t>
            </a:r>
            <a:r>
              <a:rPr lang="en-US" sz="3100" spc="-5" dirty="0" err="1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dia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of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110 to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1400µm.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LED as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source.</a:t>
            </a:r>
          </a:p>
          <a:p>
            <a:pPr marL="469265" marR="5080" indent="-45720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Polystyrene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core (1.6),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methyl methacrylate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clad (1.49).  NA =</a:t>
            </a:r>
            <a:r>
              <a:rPr lang="en-US" sz="3100" spc="-2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0.6.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pPr marL="469265" marR="1609090" indent="-45720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3100" spc="-5" dirty="0" err="1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Polymethyl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methacrylate core(1.49),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its </a:t>
            </a:r>
            <a:r>
              <a:rPr lang="en-US" sz="3100" spc="1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co-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polymer(1.40),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NA </a:t>
            </a:r>
            <a:r>
              <a:rPr lang="en-US" sz="3500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=</a:t>
            </a:r>
            <a:r>
              <a:rPr lang="en-US" sz="3500" spc="-4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 </a:t>
            </a:r>
            <a:r>
              <a:rPr lang="en-US" sz="3500" spc="-5" dirty="0">
                <a:latin typeface="Cambria" panose="02040503050406030204" pitchFamily="18" charset="0"/>
                <a:ea typeface="Cambria" panose="02040503050406030204" pitchFamily="18" charset="0"/>
                <a:cs typeface="Century Schoolbook"/>
              </a:rPr>
              <a:t>0.5</a:t>
            </a:r>
            <a:endParaRPr lang="en-US" sz="3500" dirty="0">
              <a:latin typeface="Cambria" panose="02040503050406030204" pitchFamily="18" charset="0"/>
              <a:ea typeface="Cambria" panose="02040503050406030204" pitchFamily="18" charset="0"/>
              <a:cs typeface="Century Schoolbook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38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723" y="0"/>
            <a:ext cx="10907078" cy="1301103"/>
          </a:xfrm>
        </p:spPr>
        <p:txBody>
          <a:bodyPr>
            <a:noAutofit/>
          </a:bodyPr>
          <a:lstStyle/>
          <a:p>
            <a:pPr algn="ctr"/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Transmission of Light Through Optical  Fibers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5776" y="1469571"/>
            <a:ext cx="6339568" cy="730705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Its total Internal</a:t>
            </a:r>
            <a:r>
              <a:rPr lang="en-US" sz="2600" b="1" spc="-60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 </a:t>
            </a:r>
            <a:r>
              <a:rPr lang="en-US" sz="2600" b="1" spc="-5" dirty="0">
                <a:latin typeface="Cambria" panose="02040503050406030204" pitchFamily="18" charset="0"/>
                <a:ea typeface="Cambria" panose="02040503050406030204" pitchFamily="18" charset="0"/>
                <a:cs typeface="Book Antiqua"/>
              </a:rPr>
              <a:t>Reflection</a:t>
            </a:r>
            <a:endParaRPr lang="en-US" sz="2600" b="1" dirty="0">
              <a:latin typeface="Cambria" panose="02040503050406030204" pitchFamily="18" charset="0"/>
              <a:ea typeface="Cambria" panose="02040503050406030204" pitchFamily="18" charset="0"/>
              <a:cs typeface="Book Antiqua"/>
            </a:endParaRPr>
          </a:p>
          <a:p>
            <a:r>
              <a:rPr lang="en-US" sz="1900" dirty="0"/>
              <a:t>(a)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object 4"/>
          <p:cNvSpPr/>
          <p:nvPr/>
        </p:nvSpPr>
        <p:spPr>
          <a:xfrm>
            <a:off x="4862404" y="2302055"/>
            <a:ext cx="5928741" cy="3925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/>
          <p:cNvSpPr/>
          <p:nvPr/>
        </p:nvSpPr>
        <p:spPr>
          <a:xfrm>
            <a:off x="343580" y="2302055"/>
            <a:ext cx="3615706" cy="38590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3580" y="6329544"/>
            <a:ext cx="10600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Figure 2.5 (a) &amp; (b) Diagram of total internal reflection in different type of optical fiber [5].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3538" y="1900238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103631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143" y="457200"/>
            <a:ext cx="7162800" cy="511629"/>
          </a:xfrm>
        </p:spPr>
        <p:txBody>
          <a:bodyPr>
            <a:noAutofit/>
          </a:bodyPr>
          <a:lstStyle/>
          <a:p>
            <a:pPr algn="ctr"/>
            <a:r>
              <a:rPr lang="en-US" sz="4400" b="1" spc="-45" dirty="0">
                <a:latin typeface="Cambria" panose="02040503050406030204" pitchFamily="18" charset="0"/>
                <a:ea typeface="Cambria" panose="02040503050406030204" pitchFamily="18" charset="0"/>
              </a:rPr>
              <a:t>Ray 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Theory</a:t>
            </a:r>
            <a:r>
              <a:rPr lang="en-US" sz="4400" b="1" spc="-3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20" dirty="0">
                <a:latin typeface="Cambria" panose="02040503050406030204" pitchFamily="18" charset="0"/>
                <a:ea typeface="Cambria" panose="02040503050406030204" pitchFamily="18" charset="0"/>
              </a:rPr>
              <a:t>Transmission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12</a:t>
            </a:fld>
            <a:endParaRPr lang="en-US"/>
          </a:p>
        </p:txBody>
      </p:sp>
      <p:sp>
        <p:nvSpPr>
          <p:cNvPr id="6" name="object 3"/>
          <p:cNvSpPr txBox="1"/>
          <p:nvPr/>
        </p:nvSpPr>
        <p:spPr>
          <a:xfrm>
            <a:off x="478301" y="1237957"/>
            <a:ext cx="10189699" cy="4973082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915"/>
              </a:spcBef>
            </a:pPr>
            <a:r>
              <a:rPr sz="2400" b="1" spc="-30" dirty="0">
                <a:latin typeface="Cambria"/>
                <a:cs typeface="Cambria"/>
              </a:rPr>
              <a:t>Refractive</a:t>
            </a:r>
            <a:r>
              <a:rPr sz="2400" b="1" spc="-5" dirty="0">
                <a:latin typeface="Cambria"/>
                <a:cs typeface="Cambria"/>
              </a:rPr>
              <a:t> </a:t>
            </a:r>
            <a:r>
              <a:rPr sz="2400" b="1" spc="-15" dirty="0">
                <a:latin typeface="Cambria"/>
                <a:cs typeface="Cambria"/>
              </a:rPr>
              <a:t>index</a:t>
            </a:r>
            <a:endParaRPr sz="2400" b="1" dirty="0">
              <a:latin typeface="Cambria"/>
              <a:cs typeface="Cambria"/>
            </a:endParaRPr>
          </a:p>
          <a:p>
            <a:pPr marL="354965" marR="6350" indent="-342900" algn="just">
              <a:lnSpc>
                <a:spcPct val="100000"/>
              </a:lnSpc>
              <a:spcBef>
                <a:spcPts val="615"/>
              </a:spcBef>
              <a:buClr>
                <a:srgbClr val="0AD0D9"/>
              </a:buClr>
              <a:buSzPct val="93750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dirty="0">
                <a:latin typeface="Cambria"/>
                <a:cs typeface="Cambria"/>
              </a:rPr>
              <a:t>The </a:t>
            </a:r>
            <a:r>
              <a:rPr sz="2400" spc="-5" dirty="0">
                <a:latin typeface="Cambria"/>
                <a:cs typeface="Cambria"/>
              </a:rPr>
              <a:t>index </a:t>
            </a:r>
            <a:r>
              <a:rPr sz="2400" spc="-10" dirty="0">
                <a:latin typeface="Cambria"/>
                <a:cs typeface="Cambria"/>
              </a:rPr>
              <a:t>of refraction </a:t>
            </a:r>
            <a:r>
              <a:rPr sz="2400" spc="-5" dirty="0">
                <a:latin typeface="Cambria"/>
                <a:cs typeface="Cambria"/>
              </a:rPr>
              <a:t>of </a:t>
            </a:r>
            <a:r>
              <a:rPr sz="2400" dirty="0">
                <a:latin typeface="Cambria"/>
                <a:cs typeface="Cambria"/>
              </a:rPr>
              <a:t>a </a:t>
            </a:r>
            <a:r>
              <a:rPr sz="2400" spc="-5" dirty="0">
                <a:latin typeface="Cambria"/>
                <a:cs typeface="Cambria"/>
              </a:rPr>
              <a:t>material </a:t>
            </a:r>
            <a:r>
              <a:rPr sz="2400" dirty="0">
                <a:latin typeface="Cambria"/>
                <a:cs typeface="Cambria"/>
              </a:rPr>
              <a:t>is </a:t>
            </a:r>
            <a:r>
              <a:rPr sz="2400" spc="-5" dirty="0">
                <a:latin typeface="Cambria"/>
                <a:cs typeface="Cambria"/>
              </a:rPr>
              <a:t>the </a:t>
            </a:r>
            <a:r>
              <a:rPr sz="2400" spc="-10" dirty="0">
                <a:latin typeface="Cambria"/>
                <a:cs typeface="Cambria"/>
              </a:rPr>
              <a:t>ratio </a:t>
            </a:r>
            <a:r>
              <a:rPr sz="2400" spc="-5" dirty="0">
                <a:latin typeface="Cambria"/>
                <a:cs typeface="Cambria"/>
              </a:rPr>
              <a:t>of the </a:t>
            </a:r>
            <a:r>
              <a:rPr sz="2400" dirty="0">
                <a:latin typeface="Cambria"/>
                <a:cs typeface="Cambria"/>
              </a:rPr>
              <a:t>speed  </a:t>
            </a:r>
            <a:r>
              <a:rPr sz="2400" spc="-5" dirty="0">
                <a:latin typeface="Cambria"/>
                <a:cs typeface="Cambria"/>
              </a:rPr>
              <a:t>of light </a:t>
            </a:r>
            <a:r>
              <a:rPr sz="2400" dirty="0">
                <a:latin typeface="Cambria"/>
                <a:cs typeface="Cambria"/>
              </a:rPr>
              <a:t>in a </a:t>
            </a:r>
            <a:r>
              <a:rPr sz="2400" spc="-15" dirty="0">
                <a:latin typeface="Cambria"/>
                <a:cs typeface="Cambria"/>
              </a:rPr>
              <a:t>vac</a:t>
            </a:r>
            <a:r>
              <a:rPr lang="en-US" sz="2400" spc="-15" dirty="0">
                <a:latin typeface="Cambria"/>
                <a:cs typeface="Cambria"/>
              </a:rPr>
              <a:t>u</a:t>
            </a:r>
            <a:r>
              <a:rPr sz="2400" spc="-15" dirty="0">
                <a:latin typeface="Cambria"/>
                <a:cs typeface="Cambria"/>
              </a:rPr>
              <a:t>um to </a:t>
            </a:r>
            <a:r>
              <a:rPr sz="2400" spc="-5" dirty="0">
                <a:latin typeface="Cambria"/>
                <a:cs typeface="Cambria"/>
              </a:rPr>
              <a:t>the </a:t>
            </a:r>
            <a:r>
              <a:rPr sz="2400" dirty="0">
                <a:latin typeface="Cambria"/>
                <a:cs typeface="Cambria"/>
              </a:rPr>
              <a:t>speed </a:t>
            </a:r>
            <a:r>
              <a:rPr sz="2400" spc="-5" dirty="0">
                <a:latin typeface="Cambria"/>
                <a:cs typeface="Cambria"/>
              </a:rPr>
              <a:t>of light </a:t>
            </a:r>
            <a:r>
              <a:rPr sz="2400" dirty="0">
                <a:latin typeface="Cambria"/>
                <a:cs typeface="Cambria"/>
              </a:rPr>
              <a:t>in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material</a:t>
            </a:r>
            <a:endParaRPr sz="2400" dirty="0">
              <a:latin typeface="Cambria"/>
              <a:cs typeface="Cambria"/>
            </a:endParaRPr>
          </a:p>
          <a:p>
            <a:pPr algn="just">
              <a:lnSpc>
                <a:spcPct val="100000"/>
              </a:lnSpc>
              <a:spcBef>
                <a:spcPts val="575"/>
              </a:spcBef>
            </a:pPr>
            <a:r>
              <a:rPr lang="en-US" sz="2400" b="1" i="1" dirty="0">
                <a:latin typeface="Cambria"/>
                <a:cs typeface="Cambria"/>
              </a:rPr>
              <a:t>                                           </a:t>
            </a:r>
            <a:r>
              <a:rPr sz="2400" b="1" i="1" dirty="0">
                <a:latin typeface="Cambria"/>
                <a:cs typeface="Cambria"/>
              </a:rPr>
              <a:t>n </a:t>
            </a:r>
            <a:r>
              <a:rPr sz="2400" b="1" dirty="0">
                <a:latin typeface="Cambria"/>
                <a:cs typeface="Cambria"/>
              </a:rPr>
              <a:t>=</a:t>
            </a:r>
            <a:r>
              <a:rPr sz="2400" b="1" spc="-20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c/v</a:t>
            </a:r>
            <a:endParaRPr lang="en-US" sz="2400" dirty="0">
              <a:latin typeface="Cambria"/>
              <a:cs typeface="Cambria"/>
            </a:endParaRPr>
          </a:p>
          <a:p>
            <a:pPr algn="just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factor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index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refraction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(or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refractive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index)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of</a:t>
            </a:r>
            <a:endParaRPr sz="2400" dirty="0">
              <a:latin typeface="Cambria"/>
              <a:cs typeface="Cambria"/>
            </a:endParaRPr>
          </a:p>
          <a:p>
            <a:pPr marR="5927090" algn="just">
              <a:lnSpc>
                <a:spcPct val="100000"/>
              </a:lnSpc>
            </a:pPr>
            <a:r>
              <a:rPr sz="2400" spc="-10" dirty="0">
                <a:latin typeface="Cambria"/>
                <a:cs typeface="Cambria"/>
              </a:rPr>
              <a:t>the </a:t>
            </a:r>
            <a:r>
              <a:rPr sz="2400" spc="-5" dirty="0">
                <a:latin typeface="Cambria"/>
                <a:cs typeface="Cambria"/>
              </a:rPr>
              <a:t>medium.</a:t>
            </a:r>
            <a:endParaRPr sz="2400" dirty="0">
              <a:latin typeface="Cambria"/>
              <a:cs typeface="Cambria"/>
            </a:endParaRPr>
          </a:p>
          <a:p>
            <a:pPr marL="287020" marR="5715" indent="-274955" algn="just">
              <a:lnSpc>
                <a:spcPct val="100000"/>
              </a:lnSpc>
              <a:spcBef>
                <a:spcPts val="580"/>
              </a:spcBef>
            </a:pPr>
            <a:r>
              <a:rPr lang="en-US" sz="2400" spc="-35" dirty="0">
                <a:latin typeface="Cambria"/>
                <a:cs typeface="Cambria"/>
              </a:rPr>
              <a:t>         </a:t>
            </a:r>
            <a:r>
              <a:rPr sz="2400" spc="-35" dirty="0">
                <a:latin typeface="Cambria"/>
                <a:cs typeface="Cambria"/>
              </a:rPr>
              <a:t>For </a:t>
            </a:r>
            <a:r>
              <a:rPr sz="2400" dirty="0">
                <a:latin typeface="Cambria"/>
                <a:cs typeface="Cambria"/>
              </a:rPr>
              <a:t>air </a:t>
            </a:r>
            <a:r>
              <a:rPr sz="2400" spc="-5" dirty="0">
                <a:latin typeface="Cambria"/>
                <a:cs typeface="Cambria"/>
              </a:rPr>
              <a:t>and </a:t>
            </a:r>
            <a:r>
              <a:rPr sz="2400" spc="-10" dirty="0">
                <a:latin typeface="Cambria"/>
                <a:cs typeface="Cambria"/>
              </a:rPr>
              <a:t>gases </a:t>
            </a:r>
            <a:r>
              <a:rPr sz="2400" dirty="0">
                <a:latin typeface="Cambria"/>
                <a:cs typeface="Cambria"/>
              </a:rPr>
              <a:t>n ~ 1. </a:t>
            </a:r>
            <a:r>
              <a:rPr sz="2400" spc="-20" dirty="0">
                <a:latin typeface="Cambria"/>
                <a:cs typeface="Cambria"/>
              </a:rPr>
              <a:t>At </a:t>
            </a:r>
            <a:r>
              <a:rPr sz="2400" dirty="0">
                <a:latin typeface="Cambria"/>
                <a:cs typeface="Cambria"/>
              </a:rPr>
              <a:t>optic </a:t>
            </a:r>
            <a:r>
              <a:rPr sz="2400" spc="-5" dirty="0">
                <a:latin typeface="Cambria"/>
                <a:cs typeface="Cambria"/>
              </a:rPr>
              <a:t>frequencies, the </a:t>
            </a:r>
            <a:r>
              <a:rPr sz="2400" spc="-20" dirty="0">
                <a:latin typeface="Cambria"/>
                <a:cs typeface="Cambria"/>
              </a:rPr>
              <a:t>refractive  </a:t>
            </a:r>
            <a:r>
              <a:rPr sz="2400" spc="-5" dirty="0">
                <a:latin typeface="Cambria"/>
                <a:cs typeface="Cambria"/>
              </a:rPr>
              <a:t>index of </a:t>
            </a:r>
            <a:r>
              <a:rPr sz="2400" spc="-15" dirty="0">
                <a:latin typeface="Cambria"/>
                <a:cs typeface="Cambria"/>
              </a:rPr>
              <a:t>water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-5" dirty="0">
                <a:latin typeface="Cambria"/>
                <a:cs typeface="Cambria"/>
              </a:rPr>
              <a:t> 1.33.</a:t>
            </a:r>
            <a:endParaRPr sz="2400" dirty="0">
              <a:latin typeface="Cambria"/>
              <a:cs typeface="Cambria"/>
            </a:endParaRPr>
          </a:p>
          <a:p>
            <a:pPr marL="354965" indent="-342900" algn="just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dirty="0">
                <a:latin typeface="Cambria"/>
                <a:cs typeface="Cambria"/>
              </a:rPr>
              <a:t>Glass has </a:t>
            </a:r>
            <a:r>
              <a:rPr sz="2400" spc="-15" dirty="0">
                <a:latin typeface="Cambria"/>
                <a:cs typeface="Cambria"/>
              </a:rPr>
              <a:t>many </a:t>
            </a:r>
            <a:r>
              <a:rPr sz="2400" spc="-5" dirty="0">
                <a:latin typeface="Cambria"/>
                <a:cs typeface="Cambria"/>
              </a:rPr>
              <a:t>compositions, each with </a:t>
            </a:r>
            <a:r>
              <a:rPr sz="2400" dirty="0">
                <a:latin typeface="Cambria"/>
                <a:cs typeface="Cambria"/>
              </a:rPr>
              <a:t>a </a:t>
            </a:r>
            <a:r>
              <a:rPr sz="2400" spc="-10" dirty="0">
                <a:latin typeface="Cambria"/>
                <a:cs typeface="Cambria"/>
              </a:rPr>
              <a:t>slightly</a:t>
            </a:r>
            <a:r>
              <a:rPr sz="2400" spc="-3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different</a:t>
            </a:r>
            <a:endParaRPr sz="2400" dirty="0">
              <a:latin typeface="Cambria"/>
              <a:cs typeface="Cambria"/>
            </a:endParaRPr>
          </a:p>
          <a:p>
            <a:pPr marL="287020" marR="5080" algn="just">
              <a:lnSpc>
                <a:spcPct val="100000"/>
              </a:lnSpc>
            </a:pPr>
            <a:r>
              <a:rPr sz="2400" dirty="0">
                <a:latin typeface="Cambria"/>
                <a:cs typeface="Cambria"/>
              </a:rPr>
              <a:t>n. </a:t>
            </a:r>
            <a:r>
              <a:rPr sz="2400" spc="-5" dirty="0">
                <a:latin typeface="Cambria"/>
                <a:cs typeface="Cambria"/>
              </a:rPr>
              <a:t>An </a:t>
            </a:r>
            <a:r>
              <a:rPr sz="2400" spc="-15" dirty="0">
                <a:latin typeface="Cambria"/>
                <a:cs typeface="Cambria"/>
              </a:rPr>
              <a:t>approximate </a:t>
            </a:r>
            <a:r>
              <a:rPr sz="2400" b="1" spc="-25" dirty="0">
                <a:latin typeface="Cambria"/>
                <a:cs typeface="Cambria"/>
              </a:rPr>
              <a:t>refractive </a:t>
            </a:r>
            <a:r>
              <a:rPr sz="2400" b="1" spc="-15" dirty="0">
                <a:latin typeface="Cambria"/>
                <a:cs typeface="Cambria"/>
              </a:rPr>
              <a:t>index </a:t>
            </a:r>
            <a:r>
              <a:rPr sz="2400" b="1" dirty="0">
                <a:latin typeface="Cambria"/>
                <a:cs typeface="Cambria"/>
              </a:rPr>
              <a:t>of 1.5 </a:t>
            </a:r>
            <a:r>
              <a:rPr sz="2400" dirty="0">
                <a:latin typeface="Cambria"/>
                <a:cs typeface="Cambria"/>
              </a:rPr>
              <a:t>is </a:t>
            </a:r>
            <a:r>
              <a:rPr sz="2400" spc="-15" dirty="0">
                <a:latin typeface="Cambria"/>
                <a:cs typeface="Cambria"/>
              </a:rPr>
              <a:t>representative  for </a:t>
            </a:r>
            <a:r>
              <a:rPr sz="2400" spc="-5" dirty="0">
                <a:latin typeface="Cambria"/>
                <a:cs typeface="Cambria"/>
              </a:rPr>
              <a:t>the </a:t>
            </a:r>
            <a:r>
              <a:rPr sz="2400" b="1" spc="-10" dirty="0">
                <a:latin typeface="Cambria"/>
                <a:cs typeface="Cambria"/>
              </a:rPr>
              <a:t>silica </a:t>
            </a:r>
            <a:r>
              <a:rPr sz="2400" b="1" spc="-5" dirty="0">
                <a:latin typeface="Cambria"/>
                <a:cs typeface="Cambria"/>
              </a:rPr>
              <a:t>glasses </a:t>
            </a:r>
            <a:r>
              <a:rPr sz="2400" spc="-5" dirty="0">
                <a:latin typeface="Cambria"/>
                <a:cs typeface="Cambria"/>
              </a:rPr>
              <a:t>used </a:t>
            </a:r>
            <a:r>
              <a:rPr sz="2400" dirty="0">
                <a:latin typeface="Cambria"/>
                <a:cs typeface="Cambria"/>
              </a:rPr>
              <a:t>in </a:t>
            </a:r>
            <a:r>
              <a:rPr sz="2400" spc="-5" dirty="0">
                <a:latin typeface="Cambria"/>
                <a:cs typeface="Cambria"/>
              </a:rPr>
              <a:t>fibers; </a:t>
            </a:r>
            <a:r>
              <a:rPr sz="2400" spc="-15" dirty="0">
                <a:latin typeface="Cambria"/>
                <a:cs typeface="Cambria"/>
              </a:rPr>
              <a:t>more </a:t>
            </a:r>
            <a:r>
              <a:rPr sz="2400" spc="-5" dirty="0">
                <a:latin typeface="Cambria"/>
                <a:cs typeface="Cambria"/>
              </a:rPr>
              <a:t>precise </a:t>
            </a:r>
            <a:r>
              <a:rPr sz="2400" spc="-15" dirty="0">
                <a:latin typeface="Cambria"/>
                <a:cs typeface="Cambria"/>
              </a:rPr>
              <a:t>values for  </a:t>
            </a:r>
            <a:r>
              <a:rPr sz="2400" spc="-5" dirty="0">
                <a:latin typeface="Cambria"/>
                <a:cs typeface="Cambria"/>
              </a:rPr>
              <a:t>these glasses lie </a:t>
            </a:r>
            <a:r>
              <a:rPr sz="2400" spc="-10" dirty="0">
                <a:latin typeface="Cambria"/>
                <a:cs typeface="Cambria"/>
              </a:rPr>
              <a:t>between ~</a:t>
            </a:r>
            <a:r>
              <a:rPr sz="2400" b="1" spc="-10" dirty="0">
                <a:latin typeface="Cambria"/>
                <a:cs typeface="Cambria"/>
              </a:rPr>
              <a:t>1.45 </a:t>
            </a:r>
            <a:r>
              <a:rPr sz="2400" dirty="0">
                <a:latin typeface="Cambria"/>
                <a:cs typeface="Cambria"/>
              </a:rPr>
              <a:t>and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~</a:t>
            </a:r>
            <a:r>
              <a:rPr sz="2400" b="1" spc="-10" dirty="0">
                <a:latin typeface="Cambria"/>
                <a:cs typeface="Cambria"/>
              </a:rPr>
              <a:t>1.48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986852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943" y="381000"/>
            <a:ext cx="7757432" cy="606425"/>
          </a:xfrm>
        </p:spPr>
        <p:txBody>
          <a:bodyPr>
            <a:noAutofit/>
          </a:bodyPr>
          <a:lstStyle/>
          <a:p>
            <a:r>
              <a:rPr lang="en-US" sz="4400" b="1" spc="-4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Ray 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Theory</a:t>
            </a:r>
            <a:r>
              <a:rPr lang="en-US" sz="4400" b="1" spc="-3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spc="-2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Transmission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fld id="{BDCDBBEF-AA6C-4BA6-85B2-A17D7F280E38}" type="slidenum">
              <a:rPr lang="en-US" smtClean="0"/>
              <a:t>13</a:t>
            </a:fld>
            <a:endParaRPr lang="en-US"/>
          </a:p>
        </p:txBody>
      </p:sp>
      <p:sp>
        <p:nvSpPr>
          <p:cNvPr id="8" name="object 4"/>
          <p:cNvSpPr/>
          <p:nvPr/>
        </p:nvSpPr>
        <p:spPr>
          <a:xfrm>
            <a:off x="0" y="1219200"/>
            <a:ext cx="10744200" cy="550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018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89" y="457200"/>
            <a:ext cx="5200650" cy="7143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Critical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Angle</a:t>
            </a:r>
            <a:r>
              <a:rPr lang="en-US" sz="4400" b="1" spc="-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4400" b="1" spc="-1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sz="4400" b="1" i="1" spc="-15" dirty="0"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</a:t>
            </a:r>
            <a:r>
              <a:rPr lang="en-US" sz="4400" b="1" i="1" spc="-22" baseline="-21021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c</a:t>
            </a:r>
            <a:r>
              <a:rPr lang="en-US" sz="4400" b="1" spc="-1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9848" y="1500188"/>
            <a:ext cx="6088740" cy="4677454"/>
          </a:xfrm>
        </p:spPr>
        <p:txBody>
          <a:bodyPr>
            <a:normAutofit fontScale="77500" lnSpcReduction="20000"/>
          </a:bodyPr>
          <a:lstStyle/>
          <a:p>
            <a:pPr marL="481965" indent="-457200">
              <a:lnSpc>
                <a:spcPct val="100000"/>
              </a:lnSpc>
              <a:spcBef>
                <a:spcPts val="420"/>
              </a:spcBef>
              <a:buClr>
                <a:srgbClr val="0AD0D9"/>
              </a:buClr>
              <a:buSzPct val="94444"/>
              <a:tabLst>
                <a:tab pos="300355" algn="l"/>
              </a:tabLst>
            </a:pP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</a:t>
            </a:r>
            <a:r>
              <a:rPr lang="en-US" sz="3100" spc="1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angle</a:t>
            </a:r>
            <a:r>
              <a:rPr lang="en-US" sz="3100" spc="1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at</a:t>
            </a:r>
            <a:r>
              <a:rPr lang="en-US" sz="3100" spc="12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which</a:t>
            </a:r>
            <a:r>
              <a:rPr lang="en-US" sz="3100" spc="1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total</a:t>
            </a:r>
            <a:r>
              <a:rPr lang="en-US" sz="3100" spc="12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internal</a:t>
            </a:r>
            <a:r>
              <a:rPr lang="en-US" sz="3100" spc="1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reflection</a:t>
            </a:r>
            <a:r>
              <a:rPr lang="en-US" sz="3100" spc="1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occurs</a:t>
            </a:r>
            <a:r>
              <a:rPr lang="en-US" sz="3100" spc="1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is</a:t>
            </a:r>
            <a:r>
              <a:rPr lang="en-US" sz="3100" spc="1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called</a:t>
            </a:r>
            <a:r>
              <a:rPr lang="en-US" sz="3100" spc="114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</a:t>
            </a:r>
            <a:r>
              <a:rPr lang="en-US" sz="3100" spc="1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critical</a:t>
            </a:r>
            <a:r>
              <a:rPr lang="en-US" sz="3100" spc="12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angle</a:t>
            </a:r>
            <a:r>
              <a:rPr lang="en-US" sz="3100" spc="1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 incidence.</a:t>
            </a:r>
          </a:p>
          <a:p>
            <a:pPr marL="481965" marR="17780" indent="-457200">
              <a:lnSpc>
                <a:spcPts val="2160"/>
              </a:lnSpc>
              <a:spcBef>
                <a:spcPts val="505"/>
              </a:spcBef>
              <a:buClr>
                <a:srgbClr val="0AD0D9"/>
              </a:buClr>
              <a:buSzPct val="94444"/>
              <a:tabLst>
                <a:tab pos="300355" algn="l"/>
              </a:tabLst>
            </a:pP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At any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angle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 incidence </a:t>
            </a:r>
            <a:r>
              <a:rPr lang="en-US" sz="3100" spc="-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sz="3100" i="1" spc="-20" dirty="0"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</a:t>
            </a:r>
            <a:r>
              <a:rPr lang="en-US" sz="3100" i="1" spc="-30" baseline="-20833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1</a:t>
            </a:r>
            <a:r>
              <a:rPr lang="en-US" sz="3100" spc="-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greater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than the critical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angle,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light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is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totally 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reflected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back to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glass</a:t>
            </a:r>
            <a:r>
              <a:rPr lang="en-US" sz="3100" spc="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medium.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481965" indent="-457200">
              <a:lnSpc>
                <a:spcPct val="100000"/>
              </a:lnSpc>
              <a:spcBef>
                <a:spcPts val="360"/>
              </a:spcBef>
              <a:buClr>
                <a:srgbClr val="0AD0D9"/>
              </a:buClr>
              <a:buSzPct val="94444"/>
              <a:tabLst>
                <a:tab pos="300355" algn="l"/>
              </a:tabLst>
            </a:pPr>
            <a:r>
              <a:rPr lang="en-US" sz="3100" spc="-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For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</a:t>
            </a:r>
            <a:r>
              <a:rPr lang="en-US" sz="3100" baseline="-20833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1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&gt;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</a:t>
            </a:r>
            <a:r>
              <a:rPr lang="en-US" sz="31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, the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angle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refraction </a:t>
            </a:r>
            <a:r>
              <a:rPr lang="en-US" sz="3100" spc="-5" dirty="0"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</a:t>
            </a:r>
            <a:r>
              <a:rPr lang="en-US" sz="31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is </a:t>
            </a:r>
            <a:r>
              <a:rPr lang="en-US" sz="3100" spc="-2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always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greater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than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angle</a:t>
            </a:r>
            <a:r>
              <a:rPr lang="en-US" sz="3100" spc="24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 incidence</a:t>
            </a:r>
            <a:r>
              <a:rPr lang="en-US" sz="3100" spc="-4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5" dirty="0"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</a:t>
            </a:r>
            <a:r>
              <a:rPr lang="en-US" sz="31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1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481965" indent="-457200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4444"/>
              <a:tabLst>
                <a:tab pos="300355" algn="l"/>
              </a:tabLst>
            </a:pP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When the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angle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refraction </a:t>
            </a:r>
            <a:r>
              <a:rPr lang="en-US" sz="3100" spc="-5" dirty="0"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</a:t>
            </a:r>
            <a:r>
              <a:rPr lang="en-US" sz="3100" spc="-7" baseline="-20833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is </a:t>
            </a:r>
            <a:r>
              <a:rPr lang="en-US" sz="3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90</a:t>
            </a:r>
            <a:r>
              <a:rPr lang="en-US" sz="3100" baseline="25462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o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 </a:t>
            </a:r>
            <a:r>
              <a:rPr lang="en-US" sz="3100" spc="-1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refracted </a:t>
            </a:r>
            <a:r>
              <a:rPr lang="en-US" sz="3100" spc="-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ray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emerges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parallel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to</a:t>
            </a:r>
            <a:r>
              <a:rPr lang="en-US" sz="3100" spc="-19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 </a:t>
            </a:r>
            <a:r>
              <a:rPr lang="en-US" sz="31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interface between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</a:t>
            </a:r>
            <a:r>
              <a:rPr lang="en-US" sz="3100" spc="-2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31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media.</a:t>
            </a:r>
            <a:endParaRPr lang="en-US" sz="31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99720" indent="-274955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300355" algn="l"/>
              </a:tabLst>
            </a:pPr>
            <a:endParaRPr lang="en-US" dirty="0">
              <a:latin typeface="Cambria"/>
              <a:cs typeface="Cambria"/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14</a:t>
            </a:fld>
            <a:endParaRPr lang="en-US"/>
          </a:p>
        </p:txBody>
      </p:sp>
      <p:sp>
        <p:nvSpPr>
          <p:cNvPr id="9" name="object 6"/>
          <p:cNvSpPr/>
          <p:nvPr/>
        </p:nvSpPr>
        <p:spPr>
          <a:xfrm>
            <a:off x="77788" y="1500188"/>
            <a:ext cx="5105400" cy="3414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5029" y="5410200"/>
            <a:ext cx="3439885" cy="620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object 8"/>
          <p:cNvSpPr/>
          <p:nvPr/>
        </p:nvSpPr>
        <p:spPr>
          <a:xfrm>
            <a:off x="215106" y="5263243"/>
            <a:ext cx="2590800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2960916" y="5272387"/>
            <a:ext cx="2353922" cy="905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6358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2197" y="0"/>
            <a:ext cx="7948246" cy="1252026"/>
          </a:xfrm>
        </p:spPr>
        <p:txBody>
          <a:bodyPr>
            <a:normAutofit/>
          </a:bodyPr>
          <a:lstStyle/>
          <a:p>
            <a:r>
              <a:rPr lang="en-US" sz="4400" b="1" spc="-55" dirty="0">
                <a:latin typeface="Cambria"/>
                <a:cs typeface="Cambria"/>
              </a:rPr>
              <a:t>Total </a:t>
            </a:r>
            <a:r>
              <a:rPr lang="en-US" sz="4400" b="1" spc="-10" dirty="0">
                <a:latin typeface="Cambria"/>
                <a:cs typeface="Cambria"/>
              </a:rPr>
              <a:t>internal</a:t>
            </a:r>
            <a:r>
              <a:rPr lang="en-US" sz="4400" b="1" spc="35" dirty="0">
                <a:latin typeface="Cambria"/>
                <a:cs typeface="Cambria"/>
              </a:rPr>
              <a:t> </a:t>
            </a:r>
            <a:r>
              <a:rPr lang="en-US" sz="4400" b="1" spc="-5" dirty="0">
                <a:latin typeface="Cambria"/>
                <a:cs typeface="Cambria"/>
              </a:rPr>
              <a:t>reflection</a:t>
            </a:r>
            <a:br>
              <a:rPr lang="en-US" dirty="0">
                <a:latin typeface="Cambria"/>
                <a:cs typeface="Cambria"/>
              </a:rPr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163" y="1471613"/>
            <a:ext cx="5143500" cy="5000625"/>
          </a:xfrm>
        </p:spPr>
        <p:txBody>
          <a:bodyPr>
            <a:normAutofit fontScale="32500" lnSpcReduction="20000"/>
          </a:bodyPr>
          <a:lstStyle/>
          <a:p>
            <a:pPr marL="24765">
              <a:lnSpc>
                <a:spcPct val="200000"/>
              </a:lnSpc>
              <a:spcBef>
                <a:spcPts val="1155"/>
              </a:spcBef>
              <a:buClr>
                <a:srgbClr val="0AD0D9"/>
              </a:buClr>
              <a:buSzPct val="95000"/>
              <a:tabLst>
                <a:tab pos="300355" algn="l"/>
                <a:tab pos="2808605" algn="l"/>
                <a:tab pos="3660140" algn="l"/>
              </a:tabLst>
            </a:pPr>
            <a:r>
              <a:rPr lang="en-US" sz="7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At angles of incidence </a:t>
            </a:r>
            <a:r>
              <a:rPr lang="en-US" sz="7400" b="1" i="1" spc="-20" dirty="0"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</a:t>
            </a:r>
            <a:r>
              <a:rPr lang="en-US" sz="7400" b="1" i="1" spc="-30" baseline="-21367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1  </a:t>
            </a:r>
            <a:r>
              <a:rPr lang="en-US" sz="7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&gt;</a:t>
            </a:r>
            <a:r>
              <a:rPr lang="en-US" sz="7400" b="1" spc="6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7400" b="1" i="1" spc="-25" dirty="0">
                <a:latin typeface="Symbol" panose="05050102010706020507" pitchFamily="18" charset="2"/>
                <a:ea typeface="Cambria" panose="02040503050406030204" pitchFamily="18" charset="0"/>
                <a:cs typeface="Symbol"/>
              </a:rPr>
              <a:t></a:t>
            </a:r>
            <a:r>
              <a:rPr lang="en-US" sz="7400" b="1" i="1" spc="-37" baseline="-21367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 </a:t>
            </a:r>
            <a:r>
              <a:rPr lang="en-US" sz="7400" b="1" i="1" spc="-37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</a:t>
            </a:r>
            <a:r>
              <a:rPr lang="en-US" sz="7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 light is totally reflected </a:t>
            </a:r>
            <a:r>
              <a:rPr lang="en-US" sz="7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back </a:t>
            </a:r>
            <a:r>
              <a:rPr lang="en-US" sz="7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into</a:t>
            </a:r>
            <a:r>
              <a:rPr lang="en-US" sz="7400" spc="1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7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the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i</a:t>
            </a:r>
            <a:r>
              <a:rPr lang="en-US" sz="7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cidence h</a:t>
            </a:r>
            <a:r>
              <a:rPr lang="en-US" sz="7400" spc="-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ig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h</a:t>
            </a:r>
            <a:r>
              <a:rPr lang="en-US" sz="7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 </a:t>
            </a:r>
            <a:r>
              <a:rPr lang="en-US" sz="7400" spc="-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</a:t>
            </a:r>
            <a:r>
              <a:rPr lang="en-US" sz="7400" spc="-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</a:t>
            </a:r>
            <a:r>
              <a:rPr lang="en-US" sz="7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</a:t>
            </a:r>
            <a:r>
              <a:rPr lang="en-US" sz="7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</a:t>
            </a:r>
            <a:r>
              <a:rPr lang="en-US" sz="7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</a:t>
            </a:r>
            <a:r>
              <a:rPr lang="en-US" sz="7400" spc="-4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v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 i</a:t>
            </a:r>
            <a:r>
              <a:rPr lang="en-US" sz="7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d</a:t>
            </a:r>
            <a:r>
              <a:rPr lang="en-US" sz="7400" spc="-4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e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x </a:t>
            </a:r>
            <a:r>
              <a:rPr lang="en-US" sz="7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med</a:t>
            </a:r>
            <a:r>
              <a:rPr lang="en-US" sz="7400" spc="-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</a:t>
            </a:r>
            <a:r>
              <a:rPr lang="en-US" sz="7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um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.  Th</a:t>
            </a:r>
            <a:r>
              <a:rPr lang="en-US" sz="7400" spc="-2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 </a:t>
            </a:r>
            <a:r>
              <a:rPr lang="en-US" sz="7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 </a:t>
            </a:r>
            <a:r>
              <a:rPr lang="en-US" sz="7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kno</a:t>
            </a:r>
            <a:r>
              <a:rPr lang="en-US" sz="7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w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 </a:t>
            </a:r>
            <a:r>
              <a:rPr lang="en-US" sz="7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</a:t>
            </a:r>
            <a:r>
              <a:rPr lang="en-US" sz="7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 </a:t>
            </a:r>
            <a:r>
              <a:rPr lang="en-US" sz="7400" b="1" spc="-2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</a:t>
            </a:r>
            <a:r>
              <a:rPr lang="en-US" sz="7400" b="1" spc="-1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</a:t>
            </a:r>
            <a:r>
              <a:rPr lang="en-US" sz="7400" b="1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tal  internal</a:t>
            </a:r>
            <a:r>
              <a:rPr lang="en-US" sz="7400" b="1" spc="-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7400" b="1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reflection.</a:t>
            </a:r>
            <a:endParaRPr lang="en-US" sz="7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15</a:t>
            </a:fld>
            <a:endParaRPr lang="en-US"/>
          </a:p>
        </p:txBody>
      </p:sp>
      <p:sp>
        <p:nvSpPr>
          <p:cNvPr id="6" name="object 4"/>
          <p:cNvSpPr/>
          <p:nvPr/>
        </p:nvSpPr>
        <p:spPr>
          <a:xfrm>
            <a:off x="5495925" y="1512888"/>
            <a:ext cx="5857875" cy="48434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0493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16</a:t>
            </a:fld>
            <a:endParaRPr lang="en-US"/>
          </a:p>
        </p:txBody>
      </p:sp>
      <p:sp>
        <p:nvSpPr>
          <p:cNvPr id="6" name="object 3"/>
          <p:cNvSpPr txBox="1"/>
          <p:nvPr/>
        </p:nvSpPr>
        <p:spPr>
          <a:xfrm>
            <a:off x="984738" y="942535"/>
            <a:ext cx="9084548" cy="58310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275"/>
              </a:spcBef>
              <a:buClr>
                <a:srgbClr val="0AD0D9"/>
              </a:buClr>
              <a:buSzPct val="95454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Air</a:t>
            </a:r>
            <a:r>
              <a:rPr sz="2400" spc="1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-----------------------------------------------------------------------1.0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0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3181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Water</a:t>
            </a:r>
            <a:r>
              <a:rPr sz="2400" spc="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-------------------------------------------------------------------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1.33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3181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Magnesium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fluoride</a:t>
            </a:r>
            <a:r>
              <a:rPr sz="2400" spc="9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-------------------------------------------------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1.38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3181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Fused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silica</a:t>
            </a:r>
            <a:r>
              <a:rPr sz="2400" spc="6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(SiO</a:t>
            </a:r>
            <a:r>
              <a:rPr sz="2400" spc="-10" baseline="-250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)----------------------------------------------------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1.46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5454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Sapphire</a:t>
            </a:r>
            <a:r>
              <a:rPr sz="2400" spc="2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(Al</a:t>
            </a:r>
            <a:r>
              <a:rPr sz="2400" spc="-10" baseline="-250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</a:t>
            </a:r>
            <a:r>
              <a:rPr sz="2400" spc="-10" baseline="-250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3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)------------------------------------------------------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1.8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0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3181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Lithium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niobate</a:t>
            </a:r>
            <a:r>
              <a:rPr sz="2400" spc="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(LiNbO</a:t>
            </a:r>
            <a:r>
              <a:rPr sz="2400" spc="-10" baseline="-250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3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)-------------------------------------------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2.25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3181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Indium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phosphide</a:t>
            </a:r>
            <a:r>
              <a:rPr sz="2400" spc="6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(InP)----------------------------------------------3.21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3181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Gallium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arsenide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(GaAs)</a:t>
            </a:r>
            <a:r>
              <a:rPr sz="2400" spc="1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---------------------------------------------3.35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0"/>
              </a:spcBef>
              <a:buClr>
                <a:srgbClr val="0AD0D9"/>
              </a:buClr>
              <a:buSzPct val="95454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Silicon</a:t>
            </a:r>
            <a:r>
              <a:rPr sz="2400" spc="3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(Si)---------------------------------------------------------------3.48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70"/>
              </a:spcBef>
              <a:buClr>
                <a:srgbClr val="0AD0D9"/>
              </a:buClr>
              <a:buSzPct val="93181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Indium gallium arsenide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phosphide</a:t>
            </a:r>
            <a:r>
              <a:rPr sz="2400" spc="9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(InGaAsP)-----------------3.51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0"/>
              </a:spcBef>
              <a:buClr>
                <a:srgbClr val="0AD0D9"/>
              </a:buClr>
              <a:buSzPct val="93181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Aluminum gallium arsenide</a:t>
            </a:r>
            <a:r>
              <a:rPr sz="2400" spc="2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(AlGaAs)-----------------------------3.6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0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900">
              <a:lnSpc>
                <a:spcPct val="100000"/>
              </a:lnSpc>
              <a:spcBef>
                <a:spcPts val="265"/>
              </a:spcBef>
              <a:buClr>
                <a:srgbClr val="0AD0D9"/>
              </a:buClr>
              <a:buSzPct val="93181"/>
              <a:buFont typeface="Arial" panose="020B0604020202020204" pitchFamily="34" charset="0"/>
              <a:buChar char="•"/>
              <a:tabLst>
                <a:tab pos="287655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Germanium (Ge)</a:t>
            </a:r>
            <a:r>
              <a:rPr sz="2400" spc="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-------------------------------------------------------4.0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0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603250" marR="5080" lvl="1" indent="-285750">
              <a:lnSpc>
                <a:spcPct val="100000"/>
              </a:lnSpc>
              <a:spcBef>
                <a:spcPts val="1385"/>
              </a:spcBef>
              <a:buSzPct val="94444"/>
              <a:buFont typeface="Arial" panose="020B0604020202020204" pitchFamily="34" charset="0"/>
              <a:buChar char="•"/>
              <a:tabLst>
                <a:tab pos="500380" algn="l"/>
              </a:tabLst>
            </a:pP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The</a:t>
            </a:r>
            <a:r>
              <a:rPr sz="2400" b="1" spc="-6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index</a:t>
            </a:r>
            <a:r>
              <a:rPr sz="2400" b="1" spc="-1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varies</a:t>
            </a:r>
            <a:r>
              <a:rPr sz="2400" b="1" spc="-9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with</a:t>
            </a:r>
            <a:r>
              <a:rPr sz="2400" b="1" spc="-7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</a:t>
            </a:r>
            <a:r>
              <a:rPr sz="2400" b="1" spc="-5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number</a:t>
            </a:r>
            <a:r>
              <a:rPr sz="2400" b="1" spc="-10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of </a:t>
            </a:r>
            <a:r>
              <a:rPr sz="2400" b="1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parameters,</a:t>
            </a:r>
            <a:r>
              <a:rPr sz="2400" b="1" spc="-3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such</a:t>
            </a:r>
            <a:r>
              <a:rPr sz="2400" b="1" spc="-7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as</a:t>
            </a:r>
            <a:r>
              <a:rPr sz="2400" b="1" spc="-8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spc="-15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wavelength</a:t>
            </a:r>
            <a:r>
              <a:rPr sz="2400" b="1" spc="-7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and  </a:t>
            </a:r>
            <a:r>
              <a:rPr sz="2400" b="1" spc="-10" dirty="0">
                <a:latin typeface="Cambria" panose="02040503050406030204" pitchFamily="18" charset="0"/>
                <a:ea typeface="Cambria" panose="02040503050406030204" pitchFamily="18" charset="0"/>
                <a:cs typeface="Constantia"/>
              </a:rPr>
              <a:t>temperature.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onstanti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84738" y="0"/>
            <a:ext cx="107477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-30" dirty="0">
                <a:latin typeface="Cambria"/>
                <a:cs typeface="Cambria"/>
              </a:rPr>
              <a:t>Refractive </a:t>
            </a:r>
            <a:r>
              <a:rPr lang="en-US" sz="4400" b="1" spc="-20" dirty="0">
                <a:latin typeface="Cambria"/>
                <a:cs typeface="Cambria"/>
              </a:rPr>
              <a:t>Index </a:t>
            </a:r>
            <a:r>
              <a:rPr lang="en-US" sz="4400" b="1" spc="-10" dirty="0">
                <a:latin typeface="Cambria"/>
                <a:cs typeface="Cambria"/>
              </a:rPr>
              <a:t>of </a:t>
            </a:r>
            <a:r>
              <a:rPr lang="en-US" sz="4400" b="1" dirty="0">
                <a:latin typeface="Cambria"/>
                <a:cs typeface="Cambria"/>
              </a:rPr>
              <a:t>Some</a:t>
            </a:r>
            <a:r>
              <a:rPr lang="en-US" sz="4400" b="1" spc="55" dirty="0">
                <a:latin typeface="Cambria"/>
                <a:cs typeface="Cambria"/>
              </a:rPr>
              <a:t> </a:t>
            </a:r>
            <a:r>
              <a:rPr lang="en-US" sz="4400" b="1" spc="-10" dirty="0">
                <a:latin typeface="Cambria"/>
                <a:cs typeface="Cambria"/>
              </a:rPr>
              <a:t>Materials</a:t>
            </a:r>
            <a:endParaRPr lang="en-US" sz="4400" dirty="0">
              <a:latin typeface="Cambria"/>
              <a:cs typeface="Cambria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93949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229" y="1"/>
            <a:ext cx="5458264" cy="928468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Assessment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5813" y="1385889"/>
            <a:ext cx="8543925" cy="533558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Quiz link for Assessment Test:-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  <a:hlinkClick r:id="rId2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https://docs.google.com/forms/d/e/1FAIpQLSdoaR30UPyyOY0IRVyChKPoZVB99BOTYyw61SPEVbYoxNepFQ/viewform?usp=pp_url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Home Assignment :-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Q.1 Why silica is used for the fabrication of the optical fibers?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Q.2 What is the principle of fiber optical communication?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Q.3 Do signals really travel faster in fiber optics?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Q.4 What is a better way of communication, wire or fiber optics?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58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863" y="357188"/>
            <a:ext cx="3028950" cy="630237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5459" y="1120462"/>
            <a:ext cx="9734416" cy="560101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[1]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https://www.ispreview.co.uk/index.php/2013/07/alcatel-lucent-breaks-record-with-31tbps-over-a-single-fibre-optic-cable.html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http://constructionmanuals.tpub.com/14026/css/Fiber-Buffers-193.htm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[3]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https://www.slideshare.net/ankushsaini123/6796optical-fibres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[4]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https://www.slideshare.net/MadhumitaTamhane/optical-fiber-communication-part-1- optical-fiber-fundamentals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[5] (a)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 http://constructionmanuals.tpub.com/14026/css/Fiber-Buffers-193.htm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(b)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https://computer.howstuffworks.com/fiber-optic2.htm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[6]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https://www.slideshare.net/PratyushSrivastava8/optical-fiber-cable-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v2?from_action=save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[7]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https://www.ques10.com/p/21598/derive-the-expression-of-numerical-aperture-                   for-a-/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[8]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https://www.explainthatstuff.com/fiberoptics.html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[9]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11"/>
              </a:rPr>
              <a:t>http://fiberonda.com/single-mode-vs-multi-mode-fiber-optic-cable/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[10] </a:t>
            </a:r>
            <a:r>
              <a:rPr lang="en-US" sz="2000" u="sng" dirty="0">
                <a:hlinkClick r:id="rId12"/>
              </a:rPr>
              <a:t>https://images.app.goo.gl/LLWfgV3PjgLc9RbDA</a:t>
            </a:r>
            <a:r>
              <a:rPr lang="en-US" sz="2000" dirty="0"/>
              <a:t>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b="1" dirty="0">
              <a:hlinkClick r:id="rId3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60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669" y="1400783"/>
            <a:ext cx="10557720" cy="4975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Text book </a:t>
            </a:r>
          </a:p>
          <a:p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Beiser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A.,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Ghatak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Garg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S.C., Applied Physics, Edition 1st, (2013), Tata McGraw-Hill, Noida.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Laud B.B., Laser and Non -Linear Optics, Edition 1st, (1991), Wiley Eastern Ltd. </a:t>
            </a:r>
          </a:p>
          <a:p>
            <a:pPr marL="0" indent="0"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E- content</a:t>
            </a:r>
          </a:p>
          <a:p>
            <a:pPr marL="0" indent="0">
              <a:buNone/>
            </a:pPr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hlinkClick r:id="rId2"/>
              </a:rPr>
              <a:t>http://www.fiberopticshare.com/what-are-the-components-of-optical-fiber.html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33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3914775" y="5474881"/>
            <a:ext cx="3755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per"/>
              </a:rPr>
              <a:t>For Queries:-</a:t>
            </a:r>
          </a:p>
          <a:p>
            <a:r>
              <a:rPr lang="en-US" dirty="0">
                <a:latin typeface="Casper"/>
              </a:rPr>
              <a:t>deepak.e1972@cumail.in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3817</TotalTime>
  <Words>1495</Words>
  <Application>Microsoft Office PowerPoint</Application>
  <PresentationFormat>Widescreen</PresentationFormat>
  <Paragraphs>194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Arial</vt:lpstr>
      <vt:lpstr>Arial Black</vt:lpstr>
      <vt:lpstr>Book Antiqua</vt:lpstr>
      <vt:lpstr>Calibri</vt:lpstr>
      <vt:lpstr>Calibri Light</vt:lpstr>
      <vt:lpstr>Cambria</vt:lpstr>
      <vt:lpstr>Casper</vt:lpstr>
      <vt:lpstr>Casper Bold</vt:lpstr>
      <vt:lpstr>Raleway ExtraBold</vt:lpstr>
      <vt:lpstr>Symbol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 </vt:lpstr>
      <vt:lpstr> </vt:lpstr>
      <vt:lpstr>Brief Flow of Presentation</vt:lpstr>
      <vt:lpstr>Definition of Optical fiber</vt:lpstr>
      <vt:lpstr>PowerPoint Presentation</vt:lpstr>
      <vt:lpstr>PowerPoint Presentation</vt:lpstr>
      <vt:lpstr>FIBER MANUFACTURE</vt:lpstr>
      <vt:lpstr>FIBER MANUFACTURE</vt:lpstr>
      <vt:lpstr>FIBER MANUFACTURE</vt:lpstr>
      <vt:lpstr>Transmission of Light Through Optical  Fibers</vt:lpstr>
      <vt:lpstr>Ray Theory Transmission</vt:lpstr>
      <vt:lpstr>Ray Theory Transmission</vt:lpstr>
      <vt:lpstr>Critical Angle (c)</vt:lpstr>
      <vt:lpstr>Total internal reflection </vt:lpstr>
      <vt:lpstr>PowerPoint Presentation</vt:lpstr>
      <vt:lpstr>Assessment Test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286</cp:revision>
  <dcterms:created xsi:type="dcterms:W3CDTF">2019-01-09T10:33:58Z</dcterms:created>
  <dcterms:modified xsi:type="dcterms:W3CDTF">2023-06-14T08:06:56Z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1697691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S9.0.1</vt:lpwstr>
  </property>
</Properties>
</file>