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5"/>
  </p:notesMasterIdLst>
  <p:handoutMasterIdLst>
    <p:handoutMasterId r:id="rId26"/>
  </p:handoutMasterIdLst>
  <p:sldIdLst>
    <p:sldId id="277" r:id="rId3"/>
    <p:sldId id="265" r:id="rId4"/>
    <p:sldId id="377" r:id="rId5"/>
    <p:sldId id="295" r:id="rId6"/>
    <p:sldId id="281" r:id="rId7"/>
    <p:sldId id="291" r:id="rId8"/>
    <p:sldId id="484" r:id="rId9"/>
    <p:sldId id="293" r:id="rId10"/>
    <p:sldId id="485" r:id="rId11"/>
    <p:sldId id="486" r:id="rId12"/>
    <p:sldId id="487" r:id="rId13"/>
    <p:sldId id="488" r:id="rId14"/>
    <p:sldId id="492" r:id="rId15"/>
    <p:sldId id="491" r:id="rId16"/>
    <p:sldId id="489" r:id="rId17"/>
    <p:sldId id="483" r:id="rId18"/>
    <p:sldId id="490" r:id="rId19"/>
    <p:sldId id="383" r:id="rId20"/>
    <p:sldId id="384" r:id="rId21"/>
    <p:sldId id="284" r:id="rId22"/>
    <p:sldId id="385"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20" clrIdx="0">
    <p:extLst>
      <p:ext uri="{19B8F6BF-5375-455C-9EA6-DF929625EA0E}">
        <p15:presenceInfo xmlns:p15="http://schemas.microsoft.com/office/powerpoint/2012/main"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14" autoAdjust="0"/>
    <p:restoredTop sz="94394" autoAdjust="0"/>
  </p:normalViewPr>
  <p:slideViewPr>
    <p:cSldViewPr snapToGrid="0">
      <p:cViewPr varScale="1">
        <p:scale>
          <a:sx n="66" d="100"/>
          <a:sy n="66" d="100"/>
        </p:scale>
        <p:origin x="67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_rels/drawing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654A98-D1FE-4D52-AC40-FC2940D83D90}" type="doc">
      <dgm:prSet loTypeId="urn:microsoft.com/office/officeart/2005/8/layout/hList7" loCatId="list" qsTypeId="urn:microsoft.com/office/officeart/2005/8/quickstyle/simple3" qsCatId="simple" csTypeId="urn:microsoft.com/office/officeart/2005/8/colors/colorful1" csCatId="colorful" phldr="1"/>
      <dgm:spPr/>
      <dgm:t>
        <a:bodyPr/>
        <a:lstStyle/>
        <a:p>
          <a:endParaRPr lang="en-IN"/>
        </a:p>
      </dgm:t>
    </dgm:pt>
    <dgm:pt modelId="{EB8A354C-F3C7-454B-83E5-47C0AFE4BA9B}">
      <dgm:prSet phldrT="[Text]" custT="1"/>
      <dgm:spPr/>
      <dgm:t>
        <a:bodyPr/>
        <a:lstStyle/>
        <a:p>
          <a:pPr algn="just"/>
          <a:r>
            <a:rPr lang="en-IN" sz="2400" dirty="0">
              <a:latin typeface="+mn-lt"/>
              <a:cs typeface="Times New Roman" panose="02020603050405020304" pitchFamily="18" charset="0"/>
            </a:rPr>
            <a:t>Students will learn about synthesis of nanomaterials</a:t>
          </a:r>
        </a:p>
      </dgm:t>
    </dgm:pt>
    <dgm:pt modelId="{855DF5E0-6DD9-47D1-85C1-71E7C93C7938}" type="parTrans" cxnId="{1F8DC843-A980-4671-A488-C56D7E2A0332}">
      <dgm:prSet/>
      <dgm:spPr/>
      <dgm:t>
        <a:bodyPr/>
        <a:lstStyle/>
        <a:p>
          <a:endParaRPr lang="en-IN"/>
        </a:p>
      </dgm:t>
    </dgm:pt>
    <dgm:pt modelId="{50DA53F4-7CD0-42FA-8C47-6937EC0C788A}" type="sibTrans" cxnId="{1F8DC843-A980-4671-A488-C56D7E2A0332}">
      <dgm:prSet/>
      <dgm:spPr/>
      <dgm:t>
        <a:bodyPr/>
        <a:lstStyle/>
        <a:p>
          <a:endParaRPr lang="en-IN"/>
        </a:p>
      </dgm:t>
    </dgm:pt>
    <dgm:pt modelId="{6D978731-264F-4D48-A49B-A558474EE7D8}">
      <dgm:prSet phldrT="[Text]" custT="1"/>
      <dgm:spPr/>
      <dgm:t>
        <a:bodyPr/>
        <a:lstStyle/>
        <a:p>
          <a:pPr algn="just"/>
          <a:r>
            <a:rPr lang="en-IN" sz="2400" dirty="0">
              <a:latin typeface="+mn-lt"/>
              <a:cs typeface="Times New Roman" panose="02020603050405020304" pitchFamily="18" charset="0"/>
            </a:rPr>
            <a:t>Students will understand about sol gel method.</a:t>
          </a:r>
        </a:p>
      </dgm:t>
    </dgm:pt>
    <dgm:pt modelId="{1303F81F-D0B2-40BD-8EE0-E03135E9309A}" type="parTrans" cxnId="{9F5C091B-72EC-40AD-8C58-AB1B32E39C39}">
      <dgm:prSet/>
      <dgm:spPr/>
      <dgm:t>
        <a:bodyPr/>
        <a:lstStyle/>
        <a:p>
          <a:endParaRPr lang="en-IN"/>
        </a:p>
      </dgm:t>
    </dgm:pt>
    <dgm:pt modelId="{E615A6AB-D553-414A-AF92-F290BC3F199A}" type="sibTrans" cxnId="{9F5C091B-72EC-40AD-8C58-AB1B32E39C39}">
      <dgm:prSet/>
      <dgm:spPr/>
      <dgm:t>
        <a:bodyPr/>
        <a:lstStyle/>
        <a:p>
          <a:endParaRPr lang="en-IN"/>
        </a:p>
      </dgm:t>
    </dgm:pt>
    <dgm:pt modelId="{FF9B39E7-F148-497F-8E27-B07B0EA561CD}">
      <dgm:prSet phldrT="[Text]" custT="1"/>
      <dgm:spPr/>
      <dgm:t>
        <a:bodyPr/>
        <a:lstStyle/>
        <a:p>
          <a:pPr algn="just"/>
          <a:r>
            <a:rPr lang="en-IN" sz="2400" dirty="0">
              <a:latin typeface="+mn-lt"/>
              <a:cs typeface="Times New Roman" panose="02020603050405020304" pitchFamily="18" charset="0"/>
            </a:rPr>
            <a:t>Students will learn about nanocomputing.</a:t>
          </a:r>
        </a:p>
      </dgm:t>
    </dgm:pt>
    <dgm:pt modelId="{F606E620-6C7D-4583-BC51-2DA4AAB6BBC6}" type="parTrans" cxnId="{783D770D-A246-4A80-B5AA-3B108B54D3CD}">
      <dgm:prSet/>
      <dgm:spPr/>
      <dgm:t>
        <a:bodyPr/>
        <a:lstStyle/>
        <a:p>
          <a:endParaRPr lang="en-IN"/>
        </a:p>
      </dgm:t>
    </dgm:pt>
    <dgm:pt modelId="{93D5ABFB-C6E8-4E92-BE50-246FE07E8EE5}" type="sibTrans" cxnId="{783D770D-A246-4A80-B5AA-3B108B54D3CD}">
      <dgm:prSet/>
      <dgm:spPr/>
      <dgm:t>
        <a:bodyPr/>
        <a:lstStyle/>
        <a:p>
          <a:endParaRPr lang="en-IN"/>
        </a:p>
      </dgm:t>
    </dgm:pt>
    <dgm:pt modelId="{E28E89FF-891B-4BC0-AF5B-351B44FE9A5A}" type="pres">
      <dgm:prSet presAssocID="{39654A98-D1FE-4D52-AC40-FC2940D83D90}" presName="Name0" presStyleCnt="0">
        <dgm:presLayoutVars>
          <dgm:dir/>
          <dgm:resizeHandles val="exact"/>
        </dgm:presLayoutVars>
      </dgm:prSet>
      <dgm:spPr/>
    </dgm:pt>
    <dgm:pt modelId="{323C8708-EBC8-4346-B9D7-F4F4FED58C31}" type="pres">
      <dgm:prSet presAssocID="{39654A98-D1FE-4D52-AC40-FC2940D83D90}" presName="fgShape" presStyleLbl="fgShp" presStyleIdx="0" presStyleCnt="1"/>
      <dgm:spPr/>
    </dgm:pt>
    <dgm:pt modelId="{068BF970-D871-4BF1-97F3-0BE30617AC82}" type="pres">
      <dgm:prSet presAssocID="{39654A98-D1FE-4D52-AC40-FC2940D83D90}" presName="linComp" presStyleCnt="0"/>
      <dgm:spPr/>
    </dgm:pt>
    <dgm:pt modelId="{E30EBF77-120B-4CD3-A033-94649BE40A66}" type="pres">
      <dgm:prSet presAssocID="{EB8A354C-F3C7-454B-83E5-47C0AFE4BA9B}" presName="compNode" presStyleCnt="0"/>
      <dgm:spPr/>
    </dgm:pt>
    <dgm:pt modelId="{B0625DDC-302A-456C-8B12-57155170D50A}" type="pres">
      <dgm:prSet presAssocID="{EB8A354C-F3C7-454B-83E5-47C0AFE4BA9B}" presName="bkgdShape" presStyleLbl="node1" presStyleIdx="0" presStyleCnt="3"/>
      <dgm:spPr/>
    </dgm:pt>
    <dgm:pt modelId="{AE6D4CE1-C252-41FF-A301-5445162591BD}" type="pres">
      <dgm:prSet presAssocID="{EB8A354C-F3C7-454B-83E5-47C0AFE4BA9B}" presName="nodeTx" presStyleLbl="node1" presStyleIdx="0" presStyleCnt="3">
        <dgm:presLayoutVars>
          <dgm:bulletEnabled val="1"/>
        </dgm:presLayoutVars>
      </dgm:prSet>
      <dgm:spPr/>
    </dgm:pt>
    <dgm:pt modelId="{BE5B8B0C-3C04-4580-B087-168909CA886E}" type="pres">
      <dgm:prSet presAssocID="{EB8A354C-F3C7-454B-83E5-47C0AFE4BA9B}" presName="invisiNode" presStyleLbl="node1" presStyleIdx="0" presStyleCnt="3"/>
      <dgm:spPr/>
    </dgm:pt>
    <dgm:pt modelId="{B103F8D8-76B4-4272-BA94-128B4C2C71A0}" type="pres">
      <dgm:prSet presAssocID="{EB8A354C-F3C7-454B-83E5-47C0AFE4BA9B}" presName="imagNode" presStyleLbl="fgImgPlace1" presStyleIdx="0" presStyleCnt="3" custLinFactNeighborX="-8628" custLinFactNeighborY="-1536"/>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dgm:spPr>
    </dgm:pt>
    <dgm:pt modelId="{485E51A4-F0D1-4786-A30C-7A22C6116916}" type="pres">
      <dgm:prSet presAssocID="{50DA53F4-7CD0-42FA-8C47-6937EC0C788A}" presName="sibTrans" presStyleLbl="sibTrans2D1" presStyleIdx="0" presStyleCnt="0"/>
      <dgm:spPr/>
    </dgm:pt>
    <dgm:pt modelId="{365E3586-FE2C-46EC-A4DB-F75C9DC9BE12}" type="pres">
      <dgm:prSet presAssocID="{6D978731-264F-4D48-A49B-A558474EE7D8}" presName="compNode" presStyleCnt="0"/>
      <dgm:spPr/>
    </dgm:pt>
    <dgm:pt modelId="{59466344-34F2-47FE-BE5B-DE4D2D0D235D}" type="pres">
      <dgm:prSet presAssocID="{6D978731-264F-4D48-A49B-A558474EE7D8}" presName="bkgdShape" presStyleLbl="node1" presStyleIdx="1" presStyleCnt="3" custLinFactNeighborX="-1471"/>
      <dgm:spPr/>
    </dgm:pt>
    <dgm:pt modelId="{266A0E14-40CF-4920-A67F-1CCB058A7470}" type="pres">
      <dgm:prSet presAssocID="{6D978731-264F-4D48-A49B-A558474EE7D8}" presName="nodeTx" presStyleLbl="node1" presStyleIdx="1" presStyleCnt="3">
        <dgm:presLayoutVars>
          <dgm:bulletEnabled val="1"/>
        </dgm:presLayoutVars>
      </dgm:prSet>
      <dgm:spPr/>
    </dgm:pt>
    <dgm:pt modelId="{97682022-119D-48E1-AF8F-5229A0350892}" type="pres">
      <dgm:prSet presAssocID="{6D978731-264F-4D48-A49B-A558474EE7D8}" presName="invisiNode" presStyleLbl="node1" presStyleIdx="1" presStyleCnt="3"/>
      <dgm:spPr/>
    </dgm:pt>
    <dgm:pt modelId="{50C2274F-4F2F-4CCF-A2D0-F4FCD0746BCB}" type="pres">
      <dgm:prSet presAssocID="{6D978731-264F-4D48-A49B-A558474EE7D8}" presName="imagNode" presStyleLbl="fgImgPlace1" presStyleIdx="1" presStyleCnt="3" custLinFactNeighborX="-811" custLinFactNeighborY="-1621"/>
      <dgm:spPr>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dgm:spPr>
    </dgm:pt>
    <dgm:pt modelId="{AB002910-53CC-4237-BE47-F9C520C00106}" type="pres">
      <dgm:prSet presAssocID="{E615A6AB-D553-414A-AF92-F290BC3F199A}" presName="sibTrans" presStyleLbl="sibTrans2D1" presStyleIdx="0" presStyleCnt="0"/>
      <dgm:spPr/>
    </dgm:pt>
    <dgm:pt modelId="{BACE84A8-E6D3-41DC-8EAF-DEDCC00F43B5}" type="pres">
      <dgm:prSet presAssocID="{FF9B39E7-F148-497F-8E27-B07B0EA561CD}" presName="compNode" presStyleCnt="0"/>
      <dgm:spPr/>
    </dgm:pt>
    <dgm:pt modelId="{B2B10F68-512F-4683-BEE4-9F8C729BF5C7}" type="pres">
      <dgm:prSet presAssocID="{FF9B39E7-F148-497F-8E27-B07B0EA561CD}" presName="bkgdShape" presStyleLbl="node1" presStyleIdx="2" presStyleCnt="3"/>
      <dgm:spPr/>
    </dgm:pt>
    <dgm:pt modelId="{70C2D766-8FE4-4831-8DBD-FA88F235FC1A}" type="pres">
      <dgm:prSet presAssocID="{FF9B39E7-F148-497F-8E27-B07B0EA561CD}" presName="nodeTx" presStyleLbl="node1" presStyleIdx="2" presStyleCnt="3">
        <dgm:presLayoutVars>
          <dgm:bulletEnabled val="1"/>
        </dgm:presLayoutVars>
      </dgm:prSet>
      <dgm:spPr/>
    </dgm:pt>
    <dgm:pt modelId="{F1727CDB-073A-47B7-B6A4-49E5643CBEF8}" type="pres">
      <dgm:prSet presAssocID="{FF9B39E7-F148-497F-8E27-B07B0EA561CD}" presName="invisiNode" presStyleLbl="node1" presStyleIdx="2" presStyleCnt="3"/>
      <dgm:spPr/>
    </dgm:pt>
    <dgm:pt modelId="{248B46C9-1690-4475-9D9E-0B3167A7796B}" type="pres">
      <dgm:prSet presAssocID="{FF9B39E7-F148-497F-8E27-B07B0EA561CD}" presName="imagNode"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dgm:spPr>
    </dgm:pt>
  </dgm:ptLst>
  <dgm:cxnLst>
    <dgm:cxn modelId="{DE73E20C-5717-44E6-992D-C0510FCBD0E6}" type="presOf" srcId="{FF9B39E7-F148-497F-8E27-B07B0EA561CD}" destId="{B2B10F68-512F-4683-BEE4-9F8C729BF5C7}" srcOrd="0" destOrd="0" presId="urn:microsoft.com/office/officeart/2005/8/layout/hList7"/>
    <dgm:cxn modelId="{783D770D-A246-4A80-B5AA-3B108B54D3CD}" srcId="{39654A98-D1FE-4D52-AC40-FC2940D83D90}" destId="{FF9B39E7-F148-497F-8E27-B07B0EA561CD}" srcOrd="2" destOrd="0" parTransId="{F606E620-6C7D-4583-BC51-2DA4AAB6BBC6}" sibTransId="{93D5ABFB-C6E8-4E92-BE50-246FE07E8EE5}"/>
    <dgm:cxn modelId="{E48C9D19-B22D-493F-BFF0-F531F73A9C79}" type="presOf" srcId="{E615A6AB-D553-414A-AF92-F290BC3F199A}" destId="{AB002910-53CC-4237-BE47-F9C520C00106}" srcOrd="0" destOrd="0" presId="urn:microsoft.com/office/officeart/2005/8/layout/hList7"/>
    <dgm:cxn modelId="{9F5C091B-72EC-40AD-8C58-AB1B32E39C39}" srcId="{39654A98-D1FE-4D52-AC40-FC2940D83D90}" destId="{6D978731-264F-4D48-A49B-A558474EE7D8}" srcOrd="1" destOrd="0" parTransId="{1303F81F-D0B2-40BD-8EE0-E03135E9309A}" sibTransId="{E615A6AB-D553-414A-AF92-F290BC3F199A}"/>
    <dgm:cxn modelId="{2BC2482C-E41C-48D8-8EE1-65F2B17BC8D2}" type="presOf" srcId="{EB8A354C-F3C7-454B-83E5-47C0AFE4BA9B}" destId="{B0625DDC-302A-456C-8B12-57155170D50A}" srcOrd="0" destOrd="0" presId="urn:microsoft.com/office/officeart/2005/8/layout/hList7"/>
    <dgm:cxn modelId="{1F8DC843-A980-4671-A488-C56D7E2A0332}" srcId="{39654A98-D1FE-4D52-AC40-FC2940D83D90}" destId="{EB8A354C-F3C7-454B-83E5-47C0AFE4BA9B}" srcOrd="0" destOrd="0" parTransId="{855DF5E0-6DD9-47D1-85C1-71E7C93C7938}" sibTransId="{50DA53F4-7CD0-42FA-8C47-6937EC0C788A}"/>
    <dgm:cxn modelId="{0F815C45-79BD-4C33-A044-990A498C8101}" type="presOf" srcId="{39654A98-D1FE-4D52-AC40-FC2940D83D90}" destId="{E28E89FF-891B-4BC0-AF5B-351B44FE9A5A}" srcOrd="0" destOrd="0" presId="urn:microsoft.com/office/officeart/2005/8/layout/hList7"/>
    <dgm:cxn modelId="{BB57B1A6-C7BF-4B73-9E9A-07A9A7CAD7C7}" type="presOf" srcId="{50DA53F4-7CD0-42FA-8C47-6937EC0C788A}" destId="{485E51A4-F0D1-4786-A30C-7A22C6116916}" srcOrd="0" destOrd="0" presId="urn:microsoft.com/office/officeart/2005/8/layout/hList7"/>
    <dgm:cxn modelId="{E2E5A6A8-7193-4731-AD9C-755A0977BB7C}" type="presOf" srcId="{EB8A354C-F3C7-454B-83E5-47C0AFE4BA9B}" destId="{AE6D4CE1-C252-41FF-A301-5445162591BD}" srcOrd="1" destOrd="0" presId="urn:microsoft.com/office/officeart/2005/8/layout/hList7"/>
    <dgm:cxn modelId="{3BCF00C3-8E60-4591-A85E-900640FA81D7}" type="presOf" srcId="{6D978731-264F-4D48-A49B-A558474EE7D8}" destId="{59466344-34F2-47FE-BE5B-DE4D2D0D235D}" srcOrd="0" destOrd="0" presId="urn:microsoft.com/office/officeart/2005/8/layout/hList7"/>
    <dgm:cxn modelId="{4A4CC3DF-3995-40FC-9BE0-AAE36A37095C}" type="presOf" srcId="{6D978731-264F-4D48-A49B-A558474EE7D8}" destId="{266A0E14-40CF-4920-A67F-1CCB058A7470}" srcOrd="1" destOrd="0" presId="urn:microsoft.com/office/officeart/2005/8/layout/hList7"/>
    <dgm:cxn modelId="{165587EA-BDB9-41E9-BC3E-F451BF8B049C}" type="presOf" srcId="{FF9B39E7-F148-497F-8E27-B07B0EA561CD}" destId="{70C2D766-8FE4-4831-8DBD-FA88F235FC1A}" srcOrd="1" destOrd="0" presId="urn:microsoft.com/office/officeart/2005/8/layout/hList7"/>
    <dgm:cxn modelId="{67477FD3-D294-4FB0-897E-212966FE5875}" type="presParOf" srcId="{E28E89FF-891B-4BC0-AF5B-351B44FE9A5A}" destId="{323C8708-EBC8-4346-B9D7-F4F4FED58C31}" srcOrd="0" destOrd="0" presId="urn:microsoft.com/office/officeart/2005/8/layout/hList7"/>
    <dgm:cxn modelId="{2717FB1C-E02D-4A02-BADB-7257E06315DA}" type="presParOf" srcId="{E28E89FF-891B-4BC0-AF5B-351B44FE9A5A}" destId="{068BF970-D871-4BF1-97F3-0BE30617AC82}" srcOrd="1" destOrd="0" presId="urn:microsoft.com/office/officeart/2005/8/layout/hList7"/>
    <dgm:cxn modelId="{D9D5E752-39CE-406D-969E-4EBFCD065CC4}" type="presParOf" srcId="{068BF970-D871-4BF1-97F3-0BE30617AC82}" destId="{E30EBF77-120B-4CD3-A033-94649BE40A66}" srcOrd="0" destOrd="0" presId="urn:microsoft.com/office/officeart/2005/8/layout/hList7"/>
    <dgm:cxn modelId="{BFD9AA05-3D8B-4B9B-B4C8-4A90041B7CB2}" type="presParOf" srcId="{E30EBF77-120B-4CD3-A033-94649BE40A66}" destId="{B0625DDC-302A-456C-8B12-57155170D50A}" srcOrd="0" destOrd="0" presId="urn:microsoft.com/office/officeart/2005/8/layout/hList7"/>
    <dgm:cxn modelId="{D45F93B7-0BEB-4D39-8248-3E22A17C536C}" type="presParOf" srcId="{E30EBF77-120B-4CD3-A033-94649BE40A66}" destId="{AE6D4CE1-C252-41FF-A301-5445162591BD}" srcOrd="1" destOrd="0" presId="urn:microsoft.com/office/officeart/2005/8/layout/hList7"/>
    <dgm:cxn modelId="{09686947-27E9-467B-8777-D428A6390A48}" type="presParOf" srcId="{E30EBF77-120B-4CD3-A033-94649BE40A66}" destId="{BE5B8B0C-3C04-4580-B087-168909CA886E}" srcOrd="2" destOrd="0" presId="urn:microsoft.com/office/officeart/2005/8/layout/hList7"/>
    <dgm:cxn modelId="{9B3970F4-676F-4283-B9CD-424E6253C12B}" type="presParOf" srcId="{E30EBF77-120B-4CD3-A033-94649BE40A66}" destId="{B103F8D8-76B4-4272-BA94-128B4C2C71A0}" srcOrd="3" destOrd="0" presId="urn:microsoft.com/office/officeart/2005/8/layout/hList7"/>
    <dgm:cxn modelId="{B637A60B-A4A1-40E8-B7D3-FEB757DB510B}" type="presParOf" srcId="{068BF970-D871-4BF1-97F3-0BE30617AC82}" destId="{485E51A4-F0D1-4786-A30C-7A22C6116916}" srcOrd="1" destOrd="0" presId="urn:microsoft.com/office/officeart/2005/8/layout/hList7"/>
    <dgm:cxn modelId="{18AC45AB-E494-42A0-9E99-559E885FFB72}" type="presParOf" srcId="{068BF970-D871-4BF1-97F3-0BE30617AC82}" destId="{365E3586-FE2C-46EC-A4DB-F75C9DC9BE12}" srcOrd="2" destOrd="0" presId="urn:microsoft.com/office/officeart/2005/8/layout/hList7"/>
    <dgm:cxn modelId="{4904A346-4C63-4389-B751-A13629DDAD04}" type="presParOf" srcId="{365E3586-FE2C-46EC-A4DB-F75C9DC9BE12}" destId="{59466344-34F2-47FE-BE5B-DE4D2D0D235D}" srcOrd="0" destOrd="0" presId="urn:microsoft.com/office/officeart/2005/8/layout/hList7"/>
    <dgm:cxn modelId="{9FFE1498-93E0-4D1A-8C89-04DB22675A8A}" type="presParOf" srcId="{365E3586-FE2C-46EC-A4DB-F75C9DC9BE12}" destId="{266A0E14-40CF-4920-A67F-1CCB058A7470}" srcOrd="1" destOrd="0" presId="urn:microsoft.com/office/officeart/2005/8/layout/hList7"/>
    <dgm:cxn modelId="{6C73281C-CAEB-41E8-8E57-15330238A5B2}" type="presParOf" srcId="{365E3586-FE2C-46EC-A4DB-F75C9DC9BE12}" destId="{97682022-119D-48E1-AF8F-5229A0350892}" srcOrd="2" destOrd="0" presId="urn:microsoft.com/office/officeart/2005/8/layout/hList7"/>
    <dgm:cxn modelId="{6AD04249-2B27-4AE2-8D83-4F66EBB2D964}" type="presParOf" srcId="{365E3586-FE2C-46EC-A4DB-F75C9DC9BE12}" destId="{50C2274F-4F2F-4CCF-A2D0-F4FCD0746BCB}" srcOrd="3" destOrd="0" presId="urn:microsoft.com/office/officeart/2005/8/layout/hList7"/>
    <dgm:cxn modelId="{B8A656EE-474D-4474-9DEC-3D6887BACF2F}" type="presParOf" srcId="{068BF970-D871-4BF1-97F3-0BE30617AC82}" destId="{AB002910-53CC-4237-BE47-F9C520C00106}" srcOrd="3" destOrd="0" presId="urn:microsoft.com/office/officeart/2005/8/layout/hList7"/>
    <dgm:cxn modelId="{8FF8CB7C-BF18-4390-9287-78081FB0981C}" type="presParOf" srcId="{068BF970-D871-4BF1-97F3-0BE30617AC82}" destId="{BACE84A8-E6D3-41DC-8EAF-DEDCC00F43B5}" srcOrd="4" destOrd="0" presId="urn:microsoft.com/office/officeart/2005/8/layout/hList7"/>
    <dgm:cxn modelId="{6F05BC51-1074-47C0-ACAF-75C98FCCB673}" type="presParOf" srcId="{BACE84A8-E6D3-41DC-8EAF-DEDCC00F43B5}" destId="{B2B10F68-512F-4683-BEE4-9F8C729BF5C7}" srcOrd="0" destOrd="0" presId="urn:microsoft.com/office/officeart/2005/8/layout/hList7"/>
    <dgm:cxn modelId="{5A61C906-A570-498D-A74D-045EC46A4A64}" type="presParOf" srcId="{BACE84A8-E6D3-41DC-8EAF-DEDCC00F43B5}" destId="{70C2D766-8FE4-4831-8DBD-FA88F235FC1A}" srcOrd="1" destOrd="0" presId="urn:microsoft.com/office/officeart/2005/8/layout/hList7"/>
    <dgm:cxn modelId="{6FCB74B2-4A64-4494-8D1B-F9CACF3143A4}" type="presParOf" srcId="{BACE84A8-E6D3-41DC-8EAF-DEDCC00F43B5}" destId="{F1727CDB-073A-47B7-B6A4-49E5643CBEF8}" srcOrd="2" destOrd="0" presId="urn:microsoft.com/office/officeart/2005/8/layout/hList7"/>
    <dgm:cxn modelId="{F246C2F4-10E7-4635-AFD6-0947843F9FEB}" type="presParOf" srcId="{BACE84A8-E6D3-41DC-8EAF-DEDCC00F43B5}" destId="{248B46C9-1690-4475-9D9E-0B3167A7796B}"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625DDC-302A-456C-8B12-57155170D50A}">
      <dsp:nvSpPr>
        <dsp:cNvPr id="0" name=""/>
        <dsp:cNvSpPr/>
      </dsp:nvSpPr>
      <dsp:spPr>
        <a:xfrm>
          <a:off x="2118" y="0"/>
          <a:ext cx="3296546" cy="4572318"/>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cs typeface="Times New Roman" panose="02020603050405020304" pitchFamily="18" charset="0"/>
            </a:rPr>
            <a:t>Students will learn about synthesis of nanomaterials</a:t>
          </a:r>
        </a:p>
      </dsp:txBody>
      <dsp:txXfrm>
        <a:off x="2118" y="1828927"/>
        <a:ext cx="3296546" cy="1828927"/>
      </dsp:txXfrm>
    </dsp:sp>
    <dsp:sp modelId="{B103F8D8-76B4-4272-BA94-128B4C2C71A0}">
      <dsp:nvSpPr>
        <dsp:cNvPr id="0" name=""/>
        <dsp:cNvSpPr/>
      </dsp:nvSpPr>
      <dsp:spPr>
        <a:xfrm>
          <a:off x="757732" y="250952"/>
          <a:ext cx="1522581" cy="152258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59466344-34F2-47FE-BE5B-DE4D2D0D235D}">
      <dsp:nvSpPr>
        <dsp:cNvPr id="0" name=""/>
        <dsp:cNvSpPr/>
      </dsp:nvSpPr>
      <dsp:spPr>
        <a:xfrm>
          <a:off x="3349069" y="0"/>
          <a:ext cx="3296546" cy="4572318"/>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cs typeface="Times New Roman" panose="02020603050405020304" pitchFamily="18" charset="0"/>
            </a:rPr>
            <a:t>Students will understand about sol gel method.</a:t>
          </a:r>
        </a:p>
      </dsp:txBody>
      <dsp:txXfrm>
        <a:off x="3349069" y="1828927"/>
        <a:ext cx="3296546" cy="1828927"/>
      </dsp:txXfrm>
    </dsp:sp>
    <dsp:sp modelId="{50C2274F-4F2F-4CCF-A2D0-F4FCD0746BCB}">
      <dsp:nvSpPr>
        <dsp:cNvPr id="0" name=""/>
        <dsp:cNvSpPr/>
      </dsp:nvSpPr>
      <dsp:spPr>
        <a:xfrm>
          <a:off x="4272195" y="249658"/>
          <a:ext cx="1522581" cy="1522581"/>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B2B10F68-512F-4683-BEE4-9F8C729BF5C7}">
      <dsp:nvSpPr>
        <dsp:cNvPr id="0" name=""/>
        <dsp:cNvSpPr/>
      </dsp:nvSpPr>
      <dsp:spPr>
        <a:xfrm>
          <a:off x="6793004" y="0"/>
          <a:ext cx="3296546" cy="457231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cs typeface="Times New Roman" panose="02020603050405020304" pitchFamily="18" charset="0"/>
            </a:rPr>
            <a:t>Students will learn about nanocomputing.</a:t>
          </a:r>
        </a:p>
      </dsp:txBody>
      <dsp:txXfrm>
        <a:off x="6793004" y="1828927"/>
        <a:ext cx="3296546" cy="1828927"/>
      </dsp:txXfrm>
    </dsp:sp>
    <dsp:sp modelId="{248B46C9-1690-4475-9D9E-0B3167A7796B}">
      <dsp:nvSpPr>
        <dsp:cNvPr id="0" name=""/>
        <dsp:cNvSpPr/>
      </dsp:nvSpPr>
      <dsp:spPr>
        <a:xfrm>
          <a:off x="7679986" y="274339"/>
          <a:ext cx="1522581" cy="1522581"/>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323C8708-EBC8-4346-B9D7-F4F4FED58C31}">
      <dsp:nvSpPr>
        <dsp:cNvPr id="0" name=""/>
        <dsp:cNvSpPr/>
      </dsp:nvSpPr>
      <dsp:spPr>
        <a:xfrm>
          <a:off x="403666" y="3657854"/>
          <a:ext cx="9284336" cy="685847"/>
        </a:xfrm>
        <a:prstGeom prst="leftRightArrow">
          <a:avLst/>
        </a:prstGeom>
        <a:gradFill rotWithShape="0">
          <a:gsLst>
            <a:gs pos="0">
              <a:schemeClr val="accent2">
                <a:tint val="40000"/>
                <a:hueOff val="0"/>
                <a:satOff val="0"/>
                <a:lumOff val="0"/>
                <a:alphaOff val="0"/>
                <a:lumMod val="110000"/>
                <a:satMod val="105000"/>
                <a:tint val="67000"/>
              </a:schemeClr>
            </a:gs>
            <a:gs pos="50000">
              <a:schemeClr val="accent2">
                <a:tint val="40000"/>
                <a:hueOff val="0"/>
                <a:satOff val="0"/>
                <a:lumOff val="0"/>
                <a:alphaOff val="0"/>
                <a:lumMod val="105000"/>
                <a:satMod val="103000"/>
                <a:tint val="73000"/>
              </a:schemeClr>
            </a:gs>
            <a:gs pos="100000">
              <a:schemeClr val="accent2">
                <a:tint val="40000"/>
                <a:hueOff val="0"/>
                <a:satOff val="0"/>
                <a:lumOff val="0"/>
                <a:alphaOff val="0"/>
                <a:lumMod val="105000"/>
                <a:satMod val="109000"/>
                <a:tint val="81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www.researchgate.net/profile/Khaled_Habiba/publication/270583669/figure/fig1/AS:295080373047296@1447364051162/Bottom-up-and-the-top-down-approaches-in-synthesis-of-carbon-based-nanomaterials.png" TargetMode="External"/><Relationship Id="rId2" Type="http://schemas.openxmlformats.org/officeDocument/2006/relationships/hyperlink" Target="https://cannabisanimus.com/cbd-and-nanotechnology/"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14DqBIG96W0" TargetMode="External"/><Relationship Id="rId2" Type="http://schemas.openxmlformats.org/officeDocument/2006/relationships/hyperlink" Target="https://nptel.ac.in/courses/118/102/118102003/"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3101546" y="793628"/>
            <a:ext cx="8103033" cy="468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5" name="TextBox 14"/>
          <p:cNvSpPr txBox="1">
            <a:spLocks noChangeArrowheads="1"/>
          </p:cNvSpPr>
          <p:nvPr/>
        </p:nvSpPr>
        <p:spPr bwMode="auto">
          <a:xfrm>
            <a:off x="12104" y="5741722"/>
            <a:ext cx="4912783" cy="1218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Introduction to Nanotechnology &amp; Quantum Computing</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10092"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2096394" y="256020"/>
            <a:ext cx="8507916" cy="1138773"/>
          </a:xfrm>
          <a:prstGeom prst="rect">
            <a:avLst/>
          </a:prstGeom>
        </p:spPr>
        <p:txBody>
          <a:bodyPr wrap="square">
            <a:spAutoFit/>
          </a:bodyPr>
          <a:lstStyle/>
          <a:p>
            <a:pPr algn="ctr"/>
            <a:r>
              <a:rPr lang="en-US" sz="4400" b="1" dirty="0">
                <a:latin typeface="Casper" panose="02000506000000020004"/>
                <a:cs typeface="Times New Roman" pitchFamily="18" charset="0"/>
              </a:rPr>
              <a:t>COURSE OUTCOME</a:t>
            </a:r>
            <a:endParaRPr lang="en-US" sz="4400" b="1" dirty="0">
              <a:latin typeface="Casper" panose="02000506000000020004"/>
            </a:endParaRPr>
          </a:p>
          <a:p>
            <a:r>
              <a:rPr lang="en-US" sz="2400" b="1" dirty="0">
                <a:latin typeface="Casper" panose="02000506000000020004"/>
              </a:rPr>
              <a:t>       </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graphicFrame>
        <p:nvGraphicFramePr>
          <p:cNvPr id="10" name="Table 9"/>
          <p:cNvGraphicFramePr>
            <a:graphicFrameLocks noGrp="1"/>
          </p:cNvGraphicFramePr>
          <p:nvPr>
            <p:extLst>
              <p:ext uri="{D42A27DB-BD31-4B8C-83A1-F6EECF244321}">
                <p14:modId xmlns:p14="http://schemas.microsoft.com/office/powerpoint/2010/main" val="353296340"/>
              </p:ext>
            </p:extLst>
          </p:nvPr>
        </p:nvGraphicFramePr>
        <p:xfrm>
          <a:off x="523180" y="1574770"/>
          <a:ext cx="10694211" cy="4113166"/>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7207549">
                  <a:extLst>
                    <a:ext uri="{9D8B030D-6E8A-4147-A177-3AD203B41FA5}">
                      <a16:colId xmlns:a16="http://schemas.microsoft.com/office/drawing/2014/main" val="20001"/>
                    </a:ext>
                  </a:extLst>
                </a:gridCol>
                <a:gridCol w="2662518">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Quote the basic fundamental concepts of lasers, optical </a:t>
                      </a:r>
                      <a:r>
                        <a:rPr lang="en-US" sz="1100" b="0" dirty="0" err="1">
                          <a:effectLst/>
                          <a:latin typeface="Calibri"/>
                          <a:ea typeface="Calibri"/>
                          <a:cs typeface="Calibri"/>
                        </a:rPr>
                        <a:t>fibres</a:t>
                      </a:r>
                      <a:r>
                        <a:rPr lang="en-US" sz="1100" b="0" dirty="0">
                          <a:effectLst/>
                          <a:latin typeface="Calibri"/>
                          <a:ea typeface="Calibri"/>
                          <a:cs typeface="Calibri"/>
                        </a:rPr>
                        <a:t>, crystallography, ultrasonic oscillations, semiconductor physics, quantum mechanics and nanotechnology.</a:t>
                      </a:r>
                      <a:endParaRPr lang="en-US" sz="1100" b="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Demonstrate the working of various lasers, </a:t>
                      </a:r>
                      <a:r>
                        <a:rPr lang="en-US" sz="1100" b="0" dirty="0" err="1">
                          <a:effectLst/>
                          <a:latin typeface="Calibri"/>
                          <a:ea typeface="Calibri"/>
                          <a:cs typeface="Calibri"/>
                        </a:rPr>
                        <a:t>fibre</a:t>
                      </a:r>
                      <a:r>
                        <a:rPr lang="en-US" sz="1100" b="0" dirty="0">
                          <a:effectLst/>
                          <a:latin typeface="Calibri"/>
                          <a:ea typeface="Calibri"/>
                          <a:cs typeface="Calibri"/>
                        </a:rPr>
                        <a:t> components, semiconductor devices; explain the </a:t>
                      </a:r>
                      <a:r>
                        <a:rPr lang="en-US" sz="1100" b="0" dirty="0" err="1">
                          <a:effectLst/>
                          <a:latin typeface="Calibri"/>
                          <a:ea typeface="Calibri"/>
                          <a:cs typeface="Calibri"/>
                        </a:rPr>
                        <a:t>behaviour</a:t>
                      </a:r>
                      <a:r>
                        <a:rPr lang="en-US" sz="1100" b="0" dirty="0">
                          <a:effectLst/>
                          <a:latin typeface="Calibri"/>
                          <a:ea typeface="Calibri"/>
                          <a:cs typeface="Calibri"/>
                        </a:rPr>
                        <a:t> of crystalline solids, quantum and </a:t>
                      </a:r>
                      <a:r>
                        <a:rPr lang="en-US" sz="1100" b="0" dirty="0" err="1">
                          <a:effectLst/>
                          <a:latin typeface="Calibri"/>
                          <a:ea typeface="Calibri"/>
                          <a:cs typeface="Calibri"/>
                        </a:rPr>
                        <a:t>nano</a:t>
                      </a:r>
                      <a:r>
                        <a:rPr lang="en-US" sz="1100" b="0" dirty="0">
                          <a:effectLst/>
                          <a:latin typeface="Calibri"/>
                          <a:ea typeface="Calibri"/>
                          <a:cs typeface="Calibri"/>
                        </a:rPr>
                        <a:t>-scale systems.</a:t>
                      </a:r>
                      <a:endParaRPr lang="en-US" sz="1100" b="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Solve problems by applying principles related to lasers, </a:t>
                      </a:r>
                      <a:r>
                        <a:rPr lang="en-US" sz="1100" b="0" dirty="0" err="1">
                          <a:effectLst/>
                          <a:latin typeface="Calibri"/>
                          <a:ea typeface="Calibri"/>
                          <a:cs typeface="Calibri"/>
                        </a:rPr>
                        <a:t>fibres</a:t>
                      </a:r>
                      <a:r>
                        <a:rPr lang="en-US" sz="1100" b="0" dirty="0">
                          <a:effectLst/>
                          <a:latin typeface="Calibri"/>
                          <a:ea typeface="Calibri"/>
                          <a:cs typeface="Calibri"/>
                        </a:rPr>
                        <a:t>, semiconductors, oscillations, quantum and </a:t>
                      </a:r>
                      <a:r>
                        <a:rPr lang="en-US" sz="1100" b="0" dirty="0" err="1">
                          <a:effectLst/>
                          <a:latin typeface="Calibri"/>
                          <a:ea typeface="Calibri"/>
                          <a:cs typeface="Calibri"/>
                        </a:rPr>
                        <a:t>nanoscience</a:t>
                      </a:r>
                      <a:r>
                        <a:rPr lang="en-US" sz="1100" b="0" dirty="0">
                          <a:effectLst/>
                          <a:latin typeface="Calibri"/>
                          <a:ea typeface="Calibri"/>
                          <a:cs typeface="Calibri"/>
                        </a:rPr>
                        <a:t>.</a:t>
                      </a:r>
                      <a:endParaRPr lang="en-US" sz="1100" b="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Compare various lasers and </a:t>
                      </a:r>
                      <a:r>
                        <a:rPr lang="en-US" sz="1100" b="0" dirty="0" err="1">
                          <a:effectLst/>
                          <a:latin typeface="Calibri"/>
                          <a:ea typeface="Calibri"/>
                          <a:cs typeface="Calibri"/>
                        </a:rPr>
                        <a:t>fibres</a:t>
                      </a:r>
                      <a:r>
                        <a:rPr lang="en-US" sz="1100" b="0" dirty="0">
                          <a:effectLst/>
                          <a:latin typeface="Calibri"/>
                          <a:ea typeface="Calibri"/>
                          <a:cs typeface="Calibri"/>
                        </a:rPr>
                        <a:t>, semiconducting devices, crystalline materials, structures at quantum and </a:t>
                      </a:r>
                      <a:r>
                        <a:rPr lang="en-US" sz="1100" b="0" dirty="0" err="1">
                          <a:effectLst/>
                          <a:latin typeface="Calibri"/>
                          <a:ea typeface="Calibri"/>
                          <a:cs typeface="Calibri"/>
                        </a:rPr>
                        <a:t>nanoscale</a:t>
                      </a:r>
                      <a:r>
                        <a:rPr lang="en-US" sz="1100" b="0" dirty="0">
                          <a:effectLst/>
                          <a:latin typeface="Calibri"/>
                          <a:ea typeface="Calibri"/>
                          <a:cs typeface="Calibri"/>
                        </a:rPr>
                        <a:t> on the basis of their properties for industrial applications.</a:t>
                      </a:r>
                      <a:endParaRPr lang="en-US" sz="1100" b="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Develop various systems using lasers, </a:t>
                      </a:r>
                      <a:r>
                        <a:rPr lang="en-US" sz="1100" b="0" dirty="0" err="1">
                          <a:effectLst/>
                          <a:latin typeface="Calibri"/>
                          <a:ea typeface="Calibri"/>
                          <a:cs typeface="Calibri"/>
                        </a:rPr>
                        <a:t>fibres</a:t>
                      </a:r>
                      <a:r>
                        <a:rPr lang="en-US" sz="1100" b="0" dirty="0">
                          <a:effectLst/>
                          <a:latin typeface="Calibri"/>
                          <a:ea typeface="Calibri"/>
                          <a:cs typeface="Calibri"/>
                        </a:rPr>
                        <a:t>, semiconductors and </a:t>
                      </a:r>
                      <a:r>
                        <a:rPr lang="en-US" sz="1100" b="0" dirty="0" err="1">
                          <a:effectLst/>
                          <a:latin typeface="Calibri"/>
                          <a:ea typeface="Calibri"/>
                          <a:cs typeface="Calibri"/>
                        </a:rPr>
                        <a:t>nanomaterials</a:t>
                      </a:r>
                      <a:r>
                        <a:rPr lang="en-US" sz="1100" b="0" dirty="0">
                          <a:effectLst/>
                          <a:latin typeface="Calibri"/>
                          <a:ea typeface="Calibri"/>
                          <a:cs typeface="Calibri"/>
                        </a:rPr>
                        <a:t> for futuristic applications.</a:t>
                      </a:r>
                      <a:endParaRPr lang="en-US" sz="1100" b="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0BE1E-5618-42FF-A3DC-86E1176236B9}"/>
              </a:ext>
            </a:extLst>
          </p:cNvPr>
          <p:cNvSpPr>
            <a:spLocks noGrp="1"/>
          </p:cNvSpPr>
          <p:nvPr>
            <p:ph type="title"/>
          </p:nvPr>
        </p:nvSpPr>
        <p:spPr>
          <a:xfrm>
            <a:off x="1262130" y="321973"/>
            <a:ext cx="10091670" cy="888642"/>
          </a:xfrm>
          <a:ln>
            <a:solidFill>
              <a:srgbClr val="C00000"/>
            </a:solidFill>
          </a:ln>
        </p:spPr>
        <p:txBody>
          <a:bodyPr anchor="t">
            <a:normAutofit fontScale="90000"/>
          </a:bodyPr>
          <a:lstStyle/>
          <a:p>
            <a:pPr algn="ctr"/>
            <a:r>
              <a:rPr lang="en-IN" sz="4900" b="1" dirty="0">
                <a:latin typeface="+mn-lt"/>
              </a:rPr>
              <a:t>LECTURE</a:t>
            </a:r>
            <a:r>
              <a:rPr lang="en-IN" b="1" dirty="0">
                <a:latin typeface="+mn-lt"/>
              </a:rPr>
              <a:t> OBJECTIVE </a:t>
            </a:r>
            <a:br>
              <a:rPr lang="en-IN" b="1" dirty="0"/>
            </a:br>
            <a:endParaRPr lang="en-IN" b="1" dirty="0"/>
          </a:p>
        </p:txBody>
      </p:sp>
      <p:sp>
        <p:nvSpPr>
          <p:cNvPr id="4" name="Slide Number Placeholder 3">
            <a:extLst>
              <a:ext uri="{FF2B5EF4-FFF2-40B4-BE49-F238E27FC236}">
                <a16:creationId xmlns:a16="http://schemas.microsoft.com/office/drawing/2014/main" id="{914A127A-A5D6-4126-AE36-C5A092704CA9}"/>
              </a:ext>
            </a:extLst>
          </p:cNvPr>
          <p:cNvSpPr>
            <a:spLocks noGrp="1"/>
          </p:cNvSpPr>
          <p:nvPr>
            <p:ph type="sldNum" sz="quarter" idx="12"/>
          </p:nvPr>
        </p:nvSpPr>
        <p:spPr/>
        <p:txBody>
          <a:bodyPr/>
          <a:lstStyle/>
          <a:p>
            <a:fld id="{BDCDBBEF-AA6C-4BA6-85B2-A17D7F280E38}" type="slidenum">
              <a:rPr lang="en-US" smtClean="0"/>
              <a:t>4</a:t>
            </a:fld>
            <a:endParaRPr lang="en-US"/>
          </a:p>
        </p:txBody>
      </p:sp>
      <p:graphicFrame>
        <p:nvGraphicFramePr>
          <p:cNvPr id="3" name="Diagram 2">
            <a:extLst>
              <a:ext uri="{FF2B5EF4-FFF2-40B4-BE49-F238E27FC236}">
                <a16:creationId xmlns:a16="http://schemas.microsoft.com/office/drawing/2014/main" id="{6A4ADD36-1154-4219-82F5-6ADAF29A6E55}"/>
              </a:ext>
            </a:extLst>
          </p:cNvPr>
          <p:cNvGraphicFramePr/>
          <p:nvPr>
            <p:extLst>
              <p:ext uri="{D42A27DB-BD31-4B8C-83A1-F6EECF244321}">
                <p14:modId xmlns:p14="http://schemas.microsoft.com/office/powerpoint/2010/main" val="4237763213"/>
              </p:ext>
            </p:extLst>
          </p:nvPr>
        </p:nvGraphicFramePr>
        <p:xfrm>
          <a:off x="1262130" y="1784032"/>
          <a:ext cx="10091670" cy="4572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713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5</a:t>
            </a:fld>
            <a:endParaRPr lang="en-US" dirty="0"/>
          </a:p>
        </p:txBody>
      </p:sp>
      <p:sp>
        <p:nvSpPr>
          <p:cNvPr id="8" name="Title 7"/>
          <p:cNvSpPr txBox="1">
            <a:spLocks noGrp="1" noChangeArrowheads="1"/>
          </p:cNvSpPr>
          <p:nvPr>
            <p:ph type="title"/>
          </p:nvPr>
        </p:nvSpPr>
        <p:spPr bwMode="auto">
          <a:xfrm>
            <a:off x="136477" y="1563559"/>
            <a:ext cx="506332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cs typeface="Times New Roman" pitchFamily="18" charset="0"/>
              </a:rPr>
              <a:t>NANOMATERIALS</a:t>
            </a:r>
            <a:br>
              <a:rPr lang="en-US" sz="4400" b="1" dirty="0">
                <a:latin typeface="+mn-lt"/>
                <a:ea typeface="Karla" pitchFamily="2" charset="0"/>
                <a:cs typeface="Karla" pitchFamily="2" charset="0"/>
              </a:rPr>
            </a:br>
            <a:endParaRPr lang="en-US" sz="4400" b="1"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473125" y="2874687"/>
            <a:ext cx="4531056" cy="3359061"/>
          </a:xfrm>
          <a:prstGeom prst="rect">
            <a:avLst/>
          </a:prstGeom>
          <a:noFill/>
          <a:ln>
            <a:solidFill>
              <a:schemeClr val="tx1"/>
            </a:solidFill>
          </a:ln>
        </p:spPr>
        <p:txBody>
          <a:bodyPr wrap="square" rtlCol="0">
            <a:spAutoFit/>
          </a:bodyPr>
          <a:lstStyle/>
          <a:p>
            <a:pPr>
              <a:lnSpc>
                <a:spcPct val="150000"/>
              </a:lnSpc>
            </a:pPr>
            <a:r>
              <a:rPr lang="en-US" sz="2400" b="1" dirty="0"/>
              <a:t>Nanomaterials</a:t>
            </a:r>
            <a:r>
              <a:rPr lang="en-US" sz="2400" dirty="0"/>
              <a:t> are those materials having dimensions in the order of 1-100 nm. </a:t>
            </a:r>
          </a:p>
          <a:p>
            <a:pPr>
              <a:lnSpc>
                <a:spcPct val="150000"/>
              </a:lnSpc>
            </a:pPr>
            <a:r>
              <a:rPr lang="en-US" sz="2400" dirty="0"/>
              <a:t>1 nanometer is defined as one billionth of meter.</a:t>
            </a:r>
          </a:p>
          <a:p>
            <a:pPr>
              <a:lnSpc>
                <a:spcPct val="150000"/>
              </a:lnSpc>
            </a:pPr>
            <a:endParaRPr lang="en-US" sz="2400" dirty="0"/>
          </a:p>
        </p:txBody>
      </p:sp>
      <p:pic>
        <p:nvPicPr>
          <p:cNvPr id="11266" name="Picture 2" descr="Image result for nanoscience and nano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9797" y="1064525"/>
            <a:ext cx="6461979" cy="477671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6011395" y="6403298"/>
            <a:ext cx="4197130" cy="338554"/>
          </a:xfrm>
          <a:prstGeom prst="rect">
            <a:avLst/>
          </a:prstGeom>
          <a:noFill/>
        </p:spPr>
        <p:txBody>
          <a:bodyPr wrap="square" rtlCol="0">
            <a:spAutoFit/>
          </a:bodyPr>
          <a:lstStyle/>
          <a:p>
            <a:r>
              <a:rPr lang="en-US" sz="1600" dirty="0">
                <a:latin typeface="Casper"/>
              </a:rPr>
              <a:t>Figure 14.1 Nano range [1]</a:t>
            </a:r>
          </a:p>
        </p:txBody>
      </p:sp>
    </p:spTree>
    <p:extLst>
      <p:ext uri="{BB962C8B-B14F-4D97-AF65-F5344CB8AC3E}">
        <p14:creationId xmlns:p14="http://schemas.microsoft.com/office/powerpoint/2010/main" val="6938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6</a:t>
            </a:fld>
            <a:endParaRPr lang="en-US" dirty="0"/>
          </a:p>
        </p:txBody>
      </p:sp>
      <p:sp>
        <p:nvSpPr>
          <p:cNvPr id="8" name="Title 7"/>
          <p:cNvSpPr txBox="1">
            <a:spLocks noGrp="1" noChangeArrowheads="1"/>
          </p:cNvSpPr>
          <p:nvPr>
            <p:ph type="title"/>
          </p:nvPr>
        </p:nvSpPr>
        <p:spPr bwMode="auto">
          <a:xfrm>
            <a:off x="-136477" y="475746"/>
            <a:ext cx="5554639"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cs typeface="Times New Roman" pitchFamily="18" charset="0"/>
              </a:rPr>
              <a:t>SYNTHESIS OF NANOMATERIALS</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3003" y="791570"/>
            <a:ext cx="5790296" cy="5295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517966" y="1859964"/>
            <a:ext cx="5240743" cy="4753609"/>
          </a:xfrm>
          <a:prstGeom prst="rect">
            <a:avLst/>
          </a:prstGeom>
          <a:noFill/>
          <a:ln>
            <a:solidFill>
              <a:schemeClr val="tx1"/>
            </a:solidFill>
          </a:ln>
        </p:spPr>
        <p:txBody>
          <a:bodyPr wrap="square" rtlCol="0">
            <a:spAutoFit/>
          </a:bodyPr>
          <a:lstStyle/>
          <a:p>
            <a:pPr algn="just">
              <a:lnSpc>
                <a:spcPct val="150000"/>
              </a:lnSpc>
            </a:pPr>
            <a:r>
              <a:rPr lang="en-US" sz="2000" dirty="0"/>
              <a:t>There are two approaches for synthesis of nanomaterials.</a:t>
            </a:r>
          </a:p>
          <a:p>
            <a:pPr algn="just">
              <a:lnSpc>
                <a:spcPct val="150000"/>
              </a:lnSpc>
            </a:pPr>
            <a:r>
              <a:rPr lang="en-US" sz="2000" dirty="0"/>
              <a:t>Top down approach refers to slicing or successive cutting of a bulk material to get nano sized particle and the fabrication of nano structures.  It includes ball milling method.</a:t>
            </a:r>
          </a:p>
          <a:p>
            <a:pPr algn="just">
              <a:lnSpc>
                <a:spcPct val="150000"/>
              </a:lnSpc>
            </a:pPr>
            <a:r>
              <a:rPr lang="en-US" sz="2000" dirty="0"/>
              <a:t>Bottom-up refers to methods where devices 'create themselves' by self assembly. Most commonly used is sol-gel method.</a:t>
            </a:r>
          </a:p>
          <a:p>
            <a:pPr algn="just">
              <a:lnSpc>
                <a:spcPct val="150000"/>
              </a:lnSpc>
            </a:pPr>
            <a:endParaRPr lang="en-US" sz="2000" dirty="0"/>
          </a:p>
        </p:txBody>
      </p:sp>
      <p:sp>
        <p:nvSpPr>
          <p:cNvPr id="9" name="Rectangle 8"/>
          <p:cNvSpPr/>
          <p:nvPr/>
        </p:nvSpPr>
        <p:spPr>
          <a:xfrm>
            <a:off x="6836087" y="6155323"/>
            <a:ext cx="3786614" cy="338554"/>
          </a:xfrm>
          <a:prstGeom prst="rect">
            <a:avLst/>
          </a:prstGeom>
        </p:spPr>
        <p:txBody>
          <a:bodyPr wrap="none">
            <a:spAutoFit/>
          </a:bodyPr>
          <a:lstStyle/>
          <a:p>
            <a:r>
              <a:rPr lang="en-US" sz="1600" dirty="0">
                <a:latin typeface="Casper"/>
              </a:rPr>
              <a:t>Figure  14.2 Synthesis of Nanomaterials  [2]</a:t>
            </a:r>
          </a:p>
        </p:txBody>
      </p:sp>
    </p:spTree>
    <p:extLst>
      <p:ext uri="{BB962C8B-B14F-4D97-AF65-F5344CB8AC3E}">
        <p14:creationId xmlns:p14="http://schemas.microsoft.com/office/powerpoint/2010/main" val="3810596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7</a:t>
            </a:fld>
            <a:endParaRPr lang="en-US" dirty="0"/>
          </a:p>
        </p:txBody>
      </p:sp>
      <p:sp>
        <p:nvSpPr>
          <p:cNvPr id="8" name="Title 7"/>
          <p:cNvSpPr txBox="1">
            <a:spLocks noGrp="1" noChangeArrowheads="1"/>
          </p:cNvSpPr>
          <p:nvPr>
            <p:ph type="title"/>
          </p:nvPr>
        </p:nvSpPr>
        <p:spPr bwMode="auto">
          <a:xfrm>
            <a:off x="1460310" y="266278"/>
            <a:ext cx="9621672"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cs typeface="Times New Roman" pitchFamily="18" charset="0"/>
              </a:rPr>
              <a:t>SYNTHESIS OF NANOMATERIALS</a:t>
            </a: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9251441-0715-4799-ACFF-E7DEDC2DC97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65278" y="1214651"/>
            <a:ext cx="8679976" cy="4981433"/>
          </a:xfrm>
          <a:prstGeom prst="rect">
            <a:avLst/>
          </a:prstGeom>
          <a:noFill/>
          <a:ln>
            <a:noFill/>
          </a:ln>
        </p:spPr>
      </p:pic>
      <p:sp>
        <p:nvSpPr>
          <p:cNvPr id="3" name="Rectangle 2">
            <a:extLst>
              <a:ext uri="{FF2B5EF4-FFF2-40B4-BE49-F238E27FC236}">
                <a16:creationId xmlns:a16="http://schemas.microsoft.com/office/drawing/2014/main" id="{D0C3C4C6-9720-494D-9C52-32398386385C}"/>
              </a:ext>
            </a:extLst>
          </p:cNvPr>
          <p:cNvSpPr/>
          <p:nvPr/>
        </p:nvSpPr>
        <p:spPr>
          <a:xfrm>
            <a:off x="3352801" y="6197183"/>
            <a:ext cx="5336274" cy="338554"/>
          </a:xfrm>
          <a:prstGeom prst="rect">
            <a:avLst/>
          </a:prstGeom>
        </p:spPr>
        <p:txBody>
          <a:bodyPr wrap="square">
            <a:spAutoFit/>
          </a:bodyPr>
          <a:lstStyle/>
          <a:p>
            <a:r>
              <a:rPr lang="en-US" sz="1600" dirty="0">
                <a:latin typeface="Casper"/>
              </a:rPr>
              <a:t>Figure  14.3  Top Down and Bottom up approach[3]</a:t>
            </a:r>
          </a:p>
        </p:txBody>
      </p:sp>
    </p:spTree>
    <p:extLst>
      <p:ext uri="{BB962C8B-B14F-4D97-AF65-F5344CB8AC3E}">
        <p14:creationId xmlns:p14="http://schemas.microsoft.com/office/powerpoint/2010/main" val="2838671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300251" y="1965279"/>
            <a:ext cx="4471773" cy="4391072"/>
          </a:xfrm>
        </p:spPr>
        <p:txBody>
          <a:bodyPr>
            <a:noAutofit/>
          </a:bodyPr>
          <a:lstStyle/>
          <a:p>
            <a:r>
              <a:rPr lang="en-US" sz="2400" dirty="0">
                <a:cs typeface="Times New Roman" pitchFamily="18" charset="0"/>
              </a:rPr>
              <a:t>BOTTOM UP METHOD</a:t>
            </a:r>
          </a:p>
          <a:p>
            <a:pPr>
              <a:lnSpc>
                <a:spcPct val="150000"/>
              </a:lnSpc>
            </a:pPr>
            <a:r>
              <a:rPr lang="en-US" sz="2400" dirty="0"/>
              <a:t>Bottom-up refers to methods where devices 'create themselves' by self assembly. Chemical </a:t>
            </a:r>
            <a:r>
              <a:rPr lang="en-US" sz="2400" b="1" dirty="0"/>
              <a:t>synthesis</a:t>
            </a:r>
            <a:r>
              <a:rPr lang="en-US" sz="2400" dirty="0"/>
              <a:t> is a good example. This method is providing high yield with uniform morphology of nanoparticles.</a:t>
            </a:r>
          </a:p>
          <a:p>
            <a:pPr>
              <a:lnSpc>
                <a:spcPct val="150000"/>
              </a:lnSpc>
            </a:pPr>
            <a:endParaRPr lang="en-US" sz="2400" dirty="0">
              <a:cs typeface="Times New Roman" pitchFamily="18" charset="0"/>
            </a:endParaRPr>
          </a:p>
          <a:p>
            <a:pPr>
              <a:lnSpc>
                <a:spcPct val="150000"/>
              </a:lnSpc>
            </a:pPr>
            <a:endParaRPr lang="en-US" sz="2400"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8</a:t>
            </a:fld>
            <a:endParaRPr lang="en-US" dirty="0"/>
          </a:p>
        </p:txBody>
      </p:sp>
      <p:sp>
        <p:nvSpPr>
          <p:cNvPr id="8" name="Title 7"/>
          <p:cNvSpPr txBox="1">
            <a:spLocks noGrp="1" noChangeArrowheads="1"/>
          </p:cNvSpPr>
          <p:nvPr>
            <p:ph type="title"/>
          </p:nvPr>
        </p:nvSpPr>
        <p:spPr bwMode="auto">
          <a:xfrm>
            <a:off x="877362" y="698395"/>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Karla" pitchFamily="2" charset="0"/>
              </a:rPr>
              <a:t>SOL-GEL METHOD</a:t>
            </a:r>
            <a:br>
              <a:rPr lang="en-US" sz="2000" b="1" dirty="0">
                <a:latin typeface="+mn-lt"/>
                <a:ea typeface="Karla" pitchFamily="2" charset="0"/>
                <a:cs typeface="Karla" pitchFamily="2" charset="0"/>
              </a:rPr>
            </a:br>
            <a:endParaRPr lang="en-US" sz="16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983515" y="6245647"/>
            <a:ext cx="3105337" cy="338554"/>
          </a:xfrm>
          <a:prstGeom prst="rect">
            <a:avLst/>
          </a:prstGeom>
        </p:spPr>
        <p:txBody>
          <a:bodyPr wrap="square">
            <a:spAutoFit/>
          </a:bodyPr>
          <a:lstStyle/>
          <a:p>
            <a:r>
              <a:rPr lang="en-US" sz="1600" dirty="0">
                <a:latin typeface="Casper"/>
              </a:rPr>
              <a:t>Figure 14.4 Sol-Gel method [4]</a:t>
            </a:r>
          </a:p>
        </p:txBody>
      </p:sp>
      <p:pic>
        <p:nvPicPr>
          <p:cNvPr id="19458" name="Picture 2" descr="Image result for sol gel metho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3571" y="1160060"/>
            <a:ext cx="6298206" cy="4792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961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9</a:t>
            </a:fld>
            <a:endParaRPr lang="en-US" dirty="0"/>
          </a:p>
        </p:txBody>
      </p:sp>
      <p:sp>
        <p:nvSpPr>
          <p:cNvPr id="8" name="Title 7"/>
          <p:cNvSpPr txBox="1">
            <a:spLocks noGrp="1" noChangeArrowheads="1"/>
          </p:cNvSpPr>
          <p:nvPr>
            <p:ph type="title"/>
          </p:nvPr>
        </p:nvSpPr>
        <p:spPr bwMode="auto">
          <a:xfrm>
            <a:off x="1569493" y="323995"/>
            <a:ext cx="91303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SOL-GEL METHOD</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1BE0A19-DD47-4216-B187-09AD2B21D043}"/>
              </a:ext>
            </a:extLst>
          </p:cNvPr>
          <p:cNvSpPr txBox="1"/>
          <p:nvPr/>
        </p:nvSpPr>
        <p:spPr>
          <a:xfrm>
            <a:off x="327546" y="1832295"/>
            <a:ext cx="11254854" cy="3497624"/>
          </a:xfrm>
          <a:prstGeom prst="rect">
            <a:avLst/>
          </a:prstGeom>
          <a:noFill/>
        </p:spPr>
        <p:txBody>
          <a:bodyPr wrap="square">
            <a:spAutoFit/>
          </a:bodyPr>
          <a:lstStyle/>
          <a:p>
            <a:pPr marL="342900" marR="344805" lvl="0" indent="-342900" algn="just">
              <a:lnSpc>
                <a:spcPct val="161000"/>
              </a:lnSpc>
              <a:spcBef>
                <a:spcPts val="5"/>
              </a:spcBef>
              <a:spcAft>
                <a:spcPts val="0"/>
              </a:spcAft>
              <a:buFont typeface="Wingdings" panose="05000000000000000000" pitchFamily="2" charset="2"/>
              <a:buChar char="ü"/>
              <a:tabLst>
                <a:tab pos="0" algn="l"/>
                <a:tab pos="57150" algn="l"/>
                <a:tab pos="228600" algn="l"/>
              </a:tabLst>
            </a:pPr>
            <a:r>
              <a:rPr lang="en-US" sz="2400" dirty="0">
                <a:effectLst/>
                <a:ea typeface="Georgia" panose="02040502050405020303" pitchFamily="18" charset="0"/>
                <a:cs typeface="Georgia" panose="02040502050405020303" pitchFamily="18" charset="0"/>
              </a:rPr>
              <a:t>The sol-gel method is a versatile process used for synthesizing various oxide materials.</a:t>
            </a:r>
          </a:p>
          <a:p>
            <a:pPr marL="342900" indent="-342900">
              <a:buFont typeface="Wingdings" panose="05000000000000000000" pitchFamily="2" charset="2"/>
              <a:buChar char="ü"/>
            </a:pPr>
            <a:r>
              <a:rPr lang="en-IN" sz="2400" dirty="0">
                <a:effectLst/>
                <a:ea typeface="Calibri" panose="020F0502020204030204" pitchFamily="34" charset="0"/>
              </a:rPr>
              <a:t>This synthetic method generally allows control of the texture, the chemical, and the morphological properties of the solid. This method also has several advantages</a:t>
            </a:r>
            <a:r>
              <a:rPr lang="en-IN" sz="2400" spc="315" dirty="0">
                <a:effectLst/>
                <a:ea typeface="Calibri" panose="020F0502020204030204" pitchFamily="34" charset="0"/>
              </a:rPr>
              <a:t> </a:t>
            </a:r>
            <a:r>
              <a:rPr lang="en-IN" sz="2400" dirty="0">
                <a:effectLst/>
                <a:ea typeface="Calibri" panose="020F0502020204030204" pitchFamily="34" charset="0"/>
              </a:rPr>
              <a:t>over other methods, such </a:t>
            </a:r>
            <a:r>
              <a:rPr lang="en-IN" sz="2400" spc="10" dirty="0">
                <a:effectLst/>
                <a:ea typeface="Calibri" panose="020F0502020204030204" pitchFamily="34" charset="0"/>
              </a:rPr>
              <a:t>as </a:t>
            </a:r>
            <a:r>
              <a:rPr lang="en-IN" sz="2400" dirty="0">
                <a:effectLst/>
                <a:ea typeface="Calibri" panose="020F0502020204030204" pitchFamily="34" charset="0"/>
              </a:rPr>
              <a:t>allowing impregnation or coprecipitation, which can be used to introduce dopants. The major advantages of the sol-gel technique include molecular</a:t>
            </a:r>
            <a:r>
              <a:rPr lang="en-IN" sz="2400" spc="315" dirty="0">
                <a:effectLst/>
                <a:ea typeface="Calibri" panose="020F0502020204030204" pitchFamily="34" charset="0"/>
              </a:rPr>
              <a:t> </a:t>
            </a:r>
            <a:r>
              <a:rPr lang="en-IN" sz="2400" dirty="0">
                <a:effectLst/>
                <a:ea typeface="Calibri" panose="020F0502020204030204" pitchFamily="34" charset="0"/>
              </a:rPr>
              <a:t>scale mixing, high purity of the precursors, </a:t>
            </a:r>
            <a:r>
              <a:rPr lang="en-IN" sz="2400" spc="10" dirty="0">
                <a:effectLst/>
                <a:ea typeface="Calibri" panose="020F0502020204030204" pitchFamily="34" charset="0"/>
              </a:rPr>
              <a:t>and </a:t>
            </a:r>
            <a:r>
              <a:rPr lang="en-IN" sz="2400" dirty="0">
                <a:effectLst/>
                <a:ea typeface="Calibri" panose="020F0502020204030204" pitchFamily="34" charset="0"/>
              </a:rPr>
              <a:t>homogeneity of the </a:t>
            </a:r>
            <a:r>
              <a:rPr lang="en-IN" sz="2400" spc="15" dirty="0">
                <a:effectLst/>
                <a:ea typeface="Calibri" panose="020F0502020204030204" pitchFamily="34" charset="0"/>
              </a:rPr>
              <a:t>sol- </a:t>
            </a:r>
            <a:r>
              <a:rPr lang="en-IN" sz="2400" dirty="0">
                <a:effectLst/>
                <a:ea typeface="Calibri" panose="020F0502020204030204" pitchFamily="34" charset="0"/>
              </a:rPr>
              <a:t>gel products with a high purity of physical, morphological, and chemical properties.</a:t>
            </a:r>
            <a:endParaRPr lang="en-US" sz="2400" dirty="0"/>
          </a:p>
        </p:txBody>
      </p:sp>
    </p:spTree>
    <p:extLst>
      <p:ext uri="{BB962C8B-B14F-4D97-AF65-F5344CB8AC3E}">
        <p14:creationId xmlns:p14="http://schemas.microsoft.com/office/powerpoint/2010/main" val="3351356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10</a:t>
            </a:fld>
            <a:endParaRPr lang="en-US" dirty="0"/>
          </a:p>
        </p:txBody>
      </p:sp>
      <p:sp>
        <p:nvSpPr>
          <p:cNvPr id="8" name="Title 7"/>
          <p:cNvSpPr txBox="1">
            <a:spLocks noGrp="1" noChangeArrowheads="1"/>
          </p:cNvSpPr>
          <p:nvPr>
            <p:ph type="title"/>
          </p:nvPr>
        </p:nvSpPr>
        <p:spPr bwMode="auto">
          <a:xfrm>
            <a:off x="1569493" y="323995"/>
            <a:ext cx="91303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SOL-GEL METHOD</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F261305-B69F-4C04-BE85-1C88258C38EF}"/>
              </a:ext>
            </a:extLst>
          </p:cNvPr>
          <p:cNvSpPr txBox="1"/>
          <p:nvPr/>
        </p:nvSpPr>
        <p:spPr>
          <a:xfrm>
            <a:off x="755176" y="1242944"/>
            <a:ext cx="10681648" cy="4154984"/>
          </a:xfrm>
          <a:prstGeom prst="rect">
            <a:avLst/>
          </a:prstGeom>
          <a:noFill/>
        </p:spPr>
        <p:txBody>
          <a:bodyPr wrap="square">
            <a:spAutoFit/>
          </a:bodyPr>
          <a:lstStyle/>
          <a:p>
            <a:pPr marL="342900" marR="344805" lvl="0" indent="-342900" algn="just">
              <a:spcBef>
                <a:spcPts val="5"/>
              </a:spcBef>
              <a:spcAft>
                <a:spcPts val="0"/>
              </a:spcAft>
              <a:buFont typeface="Wingdings" panose="05000000000000000000" pitchFamily="2" charset="2"/>
              <a:buChar char=""/>
              <a:tabLst>
                <a:tab pos="57150" algn="l"/>
                <a:tab pos="228600" algn="l"/>
              </a:tabLst>
            </a:pPr>
            <a:r>
              <a:rPr lang="en-US" sz="2400" dirty="0">
                <a:effectLst/>
                <a:ea typeface="Georgia" panose="02040502050405020303" pitchFamily="18" charset="0"/>
                <a:cs typeface="Georgia" panose="02040502050405020303" pitchFamily="18" charset="0"/>
              </a:rPr>
              <a:t>In a typical sol-gel process, a colloidal suspension, or a sol, is formed from the hydrolysis and polymerization reactions of the precursors, which are usually inorganic metal salts or metal organic compounds such as metal alkoxides. </a:t>
            </a:r>
          </a:p>
          <a:p>
            <a:pPr marL="342900" marR="344805" lvl="0" indent="-342900" algn="just">
              <a:spcBef>
                <a:spcPts val="5"/>
              </a:spcBef>
              <a:spcAft>
                <a:spcPts val="0"/>
              </a:spcAft>
              <a:buFont typeface="Wingdings" panose="05000000000000000000" pitchFamily="2" charset="2"/>
              <a:buChar char=""/>
              <a:tabLst>
                <a:tab pos="57150" algn="l"/>
                <a:tab pos="228600" algn="l"/>
              </a:tabLst>
            </a:pPr>
            <a:r>
              <a:rPr lang="en-US" sz="2400" dirty="0">
                <a:effectLst/>
                <a:ea typeface="Georgia" panose="02040502050405020303" pitchFamily="18" charset="0"/>
                <a:cs typeface="Georgia" panose="02040502050405020303" pitchFamily="18" charset="0"/>
              </a:rPr>
              <a:t>A general flowchart for a complete sol-gel process </a:t>
            </a:r>
            <a:r>
              <a:rPr lang="en-US" sz="2400" spc="15" dirty="0">
                <a:effectLst/>
                <a:ea typeface="Georgia" panose="02040502050405020303" pitchFamily="18" charset="0"/>
                <a:cs typeface="Georgia" panose="02040502050405020303" pitchFamily="18" charset="0"/>
              </a:rPr>
              <a:t>is </a:t>
            </a:r>
            <a:r>
              <a:rPr lang="en-US" sz="2400" dirty="0">
                <a:effectLst/>
                <a:ea typeface="Georgia" panose="02040502050405020303" pitchFamily="18" charset="0"/>
                <a:cs typeface="Georgia" panose="02040502050405020303" pitchFamily="18" charset="0"/>
              </a:rPr>
              <a:t>shown in Figure</a:t>
            </a:r>
            <a:r>
              <a:rPr lang="en-US" sz="2400" spc="260" dirty="0">
                <a:effectLst/>
                <a:ea typeface="Georgia" panose="02040502050405020303" pitchFamily="18" charset="0"/>
                <a:cs typeface="Georgia" panose="02040502050405020303" pitchFamily="18" charset="0"/>
              </a:rPr>
              <a:t> 2</a:t>
            </a:r>
            <a:r>
              <a:rPr lang="en-US" sz="2400" dirty="0">
                <a:effectLst/>
                <a:ea typeface="Georgia" panose="02040502050405020303" pitchFamily="18" charset="0"/>
                <a:cs typeface="Georgia" panose="02040502050405020303" pitchFamily="18" charset="0"/>
              </a:rPr>
              <a:t>.</a:t>
            </a:r>
          </a:p>
          <a:p>
            <a:pPr marL="171450" marR="0" indent="-285750" algn="just">
              <a:spcBef>
                <a:spcPts val="20"/>
              </a:spcBef>
              <a:spcAft>
                <a:spcPts val="0"/>
              </a:spcAft>
              <a:tabLst>
                <a:tab pos="57150" algn="l"/>
                <a:tab pos="228600" algn="l"/>
              </a:tabLst>
            </a:pPr>
            <a:r>
              <a:rPr lang="en-US" sz="2400" dirty="0">
                <a:effectLst/>
                <a:ea typeface="Georgia" panose="02040502050405020303" pitchFamily="18" charset="0"/>
                <a:cs typeface="Georgia" panose="02040502050405020303" pitchFamily="18" charset="0"/>
              </a:rPr>
              <a:t> </a:t>
            </a:r>
          </a:p>
          <a:p>
            <a:pPr marL="342900" indent="-342900">
              <a:buFont typeface="Wingdings" panose="05000000000000000000" pitchFamily="2" charset="2"/>
              <a:buChar char="ü"/>
            </a:pPr>
            <a:r>
              <a:rPr lang="en-IN" sz="2400" dirty="0">
                <a:effectLst/>
                <a:ea typeface="Calibri" panose="020F0502020204030204" pitchFamily="34" charset="0"/>
              </a:rPr>
              <a:t>Any factor that affects either or both of these reactions is likely to impact the properties of the gel. These factors, generally referred to as sol-gel parameters, includes type of precursor, type of solvent, water content, acid or base content, precursor concentration, and temperature. These parameters affect the structure of the initial gel and, in turn, the properties of the material at all subsequent processing steps</a:t>
            </a:r>
            <a:endParaRPr lang="en-US" sz="2400" dirty="0"/>
          </a:p>
        </p:txBody>
      </p:sp>
    </p:spTree>
    <p:extLst>
      <p:ext uri="{BB962C8B-B14F-4D97-AF65-F5344CB8AC3E}">
        <p14:creationId xmlns:p14="http://schemas.microsoft.com/office/powerpoint/2010/main" val="893829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11</a:t>
            </a:fld>
            <a:endParaRPr lang="en-US" dirty="0"/>
          </a:p>
        </p:txBody>
      </p:sp>
      <p:sp>
        <p:nvSpPr>
          <p:cNvPr id="8" name="Title 7"/>
          <p:cNvSpPr txBox="1">
            <a:spLocks noGrp="1" noChangeArrowheads="1"/>
          </p:cNvSpPr>
          <p:nvPr>
            <p:ph type="title"/>
          </p:nvPr>
        </p:nvSpPr>
        <p:spPr bwMode="auto">
          <a:xfrm>
            <a:off x="1569493" y="323995"/>
            <a:ext cx="91303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SOL-GEL METHOD</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B692325-6CAF-49B0-AF71-D21DC426EDFB}"/>
              </a:ext>
            </a:extLst>
          </p:cNvPr>
          <p:cNvSpPr txBox="1"/>
          <p:nvPr/>
        </p:nvSpPr>
        <p:spPr>
          <a:xfrm>
            <a:off x="1569492" y="1938606"/>
            <a:ext cx="9280477" cy="3358227"/>
          </a:xfrm>
          <a:prstGeom prst="rect">
            <a:avLst/>
          </a:prstGeom>
          <a:noFill/>
        </p:spPr>
        <p:txBody>
          <a:bodyPr wrap="square">
            <a:spAutoFit/>
          </a:bodyPr>
          <a:lstStyle/>
          <a:p>
            <a:pPr marL="171450" marR="0" indent="-285750" algn="just">
              <a:spcBef>
                <a:spcPts val="30"/>
              </a:spcBef>
              <a:spcAft>
                <a:spcPts val="0"/>
              </a:spcAft>
              <a:tabLst>
                <a:tab pos="57150" algn="l"/>
                <a:tab pos="228600" algn="l"/>
              </a:tabLst>
            </a:pPr>
            <a:r>
              <a:rPr lang="en-US" sz="2400" dirty="0">
                <a:effectLst/>
                <a:ea typeface="Georgia" panose="02040502050405020303" pitchFamily="18" charset="0"/>
                <a:cs typeface="Georgia" panose="02040502050405020303" pitchFamily="18" charset="0"/>
              </a:rPr>
              <a:t> </a:t>
            </a:r>
          </a:p>
          <a:p>
            <a:pPr marL="342900" marR="350520" lvl="0" indent="-342900" algn="just">
              <a:lnSpc>
                <a:spcPct val="161000"/>
              </a:lnSpc>
              <a:spcBef>
                <a:spcPts val="0"/>
              </a:spcBef>
              <a:spcAft>
                <a:spcPts val="0"/>
              </a:spcAft>
              <a:buFont typeface="Wingdings" panose="05000000000000000000" pitchFamily="2" charset="2"/>
              <a:buChar char=""/>
              <a:tabLst>
                <a:tab pos="57150" algn="l"/>
                <a:tab pos="228600" algn="l"/>
              </a:tabLst>
            </a:pPr>
            <a:r>
              <a:rPr lang="en-US" sz="2400" dirty="0">
                <a:effectLst/>
                <a:ea typeface="Georgia" panose="02040502050405020303" pitchFamily="18" charset="0"/>
                <a:cs typeface="Georgia" panose="02040502050405020303" pitchFamily="18" charset="0"/>
              </a:rPr>
              <a:t>After gelation, the wet gel can be optionally aged in its mother liquor, or in another solvent, and washed. The </a:t>
            </a:r>
            <a:r>
              <a:rPr lang="en-US" sz="2400" spc="10" dirty="0">
                <a:effectLst/>
                <a:ea typeface="Georgia" panose="02040502050405020303" pitchFamily="18" charset="0"/>
                <a:cs typeface="Georgia" panose="02040502050405020303" pitchFamily="18" charset="0"/>
              </a:rPr>
              <a:t>time </a:t>
            </a:r>
            <a:r>
              <a:rPr lang="en-US" sz="2400" dirty="0">
                <a:effectLst/>
                <a:ea typeface="Georgia" panose="02040502050405020303" pitchFamily="18" charset="0"/>
                <a:cs typeface="Georgia" panose="02040502050405020303" pitchFamily="18" charset="0"/>
              </a:rPr>
              <a:t>between the formation of a gel </a:t>
            </a:r>
            <a:r>
              <a:rPr lang="en-US" sz="2400" spc="10" dirty="0">
                <a:effectLst/>
                <a:ea typeface="Georgia" panose="02040502050405020303" pitchFamily="18" charset="0"/>
                <a:cs typeface="Georgia" panose="02040502050405020303" pitchFamily="18" charset="0"/>
              </a:rPr>
              <a:t>and </a:t>
            </a:r>
            <a:r>
              <a:rPr lang="en-US" sz="2400" dirty="0">
                <a:effectLst/>
                <a:ea typeface="Georgia" panose="02040502050405020303" pitchFamily="18" charset="0"/>
                <a:cs typeface="Georgia" panose="02040502050405020303" pitchFamily="18" charset="0"/>
              </a:rPr>
              <a:t>its drying, known as aging, is also an important parameter. A gel is not static during aging but can continue to undergo hydrolysis and condensation.</a:t>
            </a:r>
          </a:p>
        </p:txBody>
      </p:sp>
    </p:spTree>
    <p:extLst>
      <p:ext uri="{BB962C8B-B14F-4D97-AF65-F5344CB8AC3E}">
        <p14:creationId xmlns:p14="http://schemas.microsoft.com/office/powerpoint/2010/main" val="3480315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12</a:t>
            </a:fld>
            <a:endParaRPr lang="en-US" dirty="0"/>
          </a:p>
        </p:txBody>
      </p:sp>
      <p:sp>
        <p:nvSpPr>
          <p:cNvPr id="8" name="Title 7"/>
          <p:cNvSpPr txBox="1">
            <a:spLocks noGrp="1" noChangeArrowheads="1"/>
          </p:cNvSpPr>
          <p:nvPr>
            <p:ph type="title"/>
          </p:nvPr>
        </p:nvSpPr>
        <p:spPr bwMode="auto">
          <a:xfrm>
            <a:off x="1530824" y="-112948"/>
            <a:ext cx="91303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SOL-GEL METHOD</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1.jpeg">
            <a:extLst>
              <a:ext uri="{FF2B5EF4-FFF2-40B4-BE49-F238E27FC236}">
                <a16:creationId xmlns:a16="http://schemas.microsoft.com/office/drawing/2014/main" id="{CE522644-13E7-455F-A524-0C19FAAC0D86}"/>
              </a:ext>
            </a:extLst>
          </p:cNvPr>
          <p:cNvPicPr/>
          <p:nvPr/>
        </p:nvPicPr>
        <p:blipFill>
          <a:blip r:embed="rId2" cstate="print"/>
          <a:stretch>
            <a:fillRect/>
          </a:stretch>
        </p:blipFill>
        <p:spPr>
          <a:xfrm>
            <a:off x="2752403" y="810382"/>
            <a:ext cx="7251406" cy="55053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8B9B11A8-97C6-467A-86C9-8418803DFA39}"/>
              </a:ext>
            </a:extLst>
          </p:cNvPr>
          <p:cNvSpPr txBox="1"/>
          <p:nvPr/>
        </p:nvSpPr>
        <p:spPr>
          <a:xfrm>
            <a:off x="3156045" y="6488668"/>
            <a:ext cx="6093724" cy="338554"/>
          </a:xfrm>
          <a:prstGeom prst="rect">
            <a:avLst/>
          </a:prstGeom>
          <a:noFill/>
        </p:spPr>
        <p:txBody>
          <a:bodyPr wrap="square">
            <a:spAutoFit/>
          </a:bodyPr>
          <a:lstStyle/>
          <a:p>
            <a:pPr marL="0" marR="0" algn="ctr">
              <a:spcBef>
                <a:spcPts val="0"/>
              </a:spcBef>
              <a:spcAft>
                <a:spcPts val="0"/>
              </a:spcAft>
              <a:tabLst>
                <a:tab pos="57150" algn="l"/>
              </a:tabLst>
            </a:pPr>
            <a:r>
              <a:rPr lang="en-US" sz="1600" b="1" dirty="0">
                <a:effectLst/>
                <a:latin typeface="Times New Roman" panose="02020603050405020304" pitchFamily="18" charset="0"/>
                <a:ea typeface="Georgia" panose="02040502050405020303" pitchFamily="18" charset="0"/>
                <a:cs typeface="Georgia" panose="02040502050405020303" pitchFamily="18" charset="0"/>
              </a:rPr>
              <a:t>Figure 14.4: </a:t>
            </a:r>
            <a:r>
              <a:rPr lang="en-US" sz="1600" dirty="0">
                <a:effectLst/>
                <a:latin typeface="Times New Roman" panose="02020603050405020304" pitchFamily="18" charset="0"/>
                <a:ea typeface="Georgia" panose="02040502050405020303" pitchFamily="18" charset="0"/>
                <a:cs typeface="Georgia" panose="02040502050405020303" pitchFamily="18" charset="0"/>
              </a:rPr>
              <a:t>Sol-Gel and Drying Flowchart[5]</a:t>
            </a:r>
            <a:endParaRPr lang="en-US" sz="1600" dirty="0">
              <a:effectLst/>
              <a:latin typeface="Georgia" panose="02040502050405020303" pitchFamily="18" charset="0"/>
              <a:ea typeface="Georgia" panose="02040502050405020303" pitchFamily="18" charset="0"/>
              <a:cs typeface="Georgia" panose="02040502050405020303" pitchFamily="18" charset="0"/>
            </a:endParaRPr>
          </a:p>
        </p:txBody>
      </p:sp>
    </p:spTree>
    <p:extLst>
      <p:ext uri="{BB962C8B-B14F-4D97-AF65-F5344CB8AC3E}">
        <p14:creationId xmlns:p14="http://schemas.microsoft.com/office/powerpoint/2010/main" val="1408507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1D566-D21E-486E-AAE7-D4149ACE6967}"/>
              </a:ext>
            </a:extLst>
          </p:cNvPr>
          <p:cNvSpPr>
            <a:spLocks noGrp="1"/>
          </p:cNvSpPr>
          <p:nvPr>
            <p:ph type="title"/>
          </p:nvPr>
        </p:nvSpPr>
        <p:spPr>
          <a:xfrm>
            <a:off x="1078173" y="173444"/>
            <a:ext cx="10736365" cy="1044571"/>
          </a:xfrm>
          <a:ln>
            <a:solidFill>
              <a:srgbClr val="C00000"/>
            </a:solidFill>
          </a:ln>
        </p:spPr>
        <p:txBody>
          <a:bodyPr>
            <a:noAutofit/>
          </a:bodyPr>
          <a:lstStyle/>
          <a:p>
            <a:pPr algn="ctr"/>
            <a:br>
              <a:rPr lang="en-IN" b="1" dirty="0">
                <a:effectLst/>
                <a:latin typeface="+mn-lt"/>
                <a:ea typeface="Times New Roman" panose="02020603050405020304" pitchFamily="18" charset="0"/>
              </a:rPr>
            </a:br>
            <a:r>
              <a:rPr lang="en-IN" b="1" dirty="0">
                <a:effectLst/>
                <a:latin typeface="+mn-lt"/>
                <a:ea typeface="Times New Roman" panose="02020603050405020304" pitchFamily="18" charset="0"/>
              </a:rPr>
              <a:t>NANOCOMPUTING TECHNOLOGIES</a:t>
            </a:r>
            <a:br>
              <a:rPr lang="en-US" dirty="0">
                <a:effectLst/>
                <a:latin typeface="+mn-lt"/>
                <a:ea typeface="Times New Roman" panose="02020603050405020304" pitchFamily="18" charset="0"/>
              </a:rPr>
            </a:br>
            <a:endParaRPr lang="en-IN" b="1" dirty="0">
              <a:latin typeface="+mn-lt"/>
            </a:endParaRPr>
          </a:p>
        </p:txBody>
      </p:sp>
      <p:sp>
        <p:nvSpPr>
          <p:cNvPr id="4" name="Slide Number Placeholder 3">
            <a:extLst>
              <a:ext uri="{FF2B5EF4-FFF2-40B4-BE49-F238E27FC236}">
                <a16:creationId xmlns:a16="http://schemas.microsoft.com/office/drawing/2014/main" id="{E096C555-CF45-4A6D-9FF0-6E0799410FC1}"/>
              </a:ext>
            </a:extLst>
          </p:cNvPr>
          <p:cNvSpPr>
            <a:spLocks noGrp="1"/>
          </p:cNvSpPr>
          <p:nvPr>
            <p:ph type="sldNum" sz="quarter" idx="12"/>
          </p:nvPr>
        </p:nvSpPr>
        <p:spPr>
          <a:xfrm>
            <a:off x="8583304" y="6355414"/>
            <a:ext cx="2728491" cy="366062"/>
          </a:xfrm>
        </p:spPr>
        <p:txBody>
          <a:bodyPr/>
          <a:lstStyle/>
          <a:p>
            <a:fld id="{BDCDBBEF-AA6C-4BA6-85B2-A17D7F280E38}" type="slidenum">
              <a:rPr lang="en-US" smtClean="0"/>
              <a:t>13</a:t>
            </a:fld>
            <a:endParaRPr lang="en-US"/>
          </a:p>
        </p:txBody>
      </p:sp>
      <p:sp>
        <p:nvSpPr>
          <p:cNvPr id="22" name="Content Placeholder 21">
            <a:extLst>
              <a:ext uri="{FF2B5EF4-FFF2-40B4-BE49-F238E27FC236}">
                <a16:creationId xmlns:a16="http://schemas.microsoft.com/office/drawing/2014/main" id="{672BF72F-5FA8-4747-BC4B-575B93C065B8}"/>
              </a:ext>
            </a:extLst>
          </p:cNvPr>
          <p:cNvSpPr>
            <a:spLocks noGrp="1"/>
          </p:cNvSpPr>
          <p:nvPr>
            <p:ph idx="1"/>
          </p:nvPr>
        </p:nvSpPr>
        <p:spPr>
          <a:xfrm>
            <a:off x="436727" y="1501254"/>
            <a:ext cx="11136573" cy="5356746"/>
          </a:xfrm>
        </p:spPr>
        <p:txBody>
          <a:bodyPr>
            <a:noAutofit/>
          </a:bodyPr>
          <a:lstStyle/>
          <a:p>
            <a:pPr marL="0" marR="0" algn="just">
              <a:lnSpc>
                <a:spcPct val="100000"/>
              </a:lnSpc>
              <a:spcBef>
                <a:spcPts val="0"/>
              </a:spcBef>
              <a:spcAft>
                <a:spcPts val="1875"/>
              </a:spcAft>
              <a:tabLst>
                <a:tab pos="57150" algn="l"/>
              </a:tabLst>
            </a:pPr>
            <a:r>
              <a:rPr lang="en-IN" sz="2400" b="1" dirty="0">
                <a:solidFill>
                  <a:srgbClr val="333333"/>
                </a:solidFill>
                <a:effectLst/>
                <a:ea typeface="Times New Roman" panose="02020603050405020304" pitchFamily="18" charset="0"/>
              </a:rPr>
              <a:t>Nanocomputing is a term used for the representation and manipulation of data by computers smaller than a microcomputer. Current devices are already utilizing transistors with channels below 100 nanometres in length.</a:t>
            </a:r>
            <a:endParaRPr lang="en-US" sz="2400" dirty="0">
              <a:effectLst/>
              <a:ea typeface="Times New Roman" panose="02020603050405020304" pitchFamily="18" charset="0"/>
            </a:endParaRPr>
          </a:p>
          <a:p>
            <a:pPr marL="0" marR="0" algn="just">
              <a:lnSpc>
                <a:spcPct val="100000"/>
              </a:lnSpc>
              <a:spcBef>
                <a:spcPts val="0"/>
              </a:spcBef>
              <a:spcAft>
                <a:spcPts val="1875"/>
              </a:spcAft>
              <a:tabLst>
                <a:tab pos="57150" algn="l"/>
              </a:tabLst>
            </a:pPr>
            <a:r>
              <a:rPr lang="en-IN" sz="2400" dirty="0">
                <a:solidFill>
                  <a:srgbClr val="333333"/>
                </a:solidFill>
                <a:effectLst/>
                <a:ea typeface="Times New Roman" panose="02020603050405020304" pitchFamily="18" charset="0"/>
              </a:rPr>
              <a:t>The current goal is to produce computers smaller than 10 nanometers. Future developments in nanocomputing will provide resolutions to the current difficulties of forming computing technology at the nanoscale. For example, current nanosized transistors have been found to produce a quantum tunnelling effect where electrons ‘tunnel’ through barriers, making them unsuitable for use as a standard switch.</a:t>
            </a:r>
            <a:endParaRPr lang="en-US" sz="2400" dirty="0">
              <a:effectLst/>
              <a:ea typeface="Times New Roman" panose="02020603050405020304" pitchFamily="18" charset="0"/>
            </a:endParaRPr>
          </a:p>
          <a:p>
            <a:pPr marL="0" marR="0" algn="just">
              <a:lnSpc>
                <a:spcPct val="100000"/>
              </a:lnSpc>
              <a:spcBef>
                <a:spcPts val="0"/>
              </a:spcBef>
              <a:spcAft>
                <a:spcPts val="1875"/>
              </a:spcAft>
              <a:tabLst>
                <a:tab pos="57150" algn="l"/>
              </a:tabLst>
            </a:pPr>
            <a:r>
              <a:rPr lang="en-IN" sz="2400" dirty="0">
                <a:solidFill>
                  <a:srgbClr val="333333"/>
                </a:solidFill>
                <a:effectLst/>
                <a:ea typeface="Times New Roman" panose="02020603050405020304" pitchFamily="18" charset="0"/>
              </a:rPr>
              <a:t>The increased computing power formed by Nano computers will allow for the solution of exponentially difficult real-world problems. Nanocomputing also has the advantage of being produced to fit into any environment, including the human body, whilst being undetectable to the naked eye. The small size of devices will allow for processing power to be shared by thousands of </a:t>
            </a:r>
            <a:r>
              <a:rPr lang="en-IN" sz="2400" dirty="0" err="1">
                <a:solidFill>
                  <a:srgbClr val="333333"/>
                </a:solidFill>
                <a:effectLst/>
                <a:ea typeface="Times New Roman" panose="02020603050405020304" pitchFamily="18" charset="0"/>
              </a:rPr>
              <a:t>nanocomputers</a:t>
            </a:r>
            <a:r>
              <a:rPr lang="en-IN" sz="2400" dirty="0">
                <a:solidFill>
                  <a:srgbClr val="333333"/>
                </a:solidFill>
                <a:effectLst/>
                <a:ea typeface="Times New Roman" panose="02020603050405020304" pitchFamily="18" charset="0"/>
              </a:rPr>
              <a:t>.</a:t>
            </a:r>
            <a:endParaRPr lang="en-US" sz="2400" dirty="0">
              <a:effectLst/>
              <a:ea typeface="Times New Roman" panose="02020603050405020304" pitchFamily="18" charset="0"/>
            </a:endParaRPr>
          </a:p>
          <a:p>
            <a:pPr marL="0" indent="0" algn="just">
              <a:lnSpc>
                <a:spcPct val="100000"/>
              </a:lnSpc>
              <a:buNone/>
            </a:pPr>
            <a:endParaRPr lang="en-US" sz="2400" dirty="0"/>
          </a:p>
        </p:txBody>
      </p:sp>
    </p:spTree>
    <p:extLst>
      <p:ext uri="{BB962C8B-B14F-4D97-AF65-F5344CB8AC3E}">
        <p14:creationId xmlns:p14="http://schemas.microsoft.com/office/powerpoint/2010/main" val="4196862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1D566-D21E-486E-AAE7-D4149ACE6967}"/>
              </a:ext>
            </a:extLst>
          </p:cNvPr>
          <p:cNvSpPr>
            <a:spLocks noGrp="1"/>
          </p:cNvSpPr>
          <p:nvPr>
            <p:ph type="title"/>
          </p:nvPr>
        </p:nvSpPr>
        <p:spPr>
          <a:xfrm>
            <a:off x="1078173" y="173444"/>
            <a:ext cx="10736365" cy="1044571"/>
          </a:xfrm>
          <a:ln>
            <a:solidFill>
              <a:srgbClr val="C00000"/>
            </a:solidFill>
          </a:ln>
        </p:spPr>
        <p:txBody>
          <a:bodyPr>
            <a:noAutofit/>
          </a:bodyPr>
          <a:lstStyle/>
          <a:p>
            <a:pPr algn="ctr"/>
            <a:br>
              <a:rPr lang="en-IN" b="1" dirty="0">
                <a:effectLst/>
                <a:latin typeface="Times New Roman" panose="02020603050405020304" pitchFamily="18" charset="0"/>
                <a:ea typeface="Times New Roman" panose="02020603050405020304" pitchFamily="18" charset="0"/>
                <a:cs typeface="Raavi" panose="020B0502040204020203" pitchFamily="34" charset="0"/>
              </a:rPr>
            </a:br>
            <a:r>
              <a:rPr lang="en-IN" b="1" dirty="0">
                <a:effectLst/>
                <a:latin typeface="Times New Roman" panose="02020603050405020304" pitchFamily="18" charset="0"/>
                <a:ea typeface="Times New Roman" panose="02020603050405020304" pitchFamily="18" charset="0"/>
                <a:cs typeface="Raavi" panose="020B0502040204020203" pitchFamily="34" charset="0"/>
              </a:rPr>
              <a:t>Quantum </a:t>
            </a:r>
            <a:r>
              <a:rPr lang="en-IN" b="1" dirty="0">
                <a:latin typeface="Times New Roman" panose="02020603050405020304" pitchFamily="18" charset="0"/>
                <a:ea typeface="Times New Roman" panose="02020603050405020304" pitchFamily="18" charset="0"/>
                <a:cs typeface="Raavi" panose="020B0502040204020203" pitchFamily="34" charset="0"/>
              </a:rPr>
              <a:t>C</a:t>
            </a:r>
            <a:r>
              <a:rPr lang="en-IN" b="1" dirty="0">
                <a:effectLst/>
                <a:latin typeface="Times New Roman" panose="02020603050405020304" pitchFamily="18" charset="0"/>
                <a:ea typeface="Times New Roman" panose="02020603050405020304" pitchFamily="18" charset="0"/>
                <a:cs typeface="Raavi" panose="020B0502040204020203" pitchFamily="34" charset="0"/>
              </a:rPr>
              <a:t>omputing</a:t>
            </a:r>
            <a:br>
              <a:rPr lang="en-US" b="1" dirty="0">
                <a:effectLst/>
                <a:latin typeface="Calibri Light" panose="020F0302020204030204" pitchFamily="34" charset="0"/>
                <a:ea typeface="Times New Roman" panose="02020603050405020304" pitchFamily="18" charset="0"/>
                <a:cs typeface="Raavi" panose="020B0502040204020203" pitchFamily="34" charset="0"/>
              </a:rPr>
            </a:br>
            <a:endParaRPr lang="en-IN" b="1" dirty="0">
              <a:latin typeface="+mn-lt"/>
            </a:endParaRPr>
          </a:p>
        </p:txBody>
      </p:sp>
      <p:sp>
        <p:nvSpPr>
          <p:cNvPr id="4" name="Slide Number Placeholder 3">
            <a:extLst>
              <a:ext uri="{FF2B5EF4-FFF2-40B4-BE49-F238E27FC236}">
                <a16:creationId xmlns:a16="http://schemas.microsoft.com/office/drawing/2014/main" id="{E096C555-CF45-4A6D-9FF0-6E0799410FC1}"/>
              </a:ext>
            </a:extLst>
          </p:cNvPr>
          <p:cNvSpPr>
            <a:spLocks noGrp="1"/>
          </p:cNvSpPr>
          <p:nvPr>
            <p:ph type="sldNum" sz="quarter" idx="12"/>
          </p:nvPr>
        </p:nvSpPr>
        <p:spPr>
          <a:xfrm>
            <a:off x="8583304" y="6355414"/>
            <a:ext cx="2728491" cy="366062"/>
          </a:xfrm>
        </p:spPr>
        <p:txBody>
          <a:bodyPr/>
          <a:lstStyle/>
          <a:p>
            <a:fld id="{BDCDBBEF-AA6C-4BA6-85B2-A17D7F280E38}" type="slidenum">
              <a:rPr lang="en-US" smtClean="0"/>
              <a:t>14</a:t>
            </a:fld>
            <a:endParaRPr lang="en-US"/>
          </a:p>
        </p:txBody>
      </p:sp>
      <p:sp>
        <p:nvSpPr>
          <p:cNvPr id="22" name="Content Placeholder 21">
            <a:extLst>
              <a:ext uri="{FF2B5EF4-FFF2-40B4-BE49-F238E27FC236}">
                <a16:creationId xmlns:a16="http://schemas.microsoft.com/office/drawing/2014/main" id="{672BF72F-5FA8-4747-BC4B-575B93C065B8}"/>
              </a:ext>
            </a:extLst>
          </p:cNvPr>
          <p:cNvSpPr>
            <a:spLocks noGrp="1"/>
          </p:cNvSpPr>
          <p:nvPr>
            <p:ph idx="1"/>
          </p:nvPr>
        </p:nvSpPr>
        <p:spPr>
          <a:xfrm>
            <a:off x="436727" y="1501254"/>
            <a:ext cx="11136573" cy="5356746"/>
          </a:xfrm>
        </p:spPr>
        <p:txBody>
          <a:bodyPr>
            <a:noAutofit/>
          </a:bodyPr>
          <a:lstStyle/>
          <a:p>
            <a:pPr marL="0" indent="0" algn="just">
              <a:lnSpc>
                <a:spcPct val="150000"/>
              </a:lnSpc>
              <a:buNone/>
            </a:pPr>
            <a:r>
              <a:rPr lang="en-IN" sz="2400" dirty="0">
                <a:solidFill>
                  <a:srgbClr val="333333"/>
                </a:solidFill>
                <a:effectLst/>
                <a:ea typeface="Calibri" panose="020F0502020204030204" pitchFamily="34" charset="0"/>
                <a:cs typeface="Raavi" panose="020B0502040204020203" pitchFamily="34" charset="0"/>
              </a:rPr>
              <a:t>Quantum computing provides computational power at the nanoscale with abilities that reach beyond the limitations of conventional computers. This is because quantum computers store and manipulate data through the utilization of subatomic particles dynamics. Binary computers process single pieces of information as a binary state, either a 1 or a 0. Subatomic particles have two states, but can also exist in any superposition of states. This means they are governed by the laws of quantum mechanics rather than classical physics allowing them to compute solutions to problems with greater speed whilst requiring less space</a:t>
            </a:r>
            <a:endParaRPr lang="en-US" sz="2400" dirty="0"/>
          </a:p>
        </p:txBody>
      </p:sp>
    </p:spTree>
    <p:extLst>
      <p:ext uri="{BB962C8B-B14F-4D97-AF65-F5344CB8AC3E}">
        <p14:creationId xmlns:p14="http://schemas.microsoft.com/office/powerpoint/2010/main" val="675150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1D566-D21E-486E-AAE7-D4149ACE6967}"/>
              </a:ext>
            </a:extLst>
          </p:cNvPr>
          <p:cNvSpPr>
            <a:spLocks noGrp="1"/>
          </p:cNvSpPr>
          <p:nvPr>
            <p:ph type="title"/>
          </p:nvPr>
        </p:nvSpPr>
        <p:spPr>
          <a:xfrm>
            <a:off x="1078173" y="173444"/>
            <a:ext cx="10736365" cy="1044571"/>
          </a:xfrm>
          <a:ln>
            <a:solidFill>
              <a:srgbClr val="C00000"/>
            </a:solidFill>
          </a:ln>
        </p:spPr>
        <p:txBody>
          <a:bodyPr>
            <a:noAutofit/>
          </a:bodyPr>
          <a:lstStyle/>
          <a:p>
            <a:pPr algn="ctr"/>
            <a:br>
              <a:rPr lang="en-IN" b="1" dirty="0">
                <a:effectLst/>
                <a:latin typeface="+mn-lt"/>
                <a:ea typeface="Times New Roman" panose="02020603050405020304" pitchFamily="18" charset="0"/>
              </a:rPr>
            </a:br>
            <a:r>
              <a:rPr lang="en-IN" b="1" dirty="0">
                <a:effectLst/>
                <a:latin typeface="+mn-lt"/>
                <a:ea typeface="Times New Roman" panose="02020603050405020304" pitchFamily="18" charset="0"/>
              </a:rPr>
              <a:t>PROSPECTS  OF NANOCOMPUTING</a:t>
            </a:r>
            <a:br>
              <a:rPr lang="en-US" dirty="0">
                <a:effectLst/>
                <a:latin typeface="+mn-lt"/>
                <a:ea typeface="Times New Roman" panose="02020603050405020304" pitchFamily="18" charset="0"/>
              </a:rPr>
            </a:br>
            <a:endParaRPr lang="en-IN" b="1" dirty="0">
              <a:latin typeface="+mn-lt"/>
            </a:endParaRPr>
          </a:p>
        </p:txBody>
      </p:sp>
      <p:sp>
        <p:nvSpPr>
          <p:cNvPr id="4" name="Slide Number Placeholder 3">
            <a:extLst>
              <a:ext uri="{FF2B5EF4-FFF2-40B4-BE49-F238E27FC236}">
                <a16:creationId xmlns:a16="http://schemas.microsoft.com/office/drawing/2014/main" id="{E096C555-CF45-4A6D-9FF0-6E0799410FC1}"/>
              </a:ext>
            </a:extLst>
          </p:cNvPr>
          <p:cNvSpPr>
            <a:spLocks noGrp="1"/>
          </p:cNvSpPr>
          <p:nvPr>
            <p:ph type="sldNum" sz="quarter" idx="12"/>
          </p:nvPr>
        </p:nvSpPr>
        <p:spPr>
          <a:xfrm>
            <a:off x="8583304" y="6355414"/>
            <a:ext cx="2728491" cy="366062"/>
          </a:xfrm>
        </p:spPr>
        <p:txBody>
          <a:bodyPr/>
          <a:lstStyle/>
          <a:p>
            <a:fld id="{BDCDBBEF-AA6C-4BA6-85B2-A17D7F280E38}" type="slidenum">
              <a:rPr lang="en-US" smtClean="0"/>
              <a:t>15</a:t>
            </a:fld>
            <a:endParaRPr lang="en-US"/>
          </a:p>
        </p:txBody>
      </p:sp>
      <p:sp>
        <p:nvSpPr>
          <p:cNvPr id="22" name="Content Placeholder 21">
            <a:extLst>
              <a:ext uri="{FF2B5EF4-FFF2-40B4-BE49-F238E27FC236}">
                <a16:creationId xmlns:a16="http://schemas.microsoft.com/office/drawing/2014/main" id="{672BF72F-5FA8-4747-BC4B-575B93C065B8}"/>
              </a:ext>
            </a:extLst>
          </p:cNvPr>
          <p:cNvSpPr>
            <a:spLocks noGrp="1"/>
          </p:cNvSpPr>
          <p:nvPr>
            <p:ph idx="1"/>
          </p:nvPr>
        </p:nvSpPr>
        <p:spPr>
          <a:xfrm>
            <a:off x="464025" y="1132764"/>
            <a:ext cx="11110540" cy="5343052"/>
          </a:xfrm>
        </p:spPr>
        <p:txBody>
          <a:bodyPr>
            <a:noAutofit/>
          </a:bodyPr>
          <a:lstStyle/>
          <a:p>
            <a:pPr marR="0" lvl="0" algn="just">
              <a:lnSpc>
                <a:spcPct val="100000"/>
              </a:lnSpc>
              <a:spcBef>
                <a:spcPts val="0"/>
              </a:spcBef>
              <a:spcAft>
                <a:spcPts val="800"/>
              </a:spcAft>
              <a:buSzPts val="1000"/>
              <a:buFont typeface="Wingdings" panose="05000000000000000000" pitchFamily="2" charset="2"/>
              <a:buChar char="q"/>
              <a:tabLst>
                <a:tab pos="57150" algn="l"/>
                <a:tab pos="457200" algn="l"/>
              </a:tabLst>
            </a:pPr>
            <a:r>
              <a:rPr lang="en-IN" sz="2400" dirty="0">
                <a:solidFill>
                  <a:srgbClr val="333333"/>
                </a:solidFill>
                <a:effectLst/>
                <a:ea typeface="Calibri" panose="020F0502020204030204" pitchFamily="34" charset="0"/>
                <a:cs typeface="Raavi" panose="020B0502040204020203" pitchFamily="34" charset="0"/>
              </a:rPr>
              <a:t>The simulation of drug response that is more efficient than current medical trials. This will lead to the faster development of new drugs.</a:t>
            </a:r>
            <a:endParaRPr lang="en-US" sz="2400" dirty="0">
              <a:effectLst/>
              <a:ea typeface="Calibri" panose="020F0502020204030204" pitchFamily="34" charset="0"/>
              <a:cs typeface="Raavi" panose="020B0502040204020203" pitchFamily="34" charset="0"/>
            </a:endParaRPr>
          </a:p>
          <a:p>
            <a:pPr marR="0" lvl="0" algn="just">
              <a:lnSpc>
                <a:spcPct val="100000"/>
              </a:lnSpc>
              <a:spcBef>
                <a:spcPts val="0"/>
              </a:spcBef>
              <a:spcAft>
                <a:spcPts val="800"/>
              </a:spcAft>
              <a:buSzPts val="1000"/>
              <a:buFont typeface="Wingdings" panose="05000000000000000000" pitchFamily="2" charset="2"/>
              <a:buChar char="q"/>
              <a:tabLst>
                <a:tab pos="57150" algn="l"/>
                <a:tab pos="457200" algn="l"/>
              </a:tabLst>
            </a:pPr>
            <a:r>
              <a:rPr lang="en-IN" sz="2400" dirty="0">
                <a:solidFill>
                  <a:srgbClr val="333333"/>
                </a:solidFill>
                <a:effectLst/>
                <a:ea typeface="Calibri" panose="020F0502020204030204" pitchFamily="34" charset="0"/>
                <a:cs typeface="Raavi" panose="020B0502040204020203" pitchFamily="34" charset="0"/>
              </a:rPr>
              <a:t>Greater understanding of disease development through improved computational models.</a:t>
            </a:r>
            <a:endParaRPr lang="en-US" sz="2400" dirty="0">
              <a:effectLst/>
              <a:ea typeface="Calibri" panose="020F0502020204030204" pitchFamily="34" charset="0"/>
              <a:cs typeface="Raavi" panose="020B0502040204020203" pitchFamily="34" charset="0"/>
            </a:endParaRPr>
          </a:p>
          <a:p>
            <a:pPr marR="0" lvl="0" algn="just">
              <a:lnSpc>
                <a:spcPct val="100000"/>
              </a:lnSpc>
              <a:spcBef>
                <a:spcPts val="0"/>
              </a:spcBef>
              <a:spcAft>
                <a:spcPts val="800"/>
              </a:spcAft>
              <a:buSzPts val="1000"/>
              <a:buFont typeface="Wingdings" panose="05000000000000000000" pitchFamily="2" charset="2"/>
              <a:buChar char="q"/>
              <a:tabLst>
                <a:tab pos="57150" algn="l"/>
                <a:tab pos="457200" algn="l"/>
              </a:tabLst>
            </a:pPr>
            <a:r>
              <a:rPr lang="en-IN" sz="2400" dirty="0">
                <a:solidFill>
                  <a:srgbClr val="333333"/>
                </a:solidFill>
                <a:effectLst/>
                <a:ea typeface="Calibri" panose="020F0502020204030204" pitchFamily="34" charset="0"/>
                <a:cs typeface="Raavi" panose="020B0502040204020203" pitchFamily="34" charset="0"/>
              </a:rPr>
              <a:t>Improved transportation logistics across the world.</a:t>
            </a:r>
            <a:endParaRPr lang="en-US" sz="2400" dirty="0">
              <a:effectLst/>
              <a:ea typeface="Calibri" panose="020F0502020204030204" pitchFamily="34" charset="0"/>
              <a:cs typeface="Raavi" panose="020B0502040204020203" pitchFamily="34" charset="0"/>
            </a:endParaRPr>
          </a:p>
          <a:p>
            <a:pPr marR="0" lvl="0" algn="just">
              <a:lnSpc>
                <a:spcPct val="100000"/>
              </a:lnSpc>
              <a:spcBef>
                <a:spcPts val="0"/>
              </a:spcBef>
              <a:spcAft>
                <a:spcPts val="800"/>
              </a:spcAft>
              <a:buSzPts val="1000"/>
              <a:buFont typeface="Wingdings" panose="05000000000000000000" pitchFamily="2" charset="2"/>
              <a:buChar char="q"/>
              <a:tabLst>
                <a:tab pos="57150" algn="l"/>
                <a:tab pos="457200" algn="l"/>
              </a:tabLst>
            </a:pPr>
            <a:r>
              <a:rPr lang="en-IN" sz="2400" dirty="0">
                <a:solidFill>
                  <a:srgbClr val="333333"/>
                </a:solidFill>
                <a:effectLst/>
                <a:ea typeface="Calibri" panose="020F0502020204030204" pitchFamily="34" charset="0"/>
                <a:cs typeface="Raavi" panose="020B0502040204020203" pitchFamily="34" charset="0"/>
              </a:rPr>
              <a:t>Improved financial modelling to avoid economic downturns.</a:t>
            </a:r>
            <a:endParaRPr lang="en-US" sz="2400" dirty="0">
              <a:effectLst/>
              <a:ea typeface="Calibri" panose="020F0502020204030204" pitchFamily="34" charset="0"/>
              <a:cs typeface="Raavi" panose="020B0502040204020203" pitchFamily="34" charset="0"/>
            </a:endParaRPr>
          </a:p>
          <a:p>
            <a:pPr marR="0" lvl="0" algn="just">
              <a:lnSpc>
                <a:spcPct val="100000"/>
              </a:lnSpc>
              <a:spcBef>
                <a:spcPts val="0"/>
              </a:spcBef>
              <a:spcAft>
                <a:spcPts val="800"/>
              </a:spcAft>
              <a:buSzPts val="1000"/>
              <a:buFont typeface="Wingdings" panose="05000000000000000000" pitchFamily="2" charset="2"/>
              <a:buChar char="q"/>
              <a:tabLst>
                <a:tab pos="57150" algn="l"/>
                <a:tab pos="457200" algn="l"/>
              </a:tabLst>
            </a:pPr>
            <a:r>
              <a:rPr lang="en-IN" sz="2400" dirty="0">
                <a:solidFill>
                  <a:srgbClr val="333333"/>
                </a:solidFill>
                <a:effectLst/>
                <a:ea typeface="Calibri" panose="020F0502020204030204" pitchFamily="34" charset="0"/>
                <a:cs typeface="Raavi" panose="020B0502040204020203" pitchFamily="34" charset="0"/>
              </a:rPr>
              <a:t>The development of driverless cars with the ability to process real world driving problems faster than human drivers.</a:t>
            </a:r>
            <a:endParaRPr lang="en-US" sz="2400" dirty="0">
              <a:effectLst/>
              <a:ea typeface="Calibri" panose="020F0502020204030204" pitchFamily="34" charset="0"/>
              <a:cs typeface="Raavi" panose="020B0502040204020203" pitchFamily="34" charset="0"/>
            </a:endParaRPr>
          </a:p>
          <a:p>
            <a:pPr marR="0" lvl="0" algn="just">
              <a:lnSpc>
                <a:spcPct val="100000"/>
              </a:lnSpc>
              <a:spcBef>
                <a:spcPts val="0"/>
              </a:spcBef>
              <a:spcAft>
                <a:spcPts val="800"/>
              </a:spcAft>
              <a:buSzPts val="1000"/>
              <a:buFont typeface="Wingdings" panose="05000000000000000000" pitchFamily="2" charset="2"/>
              <a:buChar char="q"/>
              <a:tabLst>
                <a:tab pos="57150" algn="l"/>
                <a:tab pos="457200" algn="l"/>
              </a:tabLst>
            </a:pPr>
            <a:r>
              <a:rPr lang="en-IN" sz="2400" dirty="0">
                <a:solidFill>
                  <a:srgbClr val="333333"/>
                </a:solidFill>
                <a:effectLst/>
                <a:ea typeface="Calibri" panose="020F0502020204030204" pitchFamily="34" charset="0"/>
                <a:cs typeface="Raavi" panose="020B0502040204020203" pitchFamily="34" charset="0"/>
              </a:rPr>
              <a:t>The rapid processing of large amounts of astronomical data for discovering new planets.</a:t>
            </a:r>
            <a:endParaRPr lang="en-US" sz="2400" dirty="0">
              <a:effectLst/>
              <a:ea typeface="Calibri" panose="020F0502020204030204" pitchFamily="34" charset="0"/>
              <a:cs typeface="Raavi" panose="020B0502040204020203" pitchFamily="34" charset="0"/>
            </a:endParaRPr>
          </a:p>
          <a:p>
            <a:pPr marR="0" lvl="0" algn="just">
              <a:lnSpc>
                <a:spcPct val="100000"/>
              </a:lnSpc>
              <a:spcBef>
                <a:spcPts val="0"/>
              </a:spcBef>
              <a:spcAft>
                <a:spcPts val="800"/>
              </a:spcAft>
              <a:buSzPts val="1000"/>
              <a:buFont typeface="Wingdings" panose="05000000000000000000" pitchFamily="2" charset="2"/>
              <a:buChar char="q"/>
              <a:tabLst>
                <a:tab pos="57150" algn="l"/>
                <a:tab pos="457200" algn="l"/>
              </a:tabLst>
            </a:pPr>
            <a:r>
              <a:rPr lang="en-IN" sz="2400" dirty="0">
                <a:solidFill>
                  <a:srgbClr val="333333"/>
                </a:solidFill>
                <a:effectLst/>
                <a:ea typeface="Calibri" panose="020F0502020204030204" pitchFamily="34" charset="0"/>
                <a:cs typeface="Raavi" panose="020B0502040204020203" pitchFamily="34" charset="0"/>
              </a:rPr>
              <a:t>The production of quantum simulations for </a:t>
            </a:r>
            <a:r>
              <a:rPr lang="en-IN" sz="2400" dirty="0" err="1">
                <a:solidFill>
                  <a:srgbClr val="333333"/>
                </a:solidFill>
                <a:effectLst/>
                <a:ea typeface="Calibri" panose="020F0502020204030204" pitchFamily="34" charset="0"/>
                <a:cs typeface="Raavi" panose="020B0502040204020203" pitchFamily="34" charset="0"/>
              </a:rPr>
              <a:t>modeling</a:t>
            </a:r>
            <a:r>
              <a:rPr lang="en-IN" sz="2400" dirty="0">
                <a:solidFill>
                  <a:srgbClr val="333333"/>
                </a:solidFill>
                <a:effectLst/>
                <a:ea typeface="Calibri" panose="020F0502020204030204" pitchFamily="34" charset="0"/>
                <a:cs typeface="Raavi" panose="020B0502040204020203" pitchFamily="34" charset="0"/>
              </a:rPr>
              <a:t> the behaviour of subatomic particles without the need for creating the extreme conditions necessary for observing these particles.</a:t>
            </a: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3961856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1D566-D21E-486E-AAE7-D4149ACE6967}"/>
              </a:ext>
            </a:extLst>
          </p:cNvPr>
          <p:cNvSpPr>
            <a:spLocks noGrp="1"/>
          </p:cNvSpPr>
          <p:nvPr>
            <p:ph type="title"/>
          </p:nvPr>
        </p:nvSpPr>
        <p:spPr>
          <a:xfrm>
            <a:off x="1078173" y="173444"/>
            <a:ext cx="10736365" cy="1044571"/>
          </a:xfrm>
          <a:ln>
            <a:solidFill>
              <a:srgbClr val="C00000"/>
            </a:solidFill>
          </a:ln>
        </p:spPr>
        <p:txBody>
          <a:bodyPr>
            <a:noAutofit/>
          </a:bodyPr>
          <a:lstStyle/>
          <a:p>
            <a:pPr algn="ctr"/>
            <a:br>
              <a:rPr lang="en-IN" b="1" dirty="0">
                <a:effectLst/>
                <a:latin typeface="+mn-lt"/>
                <a:ea typeface="Times New Roman" panose="02020603050405020304" pitchFamily="18" charset="0"/>
              </a:rPr>
            </a:br>
            <a:r>
              <a:rPr lang="en-IN" b="1" dirty="0">
                <a:effectLst/>
                <a:latin typeface="+mn-lt"/>
                <a:ea typeface="Times New Roman" panose="02020603050405020304" pitchFamily="18" charset="0"/>
              </a:rPr>
              <a:t>CHALLENGES OF NANOCOMPUTING</a:t>
            </a:r>
            <a:br>
              <a:rPr lang="en-US" dirty="0">
                <a:effectLst/>
                <a:latin typeface="+mn-lt"/>
                <a:ea typeface="Times New Roman" panose="02020603050405020304" pitchFamily="18" charset="0"/>
              </a:rPr>
            </a:br>
            <a:endParaRPr lang="en-IN" b="1" dirty="0">
              <a:latin typeface="+mn-lt"/>
            </a:endParaRPr>
          </a:p>
        </p:txBody>
      </p:sp>
      <p:sp>
        <p:nvSpPr>
          <p:cNvPr id="4" name="Slide Number Placeholder 3">
            <a:extLst>
              <a:ext uri="{FF2B5EF4-FFF2-40B4-BE49-F238E27FC236}">
                <a16:creationId xmlns:a16="http://schemas.microsoft.com/office/drawing/2014/main" id="{E096C555-CF45-4A6D-9FF0-6E0799410FC1}"/>
              </a:ext>
            </a:extLst>
          </p:cNvPr>
          <p:cNvSpPr>
            <a:spLocks noGrp="1"/>
          </p:cNvSpPr>
          <p:nvPr>
            <p:ph type="sldNum" sz="quarter" idx="12"/>
          </p:nvPr>
        </p:nvSpPr>
        <p:spPr>
          <a:xfrm>
            <a:off x="8583304" y="6355414"/>
            <a:ext cx="2728491" cy="366062"/>
          </a:xfrm>
        </p:spPr>
        <p:txBody>
          <a:bodyPr/>
          <a:lstStyle/>
          <a:p>
            <a:fld id="{BDCDBBEF-AA6C-4BA6-85B2-A17D7F280E38}" type="slidenum">
              <a:rPr lang="en-US" smtClean="0"/>
              <a:t>16</a:t>
            </a:fld>
            <a:endParaRPr lang="en-US"/>
          </a:p>
        </p:txBody>
      </p:sp>
      <p:sp>
        <p:nvSpPr>
          <p:cNvPr id="22" name="Content Placeholder 21">
            <a:extLst>
              <a:ext uri="{FF2B5EF4-FFF2-40B4-BE49-F238E27FC236}">
                <a16:creationId xmlns:a16="http://schemas.microsoft.com/office/drawing/2014/main" id="{672BF72F-5FA8-4747-BC4B-575B93C065B8}"/>
              </a:ext>
            </a:extLst>
          </p:cNvPr>
          <p:cNvSpPr>
            <a:spLocks noGrp="1"/>
          </p:cNvSpPr>
          <p:nvPr>
            <p:ph idx="1"/>
          </p:nvPr>
        </p:nvSpPr>
        <p:spPr>
          <a:xfrm>
            <a:off x="436727" y="1501254"/>
            <a:ext cx="11136573" cy="5356746"/>
          </a:xfrm>
        </p:spPr>
        <p:txBody>
          <a:bodyPr>
            <a:noAutofit/>
          </a:bodyPr>
          <a:lstStyle/>
          <a:p>
            <a:pPr marL="76835" marR="341630" indent="0" algn="just">
              <a:lnSpc>
                <a:spcPct val="150000"/>
              </a:lnSpc>
              <a:spcBef>
                <a:spcPts val="675"/>
              </a:spcBef>
              <a:spcAft>
                <a:spcPts val="0"/>
              </a:spcAft>
              <a:buNone/>
              <a:tabLst>
                <a:tab pos="57150" algn="l"/>
              </a:tabLst>
            </a:pPr>
            <a:r>
              <a:rPr lang="en-US" sz="2400" dirty="0">
                <a:effectLst/>
                <a:ea typeface="Georgia" panose="02040502050405020303" pitchFamily="18" charset="0"/>
                <a:cs typeface="Georgia" panose="02040502050405020303" pitchFamily="18" charset="0"/>
              </a:rPr>
              <a:t>Development of commercial devices for nano-computing would require solving several ‘hard’ problems. Some of these problems are discussed below. </a:t>
            </a:r>
          </a:p>
          <a:p>
            <a:pPr marL="342900" marR="341630" lvl="0" indent="-342900" algn="just">
              <a:lnSpc>
                <a:spcPct val="150000"/>
              </a:lnSpc>
              <a:spcBef>
                <a:spcPts val="675"/>
              </a:spcBef>
              <a:spcAft>
                <a:spcPts val="0"/>
              </a:spcAft>
              <a:buFont typeface="Wingdings" panose="05000000000000000000" pitchFamily="2" charset="2"/>
              <a:buChar char=""/>
              <a:tabLst>
                <a:tab pos="57150" algn="l"/>
              </a:tabLst>
            </a:pPr>
            <a:r>
              <a:rPr lang="en-US" sz="2400" dirty="0">
                <a:effectLst/>
                <a:ea typeface="Georgia" panose="02040502050405020303" pitchFamily="18" charset="0"/>
                <a:cs typeface="Georgia" panose="02040502050405020303" pitchFamily="18" charset="0"/>
              </a:rPr>
              <a:t>The “interconnect problem” is one of the most challenging issues. There are two aspects of the interconnect problem. First, the minimum contact resistance to make connection between nanodevices and the external world is 6 K Ohms or more, which is very high. The second aspect concerns the large number of wires that would be needed to connect such complex devices. Adequate spacing between these wires would be needed to prevent crosstalk and capacitive coupling. </a:t>
            </a:r>
          </a:p>
          <a:p>
            <a:pPr>
              <a:lnSpc>
                <a:spcPct val="150000"/>
              </a:lnSpc>
            </a:pPr>
            <a:endParaRPr lang="en-US" sz="2400" dirty="0"/>
          </a:p>
        </p:txBody>
      </p:sp>
    </p:spTree>
    <p:extLst>
      <p:ext uri="{BB962C8B-B14F-4D97-AF65-F5344CB8AC3E}">
        <p14:creationId xmlns:p14="http://schemas.microsoft.com/office/powerpoint/2010/main" val="1945606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1D566-D21E-486E-AAE7-D4149ACE6967}"/>
              </a:ext>
            </a:extLst>
          </p:cNvPr>
          <p:cNvSpPr>
            <a:spLocks noGrp="1"/>
          </p:cNvSpPr>
          <p:nvPr>
            <p:ph type="title"/>
          </p:nvPr>
        </p:nvSpPr>
        <p:spPr>
          <a:xfrm>
            <a:off x="1078173" y="173444"/>
            <a:ext cx="10736365" cy="1044571"/>
          </a:xfrm>
          <a:ln>
            <a:solidFill>
              <a:srgbClr val="C00000"/>
            </a:solidFill>
          </a:ln>
        </p:spPr>
        <p:txBody>
          <a:bodyPr>
            <a:noAutofit/>
          </a:bodyPr>
          <a:lstStyle/>
          <a:p>
            <a:pPr algn="ctr"/>
            <a:br>
              <a:rPr lang="en-IN" b="1" dirty="0">
                <a:effectLst/>
                <a:latin typeface="+mn-lt"/>
                <a:ea typeface="Times New Roman" panose="02020603050405020304" pitchFamily="18" charset="0"/>
              </a:rPr>
            </a:br>
            <a:r>
              <a:rPr lang="en-IN" b="1" dirty="0">
                <a:effectLst/>
                <a:latin typeface="+mn-lt"/>
                <a:ea typeface="Times New Roman" panose="02020603050405020304" pitchFamily="18" charset="0"/>
              </a:rPr>
              <a:t>CHALLENGES OF NANOCOMPUTING</a:t>
            </a:r>
            <a:br>
              <a:rPr lang="en-US" dirty="0">
                <a:effectLst/>
                <a:latin typeface="+mn-lt"/>
                <a:ea typeface="Times New Roman" panose="02020603050405020304" pitchFamily="18" charset="0"/>
              </a:rPr>
            </a:br>
            <a:endParaRPr lang="en-IN" b="1" dirty="0">
              <a:latin typeface="+mn-lt"/>
            </a:endParaRPr>
          </a:p>
        </p:txBody>
      </p:sp>
      <p:sp>
        <p:nvSpPr>
          <p:cNvPr id="4" name="Slide Number Placeholder 3">
            <a:extLst>
              <a:ext uri="{FF2B5EF4-FFF2-40B4-BE49-F238E27FC236}">
                <a16:creationId xmlns:a16="http://schemas.microsoft.com/office/drawing/2014/main" id="{E096C555-CF45-4A6D-9FF0-6E0799410FC1}"/>
              </a:ext>
            </a:extLst>
          </p:cNvPr>
          <p:cNvSpPr>
            <a:spLocks noGrp="1"/>
          </p:cNvSpPr>
          <p:nvPr>
            <p:ph type="sldNum" sz="quarter" idx="12"/>
          </p:nvPr>
        </p:nvSpPr>
        <p:spPr>
          <a:xfrm>
            <a:off x="8583304" y="6355414"/>
            <a:ext cx="2728491" cy="366062"/>
          </a:xfrm>
        </p:spPr>
        <p:txBody>
          <a:bodyPr/>
          <a:lstStyle/>
          <a:p>
            <a:fld id="{BDCDBBEF-AA6C-4BA6-85B2-A17D7F280E38}" type="slidenum">
              <a:rPr lang="en-US" smtClean="0"/>
              <a:t>17</a:t>
            </a:fld>
            <a:endParaRPr lang="en-US"/>
          </a:p>
        </p:txBody>
      </p:sp>
      <p:sp>
        <p:nvSpPr>
          <p:cNvPr id="22" name="Content Placeholder 21">
            <a:extLst>
              <a:ext uri="{FF2B5EF4-FFF2-40B4-BE49-F238E27FC236}">
                <a16:creationId xmlns:a16="http://schemas.microsoft.com/office/drawing/2014/main" id="{672BF72F-5FA8-4747-BC4B-575B93C065B8}"/>
              </a:ext>
            </a:extLst>
          </p:cNvPr>
          <p:cNvSpPr>
            <a:spLocks noGrp="1"/>
          </p:cNvSpPr>
          <p:nvPr>
            <p:ph idx="1"/>
          </p:nvPr>
        </p:nvSpPr>
        <p:spPr>
          <a:xfrm>
            <a:off x="436727" y="1501254"/>
            <a:ext cx="11136573" cy="5356746"/>
          </a:xfrm>
        </p:spPr>
        <p:txBody>
          <a:bodyPr>
            <a:noAutofit/>
          </a:bodyPr>
          <a:lstStyle/>
          <a:p>
            <a:pPr marR="341630" lvl="0" algn="just">
              <a:lnSpc>
                <a:spcPct val="161000"/>
              </a:lnSpc>
              <a:spcBef>
                <a:spcPts val="675"/>
              </a:spcBef>
              <a:spcAft>
                <a:spcPts val="0"/>
              </a:spcAft>
              <a:buFont typeface="Wingdings" panose="05000000000000000000" pitchFamily="2" charset="2"/>
              <a:buChar char="ü"/>
              <a:tabLst>
                <a:tab pos="57150" algn="l"/>
              </a:tabLst>
            </a:pPr>
            <a:r>
              <a:rPr lang="en-US" sz="2400" dirty="0">
                <a:effectLst/>
                <a:ea typeface="Georgia" panose="02040502050405020303" pitchFamily="18" charset="0"/>
                <a:cs typeface="Georgia" panose="02040502050405020303" pitchFamily="18" charset="0"/>
              </a:rPr>
              <a:t>Current efforts are focused mostly on developing basic nano-devices that could serve as the basic building-blocks in assembling larger nano-systems. However, the nature of such integration is not yet known. Mapping of the functionality of the traditional silicon-based circuits into nano-electronics paradigm would be another challenge.</a:t>
            </a:r>
          </a:p>
          <a:p>
            <a:pPr marR="341630" lvl="0" algn="just">
              <a:lnSpc>
                <a:spcPct val="161000"/>
              </a:lnSpc>
              <a:spcBef>
                <a:spcPts val="675"/>
              </a:spcBef>
              <a:spcAft>
                <a:spcPts val="0"/>
              </a:spcAft>
              <a:buFont typeface="Wingdings" panose="05000000000000000000" pitchFamily="2" charset="2"/>
              <a:buChar char="ü"/>
              <a:tabLst>
                <a:tab pos="57150" algn="l"/>
              </a:tabLst>
            </a:pPr>
            <a:r>
              <a:rPr lang="en-US" sz="2400" dirty="0">
                <a:effectLst/>
                <a:ea typeface="Georgia" panose="02040502050405020303" pitchFamily="18" charset="0"/>
                <a:cs typeface="Georgia" panose="02040502050405020303" pitchFamily="18" charset="0"/>
              </a:rPr>
              <a:t> Developing circuit models for nanodevices that could be used for integration into CAD tools for design verification and simulation will require significant effort. </a:t>
            </a:r>
          </a:p>
          <a:p>
            <a:pPr>
              <a:buFont typeface="Wingdings" panose="05000000000000000000" pitchFamily="2" charset="2"/>
              <a:buChar char="ü"/>
            </a:pPr>
            <a:r>
              <a:rPr lang="en-IN" sz="2400" dirty="0">
                <a:effectLst/>
                <a:ea typeface="Calibri" panose="020F0502020204030204" pitchFamily="34" charset="0"/>
              </a:rPr>
              <a:t>It would be quite a challenge to develop design and test strategies for such dense systems</a:t>
            </a:r>
            <a:endParaRPr lang="en-US" sz="2400" dirty="0"/>
          </a:p>
        </p:txBody>
      </p:sp>
    </p:spTree>
    <p:extLst>
      <p:ext uri="{BB962C8B-B14F-4D97-AF65-F5344CB8AC3E}">
        <p14:creationId xmlns:p14="http://schemas.microsoft.com/office/powerpoint/2010/main" val="1877903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18</a:t>
            </a:fld>
            <a:endParaRPr lang="en-US" dirty="0"/>
          </a:p>
        </p:txBody>
      </p:sp>
      <p:sp>
        <p:nvSpPr>
          <p:cNvPr id="8" name="Title 7"/>
          <p:cNvSpPr txBox="1">
            <a:spLocks noGrp="1" noChangeArrowheads="1"/>
          </p:cNvSpPr>
          <p:nvPr>
            <p:ph type="title"/>
          </p:nvPr>
        </p:nvSpPr>
        <p:spPr bwMode="auto">
          <a:xfrm>
            <a:off x="234051" y="300111"/>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SUMMARY</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627796" y="1931314"/>
            <a:ext cx="11136573" cy="2995372"/>
          </a:xfrm>
          <a:prstGeom prst="rect">
            <a:avLst/>
          </a:prstGeom>
          <a:noFill/>
          <a:ln>
            <a:solidFill>
              <a:schemeClr val="tx1"/>
            </a:solidFill>
          </a:ln>
        </p:spPr>
        <p:txBody>
          <a:bodyPr wrap="square" rtlCol="0">
            <a:spAutoFit/>
          </a:bodyPr>
          <a:lstStyle/>
          <a:p>
            <a:pPr marL="342900" marR="0" lvl="0" indent="-342900" algn="just">
              <a:lnSpc>
                <a:spcPct val="150000"/>
              </a:lnSpc>
              <a:spcBef>
                <a:spcPts val="0"/>
              </a:spcBef>
              <a:spcAft>
                <a:spcPts val="0"/>
              </a:spcAft>
              <a:buFont typeface="Wingdings" panose="05000000000000000000" pitchFamily="2" charset="2"/>
              <a:buChar char=""/>
              <a:tabLst>
                <a:tab pos="1028700" algn="l"/>
              </a:tabLst>
            </a:pPr>
            <a:r>
              <a:rPr lang="en-IN" sz="2400" dirty="0">
                <a:solidFill>
                  <a:srgbClr val="000000"/>
                </a:solidFill>
                <a:effectLst/>
                <a:ea typeface="Calibri" panose="020F0502020204030204" pitchFamily="34" charset="0"/>
                <a:cs typeface="Raavi" panose="020B0502040204020203" pitchFamily="34" charset="0"/>
              </a:rPr>
              <a:t>Sol Gel is chemical method.</a:t>
            </a:r>
            <a:endParaRPr lang="en-US" sz="2400" dirty="0">
              <a:effectLst/>
              <a:ea typeface="Calibri" panose="020F0502020204030204" pitchFamily="34" charset="0"/>
              <a:cs typeface="Raavi" panose="020B0502040204020203" pitchFamily="34" charset="0"/>
            </a:endParaRPr>
          </a:p>
          <a:p>
            <a:pPr marL="342900" marR="0" lvl="0" indent="-342900" algn="just">
              <a:lnSpc>
                <a:spcPct val="150000"/>
              </a:lnSpc>
              <a:spcBef>
                <a:spcPts val="0"/>
              </a:spcBef>
              <a:spcAft>
                <a:spcPts val="0"/>
              </a:spcAft>
              <a:buFont typeface="Wingdings" panose="05000000000000000000" pitchFamily="2" charset="2"/>
              <a:buChar char=""/>
              <a:tabLst>
                <a:tab pos="1028700" algn="l"/>
              </a:tabLst>
            </a:pPr>
            <a:r>
              <a:rPr lang="en-IN" sz="2400" dirty="0">
                <a:solidFill>
                  <a:srgbClr val="000000"/>
                </a:solidFill>
                <a:effectLst/>
                <a:ea typeface="Calibri" panose="020F0502020204030204" pitchFamily="34" charset="0"/>
                <a:cs typeface="Raavi" panose="020B0502040204020203" pitchFamily="34" charset="0"/>
              </a:rPr>
              <a:t>Sol gel comes under Bottom up approach.</a:t>
            </a:r>
            <a:endParaRPr lang="en-US" sz="2400" dirty="0">
              <a:effectLst/>
              <a:ea typeface="Calibri" panose="020F0502020204030204" pitchFamily="34" charset="0"/>
              <a:cs typeface="Raavi" panose="020B0502040204020203" pitchFamily="34" charset="0"/>
            </a:endParaRPr>
          </a:p>
          <a:p>
            <a:pPr marL="342900" marR="0" lvl="0" indent="-342900" algn="just">
              <a:lnSpc>
                <a:spcPct val="115000"/>
              </a:lnSpc>
              <a:spcBef>
                <a:spcPts val="0"/>
              </a:spcBef>
              <a:spcAft>
                <a:spcPts val="800"/>
              </a:spcAft>
              <a:buFont typeface="Wingdings" panose="05000000000000000000" pitchFamily="2" charset="2"/>
              <a:buChar char=""/>
              <a:tabLst>
                <a:tab pos="1028700" algn="l"/>
              </a:tabLst>
            </a:pPr>
            <a:r>
              <a:rPr lang="en-IN" sz="2400" dirty="0">
                <a:solidFill>
                  <a:srgbClr val="333333"/>
                </a:solidFill>
                <a:effectLst/>
                <a:ea typeface="Calibri" panose="020F0502020204030204" pitchFamily="34" charset="0"/>
                <a:cs typeface="Raavi" panose="020B0502040204020203" pitchFamily="34" charset="0"/>
              </a:rPr>
              <a:t>Quantum computing provides computational power at the nanoscale with abilities that reach beyond the limitations of conventional computers.</a:t>
            </a:r>
            <a:endParaRPr lang="en-US" sz="2400" dirty="0">
              <a:effectLst/>
              <a:ea typeface="Calibri" panose="020F0502020204030204" pitchFamily="34" charset="0"/>
              <a:cs typeface="Raavi" panose="020B0502040204020203" pitchFamily="34" charset="0"/>
            </a:endParaRPr>
          </a:p>
          <a:p>
            <a:pPr marL="342900" marR="0" lvl="0" indent="-342900" algn="just">
              <a:lnSpc>
                <a:spcPts val="1895"/>
              </a:lnSpc>
              <a:spcBef>
                <a:spcPts val="0"/>
              </a:spcBef>
              <a:spcAft>
                <a:spcPts val="800"/>
              </a:spcAft>
              <a:buFont typeface="Wingdings" panose="05000000000000000000" pitchFamily="2" charset="2"/>
              <a:buChar char=""/>
              <a:tabLst>
                <a:tab pos="57150" algn="l"/>
              </a:tabLst>
            </a:pPr>
            <a:r>
              <a:rPr lang="en-IN" sz="2400" dirty="0">
                <a:solidFill>
                  <a:srgbClr val="333333"/>
                </a:solidFill>
                <a:effectLst/>
                <a:ea typeface="Calibri" panose="020F0502020204030204" pitchFamily="34" charset="0"/>
                <a:cs typeface="Raavi" panose="020B0502040204020203" pitchFamily="34" charset="0"/>
              </a:rPr>
              <a:t>Quantum computing provides improved transportation logistics across the world.</a:t>
            </a:r>
            <a:endParaRPr lang="en-US" sz="2400" dirty="0">
              <a:effectLst/>
              <a:ea typeface="Calibri" panose="020F0502020204030204" pitchFamily="34" charset="0"/>
              <a:cs typeface="Raavi" panose="020B0502040204020203" pitchFamily="34" charset="0"/>
            </a:endParaRPr>
          </a:p>
          <a:p>
            <a:pPr marL="457200" indent="-457200" algn="just">
              <a:lnSpc>
                <a:spcPct val="150000"/>
              </a:lnSpc>
              <a:buFont typeface="Wingdings" panose="05000000000000000000" pitchFamily="2" charset="2"/>
              <a:buChar char="q"/>
            </a:pPr>
            <a:endParaRPr lang="en-US" sz="2400" dirty="0"/>
          </a:p>
        </p:txBody>
      </p:sp>
    </p:spTree>
    <p:extLst>
      <p:ext uri="{BB962C8B-B14F-4D97-AF65-F5344CB8AC3E}">
        <p14:creationId xmlns:p14="http://schemas.microsoft.com/office/powerpoint/2010/main" val="3695358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19</a:t>
            </a:fld>
            <a:endParaRPr lang="en-US" dirty="0"/>
          </a:p>
        </p:txBody>
      </p:sp>
      <p:sp>
        <p:nvSpPr>
          <p:cNvPr id="8" name="Title 7"/>
          <p:cNvSpPr txBox="1">
            <a:spLocks noGrp="1" noChangeArrowheads="1"/>
          </p:cNvSpPr>
          <p:nvPr>
            <p:ph type="title"/>
          </p:nvPr>
        </p:nvSpPr>
        <p:spPr bwMode="auto">
          <a:xfrm>
            <a:off x="382137" y="323090"/>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FAQ</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673289" y="2655615"/>
            <a:ext cx="11136573" cy="1571712"/>
          </a:xfrm>
          <a:prstGeom prst="rect">
            <a:avLst/>
          </a:prstGeom>
          <a:noFill/>
          <a:ln>
            <a:solidFill>
              <a:schemeClr val="tx1"/>
            </a:solidFill>
          </a:ln>
        </p:spPr>
        <p:txBody>
          <a:bodyPr wrap="square" rtlCol="0">
            <a:spAutoFit/>
          </a:bodyPr>
          <a:lstStyle/>
          <a:p>
            <a:pPr marL="0" marR="0" algn="just">
              <a:lnSpc>
                <a:spcPct val="115000"/>
              </a:lnSpc>
              <a:spcBef>
                <a:spcPts val="0"/>
              </a:spcBef>
              <a:spcAft>
                <a:spcPts val="800"/>
              </a:spcAft>
              <a:tabLst>
                <a:tab pos="1980565" algn="l"/>
              </a:tabLst>
            </a:pPr>
            <a:r>
              <a:rPr lang="en-IN" sz="2400" dirty="0">
                <a:effectLst/>
                <a:ea typeface="Calibri" panose="020F0502020204030204" pitchFamily="34" charset="0"/>
                <a:cs typeface="Raavi" panose="020B0502040204020203" pitchFamily="34" charset="0"/>
              </a:rPr>
              <a:t>1.Explain Sol Gel process.</a:t>
            </a:r>
            <a:endParaRPr lang="en-US" sz="2400" dirty="0">
              <a:effectLst/>
              <a:ea typeface="Calibri" panose="020F0502020204030204" pitchFamily="34" charset="0"/>
              <a:cs typeface="Raavi" panose="020B0502040204020203" pitchFamily="34" charset="0"/>
            </a:endParaRPr>
          </a:p>
          <a:p>
            <a:pPr marL="0" marR="0" algn="just">
              <a:lnSpc>
                <a:spcPct val="115000"/>
              </a:lnSpc>
              <a:spcBef>
                <a:spcPts val="0"/>
              </a:spcBef>
              <a:spcAft>
                <a:spcPts val="800"/>
              </a:spcAft>
              <a:tabLst>
                <a:tab pos="1980565" algn="l"/>
              </a:tabLst>
            </a:pPr>
            <a:r>
              <a:rPr lang="en-IN" sz="2400" dirty="0">
                <a:effectLst/>
                <a:ea typeface="Calibri" panose="020F0502020204030204" pitchFamily="34" charset="0"/>
                <a:cs typeface="Raavi" panose="020B0502040204020203" pitchFamily="34" charset="0"/>
              </a:rPr>
              <a:t>2.Define Bottom up Approach.</a:t>
            </a:r>
            <a:endParaRPr lang="en-US" sz="2400" dirty="0">
              <a:effectLst/>
              <a:ea typeface="Calibri" panose="020F0502020204030204" pitchFamily="34" charset="0"/>
              <a:cs typeface="Raavi" panose="020B0502040204020203" pitchFamily="34" charset="0"/>
            </a:endParaRPr>
          </a:p>
          <a:p>
            <a:pPr marL="0" marR="0" algn="just">
              <a:lnSpc>
                <a:spcPct val="115000"/>
              </a:lnSpc>
              <a:spcBef>
                <a:spcPts val="0"/>
              </a:spcBef>
              <a:spcAft>
                <a:spcPts val="800"/>
              </a:spcAft>
              <a:tabLst>
                <a:tab pos="1980565" algn="l"/>
              </a:tabLst>
            </a:pPr>
            <a:r>
              <a:rPr lang="en-IN" sz="2400" dirty="0">
                <a:effectLst/>
                <a:ea typeface="Calibri" panose="020F0502020204030204" pitchFamily="34" charset="0"/>
                <a:cs typeface="Raavi" panose="020B0502040204020203" pitchFamily="34" charset="0"/>
              </a:rPr>
              <a:t>3.What is quantum Computing?</a:t>
            </a: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555230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p:spPr>
        <p:txBody>
          <a:bodyPr>
            <a:normAutofit/>
          </a:bodyPr>
          <a:lstStyle/>
          <a:p>
            <a:pPr algn="just">
              <a:buNone/>
              <a:defRPr/>
            </a:pPr>
            <a:r>
              <a:rPr lang="en-IN" sz="2400" dirty="0">
                <a:effectLst/>
                <a:ea typeface="Calibri" panose="020F0502020204030204" pitchFamily="34" charset="0"/>
                <a:cs typeface="Raavi" panose="020B0502040204020203" pitchFamily="34" charset="0"/>
              </a:rPr>
              <a:t>[1]</a:t>
            </a:r>
            <a:r>
              <a:rPr lang="en-US" sz="2400" dirty="0"/>
              <a:t> </a:t>
            </a:r>
            <a:r>
              <a:rPr lang="en-US" sz="2400" dirty="0">
                <a:hlinkClick r:id="rId2">
                  <a:extLst>
                    <a:ext uri="{A12FA001-AC4F-418D-AE19-62706E023703}">
                      <ahyp:hlinkClr xmlns:ahyp="http://schemas.microsoft.com/office/drawing/2018/hyperlinkcolor" val="tx"/>
                    </a:ext>
                  </a:extLst>
                </a:hlinkClick>
              </a:rPr>
              <a:t>https://cannabisanimus.com/cbd-and-nanotechnology/</a:t>
            </a:r>
            <a:endParaRPr lang="en-US" sz="2400" dirty="0"/>
          </a:p>
          <a:p>
            <a:pPr algn="just">
              <a:buNone/>
              <a:defRPr/>
            </a:pPr>
            <a:r>
              <a:rPr lang="en-US" sz="2400" dirty="0"/>
              <a:t>[2] https://www.slideshare.net/arunpl/nano-technology-5464209</a:t>
            </a:r>
            <a:endParaRPr lang="en-IN" sz="2400" dirty="0">
              <a:effectLst/>
              <a:ea typeface="Calibri" panose="020F0502020204030204" pitchFamily="34" charset="0"/>
              <a:cs typeface="Raavi" panose="020B0502040204020203" pitchFamily="34" charset="0"/>
            </a:endParaRPr>
          </a:p>
          <a:p>
            <a:pPr algn="just">
              <a:buNone/>
              <a:defRPr/>
            </a:pPr>
            <a:r>
              <a:rPr lang="en-IN" sz="2400" dirty="0">
                <a:effectLst/>
                <a:ea typeface="Calibri" panose="020F0502020204030204" pitchFamily="34" charset="0"/>
                <a:cs typeface="Raavi" panose="020B0502040204020203" pitchFamily="34" charset="0"/>
                <a:hlinkClick r:id="rId3">
                  <a:extLst>
                    <a:ext uri="{A12FA001-AC4F-418D-AE19-62706E023703}">
                      <ahyp:hlinkClr xmlns:ahyp="http://schemas.microsoft.com/office/drawing/2018/hyperlinkcolor" val="tx"/>
                    </a:ext>
                  </a:extLst>
                </a:hlinkClick>
              </a:rPr>
              <a:t>[3]https://www.researchgate.net/profile/Khaled_Habiba/publication/270583669/figure/fig1/AS:295080373047296@1447364051162/Bottom-up-and-the-top-down-approaches-in-synthesis-of-carbon-based-nanomaterials.png</a:t>
            </a:r>
            <a:endParaRPr lang="en-IN" sz="2400" dirty="0">
              <a:effectLst/>
              <a:ea typeface="Calibri" panose="020F0502020204030204" pitchFamily="34" charset="0"/>
              <a:cs typeface="Raavi" panose="020B0502040204020203" pitchFamily="34" charset="0"/>
            </a:endParaRPr>
          </a:p>
          <a:p>
            <a:pPr algn="just">
              <a:buNone/>
              <a:defRPr/>
            </a:pPr>
            <a:r>
              <a:rPr lang="en-US" sz="2400" dirty="0"/>
              <a:t>[4]https://www.intechopen.com/books/recent-applications-in-sol-gel-synthesis/facile-methodology-of-sol-gel-synthesis-for-metal-oxide-nanostructures</a:t>
            </a:r>
          </a:p>
          <a:p>
            <a:pPr algn="just">
              <a:buNone/>
              <a:defRPr/>
            </a:pPr>
            <a:r>
              <a:rPr lang="en-IN" sz="2400" dirty="0">
                <a:effectLst/>
                <a:ea typeface="Calibri" panose="020F0502020204030204" pitchFamily="34" charset="0"/>
                <a:cs typeface="Raavi" panose="020B0502040204020203" pitchFamily="34" charset="0"/>
              </a:rPr>
              <a:t>[5] M. Fernandez-Garcia, A. Martinez-Arias, J. C. Hanson, J. </a:t>
            </a:r>
            <a:r>
              <a:rPr lang="en-IN" sz="2400" dirty="0" err="1">
                <a:effectLst/>
                <a:ea typeface="Calibri" panose="020F0502020204030204" pitchFamily="34" charset="0"/>
                <a:cs typeface="Raavi" panose="020B0502040204020203" pitchFamily="34" charset="0"/>
              </a:rPr>
              <a:t>A.Rodriguez</a:t>
            </a:r>
            <a:r>
              <a:rPr lang="en-IN" sz="2400" dirty="0">
                <a:effectLst/>
                <a:ea typeface="Calibri" panose="020F0502020204030204" pitchFamily="34" charset="0"/>
                <a:cs typeface="Raavi" panose="020B0502040204020203" pitchFamily="34" charset="0"/>
              </a:rPr>
              <a:t>, Nanostructured Oxides in Chemistry: Characterization </a:t>
            </a:r>
            <a:r>
              <a:rPr lang="en-IN" sz="2400" spc="10" dirty="0">
                <a:effectLst/>
                <a:ea typeface="Calibri" panose="020F0502020204030204" pitchFamily="34" charset="0"/>
                <a:cs typeface="Raavi" panose="020B0502040204020203" pitchFamily="34" charset="0"/>
              </a:rPr>
              <a:t>and </a:t>
            </a:r>
            <a:r>
              <a:rPr lang="en-IN" sz="2400" dirty="0">
                <a:effectLst/>
                <a:ea typeface="Calibri" panose="020F0502020204030204" pitchFamily="34" charset="0"/>
                <a:cs typeface="Raavi" panose="020B0502040204020203" pitchFamily="34" charset="0"/>
              </a:rPr>
              <a:t>Properties. Chem. Rev., 104, (9), 4063-4104,</a:t>
            </a:r>
            <a:r>
              <a:rPr lang="en-IN" sz="2400" spc="85" dirty="0">
                <a:effectLst/>
                <a:ea typeface="Calibri" panose="020F0502020204030204" pitchFamily="34" charset="0"/>
                <a:cs typeface="Raavi" panose="020B0502040204020203" pitchFamily="34" charset="0"/>
              </a:rPr>
              <a:t> </a:t>
            </a:r>
            <a:r>
              <a:rPr lang="en-IN" sz="2400" b="1" dirty="0">
                <a:effectLst/>
                <a:ea typeface="Calibri" panose="020F0502020204030204" pitchFamily="34" charset="0"/>
                <a:cs typeface="Raavi" panose="020B0502040204020203" pitchFamily="34" charset="0"/>
              </a:rPr>
              <a:t>(2004).</a:t>
            </a:r>
            <a:endParaRPr lang="en-US" sz="2400" dirty="0">
              <a:effectLst/>
              <a:ea typeface="Calibri" panose="020F0502020204030204" pitchFamily="34" charset="0"/>
              <a:cs typeface="Raavi" panose="020B0502040204020203" pitchFamily="34" charset="0"/>
            </a:endParaRPr>
          </a:p>
          <a:p>
            <a:pPr algn="just">
              <a:buNone/>
              <a:defRPr/>
            </a:pPr>
            <a:endParaRPr lang="en-US" sz="2400" dirty="0"/>
          </a:p>
          <a:p>
            <a:pPr algn="just">
              <a:buNone/>
              <a:defRPr/>
            </a:pPr>
            <a:endParaRPr lang="en-US" sz="2400" dirty="0">
              <a:effectLst/>
              <a:ea typeface="Calibri" panose="020F0502020204030204" pitchFamily="34" charset="0"/>
              <a:cs typeface="Raavi" panose="020B0502040204020203" pitchFamily="34" charset="0"/>
            </a:endParaRPr>
          </a:p>
          <a:p>
            <a:pPr algn="just">
              <a:buNone/>
              <a:defRPr/>
            </a:pPr>
            <a:endParaRPr lang="en-IN" sz="2400" b="1"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p:spPr>
        <p:txBody>
          <a:bodyPr>
            <a:normAutofit/>
          </a:bodyPr>
          <a:lstStyle/>
          <a:p>
            <a:r>
              <a:rPr lang="en-IN" b="1" dirty="0"/>
              <a:t>Video link</a:t>
            </a:r>
          </a:p>
          <a:p>
            <a:pPr marL="342900" marR="0" lvl="0" indent="-342900" algn="just">
              <a:lnSpc>
                <a:spcPct val="115000"/>
              </a:lnSpc>
              <a:spcBef>
                <a:spcPts val="0"/>
              </a:spcBef>
              <a:spcAft>
                <a:spcPts val="0"/>
              </a:spcAft>
              <a:buFont typeface="Wingdings" panose="05000000000000000000" pitchFamily="2" charset="2"/>
              <a:buChar char=""/>
            </a:pPr>
            <a:r>
              <a:rPr lang="en-IN" sz="2400" u="sng" dirty="0">
                <a:effectLst/>
                <a:ea typeface="Calibri" panose="020F0502020204030204" pitchFamily="34" charset="0"/>
                <a:cs typeface="Raavi" panose="020B0502040204020203" pitchFamily="34" charset="0"/>
                <a:hlinkClick r:id="rId2">
                  <a:extLst>
                    <a:ext uri="{A12FA001-AC4F-418D-AE19-62706E023703}">
                      <ahyp:hlinkClr xmlns:ahyp="http://schemas.microsoft.com/office/drawing/2018/hyperlinkcolor" val="tx"/>
                    </a:ext>
                  </a:extLst>
                </a:hlinkClick>
              </a:rPr>
              <a:t>https://nptel.ac.in/courses/118/102/118102003/</a:t>
            </a:r>
            <a:endParaRPr lang="en-US" sz="2400" dirty="0">
              <a:effectLst/>
              <a:ea typeface="Calibri" panose="020F0502020204030204" pitchFamily="34" charset="0"/>
              <a:cs typeface="Raavi" panose="020B0502040204020203" pitchFamily="34" charset="0"/>
            </a:endParaRPr>
          </a:p>
          <a:p>
            <a:pPr marL="342900" marR="0" lvl="0" indent="-342900" algn="just">
              <a:lnSpc>
                <a:spcPct val="115000"/>
              </a:lnSpc>
              <a:spcBef>
                <a:spcPts val="0"/>
              </a:spcBef>
              <a:spcAft>
                <a:spcPts val="0"/>
              </a:spcAft>
              <a:buFont typeface="Wingdings" panose="05000000000000000000" pitchFamily="2" charset="2"/>
              <a:buChar char=""/>
            </a:pPr>
            <a:r>
              <a:rPr lang="en-IN" sz="2400" u="sng" dirty="0">
                <a:effectLst/>
                <a:ea typeface="Calibri" panose="020F0502020204030204" pitchFamily="34" charset="0"/>
                <a:cs typeface="Raavi" panose="020B0502040204020203" pitchFamily="34" charset="0"/>
                <a:hlinkClick r:id="rId3">
                  <a:extLst>
                    <a:ext uri="{A12FA001-AC4F-418D-AE19-62706E023703}">
                      <ahyp:hlinkClr xmlns:ahyp="http://schemas.microsoft.com/office/drawing/2018/hyperlinkcolor" val="tx"/>
                    </a:ext>
                  </a:extLst>
                </a:hlinkClick>
              </a:rPr>
              <a:t>https://www.youtube.com/watch?v=14DqBIG96W0</a:t>
            </a:r>
            <a:endParaRPr lang="en-US" sz="2400" dirty="0">
              <a:effectLst/>
              <a:ea typeface="Calibri" panose="020F0502020204030204" pitchFamily="34" charset="0"/>
              <a:cs typeface="Raavi" panose="020B0502040204020203" pitchFamily="34" charset="0"/>
            </a:endParaRPr>
          </a:p>
          <a:p>
            <a:pPr marL="342900" marR="0" lvl="0" indent="-342900" algn="just">
              <a:lnSpc>
                <a:spcPct val="115000"/>
              </a:lnSpc>
              <a:spcBef>
                <a:spcPts val="0"/>
              </a:spcBef>
              <a:spcAft>
                <a:spcPts val="800"/>
              </a:spcAft>
              <a:buFont typeface="Wingdings" panose="05000000000000000000" pitchFamily="2" charset="2"/>
              <a:buChar char=""/>
            </a:pPr>
            <a:r>
              <a:rPr lang="en-IN" sz="2400" dirty="0">
                <a:effectLst/>
                <a:ea typeface="Calibri" panose="020F0502020204030204" pitchFamily="34" charset="0"/>
                <a:cs typeface="Raavi" panose="020B0502040204020203" pitchFamily="34" charset="0"/>
              </a:rPr>
              <a:t>https://www.youtube.com/watch?v=dVzD6L6WxpM</a:t>
            </a:r>
            <a:endParaRPr lang="en-US" sz="2400" dirty="0">
              <a:effectLst/>
              <a:ea typeface="Calibri" panose="020F0502020204030204" pitchFamily="34" charset="0"/>
              <a:cs typeface="Raavi" panose="020B0502040204020203" pitchFamily="34" charset="0"/>
            </a:endParaRPr>
          </a:p>
          <a:p>
            <a:pPr marL="0" marR="0" algn="just">
              <a:lnSpc>
                <a:spcPct val="115000"/>
              </a:lnSpc>
              <a:spcBef>
                <a:spcPts val="0"/>
              </a:spcBef>
              <a:spcAft>
                <a:spcPts val="800"/>
              </a:spcAft>
            </a:pPr>
            <a:r>
              <a:rPr lang="en-IN" b="1" dirty="0">
                <a:effectLst/>
                <a:ea typeface="Calibri" panose="020F0502020204030204" pitchFamily="34" charset="0"/>
                <a:cs typeface="Raavi" panose="020B0502040204020203" pitchFamily="34" charset="0"/>
              </a:rPr>
              <a:t>Books </a:t>
            </a:r>
            <a:endParaRPr lang="en-US" b="1" dirty="0">
              <a:effectLst/>
              <a:ea typeface="Calibri" panose="020F0502020204030204" pitchFamily="34" charset="0"/>
              <a:cs typeface="Raavi" panose="020B0502040204020203" pitchFamily="34" charset="0"/>
            </a:endParaRPr>
          </a:p>
          <a:p>
            <a:pPr marL="457200" marR="0" indent="-457200" algn="just">
              <a:lnSpc>
                <a:spcPct val="107000"/>
              </a:lnSpc>
              <a:spcBef>
                <a:spcPts val="0"/>
              </a:spcBef>
              <a:spcAft>
                <a:spcPts val="1000"/>
              </a:spcAft>
              <a:tabLst>
                <a:tab pos="228600" algn="l"/>
              </a:tabLst>
            </a:pPr>
            <a:r>
              <a:rPr lang="en-IN" sz="2400" dirty="0" err="1">
                <a:solidFill>
                  <a:srgbClr val="000000"/>
                </a:solidFill>
                <a:effectLst/>
                <a:ea typeface="Calibri" panose="020F0502020204030204" pitchFamily="34" charset="0"/>
                <a:cs typeface="Raavi" panose="020B0502040204020203" pitchFamily="34" charset="0"/>
              </a:rPr>
              <a:t>Sahni</a:t>
            </a:r>
            <a:r>
              <a:rPr lang="en-IN" sz="2400" dirty="0">
                <a:solidFill>
                  <a:srgbClr val="000000"/>
                </a:solidFill>
                <a:effectLst/>
                <a:ea typeface="Calibri" panose="020F0502020204030204" pitchFamily="34" charset="0"/>
                <a:cs typeface="Raavi" panose="020B0502040204020203" pitchFamily="34" charset="0"/>
              </a:rPr>
              <a:t> V., Goswami D. (2008) Nano Computing, McGraw Hill Education Asia Ltd., ISBN: 978007024892</a:t>
            </a:r>
            <a:r>
              <a:rPr lang="en-IN" sz="2400" dirty="0">
                <a:effectLst/>
                <a:ea typeface="Calibri" panose="020F0502020204030204" pitchFamily="34" charset="0"/>
                <a:cs typeface="Raavi" panose="020B0502040204020203" pitchFamily="34" charset="0"/>
              </a:rPr>
              <a:t>Beiser A., </a:t>
            </a:r>
            <a:r>
              <a:rPr lang="en-IN" sz="2400" dirty="0" err="1">
                <a:effectLst/>
                <a:ea typeface="Calibri" panose="020F0502020204030204" pitchFamily="34" charset="0"/>
                <a:cs typeface="Raavi" panose="020B0502040204020203" pitchFamily="34" charset="0"/>
              </a:rPr>
              <a:t>Ghatak</a:t>
            </a:r>
            <a:r>
              <a:rPr lang="en-IN" sz="2400" dirty="0">
                <a:effectLst/>
                <a:ea typeface="Calibri" panose="020F0502020204030204" pitchFamily="34" charset="0"/>
                <a:cs typeface="Raavi" panose="020B0502040204020203" pitchFamily="34" charset="0"/>
              </a:rPr>
              <a:t> A, Garg S.C., Applied Physics, Edition 1</a:t>
            </a:r>
            <a:r>
              <a:rPr lang="en-IN" sz="2400" baseline="30000" dirty="0">
                <a:effectLst/>
                <a:ea typeface="Calibri" panose="020F0502020204030204" pitchFamily="34" charset="0"/>
                <a:cs typeface="Raavi" panose="020B0502040204020203" pitchFamily="34" charset="0"/>
              </a:rPr>
              <a:t>st</a:t>
            </a:r>
            <a:r>
              <a:rPr lang="en-IN" sz="2400" dirty="0">
                <a:effectLst/>
                <a:ea typeface="Calibri" panose="020F0502020204030204" pitchFamily="34" charset="0"/>
                <a:cs typeface="Raavi" panose="020B0502040204020203" pitchFamily="34" charset="0"/>
              </a:rPr>
              <a:t>, (2013), Tata McGraw-Hill, Noida.</a:t>
            </a:r>
            <a:endParaRPr lang="en-US" sz="2400" dirty="0">
              <a:effectLst/>
              <a:ea typeface="Calibri" panose="020F0502020204030204" pitchFamily="34" charset="0"/>
              <a:cs typeface="Raavi" panose="020B0502040204020203" pitchFamily="34" charset="0"/>
            </a:endParaRPr>
          </a:p>
          <a:p>
            <a:endParaRPr lang="en-IN" b="1" dirty="0"/>
          </a:p>
          <a:p>
            <a:endParaRPr lang="en-IN" b="1" dirty="0"/>
          </a:p>
          <a:p>
            <a:pPr marL="0" indent="0">
              <a:buNone/>
            </a:pPr>
            <a:endParaRPr lang="en-US" sz="1700" dirty="0">
              <a:latin typeface="Casper"/>
            </a:endParaRPr>
          </a:p>
          <a:p>
            <a:pPr algn="just">
              <a:buNone/>
              <a:defRPr/>
            </a:pPr>
            <a:endParaRPr lang="en-IN" sz="1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21</a:t>
            </a:fld>
            <a:endParaRPr lang="en-US"/>
          </a:p>
        </p:txBody>
      </p:sp>
      <p:sp>
        <p:nvSpPr>
          <p:cNvPr id="5" name="Rectangle 4"/>
          <p:cNvSpPr/>
          <p:nvPr/>
        </p:nvSpPr>
        <p:spPr>
          <a:xfrm>
            <a:off x="838200" y="1803400"/>
            <a:ext cx="10515600" cy="50546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463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Rectangle 1"/>
          <p:cNvSpPr/>
          <p:nvPr/>
        </p:nvSpPr>
        <p:spPr>
          <a:xfrm>
            <a:off x="4114005" y="5394447"/>
            <a:ext cx="3961049" cy="646331"/>
          </a:xfrm>
          <a:prstGeom prst="rect">
            <a:avLst/>
          </a:prstGeom>
        </p:spPr>
        <p:txBody>
          <a:bodyPr wrap="squar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a:t>
            </a:r>
            <a:r>
              <a:rPr lang="en-US">
                <a:latin typeface="Casper" panose="02000506000000020004" pitchFamily="2" charset="0"/>
                <a:cs typeface="Segoe UI" panose="020B0502040204020203" pitchFamily="34" charset="0"/>
              </a:rPr>
              <a:t>: arminder.uis@cumail.in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1933</TotalTime>
  <Words>1688</Words>
  <Application>Microsoft Office PowerPoint</Application>
  <PresentationFormat>Widescreen</PresentationFormat>
  <Paragraphs>144</Paragraphs>
  <Slides>22</Slides>
  <Notes>0</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6" baseType="lpstr">
      <vt:lpstr>Arial</vt:lpstr>
      <vt:lpstr>Arial Black</vt:lpstr>
      <vt:lpstr>Calibri</vt:lpstr>
      <vt:lpstr>Calibri Light</vt:lpstr>
      <vt:lpstr>Casper</vt:lpstr>
      <vt:lpstr>Casper Bold</vt:lpstr>
      <vt:lpstr>Georgia</vt:lpstr>
      <vt:lpstr>Karla</vt:lpstr>
      <vt:lpstr>Raleway ExtraBold</vt:lpstr>
      <vt:lpstr>Times New Roman</vt:lpstr>
      <vt:lpstr>Wingdings</vt:lpstr>
      <vt:lpstr>1_Office Theme</vt:lpstr>
      <vt:lpstr>Contents Slide Master</vt:lpstr>
      <vt:lpstr>CorelDRAW</vt:lpstr>
      <vt:lpstr>PowerPoint Presentation</vt:lpstr>
      <vt:lpstr>PowerPoint Presentation</vt:lpstr>
      <vt:lpstr>PowerPoint Presentation</vt:lpstr>
      <vt:lpstr>LECTURE OBJECTIVE  </vt:lpstr>
      <vt:lpstr>NANOMATERIALS </vt:lpstr>
      <vt:lpstr>SYNTHESIS OF NANOMATERIALS </vt:lpstr>
      <vt:lpstr>SYNTHESIS OF NANOMATERIALS </vt:lpstr>
      <vt:lpstr>SOL-GEL METHOD </vt:lpstr>
      <vt:lpstr>SOL-GEL METHOD </vt:lpstr>
      <vt:lpstr>SOL-GEL METHOD </vt:lpstr>
      <vt:lpstr>SOL-GEL METHOD </vt:lpstr>
      <vt:lpstr>SOL-GEL METHOD </vt:lpstr>
      <vt:lpstr> NANOCOMPUTING TECHNOLOGIES </vt:lpstr>
      <vt:lpstr> Quantum Computing </vt:lpstr>
      <vt:lpstr> PROSPECTS  OF NANOCOMPUTING </vt:lpstr>
      <vt:lpstr> CHALLENGES OF NANOCOMPUTING </vt:lpstr>
      <vt:lpstr> CHALLENGES OF NANOCOMPUTING </vt:lpstr>
      <vt:lpstr>SUMMARY </vt:lpstr>
      <vt:lpstr>FAQ </vt:lpstr>
      <vt:lpstr>REFERENCES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166</cp:revision>
  <dcterms:created xsi:type="dcterms:W3CDTF">2019-01-09T10:33:58Z</dcterms:created>
  <dcterms:modified xsi:type="dcterms:W3CDTF">2023-06-15T16:06:04Z</dcterms:modified>
</cp:coreProperties>
</file>