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0"/>
  </p:notesMasterIdLst>
  <p:handoutMasterIdLst>
    <p:handoutMasterId r:id="rId31"/>
  </p:handoutMasterIdLst>
  <p:sldIdLst>
    <p:sldId id="277" r:id="rId3"/>
    <p:sldId id="265" r:id="rId4"/>
    <p:sldId id="377" r:id="rId5"/>
    <p:sldId id="386" r:id="rId6"/>
    <p:sldId id="399" r:id="rId7"/>
    <p:sldId id="400" r:id="rId8"/>
    <p:sldId id="401" r:id="rId9"/>
    <p:sldId id="402" r:id="rId10"/>
    <p:sldId id="403" r:id="rId11"/>
    <p:sldId id="404" r:id="rId12"/>
    <p:sldId id="405" r:id="rId13"/>
    <p:sldId id="410" r:id="rId14"/>
    <p:sldId id="406" r:id="rId15"/>
    <p:sldId id="409" r:id="rId16"/>
    <p:sldId id="407" r:id="rId17"/>
    <p:sldId id="408" r:id="rId18"/>
    <p:sldId id="411" r:id="rId19"/>
    <p:sldId id="412" r:id="rId20"/>
    <p:sldId id="413" r:id="rId21"/>
    <p:sldId id="396" r:id="rId22"/>
    <p:sldId id="384" r:id="rId23"/>
    <p:sldId id="284" r:id="rId24"/>
    <p:sldId id="397" r:id="rId25"/>
    <p:sldId id="414" r:id="rId26"/>
    <p:sldId id="415" r:id="rId27"/>
    <p:sldId id="385" r:id="rId28"/>
    <p:sldId id="2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minder kaur" initials="ak" lastIdx="20" clrIdx="0">
    <p:extLst>
      <p:ext uri="{19B8F6BF-5375-455C-9EA6-DF929625EA0E}">
        <p15:presenceInfo xmlns:p15="http://schemas.microsoft.com/office/powerpoint/2012/main" userId="a22e12bbabfcda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14" autoAdjust="0"/>
    <p:restoredTop sz="94394" autoAdjust="0"/>
  </p:normalViewPr>
  <p:slideViewPr>
    <p:cSldViewPr snapToGrid="0">
      <p:cViewPr varScale="1">
        <p:scale>
          <a:sx n="66" d="100"/>
          <a:sy n="66" d="100"/>
        </p:scale>
        <p:origin x="67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s>
</file>

<file path=ppt/diagrams/_rels/data1.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jfif"/><Relationship Id="rId1" Type="http://schemas.openxmlformats.org/officeDocument/2006/relationships/image" Target="../media/image9.jfif"/></Relationships>
</file>

<file path=ppt/diagrams/_rels/drawing1.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jfif"/><Relationship Id="rId1" Type="http://schemas.openxmlformats.org/officeDocument/2006/relationships/image" Target="../media/image9.jfif"/></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654A98-D1FE-4D52-AC40-FC2940D83D90}" type="doc">
      <dgm:prSet loTypeId="urn:microsoft.com/office/officeart/2005/8/layout/hList7" loCatId="list" qsTypeId="urn:microsoft.com/office/officeart/2005/8/quickstyle/simple3" qsCatId="simple" csTypeId="urn:microsoft.com/office/officeart/2005/8/colors/colorful1" csCatId="colorful" phldr="1"/>
      <dgm:spPr/>
      <dgm:t>
        <a:bodyPr/>
        <a:lstStyle/>
        <a:p>
          <a:endParaRPr lang="en-IN"/>
        </a:p>
      </dgm:t>
    </dgm:pt>
    <dgm:pt modelId="{EB8A354C-F3C7-454B-83E5-47C0AFE4BA9B}">
      <dgm:prSet phldrT="[Text]" custT="1"/>
      <dgm:spPr/>
      <dgm:t>
        <a:bodyPr/>
        <a:lstStyle/>
        <a:p>
          <a:pPr algn="ctr"/>
          <a:r>
            <a:rPr lang="en-IN" sz="2400" dirty="0">
              <a:latin typeface="Casper" panose="02000506000000020004"/>
              <a:cs typeface="Times New Roman" panose="02020603050405020304" pitchFamily="18" charset="0"/>
            </a:rPr>
            <a:t>Students will learn about properties of nanomaterials</a:t>
          </a:r>
        </a:p>
      </dgm:t>
    </dgm:pt>
    <dgm:pt modelId="{855DF5E0-6DD9-47D1-85C1-71E7C93C7938}" type="parTrans" cxnId="{1F8DC843-A980-4671-A488-C56D7E2A0332}">
      <dgm:prSet/>
      <dgm:spPr/>
      <dgm:t>
        <a:bodyPr/>
        <a:lstStyle/>
        <a:p>
          <a:endParaRPr lang="en-IN"/>
        </a:p>
      </dgm:t>
    </dgm:pt>
    <dgm:pt modelId="{50DA53F4-7CD0-42FA-8C47-6937EC0C788A}" type="sibTrans" cxnId="{1F8DC843-A980-4671-A488-C56D7E2A0332}">
      <dgm:prSet/>
      <dgm:spPr/>
      <dgm:t>
        <a:bodyPr/>
        <a:lstStyle/>
        <a:p>
          <a:endParaRPr lang="en-IN"/>
        </a:p>
      </dgm:t>
    </dgm:pt>
    <dgm:pt modelId="{6D978731-264F-4D48-A49B-A558474EE7D8}">
      <dgm:prSet phldrT="[Text]" custT="1"/>
      <dgm:spPr/>
      <dgm:t>
        <a:bodyPr/>
        <a:lstStyle/>
        <a:p>
          <a:pPr algn="ctr"/>
          <a:r>
            <a:rPr lang="en-IN" sz="2400" dirty="0">
              <a:latin typeface="Casper" panose="02000506000000020004"/>
              <a:cs typeface="Times New Roman" panose="02020603050405020304" pitchFamily="18" charset="0"/>
            </a:rPr>
            <a:t>Students will understand about types of nanomaterials.</a:t>
          </a:r>
        </a:p>
      </dgm:t>
    </dgm:pt>
    <dgm:pt modelId="{1303F81F-D0B2-40BD-8EE0-E03135E9309A}" type="parTrans" cxnId="{9F5C091B-72EC-40AD-8C58-AB1B32E39C39}">
      <dgm:prSet/>
      <dgm:spPr/>
      <dgm:t>
        <a:bodyPr/>
        <a:lstStyle/>
        <a:p>
          <a:endParaRPr lang="en-IN"/>
        </a:p>
      </dgm:t>
    </dgm:pt>
    <dgm:pt modelId="{E615A6AB-D553-414A-AF92-F290BC3F199A}" type="sibTrans" cxnId="{9F5C091B-72EC-40AD-8C58-AB1B32E39C39}">
      <dgm:prSet/>
      <dgm:spPr/>
      <dgm:t>
        <a:bodyPr/>
        <a:lstStyle/>
        <a:p>
          <a:endParaRPr lang="en-IN"/>
        </a:p>
      </dgm:t>
    </dgm:pt>
    <dgm:pt modelId="{FF9B39E7-F148-497F-8E27-B07B0EA561CD}">
      <dgm:prSet phldrT="[Text]" custT="1"/>
      <dgm:spPr/>
      <dgm:t>
        <a:bodyPr/>
        <a:lstStyle/>
        <a:p>
          <a:pPr algn="ctr"/>
          <a:r>
            <a:rPr lang="en-IN" sz="2400" dirty="0">
              <a:latin typeface="Casper" panose="02000506000000020004"/>
              <a:cs typeface="Times New Roman" panose="02020603050405020304" pitchFamily="18" charset="0"/>
            </a:rPr>
            <a:t>Students will learn about example related to previous mentioned topic. </a:t>
          </a:r>
        </a:p>
      </dgm:t>
    </dgm:pt>
    <dgm:pt modelId="{F606E620-6C7D-4583-BC51-2DA4AAB6BBC6}" type="parTrans" cxnId="{783D770D-A246-4A80-B5AA-3B108B54D3CD}">
      <dgm:prSet/>
      <dgm:spPr/>
      <dgm:t>
        <a:bodyPr/>
        <a:lstStyle/>
        <a:p>
          <a:endParaRPr lang="en-IN"/>
        </a:p>
      </dgm:t>
    </dgm:pt>
    <dgm:pt modelId="{93D5ABFB-C6E8-4E92-BE50-246FE07E8EE5}" type="sibTrans" cxnId="{783D770D-A246-4A80-B5AA-3B108B54D3CD}">
      <dgm:prSet/>
      <dgm:spPr/>
      <dgm:t>
        <a:bodyPr/>
        <a:lstStyle/>
        <a:p>
          <a:endParaRPr lang="en-IN"/>
        </a:p>
      </dgm:t>
    </dgm:pt>
    <dgm:pt modelId="{E28E89FF-891B-4BC0-AF5B-351B44FE9A5A}" type="pres">
      <dgm:prSet presAssocID="{39654A98-D1FE-4D52-AC40-FC2940D83D90}" presName="Name0" presStyleCnt="0">
        <dgm:presLayoutVars>
          <dgm:dir/>
          <dgm:resizeHandles val="exact"/>
        </dgm:presLayoutVars>
      </dgm:prSet>
      <dgm:spPr/>
    </dgm:pt>
    <dgm:pt modelId="{323C8708-EBC8-4346-B9D7-F4F4FED58C31}" type="pres">
      <dgm:prSet presAssocID="{39654A98-D1FE-4D52-AC40-FC2940D83D90}" presName="fgShape" presStyleLbl="fgShp" presStyleIdx="0" presStyleCnt="1"/>
      <dgm:spPr/>
    </dgm:pt>
    <dgm:pt modelId="{068BF970-D871-4BF1-97F3-0BE30617AC82}" type="pres">
      <dgm:prSet presAssocID="{39654A98-D1FE-4D52-AC40-FC2940D83D90}" presName="linComp" presStyleCnt="0"/>
      <dgm:spPr/>
    </dgm:pt>
    <dgm:pt modelId="{E30EBF77-120B-4CD3-A033-94649BE40A66}" type="pres">
      <dgm:prSet presAssocID="{EB8A354C-F3C7-454B-83E5-47C0AFE4BA9B}" presName="compNode" presStyleCnt="0"/>
      <dgm:spPr/>
    </dgm:pt>
    <dgm:pt modelId="{B0625DDC-302A-456C-8B12-57155170D50A}" type="pres">
      <dgm:prSet presAssocID="{EB8A354C-F3C7-454B-83E5-47C0AFE4BA9B}" presName="bkgdShape" presStyleLbl="node1" presStyleIdx="0" presStyleCnt="3"/>
      <dgm:spPr/>
    </dgm:pt>
    <dgm:pt modelId="{AE6D4CE1-C252-41FF-A301-5445162591BD}" type="pres">
      <dgm:prSet presAssocID="{EB8A354C-F3C7-454B-83E5-47C0AFE4BA9B}" presName="nodeTx" presStyleLbl="node1" presStyleIdx="0" presStyleCnt="3">
        <dgm:presLayoutVars>
          <dgm:bulletEnabled val="1"/>
        </dgm:presLayoutVars>
      </dgm:prSet>
      <dgm:spPr/>
    </dgm:pt>
    <dgm:pt modelId="{BE5B8B0C-3C04-4580-B087-168909CA886E}" type="pres">
      <dgm:prSet presAssocID="{EB8A354C-F3C7-454B-83E5-47C0AFE4BA9B}" presName="invisiNode" presStyleLbl="node1" presStyleIdx="0" presStyleCnt="3"/>
      <dgm:spPr/>
    </dgm:pt>
    <dgm:pt modelId="{B103F8D8-76B4-4272-BA94-128B4C2C71A0}" type="pres">
      <dgm:prSet presAssocID="{EB8A354C-F3C7-454B-83E5-47C0AFE4BA9B}" presName="imagNode" presStyleLbl="fgImgPlace1" presStyleIdx="0" presStyleCnt="3" custLinFactNeighborX="-8628" custLinFactNeighborY="-1536"/>
      <dgm:spPr>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dgm:spPr>
    </dgm:pt>
    <dgm:pt modelId="{485E51A4-F0D1-4786-A30C-7A22C6116916}" type="pres">
      <dgm:prSet presAssocID="{50DA53F4-7CD0-42FA-8C47-6937EC0C788A}" presName="sibTrans" presStyleLbl="sibTrans2D1" presStyleIdx="0" presStyleCnt="0"/>
      <dgm:spPr/>
    </dgm:pt>
    <dgm:pt modelId="{365E3586-FE2C-46EC-A4DB-F75C9DC9BE12}" type="pres">
      <dgm:prSet presAssocID="{6D978731-264F-4D48-A49B-A558474EE7D8}" presName="compNode" presStyleCnt="0"/>
      <dgm:spPr/>
    </dgm:pt>
    <dgm:pt modelId="{59466344-34F2-47FE-BE5B-DE4D2D0D235D}" type="pres">
      <dgm:prSet presAssocID="{6D978731-264F-4D48-A49B-A558474EE7D8}" presName="bkgdShape" presStyleLbl="node1" presStyleIdx="1" presStyleCnt="3" custLinFactNeighborX="-1471"/>
      <dgm:spPr/>
    </dgm:pt>
    <dgm:pt modelId="{266A0E14-40CF-4920-A67F-1CCB058A7470}" type="pres">
      <dgm:prSet presAssocID="{6D978731-264F-4D48-A49B-A558474EE7D8}" presName="nodeTx" presStyleLbl="node1" presStyleIdx="1" presStyleCnt="3">
        <dgm:presLayoutVars>
          <dgm:bulletEnabled val="1"/>
        </dgm:presLayoutVars>
      </dgm:prSet>
      <dgm:spPr/>
    </dgm:pt>
    <dgm:pt modelId="{97682022-119D-48E1-AF8F-5229A0350892}" type="pres">
      <dgm:prSet presAssocID="{6D978731-264F-4D48-A49B-A558474EE7D8}" presName="invisiNode" presStyleLbl="node1" presStyleIdx="1" presStyleCnt="3"/>
      <dgm:spPr/>
    </dgm:pt>
    <dgm:pt modelId="{50C2274F-4F2F-4CCF-A2D0-F4FCD0746BCB}" type="pres">
      <dgm:prSet presAssocID="{6D978731-264F-4D48-A49B-A558474EE7D8}" presName="imagNode" presStyleLbl="fgImgPlace1" presStyleIdx="1" presStyleCnt="3" custLinFactNeighborX="-811" custLinFactNeighborY="-1621"/>
      <dgm:spPr>
        <a:blipFill>
          <a:blip xmlns:r="http://schemas.openxmlformats.org/officeDocument/2006/relationships" r:embed="rId2">
            <a:extLst>
              <a:ext uri="{28A0092B-C50C-407E-A947-70E740481C1C}">
                <a14:useLocalDpi xmlns:a14="http://schemas.microsoft.com/office/drawing/2010/main" val="0"/>
              </a:ext>
            </a:extLst>
          </a:blip>
          <a:srcRect/>
          <a:stretch>
            <a:fillRect l="-33000" r="-33000"/>
          </a:stretch>
        </a:blipFill>
      </dgm:spPr>
    </dgm:pt>
    <dgm:pt modelId="{AB002910-53CC-4237-BE47-F9C520C00106}" type="pres">
      <dgm:prSet presAssocID="{E615A6AB-D553-414A-AF92-F290BC3F199A}" presName="sibTrans" presStyleLbl="sibTrans2D1" presStyleIdx="0" presStyleCnt="0"/>
      <dgm:spPr/>
    </dgm:pt>
    <dgm:pt modelId="{BACE84A8-E6D3-41DC-8EAF-DEDCC00F43B5}" type="pres">
      <dgm:prSet presAssocID="{FF9B39E7-F148-497F-8E27-B07B0EA561CD}" presName="compNode" presStyleCnt="0"/>
      <dgm:spPr/>
    </dgm:pt>
    <dgm:pt modelId="{B2B10F68-512F-4683-BEE4-9F8C729BF5C7}" type="pres">
      <dgm:prSet presAssocID="{FF9B39E7-F148-497F-8E27-B07B0EA561CD}" presName="bkgdShape" presStyleLbl="node1" presStyleIdx="2" presStyleCnt="3"/>
      <dgm:spPr/>
    </dgm:pt>
    <dgm:pt modelId="{70C2D766-8FE4-4831-8DBD-FA88F235FC1A}" type="pres">
      <dgm:prSet presAssocID="{FF9B39E7-F148-497F-8E27-B07B0EA561CD}" presName="nodeTx" presStyleLbl="node1" presStyleIdx="2" presStyleCnt="3">
        <dgm:presLayoutVars>
          <dgm:bulletEnabled val="1"/>
        </dgm:presLayoutVars>
      </dgm:prSet>
      <dgm:spPr/>
    </dgm:pt>
    <dgm:pt modelId="{F1727CDB-073A-47B7-B6A4-49E5643CBEF8}" type="pres">
      <dgm:prSet presAssocID="{FF9B39E7-F148-497F-8E27-B07B0EA561CD}" presName="invisiNode" presStyleLbl="node1" presStyleIdx="2" presStyleCnt="3"/>
      <dgm:spPr/>
    </dgm:pt>
    <dgm:pt modelId="{248B46C9-1690-4475-9D9E-0B3167A7796B}" type="pres">
      <dgm:prSet presAssocID="{FF9B39E7-F148-497F-8E27-B07B0EA561CD}" presName="imagNode"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dgm:spPr>
    </dgm:pt>
  </dgm:ptLst>
  <dgm:cxnLst>
    <dgm:cxn modelId="{DE73E20C-5717-44E6-992D-C0510FCBD0E6}" type="presOf" srcId="{FF9B39E7-F148-497F-8E27-B07B0EA561CD}" destId="{B2B10F68-512F-4683-BEE4-9F8C729BF5C7}" srcOrd="0" destOrd="0" presId="urn:microsoft.com/office/officeart/2005/8/layout/hList7"/>
    <dgm:cxn modelId="{783D770D-A246-4A80-B5AA-3B108B54D3CD}" srcId="{39654A98-D1FE-4D52-AC40-FC2940D83D90}" destId="{FF9B39E7-F148-497F-8E27-B07B0EA561CD}" srcOrd="2" destOrd="0" parTransId="{F606E620-6C7D-4583-BC51-2DA4AAB6BBC6}" sibTransId="{93D5ABFB-C6E8-4E92-BE50-246FE07E8EE5}"/>
    <dgm:cxn modelId="{E48C9D19-B22D-493F-BFF0-F531F73A9C79}" type="presOf" srcId="{E615A6AB-D553-414A-AF92-F290BC3F199A}" destId="{AB002910-53CC-4237-BE47-F9C520C00106}" srcOrd="0" destOrd="0" presId="urn:microsoft.com/office/officeart/2005/8/layout/hList7"/>
    <dgm:cxn modelId="{9F5C091B-72EC-40AD-8C58-AB1B32E39C39}" srcId="{39654A98-D1FE-4D52-AC40-FC2940D83D90}" destId="{6D978731-264F-4D48-A49B-A558474EE7D8}" srcOrd="1" destOrd="0" parTransId="{1303F81F-D0B2-40BD-8EE0-E03135E9309A}" sibTransId="{E615A6AB-D553-414A-AF92-F290BC3F199A}"/>
    <dgm:cxn modelId="{2BC2482C-E41C-48D8-8EE1-65F2B17BC8D2}" type="presOf" srcId="{EB8A354C-F3C7-454B-83E5-47C0AFE4BA9B}" destId="{B0625DDC-302A-456C-8B12-57155170D50A}" srcOrd="0" destOrd="0" presId="urn:microsoft.com/office/officeart/2005/8/layout/hList7"/>
    <dgm:cxn modelId="{1F8DC843-A980-4671-A488-C56D7E2A0332}" srcId="{39654A98-D1FE-4D52-AC40-FC2940D83D90}" destId="{EB8A354C-F3C7-454B-83E5-47C0AFE4BA9B}" srcOrd="0" destOrd="0" parTransId="{855DF5E0-6DD9-47D1-85C1-71E7C93C7938}" sibTransId="{50DA53F4-7CD0-42FA-8C47-6937EC0C788A}"/>
    <dgm:cxn modelId="{0F815C45-79BD-4C33-A044-990A498C8101}" type="presOf" srcId="{39654A98-D1FE-4D52-AC40-FC2940D83D90}" destId="{E28E89FF-891B-4BC0-AF5B-351B44FE9A5A}" srcOrd="0" destOrd="0" presId="urn:microsoft.com/office/officeart/2005/8/layout/hList7"/>
    <dgm:cxn modelId="{BB57B1A6-C7BF-4B73-9E9A-07A9A7CAD7C7}" type="presOf" srcId="{50DA53F4-7CD0-42FA-8C47-6937EC0C788A}" destId="{485E51A4-F0D1-4786-A30C-7A22C6116916}" srcOrd="0" destOrd="0" presId="urn:microsoft.com/office/officeart/2005/8/layout/hList7"/>
    <dgm:cxn modelId="{E2E5A6A8-7193-4731-AD9C-755A0977BB7C}" type="presOf" srcId="{EB8A354C-F3C7-454B-83E5-47C0AFE4BA9B}" destId="{AE6D4CE1-C252-41FF-A301-5445162591BD}" srcOrd="1" destOrd="0" presId="urn:microsoft.com/office/officeart/2005/8/layout/hList7"/>
    <dgm:cxn modelId="{3BCF00C3-8E60-4591-A85E-900640FA81D7}" type="presOf" srcId="{6D978731-264F-4D48-A49B-A558474EE7D8}" destId="{59466344-34F2-47FE-BE5B-DE4D2D0D235D}" srcOrd="0" destOrd="0" presId="urn:microsoft.com/office/officeart/2005/8/layout/hList7"/>
    <dgm:cxn modelId="{4A4CC3DF-3995-40FC-9BE0-AAE36A37095C}" type="presOf" srcId="{6D978731-264F-4D48-A49B-A558474EE7D8}" destId="{266A0E14-40CF-4920-A67F-1CCB058A7470}" srcOrd="1" destOrd="0" presId="urn:microsoft.com/office/officeart/2005/8/layout/hList7"/>
    <dgm:cxn modelId="{165587EA-BDB9-41E9-BC3E-F451BF8B049C}" type="presOf" srcId="{FF9B39E7-F148-497F-8E27-B07B0EA561CD}" destId="{70C2D766-8FE4-4831-8DBD-FA88F235FC1A}" srcOrd="1" destOrd="0" presId="urn:microsoft.com/office/officeart/2005/8/layout/hList7"/>
    <dgm:cxn modelId="{67477FD3-D294-4FB0-897E-212966FE5875}" type="presParOf" srcId="{E28E89FF-891B-4BC0-AF5B-351B44FE9A5A}" destId="{323C8708-EBC8-4346-B9D7-F4F4FED58C31}" srcOrd="0" destOrd="0" presId="urn:microsoft.com/office/officeart/2005/8/layout/hList7"/>
    <dgm:cxn modelId="{2717FB1C-E02D-4A02-BADB-7257E06315DA}" type="presParOf" srcId="{E28E89FF-891B-4BC0-AF5B-351B44FE9A5A}" destId="{068BF970-D871-4BF1-97F3-0BE30617AC82}" srcOrd="1" destOrd="0" presId="urn:microsoft.com/office/officeart/2005/8/layout/hList7"/>
    <dgm:cxn modelId="{D9D5E752-39CE-406D-969E-4EBFCD065CC4}" type="presParOf" srcId="{068BF970-D871-4BF1-97F3-0BE30617AC82}" destId="{E30EBF77-120B-4CD3-A033-94649BE40A66}" srcOrd="0" destOrd="0" presId="urn:microsoft.com/office/officeart/2005/8/layout/hList7"/>
    <dgm:cxn modelId="{BFD9AA05-3D8B-4B9B-B4C8-4A90041B7CB2}" type="presParOf" srcId="{E30EBF77-120B-4CD3-A033-94649BE40A66}" destId="{B0625DDC-302A-456C-8B12-57155170D50A}" srcOrd="0" destOrd="0" presId="urn:microsoft.com/office/officeart/2005/8/layout/hList7"/>
    <dgm:cxn modelId="{D45F93B7-0BEB-4D39-8248-3E22A17C536C}" type="presParOf" srcId="{E30EBF77-120B-4CD3-A033-94649BE40A66}" destId="{AE6D4CE1-C252-41FF-A301-5445162591BD}" srcOrd="1" destOrd="0" presId="urn:microsoft.com/office/officeart/2005/8/layout/hList7"/>
    <dgm:cxn modelId="{09686947-27E9-467B-8777-D428A6390A48}" type="presParOf" srcId="{E30EBF77-120B-4CD3-A033-94649BE40A66}" destId="{BE5B8B0C-3C04-4580-B087-168909CA886E}" srcOrd="2" destOrd="0" presId="urn:microsoft.com/office/officeart/2005/8/layout/hList7"/>
    <dgm:cxn modelId="{9B3970F4-676F-4283-B9CD-424E6253C12B}" type="presParOf" srcId="{E30EBF77-120B-4CD3-A033-94649BE40A66}" destId="{B103F8D8-76B4-4272-BA94-128B4C2C71A0}" srcOrd="3" destOrd="0" presId="urn:microsoft.com/office/officeart/2005/8/layout/hList7"/>
    <dgm:cxn modelId="{B637A60B-A4A1-40E8-B7D3-FEB757DB510B}" type="presParOf" srcId="{068BF970-D871-4BF1-97F3-0BE30617AC82}" destId="{485E51A4-F0D1-4786-A30C-7A22C6116916}" srcOrd="1" destOrd="0" presId="urn:microsoft.com/office/officeart/2005/8/layout/hList7"/>
    <dgm:cxn modelId="{18AC45AB-E494-42A0-9E99-559E885FFB72}" type="presParOf" srcId="{068BF970-D871-4BF1-97F3-0BE30617AC82}" destId="{365E3586-FE2C-46EC-A4DB-F75C9DC9BE12}" srcOrd="2" destOrd="0" presId="urn:microsoft.com/office/officeart/2005/8/layout/hList7"/>
    <dgm:cxn modelId="{4904A346-4C63-4389-B751-A13629DDAD04}" type="presParOf" srcId="{365E3586-FE2C-46EC-A4DB-F75C9DC9BE12}" destId="{59466344-34F2-47FE-BE5B-DE4D2D0D235D}" srcOrd="0" destOrd="0" presId="urn:microsoft.com/office/officeart/2005/8/layout/hList7"/>
    <dgm:cxn modelId="{9FFE1498-93E0-4D1A-8C89-04DB22675A8A}" type="presParOf" srcId="{365E3586-FE2C-46EC-A4DB-F75C9DC9BE12}" destId="{266A0E14-40CF-4920-A67F-1CCB058A7470}" srcOrd="1" destOrd="0" presId="urn:microsoft.com/office/officeart/2005/8/layout/hList7"/>
    <dgm:cxn modelId="{6C73281C-CAEB-41E8-8E57-15330238A5B2}" type="presParOf" srcId="{365E3586-FE2C-46EC-A4DB-F75C9DC9BE12}" destId="{97682022-119D-48E1-AF8F-5229A0350892}" srcOrd="2" destOrd="0" presId="urn:microsoft.com/office/officeart/2005/8/layout/hList7"/>
    <dgm:cxn modelId="{6AD04249-2B27-4AE2-8D83-4F66EBB2D964}" type="presParOf" srcId="{365E3586-FE2C-46EC-A4DB-F75C9DC9BE12}" destId="{50C2274F-4F2F-4CCF-A2D0-F4FCD0746BCB}" srcOrd="3" destOrd="0" presId="urn:microsoft.com/office/officeart/2005/8/layout/hList7"/>
    <dgm:cxn modelId="{B8A656EE-474D-4474-9DEC-3D6887BACF2F}" type="presParOf" srcId="{068BF970-D871-4BF1-97F3-0BE30617AC82}" destId="{AB002910-53CC-4237-BE47-F9C520C00106}" srcOrd="3" destOrd="0" presId="urn:microsoft.com/office/officeart/2005/8/layout/hList7"/>
    <dgm:cxn modelId="{8FF8CB7C-BF18-4390-9287-78081FB0981C}" type="presParOf" srcId="{068BF970-D871-4BF1-97F3-0BE30617AC82}" destId="{BACE84A8-E6D3-41DC-8EAF-DEDCC00F43B5}" srcOrd="4" destOrd="0" presId="urn:microsoft.com/office/officeart/2005/8/layout/hList7"/>
    <dgm:cxn modelId="{6F05BC51-1074-47C0-ACAF-75C98FCCB673}" type="presParOf" srcId="{BACE84A8-E6D3-41DC-8EAF-DEDCC00F43B5}" destId="{B2B10F68-512F-4683-BEE4-9F8C729BF5C7}" srcOrd="0" destOrd="0" presId="urn:microsoft.com/office/officeart/2005/8/layout/hList7"/>
    <dgm:cxn modelId="{5A61C906-A570-498D-A74D-045EC46A4A64}" type="presParOf" srcId="{BACE84A8-E6D3-41DC-8EAF-DEDCC00F43B5}" destId="{70C2D766-8FE4-4831-8DBD-FA88F235FC1A}" srcOrd="1" destOrd="0" presId="urn:microsoft.com/office/officeart/2005/8/layout/hList7"/>
    <dgm:cxn modelId="{6FCB74B2-4A64-4494-8D1B-F9CACF3143A4}" type="presParOf" srcId="{BACE84A8-E6D3-41DC-8EAF-DEDCC00F43B5}" destId="{F1727CDB-073A-47B7-B6A4-49E5643CBEF8}" srcOrd="2" destOrd="0" presId="urn:microsoft.com/office/officeart/2005/8/layout/hList7"/>
    <dgm:cxn modelId="{F246C2F4-10E7-4635-AFD6-0947843F9FEB}" type="presParOf" srcId="{BACE84A8-E6D3-41DC-8EAF-DEDCC00F43B5}" destId="{248B46C9-1690-4475-9D9E-0B3167A7796B}"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523E3B-C76F-4F8D-B52F-BBC5B836BFAF}"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IN"/>
        </a:p>
      </dgm:t>
    </dgm:pt>
    <dgm:pt modelId="{78D14001-5744-4EC8-A393-378B28B37036}">
      <dgm:prSet custT="1"/>
      <dgm:spPr/>
      <dgm:t>
        <a:bodyPr/>
        <a:lstStyle/>
        <a:p>
          <a:r>
            <a:rPr lang="en-IN" sz="2400" dirty="0">
              <a:latin typeface="Casper" panose="02000506000000020004"/>
            </a:rPr>
            <a:t>Quantum well</a:t>
          </a:r>
        </a:p>
      </dgm:t>
    </dgm:pt>
    <dgm:pt modelId="{105B0D0A-73EB-45C7-99B2-204266FC4642}" type="parTrans" cxnId="{3648345A-9116-4801-9089-39450D64C445}">
      <dgm:prSet/>
      <dgm:spPr/>
      <dgm:t>
        <a:bodyPr/>
        <a:lstStyle/>
        <a:p>
          <a:endParaRPr lang="en-IN"/>
        </a:p>
      </dgm:t>
    </dgm:pt>
    <dgm:pt modelId="{1EB0044F-DE4D-4774-A6D0-60F71B579159}" type="sibTrans" cxnId="{3648345A-9116-4801-9089-39450D64C445}">
      <dgm:prSet/>
      <dgm:spPr/>
      <dgm:t>
        <a:bodyPr/>
        <a:lstStyle/>
        <a:p>
          <a:endParaRPr lang="en-IN"/>
        </a:p>
      </dgm:t>
    </dgm:pt>
    <dgm:pt modelId="{745BC624-059B-4C44-AA6D-F6F0D5065536}">
      <dgm:prSet custT="1"/>
      <dgm:spPr/>
      <dgm:t>
        <a:bodyPr/>
        <a:lstStyle/>
        <a:p>
          <a:r>
            <a:rPr lang="en-IN" sz="2400" dirty="0">
              <a:latin typeface="Casper" panose="02000506000000020004"/>
            </a:rPr>
            <a:t>Quantum wire </a:t>
          </a:r>
        </a:p>
      </dgm:t>
    </dgm:pt>
    <dgm:pt modelId="{1ED31DAA-EF15-4C9D-AB2A-EB681D79F394}" type="parTrans" cxnId="{3B11A6B1-5A4C-4196-8242-0F3E2E466251}">
      <dgm:prSet/>
      <dgm:spPr/>
      <dgm:t>
        <a:bodyPr/>
        <a:lstStyle/>
        <a:p>
          <a:endParaRPr lang="en-IN"/>
        </a:p>
      </dgm:t>
    </dgm:pt>
    <dgm:pt modelId="{C677F278-E4AB-400B-863E-28C4C280B9A1}" type="sibTrans" cxnId="{3B11A6B1-5A4C-4196-8242-0F3E2E466251}">
      <dgm:prSet/>
      <dgm:spPr/>
      <dgm:t>
        <a:bodyPr/>
        <a:lstStyle/>
        <a:p>
          <a:endParaRPr lang="en-IN"/>
        </a:p>
      </dgm:t>
    </dgm:pt>
    <dgm:pt modelId="{1EDAEDEB-1D2D-4B8A-90D7-51558DF525BF}">
      <dgm:prSet custT="1"/>
      <dgm:spPr/>
      <dgm:t>
        <a:bodyPr/>
        <a:lstStyle/>
        <a:p>
          <a:r>
            <a:rPr lang="en-IN" sz="2400" dirty="0">
              <a:latin typeface="Casper" panose="02000506000000020004"/>
            </a:rPr>
            <a:t>Quantum dot</a:t>
          </a:r>
        </a:p>
      </dgm:t>
    </dgm:pt>
    <dgm:pt modelId="{AED42301-8964-423D-931D-5F42EA5CD2EC}" type="parTrans" cxnId="{16B3AB56-7B7E-4853-9881-422108F5BC43}">
      <dgm:prSet/>
      <dgm:spPr/>
      <dgm:t>
        <a:bodyPr/>
        <a:lstStyle/>
        <a:p>
          <a:endParaRPr lang="en-IN"/>
        </a:p>
      </dgm:t>
    </dgm:pt>
    <dgm:pt modelId="{72BDC426-0AAB-415C-94E9-E9760416D2A0}" type="sibTrans" cxnId="{16B3AB56-7B7E-4853-9881-422108F5BC43}">
      <dgm:prSet/>
      <dgm:spPr/>
      <dgm:t>
        <a:bodyPr/>
        <a:lstStyle/>
        <a:p>
          <a:endParaRPr lang="en-IN"/>
        </a:p>
      </dgm:t>
    </dgm:pt>
    <dgm:pt modelId="{3C782592-85CB-496E-A9DA-1AF7D09CC7FB}">
      <dgm:prSet custT="1"/>
      <dgm:spPr/>
      <dgm:t>
        <a:bodyPr/>
        <a:lstStyle/>
        <a:p>
          <a:r>
            <a:rPr lang="en-IN" sz="2400" dirty="0">
              <a:latin typeface="Casper" panose="02000506000000020004"/>
            </a:rPr>
            <a:t>Properties </a:t>
          </a:r>
        </a:p>
      </dgm:t>
    </dgm:pt>
    <dgm:pt modelId="{02D530A5-0038-499C-9825-CF48900AF0A6}" type="parTrans" cxnId="{A7CF871D-581B-45A1-B453-23D49CA45D65}">
      <dgm:prSet/>
      <dgm:spPr/>
      <dgm:t>
        <a:bodyPr/>
        <a:lstStyle/>
        <a:p>
          <a:endParaRPr lang="en-IN"/>
        </a:p>
      </dgm:t>
    </dgm:pt>
    <dgm:pt modelId="{6F69C5C4-526C-40A7-A864-C2D46AFF8A67}" type="sibTrans" cxnId="{A7CF871D-581B-45A1-B453-23D49CA45D65}">
      <dgm:prSet/>
      <dgm:spPr/>
      <dgm:t>
        <a:bodyPr/>
        <a:lstStyle/>
        <a:p>
          <a:endParaRPr lang="en-IN"/>
        </a:p>
      </dgm:t>
    </dgm:pt>
    <dgm:pt modelId="{324C798D-96EE-4D26-8765-0CBF3AC944CE}">
      <dgm:prSet custT="1"/>
      <dgm:spPr/>
      <dgm:t>
        <a:bodyPr/>
        <a:lstStyle/>
        <a:p>
          <a:r>
            <a:rPr lang="en-IN" sz="2400" dirty="0">
              <a:latin typeface="Casper" panose="02000506000000020004"/>
            </a:rPr>
            <a:t>Surface to volume ratio</a:t>
          </a:r>
        </a:p>
      </dgm:t>
    </dgm:pt>
    <dgm:pt modelId="{AE297FA4-647B-4B92-9C49-D28945A75B32}" type="parTrans" cxnId="{22D62D2A-21DC-432D-A395-EC91E323490E}">
      <dgm:prSet/>
      <dgm:spPr/>
      <dgm:t>
        <a:bodyPr/>
        <a:lstStyle/>
        <a:p>
          <a:endParaRPr lang="en-IN"/>
        </a:p>
      </dgm:t>
    </dgm:pt>
    <dgm:pt modelId="{BE54E909-5F84-428D-8F4B-3BA66D37379A}" type="sibTrans" cxnId="{22D62D2A-21DC-432D-A395-EC91E323490E}">
      <dgm:prSet/>
      <dgm:spPr/>
      <dgm:t>
        <a:bodyPr/>
        <a:lstStyle/>
        <a:p>
          <a:endParaRPr lang="en-IN"/>
        </a:p>
      </dgm:t>
    </dgm:pt>
    <dgm:pt modelId="{5F4FBD7D-4CA3-4E3D-887A-1F18B9F59AA5}">
      <dgm:prSet custT="1"/>
      <dgm:spPr/>
      <dgm:t>
        <a:bodyPr/>
        <a:lstStyle/>
        <a:p>
          <a:r>
            <a:rPr lang="en-IN" sz="2400" dirty="0">
              <a:latin typeface="Casper" panose="02000506000000020004"/>
            </a:rPr>
            <a:t>Quantum confinement</a:t>
          </a:r>
        </a:p>
      </dgm:t>
    </dgm:pt>
    <dgm:pt modelId="{0A8DDA47-D7D9-481F-A777-0E7DB54CA210}" type="parTrans" cxnId="{834904C8-A310-4EF9-B841-1EF1F8788CE6}">
      <dgm:prSet/>
      <dgm:spPr/>
      <dgm:t>
        <a:bodyPr/>
        <a:lstStyle/>
        <a:p>
          <a:endParaRPr lang="en-IN"/>
        </a:p>
      </dgm:t>
    </dgm:pt>
    <dgm:pt modelId="{471B26FD-1C14-4AE3-B6A6-34F28D94536E}" type="sibTrans" cxnId="{834904C8-A310-4EF9-B841-1EF1F8788CE6}">
      <dgm:prSet/>
      <dgm:spPr/>
      <dgm:t>
        <a:bodyPr/>
        <a:lstStyle/>
        <a:p>
          <a:endParaRPr lang="en-IN"/>
        </a:p>
      </dgm:t>
    </dgm:pt>
    <dgm:pt modelId="{A250A301-2937-4A94-B803-0C0BFD6B1086}" type="pres">
      <dgm:prSet presAssocID="{16523E3B-C76F-4F8D-B52F-BBC5B836BFAF}" presName="linear" presStyleCnt="0">
        <dgm:presLayoutVars>
          <dgm:animLvl val="lvl"/>
          <dgm:resizeHandles val="exact"/>
        </dgm:presLayoutVars>
      </dgm:prSet>
      <dgm:spPr/>
    </dgm:pt>
    <dgm:pt modelId="{01B8F904-0152-478E-A8B8-E3922FA6D91B}" type="pres">
      <dgm:prSet presAssocID="{78D14001-5744-4EC8-A393-378B28B37036}" presName="parentText" presStyleLbl="node1" presStyleIdx="0" presStyleCnt="6">
        <dgm:presLayoutVars>
          <dgm:chMax val="0"/>
          <dgm:bulletEnabled val="1"/>
        </dgm:presLayoutVars>
      </dgm:prSet>
      <dgm:spPr/>
    </dgm:pt>
    <dgm:pt modelId="{D82910CD-DEC8-4AB3-8F16-06333CFB3EB1}" type="pres">
      <dgm:prSet presAssocID="{1EB0044F-DE4D-4774-A6D0-60F71B579159}" presName="spacer" presStyleCnt="0"/>
      <dgm:spPr/>
    </dgm:pt>
    <dgm:pt modelId="{B85D33AD-7811-4BF1-B203-816B26E2ACFE}" type="pres">
      <dgm:prSet presAssocID="{745BC624-059B-4C44-AA6D-F6F0D5065536}" presName="parentText" presStyleLbl="node1" presStyleIdx="1" presStyleCnt="6">
        <dgm:presLayoutVars>
          <dgm:chMax val="0"/>
          <dgm:bulletEnabled val="1"/>
        </dgm:presLayoutVars>
      </dgm:prSet>
      <dgm:spPr/>
    </dgm:pt>
    <dgm:pt modelId="{398F304E-8EAE-46A2-94A0-B83A337B9374}" type="pres">
      <dgm:prSet presAssocID="{C677F278-E4AB-400B-863E-28C4C280B9A1}" presName="spacer" presStyleCnt="0"/>
      <dgm:spPr/>
    </dgm:pt>
    <dgm:pt modelId="{F265AD39-343B-423E-9527-B028F1A9999F}" type="pres">
      <dgm:prSet presAssocID="{1EDAEDEB-1D2D-4B8A-90D7-51558DF525BF}" presName="parentText" presStyleLbl="node1" presStyleIdx="2" presStyleCnt="6">
        <dgm:presLayoutVars>
          <dgm:chMax val="0"/>
          <dgm:bulletEnabled val="1"/>
        </dgm:presLayoutVars>
      </dgm:prSet>
      <dgm:spPr/>
    </dgm:pt>
    <dgm:pt modelId="{19A15808-F3DE-4AB5-925A-8100F09467F1}" type="pres">
      <dgm:prSet presAssocID="{72BDC426-0AAB-415C-94E9-E9760416D2A0}" presName="spacer" presStyleCnt="0"/>
      <dgm:spPr/>
    </dgm:pt>
    <dgm:pt modelId="{4CFF3F64-C37A-4B55-AE48-BE56E795994F}" type="pres">
      <dgm:prSet presAssocID="{3C782592-85CB-496E-A9DA-1AF7D09CC7FB}" presName="parentText" presStyleLbl="node1" presStyleIdx="3" presStyleCnt="6">
        <dgm:presLayoutVars>
          <dgm:chMax val="0"/>
          <dgm:bulletEnabled val="1"/>
        </dgm:presLayoutVars>
      </dgm:prSet>
      <dgm:spPr/>
    </dgm:pt>
    <dgm:pt modelId="{9F08304F-39C8-43AC-8B03-94A8E52929BB}" type="pres">
      <dgm:prSet presAssocID="{6F69C5C4-526C-40A7-A864-C2D46AFF8A67}" presName="spacer" presStyleCnt="0"/>
      <dgm:spPr/>
    </dgm:pt>
    <dgm:pt modelId="{C8B90C75-3960-4EDE-AA5C-24CBAE630FA4}" type="pres">
      <dgm:prSet presAssocID="{324C798D-96EE-4D26-8765-0CBF3AC944CE}" presName="parentText" presStyleLbl="node1" presStyleIdx="4" presStyleCnt="6">
        <dgm:presLayoutVars>
          <dgm:chMax val="0"/>
          <dgm:bulletEnabled val="1"/>
        </dgm:presLayoutVars>
      </dgm:prSet>
      <dgm:spPr/>
    </dgm:pt>
    <dgm:pt modelId="{35AF87E4-D5FB-4053-9E74-64B00A77EC8C}" type="pres">
      <dgm:prSet presAssocID="{BE54E909-5F84-428D-8F4B-3BA66D37379A}" presName="spacer" presStyleCnt="0"/>
      <dgm:spPr/>
    </dgm:pt>
    <dgm:pt modelId="{AC3B2997-E45C-4752-B374-925A783AE0D9}" type="pres">
      <dgm:prSet presAssocID="{5F4FBD7D-4CA3-4E3D-887A-1F18B9F59AA5}" presName="parentText" presStyleLbl="node1" presStyleIdx="5" presStyleCnt="6">
        <dgm:presLayoutVars>
          <dgm:chMax val="0"/>
          <dgm:bulletEnabled val="1"/>
        </dgm:presLayoutVars>
      </dgm:prSet>
      <dgm:spPr/>
    </dgm:pt>
  </dgm:ptLst>
  <dgm:cxnLst>
    <dgm:cxn modelId="{F103B807-6B1D-4E81-826C-62BC708C09E1}" type="presOf" srcId="{5F4FBD7D-4CA3-4E3D-887A-1F18B9F59AA5}" destId="{AC3B2997-E45C-4752-B374-925A783AE0D9}" srcOrd="0" destOrd="0" presId="urn:microsoft.com/office/officeart/2005/8/layout/vList2"/>
    <dgm:cxn modelId="{A7CF871D-581B-45A1-B453-23D49CA45D65}" srcId="{16523E3B-C76F-4F8D-B52F-BBC5B836BFAF}" destId="{3C782592-85CB-496E-A9DA-1AF7D09CC7FB}" srcOrd="3" destOrd="0" parTransId="{02D530A5-0038-499C-9825-CF48900AF0A6}" sibTransId="{6F69C5C4-526C-40A7-A864-C2D46AFF8A67}"/>
    <dgm:cxn modelId="{70C57D28-E996-49B9-8985-ACA4F1D68501}" type="presOf" srcId="{3C782592-85CB-496E-A9DA-1AF7D09CC7FB}" destId="{4CFF3F64-C37A-4B55-AE48-BE56E795994F}" srcOrd="0" destOrd="0" presId="urn:microsoft.com/office/officeart/2005/8/layout/vList2"/>
    <dgm:cxn modelId="{22D62D2A-21DC-432D-A395-EC91E323490E}" srcId="{16523E3B-C76F-4F8D-B52F-BBC5B836BFAF}" destId="{324C798D-96EE-4D26-8765-0CBF3AC944CE}" srcOrd="4" destOrd="0" parTransId="{AE297FA4-647B-4B92-9C49-D28945A75B32}" sibTransId="{BE54E909-5F84-428D-8F4B-3BA66D37379A}"/>
    <dgm:cxn modelId="{4EA10F2B-1BF3-4A48-8432-EA17E0354F38}" type="presOf" srcId="{324C798D-96EE-4D26-8765-0CBF3AC944CE}" destId="{C8B90C75-3960-4EDE-AA5C-24CBAE630FA4}" srcOrd="0" destOrd="0" presId="urn:microsoft.com/office/officeart/2005/8/layout/vList2"/>
    <dgm:cxn modelId="{41F51168-EDC4-464D-A4A1-B3A59FDD612E}" type="presOf" srcId="{16523E3B-C76F-4F8D-B52F-BBC5B836BFAF}" destId="{A250A301-2937-4A94-B803-0C0BFD6B1086}" srcOrd="0" destOrd="0" presId="urn:microsoft.com/office/officeart/2005/8/layout/vList2"/>
    <dgm:cxn modelId="{7AF14E52-1362-4552-83C7-0AAF9B982F5F}" type="presOf" srcId="{745BC624-059B-4C44-AA6D-F6F0D5065536}" destId="{B85D33AD-7811-4BF1-B203-816B26E2ACFE}" srcOrd="0" destOrd="0" presId="urn:microsoft.com/office/officeart/2005/8/layout/vList2"/>
    <dgm:cxn modelId="{16B3AB56-7B7E-4853-9881-422108F5BC43}" srcId="{16523E3B-C76F-4F8D-B52F-BBC5B836BFAF}" destId="{1EDAEDEB-1D2D-4B8A-90D7-51558DF525BF}" srcOrd="2" destOrd="0" parTransId="{AED42301-8964-423D-931D-5F42EA5CD2EC}" sibTransId="{72BDC426-0AAB-415C-94E9-E9760416D2A0}"/>
    <dgm:cxn modelId="{3648345A-9116-4801-9089-39450D64C445}" srcId="{16523E3B-C76F-4F8D-B52F-BBC5B836BFAF}" destId="{78D14001-5744-4EC8-A393-378B28B37036}" srcOrd="0" destOrd="0" parTransId="{105B0D0A-73EB-45C7-99B2-204266FC4642}" sibTransId="{1EB0044F-DE4D-4774-A6D0-60F71B579159}"/>
    <dgm:cxn modelId="{697C9383-6479-4923-963D-32F05E87B355}" type="presOf" srcId="{1EDAEDEB-1D2D-4B8A-90D7-51558DF525BF}" destId="{F265AD39-343B-423E-9527-B028F1A9999F}" srcOrd="0" destOrd="0" presId="urn:microsoft.com/office/officeart/2005/8/layout/vList2"/>
    <dgm:cxn modelId="{3B11A6B1-5A4C-4196-8242-0F3E2E466251}" srcId="{16523E3B-C76F-4F8D-B52F-BBC5B836BFAF}" destId="{745BC624-059B-4C44-AA6D-F6F0D5065536}" srcOrd="1" destOrd="0" parTransId="{1ED31DAA-EF15-4C9D-AB2A-EB681D79F394}" sibTransId="{C677F278-E4AB-400B-863E-28C4C280B9A1}"/>
    <dgm:cxn modelId="{834904C8-A310-4EF9-B841-1EF1F8788CE6}" srcId="{16523E3B-C76F-4F8D-B52F-BBC5B836BFAF}" destId="{5F4FBD7D-4CA3-4E3D-887A-1F18B9F59AA5}" srcOrd="5" destOrd="0" parTransId="{0A8DDA47-D7D9-481F-A777-0E7DB54CA210}" sibTransId="{471B26FD-1C14-4AE3-B6A6-34F28D94536E}"/>
    <dgm:cxn modelId="{37C49CF1-BDC4-4F29-86CC-722AB3CEC9B6}" type="presOf" srcId="{78D14001-5744-4EC8-A393-378B28B37036}" destId="{01B8F904-0152-478E-A8B8-E3922FA6D91B}" srcOrd="0" destOrd="0" presId="urn:microsoft.com/office/officeart/2005/8/layout/vList2"/>
    <dgm:cxn modelId="{195FFBE8-E1E2-452B-81D8-D6EBE8C89661}" type="presParOf" srcId="{A250A301-2937-4A94-B803-0C0BFD6B1086}" destId="{01B8F904-0152-478E-A8B8-E3922FA6D91B}" srcOrd="0" destOrd="0" presId="urn:microsoft.com/office/officeart/2005/8/layout/vList2"/>
    <dgm:cxn modelId="{9F4AE2DF-12F9-43B3-879D-6580D6B66B76}" type="presParOf" srcId="{A250A301-2937-4A94-B803-0C0BFD6B1086}" destId="{D82910CD-DEC8-4AB3-8F16-06333CFB3EB1}" srcOrd="1" destOrd="0" presId="urn:microsoft.com/office/officeart/2005/8/layout/vList2"/>
    <dgm:cxn modelId="{A4876FB0-EAA8-43BF-95CD-9D052DADD95E}" type="presParOf" srcId="{A250A301-2937-4A94-B803-0C0BFD6B1086}" destId="{B85D33AD-7811-4BF1-B203-816B26E2ACFE}" srcOrd="2" destOrd="0" presId="urn:microsoft.com/office/officeart/2005/8/layout/vList2"/>
    <dgm:cxn modelId="{F01CC28F-7295-4CC9-ABDE-9EB6DC79873D}" type="presParOf" srcId="{A250A301-2937-4A94-B803-0C0BFD6B1086}" destId="{398F304E-8EAE-46A2-94A0-B83A337B9374}" srcOrd="3" destOrd="0" presId="urn:microsoft.com/office/officeart/2005/8/layout/vList2"/>
    <dgm:cxn modelId="{4CACB1BD-9CF2-40EE-B431-AE4EE05C0EB4}" type="presParOf" srcId="{A250A301-2937-4A94-B803-0C0BFD6B1086}" destId="{F265AD39-343B-423E-9527-B028F1A9999F}" srcOrd="4" destOrd="0" presId="urn:microsoft.com/office/officeart/2005/8/layout/vList2"/>
    <dgm:cxn modelId="{74CB858D-71E3-47BA-B8F2-EED351C1C5F6}" type="presParOf" srcId="{A250A301-2937-4A94-B803-0C0BFD6B1086}" destId="{19A15808-F3DE-4AB5-925A-8100F09467F1}" srcOrd="5" destOrd="0" presId="urn:microsoft.com/office/officeart/2005/8/layout/vList2"/>
    <dgm:cxn modelId="{E5DA430B-2DB0-452F-8BA9-5D83FFF50A3F}" type="presParOf" srcId="{A250A301-2937-4A94-B803-0C0BFD6B1086}" destId="{4CFF3F64-C37A-4B55-AE48-BE56E795994F}" srcOrd="6" destOrd="0" presId="urn:microsoft.com/office/officeart/2005/8/layout/vList2"/>
    <dgm:cxn modelId="{E482B698-AE99-4077-89BC-FF57B016A6B7}" type="presParOf" srcId="{A250A301-2937-4A94-B803-0C0BFD6B1086}" destId="{9F08304F-39C8-43AC-8B03-94A8E52929BB}" srcOrd="7" destOrd="0" presId="urn:microsoft.com/office/officeart/2005/8/layout/vList2"/>
    <dgm:cxn modelId="{BEDB510B-FD7F-40F8-8B50-6B720990FFA0}" type="presParOf" srcId="{A250A301-2937-4A94-B803-0C0BFD6B1086}" destId="{C8B90C75-3960-4EDE-AA5C-24CBAE630FA4}" srcOrd="8" destOrd="0" presId="urn:microsoft.com/office/officeart/2005/8/layout/vList2"/>
    <dgm:cxn modelId="{AC770A25-A480-43D1-9C6D-C4DC529E5DB3}" type="presParOf" srcId="{A250A301-2937-4A94-B803-0C0BFD6B1086}" destId="{35AF87E4-D5FB-4053-9E74-64B00A77EC8C}" srcOrd="9" destOrd="0" presId="urn:microsoft.com/office/officeart/2005/8/layout/vList2"/>
    <dgm:cxn modelId="{CA6B6A75-D5B7-419C-92AF-64DD358FB512}" type="presParOf" srcId="{A250A301-2937-4A94-B803-0C0BFD6B1086}" destId="{AC3B2997-E45C-4752-B374-925A783AE0D9}"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625DDC-302A-456C-8B12-57155170D50A}">
      <dsp:nvSpPr>
        <dsp:cNvPr id="0" name=""/>
        <dsp:cNvSpPr/>
      </dsp:nvSpPr>
      <dsp:spPr>
        <a:xfrm>
          <a:off x="1911" y="0"/>
          <a:ext cx="2973993" cy="4192698"/>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asper" panose="02000506000000020004"/>
              <a:cs typeface="Times New Roman" panose="02020603050405020304" pitchFamily="18" charset="0"/>
            </a:rPr>
            <a:t>Students will learn about properties of nanomaterials</a:t>
          </a:r>
        </a:p>
      </dsp:txBody>
      <dsp:txXfrm>
        <a:off x="1911" y="1677079"/>
        <a:ext cx="2973993" cy="1677079"/>
      </dsp:txXfrm>
    </dsp:sp>
    <dsp:sp modelId="{B103F8D8-76B4-4272-BA94-128B4C2C71A0}">
      <dsp:nvSpPr>
        <dsp:cNvPr id="0" name=""/>
        <dsp:cNvSpPr/>
      </dsp:nvSpPr>
      <dsp:spPr>
        <a:xfrm>
          <a:off x="670362" y="230116"/>
          <a:ext cx="1396168" cy="1396168"/>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59466344-34F2-47FE-BE5B-DE4D2D0D235D}">
      <dsp:nvSpPr>
        <dsp:cNvPr id="0" name=""/>
        <dsp:cNvSpPr/>
      </dsp:nvSpPr>
      <dsp:spPr>
        <a:xfrm>
          <a:off x="3021377" y="0"/>
          <a:ext cx="2973993" cy="4192698"/>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asper" panose="02000506000000020004"/>
              <a:cs typeface="Times New Roman" panose="02020603050405020304" pitchFamily="18" charset="0"/>
            </a:rPr>
            <a:t>Students will understand about types of nanomaterials.</a:t>
          </a:r>
        </a:p>
      </dsp:txBody>
      <dsp:txXfrm>
        <a:off x="3021377" y="1677079"/>
        <a:ext cx="2973993" cy="1677079"/>
      </dsp:txXfrm>
    </dsp:sp>
    <dsp:sp modelId="{50C2274F-4F2F-4CCF-A2D0-F4FCD0746BCB}">
      <dsp:nvSpPr>
        <dsp:cNvPr id="0" name=""/>
        <dsp:cNvSpPr/>
      </dsp:nvSpPr>
      <dsp:spPr>
        <a:xfrm>
          <a:off x="3842714" y="228929"/>
          <a:ext cx="1396168" cy="1396168"/>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3000" r="-33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B2B10F68-512F-4683-BEE4-9F8C729BF5C7}">
      <dsp:nvSpPr>
        <dsp:cNvPr id="0" name=""/>
        <dsp:cNvSpPr/>
      </dsp:nvSpPr>
      <dsp:spPr>
        <a:xfrm>
          <a:off x="6128338" y="0"/>
          <a:ext cx="2973993" cy="4192698"/>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IN" sz="2400" kern="1200" dirty="0">
              <a:latin typeface="Casper" panose="02000506000000020004"/>
              <a:cs typeface="Times New Roman" panose="02020603050405020304" pitchFamily="18" charset="0"/>
            </a:rPr>
            <a:t>Students will learn about example related to previous mentioned topic. </a:t>
          </a:r>
        </a:p>
      </dsp:txBody>
      <dsp:txXfrm>
        <a:off x="6128338" y="1677079"/>
        <a:ext cx="2973993" cy="1677079"/>
      </dsp:txXfrm>
    </dsp:sp>
    <dsp:sp modelId="{248B46C9-1690-4475-9D9E-0B3167A7796B}">
      <dsp:nvSpPr>
        <dsp:cNvPr id="0" name=""/>
        <dsp:cNvSpPr/>
      </dsp:nvSpPr>
      <dsp:spPr>
        <a:xfrm>
          <a:off x="6917250" y="251561"/>
          <a:ext cx="1396168" cy="1396168"/>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323C8708-EBC8-4346-B9D7-F4F4FED58C31}">
      <dsp:nvSpPr>
        <dsp:cNvPr id="0" name=""/>
        <dsp:cNvSpPr/>
      </dsp:nvSpPr>
      <dsp:spPr>
        <a:xfrm>
          <a:off x="364169" y="3354158"/>
          <a:ext cx="8375903" cy="628904"/>
        </a:xfrm>
        <a:prstGeom prst="leftRightArrow">
          <a:avLst/>
        </a:prstGeom>
        <a:gradFill rotWithShape="0">
          <a:gsLst>
            <a:gs pos="0">
              <a:schemeClr val="accent2">
                <a:tint val="40000"/>
                <a:hueOff val="0"/>
                <a:satOff val="0"/>
                <a:lumOff val="0"/>
                <a:alphaOff val="0"/>
                <a:lumMod val="110000"/>
                <a:satMod val="105000"/>
                <a:tint val="67000"/>
              </a:schemeClr>
            </a:gs>
            <a:gs pos="50000">
              <a:schemeClr val="accent2">
                <a:tint val="40000"/>
                <a:hueOff val="0"/>
                <a:satOff val="0"/>
                <a:lumOff val="0"/>
                <a:alphaOff val="0"/>
                <a:lumMod val="105000"/>
                <a:satMod val="103000"/>
                <a:tint val="73000"/>
              </a:schemeClr>
            </a:gs>
            <a:gs pos="100000">
              <a:schemeClr val="accent2">
                <a:tint val="40000"/>
                <a:hueOff val="0"/>
                <a:satOff val="0"/>
                <a:lumOff val="0"/>
                <a:alphaOff val="0"/>
                <a:lumMod val="105000"/>
                <a:satMod val="109000"/>
                <a:tint val="81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B8F904-0152-478E-A8B8-E3922FA6D91B}">
      <dsp:nvSpPr>
        <dsp:cNvPr id="0" name=""/>
        <dsp:cNvSpPr/>
      </dsp:nvSpPr>
      <dsp:spPr>
        <a:xfrm>
          <a:off x="0" y="21429"/>
          <a:ext cx="10515600" cy="6364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panose="02000506000000020004"/>
            </a:rPr>
            <a:t>Quantum well</a:t>
          </a:r>
        </a:p>
      </dsp:txBody>
      <dsp:txXfrm>
        <a:off x="31070" y="52499"/>
        <a:ext cx="10453460" cy="574340"/>
      </dsp:txXfrm>
    </dsp:sp>
    <dsp:sp modelId="{B85D33AD-7811-4BF1-B203-816B26E2ACFE}">
      <dsp:nvSpPr>
        <dsp:cNvPr id="0" name=""/>
        <dsp:cNvSpPr/>
      </dsp:nvSpPr>
      <dsp:spPr>
        <a:xfrm>
          <a:off x="0" y="755828"/>
          <a:ext cx="10515600" cy="6364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panose="02000506000000020004"/>
            </a:rPr>
            <a:t>Quantum wire </a:t>
          </a:r>
        </a:p>
      </dsp:txBody>
      <dsp:txXfrm>
        <a:off x="31070" y="786898"/>
        <a:ext cx="10453460" cy="574340"/>
      </dsp:txXfrm>
    </dsp:sp>
    <dsp:sp modelId="{F265AD39-343B-423E-9527-B028F1A9999F}">
      <dsp:nvSpPr>
        <dsp:cNvPr id="0" name=""/>
        <dsp:cNvSpPr/>
      </dsp:nvSpPr>
      <dsp:spPr>
        <a:xfrm>
          <a:off x="0" y="1490228"/>
          <a:ext cx="10515600" cy="6364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panose="02000506000000020004"/>
            </a:rPr>
            <a:t>Quantum dot</a:t>
          </a:r>
        </a:p>
      </dsp:txBody>
      <dsp:txXfrm>
        <a:off x="31070" y="1521298"/>
        <a:ext cx="10453460" cy="574340"/>
      </dsp:txXfrm>
    </dsp:sp>
    <dsp:sp modelId="{4CFF3F64-C37A-4B55-AE48-BE56E795994F}">
      <dsp:nvSpPr>
        <dsp:cNvPr id="0" name=""/>
        <dsp:cNvSpPr/>
      </dsp:nvSpPr>
      <dsp:spPr>
        <a:xfrm>
          <a:off x="0" y="2224629"/>
          <a:ext cx="10515600" cy="6364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panose="02000506000000020004"/>
            </a:rPr>
            <a:t>Properties </a:t>
          </a:r>
        </a:p>
      </dsp:txBody>
      <dsp:txXfrm>
        <a:off x="31070" y="2255699"/>
        <a:ext cx="10453460" cy="574340"/>
      </dsp:txXfrm>
    </dsp:sp>
    <dsp:sp modelId="{C8B90C75-3960-4EDE-AA5C-24CBAE630FA4}">
      <dsp:nvSpPr>
        <dsp:cNvPr id="0" name=""/>
        <dsp:cNvSpPr/>
      </dsp:nvSpPr>
      <dsp:spPr>
        <a:xfrm>
          <a:off x="0" y="2959028"/>
          <a:ext cx="10515600" cy="6364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panose="02000506000000020004"/>
            </a:rPr>
            <a:t>Surface to volume ratio</a:t>
          </a:r>
        </a:p>
      </dsp:txBody>
      <dsp:txXfrm>
        <a:off x="31070" y="2990098"/>
        <a:ext cx="10453460" cy="574340"/>
      </dsp:txXfrm>
    </dsp:sp>
    <dsp:sp modelId="{AC3B2997-E45C-4752-B374-925A783AE0D9}">
      <dsp:nvSpPr>
        <dsp:cNvPr id="0" name=""/>
        <dsp:cNvSpPr/>
      </dsp:nvSpPr>
      <dsp:spPr>
        <a:xfrm>
          <a:off x="0" y="3693429"/>
          <a:ext cx="10515600" cy="63648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dirty="0">
              <a:latin typeface="Casper" panose="02000506000000020004"/>
            </a:rPr>
            <a:t>Quantum confinement</a:t>
          </a:r>
        </a:p>
      </dsp:txBody>
      <dsp:txXfrm>
        <a:off x="31070" y="3724499"/>
        <a:ext cx="10453460" cy="574340"/>
      </dsp:txXfrm>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link.springer.com/chapter/10.1007/978-3-319-09171-6_8" TargetMode="External"/><Relationship Id="rId2" Type="http://schemas.openxmlformats.org/officeDocument/2006/relationships/hyperlink" Target="https://www.hindawi.com/journals/bmri/2014/498420/" TargetMode="External"/><Relationship Id="rId1" Type="http://schemas.openxmlformats.org/officeDocument/2006/relationships/slideLayout" Target="../slideLayouts/slideLayout2.xml"/><Relationship Id="rId6" Type="http://schemas.openxmlformats.org/officeDocument/2006/relationships/hyperlink" Target="https://www.sciencedirect.com/science/article/pii/S1878535217300990" TargetMode="External"/><Relationship Id="rId5" Type="http://schemas.openxmlformats.org/officeDocument/2006/relationships/hyperlink" Target="https://maken.wikiwijs.nl/bestanden/427519/Lesson_7_APPENDIX-2_Article2.pdf" TargetMode="External"/><Relationship Id="rId4" Type="http://schemas.openxmlformats.org/officeDocument/2006/relationships/hyperlink" Target="https://www.circuitstoday.com/nanomaterials"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pharmaceutical-business-review.com/products/oral-thin-films-drug-delivery/" TargetMode="External"/><Relationship Id="rId2" Type="http://schemas.openxmlformats.org/officeDocument/2006/relationships/hyperlink" Target="https://www.edn.com/thick-and-thin-quantum-wells-dramatically-affect-cyan-led-bandwidth/" TargetMode="External"/><Relationship Id="rId1" Type="http://schemas.openxmlformats.org/officeDocument/2006/relationships/slideLayout" Target="../slideLayouts/slideLayout2.xml"/><Relationship Id="rId6" Type="http://schemas.openxmlformats.org/officeDocument/2006/relationships/hyperlink" Target="https://commons.wikimedia.org/w/index.php?search=quantum+dot&amp;title=Special:Search&amp;go=Go&amp;ns0=1&amp;ns6=1&amp;ns12=1&amp;ns14=1&amp;ns100=1&amp;ns106=1#/media/File:Quantum_dot_schema.jpg" TargetMode="External"/><Relationship Id="rId5" Type="http://schemas.openxmlformats.org/officeDocument/2006/relationships/hyperlink" Target="https://www.youtube.com/watch?v=wsWD5dJv2OE" TargetMode="External"/><Relationship Id="rId4" Type="http://schemas.openxmlformats.org/officeDocument/2006/relationships/hyperlink" Target="https://commons.wikimedia.org/wiki/File:Quantum_wire.jpg"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google.com/imgres?imgurl=https://royalsocietypublishing.org/cms/asset/d1f6569c-4733-4709-97f0-8074b307a9ce/rsos180387f01.jpg&amp;imgrefurl=https://royalsocietypublishing.org/doi/10.1098/rsos.180387&amp;tbnid=15vtPUvfbCUcXM&amp;vet=12ahUKEwiY4ZSriJDrAhUTYysKHR5SCbMQMygEegUIARCwAQ..i&amp;docid=NkQ_AsDwWmCS1M&amp;w=1701&amp;h=923&amp;q=quantum%20confinement%20effect&amp;ved=2ahUKEwiY4ZSriJDrAhUTYysKHR5SCbMQMygEegUIARCwAQ" TargetMode="External"/><Relationship Id="rId2" Type="http://schemas.openxmlformats.org/officeDocument/2006/relationships/hyperlink" Target="https://www.indiamart.com/proddetail/carbon-fullerenes-13710958673.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pid.samsungdisplay.com/en/learning-center/white-papers/guide-to-understanding-quantum-dot-displays" TargetMode="External"/><Relationship Id="rId2" Type="http://schemas.openxmlformats.org/officeDocument/2006/relationships/hyperlink" Target="https://www.pathwayz.org/Tree/Plain/SURFACE+AREA+TO+VOLUME+RATIO" TargetMode="External"/><Relationship Id="rId1" Type="http://schemas.openxmlformats.org/officeDocument/2006/relationships/slideLayout" Target="../slideLayouts/slideLayout2.xml"/><Relationship Id="rId6" Type="http://schemas.openxmlformats.org/officeDocument/2006/relationships/hyperlink" Target="https://www.sciencedirect.com/science/article/pii/B9780128137413000388" TargetMode="External"/><Relationship Id="rId5" Type="http://schemas.openxmlformats.org/officeDocument/2006/relationships/hyperlink" Target="https://www.slideshare.net/JigyashaBhatt/targeted-drug-delivery-system-94064136" TargetMode="External"/><Relationship Id="rId4" Type="http://schemas.openxmlformats.org/officeDocument/2006/relationships/hyperlink" Target="https://www.livescience.com/49515-water-repellent-material.html"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channel/UCa1LT1sfzVGP6grvbfcqUjQ" TargetMode="External"/><Relationship Id="rId2" Type="http://schemas.openxmlformats.org/officeDocument/2006/relationships/hyperlink" Target="https://www.youtube.com/watch?v=RvtlBh_-_Rw" TargetMode="External"/><Relationship Id="rId1" Type="http://schemas.openxmlformats.org/officeDocument/2006/relationships/slideLayout" Target="../slideLayouts/slideLayout2.xml"/><Relationship Id="rId5" Type="http://schemas.openxmlformats.org/officeDocument/2006/relationships/hyperlink" Target="https://www.youtube.com/watch?v=WElm-VglY7s" TargetMode="External"/><Relationship Id="rId4" Type="http://schemas.openxmlformats.org/officeDocument/2006/relationships/hyperlink" Target="https://www.youtube.com/watch?v=5lvjo0rm-F0"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 y="4718027"/>
            <a:ext cx="1219200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564885" y="811788"/>
            <a:ext cx="8733228" cy="691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anose="02020603050405020304" pitchFamily="18" charset="0"/>
              </a:rPr>
              <a:t>Prepared </a:t>
            </a:r>
            <a:r>
              <a:rPr lang="en-US" sz="2800" dirty="0">
                <a:latin typeface="Times New Roman" pitchFamily="18" charset="0"/>
                <a:ea typeface="Calibri" panose="020F0502020204030204" pitchFamily="34" charset="0"/>
                <a:cs typeface="Times New Roman" panose="02020603050405020304" pitchFamily="18" charset="0"/>
              </a:rPr>
              <a:t>by: Ms. </a:t>
            </a:r>
            <a:r>
              <a:rPr lang="en-US" sz="2800" dirty="0" err="1">
                <a:latin typeface="Times New Roman" pitchFamily="18" charset="0"/>
                <a:ea typeface="Calibri" panose="020F0502020204030204" pitchFamily="34" charset="0"/>
                <a:cs typeface="Times New Roman" panose="02020603050405020304" pitchFamily="18" charset="0"/>
              </a:rPr>
              <a:t>Arminder</a:t>
            </a:r>
            <a:endParaRPr lang="en-US" sz="2800" dirty="0">
              <a:latin typeface="Times New Roman"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15" name="TextBox 14"/>
          <p:cNvSpPr txBox="1">
            <a:spLocks noChangeArrowheads="1"/>
          </p:cNvSpPr>
          <p:nvPr/>
        </p:nvSpPr>
        <p:spPr bwMode="auto">
          <a:xfrm>
            <a:off x="12104" y="5741722"/>
            <a:ext cx="4912783" cy="1218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UNIT 3</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Introduction to Nanotechnology &amp; Quantum Computing</a:t>
            </a: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359166" y="6356350"/>
            <a:ext cx="223234" cy="365125"/>
          </a:xfrm>
          <a:ln>
            <a:solidFill>
              <a:schemeClr val="accent1"/>
            </a:solidFill>
          </a:ln>
        </p:spPr>
        <p:txBody>
          <a:bodyPr/>
          <a:lstStyle/>
          <a:p>
            <a:fld id="{BDCDBBEF-AA6C-4BA6-85B2-A17D7F280E38}" type="slidenum">
              <a:rPr lang="en-US" smtClean="0"/>
              <a:t>2</a:t>
            </a:fld>
            <a:endParaRPr lang="en-US" dirty="0"/>
          </a:p>
        </p:txBody>
      </p:sp>
      <p:sp>
        <p:nvSpPr>
          <p:cNvPr id="10" name="Oval 9"/>
          <p:cNvSpPr/>
          <p:nvPr/>
        </p:nvSpPr>
        <p:spPr>
          <a:xfrm>
            <a:off x="11217276" y="6324600"/>
            <a:ext cx="444500" cy="42227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6EF3AC-12D8-4376-826F-0CDE220D0DD9}"/>
              </a:ext>
            </a:extLst>
          </p:cNvPr>
          <p:cNvSpPr txBox="1"/>
          <p:nvPr/>
        </p:nvSpPr>
        <p:spPr>
          <a:xfrm>
            <a:off x="1519707" y="200819"/>
            <a:ext cx="10062693" cy="769441"/>
          </a:xfrm>
          <a:prstGeom prst="rect">
            <a:avLst/>
          </a:prstGeom>
          <a:solidFill>
            <a:schemeClr val="bg1"/>
          </a:solidFill>
          <a:ln>
            <a:solidFill>
              <a:srgbClr val="C00000"/>
            </a:solidFill>
          </a:ln>
        </p:spPr>
        <p:txBody>
          <a:bodyPr wrap="square" rtlCol="0">
            <a:spAutoFit/>
          </a:bodyPr>
          <a:lstStyle/>
          <a:p>
            <a:pPr algn="ctr"/>
            <a:r>
              <a:rPr lang="en-IN" sz="4400" b="1" dirty="0">
                <a:latin typeface="Casper Bold"/>
              </a:rPr>
              <a:t>COURSE OBJECTIVES</a:t>
            </a:r>
          </a:p>
        </p:txBody>
      </p:sp>
      <p:sp>
        <p:nvSpPr>
          <p:cNvPr id="7" name="Rectangle 6">
            <a:extLst>
              <a:ext uri="{FF2B5EF4-FFF2-40B4-BE49-F238E27FC236}">
                <a16:creationId xmlns:a16="http://schemas.microsoft.com/office/drawing/2014/main" id="{9E9E0D1A-55C5-463F-89FE-BD77E41FFD1A}"/>
              </a:ext>
            </a:extLst>
          </p:cNvPr>
          <p:cNvSpPr/>
          <p:nvPr/>
        </p:nvSpPr>
        <p:spPr>
          <a:xfrm>
            <a:off x="1210092" y="1837121"/>
            <a:ext cx="10241791" cy="4214231"/>
          </a:xfrm>
          <a:prstGeom prst="rect">
            <a:avLst/>
          </a:prstGeom>
          <a:ln>
            <a:solidFill>
              <a:schemeClr val="accent1"/>
            </a:solidFill>
          </a:ln>
        </p:spPr>
        <p:txBody>
          <a:bodyPr wrap="square">
            <a:spAutoFit/>
          </a:bodyPr>
          <a:lstStyle/>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The course is designed to make the students industry ready to contribute in the growing demand of the industry at local, national and international level.</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make the students competent to understand basic concepts and applications of advanced engineering physics and apply its principles in their respective fields at global platform.</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enhance the skill level of the students and shall make them preferred choice for getting employment in industry and research labs.</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give thorough knowledge of the discipline to enable students to disseminate knowledge in pursuing excellence in academic areas.</a:t>
            </a:r>
          </a:p>
          <a:p>
            <a:pPr marL="342900" marR="38100" lvl="0" indent="-342900" algn="just">
              <a:lnSpc>
                <a:spcPct val="93000"/>
              </a:lnSpc>
              <a:spcAft>
                <a:spcPts val="0"/>
              </a:spcAft>
              <a:buFont typeface="+mj-lt"/>
              <a:buAutoNum type="arabicPeriod"/>
              <a:tabLst>
                <a:tab pos="330200" algn="l"/>
              </a:tabLst>
            </a:pPr>
            <a:endParaRPr lang="en-IN" sz="2400" dirty="0">
              <a:effectLst/>
              <a:latin typeface="Casper" panose="02000506000000020004"/>
              <a:ea typeface="Times New Roman" panose="02020603050405020304" pitchFamily="18" charset="0"/>
            </a:endParaRPr>
          </a:p>
          <a:p>
            <a:pPr marR="38100" lvl="0" algn="just">
              <a:lnSpc>
                <a:spcPct val="93000"/>
              </a:lnSpc>
              <a:spcAft>
                <a:spcPts val="0"/>
              </a:spcAft>
              <a:tabLst>
                <a:tab pos="330200" algn="l"/>
              </a:tabLst>
            </a:pPr>
            <a:endParaRPr lang="en-IN" sz="2400" dirty="0">
              <a:effectLst/>
              <a:latin typeface="Casper" panose="02000506000000020004"/>
              <a:ea typeface="Times New Roman" panose="02020603050405020304" pitchFamily="18" charset="0"/>
            </a:endParaRPr>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3</a:t>
            </a:fld>
            <a:endParaRPr lang="en-US"/>
          </a:p>
        </p:txBody>
      </p:sp>
      <p:sp>
        <p:nvSpPr>
          <p:cNvPr id="8" name="Rectangle 7"/>
          <p:cNvSpPr/>
          <p:nvPr/>
        </p:nvSpPr>
        <p:spPr>
          <a:xfrm>
            <a:off x="2096394" y="256020"/>
            <a:ext cx="8507916" cy="1138773"/>
          </a:xfrm>
          <a:prstGeom prst="rect">
            <a:avLst/>
          </a:prstGeom>
        </p:spPr>
        <p:txBody>
          <a:bodyPr wrap="square">
            <a:spAutoFit/>
          </a:bodyPr>
          <a:lstStyle/>
          <a:p>
            <a:pPr algn="ctr"/>
            <a:r>
              <a:rPr lang="en-US" sz="4400" b="1" dirty="0">
                <a:latin typeface="Casper" panose="02000506000000020004"/>
                <a:cs typeface="Times New Roman" pitchFamily="18" charset="0"/>
              </a:rPr>
              <a:t>COURSE OUTCOME</a:t>
            </a:r>
            <a:endParaRPr lang="en-US" sz="4400" b="1" dirty="0">
              <a:latin typeface="Casper" panose="02000506000000020004"/>
            </a:endParaRPr>
          </a:p>
          <a:p>
            <a:r>
              <a:rPr lang="en-US" sz="2400" b="1" dirty="0">
                <a:latin typeface="Casper" panose="02000506000000020004"/>
              </a:rPr>
              <a:t>       </a:t>
            </a:r>
          </a:p>
        </p:txBody>
      </p:sp>
      <p:pic>
        <p:nvPicPr>
          <p:cNvPr id="9" name="Picture 2"/>
          <p:cNvPicPr>
            <a:picLocks noChangeAspect="1" noChangeArrowheads="1"/>
          </p:cNvPicPr>
          <p:nvPr/>
        </p:nvPicPr>
        <p:blipFill>
          <a:blip r:embed="rId2"/>
          <a:srcRect/>
          <a:stretch>
            <a:fillRect/>
          </a:stretch>
        </p:blipFill>
        <p:spPr bwMode="auto">
          <a:xfrm>
            <a:off x="10795992" y="75716"/>
            <a:ext cx="1115616" cy="461141"/>
          </a:xfrm>
          <a:prstGeom prst="rect">
            <a:avLst/>
          </a:prstGeom>
          <a:noFill/>
          <a:ln w="9525">
            <a:noFill/>
            <a:miter lim="800000"/>
            <a:headEnd/>
            <a:tailEnd/>
          </a:ln>
          <a:effectLst/>
        </p:spPr>
      </p:pic>
      <p:graphicFrame>
        <p:nvGraphicFramePr>
          <p:cNvPr id="10" name="Table 9"/>
          <p:cNvGraphicFramePr>
            <a:graphicFrameLocks noGrp="1"/>
          </p:cNvGraphicFramePr>
          <p:nvPr>
            <p:extLst>
              <p:ext uri="{D42A27DB-BD31-4B8C-83A1-F6EECF244321}">
                <p14:modId xmlns:p14="http://schemas.microsoft.com/office/powerpoint/2010/main" val="118174372"/>
              </p:ext>
            </p:extLst>
          </p:nvPr>
        </p:nvGraphicFramePr>
        <p:xfrm>
          <a:off x="523181" y="1685980"/>
          <a:ext cx="10694211" cy="4113166"/>
        </p:xfrm>
        <a:graphic>
          <a:graphicData uri="http://schemas.openxmlformats.org/drawingml/2006/table">
            <a:tbl>
              <a:tblPr firstRow="1" firstCol="1" bandRow="1">
                <a:tableStyleId>{5940675A-B579-460E-94D1-54222C63F5DA}</a:tableStyleId>
              </a:tblPr>
              <a:tblGrid>
                <a:gridCol w="824144">
                  <a:extLst>
                    <a:ext uri="{9D8B030D-6E8A-4147-A177-3AD203B41FA5}">
                      <a16:colId xmlns:a16="http://schemas.microsoft.com/office/drawing/2014/main" val="20000"/>
                    </a:ext>
                  </a:extLst>
                </a:gridCol>
                <a:gridCol w="7207549">
                  <a:extLst>
                    <a:ext uri="{9D8B030D-6E8A-4147-A177-3AD203B41FA5}">
                      <a16:colId xmlns:a16="http://schemas.microsoft.com/office/drawing/2014/main" val="20001"/>
                    </a:ext>
                  </a:extLst>
                </a:gridCol>
                <a:gridCol w="2662518">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4601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E145-6215-4F54-A373-4B0D0EB9AC13}"/>
              </a:ext>
            </a:extLst>
          </p:cNvPr>
          <p:cNvSpPr>
            <a:spLocks noGrp="1"/>
          </p:cNvSpPr>
          <p:nvPr>
            <p:ph type="title"/>
          </p:nvPr>
        </p:nvSpPr>
        <p:spPr>
          <a:ln>
            <a:solidFill>
              <a:srgbClr val="C00000"/>
            </a:solidFill>
          </a:ln>
        </p:spPr>
        <p:txBody>
          <a:bodyPr/>
          <a:lstStyle/>
          <a:p>
            <a:pPr algn="ctr"/>
            <a:r>
              <a:rPr lang="en-IN" b="1" dirty="0">
                <a:latin typeface="Casper"/>
              </a:rPr>
              <a:t>LECTURE OBJECTIVE </a:t>
            </a:r>
          </a:p>
        </p:txBody>
      </p:sp>
      <p:sp>
        <p:nvSpPr>
          <p:cNvPr id="4" name="Slide Number Placeholder 3">
            <a:extLst>
              <a:ext uri="{FF2B5EF4-FFF2-40B4-BE49-F238E27FC236}">
                <a16:creationId xmlns:a16="http://schemas.microsoft.com/office/drawing/2014/main" id="{17E04BCF-9F37-4871-8BA7-24A7B0087CDE}"/>
              </a:ext>
            </a:extLst>
          </p:cNvPr>
          <p:cNvSpPr>
            <a:spLocks noGrp="1"/>
          </p:cNvSpPr>
          <p:nvPr>
            <p:ph type="sldNum" sz="quarter" idx="12"/>
          </p:nvPr>
        </p:nvSpPr>
        <p:spPr/>
        <p:txBody>
          <a:bodyPr/>
          <a:lstStyle/>
          <a:p>
            <a:fld id="{BDCDBBEF-AA6C-4BA6-85B2-A17D7F280E38}" type="slidenum">
              <a:rPr lang="en-US" smtClean="0"/>
              <a:t>4</a:t>
            </a:fld>
            <a:endParaRPr lang="en-US"/>
          </a:p>
        </p:txBody>
      </p:sp>
      <p:graphicFrame>
        <p:nvGraphicFramePr>
          <p:cNvPr id="7" name="Diagram 6">
            <a:extLst>
              <a:ext uri="{FF2B5EF4-FFF2-40B4-BE49-F238E27FC236}">
                <a16:creationId xmlns:a16="http://schemas.microsoft.com/office/drawing/2014/main" id="{BB484DA9-9AAA-4993-AAD1-D7D45E75AA80}"/>
              </a:ext>
            </a:extLst>
          </p:cNvPr>
          <p:cNvGraphicFramePr/>
          <p:nvPr>
            <p:extLst>
              <p:ext uri="{D42A27DB-BD31-4B8C-83A1-F6EECF244321}">
                <p14:modId xmlns:p14="http://schemas.microsoft.com/office/powerpoint/2010/main" val="3455447230"/>
              </p:ext>
            </p:extLst>
          </p:nvPr>
        </p:nvGraphicFramePr>
        <p:xfrm>
          <a:off x="1828800" y="1927170"/>
          <a:ext cx="9104243" cy="41926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833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4C284-BDD5-4A66-9C2A-E358AD6D4C54}"/>
              </a:ext>
            </a:extLst>
          </p:cNvPr>
          <p:cNvSpPr>
            <a:spLocks noGrp="1"/>
          </p:cNvSpPr>
          <p:nvPr>
            <p:ph type="title"/>
          </p:nvPr>
        </p:nvSpPr>
        <p:spPr>
          <a:ln>
            <a:solidFill>
              <a:srgbClr val="C00000"/>
            </a:solidFill>
          </a:ln>
        </p:spPr>
        <p:txBody>
          <a:bodyPr/>
          <a:lstStyle/>
          <a:p>
            <a:pPr algn="ctr"/>
            <a:r>
              <a:rPr lang="en-IN" b="1" dirty="0">
                <a:latin typeface="Casper"/>
              </a:rPr>
              <a:t>CONTENT </a:t>
            </a:r>
          </a:p>
        </p:txBody>
      </p:sp>
      <p:sp>
        <p:nvSpPr>
          <p:cNvPr id="4" name="Slide Number Placeholder 3">
            <a:extLst>
              <a:ext uri="{FF2B5EF4-FFF2-40B4-BE49-F238E27FC236}">
                <a16:creationId xmlns:a16="http://schemas.microsoft.com/office/drawing/2014/main" id="{7B712548-F6D4-4E31-864E-40E49775217C}"/>
              </a:ext>
            </a:extLst>
          </p:cNvPr>
          <p:cNvSpPr>
            <a:spLocks noGrp="1"/>
          </p:cNvSpPr>
          <p:nvPr>
            <p:ph type="sldNum" sz="quarter" idx="12"/>
          </p:nvPr>
        </p:nvSpPr>
        <p:spPr/>
        <p:txBody>
          <a:bodyPr/>
          <a:lstStyle/>
          <a:p>
            <a:fld id="{BDCDBBEF-AA6C-4BA6-85B2-A17D7F280E38}" type="slidenum">
              <a:rPr lang="en-US" smtClean="0"/>
              <a:t>5</a:t>
            </a:fld>
            <a:endParaRPr lang="en-US"/>
          </a:p>
        </p:txBody>
      </p:sp>
      <p:graphicFrame>
        <p:nvGraphicFramePr>
          <p:cNvPr id="6" name="Content Placeholder 5">
            <a:extLst>
              <a:ext uri="{FF2B5EF4-FFF2-40B4-BE49-F238E27FC236}">
                <a16:creationId xmlns:a16="http://schemas.microsoft.com/office/drawing/2014/main" id="{AA810ACB-AAB9-4547-898D-7749039CF418}"/>
              </a:ext>
            </a:extLst>
          </p:cNvPr>
          <p:cNvGraphicFramePr>
            <a:graphicFrameLocks noGrp="1"/>
          </p:cNvGraphicFramePr>
          <p:nvPr>
            <p:ph idx="1"/>
            <p:extLst>
              <p:ext uri="{D42A27DB-BD31-4B8C-83A1-F6EECF244321}">
                <p14:modId xmlns:p14="http://schemas.microsoft.com/office/powerpoint/2010/main" val="337950834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5288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D349B-6C86-4ED3-8B78-1146B6316A8C}"/>
              </a:ext>
            </a:extLst>
          </p:cNvPr>
          <p:cNvSpPr>
            <a:spLocks noGrp="1"/>
          </p:cNvSpPr>
          <p:nvPr>
            <p:ph type="title"/>
          </p:nvPr>
        </p:nvSpPr>
        <p:spPr>
          <a:ln>
            <a:solidFill>
              <a:srgbClr val="C00000"/>
            </a:solidFill>
          </a:ln>
        </p:spPr>
        <p:txBody>
          <a:bodyPr/>
          <a:lstStyle/>
          <a:p>
            <a:pPr algn="ctr"/>
            <a:r>
              <a:rPr lang="en-IN" b="1" dirty="0">
                <a:latin typeface="Casper"/>
              </a:rPr>
              <a:t>QUANTUM WELL </a:t>
            </a:r>
          </a:p>
        </p:txBody>
      </p:sp>
      <p:sp>
        <p:nvSpPr>
          <p:cNvPr id="3" name="Content Placeholder 2">
            <a:extLst>
              <a:ext uri="{FF2B5EF4-FFF2-40B4-BE49-F238E27FC236}">
                <a16:creationId xmlns:a16="http://schemas.microsoft.com/office/drawing/2014/main" id="{61746A49-B9FE-471C-8863-8E1F69B6AFE3}"/>
              </a:ext>
            </a:extLst>
          </p:cNvPr>
          <p:cNvSpPr>
            <a:spLocks noGrp="1"/>
          </p:cNvSpPr>
          <p:nvPr>
            <p:ph idx="1"/>
          </p:nvPr>
        </p:nvSpPr>
        <p:spPr>
          <a:xfrm>
            <a:off x="838200" y="2005012"/>
            <a:ext cx="2978426" cy="4351338"/>
          </a:xfrm>
          <a:ln>
            <a:solidFill>
              <a:schemeClr val="accent1"/>
            </a:solidFill>
          </a:ln>
        </p:spPr>
        <p:txBody>
          <a:bodyPr>
            <a:normAutofit/>
          </a:bodyPr>
          <a:lstStyle/>
          <a:p>
            <a:pPr marL="0" indent="0" algn="just">
              <a:buNone/>
            </a:pPr>
            <a:r>
              <a:rPr lang="en-IN" sz="2400" dirty="0">
                <a:effectLst/>
                <a:latin typeface="Casper"/>
                <a:ea typeface="Calibri" panose="020F0502020204030204" pitchFamily="34" charset="0"/>
                <a:cs typeface="Times New Roman" panose="02020603050405020304" pitchFamily="18" charset="0"/>
              </a:rPr>
              <a:t>If one dimension is reduced to the nano-range while the other two dimensions remain large, then we obtain a structure known as quantum well. This reduction in dimension produces confinement of the electrons</a:t>
            </a:r>
            <a:endParaRPr lang="en-IN" sz="2400" dirty="0">
              <a:latin typeface="Casper"/>
            </a:endParaRPr>
          </a:p>
        </p:txBody>
      </p:sp>
      <p:sp>
        <p:nvSpPr>
          <p:cNvPr id="4" name="Slide Number Placeholder 3">
            <a:extLst>
              <a:ext uri="{FF2B5EF4-FFF2-40B4-BE49-F238E27FC236}">
                <a16:creationId xmlns:a16="http://schemas.microsoft.com/office/drawing/2014/main" id="{3F0923F3-09EA-4967-AA80-EFC584CD7841}"/>
              </a:ext>
            </a:extLst>
          </p:cNvPr>
          <p:cNvSpPr>
            <a:spLocks noGrp="1"/>
          </p:cNvSpPr>
          <p:nvPr>
            <p:ph type="sldNum" sz="quarter" idx="12"/>
          </p:nvPr>
        </p:nvSpPr>
        <p:spPr/>
        <p:txBody>
          <a:bodyPr/>
          <a:lstStyle/>
          <a:p>
            <a:fld id="{BDCDBBEF-AA6C-4BA6-85B2-A17D7F280E38}" type="slidenum">
              <a:rPr lang="en-US" smtClean="0"/>
              <a:t>6</a:t>
            </a:fld>
            <a:endParaRPr lang="en-US"/>
          </a:p>
        </p:txBody>
      </p:sp>
      <p:pic>
        <p:nvPicPr>
          <p:cNvPr id="5" name="Picture 4" descr="EDN - Thick and thin quantum wells dramatically affect cyan LED ...">
            <a:extLst>
              <a:ext uri="{FF2B5EF4-FFF2-40B4-BE49-F238E27FC236}">
                <a16:creationId xmlns:a16="http://schemas.microsoft.com/office/drawing/2014/main" id="{75EC2E61-D1B0-4715-BAC3-7F33F9A588D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147930" y="2000397"/>
            <a:ext cx="7404652" cy="3351176"/>
          </a:xfrm>
          <a:prstGeom prst="rect">
            <a:avLst/>
          </a:prstGeom>
          <a:ln w="88900" cap="sq" cmpd="thickThin">
            <a:solidFill>
              <a:schemeClr val="accent1"/>
            </a:solidFill>
            <a:prstDash val="solid"/>
            <a:miter lim="800000"/>
          </a:ln>
          <a:effectLst>
            <a:innerShdw blurRad="76200">
              <a:srgbClr val="000000"/>
            </a:innerShdw>
          </a:effectLst>
        </p:spPr>
      </p:pic>
      <p:sp>
        <p:nvSpPr>
          <p:cNvPr id="7" name="TextBox 6">
            <a:extLst>
              <a:ext uri="{FF2B5EF4-FFF2-40B4-BE49-F238E27FC236}">
                <a16:creationId xmlns:a16="http://schemas.microsoft.com/office/drawing/2014/main" id="{79FD8361-0F71-4F23-B820-DA35D959D074}"/>
              </a:ext>
            </a:extLst>
          </p:cNvPr>
          <p:cNvSpPr txBox="1"/>
          <p:nvPr/>
        </p:nvSpPr>
        <p:spPr>
          <a:xfrm>
            <a:off x="5456582" y="5661280"/>
            <a:ext cx="6096000" cy="410882"/>
          </a:xfrm>
          <a:prstGeom prst="rect">
            <a:avLst/>
          </a:prstGeom>
          <a:noFill/>
        </p:spPr>
        <p:txBody>
          <a:bodyPr wrap="square">
            <a:spAutoFit/>
          </a:bodyPr>
          <a:lstStyle/>
          <a:p>
            <a:pPr algn="ctr">
              <a:lnSpc>
                <a:spcPct val="115000"/>
              </a:lnSpc>
              <a:spcBef>
                <a:spcPts val="600"/>
              </a:spcBef>
              <a:spcAft>
                <a:spcPts val="600"/>
              </a:spcAft>
            </a:pPr>
            <a:r>
              <a:rPr lang="en-IN" sz="1800" dirty="0">
                <a:solidFill>
                  <a:srgbClr val="000000"/>
                </a:solidFill>
                <a:effectLst/>
                <a:latin typeface="Times New Roman" panose="02020603050405020304" pitchFamily="18" charset="0"/>
                <a:ea typeface="Times New Roman" panose="02020603050405020304" pitchFamily="18" charset="0"/>
              </a:rPr>
              <a:t>Figure 1: Squeezing one length into nano-meter [1]</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90389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5F174CB-2A79-4E62-9040-CFCB15EF9ED2}"/>
              </a:ext>
            </a:extLst>
          </p:cNvPr>
          <p:cNvSpPr>
            <a:spLocks noGrp="1"/>
          </p:cNvSpPr>
          <p:nvPr>
            <p:ph type="sldNum" sz="quarter" idx="12"/>
          </p:nvPr>
        </p:nvSpPr>
        <p:spPr/>
        <p:txBody>
          <a:bodyPr/>
          <a:lstStyle/>
          <a:p>
            <a:fld id="{BDCDBBEF-AA6C-4BA6-85B2-A17D7F280E38}" type="slidenum">
              <a:rPr lang="en-US" smtClean="0"/>
              <a:t>7</a:t>
            </a:fld>
            <a:endParaRPr lang="en-US"/>
          </a:p>
        </p:txBody>
      </p:sp>
      <p:pic>
        <p:nvPicPr>
          <p:cNvPr id="5" name="Content Placeholder 4" descr="Oral Thin Films for Drug Delivery - Pharmaceutical Business review">
            <a:extLst>
              <a:ext uri="{FF2B5EF4-FFF2-40B4-BE49-F238E27FC236}">
                <a16:creationId xmlns:a16="http://schemas.microsoft.com/office/drawing/2014/main" id="{026AD523-8476-4990-A28F-563FD8949403}"/>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97925"/>
            <a:ext cx="10515600" cy="3919779"/>
          </a:xfrm>
          <a:prstGeom prst="rect">
            <a:avLst/>
          </a:prstGeom>
          <a:ln w="88900" cap="sq" cmpd="thickThin">
            <a:solidFill>
              <a:schemeClr val="accent1"/>
            </a:solidFill>
            <a:prstDash val="solid"/>
            <a:miter lim="800000"/>
          </a:ln>
          <a:effectLst>
            <a:innerShdw blurRad="76200">
              <a:srgbClr val="000000"/>
            </a:innerShdw>
          </a:effectLst>
        </p:spPr>
      </p:pic>
      <p:sp>
        <p:nvSpPr>
          <p:cNvPr id="6" name="Title 1">
            <a:extLst>
              <a:ext uri="{FF2B5EF4-FFF2-40B4-BE49-F238E27FC236}">
                <a16:creationId xmlns:a16="http://schemas.microsoft.com/office/drawing/2014/main" id="{CDCBD178-AE85-4981-8BBF-B091EBC32FC9}"/>
              </a:ext>
            </a:extLst>
          </p:cNvPr>
          <p:cNvSpPr>
            <a:spLocks noGrp="1"/>
          </p:cNvSpPr>
          <p:nvPr>
            <p:ph type="title"/>
          </p:nvPr>
        </p:nvSpPr>
        <p:spPr>
          <a:xfrm>
            <a:off x="838200" y="325368"/>
            <a:ext cx="10515600" cy="1172127"/>
          </a:xfrm>
          <a:ln>
            <a:solidFill>
              <a:srgbClr val="C00000"/>
            </a:solidFill>
          </a:ln>
        </p:spPr>
        <p:txBody>
          <a:bodyPr/>
          <a:lstStyle/>
          <a:p>
            <a:pPr algn="ctr"/>
            <a:r>
              <a:rPr lang="en-IN" b="1" dirty="0">
                <a:latin typeface="Casper"/>
              </a:rPr>
              <a:t>QUANTUM WELL </a:t>
            </a:r>
          </a:p>
        </p:txBody>
      </p:sp>
      <p:sp>
        <p:nvSpPr>
          <p:cNvPr id="8" name="TextBox 7">
            <a:extLst>
              <a:ext uri="{FF2B5EF4-FFF2-40B4-BE49-F238E27FC236}">
                <a16:creationId xmlns:a16="http://schemas.microsoft.com/office/drawing/2014/main" id="{DD2A46E8-8456-45CE-AC35-DF51EA61097F}"/>
              </a:ext>
            </a:extLst>
          </p:cNvPr>
          <p:cNvSpPr txBox="1"/>
          <p:nvPr/>
        </p:nvSpPr>
        <p:spPr>
          <a:xfrm>
            <a:off x="2849218" y="5985696"/>
            <a:ext cx="6096000" cy="385362"/>
          </a:xfrm>
          <a:prstGeom prst="rect">
            <a:avLst/>
          </a:prstGeom>
          <a:noFill/>
        </p:spPr>
        <p:txBody>
          <a:bodyPr wrap="square">
            <a:spAutoFit/>
          </a:bodyPr>
          <a:lstStyle/>
          <a:p>
            <a:pPr algn="ctr">
              <a:lnSpc>
                <a:spcPct val="115000"/>
              </a:lnSpc>
              <a:spcBef>
                <a:spcPts val="600"/>
              </a:spcBef>
              <a:spcAft>
                <a:spcPts val="600"/>
              </a:spcAft>
            </a:pPr>
            <a:r>
              <a:rPr lang="en-IN" sz="1800" dirty="0">
                <a:solidFill>
                  <a:srgbClr val="000000"/>
                </a:solidFill>
                <a:effectLst/>
                <a:latin typeface="Times New Roman" panose="02020603050405020304" pitchFamily="18" charset="0"/>
                <a:ea typeface="Times New Roman" panose="02020603050405020304" pitchFamily="18" charset="0"/>
              </a:rPr>
              <a:t>Figure 2: Quantum well- thin film [2]</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46124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267570-542E-4AD7-9093-580ACA7543CB}"/>
              </a:ext>
            </a:extLst>
          </p:cNvPr>
          <p:cNvSpPr>
            <a:spLocks noGrp="1"/>
          </p:cNvSpPr>
          <p:nvPr>
            <p:ph type="sldNum" sz="quarter" idx="12"/>
          </p:nvPr>
        </p:nvSpPr>
        <p:spPr/>
        <p:txBody>
          <a:bodyPr/>
          <a:lstStyle/>
          <a:p>
            <a:fld id="{BDCDBBEF-AA6C-4BA6-85B2-A17D7F280E38}" type="slidenum">
              <a:rPr lang="en-US" smtClean="0"/>
              <a:t>8</a:t>
            </a:fld>
            <a:endParaRPr lang="en-US"/>
          </a:p>
        </p:txBody>
      </p:sp>
      <p:pic>
        <p:nvPicPr>
          <p:cNvPr id="5" name="Content Placeholder 4">
            <a:extLst>
              <a:ext uri="{FF2B5EF4-FFF2-40B4-BE49-F238E27FC236}">
                <a16:creationId xmlns:a16="http://schemas.microsoft.com/office/drawing/2014/main" id="{8E4B0985-4B30-4E3A-8AB0-E31418725FF6}"/>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30800" y="2000769"/>
            <a:ext cx="6223000" cy="3419370"/>
          </a:xfrm>
          <a:prstGeom prst="rect">
            <a:avLst/>
          </a:prstGeom>
          <a:ln w="88900" cap="sq" cmpd="thickThin">
            <a:solidFill>
              <a:schemeClr val="accent1"/>
            </a:solidFill>
            <a:prstDash val="solid"/>
            <a:miter lim="800000"/>
          </a:ln>
          <a:effectLst>
            <a:innerShdw blurRad="76200">
              <a:srgbClr val="000000"/>
            </a:innerShdw>
          </a:effectLst>
        </p:spPr>
      </p:pic>
      <p:sp>
        <p:nvSpPr>
          <p:cNvPr id="6" name="Title 1">
            <a:extLst>
              <a:ext uri="{FF2B5EF4-FFF2-40B4-BE49-F238E27FC236}">
                <a16:creationId xmlns:a16="http://schemas.microsoft.com/office/drawing/2014/main" id="{01382030-D4A4-4A45-AE85-78862C510AF1}"/>
              </a:ext>
            </a:extLst>
          </p:cNvPr>
          <p:cNvSpPr>
            <a:spLocks noGrp="1"/>
          </p:cNvSpPr>
          <p:nvPr>
            <p:ph type="title"/>
          </p:nvPr>
        </p:nvSpPr>
        <p:spPr>
          <a:xfrm>
            <a:off x="838200" y="325368"/>
            <a:ext cx="10515600" cy="1172127"/>
          </a:xfrm>
          <a:ln>
            <a:solidFill>
              <a:srgbClr val="C00000"/>
            </a:solidFill>
          </a:ln>
        </p:spPr>
        <p:txBody>
          <a:bodyPr/>
          <a:lstStyle/>
          <a:p>
            <a:pPr algn="ctr"/>
            <a:r>
              <a:rPr lang="en-IN" b="1" dirty="0">
                <a:latin typeface="Casper"/>
              </a:rPr>
              <a:t>QUANTUM WIRE </a:t>
            </a:r>
          </a:p>
        </p:txBody>
      </p:sp>
      <p:sp>
        <p:nvSpPr>
          <p:cNvPr id="8" name="TextBox 7">
            <a:extLst>
              <a:ext uri="{FF2B5EF4-FFF2-40B4-BE49-F238E27FC236}">
                <a16:creationId xmlns:a16="http://schemas.microsoft.com/office/drawing/2014/main" id="{3F362E1E-4AB1-4AB4-B985-F51FB4DF032C}"/>
              </a:ext>
            </a:extLst>
          </p:cNvPr>
          <p:cNvSpPr txBox="1"/>
          <p:nvPr/>
        </p:nvSpPr>
        <p:spPr>
          <a:xfrm>
            <a:off x="5130800" y="5821145"/>
            <a:ext cx="6096000" cy="410882"/>
          </a:xfrm>
          <a:prstGeom prst="rect">
            <a:avLst/>
          </a:prstGeom>
          <a:noFill/>
        </p:spPr>
        <p:txBody>
          <a:bodyPr wrap="square">
            <a:spAutoFit/>
          </a:bodyPr>
          <a:lstStyle/>
          <a:p>
            <a:pPr algn="ctr">
              <a:lnSpc>
                <a:spcPct val="115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IN" dirty="0">
                <a:latin typeface="Times New Roman" panose="02020603050405020304" pitchFamily="18" charset="0"/>
                <a:ea typeface="Calibri" panose="020F0502020204030204" pitchFamily="34" charset="0"/>
                <a:cs typeface="Times New Roman" panose="02020603050405020304" pitchFamily="18" charset="0"/>
              </a:rPr>
              <a:t>3</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Squeezing 2 dimensions into nano sizes [</a:t>
            </a:r>
            <a:r>
              <a:rPr lang="en-IN" dirty="0">
                <a:latin typeface="Times New Roman" panose="02020603050405020304" pitchFamily="18" charset="0"/>
                <a:ea typeface="Calibri" panose="020F0502020204030204" pitchFamily="34" charset="0"/>
                <a:cs typeface="Times New Roman" panose="02020603050405020304" pitchFamily="18" charset="0"/>
              </a:rPr>
              <a:t>3</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7DF34A51-1B8D-4F54-9BE4-C71A861C2363}"/>
              </a:ext>
            </a:extLst>
          </p:cNvPr>
          <p:cNvSpPr txBox="1"/>
          <p:nvPr/>
        </p:nvSpPr>
        <p:spPr>
          <a:xfrm>
            <a:off x="1089990" y="2123583"/>
            <a:ext cx="3044687" cy="2677656"/>
          </a:xfrm>
          <a:prstGeom prst="rect">
            <a:avLst/>
          </a:prstGeom>
          <a:noFill/>
          <a:ln>
            <a:solidFill>
              <a:schemeClr val="accent1"/>
            </a:solidFill>
          </a:ln>
        </p:spPr>
        <p:txBody>
          <a:bodyPr wrap="square">
            <a:spAutoFit/>
          </a:bodyPr>
          <a:lstStyle/>
          <a:p>
            <a:pPr algn="just"/>
            <a:r>
              <a:rPr lang="en-IN" sz="2400" dirty="0">
                <a:effectLst/>
                <a:latin typeface="Casper"/>
                <a:ea typeface="Calibri" panose="020F0502020204030204" pitchFamily="34" charset="0"/>
              </a:rPr>
              <a:t>If two dimensions are reduced (confined) and one remains large, the resulting structure is referred to as a quantum wire</a:t>
            </a:r>
            <a:endParaRPr lang="en-IN" sz="2400" dirty="0">
              <a:latin typeface="Casper"/>
            </a:endParaRPr>
          </a:p>
        </p:txBody>
      </p:sp>
    </p:spTree>
    <p:extLst>
      <p:ext uri="{BB962C8B-B14F-4D97-AF65-F5344CB8AC3E}">
        <p14:creationId xmlns:p14="http://schemas.microsoft.com/office/powerpoint/2010/main" val="2088326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F4FAF5-DFE0-41A3-AB1D-A34B6BD6FEF2}"/>
              </a:ext>
            </a:extLst>
          </p:cNvPr>
          <p:cNvSpPr>
            <a:spLocks noGrp="1"/>
          </p:cNvSpPr>
          <p:nvPr>
            <p:ph type="sldNum" sz="quarter" idx="12"/>
          </p:nvPr>
        </p:nvSpPr>
        <p:spPr/>
        <p:txBody>
          <a:bodyPr/>
          <a:lstStyle/>
          <a:p>
            <a:fld id="{BDCDBBEF-AA6C-4BA6-85B2-A17D7F280E38}" type="slidenum">
              <a:rPr lang="en-US" smtClean="0"/>
              <a:t>9</a:t>
            </a:fld>
            <a:endParaRPr lang="en-US"/>
          </a:p>
        </p:txBody>
      </p:sp>
      <p:pic>
        <p:nvPicPr>
          <p:cNvPr id="5" name="Picture 4" descr="Carbon Nanotubes - YouTube">
            <a:extLst>
              <a:ext uri="{FF2B5EF4-FFF2-40B4-BE49-F238E27FC236}">
                <a16:creationId xmlns:a16="http://schemas.microsoft.com/office/drawing/2014/main" id="{91C52994-C657-43FB-9488-E7D2D6D90CB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17052"/>
            <a:ext cx="10515600" cy="3921139"/>
          </a:xfrm>
          <a:prstGeom prst="rect">
            <a:avLst/>
          </a:prstGeom>
          <a:ln w="88900" cap="sq" cmpd="thickThin">
            <a:solidFill>
              <a:schemeClr val="accent1"/>
            </a:solidFill>
            <a:prstDash val="solid"/>
            <a:miter lim="800000"/>
          </a:ln>
          <a:effectLst>
            <a:innerShdw blurRad="76200">
              <a:srgbClr val="000000"/>
            </a:innerShdw>
          </a:effectLst>
        </p:spPr>
      </p:pic>
      <p:sp>
        <p:nvSpPr>
          <p:cNvPr id="6" name="Title 1">
            <a:extLst>
              <a:ext uri="{FF2B5EF4-FFF2-40B4-BE49-F238E27FC236}">
                <a16:creationId xmlns:a16="http://schemas.microsoft.com/office/drawing/2014/main" id="{1C15B85A-D53B-4F73-BFAB-12F5284B2D01}"/>
              </a:ext>
            </a:extLst>
          </p:cNvPr>
          <p:cNvSpPr>
            <a:spLocks noGrp="1"/>
          </p:cNvSpPr>
          <p:nvPr>
            <p:ph type="title"/>
          </p:nvPr>
        </p:nvSpPr>
        <p:spPr>
          <a:xfrm>
            <a:off x="838200" y="325368"/>
            <a:ext cx="10515600" cy="1172127"/>
          </a:xfrm>
          <a:ln>
            <a:solidFill>
              <a:srgbClr val="C00000"/>
            </a:solidFill>
          </a:ln>
        </p:spPr>
        <p:txBody>
          <a:bodyPr/>
          <a:lstStyle/>
          <a:p>
            <a:pPr algn="ctr"/>
            <a:r>
              <a:rPr lang="en-IN" b="1" dirty="0">
                <a:latin typeface="Casper"/>
              </a:rPr>
              <a:t>QUANTUM WIRE </a:t>
            </a:r>
          </a:p>
        </p:txBody>
      </p:sp>
      <p:sp>
        <p:nvSpPr>
          <p:cNvPr id="8" name="TextBox 7">
            <a:extLst>
              <a:ext uri="{FF2B5EF4-FFF2-40B4-BE49-F238E27FC236}">
                <a16:creationId xmlns:a16="http://schemas.microsoft.com/office/drawing/2014/main" id="{6F1A6670-C073-4988-B642-F66835D7070C}"/>
              </a:ext>
            </a:extLst>
          </p:cNvPr>
          <p:cNvSpPr txBox="1"/>
          <p:nvPr/>
        </p:nvSpPr>
        <p:spPr>
          <a:xfrm>
            <a:off x="2743200" y="6141948"/>
            <a:ext cx="6096000" cy="390684"/>
          </a:xfrm>
          <a:prstGeom prst="rect">
            <a:avLst/>
          </a:prstGeom>
          <a:noFill/>
        </p:spPr>
        <p:txBody>
          <a:bodyPr wrap="square">
            <a:spAutoFit/>
          </a:bodyPr>
          <a:lstStyle/>
          <a:p>
            <a:pPr algn="ctr">
              <a:lnSpc>
                <a:spcPct val="115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IN" dirty="0">
                <a:latin typeface="Times New Roman" panose="02020603050405020304" pitchFamily="18" charset="0"/>
                <a:ea typeface="Calibri" panose="020F0502020204030204" pitchFamily="34" charset="0"/>
                <a:cs typeface="Times New Roman" panose="02020603050405020304" pitchFamily="18" charset="0"/>
              </a:rPr>
              <a:t>4</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Carbon nanotube [</a:t>
            </a:r>
            <a:r>
              <a:rPr lang="en-IN" dirty="0">
                <a:latin typeface="Times New Roman" panose="02020603050405020304" pitchFamily="18" charset="0"/>
                <a:ea typeface="Calibri" panose="020F0502020204030204" pitchFamily="34" charset="0"/>
                <a:cs typeface="Times New Roman" panose="02020603050405020304" pitchFamily="18" charset="0"/>
              </a:rPr>
              <a:t>4</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23848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C694E7-658B-4A2E-B5FB-F03E3281EFEA}"/>
              </a:ext>
            </a:extLst>
          </p:cNvPr>
          <p:cNvSpPr>
            <a:spLocks noGrp="1"/>
          </p:cNvSpPr>
          <p:nvPr>
            <p:ph type="sldNum" sz="quarter" idx="12"/>
          </p:nvPr>
        </p:nvSpPr>
        <p:spPr/>
        <p:txBody>
          <a:bodyPr/>
          <a:lstStyle/>
          <a:p>
            <a:fld id="{BDCDBBEF-AA6C-4BA6-85B2-A17D7F280E38}" type="slidenum">
              <a:rPr lang="en-US" smtClean="0"/>
              <a:t>10</a:t>
            </a:fld>
            <a:endParaRPr lang="en-US"/>
          </a:p>
        </p:txBody>
      </p:sp>
      <p:pic>
        <p:nvPicPr>
          <p:cNvPr id="5" name="Picture 4">
            <a:extLst>
              <a:ext uri="{FF2B5EF4-FFF2-40B4-BE49-F238E27FC236}">
                <a16:creationId xmlns:a16="http://schemas.microsoft.com/office/drawing/2014/main" id="{B764E026-0EBF-4325-AAB6-CFF2006A369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451198" y="1876838"/>
            <a:ext cx="5667375" cy="3742083"/>
          </a:xfrm>
          <a:prstGeom prst="rect">
            <a:avLst/>
          </a:prstGeom>
          <a:ln w="88900" cap="sq" cmpd="thickThin">
            <a:solidFill>
              <a:schemeClr val="accent1"/>
            </a:solidFill>
            <a:prstDash val="solid"/>
            <a:miter lim="800000"/>
          </a:ln>
          <a:effectLst>
            <a:innerShdw blurRad="76200">
              <a:srgbClr val="000000"/>
            </a:innerShdw>
          </a:effectLst>
        </p:spPr>
      </p:pic>
      <p:sp>
        <p:nvSpPr>
          <p:cNvPr id="6" name="Title 1">
            <a:extLst>
              <a:ext uri="{FF2B5EF4-FFF2-40B4-BE49-F238E27FC236}">
                <a16:creationId xmlns:a16="http://schemas.microsoft.com/office/drawing/2014/main" id="{75E7C972-16E4-4A05-B92F-81457AF9B7EF}"/>
              </a:ext>
            </a:extLst>
          </p:cNvPr>
          <p:cNvSpPr>
            <a:spLocks noGrp="1"/>
          </p:cNvSpPr>
          <p:nvPr>
            <p:ph type="title"/>
          </p:nvPr>
        </p:nvSpPr>
        <p:spPr>
          <a:xfrm>
            <a:off x="838200" y="325368"/>
            <a:ext cx="10515600" cy="1172127"/>
          </a:xfrm>
          <a:ln>
            <a:solidFill>
              <a:srgbClr val="C00000"/>
            </a:solidFill>
          </a:ln>
        </p:spPr>
        <p:txBody>
          <a:bodyPr/>
          <a:lstStyle/>
          <a:p>
            <a:pPr algn="ctr"/>
            <a:r>
              <a:rPr lang="en-IN" b="1" dirty="0">
                <a:latin typeface="Casper"/>
              </a:rPr>
              <a:t>QUANTUM DOT </a:t>
            </a:r>
          </a:p>
        </p:txBody>
      </p:sp>
      <p:sp>
        <p:nvSpPr>
          <p:cNvPr id="8" name="TextBox 7">
            <a:extLst>
              <a:ext uri="{FF2B5EF4-FFF2-40B4-BE49-F238E27FC236}">
                <a16:creationId xmlns:a16="http://schemas.microsoft.com/office/drawing/2014/main" id="{9A84C403-78A3-44FC-B837-F7F879ABE4F1}"/>
              </a:ext>
            </a:extLst>
          </p:cNvPr>
          <p:cNvSpPr txBox="1"/>
          <p:nvPr/>
        </p:nvSpPr>
        <p:spPr>
          <a:xfrm>
            <a:off x="4890052" y="5998264"/>
            <a:ext cx="6096000" cy="410882"/>
          </a:xfrm>
          <a:prstGeom prst="rect">
            <a:avLst/>
          </a:prstGeom>
          <a:noFill/>
        </p:spPr>
        <p:txBody>
          <a:bodyPr wrap="square">
            <a:spAutoFit/>
          </a:bodyPr>
          <a:lstStyle/>
          <a:p>
            <a:pPr algn="ctr">
              <a:lnSpc>
                <a:spcPct val="115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IN" dirty="0">
                <a:latin typeface="Times New Roman" panose="02020603050405020304" pitchFamily="18" charset="0"/>
                <a:ea typeface="Calibri" panose="020F0502020204030204" pitchFamily="34" charset="0"/>
                <a:cs typeface="Times New Roman" panose="02020603050405020304" pitchFamily="18" charset="0"/>
              </a:rPr>
              <a:t>5:</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Squeezing all three dimensions in nano sizes [</a:t>
            </a:r>
            <a:r>
              <a:rPr lang="en-IN" dirty="0">
                <a:latin typeface="Times New Roman" panose="02020603050405020304" pitchFamily="18" charset="0"/>
                <a:ea typeface="Calibri" panose="020F0502020204030204" pitchFamily="34" charset="0"/>
                <a:cs typeface="Times New Roman" panose="02020603050405020304" pitchFamily="18" charset="0"/>
              </a:rPr>
              <a:t>5</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60A03BB9-6AF6-4734-9A53-FAC1688B8CE3}"/>
              </a:ext>
            </a:extLst>
          </p:cNvPr>
          <p:cNvSpPr txBox="1"/>
          <p:nvPr/>
        </p:nvSpPr>
        <p:spPr>
          <a:xfrm>
            <a:off x="543339" y="2454845"/>
            <a:ext cx="3697357" cy="1791260"/>
          </a:xfrm>
          <a:prstGeom prst="rect">
            <a:avLst/>
          </a:prstGeom>
          <a:noFill/>
          <a:ln>
            <a:solidFill>
              <a:schemeClr val="accent1"/>
            </a:solidFill>
          </a:ln>
        </p:spPr>
        <p:txBody>
          <a:bodyPr wrap="square">
            <a:spAutoFit/>
          </a:bodyPr>
          <a:lstStyle/>
          <a:p>
            <a:pPr algn="just">
              <a:lnSpc>
                <a:spcPct val="115000"/>
              </a:lnSpc>
              <a:spcAft>
                <a:spcPts val="800"/>
              </a:spcAft>
            </a:pPr>
            <a:r>
              <a:rPr lang="en-IN" sz="2400" dirty="0">
                <a:latin typeface="Casper"/>
                <a:ea typeface="Calibri" panose="020F0502020204030204" pitchFamily="34" charset="0"/>
                <a:cs typeface="Times New Roman" panose="02020603050405020304" pitchFamily="18" charset="0"/>
              </a:rPr>
              <a:t>T</a:t>
            </a:r>
            <a:r>
              <a:rPr lang="en-IN" sz="2400" dirty="0">
                <a:effectLst/>
                <a:latin typeface="Casper"/>
                <a:ea typeface="Calibri" panose="020F0502020204030204" pitchFamily="34" charset="0"/>
                <a:cs typeface="Times New Roman" panose="02020603050405020304" pitchFamily="18" charset="0"/>
              </a:rPr>
              <a:t>he reduction or the confinement in all three dimensions is called a quantum dot.</a:t>
            </a:r>
          </a:p>
        </p:txBody>
      </p:sp>
    </p:spTree>
    <p:extLst>
      <p:ext uri="{BB962C8B-B14F-4D97-AF65-F5344CB8AC3E}">
        <p14:creationId xmlns:p14="http://schemas.microsoft.com/office/powerpoint/2010/main" val="2879198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EB9179-C135-4849-886F-D82FA1F0589A}"/>
              </a:ext>
            </a:extLst>
          </p:cNvPr>
          <p:cNvSpPr>
            <a:spLocks noGrp="1"/>
          </p:cNvSpPr>
          <p:nvPr>
            <p:ph type="sldNum" sz="quarter" idx="12"/>
          </p:nvPr>
        </p:nvSpPr>
        <p:spPr/>
        <p:txBody>
          <a:bodyPr/>
          <a:lstStyle/>
          <a:p>
            <a:fld id="{BDCDBBEF-AA6C-4BA6-85B2-A17D7F280E38}" type="slidenum">
              <a:rPr lang="en-US" smtClean="0"/>
              <a:t>11</a:t>
            </a:fld>
            <a:endParaRPr lang="en-US"/>
          </a:p>
        </p:txBody>
      </p:sp>
      <p:pic>
        <p:nvPicPr>
          <p:cNvPr id="5" name="Content Placeholder 4" descr="Carbon Fullerenes, Lab Chemicals, प्रयोगशाला रसायन ...">
            <a:extLst>
              <a:ext uri="{FF2B5EF4-FFF2-40B4-BE49-F238E27FC236}">
                <a16:creationId xmlns:a16="http://schemas.microsoft.com/office/drawing/2014/main" id="{DAE89F4E-CF12-4B9C-BFB5-7D436FF2B923}"/>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751253"/>
            <a:ext cx="10399643" cy="3589373"/>
          </a:xfrm>
          <a:prstGeom prst="rect">
            <a:avLst/>
          </a:prstGeom>
          <a:ln w="88900" cap="sq" cmpd="thickThin">
            <a:solidFill>
              <a:schemeClr val="accent1"/>
            </a:solidFill>
            <a:prstDash val="solid"/>
            <a:miter lim="800000"/>
          </a:ln>
          <a:effectLst>
            <a:innerShdw blurRad="76200">
              <a:srgbClr val="000000"/>
            </a:innerShdw>
          </a:effectLst>
        </p:spPr>
      </p:pic>
      <p:sp>
        <p:nvSpPr>
          <p:cNvPr id="6" name="Title 1">
            <a:extLst>
              <a:ext uri="{FF2B5EF4-FFF2-40B4-BE49-F238E27FC236}">
                <a16:creationId xmlns:a16="http://schemas.microsoft.com/office/drawing/2014/main" id="{72A213DC-1E88-4AC2-AE17-184286BC7BDD}"/>
              </a:ext>
            </a:extLst>
          </p:cNvPr>
          <p:cNvSpPr>
            <a:spLocks noGrp="1"/>
          </p:cNvSpPr>
          <p:nvPr>
            <p:ph type="title"/>
          </p:nvPr>
        </p:nvSpPr>
        <p:spPr>
          <a:xfrm>
            <a:off x="838200" y="325368"/>
            <a:ext cx="10515600" cy="1172127"/>
          </a:xfrm>
          <a:ln>
            <a:solidFill>
              <a:srgbClr val="C00000"/>
            </a:solidFill>
          </a:ln>
        </p:spPr>
        <p:txBody>
          <a:bodyPr/>
          <a:lstStyle/>
          <a:p>
            <a:pPr algn="ctr"/>
            <a:r>
              <a:rPr lang="en-IN" b="1" dirty="0">
                <a:latin typeface="Casper"/>
              </a:rPr>
              <a:t>FULLERENE </a:t>
            </a:r>
          </a:p>
        </p:txBody>
      </p:sp>
      <p:sp>
        <p:nvSpPr>
          <p:cNvPr id="8" name="TextBox 7">
            <a:extLst>
              <a:ext uri="{FF2B5EF4-FFF2-40B4-BE49-F238E27FC236}">
                <a16:creationId xmlns:a16="http://schemas.microsoft.com/office/drawing/2014/main" id="{C92FFAA7-BB36-44DF-B175-2ED4A61402B5}"/>
              </a:ext>
            </a:extLst>
          </p:cNvPr>
          <p:cNvSpPr txBox="1"/>
          <p:nvPr/>
        </p:nvSpPr>
        <p:spPr>
          <a:xfrm>
            <a:off x="2610678" y="5594384"/>
            <a:ext cx="6096000" cy="390684"/>
          </a:xfrm>
          <a:prstGeom prst="rect">
            <a:avLst/>
          </a:prstGeom>
          <a:noFill/>
        </p:spPr>
        <p:txBody>
          <a:bodyPr wrap="square">
            <a:spAutoFit/>
          </a:bodyPr>
          <a:lstStyle/>
          <a:p>
            <a:pPr algn="ctr">
              <a:lnSpc>
                <a:spcPct val="115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IN" dirty="0">
                <a:latin typeface="Times New Roman" panose="02020603050405020304" pitchFamily="18" charset="0"/>
                <a:ea typeface="Calibri" panose="020F0502020204030204" pitchFamily="34" charset="0"/>
                <a:cs typeface="Times New Roman" panose="02020603050405020304" pitchFamily="18" charset="0"/>
              </a:rPr>
              <a:t>6</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Fullerenes [</a:t>
            </a:r>
            <a:r>
              <a:rPr lang="en-IN" dirty="0">
                <a:latin typeface="Times New Roman" panose="02020603050405020304" pitchFamily="18" charset="0"/>
                <a:ea typeface="Calibri" panose="020F0502020204030204" pitchFamily="34" charset="0"/>
                <a:cs typeface="Times New Roman" panose="02020603050405020304" pitchFamily="18" charset="0"/>
              </a:rPr>
              <a:t>6</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1653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6A744-6BBB-4B4D-8526-FC4FCB26C8F0}"/>
              </a:ext>
            </a:extLst>
          </p:cNvPr>
          <p:cNvSpPr>
            <a:spLocks noGrp="1"/>
          </p:cNvSpPr>
          <p:nvPr>
            <p:ph type="title"/>
          </p:nvPr>
        </p:nvSpPr>
        <p:spPr>
          <a:ln>
            <a:solidFill>
              <a:srgbClr val="C00000"/>
            </a:solidFill>
          </a:ln>
        </p:spPr>
        <p:txBody>
          <a:bodyPr/>
          <a:lstStyle/>
          <a:p>
            <a:pPr algn="ctr"/>
            <a:r>
              <a:rPr lang="en-IN" b="1" dirty="0">
                <a:latin typeface="Casper"/>
              </a:rPr>
              <a:t>TYPES OF NANOMATERIALS</a:t>
            </a:r>
          </a:p>
        </p:txBody>
      </p:sp>
      <p:sp>
        <p:nvSpPr>
          <p:cNvPr id="4" name="Slide Number Placeholder 3">
            <a:extLst>
              <a:ext uri="{FF2B5EF4-FFF2-40B4-BE49-F238E27FC236}">
                <a16:creationId xmlns:a16="http://schemas.microsoft.com/office/drawing/2014/main" id="{BF4E053E-4B76-4447-89DE-D34408021407}"/>
              </a:ext>
            </a:extLst>
          </p:cNvPr>
          <p:cNvSpPr>
            <a:spLocks noGrp="1"/>
          </p:cNvSpPr>
          <p:nvPr>
            <p:ph type="sldNum" sz="quarter" idx="12"/>
          </p:nvPr>
        </p:nvSpPr>
        <p:spPr/>
        <p:txBody>
          <a:bodyPr/>
          <a:lstStyle/>
          <a:p>
            <a:fld id="{BDCDBBEF-AA6C-4BA6-85B2-A17D7F280E38}" type="slidenum">
              <a:rPr lang="en-US" smtClean="0"/>
              <a:t>12</a:t>
            </a:fld>
            <a:endParaRPr lang="en-US"/>
          </a:p>
        </p:txBody>
      </p:sp>
      <p:pic>
        <p:nvPicPr>
          <p:cNvPr id="11266" name="Picture 2" descr="Optical quantum confinement and photocatalytic properties in two ...">
            <a:extLst>
              <a:ext uri="{FF2B5EF4-FFF2-40B4-BE49-F238E27FC236}">
                <a16:creationId xmlns:a16="http://schemas.microsoft.com/office/drawing/2014/main" id="{EB2EDD5E-CB25-4D3A-A563-FEC894FD28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9113" y="2080591"/>
            <a:ext cx="10664687" cy="3327355"/>
          </a:xfrm>
          <a:prstGeom prst="rect">
            <a:avLst/>
          </a:prstGeom>
          <a:ln w="88900" cap="sq" cmpd="thickThin">
            <a:solidFill>
              <a:schemeClr val="accent1"/>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41ABFA0-3755-4F27-B8DB-D1A50BEBD6A8}"/>
              </a:ext>
            </a:extLst>
          </p:cNvPr>
          <p:cNvSpPr txBox="1"/>
          <p:nvPr/>
        </p:nvSpPr>
        <p:spPr>
          <a:xfrm>
            <a:off x="3260034" y="5797849"/>
            <a:ext cx="6798366" cy="369332"/>
          </a:xfrm>
          <a:prstGeom prst="rect">
            <a:avLst/>
          </a:prstGeom>
          <a:noFill/>
        </p:spPr>
        <p:txBody>
          <a:bodyPr wrap="square" rtlCol="0">
            <a:spAutoFit/>
          </a:bodyPr>
          <a:lstStyle/>
          <a:p>
            <a:r>
              <a:rPr lang="en-IN" dirty="0"/>
              <a:t>Figure 7: Classification of nanomaterials on the basis of dimensions [7] </a:t>
            </a:r>
          </a:p>
        </p:txBody>
      </p:sp>
    </p:spTree>
    <p:extLst>
      <p:ext uri="{BB962C8B-B14F-4D97-AF65-F5344CB8AC3E}">
        <p14:creationId xmlns:p14="http://schemas.microsoft.com/office/powerpoint/2010/main" val="1467689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35139-4716-4AB1-BB82-489C6E275F3A}"/>
              </a:ext>
            </a:extLst>
          </p:cNvPr>
          <p:cNvSpPr>
            <a:spLocks noGrp="1"/>
          </p:cNvSpPr>
          <p:nvPr>
            <p:ph idx="1"/>
          </p:nvPr>
        </p:nvSpPr>
        <p:spPr>
          <a:ln>
            <a:solidFill>
              <a:schemeClr val="accent1"/>
            </a:solidFill>
          </a:ln>
        </p:spPr>
        <p:txBody>
          <a:bodyPr>
            <a:normAutofit/>
          </a:bodyPr>
          <a:lstStyle/>
          <a:p>
            <a:pPr algn="just">
              <a:lnSpc>
                <a:spcPct val="115000"/>
              </a:lnSpc>
              <a:spcAft>
                <a:spcPts val="800"/>
              </a:spcAft>
            </a:pPr>
            <a:r>
              <a:rPr lang="en-IN" sz="2400" dirty="0">
                <a:effectLst/>
                <a:latin typeface="Casper" panose="02000506000000020004"/>
                <a:ea typeface="Calibri" panose="020F0502020204030204" pitchFamily="34" charset="0"/>
                <a:cs typeface="Times New Roman" panose="02020603050405020304" pitchFamily="18" charset="0"/>
              </a:rPr>
              <a:t>For example, let us consider a sphere of radius r .</a:t>
            </a:r>
          </a:p>
          <a:p>
            <a:pPr algn="just">
              <a:lnSpc>
                <a:spcPct val="115000"/>
              </a:lnSpc>
              <a:spcAft>
                <a:spcPts val="800"/>
              </a:spcAft>
            </a:pPr>
            <a:r>
              <a:rPr lang="en-IN" sz="2400" dirty="0">
                <a:effectLst/>
                <a:latin typeface="Casper" panose="02000506000000020004"/>
                <a:ea typeface="Calibri" panose="020F0502020204030204" pitchFamily="34" charset="0"/>
                <a:cs typeface="Times New Roman" panose="02020603050405020304" pitchFamily="18" charset="0"/>
              </a:rPr>
              <a:t>The surface area of the sphere will be 4πr </a:t>
            </a:r>
            <a:r>
              <a:rPr lang="en-IN" sz="2400" baseline="30000" dirty="0">
                <a:effectLst/>
                <a:latin typeface="Casper" panose="02000506000000020004"/>
                <a:ea typeface="Calibri" panose="020F0502020204030204" pitchFamily="34" charset="0"/>
                <a:cs typeface="Times New Roman" panose="02020603050405020304" pitchFamily="18" charset="0"/>
              </a:rPr>
              <a:t>2</a:t>
            </a:r>
            <a:r>
              <a:rPr lang="en-IN" sz="2400" dirty="0">
                <a:effectLst/>
                <a:latin typeface="Casper" panose="02000506000000020004"/>
                <a:ea typeface="Calibri" panose="020F0502020204030204" pitchFamily="34" charset="0"/>
                <a:cs typeface="Times New Roman" panose="02020603050405020304" pitchFamily="18" charset="0"/>
              </a:rPr>
              <a:t> </a:t>
            </a:r>
          </a:p>
          <a:p>
            <a:pPr algn="just">
              <a:lnSpc>
                <a:spcPct val="115000"/>
              </a:lnSpc>
              <a:spcAft>
                <a:spcPts val="800"/>
              </a:spcAft>
            </a:pPr>
            <a:r>
              <a:rPr lang="en-IN" sz="2400" dirty="0">
                <a:effectLst/>
                <a:latin typeface="Casper" panose="02000506000000020004"/>
                <a:ea typeface="Calibri" panose="020F0502020204030204" pitchFamily="34" charset="0"/>
                <a:cs typeface="Times New Roman" panose="02020603050405020304" pitchFamily="18" charset="0"/>
              </a:rPr>
              <a:t>The volume of the sphere = 4/3πr </a:t>
            </a:r>
            <a:r>
              <a:rPr lang="en-IN" sz="2400" baseline="30000" dirty="0">
                <a:effectLst/>
                <a:latin typeface="Casper" panose="02000506000000020004"/>
                <a:ea typeface="Calibri" panose="020F0502020204030204" pitchFamily="34" charset="0"/>
                <a:cs typeface="Times New Roman" panose="02020603050405020304" pitchFamily="18" charset="0"/>
              </a:rPr>
              <a:t>3</a:t>
            </a:r>
            <a:r>
              <a:rPr lang="en-IN" sz="2400" dirty="0">
                <a:effectLst/>
                <a:latin typeface="Casper" panose="02000506000000020004"/>
                <a:ea typeface="Calibri" panose="020F0502020204030204" pitchFamily="34" charset="0"/>
                <a:cs typeface="Times New Roman" panose="02020603050405020304" pitchFamily="18" charset="0"/>
              </a:rPr>
              <a:t> </a:t>
            </a:r>
          </a:p>
          <a:p>
            <a:pPr algn="just">
              <a:lnSpc>
                <a:spcPct val="115000"/>
              </a:lnSpc>
              <a:spcAft>
                <a:spcPts val="800"/>
              </a:spcAft>
            </a:pPr>
            <a:r>
              <a:rPr lang="en-IN" sz="2400" dirty="0">
                <a:effectLst/>
                <a:latin typeface="Casper" panose="02000506000000020004"/>
                <a:ea typeface="Calibri" panose="020F0502020204030204" pitchFamily="34" charset="0"/>
                <a:cs typeface="Times New Roman" panose="02020603050405020304" pitchFamily="18" charset="0"/>
              </a:rPr>
              <a:t>Therefore the surface area to the volume ratio will be 4πr </a:t>
            </a:r>
            <a:r>
              <a:rPr lang="en-IN" sz="2400" baseline="30000" dirty="0">
                <a:effectLst/>
                <a:latin typeface="Casper" panose="02000506000000020004"/>
                <a:ea typeface="Calibri" panose="020F0502020204030204" pitchFamily="34" charset="0"/>
                <a:cs typeface="Times New Roman" panose="02020603050405020304" pitchFamily="18" charset="0"/>
              </a:rPr>
              <a:t>2 </a:t>
            </a:r>
            <a:r>
              <a:rPr lang="en-IN" sz="2400" dirty="0">
                <a:effectLst/>
                <a:latin typeface="Casper" panose="02000506000000020004"/>
                <a:ea typeface="Calibri" panose="020F0502020204030204" pitchFamily="34" charset="0"/>
                <a:cs typeface="Times New Roman" panose="02020603050405020304" pitchFamily="18" charset="0"/>
              </a:rPr>
              <a:t>/(4/3πr </a:t>
            </a:r>
            <a:r>
              <a:rPr lang="en-IN" sz="2400" baseline="30000" dirty="0">
                <a:effectLst/>
                <a:latin typeface="Casper" panose="02000506000000020004"/>
                <a:ea typeface="Calibri" panose="020F0502020204030204" pitchFamily="34" charset="0"/>
                <a:cs typeface="Times New Roman" panose="02020603050405020304" pitchFamily="18" charset="0"/>
              </a:rPr>
              <a:t>3</a:t>
            </a:r>
            <a:r>
              <a:rPr lang="en-IN" sz="2400" dirty="0">
                <a:effectLst/>
                <a:latin typeface="Casper" panose="02000506000000020004"/>
                <a:ea typeface="Calibri" panose="020F0502020204030204" pitchFamily="34" charset="0"/>
                <a:cs typeface="Times New Roman" panose="02020603050405020304" pitchFamily="18" charset="0"/>
              </a:rPr>
              <a:t> ) = 3/r </a:t>
            </a:r>
          </a:p>
          <a:p>
            <a:r>
              <a:rPr lang="en-IN" sz="2400" dirty="0">
                <a:effectLst/>
                <a:latin typeface="Casper" panose="02000506000000020004"/>
                <a:ea typeface="Calibri" panose="020F0502020204030204" pitchFamily="34" charset="0"/>
              </a:rPr>
              <a:t>It means that the surface area to volume ratio increases as the radius of the sphere decreases and vice versa</a:t>
            </a:r>
            <a:endParaRPr lang="en-IN" sz="2400" dirty="0">
              <a:latin typeface="Casper" panose="02000506000000020004"/>
            </a:endParaRPr>
          </a:p>
        </p:txBody>
      </p:sp>
      <p:sp>
        <p:nvSpPr>
          <p:cNvPr id="4" name="Slide Number Placeholder 3">
            <a:extLst>
              <a:ext uri="{FF2B5EF4-FFF2-40B4-BE49-F238E27FC236}">
                <a16:creationId xmlns:a16="http://schemas.microsoft.com/office/drawing/2014/main" id="{5F0E93B6-F26A-419F-B379-40D6ED87D6CB}"/>
              </a:ext>
            </a:extLst>
          </p:cNvPr>
          <p:cNvSpPr>
            <a:spLocks noGrp="1"/>
          </p:cNvSpPr>
          <p:nvPr>
            <p:ph type="sldNum" sz="quarter" idx="12"/>
          </p:nvPr>
        </p:nvSpPr>
        <p:spPr/>
        <p:txBody>
          <a:bodyPr/>
          <a:lstStyle/>
          <a:p>
            <a:fld id="{BDCDBBEF-AA6C-4BA6-85B2-A17D7F280E38}" type="slidenum">
              <a:rPr lang="en-US" smtClean="0"/>
              <a:t>13</a:t>
            </a:fld>
            <a:endParaRPr lang="en-US"/>
          </a:p>
        </p:txBody>
      </p:sp>
      <p:sp>
        <p:nvSpPr>
          <p:cNvPr id="8" name="Title 1">
            <a:extLst>
              <a:ext uri="{FF2B5EF4-FFF2-40B4-BE49-F238E27FC236}">
                <a16:creationId xmlns:a16="http://schemas.microsoft.com/office/drawing/2014/main" id="{6808BB74-FF94-4B82-A4A6-716C3D10E3F4}"/>
              </a:ext>
            </a:extLst>
          </p:cNvPr>
          <p:cNvSpPr>
            <a:spLocks noGrp="1"/>
          </p:cNvSpPr>
          <p:nvPr>
            <p:ph type="title"/>
          </p:nvPr>
        </p:nvSpPr>
        <p:spPr>
          <a:xfrm>
            <a:off x="838200" y="325368"/>
            <a:ext cx="10515600" cy="1172127"/>
          </a:xfrm>
          <a:ln>
            <a:solidFill>
              <a:srgbClr val="C00000"/>
            </a:solidFill>
          </a:ln>
        </p:spPr>
        <p:txBody>
          <a:bodyPr/>
          <a:lstStyle/>
          <a:p>
            <a:pPr algn="ctr"/>
            <a:r>
              <a:rPr lang="en-IN" b="1" dirty="0">
                <a:latin typeface="Casper"/>
              </a:rPr>
              <a:t>SURFACE TO VOLUME RATIO </a:t>
            </a:r>
          </a:p>
        </p:txBody>
      </p:sp>
    </p:spTree>
    <p:extLst>
      <p:ext uri="{BB962C8B-B14F-4D97-AF65-F5344CB8AC3E}">
        <p14:creationId xmlns:p14="http://schemas.microsoft.com/office/powerpoint/2010/main" val="2927538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B19D5A-6F7A-4B28-931C-3ED1E8986F51}"/>
              </a:ext>
            </a:extLst>
          </p:cNvPr>
          <p:cNvSpPr>
            <a:spLocks noGrp="1"/>
          </p:cNvSpPr>
          <p:nvPr>
            <p:ph type="sldNum" sz="quarter" idx="12"/>
          </p:nvPr>
        </p:nvSpPr>
        <p:spPr/>
        <p:txBody>
          <a:bodyPr/>
          <a:lstStyle/>
          <a:p>
            <a:fld id="{BDCDBBEF-AA6C-4BA6-85B2-A17D7F280E38}" type="slidenum">
              <a:rPr lang="en-US" smtClean="0"/>
              <a:t>14</a:t>
            </a:fld>
            <a:endParaRPr lang="en-US"/>
          </a:p>
        </p:txBody>
      </p:sp>
      <p:pic>
        <p:nvPicPr>
          <p:cNvPr id="10242" name="Picture 2" descr="CELLS / SURFACE AREA TO VOLUME RATIO - Pathwayz">
            <a:extLst>
              <a:ext uri="{FF2B5EF4-FFF2-40B4-BE49-F238E27FC236}">
                <a16:creationId xmlns:a16="http://schemas.microsoft.com/office/drawing/2014/main" id="{9F23B346-EE2C-4549-9436-201681E3E63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09430" y="1842052"/>
            <a:ext cx="10373139" cy="3710609"/>
          </a:xfrm>
          <a:prstGeom prst="rect">
            <a:avLst/>
          </a:prstGeom>
          <a:ln w="88900" cap="sq" cmpd="thickThin">
            <a:solidFill>
              <a:schemeClr val="accent1"/>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6323E785-7825-41C1-AB7A-7904A042C667}"/>
              </a:ext>
            </a:extLst>
          </p:cNvPr>
          <p:cNvSpPr>
            <a:spLocks noGrp="1"/>
          </p:cNvSpPr>
          <p:nvPr>
            <p:ph type="title"/>
          </p:nvPr>
        </p:nvSpPr>
        <p:spPr>
          <a:xfrm>
            <a:off x="838200" y="325368"/>
            <a:ext cx="10515600" cy="1172127"/>
          </a:xfrm>
          <a:ln>
            <a:solidFill>
              <a:srgbClr val="C00000"/>
            </a:solidFill>
          </a:ln>
        </p:spPr>
        <p:txBody>
          <a:bodyPr/>
          <a:lstStyle/>
          <a:p>
            <a:pPr algn="ctr"/>
            <a:r>
              <a:rPr lang="en-IN" b="1" dirty="0">
                <a:latin typeface="Casper"/>
              </a:rPr>
              <a:t>SURFACE TO VOLUME RATIO </a:t>
            </a:r>
          </a:p>
        </p:txBody>
      </p:sp>
      <p:sp>
        <p:nvSpPr>
          <p:cNvPr id="5" name="TextBox 4">
            <a:extLst>
              <a:ext uri="{FF2B5EF4-FFF2-40B4-BE49-F238E27FC236}">
                <a16:creationId xmlns:a16="http://schemas.microsoft.com/office/drawing/2014/main" id="{2537DBC7-8DA1-43ED-AF79-17AA0504197B}"/>
              </a:ext>
            </a:extLst>
          </p:cNvPr>
          <p:cNvSpPr txBox="1"/>
          <p:nvPr/>
        </p:nvSpPr>
        <p:spPr>
          <a:xfrm>
            <a:off x="2514599" y="5897218"/>
            <a:ext cx="6987210" cy="410882"/>
          </a:xfrm>
          <a:prstGeom prst="rect">
            <a:avLst/>
          </a:prstGeom>
          <a:noFill/>
        </p:spPr>
        <p:txBody>
          <a:bodyPr wrap="square">
            <a:spAutoFit/>
          </a:bodyPr>
          <a:lstStyle/>
          <a:p>
            <a:pPr algn="ctr">
              <a:lnSpc>
                <a:spcPct val="115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IN" dirty="0">
                <a:latin typeface="Times New Roman" panose="02020603050405020304" pitchFamily="18" charset="0"/>
                <a:ea typeface="Calibri" panose="020F0502020204030204" pitchFamily="34" charset="0"/>
                <a:cs typeface="Times New Roman" panose="02020603050405020304" pitchFamily="18" charset="0"/>
              </a:rPr>
              <a:t>8</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Increasing surface to volume ratio from bul</a:t>
            </a:r>
            <a:r>
              <a:rPr lang="en-IN" dirty="0">
                <a:latin typeface="Times New Roman" panose="02020603050405020304" pitchFamily="18" charset="0"/>
                <a:ea typeface="Calibri" panose="020F0502020204030204" pitchFamily="34" charset="0"/>
                <a:cs typeface="Times New Roman" panose="02020603050405020304" pitchFamily="18" charset="0"/>
              </a:rPr>
              <a:t>k to nano size</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dirty="0">
                <a:latin typeface="Times New Roman" panose="02020603050405020304" pitchFamily="18" charset="0"/>
                <a:ea typeface="Calibri" panose="020F0502020204030204" pitchFamily="34" charset="0"/>
                <a:cs typeface="Times New Roman" panose="02020603050405020304" pitchFamily="18" charset="0"/>
              </a:rPr>
              <a:t>8</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32408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9D083-4CA0-424A-B141-D35F2A9B02EC}"/>
              </a:ext>
            </a:extLst>
          </p:cNvPr>
          <p:cNvSpPr>
            <a:spLocks noGrp="1"/>
          </p:cNvSpPr>
          <p:nvPr>
            <p:ph idx="1"/>
          </p:nvPr>
        </p:nvSpPr>
        <p:spPr>
          <a:xfrm>
            <a:off x="838199" y="1719263"/>
            <a:ext cx="3680792" cy="4457700"/>
          </a:xfrm>
          <a:ln>
            <a:solidFill>
              <a:schemeClr val="accent1"/>
            </a:solidFill>
          </a:ln>
        </p:spPr>
        <p:txBody>
          <a:bodyPr>
            <a:normAutofit lnSpcReduction="10000"/>
          </a:bodyPr>
          <a:lstStyle/>
          <a:p>
            <a:pPr marL="0" indent="0" algn="just">
              <a:buNone/>
            </a:pPr>
            <a:r>
              <a:rPr lang="en-IN"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Electron confinement or quantum confinement is another process that occurs in nanoparticles. We know that when atoms are isolated, then their energy levels are discrete but when they are in packed form and in large numbers (in solid form), the energy levels split and form bands (band means group of levels). Nanoparticles represents intermediate stage.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A6D745E9-260D-422F-99E0-D300BDA613A9}"/>
              </a:ext>
            </a:extLst>
          </p:cNvPr>
          <p:cNvSpPr>
            <a:spLocks noGrp="1"/>
          </p:cNvSpPr>
          <p:nvPr>
            <p:ph type="sldNum" sz="quarter" idx="12"/>
          </p:nvPr>
        </p:nvSpPr>
        <p:spPr/>
        <p:txBody>
          <a:bodyPr/>
          <a:lstStyle/>
          <a:p>
            <a:fld id="{BDCDBBEF-AA6C-4BA6-85B2-A17D7F280E38}" type="slidenum">
              <a:rPr lang="en-US" smtClean="0"/>
              <a:t>15</a:t>
            </a:fld>
            <a:endParaRPr lang="en-US"/>
          </a:p>
        </p:txBody>
      </p:sp>
      <p:sp>
        <p:nvSpPr>
          <p:cNvPr id="5" name="Title 1">
            <a:extLst>
              <a:ext uri="{FF2B5EF4-FFF2-40B4-BE49-F238E27FC236}">
                <a16:creationId xmlns:a16="http://schemas.microsoft.com/office/drawing/2014/main" id="{3A6A5408-09C6-4077-B4E3-C35EE9435361}"/>
              </a:ext>
            </a:extLst>
          </p:cNvPr>
          <p:cNvSpPr>
            <a:spLocks noGrp="1"/>
          </p:cNvSpPr>
          <p:nvPr>
            <p:ph type="title"/>
          </p:nvPr>
        </p:nvSpPr>
        <p:spPr>
          <a:xfrm>
            <a:off x="838200" y="325368"/>
            <a:ext cx="10515600" cy="1172127"/>
          </a:xfrm>
          <a:ln>
            <a:solidFill>
              <a:srgbClr val="C00000"/>
            </a:solidFill>
          </a:ln>
        </p:spPr>
        <p:txBody>
          <a:bodyPr/>
          <a:lstStyle/>
          <a:p>
            <a:pPr algn="ctr"/>
            <a:r>
              <a:rPr lang="en-IN" b="1" dirty="0">
                <a:latin typeface="Casper"/>
              </a:rPr>
              <a:t>QUANTUM CONFINEMENT </a:t>
            </a:r>
          </a:p>
        </p:txBody>
      </p:sp>
      <p:pic>
        <p:nvPicPr>
          <p:cNvPr id="12290" name="Picture 2" descr="Quantum Dot Fundamentals | Samsung Display PID">
            <a:extLst>
              <a:ext uri="{FF2B5EF4-FFF2-40B4-BE49-F238E27FC236}">
                <a16:creationId xmlns:a16="http://schemas.microsoft.com/office/drawing/2014/main" id="{2EE3771A-702C-439F-9D9A-99F02A4CD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0296" y="1719263"/>
            <a:ext cx="6503504" cy="4058685"/>
          </a:xfrm>
          <a:prstGeom prst="rect">
            <a:avLst/>
          </a:prstGeom>
          <a:ln w="88900" cap="sq" cmpd="thickThin">
            <a:solidFill>
              <a:schemeClr val="accent1"/>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0D7B933-8837-4616-BE12-0E4D0D427358}"/>
              </a:ext>
            </a:extLst>
          </p:cNvPr>
          <p:cNvSpPr txBox="1"/>
          <p:nvPr/>
        </p:nvSpPr>
        <p:spPr>
          <a:xfrm>
            <a:off x="5764695" y="6176963"/>
            <a:ext cx="5420139" cy="369332"/>
          </a:xfrm>
          <a:prstGeom prst="rect">
            <a:avLst/>
          </a:prstGeom>
          <a:noFill/>
        </p:spPr>
        <p:txBody>
          <a:bodyPr wrap="square" rtlCol="0">
            <a:spAutoFit/>
          </a:bodyPr>
          <a:lstStyle/>
          <a:p>
            <a:r>
              <a:rPr lang="en-IN" dirty="0"/>
              <a:t>Figure 9: Increasing band gap as size decreases [9]</a:t>
            </a:r>
          </a:p>
        </p:txBody>
      </p:sp>
    </p:spTree>
    <p:extLst>
      <p:ext uri="{BB962C8B-B14F-4D97-AF65-F5344CB8AC3E}">
        <p14:creationId xmlns:p14="http://schemas.microsoft.com/office/powerpoint/2010/main" val="2764387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7A1D05-7565-4D36-8F44-21B93B68247A}"/>
              </a:ext>
            </a:extLst>
          </p:cNvPr>
          <p:cNvSpPr>
            <a:spLocks noGrp="1"/>
          </p:cNvSpPr>
          <p:nvPr>
            <p:ph type="sldNum" sz="quarter" idx="12"/>
          </p:nvPr>
        </p:nvSpPr>
        <p:spPr/>
        <p:txBody>
          <a:bodyPr/>
          <a:lstStyle/>
          <a:p>
            <a:fld id="{BDCDBBEF-AA6C-4BA6-85B2-A17D7F280E38}" type="slidenum">
              <a:rPr lang="en-US" smtClean="0"/>
              <a:t>16</a:t>
            </a:fld>
            <a:endParaRPr lang="en-US"/>
          </a:p>
        </p:txBody>
      </p:sp>
      <p:sp>
        <p:nvSpPr>
          <p:cNvPr id="5" name="Title 1">
            <a:extLst>
              <a:ext uri="{FF2B5EF4-FFF2-40B4-BE49-F238E27FC236}">
                <a16:creationId xmlns:a16="http://schemas.microsoft.com/office/drawing/2014/main" id="{A61E1182-C5AA-4F02-A259-A0997E14BDAF}"/>
              </a:ext>
            </a:extLst>
          </p:cNvPr>
          <p:cNvSpPr>
            <a:spLocks noGrp="1"/>
          </p:cNvSpPr>
          <p:nvPr>
            <p:ph type="title"/>
          </p:nvPr>
        </p:nvSpPr>
        <p:spPr>
          <a:xfrm>
            <a:off x="838200" y="325368"/>
            <a:ext cx="10515600" cy="1675710"/>
          </a:xfrm>
          <a:ln>
            <a:solidFill>
              <a:srgbClr val="C00000"/>
            </a:solidFill>
          </a:ln>
        </p:spPr>
        <p:txBody>
          <a:bodyPr>
            <a:noAutofit/>
          </a:bodyPr>
          <a:lstStyle/>
          <a:p>
            <a:pPr algn="ctr"/>
            <a:r>
              <a:rPr lang="en-IN" b="1" dirty="0">
                <a:effectLst/>
                <a:latin typeface="Times New Roman" panose="02020603050405020304" pitchFamily="18" charset="0"/>
                <a:ea typeface="Calibri" panose="020F0502020204030204" pitchFamily="34" charset="0"/>
                <a:cs typeface="Times New Roman" panose="02020603050405020304" pitchFamily="18" charset="0"/>
              </a:rPr>
              <a:t>Achieving superhydrophobic/antibiofouling surfaces </a:t>
            </a:r>
            <a:br>
              <a:rPr lang="en-IN" dirty="0">
                <a:effectLst/>
                <a:latin typeface="Calibri" panose="020F0502020204030204" pitchFamily="34" charset="0"/>
                <a:ea typeface="Calibri" panose="020F0502020204030204" pitchFamily="34" charset="0"/>
                <a:cs typeface="Times New Roman" panose="02020603050405020304" pitchFamily="18" charset="0"/>
              </a:rPr>
            </a:br>
            <a:r>
              <a:rPr lang="en-IN" b="1" dirty="0">
                <a:latin typeface="Casper"/>
              </a:rPr>
              <a:t> </a:t>
            </a:r>
          </a:p>
        </p:txBody>
      </p:sp>
      <p:pic>
        <p:nvPicPr>
          <p:cNvPr id="6" name="Content Placeholder 5" descr="Water Bounces Right Off This Super-Repellent Material | Live Science">
            <a:extLst>
              <a:ext uri="{FF2B5EF4-FFF2-40B4-BE49-F238E27FC236}">
                <a16:creationId xmlns:a16="http://schemas.microsoft.com/office/drawing/2014/main" id="{19E3CC31-B833-4A9C-9485-A01391F90441}"/>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7724" y="2284280"/>
            <a:ext cx="3437594" cy="3029841"/>
          </a:xfrm>
          <a:prstGeom prst="rect">
            <a:avLst/>
          </a:prstGeom>
          <a:ln w="88900" cap="sq" cmpd="thickThin">
            <a:solidFill>
              <a:schemeClr val="accent1"/>
            </a:solidFill>
            <a:prstDash val="solid"/>
            <a:miter lim="800000"/>
          </a:ln>
          <a:effectLst>
            <a:innerShdw blurRad="76200">
              <a:srgbClr val="000000"/>
            </a:innerShdw>
          </a:effectLst>
        </p:spPr>
      </p:pic>
      <p:sp>
        <p:nvSpPr>
          <p:cNvPr id="8" name="TextBox 7">
            <a:extLst>
              <a:ext uri="{FF2B5EF4-FFF2-40B4-BE49-F238E27FC236}">
                <a16:creationId xmlns:a16="http://schemas.microsoft.com/office/drawing/2014/main" id="{C8F8243B-2C10-49C8-B07D-9B01A65CC070}"/>
              </a:ext>
            </a:extLst>
          </p:cNvPr>
          <p:cNvSpPr txBox="1"/>
          <p:nvPr/>
        </p:nvSpPr>
        <p:spPr>
          <a:xfrm>
            <a:off x="586409" y="2151759"/>
            <a:ext cx="6675782" cy="3463320"/>
          </a:xfrm>
          <a:prstGeom prst="rect">
            <a:avLst/>
          </a:prstGeom>
          <a:noFill/>
          <a:ln>
            <a:solidFill>
              <a:schemeClr val="accent1"/>
            </a:solidFill>
          </a:ln>
        </p:spPr>
        <p:txBody>
          <a:bodyPr wrap="square">
            <a:spAutoFit/>
          </a:bodyPr>
          <a:lstStyle/>
          <a:p>
            <a:pPr algn="just">
              <a:lnSpc>
                <a:spcPct val="115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Nanoscale surface roughness enhances material properties like hydrophilicity or hydrophobicity, which is otherwise unattainable (by exploring different materials). The phenomenon of super hydrophobicity relies on achieving Cassie Baxter state (allowing support of water droplet on nano-roughness, without actually wetting the entire surface).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D1131D39-ECFA-4928-9044-5366A0A832A0}"/>
              </a:ext>
            </a:extLst>
          </p:cNvPr>
          <p:cNvSpPr txBox="1"/>
          <p:nvPr/>
        </p:nvSpPr>
        <p:spPr>
          <a:xfrm>
            <a:off x="5155096" y="5898281"/>
            <a:ext cx="6096000" cy="390684"/>
          </a:xfrm>
          <a:prstGeom prst="rect">
            <a:avLst/>
          </a:prstGeom>
          <a:noFill/>
        </p:spPr>
        <p:txBody>
          <a:bodyPr wrap="square">
            <a:spAutoFit/>
          </a:bodyPr>
          <a:lstStyle/>
          <a:p>
            <a:pPr algn="ctr">
              <a:lnSpc>
                <a:spcPct val="115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Figure 10: Water bounces off from water repellent surface [10]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12289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A8A21D4-A45A-470D-961A-189C05611C7D}"/>
              </a:ext>
            </a:extLst>
          </p:cNvPr>
          <p:cNvSpPr>
            <a:spLocks noGrp="1"/>
          </p:cNvSpPr>
          <p:nvPr>
            <p:ph type="sldNum" sz="quarter" idx="12"/>
          </p:nvPr>
        </p:nvSpPr>
        <p:spPr/>
        <p:txBody>
          <a:bodyPr/>
          <a:lstStyle/>
          <a:p>
            <a:fld id="{BDCDBBEF-AA6C-4BA6-85B2-A17D7F280E38}" type="slidenum">
              <a:rPr lang="en-US" smtClean="0"/>
              <a:t>17</a:t>
            </a:fld>
            <a:endParaRPr lang="en-US"/>
          </a:p>
        </p:txBody>
      </p:sp>
      <p:sp>
        <p:nvSpPr>
          <p:cNvPr id="5" name="Title 1">
            <a:extLst>
              <a:ext uri="{FF2B5EF4-FFF2-40B4-BE49-F238E27FC236}">
                <a16:creationId xmlns:a16="http://schemas.microsoft.com/office/drawing/2014/main" id="{194DC745-4456-4D01-931E-E3ADCC71D7B8}"/>
              </a:ext>
            </a:extLst>
          </p:cNvPr>
          <p:cNvSpPr>
            <a:spLocks noGrp="1"/>
          </p:cNvSpPr>
          <p:nvPr>
            <p:ph type="title"/>
          </p:nvPr>
        </p:nvSpPr>
        <p:spPr>
          <a:xfrm>
            <a:off x="838200" y="325368"/>
            <a:ext cx="10515600" cy="1026354"/>
          </a:xfrm>
          <a:ln>
            <a:solidFill>
              <a:srgbClr val="C00000"/>
            </a:solidFill>
          </a:ln>
        </p:spPr>
        <p:txBody>
          <a:bodyPr>
            <a:noAutofit/>
          </a:bodyPr>
          <a:lstStyle/>
          <a:p>
            <a:pPr algn="ctr"/>
            <a:br>
              <a:rPr lang="en-IN" b="1" dirty="0">
                <a:effectLst/>
                <a:latin typeface="Casper"/>
                <a:ea typeface="Calibri" panose="020F0502020204030204" pitchFamily="34" charset="0"/>
                <a:cs typeface="Times New Roman" panose="02020603050405020304" pitchFamily="18" charset="0"/>
              </a:rPr>
            </a:br>
            <a:r>
              <a:rPr lang="en-IN" b="1" dirty="0">
                <a:effectLst/>
                <a:latin typeface="Casper"/>
                <a:ea typeface="Calibri" panose="020F0502020204030204" pitchFamily="34" charset="0"/>
                <a:cs typeface="Times New Roman" panose="02020603050405020304" pitchFamily="18" charset="0"/>
              </a:rPr>
              <a:t>TARGETED DRUG DELIVERY </a:t>
            </a:r>
            <a:br>
              <a:rPr lang="en-IN" dirty="0">
                <a:effectLst/>
                <a:latin typeface="Casper"/>
                <a:ea typeface="Calibri" panose="020F0502020204030204" pitchFamily="34" charset="0"/>
                <a:cs typeface="Times New Roman" panose="02020603050405020304" pitchFamily="18" charset="0"/>
              </a:rPr>
            </a:br>
            <a:endParaRPr lang="en-IN" b="1" dirty="0">
              <a:latin typeface="Casper"/>
            </a:endParaRPr>
          </a:p>
        </p:txBody>
      </p:sp>
      <p:pic>
        <p:nvPicPr>
          <p:cNvPr id="6" name="Content Placeholder 5" descr="Targeted drug delivery system">
            <a:extLst>
              <a:ext uri="{FF2B5EF4-FFF2-40B4-BE49-F238E27FC236}">
                <a16:creationId xmlns:a16="http://schemas.microsoft.com/office/drawing/2014/main" id="{0C7E7B80-7861-4973-A7C0-AE119EFD435B}"/>
              </a:ext>
            </a:extLst>
          </p:cNvPr>
          <p:cNvPicPr>
            <a:picLocks noGrp="1"/>
          </p:cNvPicPr>
          <p:nvPr>
            <p:ph idx="1"/>
          </p:nvPr>
        </p:nvPicPr>
        <p:blipFill rotWithShape="1">
          <a:blip r:embed="rId2">
            <a:extLst>
              <a:ext uri="{28A0092B-C50C-407E-A947-70E740481C1C}">
                <a14:useLocalDpi xmlns:a14="http://schemas.microsoft.com/office/drawing/2010/main" val="0"/>
              </a:ext>
            </a:extLst>
          </a:blip>
          <a:srcRect l="8476" t="34272" r="12918" b="21410"/>
          <a:stretch/>
        </p:blipFill>
        <p:spPr bwMode="auto">
          <a:xfrm>
            <a:off x="5603614" y="2262621"/>
            <a:ext cx="5750186" cy="2332757"/>
          </a:xfrm>
          <a:prstGeom prst="rect">
            <a:avLst/>
          </a:prstGeom>
          <a:ln w="88900" cap="sq" cmpd="thickThin">
            <a:solidFill>
              <a:schemeClr val="accent1"/>
            </a:solidFill>
            <a:prstDash val="solid"/>
            <a:miter lim="800000"/>
          </a:ln>
          <a:effectLst>
            <a:innerShdw blurRad="76200">
              <a:srgbClr val="000000"/>
            </a:innerShdw>
          </a:effectLst>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8F9136D9-D1EE-4D51-BDC9-5614C810CC27}"/>
              </a:ext>
            </a:extLst>
          </p:cNvPr>
          <p:cNvSpPr txBox="1"/>
          <p:nvPr/>
        </p:nvSpPr>
        <p:spPr>
          <a:xfrm>
            <a:off x="5075583" y="5069951"/>
            <a:ext cx="6096000" cy="832023"/>
          </a:xfrm>
          <a:prstGeom prst="rect">
            <a:avLst/>
          </a:prstGeom>
          <a:noFill/>
        </p:spPr>
        <p:txBody>
          <a:bodyPr wrap="square">
            <a:spAutoFit/>
          </a:bodyPr>
          <a:lstStyle/>
          <a:p>
            <a:pPr algn="ctr">
              <a:lnSpc>
                <a:spcPct val="115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Figure 11: Target drug delivery system [11]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A1D7A3BC-6F0A-453E-981A-11E0C159FE78}"/>
              </a:ext>
            </a:extLst>
          </p:cNvPr>
          <p:cNvSpPr txBox="1"/>
          <p:nvPr/>
        </p:nvSpPr>
        <p:spPr>
          <a:xfrm>
            <a:off x="728869" y="1788049"/>
            <a:ext cx="4479235" cy="4312784"/>
          </a:xfrm>
          <a:prstGeom prst="rect">
            <a:avLst/>
          </a:prstGeom>
          <a:noFill/>
          <a:ln>
            <a:solidFill>
              <a:schemeClr val="accent1"/>
            </a:solidFill>
          </a:ln>
        </p:spPr>
        <p:txBody>
          <a:bodyPr wrap="square">
            <a:spAutoFit/>
          </a:bodyPr>
          <a:lstStyle/>
          <a:p>
            <a:pPr algn="just">
              <a:lnSpc>
                <a:spcPct val="115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Nanoparticles can be loaded with specific sensor and drug molecule(s). The drug can be transported to the required site through blood stream. On detection of the affected tissue/cells/area by the functionalized surface group the drug is released locally on desired target (targeted drug delivery).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42137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B832DB-B07C-417E-9559-553170CD9A7D}"/>
              </a:ext>
            </a:extLst>
          </p:cNvPr>
          <p:cNvSpPr>
            <a:spLocks noGrp="1"/>
          </p:cNvSpPr>
          <p:nvPr>
            <p:ph idx="1"/>
          </p:nvPr>
        </p:nvSpPr>
        <p:spPr>
          <a:ln>
            <a:solidFill>
              <a:schemeClr val="accent1"/>
            </a:solidFill>
          </a:ln>
        </p:spPr>
        <p:txBody>
          <a:bodyPr>
            <a:normAutofit/>
          </a:bodyPr>
          <a:lstStyle/>
          <a:p>
            <a:pPr algn="just"/>
            <a:r>
              <a:rPr lang="en-IN" sz="2400" dirty="0">
                <a:effectLst/>
                <a:latin typeface="Casper"/>
                <a:ea typeface="Calibri" panose="020F0502020204030204" pitchFamily="34" charset="0"/>
              </a:rPr>
              <a:t>Ferromagnetic materials consist of magnetic domains within which the spins are parallel. When the particle size is reduced to very small sizes (typically less than 20 nm) the entire particle becomes a single domain. On further reduction in size (about less than 5 nm) the spins get thermally disordered in the absence of magnetic fields. When an external magnetic field is applied the spins are able to align in the direction of applied magnetic field, making them behave as super paramagnets (i.e., in the absence of external field the particle is paramagnetic and in the presence of a field all the spins are aligned in parallel, leading to a large increase in magnetization). This is an interesting example in which a ferromagnetic material in bulk behaves like a paramagnet when particle size is made very small. </a:t>
            </a:r>
            <a:endParaRPr lang="en-IN" sz="2400" dirty="0">
              <a:latin typeface="Casper"/>
            </a:endParaRPr>
          </a:p>
        </p:txBody>
      </p:sp>
      <p:sp>
        <p:nvSpPr>
          <p:cNvPr id="4" name="Slide Number Placeholder 3">
            <a:extLst>
              <a:ext uri="{FF2B5EF4-FFF2-40B4-BE49-F238E27FC236}">
                <a16:creationId xmlns:a16="http://schemas.microsoft.com/office/drawing/2014/main" id="{693F58CA-A3AA-483A-92ED-7FDA7C11A38A}"/>
              </a:ext>
            </a:extLst>
          </p:cNvPr>
          <p:cNvSpPr>
            <a:spLocks noGrp="1"/>
          </p:cNvSpPr>
          <p:nvPr>
            <p:ph type="sldNum" sz="quarter" idx="12"/>
          </p:nvPr>
        </p:nvSpPr>
        <p:spPr/>
        <p:txBody>
          <a:bodyPr/>
          <a:lstStyle/>
          <a:p>
            <a:fld id="{BDCDBBEF-AA6C-4BA6-85B2-A17D7F280E38}" type="slidenum">
              <a:rPr lang="en-US" smtClean="0"/>
              <a:t>18</a:t>
            </a:fld>
            <a:endParaRPr lang="en-US"/>
          </a:p>
        </p:txBody>
      </p:sp>
      <p:sp>
        <p:nvSpPr>
          <p:cNvPr id="5" name="Title 1">
            <a:extLst>
              <a:ext uri="{FF2B5EF4-FFF2-40B4-BE49-F238E27FC236}">
                <a16:creationId xmlns:a16="http://schemas.microsoft.com/office/drawing/2014/main" id="{47618AB9-F788-4B23-BF4D-5B336AB25076}"/>
              </a:ext>
            </a:extLst>
          </p:cNvPr>
          <p:cNvSpPr>
            <a:spLocks noGrp="1"/>
          </p:cNvSpPr>
          <p:nvPr>
            <p:ph type="title"/>
          </p:nvPr>
        </p:nvSpPr>
        <p:spPr>
          <a:xfrm>
            <a:off x="838200" y="325368"/>
            <a:ext cx="10515600" cy="1026354"/>
          </a:xfrm>
          <a:ln>
            <a:solidFill>
              <a:srgbClr val="C00000"/>
            </a:solidFill>
          </a:ln>
        </p:spPr>
        <p:txBody>
          <a:bodyPr>
            <a:noAutofit/>
          </a:bodyPr>
          <a:lstStyle/>
          <a:p>
            <a:pPr algn="ctr"/>
            <a:br>
              <a:rPr lang="en-IN" dirty="0">
                <a:effectLst/>
                <a:latin typeface="Casper"/>
                <a:ea typeface="Calibri" panose="020F0502020204030204" pitchFamily="34" charset="0"/>
                <a:cs typeface="Times New Roman" panose="02020603050405020304" pitchFamily="18" charset="0"/>
              </a:rPr>
            </a:br>
            <a:r>
              <a:rPr lang="en-IN" b="1" dirty="0">
                <a:effectLst/>
                <a:latin typeface="Casper"/>
                <a:ea typeface="Calibri" panose="020F0502020204030204" pitchFamily="34" charset="0"/>
                <a:cs typeface="Times New Roman" panose="02020603050405020304" pitchFamily="18" charset="0"/>
              </a:rPr>
              <a:t>SUPERPARAMAGNETIC</a:t>
            </a: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b="1" dirty="0">
              <a:latin typeface="Casper"/>
            </a:endParaRPr>
          </a:p>
        </p:txBody>
      </p:sp>
    </p:spTree>
    <p:extLst>
      <p:ext uri="{BB962C8B-B14F-4D97-AF65-F5344CB8AC3E}">
        <p14:creationId xmlns:p14="http://schemas.microsoft.com/office/powerpoint/2010/main" val="2888510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863BE5C-2B7B-4DD9-9558-38AA6159B476}"/>
              </a:ext>
            </a:extLst>
          </p:cNvPr>
          <p:cNvSpPr>
            <a:spLocks noGrp="1"/>
          </p:cNvSpPr>
          <p:nvPr>
            <p:ph type="sldNum" sz="quarter" idx="12"/>
          </p:nvPr>
        </p:nvSpPr>
        <p:spPr/>
        <p:txBody>
          <a:bodyPr/>
          <a:lstStyle/>
          <a:p>
            <a:fld id="{BDCDBBEF-AA6C-4BA6-85B2-A17D7F280E38}" type="slidenum">
              <a:rPr lang="en-US" smtClean="0"/>
              <a:t>19</a:t>
            </a:fld>
            <a:endParaRPr lang="en-US"/>
          </a:p>
        </p:txBody>
      </p:sp>
      <p:sp>
        <p:nvSpPr>
          <p:cNvPr id="5" name="Title 1">
            <a:extLst>
              <a:ext uri="{FF2B5EF4-FFF2-40B4-BE49-F238E27FC236}">
                <a16:creationId xmlns:a16="http://schemas.microsoft.com/office/drawing/2014/main" id="{EC4F9D02-6F04-418E-ABA3-612AF1EA543A}"/>
              </a:ext>
            </a:extLst>
          </p:cNvPr>
          <p:cNvSpPr>
            <a:spLocks noGrp="1"/>
          </p:cNvSpPr>
          <p:nvPr>
            <p:ph type="title"/>
          </p:nvPr>
        </p:nvSpPr>
        <p:spPr>
          <a:xfrm>
            <a:off x="838200" y="325368"/>
            <a:ext cx="10515600" cy="1026354"/>
          </a:xfrm>
          <a:ln>
            <a:solidFill>
              <a:srgbClr val="C00000"/>
            </a:solidFill>
          </a:ln>
        </p:spPr>
        <p:txBody>
          <a:bodyPr>
            <a:noAutofit/>
          </a:bodyPr>
          <a:lstStyle/>
          <a:p>
            <a:pPr algn="ctr"/>
            <a:br>
              <a:rPr lang="en-IN" dirty="0">
                <a:effectLst/>
                <a:latin typeface="Casper"/>
                <a:ea typeface="Calibri" panose="020F0502020204030204" pitchFamily="34" charset="0"/>
                <a:cs typeface="Times New Roman" panose="02020603050405020304" pitchFamily="18" charset="0"/>
              </a:rPr>
            </a:br>
            <a:r>
              <a:rPr lang="en-IN" b="1" dirty="0">
                <a:effectLst/>
                <a:latin typeface="Casper"/>
                <a:ea typeface="Calibri" panose="020F0502020204030204" pitchFamily="34" charset="0"/>
                <a:cs typeface="Times New Roman" panose="02020603050405020304" pitchFamily="18" charset="0"/>
              </a:rPr>
              <a:t>SUPERPARAMAGNETIC</a:t>
            </a: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b="1" dirty="0">
              <a:latin typeface="Casper"/>
            </a:endParaRPr>
          </a:p>
        </p:txBody>
      </p:sp>
      <p:pic>
        <p:nvPicPr>
          <p:cNvPr id="6" name="Content Placeholder 5" descr="Superparamagnetic iron oxide nanoparticles for drug delivery ...">
            <a:extLst>
              <a:ext uri="{FF2B5EF4-FFF2-40B4-BE49-F238E27FC236}">
                <a16:creationId xmlns:a16="http://schemas.microsoft.com/office/drawing/2014/main" id="{226F449E-6718-4708-88DA-DB08A4EA5AD3}"/>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9930" y="1855304"/>
            <a:ext cx="10253870" cy="3657599"/>
          </a:xfrm>
          <a:prstGeom prst="rect">
            <a:avLst/>
          </a:prstGeom>
          <a:ln w="88900" cap="sq" cmpd="thickThin">
            <a:solidFill>
              <a:schemeClr val="accent1"/>
            </a:solidFill>
            <a:prstDash val="solid"/>
            <a:miter lim="800000"/>
          </a:ln>
          <a:effectLst>
            <a:innerShdw blurRad="76200">
              <a:srgbClr val="000000"/>
            </a:innerShdw>
          </a:effectLst>
        </p:spPr>
      </p:pic>
      <p:sp>
        <p:nvSpPr>
          <p:cNvPr id="8" name="TextBox 7">
            <a:extLst>
              <a:ext uri="{FF2B5EF4-FFF2-40B4-BE49-F238E27FC236}">
                <a16:creationId xmlns:a16="http://schemas.microsoft.com/office/drawing/2014/main" id="{55A80DD0-D572-465D-A739-8F820E83305B}"/>
              </a:ext>
            </a:extLst>
          </p:cNvPr>
          <p:cNvSpPr txBox="1"/>
          <p:nvPr/>
        </p:nvSpPr>
        <p:spPr>
          <a:xfrm>
            <a:off x="2514600" y="5821143"/>
            <a:ext cx="6864178" cy="410882"/>
          </a:xfrm>
          <a:prstGeom prst="rect">
            <a:avLst/>
          </a:prstGeom>
          <a:noFill/>
        </p:spPr>
        <p:txBody>
          <a:bodyPr wrap="square">
            <a:spAutoFit/>
          </a:bodyPr>
          <a:lstStyle/>
          <a:p>
            <a:pPr algn="ctr">
              <a:lnSpc>
                <a:spcPct val="115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Figure 12: Hysteresis curve for different magnetic materials [12]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29271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4B7F-BB40-4D24-99D8-C438CA712170}"/>
              </a:ext>
            </a:extLst>
          </p:cNvPr>
          <p:cNvSpPr>
            <a:spLocks noGrp="1"/>
          </p:cNvSpPr>
          <p:nvPr>
            <p:ph type="title"/>
          </p:nvPr>
        </p:nvSpPr>
        <p:spPr>
          <a:xfrm>
            <a:off x="2252870" y="365125"/>
            <a:ext cx="9100930" cy="854075"/>
          </a:xfrm>
          <a:ln>
            <a:solidFill>
              <a:srgbClr val="C00000"/>
            </a:solidFill>
          </a:ln>
        </p:spPr>
        <p:txBody>
          <a:bodyPr/>
          <a:lstStyle/>
          <a:p>
            <a:pPr algn="ctr"/>
            <a:r>
              <a:rPr lang="en-IN" b="1" dirty="0">
                <a:latin typeface="Casper"/>
              </a:rPr>
              <a:t>SUMMARY</a:t>
            </a:r>
          </a:p>
        </p:txBody>
      </p:sp>
      <p:sp>
        <p:nvSpPr>
          <p:cNvPr id="3" name="Content Placeholder 2">
            <a:extLst>
              <a:ext uri="{FF2B5EF4-FFF2-40B4-BE49-F238E27FC236}">
                <a16:creationId xmlns:a16="http://schemas.microsoft.com/office/drawing/2014/main" id="{0C2FBA89-890C-4739-85AE-064FE4830602}"/>
              </a:ext>
            </a:extLst>
          </p:cNvPr>
          <p:cNvSpPr>
            <a:spLocks noGrp="1"/>
          </p:cNvSpPr>
          <p:nvPr>
            <p:ph idx="1"/>
          </p:nvPr>
        </p:nvSpPr>
        <p:spPr>
          <a:xfrm>
            <a:off x="838200" y="1444486"/>
            <a:ext cx="11022496" cy="4911863"/>
          </a:xfrm>
          <a:ln>
            <a:solidFill>
              <a:schemeClr val="accent1"/>
            </a:solidFill>
          </a:ln>
        </p:spPr>
        <p:txBody>
          <a:bodyPr>
            <a:normAutofit fontScale="92500" lnSpcReduction="10000"/>
          </a:bodyPr>
          <a:lstStyle/>
          <a:p>
            <a:pPr marL="342900" lvl="0" indent="-342900" algn="just">
              <a:lnSpc>
                <a:spcPct val="115000"/>
              </a:lnSpc>
              <a:buFont typeface="Wingdings" panose="05000000000000000000" pitchFamily="2" charset="2"/>
              <a:buChar char=""/>
              <a:tabLst>
                <a:tab pos="1980565" algn="l"/>
              </a:tabLst>
            </a:pPr>
            <a:r>
              <a:rPr lang="en-IN" sz="2400" dirty="0">
                <a:solidFill>
                  <a:srgbClr val="000000"/>
                </a:solidFill>
                <a:effectLst/>
                <a:latin typeface="Casper" panose="02000506000000020004"/>
                <a:ea typeface="Calibri" panose="020F0502020204030204" pitchFamily="34" charset="0"/>
                <a:cs typeface="Times New Roman" panose="02020603050405020304" pitchFamily="18" charset="0"/>
              </a:rPr>
              <a:t>Nanomaterials can be used to produce giant magnets</a:t>
            </a:r>
            <a:endParaRPr lang="en-IN" sz="2400" dirty="0">
              <a:effectLst/>
              <a:latin typeface="Casper" panose="02000506000000020004"/>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tabLst>
                <a:tab pos="1980565" algn="l"/>
              </a:tabLst>
            </a:pPr>
            <a:r>
              <a:rPr lang="en-IN" sz="2400" dirty="0">
                <a:solidFill>
                  <a:srgbClr val="000000"/>
                </a:solidFill>
                <a:effectLst/>
                <a:latin typeface="Casper" panose="02000506000000020004"/>
                <a:ea typeface="Calibri" panose="020F0502020204030204" pitchFamily="34" charset="0"/>
                <a:cs typeface="Times New Roman" panose="02020603050405020304" pitchFamily="18" charset="0"/>
              </a:rPr>
              <a:t>Nano materials behave like super </a:t>
            </a:r>
            <a:r>
              <a:rPr lang="en-IN" sz="2400" dirty="0">
                <a:effectLst/>
                <a:latin typeface="Casper" panose="02000506000000020004"/>
                <a:ea typeface="Calibri" panose="020F0502020204030204" pitchFamily="34" charset="0"/>
                <a:cs typeface="Times New Roman" panose="02020603050405020304" pitchFamily="18" charset="0"/>
              </a:rPr>
              <a:t>hydrophobicity.</a:t>
            </a:r>
          </a:p>
          <a:p>
            <a:pPr marL="342900" lvl="0" indent="-342900" algn="just">
              <a:lnSpc>
                <a:spcPct val="115000"/>
              </a:lnSpc>
              <a:buFont typeface="Wingdings" panose="05000000000000000000" pitchFamily="2" charset="2"/>
              <a:buChar char=""/>
              <a:tabLst>
                <a:tab pos="1980565" algn="l"/>
              </a:tabLst>
            </a:pPr>
            <a:r>
              <a:rPr lang="en-IN" sz="2400" dirty="0">
                <a:effectLst/>
                <a:latin typeface="Casper" panose="02000506000000020004"/>
                <a:ea typeface="Calibri" panose="020F0502020204030204" pitchFamily="34" charset="0"/>
                <a:cs typeface="Times New Roman" panose="02020603050405020304" pitchFamily="18" charset="0"/>
              </a:rPr>
              <a:t>They behave like super paramagnetic.</a:t>
            </a:r>
          </a:p>
          <a:p>
            <a:pPr marL="342900" lvl="0" indent="-342900" algn="just">
              <a:lnSpc>
                <a:spcPct val="115000"/>
              </a:lnSpc>
              <a:buFont typeface="Wingdings" panose="05000000000000000000" pitchFamily="2" charset="2"/>
              <a:buChar char=""/>
              <a:tabLst>
                <a:tab pos="1980565" algn="l"/>
              </a:tabLst>
            </a:pPr>
            <a:r>
              <a:rPr lang="en-IN" sz="2400" dirty="0">
                <a:effectLst/>
                <a:latin typeface="Casper" panose="02000506000000020004"/>
                <a:ea typeface="Calibri" panose="020F0502020204030204" pitchFamily="34" charset="0"/>
                <a:cs typeface="Times New Roman" panose="02020603050405020304" pitchFamily="18" charset="0"/>
              </a:rPr>
              <a:t>They can use a target medicines to many deceases.</a:t>
            </a:r>
          </a:p>
          <a:p>
            <a:pPr marL="342900" lvl="0" indent="-342900" algn="just">
              <a:lnSpc>
                <a:spcPct val="115000"/>
              </a:lnSpc>
              <a:buFont typeface="Wingdings" panose="05000000000000000000" pitchFamily="2" charset="2"/>
              <a:buChar char=""/>
              <a:tabLst>
                <a:tab pos="1980565" algn="l"/>
              </a:tabLst>
            </a:pPr>
            <a:r>
              <a:rPr lang="en-IN" sz="2400" dirty="0">
                <a:effectLst/>
                <a:latin typeface="Casper" panose="02000506000000020004"/>
                <a:ea typeface="Calibri" panose="020F0502020204030204" pitchFamily="34" charset="0"/>
                <a:cs typeface="Times New Roman" panose="02020603050405020304" pitchFamily="18" charset="0"/>
              </a:rPr>
              <a:t>They help in making water resistant surfaces, non-wetting cloths.</a:t>
            </a:r>
          </a:p>
          <a:p>
            <a:pPr marL="342900" lvl="0" indent="-342900" algn="just">
              <a:lnSpc>
                <a:spcPct val="115000"/>
              </a:lnSpc>
              <a:buFont typeface="Wingdings" panose="05000000000000000000" pitchFamily="2" charset="2"/>
              <a:buChar char=""/>
              <a:tabLst>
                <a:tab pos="1980565" algn="l"/>
              </a:tabLst>
            </a:pPr>
            <a:r>
              <a:rPr lang="en-IN" sz="2400" dirty="0">
                <a:effectLst/>
                <a:latin typeface="Casper" panose="02000506000000020004"/>
                <a:ea typeface="Calibri" panose="020F0502020204030204" pitchFamily="34" charset="0"/>
                <a:cs typeface="Times New Roman" panose="02020603050405020304" pitchFamily="18" charset="0"/>
              </a:rPr>
              <a:t>If one dimension is reduced to the nano-range while the other two dimensions remain large, then we obtain a structure known as quantum well.</a:t>
            </a:r>
          </a:p>
          <a:p>
            <a:pPr marL="342900" lvl="0" indent="-342900" algn="just">
              <a:lnSpc>
                <a:spcPct val="115000"/>
              </a:lnSpc>
              <a:buFont typeface="Wingdings" panose="05000000000000000000" pitchFamily="2" charset="2"/>
              <a:buChar char=""/>
              <a:tabLst>
                <a:tab pos="1980565" algn="l"/>
              </a:tabLst>
            </a:pPr>
            <a:r>
              <a:rPr lang="en-IN" sz="2400" dirty="0">
                <a:effectLst/>
                <a:latin typeface="Casper" panose="02000506000000020004"/>
                <a:ea typeface="Calibri" panose="020F0502020204030204" pitchFamily="34" charset="0"/>
                <a:cs typeface="Times New Roman" panose="02020603050405020304" pitchFamily="18" charset="0"/>
              </a:rPr>
              <a:t>If two dimensions are reduced (confined) and one remains large, the resulting structure is referred to as a quantum wire.</a:t>
            </a:r>
          </a:p>
          <a:p>
            <a:pPr marL="342900" lvl="0" indent="-342900" algn="just">
              <a:lnSpc>
                <a:spcPct val="115000"/>
              </a:lnSpc>
              <a:spcAft>
                <a:spcPts val="800"/>
              </a:spcAft>
              <a:buFont typeface="Wingdings" panose="05000000000000000000" pitchFamily="2" charset="2"/>
              <a:buChar char=""/>
              <a:tabLst>
                <a:tab pos="1980565" algn="l"/>
              </a:tabLst>
            </a:pPr>
            <a:r>
              <a:rPr lang="en-IN" sz="2400" dirty="0">
                <a:effectLst/>
                <a:latin typeface="Casper" panose="02000506000000020004"/>
                <a:ea typeface="Calibri" panose="020F0502020204030204" pitchFamily="34" charset="0"/>
                <a:cs typeface="Times New Roman" panose="02020603050405020304" pitchFamily="18" charset="0"/>
              </a:rPr>
              <a:t>The confinement in all three dimensions is called a quantum dot.</a:t>
            </a:r>
          </a:p>
          <a:p>
            <a:endParaRPr lang="en-IN" dirty="0"/>
          </a:p>
        </p:txBody>
      </p:sp>
      <p:sp>
        <p:nvSpPr>
          <p:cNvPr id="4" name="Slide Number Placeholder 3">
            <a:extLst>
              <a:ext uri="{FF2B5EF4-FFF2-40B4-BE49-F238E27FC236}">
                <a16:creationId xmlns:a16="http://schemas.microsoft.com/office/drawing/2014/main" id="{C737FB88-29DC-4D31-AB24-998ED0A02A64}"/>
              </a:ext>
            </a:extLst>
          </p:cNvPr>
          <p:cNvSpPr>
            <a:spLocks noGrp="1"/>
          </p:cNvSpPr>
          <p:nvPr>
            <p:ph type="sldNum" sz="quarter" idx="12"/>
          </p:nvPr>
        </p:nvSpPr>
        <p:spPr/>
        <p:txBody>
          <a:bodyPr/>
          <a:lstStyle/>
          <a:p>
            <a:fld id="{BDCDBBEF-AA6C-4BA6-85B2-A17D7F280E38}" type="slidenum">
              <a:rPr lang="en-US" smtClean="0"/>
              <a:t>20</a:t>
            </a:fld>
            <a:endParaRPr lang="en-US"/>
          </a:p>
        </p:txBody>
      </p:sp>
    </p:spTree>
    <p:extLst>
      <p:ext uri="{BB962C8B-B14F-4D97-AF65-F5344CB8AC3E}">
        <p14:creationId xmlns:p14="http://schemas.microsoft.com/office/powerpoint/2010/main" val="2318223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21</a:t>
            </a:fld>
            <a:endParaRPr lang="en-US" dirty="0"/>
          </a:p>
        </p:txBody>
      </p:sp>
      <p:sp>
        <p:nvSpPr>
          <p:cNvPr id="8" name="Title 7"/>
          <p:cNvSpPr txBox="1">
            <a:spLocks noGrp="1" noChangeArrowheads="1"/>
          </p:cNvSpPr>
          <p:nvPr>
            <p:ph type="title"/>
          </p:nvPr>
        </p:nvSpPr>
        <p:spPr bwMode="auto">
          <a:xfrm>
            <a:off x="382137" y="323090"/>
            <a:ext cx="11427725"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Times New Roman" pitchFamily="18" charset="0"/>
              </a:rPr>
              <a:t>FAQ</a:t>
            </a:r>
            <a:br>
              <a:rPr lang="en-US" sz="4400" b="1"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302953" y="1832212"/>
            <a:ext cx="11136573" cy="4056495"/>
          </a:xfrm>
          <a:prstGeom prst="rect">
            <a:avLst/>
          </a:prstGeom>
          <a:noFill/>
          <a:ln>
            <a:solidFill>
              <a:schemeClr val="tx1"/>
            </a:solidFill>
          </a:ln>
        </p:spPr>
        <p:txBody>
          <a:bodyPr wrap="square" rtlCol="0">
            <a:spAutoFit/>
          </a:bodyPr>
          <a:lstStyle/>
          <a:p>
            <a:pPr marL="342900" lvl="0" indent="-342900" algn="just">
              <a:lnSpc>
                <a:spcPct val="115000"/>
              </a:lnSpc>
              <a:buFont typeface="+mj-lt"/>
              <a:buAutoNum type="arabicPeriod"/>
              <a:tabLst>
                <a:tab pos="1980565" algn="l"/>
              </a:tabLst>
            </a:pPr>
            <a:r>
              <a:rPr lang="en-IN" sz="2400" dirty="0">
                <a:effectLst/>
                <a:latin typeface="Casper"/>
                <a:ea typeface="Calibri" panose="020F0502020204030204" pitchFamily="34" charset="0"/>
                <a:cs typeface="Times New Roman" panose="02020603050405020304" pitchFamily="18" charset="0"/>
              </a:rPr>
              <a:t>Differentiate nanomaterials on the basis of confinement of dimensions.</a:t>
            </a:r>
          </a:p>
          <a:p>
            <a:pPr marL="342900" lvl="0" indent="-342900" algn="just">
              <a:lnSpc>
                <a:spcPct val="115000"/>
              </a:lnSpc>
              <a:buFont typeface="+mj-lt"/>
              <a:buAutoNum type="arabicPeriod"/>
              <a:tabLst>
                <a:tab pos="1980565" algn="l"/>
              </a:tabLst>
            </a:pPr>
            <a:r>
              <a:rPr lang="en-IN" sz="2400" dirty="0">
                <a:effectLst/>
                <a:latin typeface="Casper"/>
                <a:ea typeface="Calibri" panose="020F0502020204030204" pitchFamily="34" charset="0"/>
                <a:cs typeface="Times New Roman" panose="02020603050405020304" pitchFamily="18" charset="0"/>
              </a:rPr>
              <a:t>Enlist some properties of nano materials.</a:t>
            </a:r>
          </a:p>
          <a:p>
            <a:pPr marL="342900" lvl="0" indent="-342900" algn="just">
              <a:lnSpc>
                <a:spcPct val="115000"/>
              </a:lnSpc>
              <a:buFont typeface="+mj-lt"/>
              <a:buAutoNum type="arabicPeriod"/>
              <a:tabLst>
                <a:tab pos="1980565" algn="l"/>
              </a:tabLst>
            </a:pPr>
            <a:r>
              <a:rPr lang="en-IN" sz="2400" dirty="0">
                <a:latin typeface="Casper"/>
                <a:ea typeface="Calibri" panose="020F0502020204030204" pitchFamily="34" charset="0"/>
                <a:cs typeface="Times New Roman" panose="02020603050405020304" pitchFamily="18" charset="0"/>
              </a:rPr>
              <a:t>Explore the term</a:t>
            </a:r>
            <a:r>
              <a:rPr lang="en-IN" sz="2400" dirty="0">
                <a:effectLst/>
                <a:latin typeface="Casper"/>
                <a:ea typeface="Calibri" panose="020F0502020204030204" pitchFamily="34" charset="0"/>
                <a:cs typeface="Times New Roman" panose="02020603050405020304" pitchFamily="18" charset="0"/>
              </a:rPr>
              <a:t> quantum confinement. How it effects properties of nano materials?</a:t>
            </a:r>
          </a:p>
          <a:p>
            <a:pPr marL="342900" lvl="0" indent="-342900" algn="just">
              <a:lnSpc>
                <a:spcPct val="115000"/>
              </a:lnSpc>
              <a:spcAft>
                <a:spcPts val="800"/>
              </a:spcAft>
              <a:buFont typeface="+mj-lt"/>
              <a:buAutoNum type="arabicPeriod"/>
              <a:tabLst>
                <a:tab pos="1980565" algn="l"/>
              </a:tabLst>
            </a:pPr>
            <a:r>
              <a:rPr lang="en-IN" sz="2400" dirty="0">
                <a:effectLst/>
                <a:latin typeface="Casper"/>
                <a:ea typeface="Calibri" panose="020F0502020204030204" pitchFamily="34" charset="0"/>
                <a:cs typeface="Times New Roman" panose="02020603050405020304" pitchFamily="18" charset="0"/>
              </a:rPr>
              <a:t>How surface to volume ratio increases with decrease in size?</a:t>
            </a:r>
          </a:p>
          <a:p>
            <a:pPr marL="457200" algn="just">
              <a:lnSpc>
                <a:spcPct val="150000"/>
              </a:lnSpc>
              <a:spcAft>
                <a:spcPts val="800"/>
              </a:spcAft>
            </a:pPr>
            <a:r>
              <a:rPr lang="en-IN" sz="2400" dirty="0">
                <a:solidFill>
                  <a:srgbClr val="000000"/>
                </a:solidFill>
                <a:effectLst/>
                <a:latin typeface="Casper"/>
                <a:ea typeface="Calibri" panose="020F0502020204030204" pitchFamily="34" charset="0"/>
                <a:cs typeface="Times New Roman" panose="02020603050405020304" pitchFamily="18" charset="0"/>
              </a:rPr>
              <a:t> </a:t>
            </a:r>
            <a:endParaRPr lang="en-IN" sz="2400" dirty="0">
              <a:effectLst/>
              <a:latin typeface="Casper"/>
              <a:ea typeface="Calibri" panose="020F0502020204030204" pitchFamily="34" charset="0"/>
              <a:cs typeface="Times New Roman" panose="02020603050405020304" pitchFamily="18" charset="0"/>
            </a:endParaRPr>
          </a:p>
          <a:p>
            <a:pPr algn="just">
              <a:lnSpc>
                <a:spcPct val="115000"/>
              </a:lnSpc>
              <a:spcAft>
                <a:spcPts val="800"/>
              </a:spcAft>
            </a:pPr>
            <a:r>
              <a:rPr lang="en-IN" sz="2400" dirty="0">
                <a:solidFill>
                  <a:srgbClr val="000000"/>
                </a:solidFill>
                <a:effectLst/>
                <a:latin typeface="Casper"/>
                <a:ea typeface="Calibri" panose="020F0502020204030204" pitchFamily="34" charset="0"/>
                <a:cs typeface="Times New Roman" panose="02020603050405020304" pitchFamily="18" charset="0"/>
              </a:rPr>
              <a:t> </a:t>
            </a:r>
            <a:endParaRPr lang="en-IN" sz="2400" dirty="0">
              <a:effectLst/>
              <a:latin typeface="Casper"/>
              <a:ea typeface="Calibri" panose="020F0502020204030204" pitchFamily="34" charset="0"/>
              <a:cs typeface="Times New Roman" panose="02020603050405020304" pitchFamily="18" charset="0"/>
            </a:endParaRPr>
          </a:p>
          <a:p>
            <a:pPr marL="457200" lvl="0" indent="-457200">
              <a:lnSpc>
                <a:spcPct val="150000"/>
              </a:lnSpc>
              <a:buFont typeface="+mj-lt"/>
              <a:buAutoNum type="arabicPeriod"/>
            </a:pPr>
            <a:endParaRPr lang="en-US" sz="2400" dirty="0"/>
          </a:p>
        </p:txBody>
      </p:sp>
    </p:spTree>
    <p:extLst>
      <p:ext uri="{BB962C8B-B14F-4D97-AF65-F5344CB8AC3E}">
        <p14:creationId xmlns:p14="http://schemas.microsoft.com/office/powerpoint/2010/main" val="555230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a:xfrm>
            <a:off x="838200" y="1803400"/>
            <a:ext cx="10515600" cy="4694901"/>
          </a:xfrm>
          <a:ln>
            <a:solidFill>
              <a:schemeClr val="accent1"/>
            </a:solidFill>
          </a:ln>
        </p:spPr>
        <p:txBody>
          <a:bodyPr>
            <a:normAutofit/>
          </a:bodyPr>
          <a:lstStyle/>
          <a:p>
            <a:pPr marL="342900" lvl="0" indent="-342900" algn="just">
              <a:lnSpc>
                <a:spcPct val="115000"/>
              </a:lnSpc>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2"/>
              </a:rPr>
              <a:t>https://www.hindawi.com/journals/bmri/2014/498420/</a:t>
            </a:r>
            <a:endParaRPr lang="en-IN" sz="2400" dirty="0">
              <a:effectLst/>
              <a:latin typeface="Casper"/>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3"/>
              </a:rPr>
              <a:t>https://link.springer.com/chapter/10.1007/978-3-319-09171-6_8</a:t>
            </a:r>
            <a:endParaRPr lang="en-IN" sz="2400" dirty="0">
              <a:effectLst/>
              <a:latin typeface="Casper"/>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4"/>
              </a:rPr>
              <a:t>https://www.circuitstoday.com/nanomaterials</a:t>
            </a:r>
            <a:endParaRPr lang="en-IN" sz="2400" dirty="0">
              <a:effectLst/>
              <a:latin typeface="Casper"/>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5"/>
              </a:rPr>
              <a:t>https://maken.wikiwijs.nl/bestanden/427519/Lesson_7_APPENDIX-2_Article2.pdf</a:t>
            </a:r>
            <a:endParaRPr lang="en-IN" sz="2400" dirty="0">
              <a:effectLst/>
              <a:latin typeface="Casper"/>
              <a:ea typeface="Calibri" panose="020F0502020204030204" pitchFamily="34" charset="0"/>
              <a:cs typeface="Times New Roman" panose="02020603050405020304" pitchFamily="18" charset="0"/>
            </a:endParaRPr>
          </a:p>
          <a:p>
            <a:pPr marL="342900" lvl="0" indent="-342900" algn="just">
              <a:lnSpc>
                <a:spcPct val="115000"/>
              </a:lnSpc>
              <a:spcAft>
                <a:spcPts val="800"/>
              </a:spcAft>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6"/>
              </a:rPr>
              <a:t>https://www.sciencedirect.com/science/article/pii/S1878535217300990</a:t>
            </a:r>
            <a:endParaRPr lang="en-IN" sz="2400" dirty="0">
              <a:effectLst/>
              <a:latin typeface="Casper"/>
              <a:ea typeface="Calibri" panose="020F0502020204030204" pitchFamily="34" charset="0"/>
              <a:cs typeface="Times New Roman" panose="02020603050405020304" pitchFamily="18" charset="0"/>
            </a:endParaRPr>
          </a:p>
          <a:p>
            <a:pPr marL="0" indent="0">
              <a:buNone/>
            </a:pPr>
            <a:endParaRPr lang="en-IN" sz="16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22</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EACF9-1397-480A-A5E2-64159AE0597C}"/>
              </a:ext>
            </a:extLst>
          </p:cNvPr>
          <p:cNvSpPr>
            <a:spLocks noGrp="1"/>
          </p:cNvSpPr>
          <p:nvPr>
            <p:ph type="title"/>
          </p:nvPr>
        </p:nvSpPr>
        <p:spPr>
          <a:ln>
            <a:solidFill>
              <a:srgbClr val="C00000"/>
            </a:solidFill>
          </a:ln>
        </p:spPr>
        <p:txBody>
          <a:bodyPr/>
          <a:lstStyle/>
          <a:p>
            <a:pPr algn="ctr"/>
            <a:r>
              <a:rPr lang="en-IN" b="1" dirty="0">
                <a:latin typeface="Casper"/>
              </a:rPr>
              <a:t>IMAGES REFERENCES</a:t>
            </a:r>
          </a:p>
        </p:txBody>
      </p:sp>
      <p:sp>
        <p:nvSpPr>
          <p:cNvPr id="3" name="Content Placeholder 2">
            <a:extLst>
              <a:ext uri="{FF2B5EF4-FFF2-40B4-BE49-F238E27FC236}">
                <a16:creationId xmlns:a16="http://schemas.microsoft.com/office/drawing/2014/main" id="{8FCF13B5-375A-49B0-A3E5-AE43A4DD6693}"/>
              </a:ext>
            </a:extLst>
          </p:cNvPr>
          <p:cNvSpPr>
            <a:spLocks noGrp="1"/>
          </p:cNvSpPr>
          <p:nvPr>
            <p:ph idx="1"/>
          </p:nvPr>
        </p:nvSpPr>
        <p:spPr>
          <a:xfrm>
            <a:off x="838200" y="1825625"/>
            <a:ext cx="10515600" cy="4667250"/>
          </a:xfrm>
          <a:ln>
            <a:solidFill>
              <a:schemeClr val="accent1"/>
            </a:solidFill>
          </a:ln>
        </p:spPr>
        <p:txBody>
          <a:bodyPr>
            <a:noAutofit/>
          </a:bodyPr>
          <a:lstStyle/>
          <a:p>
            <a:pPr marL="0" indent="0" algn="just">
              <a:lnSpc>
                <a:spcPct val="115000"/>
              </a:lnSpc>
              <a:spcAft>
                <a:spcPts val="800"/>
              </a:spcAft>
              <a:buNone/>
            </a:pPr>
            <a:r>
              <a:rPr lang="en-IN" sz="2400" u="sng"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2400" u="sng" dirty="0">
                <a:solidFill>
                  <a:srgbClr val="4472C4"/>
                </a:solidFill>
                <a:effectLst/>
                <a:latin typeface="Casper" panose="02000506000000020004"/>
                <a:ea typeface="Calibri" panose="020F0502020204030204" pitchFamily="34" charset="0"/>
                <a:cs typeface="Times New Roman" panose="02020603050405020304" pitchFamily="18" charset="0"/>
                <a:hlinkClick r:id="rId2"/>
              </a:rPr>
              <a:t>https://www.edn.com/thick-and-thin-quantum-wells-dramatically-affect-cyan-led-bandwidth/</a:t>
            </a:r>
            <a:endParaRPr lang="en-IN" sz="2400" dirty="0">
              <a:effectLst/>
              <a:latin typeface="Casper" panose="02000506000000020004"/>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n-IN" sz="2400" dirty="0">
                <a:solidFill>
                  <a:srgbClr val="4472C4"/>
                </a:solidFill>
                <a:effectLst/>
                <a:latin typeface="Casper" panose="02000506000000020004"/>
                <a:ea typeface="Calibri" panose="020F0502020204030204" pitchFamily="34" charset="0"/>
                <a:cs typeface="Times New Roman" panose="02020603050405020304" pitchFamily="18" charset="0"/>
              </a:rPr>
              <a:t>[2]</a:t>
            </a:r>
            <a:r>
              <a:rPr lang="en-IN" sz="2400" u="sng" dirty="0">
                <a:solidFill>
                  <a:srgbClr val="4472C4"/>
                </a:solidFill>
                <a:effectLst/>
                <a:latin typeface="Casper" panose="02000506000000020004"/>
                <a:ea typeface="Calibri" panose="020F0502020204030204" pitchFamily="34" charset="0"/>
                <a:cs typeface="Times New Roman" panose="02020603050405020304" pitchFamily="18" charset="0"/>
                <a:hlinkClick r:id="rId3"/>
              </a:rPr>
              <a:t>https://www.pharmaceutical-business-review.com/products/oral-thin-films-drug-delivery/</a:t>
            </a:r>
            <a:endParaRPr lang="en-IN" sz="2400" dirty="0">
              <a:effectLst/>
              <a:latin typeface="Casper" panose="02000506000000020004"/>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n-IN" sz="2400" dirty="0">
                <a:solidFill>
                  <a:srgbClr val="4472C4"/>
                </a:solidFill>
                <a:effectLst/>
                <a:latin typeface="Casper" panose="02000506000000020004"/>
                <a:ea typeface="Calibri" panose="020F0502020204030204" pitchFamily="34" charset="0"/>
                <a:cs typeface="Times New Roman" panose="02020603050405020304" pitchFamily="18" charset="0"/>
              </a:rPr>
              <a:t>[3] </a:t>
            </a:r>
            <a:r>
              <a:rPr lang="en-IN" sz="2400" u="sng" dirty="0">
                <a:solidFill>
                  <a:srgbClr val="4472C4"/>
                </a:solidFill>
                <a:effectLst/>
                <a:latin typeface="Casper" panose="02000506000000020004"/>
                <a:ea typeface="Calibri" panose="020F0502020204030204" pitchFamily="34" charset="0"/>
                <a:cs typeface="Times New Roman" panose="02020603050405020304" pitchFamily="18" charset="0"/>
                <a:hlinkClick r:id="rId4"/>
              </a:rPr>
              <a:t>https://commons.wikimedia.org/wiki/File:Quantum_wire.jpg</a:t>
            </a:r>
            <a:endParaRPr lang="en-IN" sz="2400" dirty="0">
              <a:effectLst/>
              <a:latin typeface="Casper" panose="02000506000000020004"/>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n-IN" sz="2400" dirty="0">
                <a:solidFill>
                  <a:srgbClr val="4472C4"/>
                </a:solidFill>
                <a:effectLst/>
                <a:latin typeface="Casper" panose="02000506000000020004"/>
                <a:ea typeface="Calibri" panose="020F0502020204030204" pitchFamily="34" charset="0"/>
                <a:cs typeface="Times New Roman" panose="02020603050405020304" pitchFamily="18" charset="0"/>
              </a:rPr>
              <a:t>[4] </a:t>
            </a:r>
            <a:r>
              <a:rPr lang="en-IN" sz="2400" u="sng" dirty="0">
                <a:solidFill>
                  <a:srgbClr val="4472C4"/>
                </a:solidFill>
                <a:effectLst/>
                <a:latin typeface="Casper" panose="02000506000000020004"/>
                <a:ea typeface="Calibri" panose="020F0502020204030204" pitchFamily="34" charset="0"/>
                <a:cs typeface="Times New Roman" panose="02020603050405020304" pitchFamily="18" charset="0"/>
                <a:hlinkClick r:id="rId5"/>
              </a:rPr>
              <a:t>https://www.youtube.com/watch?v=wsWD5dJv2OE</a:t>
            </a:r>
            <a:endParaRPr lang="en-IN" sz="2400" dirty="0">
              <a:effectLst/>
              <a:latin typeface="Casper" panose="02000506000000020004"/>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n-IN" sz="2400" dirty="0">
                <a:solidFill>
                  <a:srgbClr val="4472C4"/>
                </a:solidFill>
                <a:effectLst/>
                <a:latin typeface="Casper" panose="02000506000000020004"/>
                <a:ea typeface="Calibri" panose="020F0502020204030204" pitchFamily="34" charset="0"/>
                <a:cs typeface="Times New Roman" panose="02020603050405020304" pitchFamily="18" charset="0"/>
              </a:rPr>
              <a:t>[5]</a:t>
            </a:r>
            <a:r>
              <a:rPr lang="en-IN" sz="2400" u="sng" dirty="0">
                <a:solidFill>
                  <a:srgbClr val="4472C4"/>
                </a:solidFill>
                <a:effectLst/>
                <a:latin typeface="Casper" panose="02000506000000020004"/>
                <a:ea typeface="Calibri" panose="020F0502020204030204" pitchFamily="34" charset="0"/>
                <a:cs typeface="Times New Roman" panose="02020603050405020304" pitchFamily="18" charset="0"/>
                <a:hlinkClick r:id="rId6"/>
              </a:rPr>
              <a:t>https://commons.wikimedia.org/w/index.php?search=quantum+dot&amp;title=Special%3ASearch&amp;go=Go&amp;ns0=1&amp;ns6=1&amp;ns12=1&amp;ns14=1&amp;ns100=1&amp;ns106=1#/media/File:Quantum_dot_schema.jpg</a:t>
            </a:r>
            <a:endParaRPr lang="en-IN" sz="2400" dirty="0">
              <a:effectLst/>
              <a:latin typeface="Casper" panose="02000506000000020004"/>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147D7CA-FE65-4C4B-A6B5-D1C3A531D9AB}"/>
              </a:ext>
            </a:extLst>
          </p:cNvPr>
          <p:cNvSpPr>
            <a:spLocks noGrp="1"/>
          </p:cNvSpPr>
          <p:nvPr>
            <p:ph type="sldNum" sz="quarter" idx="12"/>
          </p:nvPr>
        </p:nvSpPr>
        <p:spPr/>
        <p:txBody>
          <a:bodyPr/>
          <a:lstStyle/>
          <a:p>
            <a:fld id="{BDCDBBEF-AA6C-4BA6-85B2-A17D7F280E38}" type="slidenum">
              <a:rPr lang="en-US" smtClean="0"/>
              <a:t>23</a:t>
            </a:fld>
            <a:endParaRPr lang="en-US"/>
          </a:p>
        </p:txBody>
      </p:sp>
    </p:spTree>
    <p:extLst>
      <p:ext uri="{BB962C8B-B14F-4D97-AF65-F5344CB8AC3E}">
        <p14:creationId xmlns:p14="http://schemas.microsoft.com/office/powerpoint/2010/main" val="3987371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D48DF7-C1D1-4EE7-AF31-DE578DEE8EE5}"/>
              </a:ext>
            </a:extLst>
          </p:cNvPr>
          <p:cNvSpPr>
            <a:spLocks noGrp="1"/>
          </p:cNvSpPr>
          <p:nvPr>
            <p:ph idx="1"/>
          </p:nvPr>
        </p:nvSpPr>
        <p:spPr>
          <a:xfrm>
            <a:off x="838200" y="1825625"/>
            <a:ext cx="10515600" cy="4351338"/>
          </a:xfrm>
          <a:ln>
            <a:solidFill>
              <a:schemeClr val="accent1"/>
            </a:solidFill>
          </a:ln>
        </p:spPr>
        <p:txBody>
          <a:bodyPr>
            <a:normAutofit/>
          </a:bodyPr>
          <a:lstStyle/>
          <a:p>
            <a:pPr marL="0" indent="0" algn="just">
              <a:lnSpc>
                <a:spcPct val="115000"/>
              </a:lnSpc>
              <a:spcAft>
                <a:spcPts val="800"/>
              </a:spcAft>
              <a:buNone/>
            </a:pPr>
            <a:r>
              <a:rPr lang="en-IN" sz="2800" dirty="0">
                <a:solidFill>
                  <a:srgbClr val="4472C4"/>
                </a:solidFill>
                <a:effectLst/>
                <a:latin typeface="Casper" panose="02000506000000020004"/>
                <a:ea typeface="Calibri" panose="020F0502020204030204" pitchFamily="34" charset="0"/>
                <a:cs typeface="Times New Roman" panose="02020603050405020304" pitchFamily="18" charset="0"/>
              </a:rPr>
              <a:t>[6]</a:t>
            </a:r>
            <a:r>
              <a:rPr lang="en-IN" sz="2600" u="sng" dirty="0">
                <a:solidFill>
                  <a:srgbClr val="0000FF"/>
                </a:solidFill>
                <a:effectLst/>
                <a:latin typeface="Casper" panose="02000506000000020004"/>
                <a:ea typeface="Calibri" panose="020F0502020204030204" pitchFamily="34" charset="0"/>
                <a:cs typeface="Times New Roman" panose="02020603050405020304" pitchFamily="18" charset="0"/>
                <a:hlinkClick r:id="rId2"/>
              </a:rPr>
              <a:t>https://www.indiamart.com/proddetail/carbon-fullerenes-13710958673.html</a:t>
            </a:r>
            <a:endParaRPr lang="en-IN" sz="2600" dirty="0">
              <a:effectLst/>
              <a:latin typeface="Casper" panose="02000506000000020004"/>
              <a:ea typeface="Calibri" panose="020F0502020204030204" pitchFamily="34" charset="0"/>
              <a:cs typeface="Times New Roman" panose="02020603050405020304" pitchFamily="18" charset="0"/>
            </a:endParaRPr>
          </a:p>
          <a:p>
            <a:pPr marL="0" indent="0">
              <a:lnSpc>
                <a:spcPct val="120000"/>
              </a:lnSpc>
              <a:spcAft>
                <a:spcPts val="800"/>
              </a:spcAft>
              <a:buNone/>
            </a:pPr>
            <a:r>
              <a:rPr lang="en-IN" sz="2600" dirty="0">
                <a:latin typeface="Casper" panose="02000506000000020004"/>
              </a:rPr>
              <a:t>[7]</a:t>
            </a:r>
            <a:r>
              <a:rPr lang="en-IN" sz="2600" dirty="0">
                <a:latin typeface="Casper" panose="02000506000000020004"/>
                <a:hlinkClick r:id="rId3"/>
              </a:rPr>
              <a:t>https://www.google.com/</a:t>
            </a:r>
            <a:r>
              <a:rPr lang="en-IN" sz="2600" dirty="0" err="1">
                <a:latin typeface="Casper" panose="02000506000000020004"/>
                <a:hlinkClick r:id="rId3"/>
              </a:rPr>
              <a:t>imgres?imgurl</a:t>
            </a:r>
            <a:r>
              <a:rPr lang="en-IN" sz="2600" dirty="0">
                <a:latin typeface="Casper" panose="02000506000000020004"/>
                <a:hlinkClick r:id="rId3"/>
              </a:rPr>
              <a:t>=https%3A%2F%2Froyalsocietypublishing.org%2Fcms%2Fasset%2Fd1f6569c-4733-4709-97f0-8074b307a9ce%2Frsos180387f01.jpg&amp;imgrefurl=https%3A%2F%2Froyalsocietypublishing.org%2Fdoi%2F10.1098%2Frsos.180387&amp;tbnid=15vtPUvfbCUcXM&amp;vet=12ahUKEwiY4ZSriJDrAhUTYysKHR5SCbMQMygEegUIARCwAQ..i&amp;docid=NkQ_AsDwWmCS1M&amp;w=1701&amp;h=923&amp;q=quantum%20confinement%20effect&amp;ved=2ahUKEwiY4ZSriJDrAhUTYysKHR5SCbMQMygEegUIARCwAQ</a:t>
            </a:r>
            <a:r>
              <a:rPr lang="en-IN" sz="2600" dirty="0">
                <a:latin typeface="Casper" panose="02000506000000020004"/>
              </a:rPr>
              <a:t> </a:t>
            </a:r>
          </a:p>
          <a:p>
            <a:endParaRPr lang="en-IN" dirty="0"/>
          </a:p>
        </p:txBody>
      </p:sp>
      <p:sp>
        <p:nvSpPr>
          <p:cNvPr id="4" name="Slide Number Placeholder 3">
            <a:extLst>
              <a:ext uri="{FF2B5EF4-FFF2-40B4-BE49-F238E27FC236}">
                <a16:creationId xmlns:a16="http://schemas.microsoft.com/office/drawing/2014/main" id="{B1F47710-A7A7-4363-9D40-4CCA8CA5F9A9}"/>
              </a:ext>
            </a:extLst>
          </p:cNvPr>
          <p:cNvSpPr>
            <a:spLocks noGrp="1"/>
          </p:cNvSpPr>
          <p:nvPr>
            <p:ph type="sldNum" sz="quarter" idx="12"/>
          </p:nvPr>
        </p:nvSpPr>
        <p:spPr/>
        <p:txBody>
          <a:bodyPr/>
          <a:lstStyle/>
          <a:p>
            <a:fld id="{BDCDBBEF-AA6C-4BA6-85B2-A17D7F280E38}" type="slidenum">
              <a:rPr lang="en-US" smtClean="0"/>
              <a:t>24</a:t>
            </a:fld>
            <a:endParaRPr lang="en-US"/>
          </a:p>
        </p:txBody>
      </p:sp>
      <p:sp>
        <p:nvSpPr>
          <p:cNvPr id="5" name="Title 1">
            <a:extLst>
              <a:ext uri="{FF2B5EF4-FFF2-40B4-BE49-F238E27FC236}">
                <a16:creationId xmlns:a16="http://schemas.microsoft.com/office/drawing/2014/main" id="{399806D3-0BD5-457C-8F0D-03F3B5F17CC0}"/>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IMAGES REFERENCES</a:t>
            </a:r>
          </a:p>
        </p:txBody>
      </p:sp>
    </p:spTree>
    <p:extLst>
      <p:ext uri="{BB962C8B-B14F-4D97-AF65-F5344CB8AC3E}">
        <p14:creationId xmlns:p14="http://schemas.microsoft.com/office/powerpoint/2010/main" val="4141370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3BB5A-22F9-4DAF-9EBA-B1BBAA4D4D28}"/>
              </a:ext>
            </a:extLst>
          </p:cNvPr>
          <p:cNvSpPr>
            <a:spLocks noGrp="1"/>
          </p:cNvSpPr>
          <p:nvPr>
            <p:ph idx="1"/>
          </p:nvPr>
        </p:nvSpPr>
        <p:spPr>
          <a:ln>
            <a:solidFill>
              <a:schemeClr val="accent1"/>
            </a:solidFill>
          </a:ln>
        </p:spPr>
        <p:txBody>
          <a:bodyPr/>
          <a:lstStyle/>
          <a:p>
            <a:pPr marL="0" indent="0">
              <a:buNone/>
            </a:pPr>
            <a:r>
              <a:rPr lang="en-IN" dirty="0"/>
              <a:t>[8</a:t>
            </a:r>
            <a:r>
              <a:rPr lang="en-IN" sz="2400" dirty="0">
                <a:latin typeface="Casper" panose="02000506000000020004"/>
              </a:rPr>
              <a:t>]</a:t>
            </a:r>
            <a:r>
              <a:rPr lang="en-IN" sz="2400" dirty="0">
                <a:latin typeface="Casper" panose="02000506000000020004"/>
                <a:hlinkClick r:id="rId2"/>
              </a:rPr>
              <a:t>https://www.pathwayz.org/Tree/Plain/SURFACE+AREA+TO+VOLUME+RATIO</a:t>
            </a:r>
            <a:endParaRPr lang="en-IN" sz="2400" dirty="0">
              <a:latin typeface="Casper" panose="02000506000000020004"/>
            </a:endParaRPr>
          </a:p>
          <a:p>
            <a:pPr marL="0" indent="0">
              <a:buNone/>
            </a:pPr>
            <a:r>
              <a:rPr lang="en-IN" sz="2400" dirty="0">
                <a:latin typeface="Casper" panose="02000506000000020004"/>
              </a:rPr>
              <a:t>[9] </a:t>
            </a:r>
            <a:r>
              <a:rPr lang="en-IN" sz="2400" dirty="0">
                <a:latin typeface="Casper" panose="02000506000000020004"/>
                <a:hlinkClick r:id="rId3"/>
              </a:rPr>
              <a:t>https://pid.samsungdisplay.com/en/learning-center/white-papers/guide-to-understanding-quantum-dot-displays</a:t>
            </a:r>
            <a:r>
              <a:rPr lang="en-IN" sz="2400" dirty="0">
                <a:latin typeface="Casper" panose="02000506000000020004"/>
              </a:rPr>
              <a:t> </a:t>
            </a:r>
          </a:p>
          <a:p>
            <a:pPr marL="0" indent="0">
              <a:buNone/>
            </a:pPr>
            <a:r>
              <a:rPr lang="en-IN" sz="2400" dirty="0">
                <a:latin typeface="Casper" panose="02000506000000020004"/>
              </a:rPr>
              <a:t>[10]</a:t>
            </a:r>
            <a:r>
              <a:rPr lang="en-IN" sz="2400" u="sng" dirty="0">
                <a:solidFill>
                  <a:srgbClr val="4472C4"/>
                </a:solidFill>
                <a:effectLst/>
                <a:latin typeface="Casper" panose="02000506000000020004"/>
                <a:ea typeface="Calibri" panose="020F0502020204030204" pitchFamily="34" charset="0"/>
                <a:cs typeface="Times New Roman" panose="02020603050405020304" pitchFamily="18" charset="0"/>
                <a:hlinkClick r:id="rId4"/>
              </a:rPr>
              <a:t> https://www.livescience.com/49515-water-repellent-material.html</a:t>
            </a:r>
            <a:r>
              <a:rPr lang="en-IN" sz="2400" dirty="0">
                <a:solidFill>
                  <a:srgbClr val="4472C4"/>
                </a:solidFill>
                <a:effectLst/>
                <a:latin typeface="Casper" panose="02000506000000020004"/>
                <a:ea typeface="Calibri" panose="020F0502020204030204" pitchFamily="34" charset="0"/>
                <a:cs typeface="Times New Roman" panose="02020603050405020304" pitchFamily="18" charset="0"/>
              </a:rPr>
              <a:t> </a:t>
            </a:r>
            <a:endParaRPr lang="en-IN" sz="2400" dirty="0">
              <a:effectLst/>
              <a:latin typeface="Casper" panose="02000506000000020004"/>
              <a:ea typeface="Calibri" panose="020F0502020204030204" pitchFamily="34" charset="0"/>
              <a:cs typeface="Times New Roman" panose="02020603050405020304" pitchFamily="18" charset="0"/>
            </a:endParaRPr>
          </a:p>
          <a:p>
            <a:pPr marL="0" indent="0">
              <a:buNone/>
            </a:pPr>
            <a:r>
              <a:rPr lang="en-IN" sz="2400" dirty="0">
                <a:latin typeface="Casper" panose="02000506000000020004"/>
              </a:rPr>
              <a:t>[11]</a:t>
            </a:r>
            <a:r>
              <a:rPr lang="en-IN" sz="2400" u="sng" dirty="0">
                <a:solidFill>
                  <a:srgbClr val="4472C4"/>
                </a:solidFill>
                <a:effectLst/>
                <a:latin typeface="Casper" panose="02000506000000020004"/>
                <a:ea typeface="Calibri" panose="020F0502020204030204" pitchFamily="34" charset="0"/>
                <a:cs typeface="Times New Roman" panose="02020603050405020304" pitchFamily="18" charset="0"/>
                <a:hlinkClick r:id="rId5"/>
              </a:rPr>
              <a:t> https://www.slideshare.net/JigyashaBhatt/targeted-drug-delivery-system-94064136</a:t>
            </a:r>
            <a:r>
              <a:rPr lang="en-IN" sz="2400" dirty="0">
                <a:solidFill>
                  <a:srgbClr val="4472C4"/>
                </a:solidFill>
                <a:effectLst/>
                <a:latin typeface="Casper" panose="02000506000000020004"/>
                <a:ea typeface="Calibri" panose="020F0502020204030204" pitchFamily="34" charset="0"/>
                <a:cs typeface="Times New Roman" panose="02020603050405020304" pitchFamily="18" charset="0"/>
              </a:rPr>
              <a:t> </a:t>
            </a:r>
            <a:endParaRPr lang="en-IN" sz="2400" dirty="0">
              <a:effectLst/>
              <a:latin typeface="Casper" panose="02000506000000020004"/>
              <a:ea typeface="Calibri" panose="020F0502020204030204" pitchFamily="34" charset="0"/>
              <a:cs typeface="Times New Roman" panose="02020603050405020304" pitchFamily="18" charset="0"/>
            </a:endParaRPr>
          </a:p>
          <a:p>
            <a:pPr marL="0" indent="0">
              <a:buNone/>
            </a:pPr>
            <a:r>
              <a:rPr lang="en-IN" sz="2400" dirty="0">
                <a:latin typeface="Casper" panose="02000506000000020004"/>
              </a:rPr>
              <a:t>[12]</a:t>
            </a:r>
            <a:r>
              <a:rPr lang="en-IN" sz="2400" u="sng" dirty="0">
                <a:solidFill>
                  <a:srgbClr val="4472C4"/>
                </a:solidFill>
                <a:effectLst/>
                <a:latin typeface="Casper" panose="02000506000000020004"/>
                <a:ea typeface="Calibri" panose="020F0502020204030204" pitchFamily="34" charset="0"/>
                <a:cs typeface="Times New Roman" panose="02020603050405020304" pitchFamily="18" charset="0"/>
                <a:hlinkClick r:id="rId6"/>
              </a:rPr>
              <a:t>https://www.sciencedirect.com/science/article/pii/B9780128137413000388</a:t>
            </a:r>
            <a:endParaRPr lang="en-IN" sz="2400" dirty="0">
              <a:latin typeface="Casper" panose="02000506000000020004"/>
            </a:endParaRPr>
          </a:p>
        </p:txBody>
      </p:sp>
      <p:sp>
        <p:nvSpPr>
          <p:cNvPr id="4" name="Slide Number Placeholder 3">
            <a:extLst>
              <a:ext uri="{FF2B5EF4-FFF2-40B4-BE49-F238E27FC236}">
                <a16:creationId xmlns:a16="http://schemas.microsoft.com/office/drawing/2014/main" id="{3D69D072-DD6B-4549-8F8B-5B996C8F1959}"/>
              </a:ext>
            </a:extLst>
          </p:cNvPr>
          <p:cNvSpPr>
            <a:spLocks noGrp="1"/>
          </p:cNvSpPr>
          <p:nvPr>
            <p:ph type="sldNum" sz="quarter" idx="12"/>
          </p:nvPr>
        </p:nvSpPr>
        <p:spPr/>
        <p:txBody>
          <a:bodyPr/>
          <a:lstStyle/>
          <a:p>
            <a:fld id="{BDCDBBEF-AA6C-4BA6-85B2-A17D7F280E38}" type="slidenum">
              <a:rPr lang="en-US" smtClean="0"/>
              <a:t>25</a:t>
            </a:fld>
            <a:endParaRPr lang="en-US"/>
          </a:p>
        </p:txBody>
      </p:sp>
      <p:sp>
        <p:nvSpPr>
          <p:cNvPr id="5" name="Title 1">
            <a:extLst>
              <a:ext uri="{FF2B5EF4-FFF2-40B4-BE49-F238E27FC236}">
                <a16:creationId xmlns:a16="http://schemas.microsoft.com/office/drawing/2014/main" id="{50828114-E4CF-4574-9C87-A48F363E6822}"/>
              </a:ext>
            </a:extLst>
          </p:cNvPr>
          <p:cNvSpPr>
            <a:spLocks noGrp="1"/>
          </p:cNvSpPr>
          <p:nvPr>
            <p:ph type="title"/>
          </p:nvPr>
        </p:nvSpPr>
        <p:spPr>
          <a:xfrm>
            <a:off x="838200" y="365125"/>
            <a:ext cx="10515600" cy="1325563"/>
          </a:xfrm>
          <a:ln>
            <a:solidFill>
              <a:srgbClr val="C00000"/>
            </a:solidFill>
          </a:ln>
        </p:spPr>
        <p:txBody>
          <a:bodyPr/>
          <a:lstStyle/>
          <a:p>
            <a:pPr algn="ctr"/>
            <a:r>
              <a:rPr lang="en-IN" b="1" dirty="0">
                <a:latin typeface="Casper"/>
              </a:rPr>
              <a:t>IMAGES REFERENCES</a:t>
            </a:r>
          </a:p>
        </p:txBody>
      </p:sp>
    </p:spTree>
    <p:extLst>
      <p:ext uri="{BB962C8B-B14F-4D97-AF65-F5344CB8AC3E}">
        <p14:creationId xmlns:p14="http://schemas.microsoft.com/office/powerpoint/2010/main" val="3241032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a:xfrm>
            <a:off x="838200" y="1803400"/>
            <a:ext cx="10515600" cy="4694901"/>
          </a:xfrm>
          <a:ln>
            <a:solidFill>
              <a:schemeClr val="accent1"/>
            </a:solidFill>
          </a:ln>
        </p:spPr>
        <p:txBody>
          <a:bodyPr>
            <a:normAutofit lnSpcReduction="10000"/>
          </a:bodyPr>
          <a:lstStyle/>
          <a:p>
            <a:pPr algn="just">
              <a:lnSpc>
                <a:spcPct val="115000"/>
              </a:lnSpc>
              <a:spcAft>
                <a:spcPts val="800"/>
              </a:spcAft>
            </a:pPr>
            <a:r>
              <a:rPr lang="en-IN" sz="2400" b="1" dirty="0">
                <a:effectLst/>
                <a:latin typeface="Casper"/>
                <a:ea typeface="Calibri" panose="020F0502020204030204" pitchFamily="34" charset="0"/>
                <a:cs typeface="Times New Roman" panose="02020603050405020304" pitchFamily="18" charset="0"/>
              </a:rPr>
              <a:t>Video link </a:t>
            </a:r>
            <a:endParaRPr lang="en-IN" sz="2400" dirty="0">
              <a:effectLst/>
              <a:latin typeface="Casper"/>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2"/>
              </a:rPr>
              <a:t>https://www.youtube.com/watch?v=RvtlBh_-_Rw</a:t>
            </a:r>
            <a:endParaRPr lang="en-IN" sz="2400" dirty="0">
              <a:effectLst/>
              <a:latin typeface="Casper"/>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3"/>
              </a:rPr>
              <a:t>https://www.youtube.com/channel/UCa1LT1sfzVGP6grvbfcqUjQ</a:t>
            </a:r>
            <a:endParaRPr lang="en-IN" sz="2400" dirty="0">
              <a:effectLst/>
              <a:latin typeface="Casper"/>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4"/>
              </a:rPr>
              <a:t>https://www.youtube.com/watch?v=5lvjo0rm-F0</a:t>
            </a:r>
            <a:endParaRPr lang="en-IN" sz="2400" dirty="0">
              <a:effectLst/>
              <a:latin typeface="Casper"/>
              <a:ea typeface="Calibri" panose="020F0502020204030204" pitchFamily="34" charset="0"/>
              <a:cs typeface="Times New Roman" panose="02020603050405020304" pitchFamily="18" charset="0"/>
            </a:endParaRPr>
          </a:p>
          <a:p>
            <a:pPr marL="342900" lvl="0" indent="-342900" algn="just">
              <a:lnSpc>
                <a:spcPct val="115000"/>
              </a:lnSpc>
              <a:spcAft>
                <a:spcPts val="800"/>
              </a:spcAft>
              <a:buFont typeface="+mj-lt"/>
              <a:buAutoNum type="arabicPeriod"/>
            </a:pPr>
            <a:r>
              <a:rPr lang="en-IN" sz="2400" u="sng" dirty="0">
                <a:solidFill>
                  <a:srgbClr val="0000FF"/>
                </a:solidFill>
                <a:effectLst/>
                <a:latin typeface="Casper"/>
                <a:ea typeface="Calibri" panose="020F0502020204030204" pitchFamily="34" charset="0"/>
                <a:cs typeface="Times New Roman" panose="02020603050405020304" pitchFamily="18" charset="0"/>
                <a:hlinkClick r:id="rId5"/>
              </a:rPr>
              <a:t>https://www.youtube.com/watch?v=WElm-VglY7s</a:t>
            </a:r>
            <a:endParaRPr lang="en-IN" sz="2400" dirty="0">
              <a:effectLst/>
              <a:latin typeface="Casper"/>
              <a:ea typeface="Calibri" panose="020F0502020204030204" pitchFamily="34" charset="0"/>
              <a:cs typeface="Times New Roman" panose="02020603050405020304" pitchFamily="18" charset="0"/>
            </a:endParaRPr>
          </a:p>
          <a:p>
            <a:pPr algn="just">
              <a:lnSpc>
                <a:spcPct val="115000"/>
              </a:lnSpc>
              <a:spcAft>
                <a:spcPts val="800"/>
              </a:spcAft>
            </a:pPr>
            <a:r>
              <a:rPr lang="en-IN" sz="2400" b="1" dirty="0">
                <a:effectLst/>
                <a:latin typeface="Casper"/>
                <a:ea typeface="Calibri" panose="020F0502020204030204" pitchFamily="34" charset="0"/>
                <a:cs typeface="Times New Roman" panose="02020603050405020304" pitchFamily="18" charset="0"/>
              </a:rPr>
              <a:t>Books </a:t>
            </a:r>
            <a:endParaRPr lang="en-IN" sz="2400" dirty="0">
              <a:effectLst/>
              <a:latin typeface="Casper"/>
              <a:ea typeface="Calibri" panose="020F0502020204030204" pitchFamily="34" charset="0"/>
              <a:cs typeface="Times New Roman" panose="02020603050405020304" pitchFamily="18" charset="0"/>
            </a:endParaRPr>
          </a:p>
          <a:p>
            <a:pPr marL="457200" indent="-457200" algn="just">
              <a:lnSpc>
                <a:spcPct val="107000"/>
              </a:lnSpc>
              <a:spcAft>
                <a:spcPts val="1000"/>
              </a:spcAft>
              <a:tabLst>
                <a:tab pos="228600" algn="l"/>
              </a:tabLst>
            </a:pPr>
            <a:r>
              <a:rPr lang="en-IN" sz="2400" dirty="0" err="1">
                <a:solidFill>
                  <a:srgbClr val="000000"/>
                </a:solidFill>
                <a:effectLst/>
                <a:latin typeface="Casper"/>
                <a:ea typeface="Calibri" panose="020F0502020204030204" pitchFamily="34" charset="0"/>
                <a:cs typeface="Times New Roman" panose="02020603050405020304" pitchFamily="18" charset="0"/>
              </a:rPr>
              <a:t>Sahni</a:t>
            </a:r>
            <a:r>
              <a:rPr lang="en-IN" sz="2400" dirty="0">
                <a:solidFill>
                  <a:srgbClr val="000000"/>
                </a:solidFill>
                <a:effectLst/>
                <a:latin typeface="Casper"/>
                <a:ea typeface="Calibri" panose="020F0502020204030204" pitchFamily="34" charset="0"/>
                <a:cs typeface="Times New Roman" panose="02020603050405020304" pitchFamily="18" charset="0"/>
              </a:rPr>
              <a:t> V., Goswami D. (2008) Nano Computing, McGraw Hill Education Asia Ltd., ISBN: 978007024892</a:t>
            </a:r>
            <a:r>
              <a:rPr lang="en-IN" sz="2400" dirty="0">
                <a:effectLst/>
                <a:latin typeface="Casper"/>
                <a:ea typeface="Calibri" panose="020F0502020204030204" pitchFamily="34" charset="0"/>
                <a:cs typeface="Times New Roman" panose="02020603050405020304" pitchFamily="18" charset="0"/>
              </a:rPr>
              <a:t>Beiser A., </a:t>
            </a:r>
            <a:r>
              <a:rPr lang="en-IN" sz="2400" dirty="0" err="1">
                <a:effectLst/>
                <a:latin typeface="Casper"/>
                <a:ea typeface="Calibri" panose="020F0502020204030204" pitchFamily="34" charset="0"/>
                <a:cs typeface="Times New Roman" panose="02020603050405020304" pitchFamily="18" charset="0"/>
              </a:rPr>
              <a:t>Ghatak</a:t>
            </a:r>
            <a:r>
              <a:rPr lang="en-IN" sz="2400" dirty="0">
                <a:effectLst/>
                <a:latin typeface="Casper"/>
                <a:ea typeface="Calibri" panose="020F0502020204030204" pitchFamily="34" charset="0"/>
                <a:cs typeface="Times New Roman" panose="02020603050405020304" pitchFamily="18" charset="0"/>
              </a:rPr>
              <a:t> A, Garg S.C., Applied Physics, Edition 1</a:t>
            </a:r>
            <a:r>
              <a:rPr lang="en-IN" sz="2400" baseline="30000" dirty="0">
                <a:effectLst/>
                <a:latin typeface="Casper"/>
                <a:ea typeface="Calibri" panose="020F0502020204030204" pitchFamily="34" charset="0"/>
                <a:cs typeface="Times New Roman" panose="02020603050405020304" pitchFamily="18" charset="0"/>
              </a:rPr>
              <a:t>st</a:t>
            </a:r>
            <a:r>
              <a:rPr lang="en-IN" sz="2400" dirty="0">
                <a:effectLst/>
                <a:latin typeface="Casper"/>
                <a:ea typeface="Calibri" panose="020F0502020204030204" pitchFamily="34" charset="0"/>
                <a:cs typeface="Times New Roman" panose="02020603050405020304" pitchFamily="18" charset="0"/>
              </a:rPr>
              <a:t>, (2013), Tata McGraw-Hill, Noida.</a:t>
            </a:r>
          </a:p>
          <a:p>
            <a:endParaRPr lang="en-IN" b="1" dirty="0"/>
          </a:p>
        </p:txBody>
      </p:sp>
      <p:sp>
        <p:nvSpPr>
          <p:cNvPr id="4" name="Slide Number Placeholder 3"/>
          <p:cNvSpPr>
            <a:spLocks noGrp="1"/>
          </p:cNvSpPr>
          <p:nvPr>
            <p:ph type="sldNum" sz="quarter" idx="12"/>
          </p:nvPr>
        </p:nvSpPr>
        <p:spPr/>
        <p:txBody>
          <a:bodyPr/>
          <a:lstStyle/>
          <a:p>
            <a:fld id="{BDCDBBEF-AA6C-4BA6-85B2-A17D7F280E38}" type="slidenum">
              <a:rPr lang="en-US" smtClean="0"/>
              <a:t>26</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3463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2" name="Rectangle 1"/>
          <p:cNvSpPr/>
          <p:nvPr/>
        </p:nvSpPr>
        <p:spPr>
          <a:xfrm>
            <a:off x="4114005" y="5394447"/>
            <a:ext cx="3961049" cy="646331"/>
          </a:xfrm>
          <a:prstGeom prst="rect">
            <a:avLst/>
          </a:prstGeom>
        </p:spPr>
        <p:txBody>
          <a:bodyPr wrap="squar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arminder.uis@cumail.in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2035</TotalTime>
  <Words>1648</Words>
  <Application>Microsoft Office PowerPoint</Application>
  <PresentationFormat>Widescreen</PresentationFormat>
  <Paragraphs>164</Paragraphs>
  <Slides>27</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9" baseType="lpstr">
      <vt:lpstr>Arial</vt:lpstr>
      <vt:lpstr>Arial Black</vt:lpstr>
      <vt:lpstr>Calibri</vt:lpstr>
      <vt:lpstr>Calibri Light</vt:lpstr>
      <vt:lpstr>Casper</vt:lpstr>
      <vt:lpstr>Casper Bold</vt:lpstr>
      <vt:lpstr>Raleway ExtraBold</vt:lpstr>
      <vt:lpstr>Times New Roman</vt:lpstr>
      <vt:lpstr>Wingdings</vt:lpstr>
      <vt:lpstr>1_Office Theme</vt:lpstr>
      <vt:lpstr>Contents Slide Master</vt:lpstr>
      <vt:lpstr>CorelDRAW</vt:lpstr>
      <vt:lpstr>PowerPoint Presentation</vt:lpstr>
      <vt:lpstr>PowerPoint Presentation</vt:lpstr>
      <vt:lpstr>PowerPoint Presentation</vt:lpstr>
      <vt:lpstr>LECTURE OBJECTIVE </vt:lpstr>
      <vt:lpstr>CONTENT </vt:lpstr>
      <vt:lpstr>QUANTUM WELL </vt:lpstr>
      <vt:lpstr>QUANTUM WELL </vt:lpstr>
      <vt:lpstr>QUANTUM WIRE </vt:lpstr>
      <vt:lpstr>QUANTUM WIRE </vt:lpstr>
      <vt:lpstr>QUANTUM DOT </vt:lpstr>
      <vt:lpstr>FULLERENE </vt:lpstr>
      <vt:lpstr>TYPES OF NANOMATERIALS</vt:lpstr>
      <vt:lpstr>SURFACE TO VOLUME RATIO </vt:lpstr>
      <vt:lpstr>SURFACE TO VOLUME RATIO </vt:lpstr>
      <vt:lpstr>QUANTUM CONFINEMENT </vt:lpstr>
      <vt:lpstr>Achieving superhydrophobic/antibiofouling surfaces   </vt:lpstr>
      <vt:lpstr> TARGETED DRUG DELIVERY  </vt:lpstr>
      <vt:lpstr> SUPERPARAMAGNETIC </vt:lpstr>
      <vt:lpstr> SUPERPARAMAGNETIC </vt:lpstr>
      <vt:lpstr>SUMMARY</vt:lpstr>
      <vt:lpstr>FAQ </vt:lpstr>
      <vt:lpstr>REFERENCES   </vt:lpstr>
      <vt:lpstr>IMAGES REFERENCES</vt:lpstr>
      <vt:lpstr>IMAGES REFERENCES</vt:lpstr>
      <vt:lpstr>IMAGES REFERENCES</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177</cp:revision>
  <dcterms:created xsi:type="dcterms:W3CDTF">2019-01-09T10:33:58Z</dcterms:created>
  <dcterms:modified xsi:type="dcterms:W3CDTF">2023-06-15T16:05:47Z</dcterms:modified>
</cp:coreProperties>
</file>