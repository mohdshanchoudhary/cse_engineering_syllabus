
<file path=[Content_Types].xml><?xml version="1.0" encoding="utf-8"?>
<Types xmlns="http://schemas.openxmlformats.org/package/2006/content-types">
  <Default Extension="bin" ContentType="application/vnd.openxmlformats-officedocument.oleObject"/>
  <Default Extension="emf" ContentType="image/x-emf"/>
  <Default Extension="jfif" ContentType="image/jpeg"/>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4"/>
  </p:notesMasterIdLst>
  <p:handoutMasterIdLst>
    <p:handoutMasterId r:id="rId25"/>
  </p:handoutMasterIdLst>
  <p:sldIdLst>
    <p:sldId id="277" r:id="rId3"/>
    <p:sldId id="265" r:id="rId4"/>
    <p:sldId id="377" r:id="rId5"/>
    <p:sldId id="386" r:id="rId6"/>
    <p:sldId id="399" r:id="rId7"/>
    <p:sldId id="387" r:id="rId8"/>
    <p:sldId id="398" r:id="rId9"/>
    <p:sldId id="388" r:id="rId10"/>
    <p:sldId id="389" r:id="rId11"/>
    <p:sldId id="390" r:id="rId12"/>
    <p:sldId id="391" r:id="rId13"/>
    <p:sldId id="392" r:id="rId14"/>
    <p:sldId id="393" r:id="rId15"/>
    <p:sldId id="394" r:id="rId16"/>
    <p:sldId id="395" r:id="rId17"/>
    <p:sldId id="396" r:id="rId18"/>
    <p:sldId id="384" r:id="rId19"/>
    <p:sldId id="284" r:id="rId20"/>
    <p:sldId id="397" r:id="rId21"/>
    <p:sldId id="385" r:id="rId22"/>
    <p:sldId id="2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minder kaur" initials="ak" lastIdx="20" clrIdx="0">
    <p:extLst>
      <p:ext uri="{19B8F6BF-5375-455C-9EA6-DF929625EA0E}">
        <p15:presenceInfo xmlns:p15="http://schemas.microsoft.com/office/powerpoint/2012/main" userId="a22e12bbabfcdae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14" autoAdjust="0"/>
    <p:restoredTop sz="94394" autoAdjust="0"/>
  </p:normalViewPr>
  <p:slideViewPr>
    <p:cSldViewPr snapToGrid="0">
      <p:cViewPr varScale="1">
        <p:scale>
          <a:sx n="66" d="100"/>
          <a:sy n="66" d="100"/>
        </p:scale>
        <p:origin x="672"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11.jfif"/><Relationship Id="rId2" Type="http://schemas.openxmlformats.org/officeDocument/2006/relationships/image" Target="../media/image10.jfif"/><Relationship Id="rId1" Type="http://schemas.openxmlformats.org/officeDocument/2006/relationships/image" Target="../media/image9.jfif"/></Relationships>
</file>

<file path=ppt/diagrams/_rels/drawing1.xml.rels><?xml version="1.0" encoding="UTF-8" standalone="yes"?>
<Relationships xmlns="http://schemas.openxmlformats.org/package/2006/relationships"><Relationship Id="rId3" Type="http://schemas.openxmlformats.org/officeDocument/2006/relationships/image" Target="../media/image11.jfif"/><Relationship Id="rId2" Type="http://schemas.openxmlformats.org/officeDocument/2006/relationships/image" Target="../media/image10.jfif"/><Relationship Id="rId1" Type="http://schemas.openxmlformats.org/officeDocument/2006/relationships/image" Target="../media/image9.jfif"/></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654A98-D1FE-4D52-AC40-FC2940D83D90}" type="doc">
      <dgm:prSet loTypeId="urn:microsoft.com/office/officeart/2005/8/layout/hList7" loCatId="list" qsTypeId="urn:microsoft.com/office/officeart/2005/8/quickstyle/simple3" qsCatId="simple" csTypeId="urn:microsoft.com/office/officeart/2005/8/colors/colorful1" csCatId="colorful" phldr="1"/>
      <dgm:spPr/>
      <dgm:t>
        <a:bodyPr/>
        <a:lstStyle/>
        <a:p>
          <a:endParaRPr lang="en-IN"/>
        </a:p>
      </dgm:t>
    </dgm:pt>
    <dgm:pt modelId="{EB8A354C-F3C7-454B-83E5-47C0AFE4BA9B}">
      <dgm:prSet phldrT="[Text]" custT="1"/>
      <dgm:spPr/>
      <dgm:t>
        <a:bodyPr/>
        <a:lstStyle/>
        <a:p>
          <a:pPr algn="ctr"/>
          <a:r>
            <a:rPr lang="en-IN" sz="2400" dirty="0">
              <a:latin typeface="Casper"/>
              <a:cs typeface="Times New Roman" panose="02020603050405020304" pitchFamily="18" charset="0"/>
            </a:rPr>
            <a:t>Students will learn about what is nanotechnology</a:t>
          </a:r>
        </a:p>
      </dgm:t>
    </dgm:pt>
    <dgm:pt modelId="{855DF5E0-6DD9-47D1-85C1-71E7C93C7938}" type="parTrans" cxnId="{1F8DC843-A980-4671-A488-C56D7E2A0332}">
      <dgm:prSet/>
      <dgm:spPr/>
      <dgm:t>
        <a:bodyPr/>
        <a:lstStyle/>
        <a:p>
          <a:endParaRPr lang="en-IN"/>
        </a:p>
      </dgm:t>
    </dgm:pt>
    <dgm:pt modelId="{50DA53F4-7CD0-42FA-8C47-6937EC0C788A}" type="sibTrans" cxnId="{1F8DC843-A980-4671-A488-C56D7E2A0332}">
      <dgm:prSet/>
      <dgm:spPr/>
      <dgm:t>
        <a:bodyPr/>
        <a:lstStyle/>
        <a:p>
          <a:endParaRPr lang="en-IN"/>
        </a:p>
      </dgm:t>
    </dgm:pt>
    <dgm:pt modelId="{6D978731-264F-4D48-A49B-A558474EE7D8}">
      <dgm:prSet phldrT="[Text]" custT="1"/>
      <dgm:spPr/>
      <dgm:t>
        <a:bodyPr/>
        <a:lstStyle/>
        <a:p>
          <a:pPr algn="ctr"/>
          <a:r>
            <a:rPr lang="en-IN" sz="2400" dirty="0">
              <a:latin typeface="Casper"/>
              <a:cs typeface="Times New Roman" panose="02020603050405020304" pitchFamily="18" charset="0"/>
            </a:rPr>
            <a:t>Students will understand how nanotechnology develop.</a:t>
          </a:r>
        </a:p>
      </dgm:t>
    </dgm:pt>
    <dgm:pt modelId="{1303F81F-D0B2-40BD-8EE0-E03135E9309A}" type="parTrans" cxnId="{9F5C091B-72EC-40AD-8C58-AB1B32E39C39}">
      <dgm:prSet/>
      <dgm:spPr/>
      <dgm:t>
        <a:bodyPr/>
        <a:lstStyle/>
        <a:p>
          <a:endParaRPr lang="en-IN"/>
        </a:p>
      </dgm:t>
    </dgm:pt>
    <dgm:pt modelId="{E615A6AB-D553-414A-AF92-F290BC3F199A}" type="sibTrans" cxnId="{9F5C091B-72EC-40AD-8C58-AB1B32E39C39}">
      <dgm:prSet/>
      <dgm:spPr/>
      <dgm:t>
        <a:bodyPr/>
        <a:lstStyle/>
        <a:p>
          <a:endParaRPr lang="en-IN"/>
        </a:p>
      </dgm:t>
    </dgm:pt>
    <dgm:pt modelId="{FF9B39E7-F148-497F-8E27-B07B0EA561CD}">
      <dgm:prSet phldrT="[Text]" custT="1"/>
      <dgm:spPr/>
      <dgm:t>
        <a:bodyPr/>
        <a:lstStyle/>
        <a:p>
          <a:pPr algn="ctr"/>
          <a:r>
            <a:rPr lang="en-IN" sz="2400" dirty="0">
              <a:latin typeface="Casper"/>
              <a:cs typeface="Times New Roman" panose="02020603050405020304" pitchFamily="18" charset="0"/>
            </a:rPr>
            <a:t>Students will learn about applications of nanotechnology.</a:t>
          </a:r>
        </a:p>
      </dgm:t>
    </dgm:pt>
    <dgm:pt modelId="{F606E620-6C7D-4583-BC51-2DA4AAB6BBC6}" type="parTrans" cxnId="{783D770D-A246-4A80-B5AA-3B108B54D3CD}">
      <dgm:prSet/>
      <dgm:spPr/>
      <dgm:t>
        <a:bodyPr/>
        <a:lstStyle/>
        <a:p>
          <a:endParaRPr lang="en-IN"/>
        </a:p>
      </dgm:t>
    </dgm:pt>
    <dgm:pt modelId="{93D5ABFB-C6E8-4E92-BE50-246FE07E8EE5}" type="sibTrans" cxnId="{783D770D-A246-4A80-B5AA-3B108B54D3CD}">
      <dgm:prSet/>
      <dgm:spPr/>
      <dgm:t>
        <a:bodyPr/>
        <a:lstStyle/>
        <a:p>
          <a:endParaRPr lang="en-IN"/>
        </a:p>
      </dgm:t>
    </dgm:pt>
    <dgm:pt modelId="{E28E89FF-891B-4BC0-AF5B-351B44FE9A5A}" type="pres">
      <dgm:prSet presAssocID="{39654A98-D1FE-4D52-AC40-FC2940D83D90}" presName="Name0" presStyleCnt="0">
        <dgm:presLayoutVars>
          <dgm:dir/>
          <dgm:resizeHandles val="exact"/>
        </dgm:presLayoutVars>
      </dgm:prSet>
      <dgm:spPr/>
    </dgm:pt>
    <dgm:pt modelId="{323C8708-EBC8-4346-B9D7-F4F4FED58C31}" type="pres">
      <dgm:prSet presAssocID="{39654A98-D1FE-4D52-AC40-FC2940D83D90}" presName="fgShape" presStyleLbl="fgShp" presStyleIdx="0" presStyleCnt="1"/>
      <dgm:spPr/>
    </dgm:pt>
    <dgm:pt modelId="{068BF970-D871-4BF1-97F3-0BE30617AC82}" type="pres">
      <dgm:prSet presAssocID="{39654A98-D1FE-4D52-AC40-FC2940D83D90}" presName="linComp" presStyleCnt="0"/>
      <dgm:spPr/>
    </dgm:pt>
    <dgm:pt modelId="{E30EBF77-120B-4CD3-A033-94649BE40A66}" type="pres">
      <dgm:prSet presAssocID="{EB8A354C-F3C7-454B-83E5-47C0AFE4BA9B}" presName="compNode" presStyleCnt="0"/>
      <dgm:spPr/>
    </dgm:pt>
    <dgm:pt modelId="{B0625DDC-302A-456C-8B12-57155170D50A}" type="pres">
      <dgm:prSet presAssocID="{EB8A354C-F3C7-454B-83E5-47C0AFE4BA9B}" presName="bkgdShape" presStyleLbl="node1" presStyleIdx="0" presStyleCnt="3"/>
      <dgm:spPr/>
    </dgm:pt>
    <dgm:pt modelId="{AE6D4CE1-C252-41FF-A301-5445162591BD}" type="pres">
      <dgm:prSet presAssocID="{EB8A354C-F3C7-454B-83E5-47C0AFE4BA9B}" presName="nodeTx" presStyleLbl="node1" presStyleIdx="0" presStyleCnt="3">
        <dgm:presLayoutVars>
          <dgm:bulletEnabled val="1"/>
        </dgm:presLayoutVars>
      </dgm:prSet>
      <dgm:spPr/>
    </dgm:pt>
    <dgm:pt modelId="{BE5B8B0C-3C04-4580-B087-168909CA886E}" type="pres">
      <dgm:prSet presAssocID="{EB8A354C-F3C7-454B-83E5-47C0AFE4BA9B}" presName="invisiNode" presStyleLbl="node1" presStyleIdx="0" presStyleCnt="3"/>
      <dgm:spPr/>
    </dgm:pt>
    <dgm:pt modelId="{B103F8D8-76B4-4272-BA94-128B4C2C71A0}" type="pres">
      <dgm:prSet presAssocID="{EB8A354C-F3C7-454B-83E5-47C0AFE4BA9B}" presName="imagNode" presStyleLbl="fgImgPlace1" presStyleIdx="0" presStyleCnt="3" custLinFactNeighborX="-8628" custLinFactNeighborY="-1536"/>
      <dgm:spPr>
        <a:blipFill>
          <a:blip xmlns:r="http://schemas.openxmlformats.org/officeDocument/2006/relationships" r:embed="rId1">
            <a:extLst>
              <a:ext uri="{28A0092B-C50C-407E-A947-70E740481C1C}">
                <a14:useLocalDpi xmlns:a14="http://schemas.microsoft.com/office/drawing/2010/main" val="0"/>
              </a:ext>
            </a:extLst>
          </a:blip>
          <a:srcRect/>
          <a:stretch>
            <a:fillRect l="-17000" r="-17000"/>
          </a:stretch>
        </a:blipFill>
      </dgm:spPr>
    </dgm:pt>
    <dgm:pt modelId="{485E51A4-F0D1-4786-A30C-7A22C6116916}" type="pres">
      <dgm:prSet presAssocID="{50DA53F4-7CD0-42FA-8C47-6937EC0C788A}" presName="sibTrans" presStyleLbl="sibTrans2D1" presStyleIdx="0" presStyleCnt="0"/>
      <dgm:spPr/>
    </dgm:pt>
    <dgm:pt modelId="{365E3586-FE2C-46EC-A4DB-F75C9DC9BE12}" type="pres">
      <dgm:prSet presAssocID="{6D978731-264F-4D48-A49B-A558474EE7D8}" presName="compNode" presStyleCnt="0"/>
      <dgm:spPr/>
    </dgm:pt>
    <dgm:pt modelId="{59466344-34F2-47FE-BE5B-DE4D2D0D235D}" type="pres">
      <dgm:prSet presAssocID="{6D978731-264F-4D48-A49B-A558474EE7D8}" presName="bkgdShape" presStyleLbl="node1" presStyleIdx="1" presStyleCnt="3" custLinFactNeighborX="-1471"/>
      <dgm:spPr/>
    </dgm:pt>
    <dgm:pt modelId="{266A0E14-40CF-4920-A67F-1CCB058A7470}" type="pres">
      <dgm:prSet presAssocID="{6D978731-264F-4D48-A49B-A558474EE7D8}" presName="nodeTx" presStyleLbl="node1" presStyleIdx="1" presStyleCnt="3">
        <dgm:presLayoutVars>
          <dgm:bulletEnabled val="1"/>
        </dgm:presLayoutVars>
      </dgm:prSet>
      <dgm:spPr/>
    </dgm:pt>
    <dgm:pt modelId="{97682022-119D-48E1-AF8F-5229A0350892}" type="pres">
      <dgm:prSet presAssocID="{6D978731-264F-4D48-A49B-A558474EE7D8}" presName="invisiNode" presStyleLbl="node1" presStyleIdx="1" presStyleCnt="3"/>
      <dgm:spPr/>
    </dgm:pt>
    <dgm:pt modelId="{50C2274F-4F2F-4CCF-A2D0-F4FCD0746BCB}" type="pres">
      <dgm:prSet presAssocID="{6D978731-264F-4D48-A49B-A558474EE7D8}" presName="imagNode" presStyleLbl="fgImgPlace1" presStyleIdx="1" presStyleCnt="3" custLinFactNeighborX="-811" custLinFactNeighborY="-1621"/>
      <dgm:spPr>
        <a:blipFill>
          <a:blip xmlns:r="http://schemas.openxmlformats.org/officeDocument/2006/relationships" r:embed="rId2">
            <a:extLst>
              <a:ext uri="{28A0092B-C50C-407E-A947-70E740481C1C}">
                <a14:useLocalDpi xmlns:a14="http://schemas.microsoft.com/office/drawing/2010/main" val="0"/>
              </a:ext>
            </a:extLst>
          </a:blip>
          <a:srcRect/>
          <a:stretch>
            <a:fillRect l="-33000" r="-33000"/>
          </a:stretch>
        </a:blipFill>
      </dgm:spPr>
    </dgm:pt>
    <dgm:pt modelId="{AB002910-53CC-4237-BE47-F9C520C00106}" type="pres">
      <dgm:prSet presAssocID="{E615A6AB-D553-414A-AF92-F290BC3F199A}" presName="sibTrans" presStyleLbl="sibTrans2D1" presStyleIdx="0" presStyleCnt="0"/>
      <dgm:spPr/>
    </dgm:pt>
    <dgm:pt modelId="{BACE84A8-E6D3-41DC-8EAF-DEDCC00F43B5}" type="pres">
      <dgm:prSet presAssocID="{FF9B39E7-F148-497F-8E27-B07B0EA561CD}" presName="compNode" presStyleCnt="0"/>
      <dgm:spPr/>
    </dgm:pt>
    <dgm:pt modelId="{B2B10F68-512F-4683-BEE4-9F8C729BF5C7}" type="pres">
      <dgm:prSet presAssocID="{FF9B39E7-F148-497F-8E27-B07B0EA561CD}" presName="bkgdShape" presStyleLbl="node1" presStyleIdx="2" presStyleCnt="3"/>
      <dgm:spPr/>
    </dgm:pt>
    <dgm:pt modelId="{70C2D766-8FE4-4831-8DBD-FA88F235FC1A}" type="pres">
      <dgm:prSet presAssocID="{FF9B39E7-F148-497F-8E27-B07B0EA561CD}" presName="nodeTx" presStyleLbl="node1" presStyleIdx="2" presStyleCnt="3">
        <dgm:presLayoutVars>
          <dgm:bulletEnabled val="1"/>
        </dgm:presLayoutVars>
      </dgm:prSet>
      <dgm:spPr/>
    </dgm:pt>
    <dgm:pt modelId="{F1727CDB-073A-47B7-B6A4-49E5643CBEF8}" type="pres">
      <dgm:prSet presAssocID="{FF9B39E7-F148-497F-8E27-B07B0EA561CD}" presName="invisiNode" presStyleLbl="node1" presStyleIdx="2" presStyleCnt="3"/>
      <dgm:spPr/>
    </dgm:pt>
    <dgm:pt modelId="{248B46C9-1690-4475-9D9E-0B3167A7796B}" type="pres">
      <dgm:prSet presAssocID="{FF9B39E7-F148-497F-8E27-B07B0EA561CD}" presName="imagNode" presStyleLbl="fgImgPlac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39000" r="-39000"/>
          </a:stretch>
        </a:blipFill>
      </dgm:spPr>
    </dgm:pt>
  </dgm:ptLst>
  <dgm:cxnLst>
    <dgm:cxn modelId="{DE73E20C-5717-44E6-992D-C0510FCBD0E6}" type="presOf" srcId="{FF9B39E7-F148-497F-8E27-B07B0EA561CD}" destId="{B2B10F68-512F-4683-BEE4-9F8C729BF5C7}" srcOrd="0" destOrd="0" presId="urn:microsoft.com/office/officeart/2005/8/layout/hList7"/>
    <dgm:cxn modelId="{783D770D-A246-4A80-B5AA-3B108B54D3CD}" srcId="{39654A98-D1FE-4D52-AC40-FC2940D83D90}" destId="{FF9B39E7-F148-497F-8E27-B07B0EA561CD}" srcOrd="2" destOrd="0" parTransId="{F606E620-6C7D-4583-BC51-2DA4AAB6BBC6}" sibTransId="{93D5ABFB-C6E8-4E92-BE50-246FE07E8EE5}"/>
    <dgm:cxn modelId="{E48C9D19-B22D-493F-BFF0-F531F73A9C79}" type="presOf" srcId="{E615A6AB-D553-414A-AF92-F290BC3F199A}" destId="{AB002910-53CC-4237-BE47-F9C520C00106}" srcOrd="0" destOrd="0" presId="urn:microsoft.com/office/officeart/2005/8/layout/hList7"/>
    <dgm:cxn modelId="{9F5C091B-72EC-40AD-8C58-AB1B32E39C39}" srcId="{39654A98-D1FE-4D52-AC40-FC2940D83D90}" destId="{6D978731-264F-4D48-A49B-A558474EE7D8}" srcOrd="1" destOrd="0" parTransId="{1303F81F-D0B2-40BD-8EE0-E03135E9309A}" sibTransId="{E615A6AB-D553-414A-AF92-F290BC3F199A}"/>
    <dgm:cxn modelId="{2BC2482C-E41C-48D8-8EE1-65F2B17BC8D2}" type="presOf" srcId="{EB8A354C-F3C7-454B-83E5-47C0AFE4BA9B}" destId="{B0625DDC-302A-456C-8B12-57155170D50A}" srcOrd="0" destOrd="0" presId="urn:microsoft.com/office/officeart/2005/8/layout/hList7"/>
    <dgm:cxn modelId="{1F8DC843-A980-4671-A488-C56D7E2A0332}" srcId="{39654A98-D1FE-4D52-AC40-FC2940D83D90}" destId="{EB8A354C-F3C7-454B-83E5-47C0AFE4BA9B}" srcOrd="0" destOrd="0" parTransId="{855DF5E0-6DD9-47D1-85C1-71E7C93C7938}" sibTransId="{50DA53F4-7CD0-42FA-8C47-6937EC0C788A}"/>
    <dgm:cxn modelId="{0F815C45-79BD-4C33-A044-990A498C8101}" type="presOf" srcId="{39654A98-D1FE-4D52-AC40-FC2940D83D90}" destId="{E28E89FF-891B-4BC0-AF5B-351B44FE9A5A}" srcOrd="0" destOrd="0" presId="urn:microsoft.com/office/officeart/2005/8/layout/hList7"/>
    <dgm:cxn modelId="{BB57B1A6-C7BF-4B73-9E9A-07A9A7CAD7C7}" type="presOf" srcId="{50DA53F4-7CD0-42FA-8C47-6937EC0C788A}" destId="{485E51A4-F0D1-4786-A30C-7A22C6116916}" srcOrd="0" destOrd="0" presId="urn:microsoft.com/office/officeart/2005/8/layout/hList7"/>
    <dgm:cxn modelId="{E2E5A6A8-7193-4731-AD9C-755A0977BB7C}" type="presOf" srcId="{EB8A354C-F3C7-454B-83E5-47C0AFE4BA9B}" destId="{AE6D4CE1-C252-41FF-A301-5445162591BD}" srcOrd="1" destOrd="0" presId="urn:microsoft.com/office/officeart/2005/8/layout/hList7"/>
    <dgm:cxn modelId="{3BCF00C3-8E60-4591-A85E-900640FA81D7}" type="presOf" srcId="{6D978731-264F-4D48-A49B-A558474EE7D8}" destId="{59466344-34F2-47FE-BE5B-DE4D2D0D235D}" srcOrd="0" destOrd="0" presId="urn:microsoft.com/office/officeart/2005/8/layout/hList7"/>
    <dgm:cxn modelId="{4A4CC3DF-3995-40FC-9BE0-AAE36A37095C}" type="presOf" srcId="{6D978731-264F-4D48-A49B-A558474EE7D8}" destId="{266A0E14-40CF-4920-A67F-1CCB058A7470}" srcOrd="1" destOrd="0" presId="urn:microsoft.com/office/officeart/2005/8/layout/hList7"/>
    <dgm:cxn modelId="{165587EA-BDB9-41E9-BC3E-F451BF8B049C}" type="presOf" srcId="{FF9B39E7-F148-497F-8E27-B07B0EA561CD}" destId="{70C2D766-8FE4-4831-8DBD-FA88F235FC1A}" srcOrd="1" destOrd="0" presId="urn:microsoft.com/office/officeart/2005/8/layout/hList7"/>
    <dgm:cxn modelId="{67477FD3-D294-4FB0-897E-212966FE5875}" type="presParOf" srcId="{E28E89FF-891B-4BC0-AF5B-351B44FE9A5A}" destId="{323C8708-EBC8-4346-B9D7-F4F4FED58C31}" srcOrd="0" destOrd="0" presId="urn:microsoft.com/office/officeart/2005/8/layout/hList7"/>
    <dgm:cxn modelId="{2717FB1C-E02D-4A02-BADB-7257E06315DA}" type="presParOf" srcId="{E28E89FF-891B-4BC0-AF5B-351B44FE9A5A}" destId="{068BF970-D871-4BF1-97F3-0BE30617AC82}" srcOrd="1" destOrd="0" presId="urn:microsoft.com/office/officeart/2005/8/layout/hList7"/>
    <dgm:cxn modelId="{D9D5E752-39CE-406D-969E-4EBFCD065CC4}" type="presParOf" srcId="{068BF970-D871-4BF1-97F3-0BE30617AC82}" destId="{E30EBF77-120B-4CD3-A033-94649BE40A66}" srcOrd="0" destOrd="0" presId="urn:microsoft.com/office/officeart/2005/8/layout/hList7"/>
    <dgm:cxn modelId="{BFD9AA05-3D8B-4B9B-B4C8-4A90041B7CB2}" type="presParOf" srcId="{E30EBF77-120B-4CD3-A033-94649BE40A66}" destId="{B0625DDC-302A-456C-8B12-57155170D50A}" srcOrd="0" destOrd="0" presId="urn:microsoft.com/office/officeart/2005/8/layout/hList7"/>
    <dgm:cxn modelId="{D45F93B7-0BEB-4D39-8248-3E22A17C536C}" type="presParOf" srcId="{E30EBF77-120B-4CD3-A033-94649BE40A66}" destId="{AE6D4CE1-C252-41FF-A301-5445162591BD}" srcOrd="1" destOrd="0" presId="urn:microsoft.com/office/officeart/2005/8/layout/hList7"/>
    <dgm:cxn modelId="{09686947-27E9-467B-8777-D428A6390A48}" type="presParOf" srcId="{E30EBF77-120B-4CD3-A033-94649BE40A66}" destId="{BE5B8B0C-3C04-4580-B087-168909CA886E}" srcOrd="2" destOrd="0" presId="urn:microsoft.com/office/officeart/2005/8/layout/hList7"/>
    <dgm:cxn modelId="{9B3970F4-676F-4283-B9CD-424E6253C12B}" type="presParOf" srcId="{E30EBF77-120B-4CD3-A033-94649BE40A66}" destId="{B103F8D8-76B4-4272-BA94-128B4C2C71A0}" srcOrd="3" destOrd="0" presId="urn:microsoft.com/office/officeart/2005/8/layout/hList7"/>
    <dgm:cxn modelId="{B637A60B-A4A1-40E8-B7D3-FEB757DB510B}" type="presParOf" srcId="{068BF970-D871-4BF1-97F3-0BE30617AC82}" destId="{485E51A4-F0D1-4786-A30C-7A22C6116916}" srcOrd="1" destOrd="0" presId="urn:microsoft.com/office/officeart/2005/8/layout/hList7"/>
    <dgm:cxn modelId="{18AC45AB-E494-42A0-9E99-559E885FFB72}" type="presParOf" srcId="{068BF970-D871-4BF1-97F3-0BE30617AC82}" destId="{365E3586-FE2C-46EC-A4DB-F75C9DC9BE12}" srcOrd="2" destOrd="0" presId="urn:microsoft.com/office/officeart/2005/8/layout/hList7"/>
    <dgm:cxn modelId="{4904A346-4C63-4389-B751-A13629DDAD04}" type="presParOf" srcId="{365E3586-FE2C-46EC-A4DB-F75C9DC9BE12}" destId="{59466344-34F2-47FE-BE5B-DE4D2D0D235D}" srcOrd="0" destOrd="0" presId="urn:microsoft.com/office/officeart/2005/8/layout/hList7"/>
    <dgm:cxn modelId="{9FFE1498-93E0-4D1A-8C89-04DB22675A8A}" type="presParOf" srcId="{365E3586-FE2C-46EC-A4DB-F75C9DC9BE12}" destId="{266A0E14-40CF-4920-A67F-1CCB058A7470}" srcOrd="1" destOrd="0" presId="urn:microsoft.com/office/officeart/2005/8/layout/hList7"/>
    <dgm:cxn modelId="{6C73281C-CAEB-41E8-8E57-15330238A5B2}" type="presParOf" srcId="{365E3586-FE2C-46EC-A4DB-F75C9DC9BE12}" destId="{97682022-119D-48E1-AF8F-5229A0350892}" srcOrd="2" destOrd="0" presId="urn:microsoft.com/office/officeart/2005/8/layout/hList7"/>
    <dgm:cxn modelId="{6AD04249-2B27-4AE2-8D83-4F66EBB2D964}" type="presParOf" srcId="{365E3586-FE2C-46EC-A4DB-F75C9DC9BE12}" destId="{50C2274F-4F2F-4CCF-A2D0-F4FCD0746BCB}" srcOrd="3" destOrd="0" presId="urn:microsoft.com/office/officeart/2005/8/layout/hList7"/>
    <dgm:cxn modelId="{B8A656EE-474D-4474-9DEC-3D6887BACF2F}" type="presParOf" srcId="{068BF970-D871-4BF1-97F3-0BE30617AC82}" destId="{AB002910-53CC-4237-BE47-F9C520C00106}" srcOrd="3" destOrd="0" presId="urn:microsoft.com/office/officeart/2005/8/layout/hList7"/>
    <dgm:cxn modelId="{8FF8CB7C-BF18-4390-9287-78081FB0981C}" type="presParOf" srcId="{068BF970-D871-4BF1-97F3-0BE30617AC82}" destId="{BACE84A8-E6D3-41DC-8EAF-DEDCC00F43B5}" srcOrd="4" destOrd="0" presId="urn:microsoft.com/office/officeart/2005/8/layout/hList7"/>
    <dgm:cxn modelId="{6F05BC51-1074-47C0-ACAF-75C98FCCB673}" type="presParOf" srcId="{BACE84A8-E6D3-41DC-8EAF-DEDCC00F43B5}" destId="{B2B10F68-512F-4683-BEE4-9F8C729BF5C7}" srcOrd="0" destOrd="0" presId="urn:microsoft.com/office/officeart/2005/8/layout/hList7"/>
    <dgm:cxn modelId="{5A61C906-A570-498D-A74D-045EC46A4A64}" type="presParOf" srcId="{BACE84A8-E6D3-41DC-8EAF-DEDCC00F43B5}" destId="{70C2D766-8FE4-4831-8DBD-FA88F235FC1A}" srcOrd="1" destOrd="0" presId="urn:microsoft.com/office/officeart/2005/8/layout/hList7"/>
    <dgm:cxn modelId="{6FCB74B2-4A64-4494-8D1B-F9CACF3143A4}" type="presParOf" srcId="{BACE84A8-E6D3-41DC-8EAF-DEDCC00F43B5}" destId="{F1727CDB-073A-47B7-B6A4-49E5643CBEF8}" srcOrd="2" destOrd="0" presId="urn:microsoft.com/office/officeart/2005/8/layout/hList7"/>
    <dgm:cxn modelId="{F246C2F4-10E7-4635-AFD6-0947843F9FEB}" type="presParOf" srcId="{BACE84A8-E6D3-41DC-8EAF-DEDCC00F43B5}" destId="{248B46C9-1690-4475-9D9E-0B3167A7796B}" srcOrd="3" destOrd="0" presId="urn:microsoft.com/office/officeart/2005/8/layout/hList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5C72F73-CEA5-484E-9538-F229B01F8F68}" type="doc">
      <dgm:prSet loTypeId="urn:microsoft.com/office/officeart/2005/8/layout/vList2" loCatId="list" qsTypeId="urn:microsoft.com/office/officeart/2005/8/quickstyle/simple1" qsCatId="simple" csTypeId="urn:microsoft.com/office/officeart/2005/8/colors/accent1_1" csCatId="accent1"/>
      <dgm:spPr/>
      <dgm:t>
        <a:bodyPr/>
        <a:lstStyle/>
        <a:p>
          <a:endParaRPr lang="en-IN"/>
        </a:p>
      </dgm:t>
    </dgm:pt>
    <dgm:pt modelId="{15AE8805-CFA6-4EAA-AFFC-69AEA5293A74}">
      <dgm:prSet custT="1"/>
      <dgm:spPr/>
      <dgm:t>
        <a:bodyPr/>
        <a:lstStyle/>
        <a:p>
          <a:r>
            <a:rPr lang="en-IN" sz="2400" dirty="0">
              <a:latin typeface="Casper"/>
            </a:rPr>
            <a:t>Introduction</a:t>
          </a:r>
        </a:p>
      </dgm:t>
    </dgm:pt>
    <dgm:pt modelId="{2DC097B1-B792-48AD-82EA-B84E42A26A3C}" type="parTrans" cxnId="{38165BF3-F80D-4145-88FC-59FAD3AE7B33}">
      <dgm:prSet/>
      <dgm:spPr/>
      <dgm:t>
        <a:bodyPr/>
        <a:lstStyle/>
        <a:p>
          <a:endParaRPr lang="en-IN"/>
        </a:p>
      </dgm:t>
    </dgm:pt>
    <dgm:pt modelId="{D5F4A7B8-2A58-44E1-856C-A8ABE4ED8426}" type="sibTrans" cxnId="{38165BF3-F80D-4145-88FC-59FAD3AE7B33}">
      <dgm:prSet/>
      <dgm:spPr/>
      <dgm:t>
        <a:bodyPr/>
        <a:lstStyle/>
        <a:p>
          <a:endParaRPr lang="en-IN"/>
        </a:p>
      </dgm:t>
    </dgm:pt>
    <dgm:pt modelId="{E532611C-9176-4F61-BA31-061233CB38EC}">
      <dgm:prSet custT="1"/>
      <dgm:spPr/>
      <dgm:t>
        <a:bodyPr/>
        <a:lstStyle/>
        <a:p>
          <a:r>
            <a:rPr lang="en-IN" sz="2400">
              <a:latin typeface="Casper"/>
            </a:rPr>
            <a:t>Benefits </a:t>
          </a:r>
        </a:p>
      </dgm:t>
    </dgm:pt>
    <dgm:pt modelId="{68F13519-81B3-4333-9578-DDE9177594EF}" type="parTrans" cxnId="{3E84A375-4BE5-4CDE-8C50-D7605310F046}">
      <dgm:prSet/>
      <dgm:spPr/>
      <dgm:t>
        <a:bodyPr/>
        <a:lstStyle/>
        <a:p>
          <a:endParaRPr lang="en-IN"/>
        </a:p>
      </dgm:t>
    </dgm:pt>
    <dgm:pt modelId="{74024602-D507-4104-B9FE-B1F139178BFB}" type="sibTrans" cxnId="{3E84A375-4BE5-4CDE-8C50-D7605310F046}">
      <dgm:prSet/>
      <dgm:spPr/>
      <dgm:t>
        <a:bodyPr/>
        <a:lstStyle/>
        <a:p>
          <a:endParaRPr lang="en-IN"/>
        </a:p>
      </dgm:t>
    </dgm:pt>
    <dgm:pt modelId="{C29FE6B7-8DA1-45C4-A50A-E5021C6E33F5}">
      <dgm:prSet custT="1"/>
      <dgm:spPr/>
      <dgm:t>
        <a:bodyPr/>
        <a:lstStyle/>
        <a:p>
          <a:r>
            <a:rPr lang="en-IN" sz="2400" dirty="0">
              <a:latin typeface="Casper"/>
            </a:rPr>
            <a:t>History</a:t>
          </a:r>
        </a:p>
      </dgm:t>
    </dgm:pt>
    <dgm:pt modelId="{6006E7A1-4225-4B7F-9ABE-14EF514C381B}" type="parTrans" cxnId="{9903BF5C-661B-40D3-B0A8-9AAC4819295F}">
      <dgm:prSet/>
      <dgm:spPr/>
      <dgm:t>
        <a:bodyPr/>
        <a:lstStyle/>
        <a:p>
          <a:endParaRPr lang="en-IN"/>
        </a:p>
      </dgm:t>
    </dgm:pt>
    <dgm:pt modelId="{22050089-53ED-49BA-BC53-7B499D247C77}" type="sibTrans" cxnId="{9903BF5C-661B-40D3-B0A8-9AAC4819295F}">
      <dgm:prSet/>
      <dgm:spPr/>
      <dgm:t>
        <a:bodyPr/>
        <a:lstStyle/>
        <a:p>
          <a:endParaRPr lang="en-IN"/>
        </a:p>
      </dgm:t>
    </dgm:pt>
    <dgm:pt modelId="{7C86E9DA-BBDC-4619-8021-640A6556F23B}">
      <dgm:prSet custT="1"/>
      <dgm:spPr/>
      <dgm:t>
        <a:bodyPr/>
        <a:lstStyle/>
        <a:p>
          <a:r>
            <a:rPr lang="en-IN" sz="2400" dirty="0">
              <a:latin typeface="Casper"/>
            </a:rPr>
            <a:t>Applications </a:t>
          </a:r>
        </a:p>
      </dgm:t>
    </dgm:pt>
    <dgm:pt modelId="{74984154-918F-4743-8360-CD926AFF44C0}" type="parTrans" cxnId="{FA59001C-E3E5-4AD4-BA62-17F7CB3FD4E6}">
      <dgm:prSet/>
      <dgm:spPr/>
      <dgm:t>
        <a:bodyPr/>
        <a:lstStyle/>
        <a:p>
          <a:endParaRPr lang="en-IN"/>
        </a:p>
      </dgm:t>
    </dgm:pt>
    <dgm:pt modelId="{3E508767-C588-4914-92CB-FE861B6A0CFE}" type="sibTrans" cxnId="{FA59001C-E3E5-4AD4-BA62-17F7CB3FD4E6}">
      <dgm:prSet/>
      <dgm:spPr/>
      <dgm:t>
        <a:bodyPr/>
        <a:lstStyle/>
        <a:p>
          <a:endParaRPr lang="en-IN"/>
        </a:p>
      </dgm:t>
    </dgm:pt>
    <dgm:pt modelId="{593164C5-2058-409D-9FF0-91F6D4728639}" type="pres">
      <dgm:prSet presAssocID="{A5C72F73-CEA5-484E-9538-F229B01F8F68}" presName="linear" presStyleCnt="0">
        <dgm:presLayoutVars>
          <dgm:animLvl val="lvl"/>
          <dgm:resizeHandles val="exact"/>
        </dgm:presLayoutVars>
      </dgm:prSet>
      <dgm:spPr/>
    </dgm:pt>
    <dgm:pt modelId="{7E551E23-589A-45F0-8426-E97134164F2F}" type="pres">
      <dgm:prSet presAssocID="{15AE8805-CFA6-4EAA-AFFC-69AEA5293A74}" presName="parentText" presStyleLbl="node1" presStyleIdx="0" presStyleCnt="4">
        <dgm:presLayoutVars>
          <dgm:chMax val="0"/>
          <dgm:bulletEnabled val="1"/>
        </dgm:presLayoutVars>
      </dgm:prSet>
      <dgm:spPr/>
    </dgm:pt>
    <dgm:pt modelId="{EFB39C6B-BA72-4449-BCA3-0B8C032DA865}" type="pres">
      <dgm:prSet presAssocID="{D5F4A7B8-2A58-44E1-856C-A8ABE4ED8426}" presName="spacer" presStyleCnt="0"/>
      <dgm:spPr/>
    </dgm:pt>
    <dgm:pt modelId="{01DFC22C-8489-49B1-BD2B-6C72CE4B61D9}" type="pres">
      <dgm:prSet presAssocID="{E532611C-9176-4F61-BA31-061233CB38EC}" presName="parentText" presStyleLbl="node1" presStyleIdx="1" presStyleCnt="4">
        <dgm:presLayoutVars>
          <dgm:chMax val="0"/>
          <dgm:bulletEnabled val="1"/>
        </dgm:presLayoutVars>
      </dgm:prSet>
      <dgm:spPr/>
    </dgm:pt>
    <dgm:pt modelId="{48D4BCC5-78E7-4EDC-B27D-9D27CF9E524D}" type="pres">
      <dgm:prSet presAssocID="{74024602-D507-4104-B9FE-B1F139178BFB}" presName="spacer" presStyleCnt="0"/>
      <dgm:spPr/>
    </dgm:pt>
    <dgm:pt modelId="{DD164C9D-BBF7-4ABF-8BE5-764FCA480DA3}" type="pres">
      <dgm:prSet presAssocID="{C29FE6B7-8DA1-45C4-A50A-E5021C6E33F5}" presName="parentText" presStyleLbl="node1" presStyleIdx="2" presStyleCnt="4">
        <dgm:presLayoutVars>
          <dgm:chMax val="0"/>
          <dgm:bulletEnabled val="1"/>
        </dgm:presLayoutVars>
      </dgm:prSet>
      <dgm:spPr/>
    </dgm:pt>
    <dgm:pt modelId="{812DA3A4-7A8B-4C25-A0F2-8801414B02E0}" type="pres">
      <dgm:prSet presAssocID="{22050089-53ED-49BA-BC53-7B499D247C77}" presName="spacer" presStyleCnt="0"/>
      <dgm:spPr/>
    </dgm:pt>
    <dgm:pt modelId="{983EF70A-DB3E-4FBF-B0AD-328D1B8FF913}" type="pres">
      <dgm:prSet presAssocID="{7C86E9DA-BBDC-4619-8021-640A6556F23B}" presName="parentText" presStyleLbl="node1" presStyleIdx="3" presStyleCnt="4">
        <dgm:presLayoutVars>
          <dgm:chMax val="0"/>
          <dgm:bulletEnabled val="1"/>
        </dgm:presLayoutVars>
      </dgm:prSet>
      <dgm:spPr/>
    </dgm:pt>
  </dgm:ptLst>
  <dgm:cxnLst>
    <dgm:cxn modelId="{FA59001C-E3E5-4AD4-BA62-17F7CB3FD4E6}" srcId="{A5C72F73-CEA5-484E-9538-F229B01F8F68}" destId="{7C86E9DA-BBDC-4619-8021-640A6556F23B}" srcOrd="3" destOrd="0" parTransId="{74984154-918F-4743-8360-CD926AFF44C0}" sibTransId="{3E508767-C588-4914-92CB-FE861B6A0CFE}"/>
    <dgm:cxn modelId="{27A5DB1D-36C4-4F36-90C9-94694BA276AF}" type="presOf" srcId="{7C86E9DA-BBDC-4619-8021-640A6556F23B}" destId="{983EF70A-DB3E-4FBF-B0AD-328D1B8FF913}" srcOrd="0" destOrd="0" presId="urn:microsoft.com/office/officeart/2005/8/layout/vList2"/>
    <dgm:cxn modelId="{9903BF5C-661B-40D3-B0A8-9AAC4819295F}" srcId="{A5C72F73-CEA5-484E-9538-F229B01F8F68}" destId="{C29FE6B7-8DA1-45C4-A50A-E5021C6E33F5}" srcOrd="2" destOrd="0" parTransId="{6006E7A1-4225-4B7F-9ABE-14EF514C381B}" sibTransId="{22050089-53ED-49BA-BC53-7B499D247C77}"/>
    <dgm:cxn modelId="{876F0144-DEE9-4F33-9F04-8EE81F1CA1DE}" type="presOf" srcId="{A5C72F73-CEA5-484E-9538-F229B01F8F68}" destId="{593164C5-2058-409D-9FF0-91F6D4728639}" srcOrd="0" destOrd="0" presId="urn:microsoft.com/office/officeart/2005/8/layout/vList2"/>
    <dgm:cxn modelId="{3E84A375-4BE5-4CDE-8C50-D7605310F046}" srcId="{A5C72F73-CEA5-484E-9538-F229B01F8F68}" destId="{E532611C-9176-4F61-BA31-061233CB38EC}" srcOrd="1" destOrd="0" parTransId="{68F13519-81B3-4333-9578-DDE9177594EF}" sibTransId="{74024602-D507-4104-B9FE-B1F139178BFB}"/>
    <dgm:cxn modelId="{998B5D8E-CCB0-4202-90B4-57D4C33E3499}" type="presOf" srcId="{15AE8805-CFA6-4EAA-AFFC-69AEA5293A74}" destId="{7E551E23-589A-45F0-8426-E97134164F2F}" srcOrd="0" destOrd="0" presId="urn:microsoft.com/office/officeart/2005/8/layout/vList2"/>
    <dgm:cxn modelId="{D8BC2EA9-CEC7-40A4-8CEC-37CCB8E70AFB}" type="presOf" srcId="{E532611C-9176-4F61-BA31-061233CB38EC}" destId="{01DFC22C-8489-49B1-BD2B-6C72CE4B61D9}" srcOrd="0" destOrd="0" presId="urn:microsoft.com/office/officeart/2005/8/layout/vList2"/>
    <dgm:cxn modelId="{5D21F0E7-8BB0-4EEA-AB63-6BDCC8490FB0}" type="presOf" srcId="{C29FE6B7-8DA1-45C4-A50A-E5021C6E33F5}" destId="{DD164C9D-BBF7-4ABF-8BE5-764FCA480DA3}" srcOrd="0" destOrd="0" presId="urn:microsoft.com/office/officeart/2005/8/layout/vList2"/>
    <dgm:cxn modelId="{38165BF3-F80D-4145-88FC-59FAD3AE7B33}" srcId="{A5C72F73-CEA5-484E-9538-F229B01F8F68}" destId="{15AE8805-CFA6-4EAA-AFFC-69AEA5293A74}" srcOrd="0" destOrd="0" parTransId="{2DC097B1-B792-48AD-82EA-B84E42A26A3C}" sibTransId="{D5F4A7B8-2A58-44E1-856C-A8ABE4ED8426}"/>
    <dgm:cxn modelId="{71DA365E-3BAE-4297-BDE6-67B410DF2F84}" type="presParOf" srcId="{593164C5-2058-409D-9FF0-91F6D4728639}" destId="{7E551E23-589A-45F0-8426-E97134164F2F}" srcOrd="0" destOrd="0" presId="urn:microsoft.com/office/officeart/2005/8/layout/vList2"/>
    <dgm:cxn modelId="{2817682A-0E41-4028-85A3-5C62250886B6}" type="presParOf" srcId="{593164C5-2058-409D-9FF0-91F6D4728639}" destId="{EFB39C6B-BA72-4449-BCA3-0B8C032DA865}" srcOrd="1" destOrd="0" presId="urn:microsoft.com/office/officeart/2005/8/layout/vList2"/>
    <dgm:cxn modelId="{C420C48C-BF0A-4670-A5C0-379EB142A204}" type="presParOf" srcId="{593164C5-2058-409D-9FF0-91F6D4728639}" destId="{01DFC22C-8489-49B1-BD2B-6C72CE4B61D9}" srcOrd="2" destOrd="0" presId="urn:microsoft.com/office/officeart/2005/8/layout/vList2"/>
    <dgm:cxn modelId="{5905BC37-3329-4F64-95C9-C2F70C1763C6}" type="presParOf" srcId="{593164C5-2058-409D-9FF0-91F6D4728639}" destId="{48D4BCC5-78E7-4EDC-B27D-9D27CF9E524D}" srcOrd="3" destOrd="0" presId="urn:microsoft.com/office/officeart/2005/8/layout/vList2"/>
    <dgm:cxn modelId="{8B83FA0E-80E2-4717-BE6C-EF280F021F8D}" type="presParOf" srcId="{593164C5-2058-409D-9FF0-91F6D4728639}" destId="{DD164C9D-BBF7-4ABF-8BE5-764FCA480DA3}" srcOrd="4" destOrd="0" presId="urn:microsoft.com/office/officeart/2005/8/layout/vList2"/>
    <dgm:cxn modelId="{D03B4772-412B-49EB-B280-6F49747563C5}" type="presParOf" srcId="{593164C5-2058-409D-9FF0-91F6D4728639}" destId="{812DA3A4-7A8B-4C25-A0F2-8801414B02E0}" srcOrd="5" destOrd="0" presId="urn:microsoft.com/office/officeart/2005/8/layout/vList2"/>
    <dgm:cxn modelId="{458AA811-B154-45BE-BDE0-2EA111D04B35}" type="presParOf" srcId="{593164C5-2058-409D-9FF0-91F6D4728639}" destId="{983EF70A-DB3E-4FBF-B0AD-328D1B8FF91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625DDC-302A-456C-8B12-57155170D50A}">
      <dsp:nvSpPr>
        <dsp:cNvPr id="0" name=""/>
        <dsp:cNvSpPr/>
      </dsp:nvSpPr>
      <dsp:spPr>
        <a:xfrm>
          <a:off x="2207" y="0"/>
          <a:ext cx="3435027" cy="4351338"/>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IN" sz="2400" kern="1200" dirty="0">
              <a:latin typeface="Casper"/>
              <a:cs typeface="Times New Roman" panose="02020603050405020304" pitchFamily="18" charset="0"/>
            </a:rPr>
            <a:t>Students will learn about what is nanotechnology</a:t>
          </a:r>
        </a:p>
      </dsp:txBody>
      <dsp:txXfrm>
        <a:off x="2207" y="1740535"/>
        <a:ext cx="3435027" cy="1740535"/>
      </dsp:txXfrm>
    </dsp:sp>
    <dsp:sp modelId="{B103F8D8-76B4-4272-BA94-128B4C2C71A0}">
      <dsp:nvSpPr>
        <dsp:cNvPr id="0" name=""/>
        <dsp:cNvSpPr/>
      </dsp:nvSpPr>
      <dsp:spPr>
        <a:xfrm>
          <a:off x="870204" y="238823"/>
          <a:ext cx="1448995" cy="1448995"/>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7000" r="-17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59466344-34F2-47FE-BE5B-DE4D2D0D235D}">
      <dsp:nvSpPr>
        <dsp:cNvPr id="0" name=""/>
        <dsp:cNvSpPr/>
      </dsp:nvSpPr>
      <dsp:spPr>
        <a:xfrm>
          <a:off x="3489756" y="0"/>
          <a:ext cx="3435027" cy="4351338"/>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IN" sz="2400" kern="1200" dirty="0">
              <a:latin typeface="Casper"/>
              <a:cs typeface="Times New Roman" panose="02020603050405020304" pitchFamily="18" charset="0"/>
            </a:rPr>
            <a:t>Students will understand how nanotechnology develop.</a:t>
          </a:r>
        </a:p>
      </dsp:txBody>
      <dsp:txXfrm>
        <a:off x="3489756" y="1740535"/>
        <a:ext cx="3435027" cy="1740535"/>
      </dsp:txXfrm>
    </dsp:sp>
    <dsp:sp modelId="{50C2274F-4F2F-4CCF-A2D0-F4FCD0746BCB}">
      <dsp:nvSpPr>
        <dsp:cNvPr id="0" name=""/>
        <dsp:cNvSpPr/>
      </dsp:nvSpPr>
      <dsp:spPr>
        <a:xfrm>
          <a:off x="4521550" y="237592"/>
          <a:ext cx="1448995" cy="1448995"/>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33000" r="-33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B2B10F68-512F-4683-BEE4-9F8C729BF5C7}">
      <dsp:nvSpPr>
        <dsp:cNvPr id="0" name=""/>
        <dsp:cNvSpPr/>
      </dsp:nvSpPr>
      <dsp:spPr>
        <a:xfrm>
          <a:off x="7078364" y="0"/>
          <a:ext cx="3435027" cy="4351338"/>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IN" sz="2400" kern="1200" dirty="0">
              <a:latin typeface="Casper"/>
              <a:cs typeface="Times New Roman" panose="02020603050405020304" pitchFamily="18" charset="0"/>
            </a:rPr>
            <a:t>Students will learn about applications of nanotechnology.</a:t>
          </a:r>
        </a:p>
      </dsp:txBody>
      <dsp:txXfrm>
        <a:off x="7078364" y="1740535"/>
        <a:ext cx="3435027" cy="1740535"/>
      </dsp:txXfrm>
    </dsp:sp>
    <dsp:sp modelId="{248B46C9-1690-4475-9D9E-0B3167A7796B}">
      <dsp:nvSpPr>
        <dsp:cNvPr id="0" name=""/>
        <dsp:cNvSpPr/>
      </dsp:nvSpPr>
      <dsp:spPr>
        <a:xfrm>
          <a:off x="8071380" y="261080"/>
          <a:ext cx="1448995" cy="1448995"/>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39000" r="-39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323C8708-EBC8-4346-B9D7-F4F4FED58C31}">
      <dsp:nvSpPr>
        <dsp:cNvPr id="0" name=""/>
        <dsp:cNvSpPr/>
      </dsp:nvSpPr>
      <dsp:spPr>
        <a:xfrm>
          <a:off x="420623" y="3481070"/>
          <a:ext cx="9674352" cy="652700"/>
        </a:xfrm>
        <a:prstGeom prst="leftRightArrow">
          <a:avLst/>
        </a:prstGeom>
        <a:gradFill rotWithShape="0">
          <a:gsLst>
            <a:gs pos="0">
              <a:schemeClr val="accent2">
                <a:tint val="40000"/>
                <a:hueOff val="0"/>
                <a:satOff val="0"/>
                <a:lumOff val="0"/>
                <a:alphaOff val="0"/>
                <a:lumMod val="110000"/>
                <a:satMod val="105000"/>
                <a:tint val="67000"/>
              </a:schemeClr>
            </a:gs>
            <a:gs pos="50000">
              <a:schemeClr val="accent2">
                <a:tint val="40000"/>
                <a:hueOff val="0"/>
                <a:satOff val="0"/>
                <a:lumOff val="0"/>
                <a:alphaOff val="0"/>
                <a:lumMod val="105000"/>
                <a:satMod val="103000"/>
                <a:tint val="73000"/>
              </a:schemeClr>
            </a:gs>
            <a:gs pos="100000">
              <a:schemeClr val="accent2">
                <a:tint val="40000"/>
                <a:hueOff val="0"/>
                <a:satOff val="0"/>
                <a:lumOff val="0"/>
                <a:alphaOff val="0"/>
                <a:lumMod val="105000"/>
                <a:satMod val="109000"/>
                <a:tint val="81000"/>
              </a:schemeClr>
            </a:gs>
          </a:gsLst>
          <a:lin ang="5400000" scaled="0"/>
        </a:gradFill>
        <a:ln w="6350" cap="flat" cmpd="sng" algn="ctr">
          <a:solidFill>
            <a:schemeClr val="lt1">
              <a:hueOff val="0"/>
              <a:satOff val="0"/>
              <a:lumOff val="0"/>
              <a:alphaOff val="0"/>
            </a:schemeClr>
          </a:solidFill>
          <a:prstDash val="solid"/>
          <a:miter lim="800000"/>
        </a:ln>
        <a:effectLst/>
        <a:scene3d>
          <a:camera prst="orthographicFront"/>
          <a:lightRig rig="flat" dir="t"/>
        </a:scene3d>
        <a:sp3d prstMaterial="dkEdge">
          <a:bevelT w="8200" h="38100"/>
        </a:sp3d>
      </dsp:spPr>
      <dsp:style>
        <a:lnRef idx="1">
          <a:scrgbClr r="0" g="0" b="0"/>
        </a:lnRef>
        <a:fillRef idx="2">
          <a:scrgbClr r="0" g="0" b="0"/>
        </a:fillRef>
        <a:effectRef idx="1">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551E23-589A-45F0-8426-E97134164F2F}">
      <dsp:nvSpPr>
        <dsp:cNvPr id="0" name=""/>
        <dsp:cNvSpPr/>
      </dsp:nvSpPr>
      <dsp:spPr>
        <a:xfrm>
          <a:off x="0" y="4149"/>
          <a:ext cx="10515600" cy="9734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latin typeface="Casper"/>
            </a:rPr>
            <a:t>Introduction</a:t>
          </a:r>
        </a:p>
      </dsp:txBody>
      <dsp:txXfrm>
        <a:off x="47519" y="51668"/>
        <a:ext cx="10420562" cy="878402"/>
      </dsp:txXfrm>
    </dsp:sp>
    <dsp:sp modelId="{01DFC22C-8489-49B1-BD2B-6C72CE4B61D9}">
      <dsp:nvSpPr>
        <dsp:cNvPr id="0" name=""/>
        <dsp:cNvSpPr/>
      </dsp:nvSpPr>
      <dsp:spPr>
        <a:xfrm>
          <a:off x="0" y="1127349"/>
          <a:ext cx="10515600" cy="9734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a:latin typeface="Casper"/>
            </a:rPr>
            <a:t>Benefits </a:t>
          </a:r>
        </a:p>
      </dsp:txBody>
      <dsp:txXfrm>
        <a:off x="47519" y="1174868"/>
        <a:ext cx="10420562" cy="878402"/>
      </dsp:txXfrm>
    </dsp:sp>
    <dsp:sp modelId="{DD164C9D-BBF7-4ABF-8BE5-764FCA480DA3}">
      <dsp:nvSpPr>
        <dsp:cNvPr id="0" name=""/>
        <dsp:cNvSpPr/>
      </dsp:nvSpPr>
      <dsp:spPr>
        <a:xfrm>
          <a:off x="0" y="2250549"/>
          <a:ext cx="10515600" cy="9734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latin typeface="Casper"/>
            </a:rPr>
            <a:t>History</a:t>
          </a:r>
        </a:p>
      </dsp:txBody>
      <dsp:txXfrm>
        <a:off x="47519" y="2298068"/>
        <a:ext cx="10420562" cy="878402"/>
      </dsp:txXfrm>
    </dsp:sp>
    <dsp:sp modelId="{983EF70A-DB3E-4FBF-B0AD-328D1B8FF913}">
      <dsp:nvSpPr>
        <dsp:cNvPr id="0" name=""/>
        <dsp:cNvSpPr/>
      </dsp:nvSpPr>
      <dsp:spPr>
        <a:xfrm>
          <a:off x="0" y="3373749"/>
          <a:ext cx="10515600" cy="9734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latin typeface="Casper"/>
            </a:rPr>
            <a:t>Applications </a:t>
          </a:r>
        </a:p>
      </dsp:txBody>
      <dsp:txXfrm>
        <a:off x="47519" y="3421268"/>
        <a:ext cx="10420562" cy="878402"/>
      </dsp:txXfrm>
    </dsp:sp>
  </dsp:spTree>
</dsp:drawing>
</file>

<file path=ppt/diagrams/layout1.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t>6/15/2023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t>6/15/2023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hyperlink" Target="https://www.nano.gov/you/nanotechnology-benefits" TargetMode="External"/><Relationship Id="rId2" Type="http://schemas.openxmlformats.org/officeDocument/2006/relationships/hyperlink" Target="https://www.newscientist.com/article/dn9939-introduction-nanotechnology/#ixzz6UEWrLASu" TargetMode="External"/><Relationship Id="rId1" Type="http://schemas.openxmlformats.org/officeDocument/2006/relationships/slideLayout" Target="../slideLayouts/slideLayout2.xml"/><Relationship Id="rId5" Type="http://schemas.openxmlformats.org/officeDocument/2006/relationships/hyperlink" Target="https://www.newscientist.com/article/dn9939-introduction-nanotechnology/" TargetMode="External"/><Relationship Id="rId4" Type="http://schemas.openxmlformats.org/officeDocument/2006/relationships/hyperlink" Target="https://www.azonano.com/article.aspx?ArticleID=1134#_What_is_Nanotechnology?" TargetMode="External"/></Relationships>
</file>

<file path=ppt/slides/_rels/slide19.xml.rels><?xml version="1.0" encoding="UTF-8" standalone="yes"?>
<Relationships xmlns="http://schemas.openxmlformats.org/package/2006/relationships"><Relationship Id="rId8" Type="http://schemas.openxmlformats.org/officeDocument/2006/relationships/hyperlink" Target="https://cancer-nano.biomedcentral.com/" TargetMode="External"/><Relationship Id="rId3" Type="http://schemas.openxmlformats.org/officeDocument/2006/relationships/hyperlink" Target="https://www.researchgate.net/figure/THE-MICROCOSM-The-nanoscale-includes-proteins-but-excludes-simple-atoms-which-are-too_fig1_301733368" TargetMode="External"/><Relationship Id="rId7" Type="http://schemas.openxmlformats.org/officeDocument/2006/relationships/hyperlink" Target="https://www.sciencedirect.com/science/article/pii/S1018364717310868" TargetMode="External"/><Relationship Id="rId2" Type="http://schemas.openxmlformats.org/officeDocument/2006/relationships/hyperlink" Target="file:///E:\VIDEO%20LECTURE\quantum%20physics\%5b1%5d%20https:\www.researchgate.net\figure\THE-MICROCOSM-The-nanoscale-includes-proteins-but-excludes-simple-atoms-which-are-too_fig1_301733368" TargetMode="External"/><Relationship Id="rId1" Type="http://schemas.openxmlformats.org/officeDocument/2006/relationships/slideLayout" Target="../slideLayouts/slideLayout2.xml"/><Relationship Id="rId6" Type="http://schemas.openxmlformats.org/officeDocument/2006/relationships/hyperlink" Target="https://www.stantonoptical.com/blog/anti-reflective-lens-coating" TargetMode="External"/><Relationship Id="rId5" Type="http://schemas.openxmlformats.org/officeDocument/2006/relationships/hyperlink" Target="https://www.tctnanotech.com/nanotechnology-benefits/" TargetMode="External"/><Relationship Id="rId4" Type="http://schemas.openxmlformats.org/officeDocument/2006/relationships/hyperlink" Target="https://www.understandingnano.com/introduction.html" TargetMode="External"/><Relationship Id="rId9" Type="http://schemas.openxmlformats.org/officeDocument/2006/relationships/hyperlink" Target="https://www.npr.org/sections/health-shots/2017/07/23/537287781/beyond-the-nasty-needle-trying-to-make-vaccines-more-comfy-and-convenient"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0MzIh7wkgMs" TargetMode="External"/><Relationship Id="rId2" Type="http://schemas.openxmlformats.org/officeDocument/2006/relationships/hyperlink" Target="https://www.youtube.com/watch?v=k61wjab7iUs" TargetMode="External"/><Relationship Id="rId1" Type="http://schemas.openxmlformats.org/officeDocument/2006/relationships/slideLayout" Target="../slideLayouts/slideLayout2.xml"/><Relationship Id="rId4" Type="http://schemas.openxmlformats.org/officeDocument/2006/relationships/hyperlink" Target="https://www.youtube.com/watch?v=bKh4cwAygPM"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1" y="4718027"/>
            <a:ext cx="1219200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3739742763"/>
              </p:ext>
            </p:extLst>
          </p:nvPr>
        </p:nvGraphicFramePr>
        <p:xfrm>
          <a:off x="-1" y="3088521"/>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
                      <p:cNvPicPr>
                        <a:picLocks noChangeAspect="1" noChangeArrowheads="1"/>
                      </p:cNvPicPr>
                      <p:nvPr/>
                    </p:nvPicPr>
                    <p:blipFill>
                      <a:blip r:embed="rId3">
                        <a:lum bright="77000"/>
                        <a:extLst>
                          <a:ext uri="{28A0092B-C50C-407E-A947-70E740481C1C}">
                            <a14:useLocalDpi xmlns:a14="http://schemas.microsoft.com/office/drawing/2010/main" val="0"/>
                          </a:ext>
                        </a:extLst>
                      </a:blip>
                      <a:srcRect/>
                      <a:stretch>
                        <a:fillRect/>
                      </a:stretch>
                    </p:blipFill>
                    <p:spPr bwMode="auto">
                      <a:xfrm>
                        <a:off x="-1" y="3088521"/>
                        <a:ext cx="3303056" cy="3148059"/>
                      </a:xfrm>
                      <a:prstGeom prst="rect">
                        <a:avLst/>
                      </a:prstGeom>
                      <a:noFill/>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12104" y="5741722"/>
            <a:ext cx="4912783" cy="1218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UNIT 3</a:t>
            </a:r>
          </a:p>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Introduction to Nanotechnology &amp; Quantum Computing</a:t>
            </a:r>
          </a:p>
        </p:txBody>
      </p:sp>
      <p:sp>
        <p:nvSpPr>
          <p:cNvPr id="26" name="TextBox 25"/>
          <p:cNvSpPr txBox="1">
            <a:spLocks noChangeArrowheads="1"/>
          </p:cNvSpPr>
          <p:nvPr/>
        </p:nvSpPr>
        <p:spPr bwMode="auto">
          <a:xfrm>
            <a:off x="2908343" y="793628"/>
            <a:ext cx="8597857" cy="6915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600" b="1" dirty="0">
                <a:latin typeface="Arial Black" panose="020B0A04020102020204" pitchFamily="34" charset="0"/>
                <a:ea typeface="Karla" pitchFamily="2" charset="0"/>
                <a:cs typeface="Karla" pitchFamily="2" charset="0"/>
              </a:rPr>
              <a:t>INSTITUTE :UIE</a:t>
            </a:r>
          </a:p>
          <a:p>
            <a:pPr lvl="0" algn="ctr" defTabSz="622300">
              <a:lnSpc>
                <a:spcPct val="90000"/>
              </a:lnSpc>
              <a:spcBef>
                <a:spcPct val="0"/>
              </a:spcBef>
              <a:spcAft>
                <a:spcPct val="35000"/>
              </a:spcAft>
            </a:pPr>
            <a:r>
              <a:rPr lang="en-US" sz="3600" b="1" dirty="0">
                <a:latin typeface="Arial Black" panose="020B0A04020102020204" pitchFamily="34" charset="0"/>
                <a:ea typeface="Karla" pitchFamily="2" charset="0"/>
                <a:cs typeface="Karla" pitchFamily="2" charset="0"/>
              </a:rPr>
              <a:t>DEPARTMENT: ALL ACADEMIC UNITS</a:t>
            </a:r>
          </a:p>
          <a:p>
            <a:pPr lvl="0" algn="ctr" defTabSz="622300">
              <a:lnSpc>
                <a:spcPct val="90000"/>
              </a:lnSpc>
              <a:spcBef>
                <a:spcPct val="0"/>
              </a:spcBef>
              <a:spcAft>
                <a:spcPct val="35000"/>
              </a:spcAft>
            </a:pPr>
            <a:r>
              <a:rPr lang="en-US" sz="3200" dirty="0">
                <a:latin typeface="Times New Roman" pitchFamily="18" charset="0"/>
                <a:ea typeface="Calibri" panose="020F0502020204030204" pitchFamily="34" charset="0"/>
                <a:cs typeface="Times New Roman" panose="02020603050405020304" pitchFamily="18" charset="0"/>
              </a:rPr>
              <a:t>Bachelor of Engineering (All Sections)</a:t>
            </a:r>
          </a:p>
          <a:p>
            <a:pPr lvl="0" algn="ctr" defTabSz="622300">
              <a:lnSpc>
                <a:spcPct val="90000"/>
              </a:lnSpc>
              <a:spcBef>
                <a:spcPct val="0"/>
              </a:spcBef>
              <a:spcAft>
                <a:spcPct val="35000"/>
              </a:spcAft>
            </a:pPr>
            <a:r>
              <a:rPr lang="en-US" sz="3200" dirty="0">
                <a:latin typeface="Times New Roman" pitchFamily="18" charset="0"/>
                <a:ea typeface="Calibri" panose="020F0502020204030204" pitchFamily="34" charset="0"/>
                <a:cs typeface="Times New Roman" panose="02020603050405020304" pitchFamily="18" charset="0"/>
              </a:rPr>
              <a:t>Subject Name and Code:</a:t>
            </a:r>
          </a:p>
          <a:p>
            <a:pPr lvl="0" algn="ctr" defTabSz="622300">
              <a:lnSpc>
                <a:spcPct val="90000"/>
              </a:lnSpc>
              <a:spcBef>
                <a:spcPct val="0"/>
              </a:spcBef>
              <a:spcAft>
                <a:spcPct val="35000"/>
              </a:spcAft>
            </a:pPr>
            <a:r>
              <a:rPr lang="en-US" sz="3200">
                <a:latin typeface="Times New Roman" pitchFamily="18" charset="0"/>
                <a:ea typeface="Calibri" panose="020F0502020204030204" pitchFamily="34" charset="0"/>
                <a:cs typeface="Times New Roman" panose="02020603050405020304" pitchFamily="18" charset="0"/>
              </a:rPr>
              <a:t>Engineering Physics 23SPH-141</a:t>
            </a:r>
          </a:p>
          <a:p>
            <a:pPr lvl="0" algn="ctr" defTabSz="622300">
              <a:lnSpc>
                <a:spcPct val="90000"/>
              </a:lnSpc>
              <a:spcBef>
                <a:spcPct val="0"/>
              </a:spcBef>
              <a:spcAft>
                <a:spcPct val="35000"/>
              </a:spcAft>
            </a:pPr>
            <a:r>
              <a:rPr lang="en-US" sz="2800">
                <a:latin typeface="Times New Roman" pitchFamily="18" charset="0"/>
                <a:ea typeface="Calibri" panose="020F0502020204030204" pitchFamily="34" charset="0"/>
                <a:cs typeface="Times New Roman" panose="02020603050405020304" pitchFamily="18" charset="0"/>
              </a:rPr>
              <a:t>Prepared </a:t>
            </a:r>
            <a:r>
              <a:rPr lang="en-US" sz="2800" dirty="0">
                <a:latin typeface="Times New Roman" pitchFamily="18" charset="0"/>
                <a:ea typeface="Calibri" panose="020F0502020204030204" pitchFamily="34" charset="0"/>
                <a:cs typeface="Times New Roman" panose="02020603050405020304" pitchFamily="18" charset="0"/>
              </a:rPr>
              <a:t>by: Ms. </a:t>
            </a:r>
            <a:r>
              <a:rPr lang="en-US" sz="2800" dirty="0" err="1">
                <a:latin typeface="Times New Roman" pitchFamily="18" charset="0"/>
                <a:ea typeface="Calibri" panose="020F0502020204030204" pitchFamily="34" charset="0"/>
                <a:cs typeface="Times New Roman" panose="02020603050405020304" pitchFamily="18" charset="0"/>
              </a:rPr>
              <a:t>Arminder</a:t>
            </a:r>
            <a:endParaRPr lang="en-US" sz="2800" dirty="0">
              <a:latin typeface="Times New Roman"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11359166" y="6356350"/>
            <a:ext cx="223234" cy="365125"/>
          </a:xfrm>
          <a:ln>
            <a:solidFill>
              <a:schemeClr val="accent1"/>
            </a:solidFill>
          </a:ln>
        </p:spPr>
        <p:txBody>
          <a:bodyPr/>
          <a:lstStyle/>
          <a:p>
            <a:fld id="{BDCDBBEF-AA6C-4BA6-85B2-A17D7F280E38}" type="slidenum">
              <a:rPr lang="en-US" smtClean="0"/>
              <a:t>2</a:t>
            </a:fld>
            <a:endParaRPr lang="en-US" dirty="0"/>
          </a:p>
        </p:txBody>
      </p:sp>
      <p:sp>
        <p:nvSpPr>
          <p:cNvPr id="10" name="Oval 9"/>
          <p:cNvSpPr/>
          <p:nvPr/>
        </p:nvSpPr>
        <p:spPr>
          <a:xfrm>
            <a:off x="11217276" y="6324600"/>
            <a:ext cx="444500" cy="42227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96EF3AC-12D8-4376-826F-0CDE220D0DD9}"/>
              </a:ext>
            </a:extLst>
          </p:cNvPr>
          <p:cNvSpPr txBox="1"/>
          <p:nvPr/>
        </p:nvSpPr>
        <p:spPr>
          <a:xfrm>
            <a:off x="1519707" y="200819"/>
            <a:ext cx="10062693" cy="769441"/>
          </a:xfrm>
          <a:prstGeom prst="rect">
            <a:avLst/>
          </a:prstGeom>
          <a:solidFill>
            <a:schemeClr val="bg1"/>
          </a:solidFill>
          <a:ln>
            <a:solidFill>
              <a:srgbClr val="C00000"/>
            </a:solidFill>
          </a:ln>
        </p:spPr>
        <p:txBody>
          <a:bodyPr wrap="square" rtlCol="0">
            <a:spAutoFit/>
          </a:bodyPr>
          <a:lstStyle/>
          <a:p>
            <a:pPr algn="ctr"/>
            <a:r>
              <a:rPr lang="en-IN" sz="4400" b="1" dirty="0">
                <a:latin typeface="Casper Bold"/>
              </a:rPr>
              <a:t>COURSE OBJECTIVES</a:t>
            </a:r>
          </a:p>
        </p:txBody>
      </p:sp>
      <p:sp>
        <p:nvSpPr>
          <p:cNvPr id="7" name="Rectangle 6">
            <a:extLst>
              <a:ext uri="{FF2B5EF4-FFF2-40B4-BE49-F238E27FC236}">
                <a16:creationId xmlns:a16="http://schemas.microsoft.com/office/drawing/2014/main" id="{9E9E0D1A-55C5-463F-89FE-BD77E41FFD1A}"/>
              </a:ext>
            </a:extLst>
          </p:cNvPr>
          <p:cNvSpPr/>
          <p:nvPr/>
        </p:nvSpPr>
        <p:spPr>
          <a:xfrm>
            <a:off x="1223740" y="1837121"/>
            <a:ext cx="10241791" cy="4214231"/>
          </a:xfrm>
          <a:prstGeom prst="rect">
            <a:avLst/>
          </a:prstGeom>
          <a:ln>
            <a:solidFill>
              <a:schemeClr val="accent1"/>
            </a:solidFill>
          </a:ln>
        </p:spPr>
        <p:txBody>
          <a:bodyPr wrap="square">
            <a:spAutoFit/>
          </a:bodyPr>
          <a:lstStyle/>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The course is designed to make the students industry ready to contribute in the growing demand of the industry at local, national and international level.</a:t>
            </a:r>
          </a:p>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make the students competent to understand basic concepts and applications of advanced engineering physics and apply its principles in their respective fields at global platform.</a:t>
            </a:r>
          </a:p>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enhance the skill level of the students and shall make them preferred choice for getting employment in industry and research labs.</a:t>
            </a:r>
          </a:p>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give thorough knowledge of the discipline to enable students to disseminate knowledge in pursuing excellence in academic areas.</a:t>
            </a:r>
          </a:p>
          <a:p>
            <a:pPr marL="342900" marR="38100" lvl="0" indent="-342900" algn="just">
              <a:lnSpc>
                <a:spcPct val="93000"/>
              </a:lnSpc>
              <a:spcAft>
                <a:spcPts val="0"/>
              </a:spcAft>
              <a:buFont typeface="+mj-lt"/>
              <a:buAutoNum type="arabicPeriod"/>
              <a:tabLst>
                <a:tab pos="330200" algn="l"/>
              </a:tabLst>
            </a:pPr>
            <a:endParaRPr lang="en-IN" sz="2400" dirty="0">
              <a:effectLst/>
              <a:latin typeface="Casper" panose="02000506000000020004"/>
              <a:ea typeface="Times New Roman" panose="02020603050405020304" pitchFamily="18" charset="0"/>
            </a:endParaRPr>
          </a:p>
          <a:p>
            <a:pPr marR="38100" lvl="0" algn="just">
              <a:lnSpc>
                <a:spcPct val="93000"/>
              </a:lnSpc>
              <a:spcAft>
                <a:spcPts val="0"/>
              </a:spcAft>
              <a:tabLst>
                <a:tab pos="330200" algn="l"/>
              </a:tabLst>
            </a:pPr>
            <a:endParaRPr lang="en-IN" sz="2400" dirty="0">
              <a:effectLst/>
              <a:latin typeface="Casper" panose="02000506000000020004"/>
              <a:ea typeface="Times New Roman" panose="02020603050405020304" pitchFamily="18" charset="0"/>
            </a:endParaRPr>
          </a:p>
        </p:txBody>
      </p:sp>
    </p:spTree>
    <p:extLst>
      <p:ext uri="{BB962C8B-B14F-4D97-AF65-F5344CB8AC3E}">
        <p14:creationId xmlns:p14="http://schemas.microsoft.com/office/powerpoint/2010/main"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3</a:t>
            </a:fld>
            <a:endParaRPr lang="en-US"/>
          </a:p>
        </p:txBody>
      </p:sp>
      <p:sp>
        <p:nvSpPr>
          <p:cNvPr id="8" name="Rectangle 7"/>
          <p:cNvSpPr/>
          <p:nvPr/>
        </p:nvSpPr>
        <p:spPr>
          <a:xfrm>
            <a:off x="2096394" y="256020"/>
            <a:ext cx="8507916" cy="1138773"/>
          </a:xfrm>
          <a:prstGeom prst="rect">
            <a:avLst/>
          </a:prstGeom>
        </p:spPr>
        <p:txBody>
          <a:bodyPr wrap="square">
            <a:spAutoFit/>
          </a:bodyPr>
          <a:lstStyle/>
          <a:p>
            <a:pPr algn="ctr"/>
            <a:r>
              <a:rPr lang="en-US" sz="4400" b="1" dirty="0">
                <a:latin typeface="Casper" panose="02000506000000020004"/>
                <a:cs typeface="Times New Roman" pitchFamily="18" charset="0"/>
              </a:rPr>
              <a:t>COURSE OUTCOME</a:t>
            </a:r>
            <a:endParaRPr lang="en-US" sz="4400" b="1" dirty="0">
              <a:latin typeface="Casper" panose="02000506000000020004"/>
            </a:endParaRPr>
          </a:p>
          <a:p>
            <a:r>
              <a:rPr lang="en-US" sz="2400" b="1" dirty="0">
                <a:latin typeface="Casper" panose="02000506000000020004"/>
              </a:rPr>
              <a:t>       </a:t>
            </a:r>
          </a:p>
        </p:txBody>
      </p:sp>
      <p:pic>
        <p:nvPicPr>
          <p:cNvPr id="9" name="Picture 2"/>
          <p:cNvPicPr>
            <a:picLocks noChangeAspect="1" noChangeArrowheads="1"/>
          </p:cNvPicPr>
          <p:nvPr/>
        </p:nvPicPr>
        <p:blipFill>
          <a:blip r:embed="rId2"/>
          <a:srcRect/>
          <a:stretch>
            <a:fillRect/>
          </a:stretch>
        </p:blipFill>
        <p:spPr bwMode="auto">
          <a:xfrm>
            <a:off x="10795992" y="75716"/>
            <a:ext cx="1115616" cy="461141"/>
          </a:xfrm>
          <a:prstGeom prst="rect">
            <a:avLst/>
          </a:prstGeom>
          <a:noFill/>
          <a:ln w="9525">
            <a:noFill/>
            <a:miter lim="800000"/>
            <a:headEnd/>
            <a:tailEnd/>
          </a:ln>
          <a:effectLst/>
        </p:spPr>
      </p:pic>
      <p:graphicFrame>
        <p:nvGraphicFramePr>
          <p:cNvPr id="10" name="Table 9"/>
          <p:cNvGraphicFramePr>
            <a:graphicFrameLocks noGrp="1"/>
          </p:cNvGraphicFramePr>
          <p:nvPr>
            <p:extLst>
              <p:ext uri="{D42A27DB-BD31-4B8C-83A1-F6EECF244321}">
                <p14:modId xmlns:p14="http://schemas.microsoft.com/office/powerpoint/2010/main" val="3652857598"/>
              </p:ext>
            </p:extLst>
          </p:nvPr>
        </p:nvGraphicFramePr>
        <p:xfrm>
          <a:off x="426909" y="1591368"/>
          <a:ext cx="10694211" cy="4113166"/>
        </p:xfrm>
        <a:graphic>
          <a:graphicData uri="http://schemas.openxmlformats.org/drawingml/2006/table">
            <a:tbl>
              <a:tblPr firstRow="1" firstCol="1" bandRow="1">
                <a:tableStyleId>{5940675A-B579-460E-94D1-54222C63F5DA}</a:tableStyleId>
              </a:tblPr>
              <a:tblGrid>
                <a:gridCol w="824144">
                  <a:extLst>
                    <a:ext uri="{9D8B030D-6E8A-4147-A177-3AD203B41FA5}">
                      <a16:colId xmlns:a16="http://schemas.microsoft.com/office/drawing/2014/main" val="20000"/>
                    </a:ext>
                  </a:extLst>
                </a:gridCol>
                <a:gridCol w="7207549">
                  <a:extLst>
                    <a:ext uri="{9D8B030D-6E8A-4147-A177-3AD203B41FA5}">
                      <a16:colId xmlns:a16="http://schemas.microsoft.com/office/drawing/2014/main" val="20001"/>
                    </a:ext>
                  </a:extLst>
                </a:gridCol>
                <a:gridCol w="2662518">
                  <a:extLst>
                    <a:ext uri="{9D8B030D-6E8A-4147-A177-3AD203B41FA5}">
                      <a16:colId xmlns:a16="http://schemas.microsoft.com/office/drawing/2014/main" val="20002"/>
                    </a:ext>
                  </a:extLst>
                </a:gridCol>
              </a:tblGrid>
              <a:tr h="709941">
                <a:tc>
                  <a:txBody>
                    <a:bodyPr/>
                    <a:lstStyle/>
                    <a:p>
                      <a:pPr marL="0" marR="0">
                        <a:lnSpc>
                          <a:spcPct val="115000"/>
                        </a:lnSpc>
                        <a:spcBef>
                          <a:spcPts val="0"/>
                        </a:spcBef>
                        <a:spcAft>
                          <a:spcPts val="0"/>
                        </a:spcAft>
                      </a:pPr>
                      <a:r>
                        <a:rPr lang="en-US" sz="1200" b="0" dirty="0">
                          <a:effectLst/>
                        </a:rPr>
                        <a:t>CO Number</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Title </a:t>
                      </a:r>
                    </a:p>
                    <a:p>
                      <a:pPr marL="0" marR="0">
                        <a:lnSpc>
                          <a:spcPct val="115000"/>
                        </a:lnSpc>
                        <a:spcBef>
                          <a:spcPts val="0"/>
                        </a:spcBef>
                        <a:spcAft>
                          <a:spcPts val="0"/>
                        </a:spcAft>
                      </a:pPr>
                      <a:r>
                        <a:rPr lang="en-IN" sz="1200" kern="1200" dirty="0">
                          <a:solidFill>
                            <a:schemeClr val="tx1"/>
                          </a:solidFill>
                          <a:effectLst/>
                          <a:latin typeface="+mn-lt"/>
                          <a:ea typeface="+mn-ea"/>
                          <a:cs typeface="+mn-cs"/>
                        </a:rPr>
                        <a:t>On completion of this course, the students are expected to learn</a:t>
                      </a:r>
                      <a:endParaRPr lang="en-US"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Level </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79638">
                <a:tc>
                  <a:txBody>
                    <a:bodyPr/>
                    <a:lstStyle/>
                    <a:p>
                      <a:pPr marL="0" marR="0">
                        <a:lnSpc>
                          <a:spcPct val="115000"/>
                        </a:lnSpc>
                        <a:spcBef>
                          <a:spcPts val="0"/>
                        </a:spcBef>
                        <a:spcAft>
                          <a:spcPts val="0"/>
                        </a:spcAft>
                      </a:pPr>
                      <a:r>
                        <a:rPr lang="en-US" sz="1200" b="1" dirty="0">
                          <a:solidFill>
                            <a:schemeClr val="tx1"/>
                          </a:solidFill>
                          <a:effectLst/>
                          <a:latin typeface="+mn-lt"/>
                          <a:ea typeface="Times New Roman" panose="02020603050405020304" pitchFamily="18" charset="0"/>
                          <a:cs typeface="Times New Roman" panose="02020603050405020304" pitchFamily="18" charset="0"/>
                        </a:rPr>
                        <a:t>CO1</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Quote the basic fundamental concepts of lasers, optical </a:t>
                      </a:r>
                      <a:r>
                        <a:rPr lang="en-US" sz="1100" dirty="0" err="1">
                          <a:effectLst/>
                          <a:latin typeface="Calibri"/>
                          <a:ea typeface="Calibri"/>
                          <a:cs typeface="Calibri"/>
                        </a:rPr>
                        <a:t>fibres</a:t>
                      </a:r>
                      <a:r>
                        <a:rPr lang="en-US" sz="1100" dirty="0">
                          <a:effectLst/>
                          <a:latin typeface="Calibri"/>
                          <a:ea typeface="Calibri"/>
                          <a:cs typeface="Calibri"/>
                        </a:rPr>
                        <a:t>, crystallography, ultrasonic oscillations, semiconductor physics, quantum mechanics and nanotechnology.</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solidFill>
                            <a:schemeClr val="tx1"/>
                          </a:solidFill>
                          <a:effectLst/>
                          <a:latin typeface="+mn-lt"/>
                        </a:rPr>
                        <a:t>Remember, Understand</a:t>
                      </a:r>
                    </a:p>
                    <a:p>
                      <a:pPr marL="0" marR="0">
                        <a:lnSpc>
                          <a:spcPct val="115000"/>
                        </a:lnSpc>
                        <a:spcBef>
                          <a:spcPts val="0"/>
                        </a:spcBef>
                        <a:spcAft>
                          <a:spcPts val="0"/>
                        </a:spcAft>
                      </a:pPr>
                      <a:r>
                        <a:rPr lang="en-US" sz="1200" b="0" dirty="0">
                          <a:solidFill>
                            <a:schemeClr val="tx1"/>
                          </a:solidFill>
                          <a:effectLst/>
                          <a:latin typeface="+mn-lt"/>
                        </a:rPr>
                        <a:t> </a:t>
                      </a: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776699">
                <a:tc>
                  <a:txBody>
                    <a:bodyPr/>
                    <a:lstStyle/>
                    <a:p>
                      <a:pPr marL="0" marR="0">
                        <a:lnSpc>
                          <a:spcPct val="115000"/>
                        </a:lnSpc>
                        <a:spcBef>
                          <a:spcPts val="0"/>
                        </a:spcBef>
                        <a:spcAft>
                          <a:spcPts val="0"/>
                        </a:spcAft>
                      </a:pPr>
                      <a:r>
                        <a:rPr lang="en-US" sz="1200" b="1" dirty="0">
                          <a:solidFill>
                            <a:schemeClr val="tx1"/>
                          </a:solidFill>
                          <a:effectLst/>
                          <a:latin typeface="+mn-lt"/>
                          <a:ea typeface="Times New Roman" panose="02020603050405020304" pitchFamily="18" charset="0"/>
                          <a:cs typeface="Times New Roman" panose="02020603050405020304" pitchFamily="18" charset="0"/>
                        </a:rPr>
                        <a:t>CO2</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Demonstrate the working of various lasers, </a:t>
                      </a:r>
                      <a:r>
                        <a:rPr lang="en-US" sz="1100" dirty="0" err="1">
                          <a:effectLst/>
                          <a:latin typeface="Calibri"/>
                          <a:ea typeface="Calibri"/>
                          <a:cs typeface="Calibri"/>
                        </a:rPr>
                        <a:t>fibre</a:t>
                      </a:r>
                      <a:r>
                        <a:rPr lang="en-US" sz="1100" dirty="0">
                          <a:effectLst/>
                          <a:latin typeface="Calibri"/>
                          <a:ea typeface="Calibri"/>
                          <a:cs typeface="Calibri"/>
                        </a:rPr>
                        <a:t> components, semiconductor devices; explain the </a:t>
                      </a:r>
                      <a:r>
                        <a:rPr lang="en-US" sz="1100" dirty="0" err="1">
                          <a:effectLst/>
                          <a:latin typeface="Calibri"/>
                          <a:ea typeface="Calibri"/>
                          <a:cs typeface="Calibri"/>
                        </a:rPr>
                        <a:t>behaviour</a:t>
                      </a:r>
                      <a:r>
                        <a:rPr lang="en-US" sz="1100" dirty="0">
                          <a:effectLst/>
                          <a:latin typeface="Calibri"/>
                          <a:ea typeface="Calibri"/>
                          <a:cs typeface="Calibri"/>
                        </a:rPr>
                        <a:t> of crystalline solids, quantum and </a:t>
                      </a:r>
                      <a:r>
                        <a:rPr lang="en-US" sz="1100" dirty="0" err="1">
                          <a:effectLst/>
                          <a:latin typeface="Calibri"/>
                          <a:ea typeface="Calibri"/>
                          <a:cs typeface="Calibri"/>
                        </a:rPr>
                        <a:t>nano</a:t>
                      </a:r>
                      <a:r>
                        <a:rPr lang="en-US" sz="1100" dirty="0">
                          <a:effectLst/>
                          <a:latin typeface="Calibri"/>
                          <a:ea typeface="Calibri"/>
                          <a:cs typeface="Calibri"/>
                        </a:rPr>
                        <a:t>-scale systems.</a:t>
                      </a:r>
                      <a:endParaRPr lang="en-US" sz="1100" dirty="0">
                        <a:effectLst/>
                        <a:latin typeface="Calibri"/>
                        <a:ea typeface="Calibri"/>
                        <a:cs typeface="Times New Roman"/>
                      </a:endParaRPr>
                    </a:p>
                  </a:txBody>
                  <a:tcPr marL="68580" marR="68580" marT="0" marB="0"/>
                </a:tc>
                <a:tc>
                  <a:txBody>
                    <a:bodyPr/>
                    <a:lstStyle/>
                    <a:p>
                      <a:pPr marL="0" marR="0" algn="l">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Understand</a:t>
                      </a:r>
                    </a:p>
                  </a:txBody>
                  <a:tcPr marL="68580" marR="68580" marT="0" marB="0"/>
                </a:tc>
                <a:extLst>
                  <a:ext uri="{0D108BD9-81ED-4DB2-BD59-A6C34878D82A}">
                    <a16:rowId xmlns:a16="http://schemas.microsoft.com/office/drawing/2014/main" val="10004"/>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CO3</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Solve problems by applying principles related to lasers, </a:t>
                      </a:r>
                      <a:r>
                        <a:rPr lang="en-US" sz="1100" dirty="0" err="1">
                          <a:effectLst/>
                          <a:latin typeface="Calibri"/>
                          <a:ea typeface="Calibri"/>
                          <a:cs typeface="Calibri"/>
                        </a:rPr>
                        <a:t>fibres</a:t>
                      </a:r>
                      <a:r>
                        <a:rPr lang="en-US" sz="1100" dirty="0">
                          <a:effectLst/>
                          <a:latin typeface="Calibri"/>
                          <a:ea typeface="Calibri"/>
                          <a:cs typeface="Calibri"/>
                        </a:rPr>
                        <a:t>, semiconductors, oscillations, quantum and </a:t>
                      </a:r>
                      <a:r>
                        <a:rPr lang="en-US" sz="1100" dirty="0" err="1">
                          <a:effectLst/>
                          <a:latin typeface="Calibri"/>
                          <a:ea typeface="Calibri"/>
                          <a:cs typeface="Calibri"/>
                        </a:rPr>
                        <a:t>nanoscience</a:t>
                      </a:r>
                      <a:r>
                        <a:rPr lang="en-US" sz="1100" dirty="0">
                          <a:effectLst/>
                          <a:latin typeface="Calibri"/>
                          <a:ea typeface="Calibri"/>
                          <a:cs typeface="Calibri"/>
                        </a:rPr>
                        <a:t>.</a:t>
                      </a:r>
                      <a:endParaRPr lang="en-US" sz="110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rPr>
                        <a:t>Applying </a:t>
                      </a:r>
                    </a:p>
                  </a:txBody>
                  <a:tcPr marL="68580" marR="68580" marT="0" marB="0"/>
                </a:tc>
                <a:extLst>
                  <a:ext uri="{0D108BD9-81ED-4DB2-BD59-A6C34878D82A}">
                    <a16:rowId xmlns:a16="http://schemas.microsoft.com/office/drawing/2014/main" val="10005"/>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CO4</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Compare various lasers and </a:t>
                      </a:r>
                      <a:r>
                        <a:rPr lang="en-US" sz="1100" dirty="0" err="1">
                          <a:effectLst/>
                          <a:latin typeface="Calibri"/>
                          <a:ea typeface="Calibri"/>
                          <a:cs typeface="Calibri"/>
                        </a:rPr>
                        <a:t>fibres</a:t>
                      </a:r>
                      <a:r>
                        <a:rPr lang="en-US" sz="1100" dirty="0">
                          <a:effectLst/>
                          <a:latin typeface="Calibri"/>
                          <a:ea typeface="Calibri"/>
                          <a:cs typeface="Calibri"/>
                        </a:rPr>
                        <a:t>, semiconducting devices, crystalline materials, structures at quantum and </a:t>
                      </a:r>
                      <a:r>
                        <a:rPr lang="en-US" sz="1100" dirty="0" err="1">
                          <a:effectLst/>
                          <a:latin typeface="Calibri"/>
                          <a:ea typeface="Calibri"/>
                          <a:cs typeface="Calibri"/>
                        </a:rPr>
                        <a:t>nanoscale</a:t>
                      </a:r>
                      <a:r>
                        <a:rPr lang="en-US" sz="1100" dirty="0">
                          <a:effectLst/>
                          <a:latin typeface="Calibri"/>
                          <a:ea typeface="Calibri"/>
                          <a:cs typeface="Calibri"/>
                        </a:rPr>
                        <a:t> on the basis of their properties for industrial applications.</a:t>
                      </a:r>
                      <a:endParaRPr lang="en-US" sz="110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ea typeface="Times New Roman" panose="02020603050405020304" pitchFamily="18" charset="0"/>
                          <a:cs typeface="Times New Roman" panose="02020603050405020304" pitchFamily="18" charset="0"/>
                        </a:rPr>
                        <a:t>Analyze</a:t>
                      </a:r>
                    </a:p>
                  </a:txBody>
                  <a:tcPr marL="68580" marR="68580" marT="0" marB="0"/>
                </a:tc>
                <a:extLst>
                  <a:ext uri="{0D108BD9-81ED-4DB2-BD59-A6C34878D82A}">
                    <a16:rowId xmlns:a16="http://schemas.microsoft.com/office/drawing/2014/main" val="10002"/>
                  </a:ext>
                </a:extLst>
              </a:tr>
              <a:tr h="887612">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CO5</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Develop various systems using lasers, </a:t>
                      </a:r>
                      <a:r>
                        <a:rPr lang="en-US" sz="1100" dirty="0" err="1">
                          <a:effectLst/>
                          <a:latin typeface="Calibri"/>
                          <a:ea typeface="Calibri"/>
                          <a:cs typeface="Calibri"/>
                        </a:rPr>
                        <a:t>fibres</a:t>
                      </a:r>
                      <a:r>
                        <a:rPr lang="en-US" sz="1100" dirty="0">
                          <a:effectLst/>
                          <a:latin typeface="Calibri"/>
                          <a:ea typeface="Calibri"/>
                          <a:cs typeface="Calibri"/>
                        </a:rPr>
                        <a:t>, semiconductors and </a:t>
                      </a:r>
                      <a:r>
                        <a:rPr lang="en-US" sz="1100" dirty="0" err="1">
                          <a:effectLst/>
                          <a:latin typeface="Calibri"/>
                          <a:ea typeface="Calibri"/>
                          <a:cs typeface="Calibri"/>
                        </a:rPr>
                        <a:t>nanomaterials</a:t>
                      </a:r>
                      <a:r>
                        <a:rPr lang="en-US" sz="1100" dirty="0">
                          <a:effectLst/>
                          <a:latin typeface="Calibri"/>
                          <a:ea typeface="Calibri"/>
                          <a:cs typeface="Calibri"/>
                        </a:rPr>
                        <a:t> for futuristic applications.</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effectLst/>
                          <a:latin typeface="+mn-lt"/>
                        </a:rPr>
                        <a:t>Design</a:t>
                      </a:r>
                      <a:r>
                        <a:rPr lang="en-US" sz="1200" b="0" dirty="0">
                          <a:solidFill>
                            <a:schemeClr val="tx1"/>
                          </a:solidFill>
                          <a:effectLst/>
                          <a:latin typeface="+mn-lt"/>
                        </a:rPr>
                        <a:t> </a:t>
                      </a: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46018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7E145-6215-4F54-A373-4B0D0EB9AC13}"/>
              </a:ext>
            </a:extLst>
          </p:cNvPr>
          <p:cNvSpPr>
            <a:spLocks noGrp="1"/>
          </p:cNvSpPr>
          <p:nvPr>
            <p:ph type="title"/>
          </p:nvPr>
        </p:nvSpPr>
        <p:spPr>
          <a:ln>
            <a:solidFill>
              <a:srgbClr val="C00000"/>
            </a:solidFill>
          </a:ln>
        </p:spPr>
        <p:txBody>
          <a:bodyPr/>
          <a:lstStyle/>
          <a:p>
            <a:pPr algn="ctr"/>
            <a:r>
              <a:rPr lang="en-IN" b="1" dirty="0">
                <a:latin typeface="Casper"/>
              </a:rPr>
              <a:t>LECTURE OBJECTIVE </a:t>
            </a:r>
          </a:p>
        </p:txBody>
      </p:sp>
      <p:sp>
        <p:nvSpPr>
          <p:cNvPr id="4" name="Slide Number Placeholder 3">
            <a:extLst>
              <a:ext uri="{FF2B5EF4-FFF2-40B4-BE49-F238E27FC236}">
                <a16:creationId xmlns:a16="http://schemas.microsoft.com/office/drawing/2014/main" id="{17E04BCF-9F37-4871-8BA7-24A7B0087CDE}"/>
              </a:ext>
            </a:extLst>
          </p:cNvPr>
          <p:cNvSpPr>
            <a:spLocks noGrp="1"/>
          </p:cNvSpPr>
          <p:nvPr>
            <p:ph type="sldNum" sz="quarter" idx="12"/>
          </p:nvPr>
        </p:nvSpPr>
        <p:spPr/>
        <p:txBody>
          <a:bodyPr/>
          <a:lstStyle/>
          <a:p>
            <a:fld id="{BDCDBBEF-AA6C-4BA6-85B2-A17D7F280E38}" type="slidenum">
              <a:rPr lang="en-US" smtClean="0"/>
              <a:t>4</a:t>
            </a:fld>
            <a:endParaRPr lang="en-US"/>
          </a:p>
        </p:txBody>
      </p:sp>
      <p:graphicFrame>
        <p:nvGraphicFramePr>
          <p:cNvPr id="5" name="Content Placeholder 4">
            <a:extLst>
              <a:ext uri="{FF2B5EF4-FFF2-40B4-BE49-F238E27FC236}">
                <a16:creationId xmlns:a16="http://schemas.microsoft.com/office/drawing/2014/main" id="{51C860D6-468C-48E5-B190-AC3904274F45}"/>
              </a:ext>
            </a:extLst>
          </p:cNvPr>
          <p:cNvGraphicFramePr>
            <a:graphicFrameLocks noGrp="1"/>
          </p:cNvGraphicFramePr>
          <p:nvPr>
            <p:ph idx="1"/>
            <p:extLst>
              <p:ext uri="{D42A27DB-BD31-4B8C-83A1-F6EECF244321}">
                <p14:modId xmlns:p14="http://schemas.microsoft.com/office/powerpoint/2010/main" val="387752188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833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4C284-BDD5-4A66-9C2A-E358AD6D4C54}"/>
              </a:ext>
            </a:extLst>
          </p:cNvPr>
          <p:cNvSpPr>
            <a:spLocks noGrp="1"/>
          </p:cNvSpPr>
          <p:nvPr>
            <p:ph type="title"/>
          </p:nvPr>
        </p:nvSpPr>
        <p:spPr>
          <a:ln>
            <a:solidFill>
              <a:srgbClr val="C00000"/>
            </a:solidFill>
          </a:ln>
        </p:spPr>
        <p:txBody>
          <a:bodyPr/>
          <a:lstStyle/>
          <a:p>
            <a:pPr algn="ctr"/>
            <a:r>
              <a:rPr lang="en-IN" b="1" dirty="0">
                <a:latin typeface="Casper"/>
              </a:rPr>
              <a:t>CONTENT </a:t>
            </a:r>
          </a:p>
        </p:txBody>
      </p:sp>
      <p:graphicFrame>
        <p:nvGraphicFramePr>
          <p:cNvPr id="5" name="Content Placeholder 4">
            <a:extLst>
              <a:ext uri="{FF2B5EF4-FFF2-40B4-BE49-F238E27FC236}">
                <a16:creationId xmlns:a16="http://schemas.microsoft.com/office/drawing/2014/main" id="{6F47E311-C9CE-4D4A-B67C-8535566A39AD}"/>
              </a:ext>
            </a:extLst>
          </p:cNvPr>
          <p:cNvGraphicFramePr>
            <a:graphicFrameLocks noGrp="1"/>
          </p:cNvGraphicFramePr>
          <p:nvPr>
            <p:ph idx="1"/>
            <p:extLst>
              <p:ext uri="{D42A27DB-BD31-4B8C-83A1-F6EECF244321}">
                <p14:modId xmlns:p14="http://schemas.microsoft.com/office/powerpoint/2010/main" val="55557066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7B712548-F6D4-4E31-864E-40E49775217C}"/>
              </a:ext>
            </a:extLst>
          </p:cNvPr>
          <p:cNvSpPr>
            <a:spLocks noGrp="1"/>
          </p:cNvSpPr>
          <p:nvPr>
            <p:ph type="sldNum" sz="quarter" idx="12"/>
          </p:nvPr>
        </p:nvSpPr>
        <p:spPr/>
        <p:txBody>
          <a:bodyPr/>
          <a:lstStyle/>
          <a:p>
            <a:fld id="{BDCDBBEF-AA6C-4BA6-85B2-A17D7F280E38}" type="slidenum">
              <a:rPr lang="en-US" smtClean="0"/>
              <a:t>5</a:t>
            </a:fld>
            <a:endParaRPr lang="en-US"/>
          </a:p>
        </p:txBody>
      </p:sp>
    </p:spTree>
    <p:extLst>
      <p:ext uri="{BB962C8B-B14F-4D97-AF65-F5344CB8AC3E}">
        <p14:creationId xmlns:p14="http://schemas.microsoft.com/office/powerpoint/2010/main" val="1495288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C071C-8823-47F0-AC06-4237FFB40A82}"/>
              </a:ext>
            </a:extLst>
          </p:cNvPr>
          <p:cNvSpPr>
            <a:spLocks noGrp="1"/>
          </p:cNvSpPr>
          <p:nvPr>
            <p:ph type="title"/>
          </p:nvPr>
        </p:nvSpPr>
        <p:spPr>
          <a:xfrm>
            <a:off x="1404730" y="365125"/>
            <a:ext cx="9949070" cy="854075"/>
          </a:xfrm>
          <a:ln>
            <a:solidFill>
              <a:srgbClr val="C00000"/>
            </a:solidFill>
          </a:ln>
        </p:spPr>
        <p:txBody>
          <a:bodyPr/>
          <a:lstStyle/>
          <a:p>
            <a:pPr algn="ctr"/>
            <a:r>
              <a:rPr lang="en-IN" b="1" dirty="0">
                <a:latin typeface="Casper"/>
              </a:rPr>
              <a:t>INTRODUCTION</a:t>
            </a:r>
          </a:p>
        </p:txBody>
      </p:sp>
      <p:sp>
        <p:nvSpPr>
          <p:cNvPr id="3" name="Content Placeholder 2">
            <a:extLst>
              <a:ext uri="{FF2B5EF4-FFF2-40B4-BE49-F238E27FC236}">
                <a16:creationId xmlns:a16="http://schemas.microsoft.com/office/drawing/2014/main" id="{7009E290-026B-491B-A7F5-C9693A80702A}"/>
              </a:ext>
            </a:extLst>
          </p:cNvPr>
          <p:cNvSpPr>
            <a:spLocks noGrp="1"/>
          </p:cNvSpPr>
          <p:nvPr>
            <p:ph idx="1"/>
          </p:nvPr>
        </p:nvSpPr>
        <p:spPr>
          <a:xfrm>
            <a:off x="838200" y="1825625"/>
            <a:ext cx="3110948" cy="2613853"/>
          </a:xfrm>
          <a:ln>
            <a:solidFill>
              <a:schemeClr val="accent1"/>
            </a:solidFill>
          </a:ln>
        </p:spPr>
        <p:txBody>
          <a:bodyPr/>
          <a:lstStyle/>
          <a:p>
            <a:pPr marL="0" indent="0" algn="just">
              <a:buNone/>
            </a:pPr>
            <a:r>
              <a:rPr lang="en-IN" sz="2400" b="1" dirty="0">
                <a:solidFill>
                  <a:srgbClr val="000000"/>
                </a:solidFill>
                <a:effectLst/>
                <a:latin typeface="Casper"/>
                <a:ea typeface="Calibri" panose="020F0502020204030204" pitchFamily="34" charset="0"/>
                <a:cs typeface="Times New Roman" panose="02020603050405020304" pitchFamily="18" charset="0"/>
              </a:rPr>
              <a:t>Nanomaterials</a:t>
            </a:r>
            <a:r>
              <a:rPr lang="en-IN" sz="2400" dirty="0">
                <a:solidFill>
                  <a:srgbClr val="000000"/>
                </a:solidFill>
                <a:effectLst/>
                <a:latin typeface="Casper"/>
                <a:ea typeface="Calibri" panose="020F0502020204030204" pitchFamily="34" charset="0"/>
                <a:cs typeface="Times New Roman" panose="02020603050405020304" pitchFamily="18" charset="0"/>
              </a:rPr>
              <a:t> are typically between 1 and 100 nanometres (nm) in size – with 1 nm being equivalent to one billionth of a metre (10</a:t>
            </a:r>
            <a:r>
              <a:rPr lang="en-IN" sz="2400" baseline="30000" dirty="0">
                <a:solidFill>
                  <a:srgbClr val="000000"/>
                </a:solidFill>
                <a:effectLst/>
                <a:latin typeface="Casper"/>
                <a:ea typeface="Calibri" panose="020F0502020204030204" pitchFamily="34" charset="0"/>
                <a:cs typeface="Times New Roman" panose="02020603050405020304" pitchFamily="18" charset="0"/>
              </a:rPr>
              <a:t>-9</a:t>
            </a:r>
            <a:r>
              <a:rPr lang="en-IN" sz="2400" dirty="0">
                <a:solidFill>
                  <a:srgbClr val="000000"/>
                </a:solidFill>
                <a:effectLst/>
                <a:latin typeface="Casper"/>
                <a:ea typeface="Calibri" panose="020F0502020204030204" pitchFamily="34" charset="0"/>
                <a:cs typeface="Times New Roman" panose="02020603050405020304" pitchFamily="18" charset="0"/>
              </a:rPr>
              <a:t> m).</a:t>
            </a:r>
            <a:endParaRPr lang="en-IN" sz="2400" dirty="0">
              <a:effectLst/>
              <a:latin typeface="Casper"/>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A15E47B4-205E-42E9-865A-196174E3211D}"/>
              </a:ext>
            </a:extLst>
          </p:cNvPr>
          <p:cNvSpPr>
            <a:spLocks noGrp="1"/>
          </p:cNvSpPr>
          <p:nvPr>
            <p:ph type="sldNum" sz="quarter" idx="12"/>
          </p:nvPr>
        </p:nvSpPr>
        <p:spPr/>
        <p:txBody>
          <a:bodyPr/>
          <a:lstStyle/>
          <a:p>
            <a:fld id="{BDCDBBEF-AA6C-4BA6-85B2-A17D7F280E38}" type="slidenum">
              <a:rPr lang="en-US" smtClean="0"/>
              <a:t>6</a:t>
            </a:fld>
            <a:endParaRPr lang="en-US"/>
          </a:p>
        </p:txBody>
      </p:sp>
      <p:pic>
        <p:nvPicPr>
          <p:cNvPr id="5" name="Picture 4" descr="THE MICROCOSM. The nanoscale includes proteins but excludes simple ...">
            <a:extLst>
              <a:ext uri="{FF2B5EF4-FFF2-40B4-BE49-F238E27FC236}">
                <a16:creationId xmlns:a16="http://schemas.microsoft.com/office/drawing/2014/main" id="{CB6BCEC9-C88B-400E-A140-512B6BA294B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138558" y="1497497"/>
            <a:ext cx="6215242" cy="4452730"/>
          </a:xfrm>
          <a:prstGeom prst="rect">
            <a:avLst/>
          </a:prstGeom>
          <a:ln w="88900" cap="sq" cmpd="thickThin">
            <a:solidFill>
              <a:schemeClr val="accent1"/>
            </a:solidFill>
            <a:prstDash val="solid"/>
            <a:miter lim="800000"/>
          </a:ln>
          <a:effectLst>
            <a:innerShdw blurRad="76200">
              <a:srgbClr val="000000"/>
            </a:innerShdw>
          </a:effectLst>
        </p:spPr>
      </p:pic>
      <p:sp>
        <p:nvSpPr>
          <p:cNvPr id="7" name="TextBox 6">
            <a:extLst>
              <a:ext uri="{FF2B5EF4-FFF2-40B4-BE49-F238E27FC236}">
                <a16:creationId xmlns:a16="http://schemas.microsoft.com/office/drawing/2014/main" id="{95C97379-309E-4C61-84D3-2E9D679CDAA0}"/>
              </a:ext>
            </a:extLst>
          </p:cNvPr>
          <p:cNvSpPr txBox="1"/>
          <p:nvPr/>
        </p:nvSpPr>
        <p:spPr>
          <a:xfrm>
            <a:off x="4810539" y="6228524"/>
            <a:ext cx="6096000" cy="410882"/>
          </a:xfrm>
          <a:prstGeom prst="rect">
            <a:avLst/>
          </a:prstGeom>
          <a:noFill/>
        </p:spPr>
        <p:txBody>
          <a:bodyPr wrap="square">
            <a:spAutoFit/>
          </a:bodyPr>
          <a:lstStyle/>
          <a:p>
            <a:pPr algn="ctr">
              <a:lnSpc>
                <a:spcPct val="115000"/>
              </a:lnSpc>
              <a:spcAft>
                <a:spcPts val="800"/>
              </a:spcAft>
            </a:pP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Figure 1: Comparison of nano size with other lengths [1]</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191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C11DC31-51A2-4B5F-8D16-6C204671C487}"/>
              </a:ext>
            </a:extLst>
          </p:cNvPr>
          <p:cNvSpPr>
            <a:spLocks noGrp="1"/>
          </p:cNvSpPr>
          <p:nvPr>
            <p:ph type="sldNum" sz="quarter" idx="12"/>
          </p:nvPr>
        </p:nvSpPr>
        <p:spPr/>
        <p:txBody>
          <a:bodyPr/>
          <a:lstStyle/>
          <a:p>
            <a:fld id="{BDCDBBEF-AA6C-4BA6-85B2-A17D7F280E38}" type="slidenum">
              <a:rPr lang="en-US" smtClean="0"/>
              <a:t>7</a:t>
            </a:fld>
            <a:endParaRPr lang="en-US"/>
          </a:p>
        </p:txBody>
      </p:sp>
      <p:pic>
        <p:nvPicPr>
          <p:cNvPr id="12290" name="Picture 2" descr="Nanotechnology Introduction">
            <a:extLst>
              <a:ext uri="{FF2B5EF4-FFF2-40B4-BE49-F238E27FC236}">
                <a16:creationId xmlns:a16="http://schemas.microsoft.com/office/drawing/2014/main" id="{AB613886-E82A-4C66-B4EA-48A2164AEE3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9113" y="1921737"/>
            <a:ext cx="10664687" cy="3988733"/>
          </a:xfrm>
          <a:prstGeom prst="rect">
            <a:avLst/>
          </a:prstGeom>
          <a:ln w="88900" cap="sq" cmpd="thickThin">
            <a:solidFill>
              <a:schemeClr val="accent1"/>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DC12D447-E6BF-4A7A-92C7-3BBEABD97406}"/>
              </a:ext>
            </a:extLst>
          </p:cNvPr>
          <p:cNvSpPr>
            <a:spLocks noGrp="1"/>
          </p:cNvSpPr>
          <p:nvPr>
            <p:ph type="title"/>
          </p:nvPr>
        </p:nvSpPr>
        <p:spPr>
          <a:xfrm>
            <a:off x="1404730" y="365125"/>
            <a:ext cx="9949070" cy="854075"/>
          </a:xfrm>
          <a:ln>
            <a:solidFill>
              <a:srgbClr val="C00000"/>
            </a:solidFill>
          </a:ln>
        </p:spPr>
        <p:txBody>
          <a:bodyPr/>
          <a:lstStyle/>
          <a:p>
            <a:pPr algn="ctr"/>
            <a:r>
              <a:rPr lang="en-IN" b="1" dirty="0">
                <a:latin typeface="Casper"/>
              </a:rPr>
              <a:t>INTRODUCTION</a:t>
            </a:r>
          </a:p>
        </p:txBody>
      </p:sp>
      <p:sp>
        <p:nvSpPr>
          <p:cNvPr id="5" name="TextBox 4">
            <a:extLst>
              <a:ext uri="{FF2B5EF4-FFF2-40B4-BE49-F238E27FC236}">
                <a16:creationId xmlns:a16="http://schemas.microsoft.com/office/drawing/2014/main" id="{F9271997-D45C-4EBE-83EA-3620B8DA7B7A}"/>
              </a:ext>
            </a:extLst>
          </p:cNvPr>
          <p:cNvSpPr txBox="1"/>
          <p:nvPr/>
        </p:nvSpPr>
        <p:spPr>
          <a:xfrm>
            <a:off x="3331265" y="6148228"/>
            <a:ext cx="6096000" cy="390684"/>
          </a:xfrm>
          <a:prstGeom prst="rect">
            <a:avLst/>
          </a:prstGeom>
          <a:noFill/>
        </p:spPr>
        <p:txBody>
          <a:bodyPr wrap="square">
            <a:spAutoFit/>
          </a:bodyPr>
          <a:lstStyle/>
          <a:p>
            <a:pPr algn="ctr">
              <a:lnSpc>
                <a:spcPct val="115000"/>
              </a:lnSpc>
              <a:spcAft>
                <a:spcPts val="800"/>
              </a:spcAft>
            </a:pP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Figure 2: comparison of nano size with other lengths [2]</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71143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58867-9231-4DEE-AF4A-DAD5AEB2EB27}"/>
              </a:ext>
            </a:extLst>
          </p:cNvPr>
          <p:cNvSpPr>
            <a:spLocks noGrp="1"/>
          </p:cNvSpPr>
          <p:nvPr>
            <p:ph type="title"/>
          </p:nvPr>
        </p:nvSpPr>
        <p:spPr>
          <a:xfrm>
            <a:off x="838200" y="325368"/>
            <a:ext cx="10515600" cy="1119117"/>
          </a:xfrm>
          <a:ln>
            <a:solidFill>
              <a:srgbClr val="C00000"/>
            </a:solidFill>
          </a:ln>
        </p:spPr>
        <p:txBody>
          <a:bodyPr/>
          <a:lstStyle/>
          <a:p>
            <a:pPr algn="ctr"/>
            <a:r>
              <a:rPr lang="en-IN" b="1" dirty="0">
                <a:latin typeface="Casper"/>
              </a:rPr>
              <a:t>BENEFITS</a:t>
            </a:r>
          </a:p>
        </p:txBody>
      </p:sp>
      <p:sp>
        <p:nvSpPr>
          <p:cNvPr id="3" name="Content Placeholder 2">
            <a:extLst>
              <a:ext uri="{FF2B5EF4-FFF2-40B4-BE49-F238E27FC236}">
                <a16:creationId xmlns:a16="http://schemas.microsoft.com/office/drawing/2014/main" id="{43DBEBF8-16E9-4F45-B603-5B4B5ACE56DE}"/>
              </a:ext>
            </a:extLst>
          </p:cNvPr>
          <p:cNvSpPr>
            <a:spLocks noGrp="1"/>
          </p:cNvSpPr>
          <p:nvPr>
            <p:ph idx="1"/>
          </p:nvPr>
        </p:nvSpPr>
        <p:spPr>
          <a:xfrm>
            <a:off x="506895" y="1825626"/>
            <a:ext cx="5390322" cy="4351338"/>
          </a:xfrm>
          <a:ln>
            <a:solidFill>
              <a:schemeClr val="accent1"/>
            </a:solidFill>
          </a:ln>
        </p:spPr>
        <p:txBody>
          <a:bodyPr/>
          <a:lstStyle/>
          <a:p>
            <a:pPr marL="0" indent="0" algn="just">
              <a:buNone/>
            </a:pPr>
            <a:r>
              <a:rPr lang="en-IN" sz="2400" dirty="0">
                <a:solidFill>
                  <a:srgbClr val="000000"/>
                </a:solidFill>
                <a:latin typeface="Casper"/>
                <a:cs typeface="Times New Roman" panose="02020603050405020304" pitchFamily="18" charset="0"/>
              </a:rPr>
              <a:t>This is the scale at which the basic functions of the biological world operate and materials of this size display unusual physical and chemical properties. These profoundly different properties are due to an increase in surface area compared to volume as particles get smaller – and also the grip of weird quantum effects at the atomic-scale.</a:t>
            </a:r>
          </a:p>
          <a:p>
            <a:endParaRPr lang="en-IN" dirty="0"/>
          </a:p>
        </p:txBody>
      </p:sp>
      <p:sp>
        <p:nvSpPr>
          <p:cNvPr id="4" name="Slide Number Placeholder 3">
            <a:extLst>
              <a:ext uri="{FF2B5EF4-FFF2-40B4-BE49-F238E27FC236}">
                <a16:creationId xmlns:a16="http://schemas.microsoft.com/office/drawing/2014/main" id="{B7913CB8-F702-45E6-A803-59007EEE15DA}"/>
              </a:ext>
            </a:extLst>
          </p:cNvPr>
          <p:cNvSpPr>
            <a:spLocks noGrp="1"/>
          </p:cNvSpPr>
          <p:nvPr>
            <p:ph type="sldNum" sz="quarter" idx="12"/>
          </p:nvPr>
        </p:nvSpPr>
        <p:spPr/>
        <p:txBody>
          <a:bodyPr/>
          <a:lstStyle/>
          <a:p>
            <a:fld id="{BDCDBBEF-AA6C-4BA6-85B2-A17D7F280E38}" type="slidenum">
              <a:rPr lang="en-US" smtClean="0"/>
              <a:t>8</a:t>
            </a:fld>
            <a:endParaRPr lang="en-US"/>
          </a:p>
        </p:txBody>
      </p:sp>
      <p:pic>
        <p:nvPicPr>
          <p:cNvPr id="10242" name="Picture 2" descr="Nanotechnology Benefits • TCT Nanotech">
            <a:extLst>
              <a:ext uri="{FF2B5EF4-FFF2-40B4-BE49-F238E27FC236}">
                <a16:creationId xmlns:a16="http://schemas.microsoft.com/office/drawing/2014/main" id="{30DD570C-CAE2-4F9E-B8F3-F607FF09F3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4785" y="1834079"/>
            <a:ext cx="5198165" cy="4351338"/>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92EFD86-0D52-472C-A74B-3B195E3A4C4A}"/>
              </a:ext>
            </a:extLst>
          </p:cNvPr>
          <p:cNvSpPr txBox="1"/>
          <p:nvPr/>
        </p:nvSpPr>
        <p:spPr>
          <a:xfrm>
            <a:off x="6096000" y="6360557"/>
            <a:ext cx="4386470" cy="369332"/>
          </a:xfrm>
          <a:prstGeom prst="rect">
            <a:avLst/>
          </a:prstGeom>
          <a:noFill/>
        </p:spPr>
        <p:txBody>
          <a:bodyPr wrap="square" rtlCol="0">
            <a:spAutoFit/>
          </a:bodyPr>
          <a:lstStyle/>
          <a:p>
            <a:r>
              <a:rPr lang="en-IN" dirty="0"/>
              <a:t>Figure 3: advantages of nano-materials [3] </a:t>
            </a:r>
          </a:p>
        </p:txBody>
      </p:sp>
    </p:spTree>
    <p:extLst>
      <p:ext uri="{BB962C8B-B14F-4D97-AF65-F5344CB8AC3E}">
        <p14:creationId xmlns:p14="http://schemas.microsoft.com/office/powerpoint/2010/main" val="2706339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A7BFF-4813-4B95-98DF-4C58EEFAFCE7}"/>
              </a:ext>
            </a:extLst>
          </p:cNvPr>
          <p:cNvSpPr>
            <a:spLocks noGrp="1"/>
          </p:cNvSpPr>
          <p:nvPr>
            <p:ph type="title"/>
          </p:nvPr>
        </p:nvSpPr>
        <p:spPr>
          <a:ln>
            <a:solidFill>
              <a:srgbClr val="C00000"/>
            </a:solidFill>
          </a:ln>
        </p:spPr>
        <p:txBody>
          <a:bodyPr/>
          <a:lstStyle/>
          <a:p>
            <a:pPr algn="ctr"/>
            <a:r>
              <a:rPr lang="en-IN" b="1" dirty="0">
                <a:latin typeface="Casper"/>
              </a:rPr>
              <a:t>HISTROY</a:t>
            </a:r>
          </a:p>
        </p:txBody>
      </p:sp>
      <p:sp>
        <p:nvSpPr>
          <p:cNvPr id="3" name="Content Placeholder 2">
            <a:extLst>
              <a:ext uri="{FF2B5EF4-FFF2-40B4-BE49-F238E27FC236}">
                <a16:creationId xmlns:a16="http://schemas.microsoft.com/office/drawing/2014/main" id="{3B732EE0-0F88-4A51-B166-EAC0FC2DA0B3}"/>
              </a:ext>
            </a:extLst>
          </p:cNvPr>
          <p:cNvSpPr>
            <a:spLocks noGrp="1"/>
          </p:cNvSpPr>
          <p:nvPr>
            <p:ph idx="1"/>
          </p:nvPr>
        </p:nvSpPr>
        <p:spPr>
          <a:ln>
            <a:solidFill>
              <a:schemeClr val="accent1"/>
            </a:solidFill>
          </a:ln>
        </p:spPr>
        <p:txBody>
          <a:bodyPr>
            <a:normAutofit/>
          </a:bodyPr>
          <a:lstStyle/>
          <a:p>
            <a:pPr marL="342900" lvl="0" indent="-342900" algn="just">
              <a:lnSpc>
                <a:spcPct val="115000"/>
              </a:lnSpc>
              <a:buFont typeface="Wingdings" panose="05000000000000000000" pitchFamily="2" charset="2"/>
              <a:buChar char=""/>
            </a:pPr>
            <a:r>
              <a:rPr lang="en-IN" sz="2400" dirty="0">
                <a:effectLst/>
                <a:latin typeface="Casper"/>
                <a:ea typeface="Calibri" panose="020F0502020204030204" pitchFamily="34" charset="0"/>
                <a:cs typeface="Times New Roman" panose="02020603050405020304" pitchFamily="18" charset="0"/>
              </a:rPr>
              <a:t>The idea of nanotechnology was born in 1959 when physicist </a:t>
            </a:r>
            <a:r>
              <a:rPr lang="en-IN" sz="2400" dirty="0">
                <a:latin typeface="Casper"/>
                <a:ea typeface="Calibri" panose="020F0502020204030204" pitchFamily="34" charset="0"/>
                <a:cs typeface="Times New Roman" panose="02020603050405020304" pitchFamily="18" charset="0"/>
              </a:rPr>
              <a:t>Richard Feynman</a:t>
            </a:r>
            <a:r>
              <a:rPr lang="en-IN" sz="2400" dirty="0">
                <a:effectLst/>
                <a:latin typeface="Casper"/>
                <a:ea typeface="Calibri" panose="020F0502020204030204" pitchFamily="34" charset="0"/>
                <a:cs typeface="Times New Roman" panose="02020603050405020304" pitchFamily="18" charset="0"/>
              </a:rPr>
              <a:t> gave a lecture exploring the idea of building things at the atomic and molecular-scale.</a:t>
            </a:r>
          </a:p>
          <a:p>
            <a:pPr marL="342900" lvl="0" indent="-342900" algn="just">
              <a:lnSpc>
                <a:spcPct val="115000"/>
              </a:lnSpc>
              <a:buFont typeface="Wingdings" panose="05000000000000000000" pitchFamily="2" charset="2"/>
              <a:buChar char=""/>
            </a:pPr>
            <a:r>
              <a:rPr lang="en-IN" sz="2400" dirty="0">
                <a:effectLst/>
                <a:latin typeface="Casper"/>
                <a:ea typeface="Calibri" panose="020F0502020204030204" pitchFamily="34" charset="0"/>
                <a:cs typeface="Times New Roman" panose="02020603050405020304" pitchFamily="18" charset="0"/>
              </a:rPr>
              <a:t>However, experimental nanotechnology did not come into its own until 1981, when IBM scientists in Zurich, Switzerland, built the first </a:t>
            </a:r>
            <a:r>
              <a:rPr lang="en-IN" sz="2400" dirty="0">
                <a:latin typeface="Casper"/>
                <a:ea typeface="Calibri" panose="020F0502020204030204" pitchFamily="34" charset="0"/>
                <a:cs typeface="Times New Roman" panose="02020603050405020304" pitchFamily="18" charset="0"/>
              </a:rPr>
              <a:t>scanning tunnelling microscope</a:t>
            </a:r>
            <a:r>
              <a:rPr lang="en-IN" sz="2400" dirty="0">
                <a:effectLst/>
                <a:latin typeface="Casper"/>
                <a:ea typeface="Calibri" panose="020F0502020204030204" pitchFamily="34" charset="0"/>
                <a:cs typeface="Times New Roman" panose="02020603050405020304" pitchFamily="18" charset="0"/>
              </a:rPr>
              <a:t> (STM). This allows us to see single atoms by scanning a tiny probe over the surface of a silicon crystal.</a:t>
            </a:r>
          </a:p>
          <a:p>
            <a:pPr marL="342900" lvl="0" indent="-342900" algn="just">
              <a:lnSpc>
                <a:spcPct val="115000"/>
              </a:lnSpc>
              <a:spcAft>
                <a:spcPts val="800"/>
              </a:spcAft>
              <a:buFont typeface="Wingdings" panose="05000000000000000000" pitchFamily="2" charset="2"/>
              <a:buChar char=""/>
            </a:pPr>
            <a:r>
              <a:rPr lang="en-IN" sz="2400" dirty="0">
                <a:effectLst/>
                <a:latin typeface="Casper"/>
                <a:ea typeface="Calibri" panose="020F0502020204030204" pitchFamily="34" charset="0"/>
                <a:cs typeface="Times New Roman" panose="02020603050405020304" pitchFamily="18" charset="0"/>
              </a:rPr>
              <a:t>In 1990, IBM scientists discovered how to use an STM to </a:t>
            </a:r>
            <a:r>
              <a:rPr lang="en-IN" sz="2400" dirty="0">
                <a:latin typeface="Casper"/>
                <a:ea typeface="Calibri" panose="020F0502020204030204" pitchFamily="34" charset="0"/>
                <a:cs typeface="Times New Roman" panose="02020603050405020304" pitchFamily="18" charset="0"/>
              </a:rPr>
              <a:t>move single xenon atoms around</a:t>
            </a:r>
            <a:r>
              <a:rPr lang="en-IN" sz="2400" dirty="0">
                <a:effectLst/>
                <a:latin typeface="Casper"/>
                <a:ea typeface="Calibri" panose="020F0502020204030204" pitchFamily="34" charset="0"/>
                <a:cs typeface="Times New Roman" panose="02020603050405020304" pitchFamily="18" charset="0"/>
              </a:rPr>
              <a:t> on a nickel surface – in an iconic experiment, with an inspired eye for marketing, they moved 35 atoms to </a:t>
            </a:r>
            <a:r>
              <a:rPr lang="en-IN" sz="2400" dirty="0">
                <a:latin typeface="Casper"/>
                <a:ea typeface="Calibri" panose="020F0502020204030204" pitchFamily="34" charset="0"/>
                <a:cs typeface="Times New Roman" panose="02020603050405020304" pitchFamily="18" charset="0"/>
              </a:rPr>
              <a:t>spell out “IBM”.</a:t>
            </a:r>
            <a:endParaRPr lang="en-IN" sz="2400" dirty="0">
              <a:effectLst/>
              <a:latin typeface="Casper"/>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3C46515A-C318-48CC-9E0B-4F00ADCD17F1}"/>
              </a:ext>
            </a:extLst>
          </p:cNvPr>
          <p:cNvSpPr>
            <a:spLocks noGrp="1"/>
          </p:cNvSpPr>
          <p:nvPr>
            <p:ph type="sldNum" sz="quarter" idx="12"/>
          </p:nvPr>
        </p:nvSpPr>
        <p:spPr/>
        <p:txBody>
          <a:bodyPr/>
          <a:lstStyle/>
          <a:p>
            <a:fld id="{BDCDBBEF-AA6C-4BA6-85B2-A17D7F280E38}" type="slidenum">
              <a:rPr lang="en-US" smtClean="0"/>
              <a:t>9</a:t>
            </a:fld>
            <a:endParaRPr lang="en-US"/>
          </a:p>
        </p:txBody>
      </p:sp>
    </p:spTree>
    <p:extLst>
      <p:ext uri="{BB962C8B-B14F-4D97-AF65-F5344CB8AC3E}">
        <p14:creationId xmlns:p14="http://schemas.microsoft.com/office/powerpoint/2010/main" val="3254927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2392F-AD8D-4B91-90AA-54E6A077D14E}"/>
              </a:ext>
            </a:extLst>
          </p:cNvPr>
          <p:cNvSpPr>
            <a:spLocks noGrp="1"/>
          </p:cNvSpPr>
          <p:nvPr>
            <p:ph type="title"/>
          </p:nvPr>
        </p:nvSpPr>
        <p:spPr>
          <a:xfrm>
            <a:off x="838200" y="325369"/>
            <a:ext cx="10515600" cy="1325563"/>
          </a:xfrm>
          <a:ln>
            <a:solidFill>
              <a:srgbClr val="C00000"/>
            </a:solidFill>
          </a:ln>
        </p:spPr>
        <p:txBody>
          <a:bodyPr/>
          <a:lstStyle/>
          <a:p>
            <a:pPr algn="ctr"/>
            <a:r>
              <a:rPr lang="en-IN" b="1" dirty="0">
                <a:latin typeface="Casper"/>
              </a:rPr>
              <a:t>POTENTIAL APPLICATIONS </a:t>
            </a:r>
          </a:p>
        </p:txBody>
      </p:sp>
      <p:sp>
        <p:nvSpPr>
          <p:cNvPr id="4" name="Slide Number Placeholder 3">
            <a:extLst>
              <a:ext uri="{FF2B5EF4-FFF2-40B4-BE49-F238E27FC236}">
                <a16:creationId xmlns:a16="http://schemas.microsoft.com/office/drawing/2014/main" id="{1231E92A-0000-4A5D-9C01-53EB67F48BF4}"/>
              </a:ext>
            </a:extLst>
          </p:cNvPr>
          <p:cNvSpPr>
            <a:spLocks noGrp="1"/>
          </p:cNvSpPr>
          <p:nvPr>
            <p:ph type="sldNum" sz="quarter" idx="12"/>
          </p:nvPr>
        </p:nvSpPr>
        <p:spPr/>
        <p:txBody>
          <a:bodyPr/>
          <a:lstStyle/>
          <a:p>
            <a:fld id="{BDCDBBEF-AA6C-4BA6-85B2-A17D7F280E38}" type="slidenum">
              <a:rPr lang="en-US" smtClean="0"/>
              <a:t>10</a:t>
            </a:fld>
            <a:endParaRPr lang="en-US"/>
          </a:p>
        </p:txBody>
      </p:sp>
      <p:pic>
        <p:nvPicPr>
          <p:cNvPr id="10244" name="Picture 4" descr="Anti-Reflective Lenses | Stanton Optical">
            <a:extLst>
              <a:ext uri="{FF2B5EF4-FFF2-40B4-BE49-F238E27FC236}">
                <a16:creationId xmlns:a16="http://schemas.microsoft.com/office/drawing/2014/main" id="{04F49B32-EAF8-43F7-96D7-F490F2DC26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5363" y="1825625"/>
            <a:ext cx="6378437" cy="4351338"/>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6" name="Content Placeholder 5">
            <a:extLst>
              <a:ext uri="{FF2B5EF4-FFF2-40B4-BE49-F238E27FC236}">
                <a16:creationId xmlns:a16="http://schemas.microsoft.com/office/drawing/2014/main" id="{A9F3AC50-E008-4C1B-BAD3-646C2DC26C97}"/>
              </a:ext>
            </a:extLst>
          </p:cNvPr>
          <p:cNvSpPr>
            <a:spLocks noGrp="1"/>
          </p:cNvSpPr>
          <p:nvPr>
            <p:ph idx="1"/>
          </p:nvPr>
        </p:nvSpPr>
        <p:spPr>
          <a:xfrm>
            <a:off x="838199" y="1825625"/>
            <a:ext cx="3694043" cy="4351338"/>
          </a:xfrm>
          <a:ln>
            <a:solidFill>
              <a:schemeClr val="accent1"/>
            </a:solidFill>
          </a:ln>
        </p:spPr>
        <p:txBody>
          <a:bodyPr>
            <a:normAutofit/>
          </a:bodyPr>
          <a:lstStyle/>
          <a:p>
            <a:pPr marL="0" indent="0" algn="just">
              <a:buNone/>
            </a:pPr>
            <a:r>
              <a:rPr lang="en-IN" sz="2400" dirty="0">
                <a:solidFill>
                  <a:srgbClr val="000000"/>
                </a:solidFill>
                <a:effectLst/>
                <a:latin typeface="Casper" panose="02000506000000020004"/>
                <a:ea typeface="Calibri" panose="020F0502020204030204" pitchFamily="34" charset="0"/>
                <a:cs typeface="Times New Roman" panose="02020603050405020304" pitchFamily="18" charset="0"/>
              </a:rPr>
              <a:t>Clear nanoscale films on eyeglasses, computer and camera displays, windows, and other surfaces can make them water- and residue-repellent, antireflective, self-cleaning, resistant to ultraviolet or infrared light, antifog, antimicrobial, scratch-resistant, or electrically conductive.</a:t>
            </a:r>
            <a:endParaRPr lang="en-IN" sz="2400" dirty="0">
              <a:effectLst/>
              <a:latin typeface="Casper" panose="02000506000000020004"/>
              <a:ea typeface="Calibri" panose="020F0502020204030204" pitchFamily="34" charset="0"/>
              <a:cs typeface="Times New Roman" panose="02020603050405020304" pitchFamily="18" charset="0"/>
            </a:endParaRPr>
          </a:p>
          <a:p>
            <a:endParaRPr lang="en-IN" dirty="0"/>
          </a:p>
        </p:txBody>
      </p:sp>
      <p:sp>
        <p:nvSpPr>
          <p:cNvPr id="7" name="TextBox 6">
            <a:extLst>
              <a:ext uri="{FF2B5EF4-FFF2-40B4-BE49-F238E27FC236}">
                <a16:creationId xmlns:a16="http://schemas.microsoft.com/office/drawing/2014/main" id="{FB5E6CFC-47F2-4778-AD8A-A12C065E7E62}"/>
              </a:ext>
            </a:extLst>
          </p:cNvPr>
          <p:cNvSpPr txBox="1"/>
          <p:nvPr/>
        </p:nvSpPr>
        <p:spPr>
          <a:xfrm>
            <a:off x="4094922" y="6284705"/>
            <a:ext cx="7258877" cy="369332"/>
          </a:xfrm>
          <a:prstGeom prst="rect">
            <a:avLst/>
          </a:prstGeom>
          <a:noFill/>
        </p:spPr>
        <p:txBody>
          <a:bodyPr wrap="square" rtlCol="0">
            <a:spAutoFit/>
          </a:bodyPr>
          <a:lstStyle/>
          <a:p>
            <a:r>
              <a:rPr lang="en-IN" dirty="0"/>
              <a:t>Figure 4: view of surrounding from ordinary lens and anti-reflective lens [4] </a:t>
            </a:r>
          </a:p>
        </p:txBody>
      </p:sp>
    </p:spTree>
    <p:extLst>
      <p:ext uri="{BB962C8B-B14F-4D97-AF65-F5344CB8AC3E}">
        <p14:creationId xmlns:p14="http://schemas.microsoft.com/office/powerpoint/2010/main" val="885628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E79956-05D1-4031-8161-D032C8992161}"/>
              </a:ext>
            </a:extLst>
          </p:cNvPr>
          <p:cNvSpPr>
            <a:spLocks noGrp="1"/>
          </p:cNvSpPr>
          <p:nvPr>
            <p:ph idx="1"/>
          </p:nvPr>
        </p:nvSpPr>
        <p:spPr>
          <a:xfrm>
            <a:off x="838200" y="1825625"/>
            <a:ext cx="3972339" cy="4351338"/>
          </a:xfrm>
          <a:ln>
            <a:solidFill>
              <a:schemeClr val="accent1"/>
            </a:solidFill>
          </a:ln>
        </p:spPr>
        <p:txBody>
          <a:bodyPr>
            <a:normAutofit/>
          </a:bodyPr>
          <a:lstStyle/>
          <a:p>
            <a:pPr marL="0" indent="0" algn="just">
              <a:buNone/>
            </a:pPr>
            <a:r>
              <a:rPr lang="en-IN" sz="2400" dirty="0">
                <a:solidFill>
                  <a:srgbClr val="000000"/>
                </a:solidFill>
                <a:effectLst/>
                <a:latin typeface="Casper"/>
                <a:ea typeface="Calibri" panose="020F0502020204030204" pitchFamily="34" charset="0"/>
                <a:cs typeface="Times New Roman" panose="02020603050405020304" pitchFamily="18" charset="0"/>
              </a:rPr>
              <a:t>Nano-engineered materials in automotive products include high-power rechargeable battery systems; thermoelectric materials for temperature control; tires with lower rolling resistance; high-efficiency/low-cost sensors and electronics; thin-film smart solar panels; and fuel additives for cleaner exhaust and extended range.</a:t>
            </a:r>
            <a:endParaRPr lang="en-IN" sz="2400" dirty="0">
              <a:effectLst/>
              <a:latin typeface="Casper"/>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E7D00B7A-3731-4018-AD24-6BFB0A8A3726}"/>
              </a:ext>
            </a:extLst>
          </p:cNvPr>
          <p:cNvSpPr>
            <a:spLocks noGrp="1"/>
          </p:cNvSpPr>
          <p:nvPr>
            <p:ph type="sldNum" sz="quarter" idx="12"/>
          </p:nvPr>
        </p:nvSpPr>
        <p:spPr/>
        <p:txBody>
          <a:bodyPr/>
          <a:lstStyle/>
          <a:p>
            <a:fld id="{BDCDBBEF-AA6C-4BA6-85B2-A17D7F280E38}" type="slidenum">
              <a:rPr lang="en-US" smtClean="0"/>
              <a:t>11</a:t>
            </a:fld>
            <a:endParaRPr lang="en-US"/>
          </a:p>
        </p:txBody>
      </p:sp>
      <p:pic>
        <p:nvPicPr>
          <p:cNvPr id="5" name="Picture 4" descr="Nanotechnology Safety in the Automotive Industry - ScienceDirect">
            <a:extLst>
              <a:ext uri="{FF2B5EF4-FFF2-40B4-BE49-F238E27FC236}">
                <a16:creationId xmlns:a16="http://schemas.microsoft.com/office/drawing/2014/main" id="{D10038F4-51ED-4C0D-A377-5BBED0BCDCC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237507" y="2021853"/>
            <a:ext cx="6116293" cy="3958881"/>
          </a:xfrm>
          <a:prstGeom prst="rect">
            <a:avLst/>
          </a:prstGeom>
          <a:ln w="88900" cap="sq" cmpd="thickThin">
            <a:solidFill>
              <a:schemeClr val="accent1"/>
            </a:solidFill>
            <a:prstDash val="solid"/>
            <a:miter lim="800000"/>
          </a:ln>
          <a:effectLst>
            <a:innerShdw blurRad="76200">
              <a:srgbClr val="000000"/>
            </a:innerShdw>
          </a:effectLst>
        </p:spPr>
      </p:pic>
      <p:sp>
        <p:nvSpPr>
          <p:cNvPr id="7" name="TextBox 6">
            <a:extLst>
              <a:ext uri="{FF2B5EF4-FFF2-40B4-BE49-F238E27FC236}">
                <a16:creationId xmlns:a16="http://schemas.microsoft.com/office/drawing/2014/main" id="{5A9A940E-695C-4176-9EC1-49E0A3E1408C}"/>
              </a:ext>
            </a:extLst>
          </p:cNvPr>
          <p:cNvSpPr txBox="1"/>
          <p:nvPr/>
        </p:nvSpPr>
        <p:spPr>
          <a:xfrm>
            <a:off x="4996069" y="6183154"/>
            <a:ext cx="6096000" cy="390684"/>
          </a:xfrm>
          <a:prstGeom prst="rect">
            <a:avLst/>
          </a:prstGeom>
          <a:noFill/>
        </p:spPr>
        <p:txBody>
          <a:bodyPr wrap="square">
            <a:spAutoFit/>
          </a:bodyPr>
          <a:lstStyle/>
          <a:p>
            <a:pPr marL="457200" algn="ctr">
              <a:lnSpc>
                <a:spcPct val="115000"/>
              </a:lnSpc>
              <a:spcAft>
                <a:spcPts val="800"/>
              </a:spcAft>
            </a:pP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Figure </a:t>
            </a: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5</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example of nanotechnology in an automobile [5]</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itle 1">
            <a:extLst>
              <a:ext uri="{FF2B5EF4-FFF2-40B4-BE49-F238E27FC236}">
                <a16:creationId xmlns:a16="http://schemas.microsoft.com/office/drawing/2014/main" id="{4293283C-8686-4782-A269-7958DE35DA0E}"/>
              </a:ext>
            </a:extLst>
          </p:cNvPr>
          <p:cNvSpPr txBox="1">
            <a:spLocks/>
          </p:cNvSpPr>
          <p:nvPr/>
        </p:nvSpPr>
        <p:spPr>
          <a:xfrm>
            <a:off x="1010478" y="320674"/>
            <a:ext cx="10515600" cy="1325563"/>
          </a:xfrm>
          <a:prstGeom prst="rect">
            <a:avLst/>
          </a:prstGeom>
          <a:ln>
            <a:solidFill>
              <a:srgbClr val="C00000"/>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a:latin typeface="Casper"/>
              </a:rPr>
              <a:t>POTENTIAL APPLICATIONS </a:t>
            </a:r>
            <a:endParaRPr lang="en-IN" b="1" dirty="0">
              <a:latin typeface="Casper"/>
            </a:endParaRPr>
          </a:p>
        </p:txBody>
      </p:sp>
    </p:spTree>
    <p:extLst>
      <p:ext uri="{BB962C8B-B14F-4D97-AF65-F5344CB8AC3E}">
        <p14:creationId xmlns:p14="http://schemas.microsoft.com/office/powerpoint/2010/main" val="335748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5F743D-AFB6-4555-B2B9-A7313157D3BD}"/>
              </a:ext>
            </a:extLst>
          </p:cNvPr>
          <p:cNvSpPr>
            <a:spLocks noGrp="1"/>
          </p:cNvSpPr>
          <p:nvPr>
            <p:ph idx="1"/>
          </p:nvPr>
        </p:nvSpPr>
        <p:spPr>
          <a:ln>
            <a:solidFill>
              <a:schemeClr val="accent1"/>
            </a:solidFill>
          </a:ln>
        </p:spPr>
        <p:txBody>
          <a:bodyPr/>
          <a:lstStyle/>
          <a:p>
            <a:pPr algn="just">
              <a:buFont typeface="Wingdings" panose="05000000000000000000" pitchFamily="2" charset="2"/>
              <a:buChar char="v"/>
            </a:pPr>
            <a:r>
              <a:rPr lang="en-IN" sz="2400" dirty="0">
                <a:solidFill>
                  <a:srgbClr val="000000"/>
                </a:solidFill>
                <a:effectLst/>
                <a:latin typeface="Casper"/>
                <a:ea typeface="Calibri" panose="020F0502020204030204" pitchFamily="34" charset="0"/>
              </a:rPr>
              <a:t>Nanoparticles are used increasingly in catalysis to boost chemical reactions. This reduces the quantity of catalytic materials necessary to produce desired results, saving money and reducing pollutants.</a:t>
            </a:r>
          </a:p>
          <a:p>
            <a:pPr algn="just">
              <a:buFont typeface="Wingdings" panose="05000000000000000000" pitchFamily="2" charset="2"/>
              <a:buChar char="v"/>
            </a:pPr>
            <a:r>
              <a:rPr lang="en-IN" sz="2400" dirty="0">
                <a:solidFill>
                  <a:srgbClr val="000000"/>
                </a:solidFill>
                <a:effectLst/>
                <a:latin typeface="Casper"/>
                <a:ea typeface="Calibri" panose="020F0502020204030204" pitchFamily="34" charset="0"/>
                <a:cs typeface="Times New Roman" panose="02020603050405020304" pitchFamily="18" charset="0"/>
              </a:rPr>
              <a:t>Transistors, the basic switches that enable all modern computing, have gotten smaller and smaller through nanotechnology. At the turn of the century, a typical transistor was 130 to 250 nanometres in size. In 2014, Intel created a 14-nanometre transistor, then IBM created the first seven nanometre transistor in 2015, and then Lawrence Berkeley National Lab demonstrated a one nanometre transistor in 2016 Smaller, faster, and better transistors may mean that soon your computer’s entire memory may be stored on a single tiny chip.</a:t>
            </a:r>
            <a:endParaRPr lang="en-IN" sz="2400" dirty="0">
              <a:effectLst/>
              <a:latin typeface="Casper"/>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CE910A4F-1445-44F4-BC2D-9AE65C347C49}"/>
              </a:ext>
            </a:extLst>
          </p:cNvPr>
          <p:cNvSpPr>
            <a:spLocks noGrp="1"/>
          </p:cNvSpPr>
          <p:nvPr>
            <p:ph type="sldNum" sz="quarter" idx="12"/>
          </p:nvPr>
        </p:nvSpPr>
        <p:spPr/>
        <p:txBody>
          <a:bodyPr/>
          <a:lstStyle/>
          <a:p>
            <a:fld id="{BDCDBBEF-AA6C-4BA6-85B2-A17D7F280E38}" type="slidenum">
              <a:rPr lang="en-US" smtClean="0"/>
              <a:t>12</a:t>
            </a:fld>
            <a:endParaRPr lang="en-US"/>
          </a:p>
        </p:txBody>
      </p:sp>
      <p:sp>
        <p:nvSpPr>
          <p:cNvPr id="5" name="Title 1">
            <a:extLst>
              <a:ext uri="{FF2B5EF4-FFF2-40B4-BE49-F238E27FC236}">
                <a16:creationId xmlns:a16="http://schemas.microsoft.com/office/drawing/2014/main" id="{B6AAA865-D817-4F4A-9ED2-4E4565785E5A}"/>
              </a:ext>
            </a:extLst>
          </p:cNvPr>
          <p:cNvSpPr>
            <a:spLocks noGrp="1"/>
          </p:cNvSpPr>
          <p:nvPr>
            <p:ph type="title"/>
          </p:nvPr>
        </p:nvSpPr>
        <p:spPr>
          <a:xfrm>
            <a:off x="838200" y="325369"/>
            <a:ext cx="10515600" cy="1325563"/>
          </a:xfrm>
          <a:ln>
            <a:solidFill>
              <a:srgbClr val="C00000"/>
            </a:solidFill>
          </a:ln>
        </p:spPr>
        <p:txBody>
          <a:bodyPr/>
          <a:lstStyle/>
          <a:p>
            <a:pPr algn="ctr"/>
            <a:r>
              <a:rPr lang="en-IN" b="1" dirty="0">
                <a:latin typeface="Casper"/>
              </a:rPr>
              <a:t>POTENTIAL APPLICATIONS </a:t>
            </a:r>
          </a:p>
        </p:txBody>
      </p:sp>
    </p:spTree>
    <p:extLst>
      <p:ext uri="{BB962C8B-B14F-4D97-AF65-F5344CB8AC3E}">
        <p14:creationId xmlns:p14="http://schemas.microsoft.com/office/powerpoint/2010/main" val="3943001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5A43D7-B1F8-4049-94EE-DA6BF88B5D42}"/>
              </a:ext>
            </a:extLst>
          </p:cNvPr>
          <p:cNvSpPr>
            <a:spLocks noGrp="1"/>
          </p:cNvSpPr>
          <p:nvPr>
            <p:ph idx="1"/>
          </p:nvPr>
        </p:nvSpPr>
        <p:spPr>
          <a:xfrm>
            <a:off x="838200" y="1825625"/>
            <a:ext cx="3839817" cy="4351338"/>
          </a:xfrm>
          <a:ln>
            <a:solidFill>
              <a:schemeClr val="accent1"/>
            </a:solidFill>
          </a:ln>
        </p:spPr>
        <p:txBody>
          <a:bodyPr>
            <a:normAutofit fontScale="55000" lnSpcReduction="20000"/>
          </a:bodyPr>
          <a:lstStyle/>
          <a:p>
            <a:pPr marL="0" indent="0" algn="just">
              <a:buNone/>
            </a:pPr>
            <a:r>
              <a:rPr lang="en-IN" sz="4400" dirty="0">
                <a:solidFill>
                  <a:srgbClr val="000000"/>
                </a:solidFill>
                <a:effectLst/>
                <a:latin typeface="Casper"/>
                <a:ea typeface="Calibri" panose="020F0502020204030204" pitchFamily="34" charset="0"/>
                <a:cs typeface="Times New Roman" panose="02020603050405020304" pitchFamily="18" charset="0"/>
              </a:rPr>
              <a:t>Nanotechnology researchers are working on a number of different therapeutics where a nanoparticle can encapsulate or otherwise help to deliver medication directly to cancer cells and minimize the risk of damage to healthy tissue. This has the potential to change the way doctors treat cancer and dramatically reduce the toxic effects of chemotherapy.</a:t>
            </a:r>
            <a:endParaRPr lang="en-IN" sz="4400" dirty="0">
              <a:effectLst/>
              <a:latin typeface="Casper"/>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39DB4D38-37C0-42E1-86E6-5FF053217693}"/>
              </a:ext>
            </a:extLst>
          </p:cNvPr>
          <p:cNvSpPr>
            <a:spLocks noGrp="1"/>
          </p:cNvSpPr>
          <p:nvPr>
            <p:ph type="sldNum" sz="quarter" idx="12"/>
          </p:nvPr>
        </p:nvSpPr>
        <p:spPr/>
        <p:txBody>
          <a:bodyPr/>
          <a:lstStyle/>
          <a:p>
            <a:fld id="{BDCDBBEF-AA6C-4BA6-85B2-A17D7F280E38}" type="slidenum">
              <a:rPr lang="en-US" smtClean="0"/>
              <a:t>13</a:t>
            </a:fld>
            <a:endParaRPr lang="en-US"/>
          </a:p>
        </p:txBody>
      </p:sp>
      <p:pic>
        <p:nvPicPr>
          <p:cNvPr id="5" name="Picture 4" descr="Cancer Nanotechnology | Home page">
            <a:extLst>
              <a:ext uri="{FF2B5EF4-FFF2-40B4-BE49-F238E27FC236}">
                <a16:creationId xmlns:a16="http://schemas.microsoft.com/office/drawing/2014/main" id="{1D646B35-D8BF-4759-9E6F-E70C85D945F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943061" y="1825625"/>
            <a:ext cx="6401214" cy="4351338"/>
          </a:xfrm>
          <a:prstGeom prst="rect">
            <a:avLst/>
          </a:prstGeom>
          <a:ln w="88900" cap="sq" cmpd="thickThin">
            <a:solidFill>
              <a:schemeClr val="accent1"/>
            </a:solidFill>
            <a:prstDash val="solid"/>
            <a:miter lim="800000"/>
          </a:ln>
          <a:effectLst>
            <a:innerShdw blurRad="76200">
              <a:srgbClr val="000000"/>
            </a:innerShdw>
          </a:effectLst>
        </p:spPr>
      </p:pic>
      <p:sp>
        <p:nvSpPr>
          <p:cNvPr id="7" name="TextBox 6">
            <a:extLst>
              <a:ext uri="{FF2B5EF4-FFF2-40B4-BE49-F238E27FC236}">
                <a16:creationId xmlns:a16="http://schemas.microsoft.com/office/drawing/2014/main" id="{2C04C851-7820-48AC-8E8A-32C4909C2B34}"/>
              </a:ext>
            </a:extLst>
          </p:cNvPr>
          <p:cNvSpPr txBox="1"/>
          <p:nvPr/>
        </p:nvSpPr>
        <p:spPr>
          <a:xfrm>
            <a:off x="4943061" y="6343570"/>
            <a:ext cx="6096000" cy="390684"/>
          </a:xfrm>
          <a:prstGeom prst="rect">
            <a:avLst/>
          </a:prstGeom>
          <a:noFill/>
        </p:spPr>
        <p:txBody>
          <a:bodyPr wrap="square">
            <a:spAutoFit/>
          </a:bodyPr>
          <a:lstStyle/>
          <a:p>
            <a:pPr marL="457200" algn="ctr">
              <a:lnSpc>
                <a:spcPct val="115000"/>
              </a:lnSpc>
              <a:spcAft>
                <a:spcPts val="800"/>
              </a:spcAft>
            </a:pP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Figure </a:t>
            </a: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6</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carbon nanotubes for fighting cancer [6]</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itle 1">
            <a:extLst>
              <a:ext uri="{FF2B5EF4-FFF2-40B4-BE49-F238E27FC236}">
                <a16:creationId xmlns:a16="http://schemas.microsoft.com/office/drawing/2014/main" id="{2638558D-CD9F-4A0A-9485-043F151C101F}"/>
              </a:ext>
            </a:extLst>
          </p:cNvPr>
          <p:cNvSpPr>
            <a:spLocks noGrp="1"/>
          </p:cNvSpPr>
          <p:nvPr>
            <p:ph type="title"/>
          </p:nvPr>
        </p:nvSpPr>
        <p:spPr>
          <a:xfrm>
            <a:off x="838200" y="325369"/>
            <a:ext cx="10515600" cy="1325563"/>
          </a:xfrm>
          <a:ln>
            <a:solidFill>
              <a:srgbClr val="C00000"/>
            </a:solidFill>
          </a:ln>
        </p:spPr>
        <p:txBody>
          <a:bodyPr/>
          <a:lstStyle/>
          <a:p>
            <a:pPr algn="ctr"/>
            <a:r>
              <a:rPr lang="en-IN" b="1" dirty="0">
                <a:latin typeface="Casper"/>
              </a:rPr>
              <a:t>POTENTIAL APPLICATIONS </a:t>
            </a:r>
          </a:p>
        </p:txBody>
      </p:sp>
    </p:spTree>
    <p:extLst>
      <p:ext uri="{BB962C8B-B14F-4D97-AF65-F5344CB8AC3E}">
        <p14:creationId xmlns:p14="http://schemas.microsoft.com/office/powerpoint/2010/main" val="18272890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F17040-514E-4ADF-812D-17597D4857C5}"/>
              </a:ext>
            </a:extLst>
          </p:cNvPr>
          <p:cNvSpPr>
            <a:spLocks noGrp="1"/>
          </p:cNvSpPr>
          <p:nvPr>
            <p:ph type="sldNum" sz="quarter" idx="12"/>
          </p:nvPr>
        </p:nvSpPr>
        <p:spPr/>
        <p:txBody>
          <a:bodyPr/>
          <a:lstStyle/>
          <a:p>
            <a:fld id="{BDCDBBEF-AA6C-4BA6-85B2-A17D7F280E38}" type="slidenum">
              <a:rPr lang="en-US" smtClean="0"/>
              <a:t>14</a:t>
            </a:fld>
            <a:endParaRPr lang="en-US"/>
          </a:p>
        </p:txBody>
      </p:sp>
      <p:sp>
        <p:nvSpPr>
          <p:cNvPr id="5" name="Content Placeholder 4">
            <a:extLst>
              <a:ext uri="{FF2B5EF4-FFF2-40B4-BE49-F238E27FC236}">
                <a16:creationId xmlns:a16="http://schemas.microsoft.com/office/drawing/2014/main" id="{7A217DEC-8B5C-470E-9A03-340854C4A834}"/>
              </a:ext>
            </a:extLst>
          </p:cNvPr>
          <p:cNvSpPr>
            <a:spLocks noGrp="1"/>
          </p:cNvSpPr>
          <p:nvPr>
            <p:ph idx="1"/>
          </p:nvPr>
        </p:nvSpPr>
        <p:spPr>
          <a:xfrm>
            <a:off x="838199" y="1825625"/>
            <a:ext cx="3972339" cy="4351338"/>
          </a:xfrm>
          <a:ln>
            <a:solidFill>
              <a:schemeClr val="accent1"/>
            </a:solidFill>
          </a:ln>
        </p:spPr>
        <p:txBody>
          <a:bodyPr>
            <a:normAutofit/>
          </a:bodyPr>
          <a:lstStyle/>
          <a:p>
            <a:pPr marL="0" indent="0" algn="just">
              <a:buNone/>
            </a:pPr>
            <a:r>
              <a:rPr lang="en-IN" sz="2400" dirty="0">
                <a:solidFill>
                  <a:srgbClr val="000000"/>
                </a:solidFill>
                <a:effectLst/>
                <a:latin typeface="Casper"/>
                <a:ea typeface="Calibri" panose="020F0502020204030204" pitchFamily="34" charset="0"/>
                <a:cs typeface="Times New Roman" panose="02020603050405020304" pitchFamily="18" charset="0"/>
              </a:rPr>
              <a:t>Nanomedicine researchers are looking at ways that nanotechnology can improve vaccines, including vaccine delivery without the use of needles. Researchers also are working to create a universal vaccine scaffold for the annual flu vaccine that would cover more strains and require fewer resources to develop each year.</a:t>
            </a:r>
            <a:endParaRPr lang="en-IN" sz="2400" dirty="0">
              <a:effectLst/>
              <a:latin typeface="Casper"/>
              <a:ea typeface="Calibri" panose="020F0502020204030204" pitchFamily="34" charset="0"/>
              <a:cs typeface="Times New Roman" panose="02020603050405020304" pitchFamily="18" charset="0"/>
            </a:endParaRPr>
          </a:p>
          <a:p>
            <a:endParaRPr lang="en-IN" dirty="0"/>
          </a:p>
        </p:txBody>
      </p:sp>
      <p:pic>
        <p:nvPicPr>
          <p:cNvPr id="11268" name="Picture 4" descr="Alternatives To Vaccination Shots Are In Development : Shots ...">
            <a:extLst>
              <a:ext uri="{FF2B5EF4-FFF2-40B4-BE49-F238E27FC236}">
                <a16:creationId xmlns:a16="http://schemas.microsoft.com/office/drawing/2014/main" id="{1F74134D-95CB-444E-99F4-E191D1DD52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1721" y="1888572"/>
            <a:ext cx="6192079" cy="3067741"/>
          </a:xfrm>
          <a:prstGeom prst="rect">
            <a:avLst/>
          </a:prstGeom>
          <a:ln w="88900" cap="sq" cmpd="thickThin">
            <a:solidFill>
              <a:schemeClr val="accent1"/>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68B474D-6FDA-4949-9F7C-6ACAFECBBA41}"/>
              </a:ext>
            </a:extLst>
          </p:cNvPr>
          <p:cNvSpPr txBox="1"/>
          <p:nvPr/>
        </p:nvSpPr>
        <p:spPr>
          <a:xfrm>
            <a:off x="4929808" y="5253633"/>
            <a:ext cx="6423992"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Figure 7: </a:t>
            </a:r>
            <a:r>
              <a:rPr lang="en-US" b="0" i="0" dirty="0">
                <a:effectLst/>
                <a:latin typeface="Times New Roman" panose="02020603050405020304" pitchFamily="18" charset="0"/>
                <a:cs typeface="Times New Roman" panose="02020603050405020304" pitchFamily="18" charset="0"/>
              </a:rPr>
              <a:t>The microneedles attached to this patch dissolve after being pressed into skin, releasing a dose of vaccine. Each microneedle is less than a millimeter in length [7]</a:t>
            </a:r>
            <a:endParaRPr lang="en-IN" dirty="0">
              <a:latin typeface="Times New Roman" panose="02020603050405020304" pitchFamily="18" charset="0"/>
              <a:cs typeface="Times New Roman" panose="02020603050405020304" pitchFamily="18" charset="0"/>
            </a:endParaRPr>
          </a:p>
        </p:txBody>
      </p:sp>
      <p:sp>
        <p:nvSpPr>
          <p:cNvPr id="12" name="Title 1">
            <a:extLst>
              <a:ext uri="{FF2B5EF4-FFF2-40B4-BE49-F238E27FC236}">
                <a16:creationId xmlns:a16="http://schemas.microsoft.com/office/drawing/2014/main" id="{610A0ADE-4A60-4406-AC45-21E08D1E1204}"/>
              </a:ext>
            </a:extLst>
          </p:cNvPr>
          <p:cNvSpPr>
            <a:spLocks noGrp="1"/>
          </p:cNvSpPr>
          <p:nvPr>
            <p:ph type="title"/>
          </p:nvPr>
        </p:nvSpPr>
        <p:spPr>
          <a:xfrm>
            <a:off x="838200" y="325369"/>
            <a:ext cx="10515600" cy="1325563"/>
          </a:xfrm>
          <a:ln>
            <a:solidFill>
              <a:srgbClr val="C00000"/>
            </a:solidFill>
          </a:ln>
        </p:spPr>
        <p:txBody>
          <a:bodyPr/>
          <a:lstStyle/>
          <a:p>
            <a:pPr algn="ctr"/>
            <a:r>
              <a:rPr lang="en-IN" b="1" dirty="0">
                <a:latin typeface="Casper"/>
              </a:rPr>
              <a:t>POTENTIAL APPLICATIONS </a:t>
            </a:r>
          </a:p>
        </p:txBody>
      </p:sp>
    </p:spTree>
    <p:extLst>
      <p:ext uri="{BB962C8B-B14F-4D97-AF65-F5344CB8AC3E}">
        <p14:creationId xmlns:p14="http://schemas.microsoft.com/office/powerpoint/2010/main" val="826081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F2806D-A27C-4A9A-94FF-972BDF25A885}"/>
              </a:ext>
            </a:extLst>
          </p:cNvPr>
          <p:cNvSpPr>
            <a:spLocks noGrp="1"/>
          </p:cNvSpPr>
          <p:nvPr>
            <p:ph idx="1"/>
          </p:nvPr>
        </p:nvSpPr>
        <p:spPr>
          <a:ln>
            <a:solidFill>
              <a:schemeClr val="accent1"/>
            </a:solidFill>
          </a:ln>
        </p:spPr>
        <p:txBody>
          <a:bodyPr>
            <a:normAutofit/>
          </a:bodyPr>
          <a:lstStyle/>
          <a:p>
            <a:pPr algn="just">
              <a:buFont typeface="Wingdings" panose="05000000000000000000" pitchFamily="2" charset="2"/>
              <a:buChar char="v"/>
            </a:pPr>
            <a:r>
              <a:rPr lang="en-IN" sz="2400" dirty="0">
                <a:solidFill>
                  <a:srgbClr val="000000"/>
                </a:solidFill>
                <a:effectLst/>
                <a:latin typeface="Casper"/>
                <a:ea typeface="Calibri" panose="020F0502020204030204" pitchFamily="34" charset="0"/>
                <a:cs typeface="Times New Roman" panose="02020603050405020304" pitchFamily="18" charset="0"/>
              </a:rPr>
              <a:t>Nanoparticles are being developed to clean industrial water pollutants in ground water through chemical reactions that render the pollutants harmless. This process would cost less than methods that require pumping the water out of the ground for treatment.</a:t>
            </a:r>
            <a:endParaRPr lang="en-IN" sz="2400" dirty="0">
              <a:effectLst/>
              <a:latin typeface="Casper"/>
              <a:ea typeface="Calibri" panose="020F0502020204030204" pitchFamily="34" charset="0"/>
              <a:cs typeface="Times New Roman" panose="02020603050405020304" pitchFamily="18" charset="0"/>
            </a:endParaRPr>
          </a:p>
          <a:p>
            <a:pPr lvl="0" algn="just">
              <a:lnSpc>
                <a:spcPct val="115000"/>
              </a:lnSpc>
              <a:spcAft>
                <a:spcPts val="800"/>
              </a:spcAft>
              <a:buFont typeface="Wingdings" panose="05000000000000000000" pitchFamily="2" charset="2"/>
              <a:buChar char="v"/>
            </a:pPr>
            <a:r>
              <a:rPr lang="en-IN" sz="2400" dirty="0">
                <a:solidFill>
                  <a:srgbClr val="000000"/>
                </a:solidFill>
                <a:effectLst/>
                <a:latin typeface="Casper"/>
                <a:ea typeface="Calibri" panose="020F0502020204030204" pitchFamily="34" charset="0"/>
                <a:cs typeface="Times New Roman" panose="02020603050405020304" pitchFamily="18" charset="0"/>
              </a:rPr>
              <a:t>Researchers are investigating carbon nanotube “scrubbers” and membranes to separate carbon dioxide from power plant exhaust.</a:t>
            </a:r>
            <a:endParaRPr lang="en-IN" sz="2400" dirty="0">
              <a:effectLst/>
              <a:latin typeface="Casper"/>
              <a:ea typeface="Calibri" panose="020F0502020204030204" pitchFamily="34" charset="0"/>
              <a:cs typeface="Times New Roman" panose="02020603050405020304" pitchFamily="18" charset="0"/>
            </a:endParaRPr>
          </a:p>
          <a:p>
            <a:pPr algn="just">
              <a:buFont typeface="Wingdings" panose="05000000000000000000" pitchFamily="2" charset="2"/>
              <a:buChar char="v"/>
            </a:pPr>
            <a:r>
              <a:rPr lang="en-IN" sz="2400" dirty="0">
                <a:solidFill>
                  <a:srgbClr val="000000"/>
                </a:solidFill>
                <a:effectLst/>
                <a:latin typeface="Casper"/>
                <a:ea typeface="Calibri" panose="020F0502020204030204" pitchFamily="34" charset="0"/>
              </a:rPr>
              <a:t>Nanotechnology is already being used to develop many new kinds of batteries that are quicker-charging, more efficient, lighter weight, have a higher power density, and hold electrical charge longer</a:t>
            </a:r>
            <a:endParaRPr lang="en-IN" sz="2400" dirty="0">
              <a:latin typeface="Casper"/>
            </a:endParaRPr>
          </a:p>
        </p:txBody>
      </p:sp>
      <p:sp>
        <p:nvSpPr>
          <p:cNvPr id="4" name="Slide Number Placeholder 3">
            <a:extLst>
              <a:ext uri="{FF2B5EF4-FFF2-40B4-BE49-F238E27FC236}">
                <a16:creationId xmlns:a16="http://schemas.microsoft.com/office/drawing/2014/main" id="{CEB522C3-693C-4B80-B5DA-4C637F30590B}"/>
              </a:ext>
            </a:extLst>
          </p:cNvPr>
          <p:cNvSpPr>
            <a:spLocks noGrp="1"/>
          </p:cNvSpPr>
          <p:nvPr>
            <p:ph type="sldNum" sz="quarter" idx="12"/>
          </p:nvPr>
        </p:nvSpPr>
        <p:spPr/>
        <p:txBody>
          <a:bodyPr/>
          <a:lstStyle/>
          <a:p>
            <a:fld id="{BDCDBBEF-AA6C-4BA6-85B2-A17D7F280E38}" type="slidenum">
              <a:rPr lang="en-US" smtClean="0"/>
              <a:t>15</a:t>
            </a:fld>
            <a:endParaRPr lang="en-US"/>
          </a:p>
        </p:txBody>
      </p:sp>
      <p:sp>
        <p:nvSpPr>
          <p:cNvPr id="5" name="Title 1">
            <a:extLst>
              <a:ext uri="{FF2B5EF4-FFF2-40B4-BE49-F238E27FC236}">
                <a16:creationId xmlns:a16="http://schemas.microsoft.com/office/drawing/2014/main" id="{FAC801DD-802B-4902-8A48-653E56E6D4D8}"/>
              </a:ext>
            </a:extLst>
          </p:cNvPr>
          <p:cNvSpPr>
            <a:spLocks noGrp="1"/>
          </p:cNvSpPr>
          <p:nvPr>
            <p:ph type="title"/>
          </p:nvPr>
        </p:nvSpPr>
        <p:spPr>
          <a:xfrm>
            <a:off x="838200" y="325369"/>
            <a:ext cx="10515600" cy="1325563"/>
          </a:xfrm>
          <a:ln>
            <a:solidFill>
              <a:srgbClr val="C00000"/>
            </a:solidFill>
          </a:ln>
        </p:spPr>
        <p:txBody>
          <a:bodyPr/>
          <a:lstStyle/>
          <a:p>
            <a:pPr algn="ctr"/>
            <a:r>
              <a:rPr lang="en-IN" b="1" dirty="0">
                <a:latin typeface="Casper"/>
              </a:rPr>
              <a:t>POTENTIAL APPLICATIONS </a:t>
            </a:r>
          </a:p>
        </p:txBody>
      </p:sp>
    </p:spTree>
    <p:extLst>
      <p:ext uri="{BB962C8B-B14F-4D97-AF65-F5344CB8AC3E}">
        <p14:creationId xmlns:p14="http://schemas.microsoft.com/office/powerpoint/2010/main" val="17090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54B7F-BB40-4D24-99D8-C438CA712170}"/>
              </a:ext>
            </a:extLst>
          </p:cNvPr>
          <p:cNvSpPr>
            <a:spLocks noGrp="1"/>
          </p:cNvSpPr>
          <p:nvPr>
            <p:ph type="title"/>
          </p:nvPr>
        </p:nvSpPr>
        <p:spPr>
          <a:xfrm>
            <a:off x="2252870" y="365125"/>
            <a:ext cx="9100930" cy="854075"/>
          </a:xfrm>
          <a:ln>
            <a:solidFill>
              <a:srgbClr val="C00000"/>
            </a:solidFill>
          </a:ln>
        </p:spPr>
        <p:txBody>
          <a:bodyPr/>
          <a:lstStyle/>
          <a:p>
            <a:pPr algn="ctr"/>
            <a:r>
              <a:rPr lang="en-IN" b="1" dirty="0">
                <a:latin typeface="Casper"/>
              </a:rPr>
              <a:t>SUMMARY</a:t>
            </a:r>
          </a:p>
        </p:txBody>
      </p:sp>
      <p:sp>
        <p:nvSpPr>
          <p:cNvPr id="3" name="Content Placeholder 2">
            <a:extLst>
              <a:ext uri="{FF2B5EF4-FFF2-40B4-BE49-F238E27FC236}">
                <a16:creationId xmlns:a16="http://schemas.microsoft.com/office/drawing/2014/main" id="{0C2FBA89-890C-4739-85AE-064FE4830602}"/>
              </a:ext>
            </a:extLst>
          </p:cNvPr>
          <p:cNvSpPr>
            <a:spLocks noGrp="1"/>
          </p:cNvSpPr>
          <p:nvPr>
            <p:ph idx="1"/>
          </p:nvPr>
        </p:nvSpPr>
        <p:spPr>
          <a:xfrm>
            <a:off x="838200" y="1444487"/>
            <a:ext cx="10515600" cy="4732476"/>
          </a:xfrm>
          <a:ln>
            <a:solidFill>
              <a:schemeClr val="accent1"/>
            </a:solidFill>
          </a:ln>
        </p:spPr>
        <p:txBody>
          <a:bodyPr>
            <a:normAutofit fontScale="92500" lnSpcReduction="10000"/>
          </a:bodyPr>
          <a:lstStyle/>
          <a:p>
            <a:pPr marL="342900" lvl="0" indent="-342900" algn="just">
              <a:lnSpc>
                <a:spcPct val="115000"/>
              </a:lnSpc>
              <a:buFont typeface="Wingdings" panose="05000000000000000000" pitchFamily="2" charset="2"/>
              <a:buChar char=""/>
            </a:pP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Nanomaterials are typically between 1 and 100 nanometres (nm) in size.</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idea of nanotechnology was born in 1959 when physicist </a:t>
            </a:r>
            <a:r>
              <a:rPr lang="en-IN"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Richard Feynman</a:t>
            </a: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gave a lecture exploring the idea of building things at the atomic and molecular-scale.</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Nanoscale additives to or surface treatments of fabrics can provide lightweight ballistic energy deflection.</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Transistors, the basic switches that enable all modern computing, have gotten smaller and smaller through nanotechnology.</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Nanotechnology is being studied for both the diagnosis and treatment of atherosclerosis, or the build-up of plaque in arteries.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Researchers are investigating carbon nanotube “scrubbers” and membranes to separate carbon dioxide from power plant exhaust.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C737FB88-29DC-4D31-AB24-998ED0A02A64}"/>
              </a:ext>
            </a:extLst>
          </p:cNvPr>
          <p:cNvSpPr>
            <a:spLocks noGrp="1"/>
          </p:cNvSpPr>
          <p:nvPr>
            <p:ph type="sldNum" sz="quarter" idx="12"/>
          </p:nvPr>
        </p:nvSpPr>
        <p:spPr/>
        <p:txBody>
          <a:bodyPr/>
          <a:lstStyle/>
          <a:p>
            <a:fld id="{BDCDBBEF-AA6C-4BA6-85B2-A17D7F280E38}" type="slidenum">
              <a:rPr lang="en-US" smtClean="0"/>
              <a:t>16</a:t>
            </a:fld>
            <a:endParaRPr lang="en-US"/>
          </a:p>
        </p:txBody>
      </p:sp>
    </p:spTree>
    <p:extLst>
      <p:ext uri="{BB962C8B-B14F-4D97-AF65-F5344CB8AC3E}">
        <p14:creationId xmlns:p14="http://schemas.microsoft.com/office/powerpoint/2010/main" val="23182234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17</a:t>
            </a:fld>
            <a:endParaRPr lang="en-US" dirty="0"/>
          </a:p>
        </p:txBody>
      </p:sp>
      <p:sp>
        <p:nvSpPr>
          <p:cNvPr id="8" name="Title 7"/>
          <p:cNvSpPr txBox="1">
            <a:spLocks noGrp="1" noChangeArrowheads="1"/>
          </p:cNvSpPr>
          <p:nvPr>
            <p:ph type="title"/>
          </p:nvPr>
        </p:nvSpPr>
        <p:spPr bwMode="auto">
          <a:xfrm>
            <a:off x="382137" y="323090"/>
            <a:ext cx="11427725"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mn-lt"/>
                <a:ea typeface="Karla" pitchFamily="2" charset="0"/>
                <a:cs typeface="Times New Roman" pitchFamily="18" charset="0"/>
              </a:rPr>
              <a:t>FAQ</a:t>
            </a:r>
            <a:br>
              <a:rPr lang="en-US" sz="4400" b="1" dirty="0">
                <a:latin typeface="+mn-lt"/>
                <a:ea typeface="Karla" pitchFamily="2" charset="0"/>
                <a:cs typeface="Karla" pitchFamily="2" charset="0"/>
              </a:rPr>
            </a:br>
            <a:endParaRPr lang="en-US" sz="4400" dirty="0">
              <a:latin typeface="+mn-lt"/>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302953" y="1832212"/>
            <a:ext cx="11136573" cy="3247556"/>
          </a:xfrm>
          <a:prstGeom prst="rect">
            <a:avLst/>
          </a:prstGeom>
          <a:noFill/>
          <a:ln>
            <a:solidFill>
              <a:schemeClr val="tx1"/>
            </a:solidFill>
          </a:ln>
        </p:spPr>
        <p:txBody>
          <a:bodyPr wrap="square" rtlCol="0">
            <a:spAutoFit/>
          </a:bodyPr>
          <a:lstStyle/>
          <a:p>
            <a:pPr marL="342900" lvl="0" indent="-342900" algn="just">
              <a:lnSpc>
                <a:spcPct val="150000"/>
              </a:lnSpc>
              <a:buFont typeface="+mj-lt"/>
              <a:buAutoNum type="arabicPeriod"/>
            </a:pPr>
            <a:r>
              <a:rPr lang="en-IN" sz="2400" dirty="0">
                <a:solidFill>
                  <a:srgbClr val="000000"/>
                </a:solidFill>
                <a:effectLst/>
                <a:latin typeface="Casper"/>
                <a:ea typeface="Calibri" panose="020F0502020204030204" pitchFamily="34" charset="0"/>
                <a:cs typeface="Times New Roman" panose="02020603050405020304" pitchFamily="18" charset="0"/>
              </a:rPr>
              <a:t>Define nanomaterials and compare this size with other materials.</a:t>
            </a:r>
            <a:endParaRPr lang="en-IN" sz="2400" dirty="0">
              <a:effectLst/>
              <a:latin typeface="Casper"/>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2400" dirty="0">
                <a:solidFill>
                  <a:srgbClr val="000000"/>
                </a:solidFill>
                <a:effectLst/>
                <a:latin typeface="Casper"/>
                <a:ea typeface="Calibri" panose="020F0502020204030204" pitchFamily="34" charset="0"/>
                <a:cs typeface="Times New Roman" panose="02020603050405020304" pitchFamily="18" charset="0"/>
              </a:rPr>
              <a:t>Enlist some applications of nanotechnology in transportations.</a:t>
            </a:r>
            <a:endParaRPr lang="en-IN" sz="2400" dirty="0">
              <a:effectLst/>
              <a:latin typeface="Casper"/>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2400" dirty="0">
                <a:solidFill>
                  <a:srgbClr val="000000"/>
                </a:solidFill>
                <a:effectLst/>
                <a:latin typeface="Casper"/>
                <a:ea typeface="Calibri" panose="020F0502020204030204" pitchFamily="34" charset="0"/>
                <a:cs typeface="Times New Roman" panose="02020603050405020304" pitchFamily="18" charset="0"/>
              </a:rPr>
              <a:t>How nanotechnology is being used in using energy efficiently?</a:t>
            </a:r>
            <a:endParaRPr lang="en-IN" sz="2400" dirty="0">
              <a:effectLst/>
              <a:latin typeface="Casper"/>
              <a:ea typeface="Calibri" panose="020F0502020204030204" pitchFamily="34" charset="0"/>
              <a:cs typeface="Times New Roman" panose="02020603050405020304" pitchFamily="18" charset="0"/>
            </a:endParaRPr>
          </a:p>
          <a:p>
            <a:pPr marL="457200" algn="just">
              <a:lnSpc>
                <a:spcPct val="150000"/>
              </a:lnSpc>
              <a:spcAft>
                <a:spcPts val="800"/>
              </a:spcAft>
            </a:pP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lvl="0" indent="-457200">
              <a:lnSpc>
                <a:spcPct val="150000"/>
              </a:lnSpc>
              <a:buFont typeface="+mj-lt"/>
              <a:buAutoNum type="arabicPeriod"/>
            </a:pPr>
            <a:endParaRPr lang="en-US" sz="2400" dirty="0"/>
          </a:p>
        </p:txBody>
      </p:sp>
    </p:spTree>
    <p:extLst>
      <p:ext uri="{BB962C8B-B14F-4D97-AF65-F5344CB8AC3E}">
        <p14:creationId xmlns:p14="http://schemas.microsoft.com/office/powerpoint/2010/main" val="5552300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a:latin typeface="Casper Bold" panose="02000806040000020004" pitchFamily="2" charset="0"/>
                <a:cs typeface="Arial" panose="020B0604020202020204" pitchFamily="34" charset="0"/>
              </a:rPr>
              <a:t>REFERENCES </a:t>
            </a:r>
            <a:r>
              <a:rPr lang="en-US" sz="2800" dirty="0"/>
              <a:t>  </a:t>
            </a:r>
            <a:endParaRPr lang="en-US" dirty="0"/>
          </a:p>
        </p:txBody>
      </p:sp>
      <p:sp>
        <p:nvSpPr>
          <p:cNvPr id="3" name="Content Placeholder 2"/>
          <p:cNvSpPr>
            <a:spLocks noGrp="1"/>
          </p:cNvSpPr>
          <p:nvPr>
            <p:ph idx="1"/>
          </p:nvPr>
        </p:nvSpPr>
        <p:spPr>
          <a:xfrm>
            <a:off x="838200" y="1803400"/>
            <a:ext cx="10515600" cy="4694901"/>
          </a:xfrm>
          <a:ln>
            <a:solidFill>
              <a:schemeClr val="accent1"/>
            </a:solidFill>
          </a:ln>
        </p:spPr>
        <p:txBody>
          <a:bodyPr>
            <a:normAutofit/>
          </a:bodyPr>
          <a:lstStyle/>
          <a:p>
            <a:pPr marL="342900" lvl="0" indent="-342900">
              <a:lnSpc>
                <a:spcPct val="150000"/>
              </a:lnSpc>
              <a:buFont typeface="+mj-lt"/>
              <a:buAutoNum type="arabicPeriod"/>
            </a:pPr>
            <a:r>
              <a:rPr lang="en-IN" sz="2400" u="sng"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hlinkClick r:id="rId2"/>
              </a:rPr>
              <a:t>https://www.newscientist.com/article/dn9939-introduction-nanotechnology/#ixzz6UEWrLASu</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IN" sz="2400" u="sng"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https://www.nano.gov/you/nanotechnology-benefits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IN" sz="2400" u="sng"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hlinkClick r:id="rId4"/>
              </a:rPr>
              <a:t>https://www.azonano.com/article.aspx?ArticleID=1134#_What_is_Nanotechnology?</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pPr>
            <a:r>
              <a:rPr lang="en-IN" sz="2400" u="sng"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hlinkClick r:id="rId5"/>
              </a:rPr>
              <a:t>https://www.newscientist.com/article/dn9939-introduction-nanotechnology/</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6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18</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EACF9-1397-480A-A5E2-64159AE0597C}"/>
              </a:ext>
            </a:extLst>
          </p:cNvPr>
          <p:cNvSpPr>
            <a:spLocks noGrp="1"/>
          </p:cNvSpPr>
          <p:nvPr>
            <p:ph type="title"/>
          </p:nvPr>
        </p:nvSpPr>
        <p:spPr>
          <a:ln>
            <a:solidFill>
              <a:srgbClr val="C00000"/>
            </a:solidFill>
          </a:ln>
        </p:spPr>
        <p:txBody>
          <a:bodyPr/>
          <a:lstStyle/>
          <a:p>
            <a:pPr algn="ctr"/>
            <a:r>
              <a:rPr lang="en-IN" b="1" dirty="0">
                <a:latin typeface="Casper"/>
              </a:rPr>
              <a:t>IMAGES REFERENCES</a:t>
            </a:r>
          </a:p>
        </p:txBody>
      </p:sp>
      <p:sp>
        <p:nvSpPr>
          <p:cNvPr id="3" name="Content Placeholder 2">
            <a:extLst>
              <a:ext uri="{FF2B5EF4-FFF2-40B4-BE49-F238E27FC236}">
                <a16:creationId xmlns:a16="http://schemas.microsoft.com/office/drawing/2014/main" id="{8FCF13B5-375A-49B0-A3E5-AE43A4DD6693}"/>
              </a:ext>
            </a:extLst>
          </p:cNvPr>
          <p:cNvSpPr>
            <a:spLocks noGrp="1"/>
          </p:cNvSpPr>
          <p:nvPr>
            <p:ph idx="1"/>
          </p:nvPr>
        </p:nvSpPr>
        <p:spPr>
          <a:xfrm>
            <a:off x="838200" y="1825625"/>
            <a:ext cx="10515600" cy="4667250"/>
          </a:xfrm>
          <a:ln>
            <a:solidFill>
              <a:schemeClr val="accent1"/>
            </a:solidFill>
          </a:ln>
        </p:spPr>
        <p:txBody>
          <a:bodyPr>
            <a:normAutofit fontScale="85000" lnSpcReduction="20000"/>
          </a:bodyPr>
          <a:lstStyle/>
          <a:p>
            <a:pPr marL="0" indent="0">
              <a:lnSpc>
                <a:spcPct val="120000"/>
              </a:lnSpc>
              <a:spcAft>
                <a:spcPts val="800"/>
              </a:spcAft>
              <a:buNone/>
            </a:pPr>
            <a:r>
              <a:rPr lang="en-IN" sz="1800" u="sng" dirty="0">
                <a:effectLst/>
                <a:latin typeface="Times New Roman" panose="02020603050405020304" pitchFamily="18" charset="0"/>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[1] </a:t>
            </a:r>
            <a:r>
              <a:rPr lang="en-IN" sz="2600" u="sng" dirty="0">
                <a:effectLst/>
                <a:latin typeface="Casper" panose="02000506000000020004"/>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https://www.researchgate.net/figure/THE-MICROCOSM-The-nanoscale-includes-proteins-but-excludes-simple-atoms-which-are-too_fig1_301733368</a:t>
            </a:r>
            <a:endParaRPr lang="en-IN" sz="2600" u="sng" dirty="0">
              <a:effectLst/>
              <a:latin typeface="Casper" panose="02000506000000020004"/>
              <a:ea typeface="Calibri" panose="020F0502020204030204" pitchFamily="34" charset="0"/>
              <a:cs typeface="Times New Roman" panose="02020603050405020304" pitchFamily="18" charset="0"/>
            </a:endParaRPr>
          </a:p>
          <a:p>
            <a:pPr marL="0" indent="0">
              <a:lnSpc>
                <a:spcPct val="120000"/>
              </a:lnSpc>
              <a:spcAft>
                <a:spcPts val="800"/>
              </a:spcAft>
              <a:buNone/>
            </a:pPr>
            <a:r>
              <a:rPr lang="en-IN" sz="2600" u="sng" dirty="0">
                <a:latin typeface="Casper" panose="02000506000000020004"/>
                <a:ea typeface="Calibri" panose="020F0502020204030204" pitchFamily="34" charset="0"/>
                <a:cs typeface="Times New Roman" panose="02020603050405020304" pitchFamily="18" charset="0"/>
              </a:rPr>
              <a:t>[2] </a:t>
            </a:r>
            <a:r>
              <a:rPr lang="en-IN" sz="2600" dirty="0">
                <a:latin typeface="Casper" panose="02000506000000020004"/>
                <a:hlinkClick r:id="rId4">
                  <a:extLst>
                    <a:ext uri="{A12FA001-AC4F-418D-AE19-62706E023703}">
                      <ahyp:hlinkClr xmlns:ahyp="http://schemas.microsoft.com/office/drawing/2018/hyperlinkcolor" val="tx"/>
                    </a:ext>
                  </a:extLst>
                </a:hlinkClick>
              </a:rPr>
              <a:t>https://www.understandingnano.com/introduction.html</a:t>
            </a:r>
            <a:endParaRPr lang="en-IN" sz="2600" dirty="0">
              <a:latin typeface="Casper" panose="02000506000000020004"/>
            </a:endParaRPr>
          </a:p>
          <a:p>
            <a:pPr marL="0" indent="0">
              <a:lnSpc>
                <a:spcPct val="120000"/>
              </a:lnSpc>
              <a:spcAft>
                <a:spcPts val="800"/>
              </a:spcAft>
              <a:buNone/>
            </a:pPr>
            <a:r>
              <a:rPr lang="en-IN" sz="2600" dirty="0">
                <a:effectLst/>
                <a:latin typeface="Casper" panose="02000506000000020004"/>
                <a:ea typeface="Calibri" panose="020F0502020204030204" pitchFamily="34" charset="0"/>
                <a:cs typeface="Times New Roman" panose="02020603050405020304" pitchFamily="18" charset="0"/>
              </a:rPr>
              <a:t>[3] </a:t>
            </a:r>
            <a:r>
              <a:rPr lang="en-IN" sz="2600" dirty="0">
                <a:latin typeface="Casper" panose="02000506000000020004"/>
                <a:hlinkClick r:id="rId5">
                  <a:extLst>
                    <a:ext uri="{A12FA001-AC4F-418D-AE19-62706E023703}">
                      <ahyp:hlinkClr xmlns:ahyp="http://schemas.microsoft.com/office/drawing/2018/hyperlinkcolor" val="tx"/>
                    </a:ext>
                  </a:extLst>
                </a:hlinkClick>
              </a:rPr>
              <a:t>https://www.tctnanotech.com/nanotechnology-benefits/</a:t>
            </a:r>
            <a:endParaRPr lang="en-IN" sz="2600" dirty="0">
              <a:latin typeface="Casper" panose="02000506000000020004"/>
            </a:endParaRPr>
          </a:p>
          <a:p>
            <a:pPr marL="0" indent="0">
              <a:lnSpc>
                <a:spcPct val="120000"/>
              </a:lnSpc>
              <a:spcAft>
                <a:spcPts val="800"/>
              </a:spcAft>
              <a:buNone/>
            </a:pPr>
            <a:r>
              <a:rPr lang="en-IN" sz="2600" dirty="0">
                <a:effectLst/>
                <a:latin typeface="Casper" panose="02000506000000020004"/>
                <a:ea typeface="Calibri" panose="020F0502020204030204" pitchFamily="34" charset="0"/>
                <a:cs typeface="Times New Roman" panose="02020603050405020304" pitchFamily="18" charset="0"/>
              </a:rPr>
              <a:t>[4] </a:t>
            </a:r>
            <a:r>
              <a:rPr lang="en-IN" sz="2600" dirty="0">
                <a:latin typeface="Casper" panose="02000506000000020004"/>
                <a:hlinkClick r:id="rId6">
                  <a:extLst>
                    <a:ext uri="{A12FA001-AC4F-418D-AE19-62706E023703}">
                      <ahyp:hlinkClr xmlns:ahyp="http://schemas.microsoft.com/office/drawing/2018/hyperlinkcolor" val="tx"/>
                    </a:ext>
                  </a:extLst>
                </a:hlinkClick>
              </a:rPr>
              <a:t>https://www.stantonoptical.com/blog/anti-reflective-lens-coating</a:t>
            </a:r>
            <a:endParaRPr lang="en-IN" sz="2600" dirty="0">
              <a:effectLst/>
              <a:latin typeface="Casper" panose="02000506000000020004"/>
              <a:ea typeface="Calibri" panose="020F0502020204030204" pitchFamily="34" charset="0"/>
              <a:cs typeface="Times New Roman" panose="02020603050405020304" pitchFamily="18" charset="0"/>
            </a:endParaRPr>
          </a:p>
          <a:p>
            <a:pPr marL="0" indent="0">
              <a:lnSpc>
                <a:spcPct val="120000"/>
              </a:lnSpc>
              <a:spcAft>
                <a:spcPts val="800"/>
              </a:spcAft>
              <a:buNone/>
            </a:pPr>
            <a:r>
              <a:rPr lang="en-IN" sz="2600" dirty="0">
                <a:effectLst/>
                <a:latin typeface="Casper" panose="02000506000000020004"/>
                <a:ea typeface="Calibri" panose="020F0502020204030204" pitchFamily="34" charset="0"/>
                <a:cs typeface="Times New Roman" panose="02020603050405020304" pitchFamily="18" charset="0"/>
              </a:rPr>
              <a:t>[5] </a:t>
            </a:r>
            <a:r>
              <a:rPr lang="en-IN" sz="2600" u="sng" dirty="0">
                <a:effectLst/>
                <a:latin typeface="Casper" panose="02000506000000020004"/>
                <a:ea typeface="Calibri" panose="020F0502020204030204" pitchFamily="34" charset="0"/>
                <a:cs typeface="Times New Roman" panose="02020603050405020304" pitchFamily="18" charset="0"/>
                <a:hlinkClick r:id="rId7">
                  <a:extLst>
                    <a:ext uri="{A12FA001-AC4F-418D-AE19-62706E023703}">
                      <ahyp:hlinkClr xmlns:ahyp="http://schemas.microsoft.com/office/drawing/2018/hyperlinkcolor" val="tx"/>
                    </a:ext>
                  </a:extLst>
                </a:hlinkClick>
              </a:rPr>
              <a:t>https://www.sciencedirect.com/science/article/pii/S1018364717310868</a:t>
            </a:r>
            <a:endParaRPr lang="en-IN" sz="2600" dirty="0">
              <a:effectLst/>
              <a:latin typeface="Casper" panose="02000506000000020004"/>
              <a:ea typeface="Calibri" panose="020F0502020204030204" pitchFamily="34" charset="0"/>
              <a:cs typeface="Times New Roman" panose="02020603050405020304" pitchFamily="18" charset="0"/>
            </a:endParaRPr>
          </a:p>
          <a:p>
            <a:pPr marL="0" indent="0">
              <a:lnSpc>
                <a:spcPct val="120000"/>
              </a:lnSpc>
              <a:spcAft>
                <a:spcPts val="800"/>
              </a:spcAft>
              <a:buNone/>
            </a:pPr>
            <a:r>
              <a:rPr lang="en-IN" sz="2600" u="sng" dirty="0">
                <a:effectLst/>
                <a:latin typeface="Casper" panose="02000506000000020004"/>
                <a:ea typeface="Calibri" panose="020F0502020204030204" pitchFamily="34" charset="0"/>
                <a:cs typeface="Times New Roman" panose="02020603050405020304" pitchFamily="18" charset="0"/>
              </a:rPr>
              <a:t>[6] </a:t>
            </a:r>
            <a:r>
              <a:rPr lang="en-IN" sz="2600" u="sng" dirty="0">
                <a:effectLst/>
                <a:latin typeface="Casper" panose="02000506000000020004"/>
                <a:ea typeface="Calibri" panose="020F0502020204030204" pitchFamily="34" charset="0"/>
                <a:cs typeface="Times New Roman" panose="02020603050405020304" pitchFamily="18" charset="0"/>
                <a:hlinkClick r:id="rId8">
                  <a:extLst>
                    <a:ext uri="{A12FA001-AC4F-418D-AE19-62706E023703}">
                      <ahyp:hlinkClr xmlns:ahyp="http://schemas.microsoft.com/office/drawing/2018/hyperlinkcolor" val="tx"/>
                    </a:ext>
                  </a:extLst>
                </a:hlinkClick>
              </a:rPr>
              <a:t>https://cancer-nano.biomedcentral.com/</a:t>
            </a:r>
            <a:endParaRPr lang="en-IN" sz="2600" u="sng" dirty="0">
              <a:effectLst/>
              <a:latin typeface="Casper" panose="02000506000000020004"/>
              <a:ea typeface="Calibri" panose="020F0502020204030204" pitchFamily="34" charset="0"/>
              <a:cs typeface="Times New Roman" panose="02020603050405020304" pitchFamily="18" charset="0"/>
            </a:endParaRPr>
          </a:p>
          <a:p>
            <a:pPr marL="0" indent="0">
              <a:lnSpc>
                <a:spcPct val="120000"/>
              </a:lnSpc>
              <a:spcAft>
                <a:spcPts val="800"/>
              </a:spcAft>
              <a:buNone/>
            </a:pPr>
            <a:r>
              <a:rPr lang="en-IN" sz="2600" u="sng" dirty="0">
                <a:latin typeface="Casper" panose="02000506000000020004"/>
                <a:ea typeface="Calibri" panose="020F0502020204030204" pitchFamily="34" charset="0"/>
                <a:cs typeface="Times New Roman" panose="02020603050405020304" pitchFamily="18" charset="0"/>
              </a:rPr>
              <a:t>[7] </a:t>
            </a:r>
            <a:r>
              <a:rPr lang="en-IN" sz="2600" dirty="0">
                <a:latin typeface="Casper" panose="02000506000000020004"/>
                <a:hlinkClick r:id="rId9">
                  <a:extLst>
                    <a:ext uri="{A12FA001-AC4F-418D-AE19-62706E023703}">
                      <ahyp:hlinkClr xmlns:ahyp="http://schemas.microsoft.com/office/drawing/2018/hyperlinkcolor" val="tx"/>
                    </a:ext>
                  </a:extLst>
                </a:hlinkClick>
              </a:rPr>
              <a:t>https://www.npr.org/sections/health-shots/2017/07/23/537287781/beyond-the-nasty-needle-trying-to-make-vaccines-more-comfy-and-convenient</a:t>
            </a:r>
            <a:endParaRPr lang="en-IN" sz="2600" dirty="0">
              <a:effectLst/>
              <a:latin typeface="Casper" panose="02000506000000020004"/>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2147D7CA-FE65-4C4B-A6B5-D1C3A531D9AB}"/>
              </a:ext>
            </a:extLst>
          </p:cNvPr>
          <p:cNvSpPr>
            <a:spLocks noGrp="1"/>
          </p:cNvSpPr>
          <p:nvPr>
            <p:ph type="sldNum" sz="quarter" idx="12"/>
          </p:nvPr>
        </p:nvSpPr>
        <p:spPr/>
        <p:txBody>
          <a:bodyPr/>
          <a:lstStyle/>
          <a:p>
            <a:fld id="{BDCDBBEF-AA6C-4BA6-85B2-A17D7F280E38}" type="slidenum">
              <a:rPr lang="en-US" smtClean="0"/>
              <a:t>19</a:t>
            </a:fld>
            <a:endParaRPr lang="en-US"/>
          </a:p>
        </p:txBody>
      </p:sp>
    </p:spTree>
    <p:extLst>
      <p:ext uri="{BB962C8B-B14F-4D97-AF65-F5344CB8AC3E}">
        <p14:creationId xmlns:p14="http://schemas.microsoft.com/office/powerpoint/2010/main" val="39873713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a:latin typeface="Casper Bold" panose="02000806040000020004" pitchFamily="2" charset="0"/>
                <a:cs typeface="Arial" panose="020B0604020202020204" pitchFamily="34" charset="0"/>
              </a:rPr>
              <a:t>REFERENCES </a:t>
            </a:r>
            <a:r>
              <a:rPr lang="en-US" sz="2800" dirty="0"/>
              <a:t>  </a:t>
            </a:r>
            <a:endParaRPr lang="en-US" dirty="0"/>
          </a:p>
        </p:txBody>
      </p:sp>
      <p:sp>
        <p:nvSpPr>
          <p:cNvPr id="3" name="Content Placeholder 2"/>
          <p:cNvSpPr>
            <a:spLocks noGrp="1"/>
          </p:cNvSpPr>
          <p:nvPr>
            <p:ph idx="1"/>
          </p:nvPr>
        </p:nvSpPr>
        <p:spPr>
          <a:xfrm>
            <a:off x="838200" y="1803400"/>
            <a:ext cx="10515600" cy="4694901"/>
          </a:xfrm>
          <a:ln>
            <a:solidFill>
              <a:schemeClr val="accent1"/>
            </a:solidFill>
          </a:ln>
        </p:spPr>
        <p:txBody>
          <a:bodyPr>
            <a:normAutofit lnSpcReduction="10000"/>
          </a:bodyPr>
          <a:lstStyle/>
          <a:p>
            <a:pPr marL="0" indent="0">
              <a:lnSpc>
                <a:spcPct val="107000"/>
              </a:lnSpc>
              <a:spcAft>
                <a:spcPts val="800"/>
              </a:spcAft>
              <a:buNone/>
            </a:pPr>
            <a:r>
              <a:rPr lang="en-IN" sz="2400" b="1" dirty="0">
                <a:effectLst/>
                <a:latin typeface="Casper"/>
                <a:ea typeface="Calibri" panose="020F0502020204030204" pitchFamily="34" charset="0"/>
                <a:cs typeface="Times New Roman" panose="02020603050405020304" pitchFamily="18" charset="0"/>
              </a:rPr>
              <a:t>VIDEO LINKS </a:t>
            </a:r>
            <a:endParaRPr lang="en-IN" sz="2400" dirty="0">
              <a:effectLst/>
              <a:latin typeface="Casper"/>
              <a:ea typeface="Calibri" panose="020F0502020204030204" pitchFamily="34" charset="0"/>
              <a:cs typeface="Times New Roman" panose="02020603050405020304" pitchFamily="18" charset="0"/>
            </a:endParaRPr>
          </a:p>
          <a:p>
            <a:pPr marL="342900" lvl="0" indent="-342900">
              <a:lnSpc>
                <a:spcPct val="150000"/>
              </a:lnSpc>
              <a:buFont typeface="+mj-lt"/>
              <a:buAutoNum type="arabicPeriod"/>
            </a:pPr>
            <a:r>
              <a:rPr lang="en-IN" sz="2400" u="sng" dirty="0">
                <a:solidFill>
                  <a:srgbClr val="0000FF"/>
                </a:solidFill>
                <a:effectLst/>
                <a:latin typeface="Casper"/>
                <a:ea typeface="Calibri" panose="020F0502020204030204" pitchFamily="34" charset="0"/>
                <a:cs typeface="Times New Roman" panose="02020603050405020304" pitchFamily="18" charset="0"/>
                <a:hlinkClick r:id="rId2"/>
              </a:rPr>
              <a:t>https://www.youtube.com/watch?v=k61wjab7iUs</a:t>
            </a:r>
            <a:endParaRPr lang="en-IN" sz="2400" dirty="0">
              <a:effectLst/>
              <a:latin typeface="Casper"/>
              <a:ea typeface="Calibri" panose="020F0502020204030204" pitchFamily="34" charset="0"/>
              <a:cs typeface="Times New Roman" panose="02020603050405020304" pitchFamily="18" charset="0"/>
            </a:endParaRPr>
          </a:p>
          <a:p>
            <a:pPr marL="342900" lvl="0" indent="-342900">
              <a:lnSpc>
                <a:spcPct val="150000"/>
              </a:lnSpc>
              <a:buFont typeface="+mj-lt"/>
              <a:buAutoNum type="arabicPeriod"/>
            </a:pPr>
            <a:r>
              <a:rPr lang="en-IN" sz="2400" u="sng" dirty="0">
                <a:solidFill>
                  <a:srgbClr val="0000FF"/>
                </a:solidFill>
                <a:effectLst/>
                <a:latin typeface="Casper"/>
                <a:ea typeface="Calibri" panose="020F0502020204030204" pitchFamily="34" charset="0"/>
                <a:cs typeface="Times New Roman" panose="02020603050405020304" pitchFamily="18" charset="0"/>
                <a:hlinkClick r:id="rId3"/>
              </a:rPr>
              <a:t>https://www.youtube.com/watch?v=0MzIh7wkgMs</a:t>
            </a:r>
            <a:endParaRPr lang="en-IN" sz="2400" dirty="0">
              <a:effectLst/>
              <a:latin typeface="Casper"/>
              <a:ea typeface="Calibri" panose="020F0502020204030204" pitchFamily="34" charset="0"/>
              <a:cs typeface="Times New Roman" panose="02020603050405020304" pitchFamily="18" charset="0"/>
            </a:endParaRPr>
          </a:p>
          <a:p>
            <a:pPr marL="342900" lvl="0" indent="-342900">
              <a:lnSpc>
                <a:spcPct val="150000"/>
              </a:lnSpc>
              <a:spcAft>
                <a:spcPts val="800"/>
              </a:spcAft>
              <a:buFont typeface="+mj-lt"/>
              <a:buAutoNum type="arabicPeriod"/>
            </a:pPr>
            <a:r>
              <a:rPr lang="en-IN" sz="2400" u="sng" dirty="0">
                <a:solidFill>
                  <a:srgbClr val="0000FF"/>
                </a:solidFill>
                <a:effectLst/>
                <a:latin typeface="Casper"/>
                <a:ea typeface="Calibri" panose="020F0502020204030204" pitchFamily="34" charset="0"/>
                <a:cs typeface="Times New Roman" panose="02020603050405020304" pitchFamily="18" charset="0"/>
                <a:hlinkClick r:id="rId4"/>
              </a:rPr>
              <a:t>https://www.youtube.com/watch?v=bKh4cwAygPM</a:t>
            </a:r>
            <a:endParaRPr lang="en-IN" sz="2400" dirty="0">
              <a:effectLst/>
              <a:latin typeface="Casper"/>
              <a:ea typeface="Calibri" panose="020F0502020204030204" pitchFamily="34" charset="0"/>
              <a:cs typeface="Times New Roman" panose="02020603050405020304" pitchFamily="18" charset="0"/>
            </a:endParaRPr>
          </a:p>
          <a:p>
            <a:pPr>
              <a:lnSpc>
                <a:spcPct val="150000"/>
              </a:lnSpc>
              <a:spcAft>
                <a:spcPts val="800"/>
              </a:spcAft>
            </a:pPr>
            <a:r>
              <a:rPr lang="en-IN" sz="2400" b="1" dirty="0">
                <a:effectLst/>
                <a:latin typeface="Casper"/>
                <a:ea typeface="Calibri" panose="020F0502020204030204" pitchFamily="34" charset="0"/>
                <a:cs typeface="Times New Roman" panose="02020603050405020304" pitchFamily="18" charset="0"/>
              </a:rPr>
              <a:t>BOOKS</a:t>
            </a:r>
            <a:endParaRPr lang="en-IN" sz="2400" dirty="0">
              <a:effectLst/>
              <a:latin typeface="Casper"/>
              <a:ea typeface="Calibri" panose="020F0502020204030204" pitchFamily="34" charset="0"/>
              <a:cs typeface="Times New Roman" panose="02020603050405020304" pitchFamily="18" charset="0"/>
            </a:endParaRPr>
          </a:p>
          <a:p>
            <a:pPr marL="457200" indent="-457200" algn="just">
              <a:lnSpc>
                <a:spcPct val="107000"/>
              </a:lnSpc>
              <a:spcAft>
                <a:spcPts val="1000"/>
              </a:spcAft>
              <a:tabLst>
                <a:tab pos="228600" algn="l"/>
              </a:tabLst>
            </a:pPr>
            <a:r>
              <a:rPr lang="en-IN" sz="2400" dirty="0" err="1">
                <a:solidFill>
                  <a:srgbClr val="000000"/>
                </a:solidFill>
                <a:effectLst/>
                <a:latin typeface="Casper"/>
                <a:ea typeface="Calibri" panose="020F0502020204030204" pitchFamily="34" charset="0"/>
                <a:cs typeface="Times New Roman" panose="02020603050405020304" pitchFamily="18" charset="0"/>
              </a:rPr>
              <a:t>Sahni</a:t>
            </a:r>
            <a:r>
              <a:rPr lang="en-IN" sz="2400" dirty="0">
                <a:solidFill>
                  <a:srgbClr val="000000"/>
                </a:solidFill>
                <a:effectLst/>
                <a:latin typeface="Casper"/>
                <a:ea typeface="Calibri" panose="020F0502020204030204" pitchFamily="34" charset="0"/>
                <a:cs typeface="Times New Roman" panose="02020603050405020304" pitchFamily="18" charset="0"/>
              </a:rPr>
              <a:t> V., Goswami D. (2008) Nano Computing, McGraw Hill Education Asia Ltd., ISBN: 978007024892</a:t>
            </a:r>
            <a:r>
              <a:rPr lang="en-IN" sz="2400" dirty="0">
                <a:effectLst/>
                <a:latin typeface="Casper"/>
                <a:ea typeface="Calibri" panose="020F0502020204030204" pitchFamily="34" charset="0"/>
                <a:cs typeface="Times New Roman" panose="02020603050405020304" pitchFamily="18" charset="0"/>
              </a:rPr>
              <a:t>Beiser A., </a:t>
            </a:r>
            <a:r>
              <a:rPr lang="en-IN" sz="2400" dirty="0" err="1">
                <a:effectLst/>
                <a:latin typeface="Casper"/>
                <a:ea typeface="Calibri" panose="020F0502020204030204" pitchFamily="34" charset="0"/>
                <a:cs typeface="Times New Roman" panose="02020603050405020304" pitchFamily="18" charset="0"/>
              </a:rPr>
              <a:t>Ghatak</a:t>
            </a:r>
            <a:r>
              <a:rPr lang="en-IN" sz="2400" dirty="0">
                <a:effectLst/>
                <a:latin typeface="Casper"/>
                <a:ea typeface="Calibri" panose="020F0502020204030204" pitchFamily="34" charset="0"/>
                <a:cs typeface="Times New Roman" panose="02020603050405020304" pitchFamily="18" charset="0"/>
              </a:rPr>
              <a:t> A, Garg S.C., Applied Physics, Edition 1</a:t>
            </a:r>
            <a:r>
              <a:rPr lang="en-IN" sz="2400" baseline="30000" dirty="0">
                <a:effectLst/>
                <a:latin typeface="Casper"/>
                <a:ea typeface="Calibri" panose="020F0502020204030204" pitchFamily="34" charset="0"/>
                <a:cs typeface="Times New Roman" panose="02020603050405020304" pitchFamily="18" charset="0"/>
              </a:rPr>
              <a:t>st</a:t>
            </a:r>
            <a:r>
              <a:rPr lang="en-IN" sz="2400" dirty="0">
                <a:effectLst/>
                <a:latin typeface="Casper"/>
                <a:ea typeface="Calibri" panose="020F0502020204030204" pitchFamily="34" charset="0"/>
                <a:cs typeface="Times New Roman" panose="02020603050405020304" pitchFamily="18" charset="0"/>
              </a:rPr>
              <a:t>, (2013), Tata McGraw-Hill,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Noida.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b="1" dirty="0"/>
          </a:p>
        </p:txBody>
      </p:sp>
      <p:sp>
        <p:nvSpPr>
          <p:cNvPr id="4" name="Slide Number Placeholder 3"/>
          <p:cNvSpPr>
            <a:spLocks noGrp="1"/>
          </p:cNvSpPr>
          <p:nvPr>
            <p:ph type="sldNum" sz="quarter" idx="12"/>
          </p:nvPr>
        </p:nvSpPr>
        <p:spPr/>
        <p:txBody>
          <a:bodyPr/>
          <a:lstStyle/>
          <a:p>
            <a:fld id="{BDCDBBEF-AA6C-4BA6-85B2-A17D7F280E38}" type="slidenum">
              <a:rPr lang="en-US" smtClean="0"/>
              <a:t>20</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3463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
                        <p:cNvPicPr>
                          <a:picLocks noChangeAspect="1" noChangeArrowheads="1"/>
                        </p:cNvPicPr>
                        <p:nvPr/>
                      </p:nvPicPr>
                      <p:blipFill>
                        <a:blip r:embed="rId3">
                          <a:lum/>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p:spPr>
                    </p:pic>
                  </p:oleObj>
                </mc:Fallback>
              </mc:AlternateContent>
            </a:graphicData>
          </a:graphic>
        </p:graphicFrame>
      </p:grpSp>
      <p:sp>
        <p:nvSpPr>
          <p:cNvPr id="2" name="Rectangle 1"/>
          <p:cNvSpPr/>
          <p:nvPr/>
        </p:nvSpPr>
        <p:spPr>
          <a:xfrm>
            <a:off x="4114005" y="5394447"/>
            <a:ext cx="3961049" cy="646331"/>
          </a:xfrm>
          <a:prstGeom prst="rect">
            <a:avLst/>
          </a:prstGeom>
        </p:spPr>
        <p:txBody>
          <a:bodyPr wrap="squar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a:t>
            </a:r>
            <a:r>
              <a:rPr lang="en-US">
                <a:latin typeface="Casper" panose="02000506000000020004" pitchFamily="2" charset="0"/>
                <a:cs typeface="Segoe UI" panose="020B0502040204020203" pitchFamily="34" charset="0"/>
              </a:rPr>
              <a:t>: arminder.uis@cumail.in</a:t>
            </a:r>
            <a:endParaRPr lang="en-US" dirty="0"/>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2031</TotalTime>
  <Words>1491</Words>
  <Application>Microsoft Office PowerPoint</Application>
  <PresentationFormat>Widescreen</PresentationFormat>
  <Paragraphs>136</Paragraphs>
  <Slides>21</Slides>
  <Notes>0</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21</vt:i4>
      </vt:variant>
    </vt:vector>
  </HeadingPairs>
  <TitlesOfParts>
    <vt:vector size="33" baseType="lpstr">
      <vt:lpstr>Arial</vt:lpstr>
      <vt:lpstr>Arial Black</vt:lpstr>
      <vt:lpstr>Calibri</vt:lpstr>
      <vt:lpstr>Calibri Light</vt:lpstr>
      <vt:lpstr>Casper</vt:lpstr>
      <vt:lpstr>Casper Bold</vt:lpstr>
      <vt:lpstr>Raleway ExtraBold</vt:lpstr>
      <vt:lpstr>Times New Roman</vt:lpstr>
      <vt:lpstr>Wingdings</vt:lpstr>
      <vt:lpstr>1_Office Theme</vt:lpstr>
      <vt:lpstr>Contents Slide Master</vt:lpstr>
      <vt:lpstr>CorelDRAW</vt:lpstr>
      <vt:lpstr>PowerPoint Presentation</vt:lpstr>
      <vt:lpstr>PowerPoint Presentation</vt:lpstr>
      <vt:lpstr>PowerPoint Presentation</vt:lpstr>
      <vt:lpstr>LECTURE OBJECTIVE </vt:lpstr>
      <vt:lpstr>CONTENT </vt:lpstr>
      <vt:lpstr>INTRODUCTION</vt:lpstr>
      <vt:lpstr>INTRODUCTION</vt:lpstr>
      <vt:lpstr>BENEFITS</vt:lpstr>
      <vt:lpstr>HISTROY</vt:lpstr>
      <vt:lpstr>POTENTIAL APPLICATIONS </vt:lpstr>
      <vt:lpstr>PowerPoint Presentation</vt:lpstr>
      <vt:lpstr>POTENTIAL APPLICATIONS </vt:lpstr>
      <vt:lpstr>POTENTIAL APPLICATIONS </vt:lpstr>
      <vt:lpstr>POTENTIAL APPLICATIONS </vt:lpstr>
      <vt:lpstr>POTENTIAL APPLICATIONS </vt:lpstr>
      <vt:lpstr>SUMMARY</vt:lpstr>
      <vt:lpstr>FAQ </vt:lpstr>
      <vt:lpstr>REFERENCES   </vt:lpstr>
      <vt:lpstr>IMAGES REFERENCES</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Indu Gupta</cp:lastModifiedBy>
  <cp:revision>168</cp:revision>
  <dcterms:created xsi:type="dcterms:W3CDTF">2019-01-09T10:33:58Z</dcterms:created>
  <dcterms:modified xsi:type="dcterms:W3CDTF">2023-06-15T15:54:47Z</dcterms:modified>
</cp:coreProperties>
</file>