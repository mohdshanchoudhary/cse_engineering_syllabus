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74" r:id="rId1"/>
    <p:sldMasterId id="2147483686" r:id="rId2"/>
  </p:sldMasterIdLst>
  <p:notesMasterIdLst>
    <p:notesMasterId r:id="rId20"/>
  </p:notesMasterIdLst>
  <p:handoutMasterIdLst>
    <p:handoutMasterId r:id="rId21"/>
  </p:handoutMasterIdLst>
  <p:sldIdLst>
    <p:sldId id="277" r:id="rId3"/>
    <p:sldId id="480" r:id="rId4"/>
    <p:sldId id="377" r:id="rId5"/>
    <p:sldId id="259" r:id="rId6"/>
    <p:sldId id="323" r:id="rId7"/>
    <p:sldId id="280" r:id="rId8"/>
    <p:sldId id="475" r:id="rId9"/>
    <p:sldId id="476" r:id="rId10"/>
    <p:sldId id="477" r:id="rId11"/>
    <p:sldId id="478" r:id="rId12"/>
    <p:sldId id="479" r:id="rId13"/>
    <p:sldId id="321" r:id="rId14"/>
    <p:sldId id="300" r:id="rId15"/>
    <p:sldId id="284" r:id="rId16"/>
    <p:sldId id="322" r:id="rId17"/>
    <p:sldId id="285" r:id="rId18"/>
    <p:sldId id="279"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rminder kaur" initials="ak" lastIdx="1" clrIdx="0">
    <p:extLst>
      <p:ext uri="{19B8F6BF-5375-455C-9EA6-DF929625EA0E}">
        <p15:presenceInfo xmlns:p15="http://schemas.microsoft.com/office/powerpoint/2012/main" userId="a22e12bbabfcdaef"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15" autoAdjust="0"/>
    <p:restoredTop sz="92449" autoAdjust="0"/>
  </p:normalViewPr>
  <p:slideViewPr>
    <p:cSldViewPr snapToGrid="0">
      <p:cViewPr varScale="1">
        <p:scale>
          <a:sx n="61" d="100"/>
          <a:sy n="61" d="100"/>
        </p:scale>
        <p:origin x="864" y="5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handoutMaster" Target="handoutMasters/handout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commentAuthors" Target="commentAuthor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D1C9E00-C35F-4852-81DC-62A20454CD52}" type="doc">
      <dgm:prSet loTypeId="urn:microsoft.com/office/officeart/2005/8/layout/vProcess5" loCatId="process" qsTypeId="urn:microsoft.com/office/officeart/2005/8/quickstyle/simple1" qsCatId="simple" csTypeId="urn:microsoft.com/office/officeart/2005/8/colors/colorful2" csCatId="colorful" phldr="1"/>
      <dgm:spPr/>
      <dgm:t>
        <a:bodyPr/>
        <a:lstStyle/>
        <a:p>
          <a:endParaRPr lang="en-IN"/>
        </a:p>
      </dgm:t>
    </dgm:pt>
    <dgm:pt modelId="{3555F372-BF6E-4D70-B96A-A8F57E387DC4}">
      <dgm:prSet phldrT="[Text]" custT="1"/>
      <dgm:spPr/>
      <dgm:t>
        <a:bodyPr/>
        <a:lstStyle/>
        <a:p>
          <a:pPr algn="l"/>
          <a:r>
            <a:rPr lang="en-IN" sz="2400" b="1" dirty="0">
              <a:latin typeface="Casper" panose="02000506000000020004"/>
            </a:rPr>
            <a:t>UNIT-3</a:t>
          </a:r>
        </a:p>
      </dgm:t>
    </dgm:pt>
    <dgm:pt modelId="{87CF7B05-C9EF-4245-8587-08783C85F0D4}" type="parTrans" cxnId="{A72D103D-5B1D-47E8-AA83-427D561C0341}">
      <dgm:prSet/>
      <dgm:spPr/>
      <dgm:t>
        <a:bodyPr/>
        <a:lstStyle/>
        <a:p>
          <a:endParaRPr lang="en-IN"/>
        </a:p>
      </dgm:t>
    </dgm:pt>
    <dgm:pt modelId="{60E1D986-97C4-48A2-9E05-F970597D8BA9}" type="sibTrans" cxnId="{A72D103D-5B1D-47E8-AA83-427D561C0341}">
      <dgm:prSet/>
      <dgm:spPr/>
      <dgm:t>
        <a:bodyPr/>
        <a:lstStyle/>
        <a:p>
          <a:endParaRPr lang="en-IN"/>
        </a:p>
      </dgm:t>
    </dgm:pt>
    <dgm:pt modelId="{A5AFC7F1-8BB0-41D1-813B-609A60DF9870}">
      <dgm:prSet phldrT="[Text]" custT="1"/>
      <dgm:spPr/>
      <dgm:t>
        <a:bodyPr/>
        <a:lstStyle/>
        <a:p>
          <a:pPr algn="ctr"/>
          <a:r>
            <a:rPr lang="en-IN" sz="2400" b="1" dirty="0">
              <a:latin typeface="Casper" panose="02000506000000020004"/>
            </a:rPr>
            <a:t>QUANTUM MECHANICS</a:t>
          </a:r>
        </a:p>
      </dgm:t>
    </dgm:pt>
    <dgm:pt modelId="{F7C134EE-B2C0-4130-BA90-CDA40B415D71}" type="parTrans" cxnId="{C5BCE058-81D0-409F-8262-237B13CB9B61}">
      <dgm:prSet/>
      <dgm:spPr/>
      <dgm:t>
        <a:bodyPr/>
        <a:lstStyle/>
        <a:p>
          <a:endParaRPr lang="en-IN"/>
        </a:p>
      </dgm:t>
    </dgm:pt>
    <dgm:pt modelId="{FBD71D7E-440B-4C5E-A033-32AEEFCA543C}" type="sibTrans" cxnId="{C5BCE058-81D0-409F-8262-237B13CB9B61}">
      <dgm:prSet/>
      <dgm:spPr/>
      <dgm:t>
        <a:bodyPr/>
        <a:lstStyle/>
        <a:p>
          <a:endParaRPr lang="en-IN"/>
        </a:p>
      </dgm:t>
    </dgm:pt>
    <dgm:pt modelId="{32F0F454-A9E7-47F9-ADF2-020F37E6AB10}">
      <dgm:prSet phldrT="[Text]" custT="1"/>
      <dgm:spPr/>
      <dgm:t>
        <a:bodyPr/>
        <a:lstStyle/>
        <a:p>
          <a:r>
            <a:rPr lang="en-IN" sz="2400" b="1" dirty="0">
              <a:solidFill>
                <a:schemeClr val="bg1"/>
              </a:solidFill>
              <a:latin typeface="Casper" panose="02000506000000020004"/>
            </a:rPr>
            <a:t>               WAVE-FUNCTION</a:t>
          </a:r>
        </a:p>
      </dgm:t>
    </dgm:pt>
    <dgm:pt modelId="{B409CC0C-A15A-4786-9FE9-8EBE4D57E1AB}" type="parTrans" cxnId="{9368DE8C-0351-4ACE-964E-3C5D2BE227C0}">
      <dgm:prSet/>
      <dgm:spPr/>
      <dgm:t>
        <a:bodyPr/>
        <a:lstStyle/>
        <a:p>
          <a:endParaRPr lang="en-IN"/>
        </a:p>
      </dgm:t>
    </dgm:pt>
    <dgm:pt modelId="{243E4063-E6E3-4D9A-89F4-C3F0C1DF317A}" type="sibTrans" cxnId="{9368DE8C-0351-4ACE-964E-3C5D2BE227C0}">
      <dgm:prSet/>
      <dgm:spPr/>
      <dgm:t>
        <a:bodyPr/>
        <a:lstStyle/>
        <a:p>
          <a:endParaRPr lang="en-IN"/>
        </a:p>
      </dgm:t>
    </dgm:pt>
    <dgm:pt modelId="{CBBA9C70-17D2-4EFC-B304-8779191443C8}" type="pres">
      <dgm:prSet presAssocID="{8D1C9E00-C35F-4852-81DC-62A20454CD52}" presName="outerComposite" presStyleCnt="0">
        <dgm:presLayoutVars>
          <dgm:chMax val="5"/>
          <dgm:dir/>
          <dgm:resizeHandles val="exact"/>
        </dgm:presLayoutVars>
      </dgm:prSet>
      <dgm:spPr/>
    </dgm:pt>
    <dgm:pt modelId="{A3562FE8-1956-4904-8AC6-59C167BC5837}" type="pres">
      <dgm:prSet presAssocID="{8D1C9E00-C35F-4852-81DC-62A20454CD52}" presName="dummyMaxCanvas" presStyleCnt="0">
        <dgm:presLayoutVars/>
      </dgm:prSet>
      <dgm:spPr/>
    </dgm:pt>
    <dgm:pt modelId="{6F0B5599-AB67-4D7B-810B-7A3D73FBC18E}" type="pres">
      <dgm:prSet presAssocID="{8D1C9E00-C35F-4852-81DC-62A20454CD52}" presName="ThreeNodes_1" presStyleLbl="node1" presStyleIdx="0" presStyleCnt="3" custScaleY="97577">
        <dgm:presLayoutVars>
          <dgm:bulletEnabled val="1"/>
        </dgm:presLayoutVars>
      </dgm:prSet>
      <dgm:spPr/>
    </dgm:pt>
    <dgm:pt modelId="{1391C7A5-C46A-46EF-B914-27DF644706EC}" type="pres">
      <dgm:prSet presAssocID="{8D1C9E00-C35F-4852-81DC-62A20454CD52}" presName="ThreeNodes_2" presStyleLbl="node1" presStyleIdx="1" presStyleCnt="3">
        <dgm:presLayoutVars>
          <dgm:bulletEnabled val="1"/>
        </dgm:presLayoutVars>
      </dgm:prSet>
      <dgm:spPr/>
    </dgm:pt>
    <dgm:pt modelId="{DF9F8172-1EEF-4814-96D1-8216E1DFE46F}" type="pres">
      <dgm:prSet presAssocID="{8D1C9E00-C35F-4852-81DC-62A20454CD52}" presName="ThreeNodes_3" presStyleLbl="node1" presStyleIdx="2" presStyleCnt="3">
        <dgm:presLayoutVars>
          <dgm:bulletEnabled val="1"/>
        </dgm:presLayoutVars>
      </dgm:prSet>
      <dgm:spPr/>
    </dgm:pt>
    <dgm:pt modelId="{E01B2225-1D38-4B75-AC30-F8B8E757FD86}" type="pres">
      <dgm:prSet presAssocID="{8D1C9E00-C35F-4852-81DC-62A20454CD52}" presName="ThreeConn_1-2" presStyleLbl="fgAccFollowNode1" presStyleIdx="0" presStyleCnt="2">
        <dgm:presLayoutVars>
          <dgm:bulletEnabled val="1"/>
        </dgm:presLayoutVars>
      </dgm:prSet>
      <dgm:spPr/>
    </dgm:pt>
    <dgm:pt modelId="{CE1FCC98-BB05-4596-8BA6-108808B2BF9E}" type="pres">
      <dgm:prSet presAssocID="{8D1C9E00-C35F-4852-81DC-62A20454CD52}" presName="ThreeConn_2-3" presStyleLbl="fgAccFollowNode1" presStyleIdx="1" presStyleCnt="2">
        <dgm:presLayoutVars>
          <dgm:bulletEnabled val="1"/>
        </dgm:presLayoutVars>
      </dgm:prSet>
      <dgm:spPr/>
    </dgm:pt>
    <dgm:pt modelId="{1EBCA9A3-CABD-4CF9-9888-3F4F1A072B0A}" type="pres">
      <dgm:prSet presAssocID="{8D1C9E00-C35F-4852-81DC-62A20454CD52}" presName="ThreeNodes_1_text" presStyleLbl="node1" presStyleIdx="2" presStyleCnt="3">
        <dgm:presLayoutVars>
          <dgm:bulletEnabled val="1"/>
        </dgm:presLayoutVars>
      </dgm:prSet>
      <dgm:spPr/>
    </dgm:pt>
    <dgm:pt modelId="{0CF87D2F-3834-4D7D-A636-8BEC604B80C3}" type="pres">
      <dgm:prSet presAssocID="{8D1C9E00-C35F-4852-81DC-62A20454CD52}" presName="ThreeNodes_2_text" presStyleLbl="node1" presStyleIdx="2" presStyleCnt="3">
        <dgm:presLayoutVars>
          <dgm:bulletEnabled val="1"/>
        </dgm:presLayoutVars>
      </dgm:prSet>
      <dgm:spPr/>
    </dgm:pt>
    <dgm:pt modelId="{78686C5B-42CA-4CAB-8AC3-DAAA18BE2550}" type="pres">
      <dgm:prSet presAssocID="{8D1C9E00-C35F-4852-81DC-62A20454CD52}" presName="ThreeNodes_3_text" presStyleLbl="node1" presStyleIdx="2" presStyleCnt="3">
        <dgm:presLayoutVars>
          <dgm:bulletEnabled val="1"/>
        </dgm:presLayoutVars>
      </dgm:prSet>
      <dgm:spPr/>
    </dgm:pt>
  </dgm:ptLst>
  <dgm:cxnLst>
    <dgm:cxn modelId="{5EFE4530-DFBE-4826-BA03-B5C3D49E817E}" type="presOf" srcId="{60E1D986-97C4-48A2-9E05-F970597D8BA9}" destId="{E01B2225-1D38-4B75-AC30-F8B8E757FD86}" srcOrd="0" destOrd="0" presId="urn:microsoft.com/office/officeart/2005/8/layout/vProcess5"/>
    <dgm:cxn modelId="{A72D103D-5B1D-47E8-AA83-427D561C0341}" srcId="{8D1C9E00-C35F-4852-81DC-62A20454CD52}" destId="{3555F372-BF6E-4D70-B96A-A8F57E387DC4}" srcOrd="0" destOrd="0" parTransId="{87CF7B05-C9EF-4245-8587-08783C85F0D4}" sibTransId="{60E1D986-97C4-48A2-9E05-F970597D8BA9}"/>
    <dgm:cxn modelId="{E0690F60-FC06-4F38-9B39-68A9FDC01A37}" type="presOf" srcId="{FBD71D7E-440B-4C5E-A033-32AEEFCA543C}" destId="{CE1FCC98-BB05-4596-8BA6-108808B2BF9E}" srcOrd="0" destOrd="0" presId="urn:microsoft.com/office/officeart/2005/8/layout/vProcess5"/>
    <dgm:cxn modelId="{80590B62-9BB2-4668-A964-9A9843404260}" type="presOf" srcId="{3555F372-BF6E-4D70-B96A-A8F57E387DC4}" destId="{6F0B5599-AB67-4D7B-810B-7A3D73FBC18E}" srcOrd="0" destOrd="0" presId="urn:microsoft.com/office/officeart/2005/8/layout/vProcess5"/>
    <dgm:cxn modelId="{8948D16A-390A-4B35-AB7E-5227692E1039}" type="presOf" srcId="{A5AFC7F1-8BB0-41D1-813B-609A60DF9870}" destId="{0CF87D2F-3834-4D7D-A636-8BEC604B80C3}" srcOrd="1" destOrd="0" presId="urn:microsoft.com/office/officeart/2005/8/layout/vProcess5"/>
    <dgm:cxn modelId="{C5BCE058-81D0-409F-8262-237B13CB9B61}" srcId="{8D1C9E00-C35F-4852-81DC-62A20454CD52}" destId="{A5AFC7F1-8BB0-41D1-813B-609A60DF9870}" srcOrd="1" destOrd="0" parTransId="{F7C134EE-B2C0-4130-BA90-CDA40B415D71}" sibTransId="{FBD71D7E-440B-4C5E-A033-32AEEFCA543C}"/>
    <dgm:cxn modelId="{00156680-DD5D-4115-BB33-B5BB40703751}" type="presOf" srcId="{A5AFC7F1-8BB0-41D1-813B-609A60DF9870}" destId="{1391C7A5-C46A-46EF-B914-27DF644706EC}" srcOrd="0" destOrd="0" presId="urn:microsoft.com/office/officeart/2005/8/layout/vProcess5"/>
    <dgm:cxn modelId="{9368DE8C-0351-4ACE-964E-3C5D2BE227C0}" srcId="{8D1C9E00-C35F-4852-81DC-62A20454CD52}" destId="{32F0F454-A9E7-47F9-ADF2-020F37E6AB10}" srcOrd="2" destOrd="0" parTransId="{B409CC0C-A15A-4786-9FE9-8EBE4D57E1AB}" sibTransId="{243E4063-E6E3-4D9A-89F4-C3F0C1DF317A}"/>
    <dgm:cxn modelId="{975A738F-DDC4-4EBB-BD27-2C08D86ADE8B}" type="presOf" srcId="{3555F372-BF6E-4D70-B96A-A8F57E387DC4}" destId="{1EBCA9A3-CABD-4CF9-9888-3F4F1A072B0A}" srcOrd="1" destOrd="0" presId="urn:microsoft.com/office/officeart/2005/8/layout/vProcess5"/>
    <dgm:cxn modelId="{6D27758F-C5E3-41EE-9B94-47246F6B5075}" type="presOf" srcId="{8D1C9E00-C35F-4852-81DC-62A20454CD52}" destId="{CBBA9C70-17D2-4EFC-B304-8779191443C8}" srcOrd="0" destOrd="0" presId="urn:microsoft.com/office/officeart/2005/8/layout/vProcess5"/>
    <dgm:cxn modelId="{FFAA63EC-AFBB-4A44-8764-ECE64292B7CD}" type="presOf" srcId="{32F0F454-A9E7-47F9-ADF2-020F37E6AB10}" destId="{DF9F8172-1EEF-4814-96D1-8216E1DFE46F}" srcOrd="0" destOrd="0" presId="urn:microsoft.com/office/officeart/2005/8/layout/vProcess5"/>
    <dgm:cxn modelId="{180A55F7-AF82-4A67-BBDE-AE222C167AF4}" type="presOf" srcId="{32F0F454-A9E7-47F9-ADF2-020F37E6AB10}" destId="{78686C5B-42CA-4CAB-8AC3-DAAA18BE2550}" srcOrd="1" destOrd="0" presId="urn:microsoft.com/office/officeart/2005/8/layout/vProcess5"/>
    <dgm:cxn modelId="{322FC717-B10D-4814-AE37-BD62EF6ACD2F}" type="presParOf" srcId="{CBBA9C70-17D2-4EFC-B304-8779191443C8}" destId="{A3562FE8-1956-4904-8AC6-59C167BC5837}" srcOrd="0" destOrd="0" presId="urn:microsoft.com/office/officeart/2005/8/layout/vProcess5"/>
    <dgm:cxn modelId="{309272FF-CA42-4829-A557-150AE4854BDC}" type="presParOf" srcId="{CBBA9C70-17D2-4EFC-B304-8779191443C8}" destId="{6F0B5599-AB67-4D7B-810B-7A3D73FBC18E}" srcOrd="1" destOrd="0" presId="urn:microsoft.com/office/officeart/2005/8/layout/vProcess5"/>
    <dgm:cxn modelId="{F40A3C29-8B85-46A4-A236-B9FA460B0CC4}" type="presParOf" srcId="{CBBA9C70-17D2-4EFC-B304-8779191443C8}" destId="{1391C7A5-C46A-46EF-B914-27DF644706EC}" srcOrd="2" destOrd="0" presId="urn:microsoft.com/office/officeart/2005/8/layout/vProcess5"/>
    <dgm:cxn modelId="{553A314B-734E-45A7-AA34-DF9EE4519373}" type="presParOf" srcId="{CBBA9C70-17D2-4EFC-B304-8779191443C8}" destId="{DF9F8172-1EEF-4814-96D1-8216E1DFE46F}" srcOrd="3" destOrd="0" presId="urn:microsoft.com/office/officeart/2005/8/layout/vProcess5"/>
    <dgm:cxn modelId="{D0B00776-35E5-4F5C-B301-E39E383374D9}" type="presParOf" srcId="{CBBA9C70-17D2-4EFC-B304-8779191443C8}" destId="{E01B2225-1D38-4B75-AC30-F8B8E757FD86}" srcOrd="4" destOrd="0" presId="urn:microsoft.com/office/officeart/2005/8/layout/vProcess5"/>
    <dgm:cxn modelId="{8910FDF8-A658-4BDB-81D1-0531376B258A}" type="presParOf" srcId="{CBBA9C70-17D2-4EFC-B304-8779191443C8}" destId="{CE1FCC98-BB05-4596-8BA6-108808B2BF9E}" srcOrd="5" destOrd="0" presId="urn:microsoft.com/office/officeart/2005/8/layout/vProcess5"/>
    <dgm:cxn modelId="{9AB79A12-90AD-4E2B-A057-D7A592B304D1}" type="presParOf" srcId="{CBBA9C70-17D2-4EFC-B304-8779191443C8}" destId="{1EBCA9A3-CABD-4CF9-9888-3F4F1A072B0A}" srcOrd="6" destOrd="0" presId="urn:microsoft.com/office/officeart/2005/8/layout/vProcess5"/>
    <dgm:cxn modelId="{1B38ED3A-5905-4133-B740-37512D5BEBC8}" type="presParOf" srcId="{CBBA9C70-17D2-4EFC-B304-8779191443C8}" destId="{0CF87D2F-3834-4D7D-A636-8BEC604B80C3}" srcOrd="7" destOrd="0" presId="urn:microsoft.com/office/officeart/2005/8/layout/vProcess5"/>
    <dgm:cxn modelId="{FA48B947-79E5-462C-92E1-D340D8C3E7E1}" type="presParOf" srcId="{CBBA9C70-17D2-4EFC-B304-8779191443C8}" destId="{78686C5B-42CA-4CAB-8AC3-DAAA18BE2550}" srcOrd="8"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44B1B3E-83FA-4658-BAF7-A1C28950C6E7}" type="doc">
      <dgm:prSet loTypeId="urn:microsoft.com/office/officeart/2005/8/layout/hList1" loCatId="list" qsTypeId="urn:microsoft.com/office/officeart/2005/8/quickstyle/simple3" qsCatId="simple" csTypeId="urn:microsoft.com/office/officeart/2005/8/colors/colorful1" csCatId="colorful" phldr="1"/>
      <dgm:spPr/>
      <dgm:t>
        <a:bodyPr/>
        <a:lstStyle/>
        <a:p>
          <a:endParaRPr lang="en-IN"/>
        </a:p>
      </dgm:t>
    </dgm:pt>
    <dgm:pt modelId="{BE1042C7-8FD8-46C3-97B2-C8F6ECCAA577}">
      <dgm:prSet phldrT="[Text]" custT="1"/>
      <dgm:spPr/>
      <dgm:t>
        <a:bodyPr/>
        <a:lstStyle/>
        <a:p>
          <a:r>
            <a:rPr lang="en-IN" sz="1200">
              <a:latin typeface="Times New Roman" panose="02020603050405020304" pitchFamily="18" charset="0"/>
              <a:cs typeface="Times New Roman" panose="02020603050405020304" pitchFamily="18" charset="0"/>
            </a:rPr>
            <a:t>1</a:t>
          </a:r>
        </a:p>
      </dgm:t>
    </dgm:pt>
    <dgm:pt modelId="{621BB3EB-6CE1-4596-9775-D8E49C0230C2}" type="parTrans" cxnId="{4C6E36C8-BEEE-4A8F-98F1-8AA1658291ED}">
      <dgm:prSet/>
      <dgm:spPr/>
      <dgm:t>
        <a:bodyPr/>
        <a:lstStyle/>
        <a:p>
          <a:endParaRPr lang="en-IN"/>
        </a:p>
      </dgm:t>
    </dgm:pt>
    <dgm:pt modelId="{45BE4B48-3412-410B-B8EF-6D39A131AE80}" type="sibTrans" cxnId="{4C6E36C8-BEEE-4A8F-98F1-8AA1658291ED}">
      <dgm:prSet/>
      <dgm:spPr/>
      <dgm:t>
        <a:bodyPr/>
        <a:lstStyle/>
        <a:p>
          <a:endParaRPr lang="en-IN"/>
        </a:p>
      </dgm:t>
    </dgm:pt>
    <dgm:pt modelId="{AC6663AF-9A88-490D-853C-8120C7DBDE78}">
      <dgm:prSet phldrT="[Text]" custT="1"/>
      <dgm:spPr/>
      <dgm:t>
        <a:bodyPr/>
        <a:lstStyle/>
        <a:p>
          <a:r>
            <a:rPr lang="en-IN" sz="2400" dirty="0">
              <a:latin typeface="Casper" panose="02000506000000020004"/>
              <a:cs typeface="Times New Roman" panose="02020603050405020304" pitchFamily="18" charset="0"/>
            </a:rPr>
            <a:t>Students will learn about wave function.</a:t>
          </a:r>
        </a:p>
      </dgm:t>
    </dgm:pt>
    <dgm:pt modelId="{420872E8-8AA2-45F6-A8E2-8BF205EB0960}" type="parTrans" cxnId="{E0ABA179-2A02-4FE6-A4AB-B4F2CCB8D5D1}">
      <dgm:prSet/>
      <dgm:spPr/>
      <dgm:t>
        <a:bodyPr/>
        <a:lstStyle/>
        <a:p>
          <a:endParaRPr lang="en-IN"/>
        </a:p>
      </dgm:t>
    </dgm:pt>
    <dgm:pt modelId="{34B7117A-1B4E-466B-8D17-59D987A33713}" type="sibTrans" cxnId="{E0ABA179-2A02-4FE6-A4AB-B4F2CCB8D5D1}">
      <dgm:prSet/>
      <dgm:spPr/>
      <dgm:t>
        <a:bodyPr/>
        <a:lstStyle/>
        <a:p>
          <a:endParaRPr lang="en-IN"/>
        </a:p>
      </dgm:t>
    </dgm:pt>
    <dgm:pt modelId="{59623D32-4D69-42DD-85CD-027389341071}">
      <dgm:prSet phldrT="[Text]" custT="1"/>
      <dgm:spPr/>
      <dgm:t>
        <a:bodyPr/>
        <a:lstStyle/>
        <a:p>
          <a:r>
            <a:rPr lang="en-IN" sz="1600">
              <a:latin typeface="Times New Roman" panose="02020603050405020304" pitchFamily="18" charset="0"/>
              <a:cs typeface="Times New Roman" panose="02020603050405020304" pitchFamily="18" charset="0"/>
            </a:rPr>
            <a:t>2</a:t>
          </a:r>
        </a:p>
      </dgm:t>
    </dgm:pt>
    <dgm:pt modelId="{8C3CF477-F4C0-4176-95A0-1CEE433BD66D}" type="parTrans" cxnId="{FCA0DE3E-9DA7-403C-87B9-DD0CA0DE16FA}">
      <dgm:prSet/>
      <dgm:spPr/>
      <dgm:t>
        <a:bodyPr/>
        <a:lstStyle/>
        <a:p>
          <a:endParaRPr lang="en-IN"/>
        </a:p>
      </dgm:t>
    </dgm:pt>
    <dgm:pt modelId="{FF05F8A0-05D5-4BC8-84AE-11F0CDB44B6A}" type="sibTrans" cxnId="{FCA0DE3E-9DA7-403C-87B9-DD0CA0DE16FA}">
      <dgm:prSet/>
      <dgm:spPr/>
      <dgm:t>
        <a:bodyPr/>
        <a:lstStyle/>
        <a:p>
          <a:endParaRPr lang="en-IN"/>
        </a:p>
      </dgm:t>
    </dgm:pt>
    <dgm:pt modelId="{581DF355-82C3-44BD-A2B0-78187E54CCC7}">
      <dgm:prSet phldrT="[Text]" custT="1"/>
      <dgm:spPr/>
      <dgm:t>
        <a:bodyPr/>
        <a:lstStyle/>
        <a:p>
          <a:r>
            <a:rPr lang="en-IN" sz="2400" kern="1200" dirty="0">
              <a:solidFill>
                <a:prstClr val="black">
                  <a:hueOff val="0"/>
                  <a:satOff val="0"/>
                  <a:lumOff val="0"/>
                  <a:alphaOff val="0"/>
                </a:prstClr>
              </a:solidFill>
              <a:latin typeface="Casper" panose="02000506000000020004"/>
              <a:ea typeface="+mn-ea"/>
              <a:cs typeface="Times New Roman" panose="02020603050405020304" pitchFamily="18" charset="0"/>
            </a:rPr>
            <a:t>Students will learn about different quantum variables</a:t>
          </a:r>
          <a:r>
            <a:rPr lang="en-IN" sz="1600" kern="1200" dirty="0">
              <a:latin typeface="Times New Roman" panose="02020603050405020304" pitchFamily="18" charset="0"/>
              <a:cs typeface="Times New Roman" panose="02020603050405020304" pitchFamily="18" charset="0"/>
            </a:rPr>
            <a:t>.</a:t>
          </a:r>
        </a:p>
      </dgm:t>
    </dgm:pt>
    <dgm:pt modelId="{2CA17078-8E69-4AD4-8CE4-9B3F8BB306DB}" type="parTrans" cxnId="{62E3F93D-8EE6-4623-B0F5-2E51672FA22E}">
      <dgm:prSet/>
      <dgm:spPr/>
      <dgm:t>
        <a:bodyPr/>
        <a:lstStyle/>
        <a:p>
          <a:endParaRPr lang="en-IN"/>
        </a:p>
      </dgm:t>
    </dgm:pt>
    <dgm:pt modelId="{601EF65E-15BB-4934-8E1E-6DEFFE1702FB}" type="sibTrans" cxnId="{62E3F93D-8EE6-4623-B0F5-2E51672FA22E}">
      <dgm:prSet/>
      <dgm:spPr/>
      <dgm:t>
        <a:bodyPr/>
        <a:lstStyle/>
        <a:p>
          <a:endParaRPr lang="en-IN"/>
        </a:p>
      </dgm:t>
    </dgm:pt>
    <dgm:pt modelId="{FA2EB051-0881-42DF-B19F-D522950734B2}">
      <dgm:prSet phldrT="[Text]" custT="1"/>
      <dgm:spPr/>
      <dgm:t>
        <a:bodyPr/>
        <a:lstStyle/>
        <a:p>
          <a:r>
            <a:rPr lang="en-IN" sz="1600">
              <a:latin typeface="Times New Roman" panose="02020603050405020304" pitchFamily="18" charset="0"/>
              <a:cs typeface="Times New Roman" panose="02020603050405020304" pitchFamily="18" charset="0"/>
            </a:rPr>
            <a:t>3</a:t>
          </a:r>
        </a:p>
      </dgm:t>
    </dgm:pt>
    <dgm:pt modelId="{603BF450-F4E0-4CEF-9C21-27FDD0CCE880}" type="parTrans" cxnId="{DC4706BC-D4DE-4DC7-BEC1-DBC559A79182}">
      <dgm:prSet/>
      <dgm:spPr/>
      <dgm:t>
        <a:bodyPr/>
        <a:lstStyle/>
        <a:p>
          <a:endParaRPr lang="en-IN"/>
        </a:p>
      </dgm:t>
    </dgm:pt>
    <dgm:pt modelId="{E496903B-959A-4D15-8074-58AFAB6AE879}" type="sibTrans" cxnId="{DC4706BC-D4DE-4DC7-BEC1-DBC559A79182}">
      <dgm:prSet/>
      <dgm:spPr/>
      <dgm:t>
        <a:bodyPr/>
        <a:lstStyle/>
        <a:p>
          <a:endParaRPr lang="en-IN"/>
        </a:p>
      </dgm:t>
    </dgm:pt>
    <dgm:pt modelId="{A4751C2F-50DC-42B3-BE3C-66635C62DF5B}">
      <dgm:prSet phldrT="[Text]" custT="1"/>
      <dgm:spPr/>
      <dgm:t>
        <a:bodyPr/>
        <a:lstStyle/>
        <a:p>
          <a:r>
            <a:rPr lang="en-IN" sz="2400" kern="1200" dirty="0">
              <a:solidFill>
                <a:prstClr val="black">
                  <a:hueOff val="0"/>
                  <a:satOff val="0"/>
                  <a:lumOff val="0"/>
                  <a:alphaOff val="0"/>
                </a:prstClr>
              </a:solidFill>
              <a:latin typeface="Casper" panose="02000506000000020004"/>
              <a:ea typeface="+mn-ea"/>
              <a:cs typeface="Times New Roman" panose="02020603050405020304" pitchFamily="18" charset="0"/>
            </a:rPr>
            <a:t>In this lecture, will derive time independent equation.</a:t>
          </a:r>
        </a:p>
      </dgm:t>
    </dgm:pt>
    <dgm:pt modelId="{98A445DD-232D-43B4-996A-9AAE775AAE53}" type="parTrans" cxnId="{395ADFA3-0915-481A-A479-89176F966CC5}">
      <dgm:prSet/>
      <dgm:spPr/>
      <dgm:t>
        <a:bodyPr/>
        <a:lstStyle/>
        <a:p>
          <a:endParaRPr lang="en-IN"/>
        </a:p>
      </dgm:t>
    </dgm:pt>
    <dgm:pt modelId="{61FD9762-81CA-459F-A72F-FE38E106590B}" type="sibTrans" cxnId="{395ADFA3-0915-481A-A479-89176F966CC5}">
      <dgm:prSet/>
      <dgm:spPr/>
      <dgm:t>
        <a:bodyPr/>
        <a:lstStyle/>
        <a:p>
          <a:endParaRPr lang="en-IN"/>
        </a:p>
      </dgm:t>
    </dgm:pt>
    <dgm:pt modelId="{CD122889-8A8D-4BB0-B01E-B98ED66A22D1}" type="pres">
      <dgm:prSet presAssocID="{244B1B3E-83FA-4658-BAF7-A1C28950C6E7}" presName="Name0" presStyleCnt="0">
        <dgm:presLayoutVars>
          <dgm:dir/>
          <dgm:animLvl val="lvl"/>
          <dgm:resizeHandles val="exact"/>
        </dgm:presLayoutVars>
      </dgm:prSet>
      <dgm:spPr/>
    </dgm:pt>
    <dgm:pt modelId="{BC7B5AF7-D169-48C7-A14D-1E9FBD84314E}" type="pres">
      <dgm:prSet presAssocID="{BE1042C7-8FD8-46C3-97B2-C8F6ECCAA577}" presName="composite" presStyleCnt="0"/>
      <dgm:spPr/>
    </dgm:pt>
    <dgm:pt modelId="{823804D2-D44E-44EA-9FF5-99F97DCCD10A}" type="pres">
      <dgm:prSet presAssocID="{BE1042C7-8FD8-46C3-97B2-C8F6ECCAA577}" presName="parTx" presStyleLbl="alignNode1" presStyleIdx="0" presStyleCnt="3">
        <dgm:presLayoutVars>
          <dgm:chMax val="0"/>
          <dgm:chPref val="0"/>
          <dgm:bulletEnabled val="1"/>
        </dgm:presLayoutVars>
      </dgm:prSet>
      <dgm:spPr/>
    </dgm:pt>
    <dgm:pt modelId="{BD2EE0C5-FA31-483E-B76D-6DC608645EA8}" type="pres">
      <dgm:prSet presAssocID="{BE1042C7-8FD8-46C3-97B2-C8F6ECCAA577}" presName="desTx" presStyleLbl="alignAccFollowNode1" presStyleIdx="0" presStyleCnt="3" custLinFactNeighborX="-103">
        <dgm:presLayoutVars>
          <dgm:bulletEnabled val="1"/>
        </dgm:presLayoutVars>
      </dgm:prSet>
      <dgm:spPr/>
    </dgm:pt>
    <dgm:pt modelId="{855F9A90-9408-4E6B-A063-BA943B6B5E63}" type="pres">
      <dgm:prSet presAssocID="{45BE4B48-3412-410B-B8EF-6D39A131AE80}" presName="space" presStyleCnt="0"/>
      <dgm:spPr/>
    </dgm:pt>
    <dgm:pt modelId="{FDB0CFBF-8008-4E01-BBDE-DAFE38134065}" type="pres">
      <dgm:prSet presAssocID="{59623D32-4D69-42DD-85CD-027389341071}" presName="composite" presStyleCnt="0"/>
      <dgm:spPr/>
    </dgm:pt>
    <dgm:pt modelId="{C9DA09FE-968E-4451-896D-DECC9E9C2589}" type="pres">
      <dgm:prSet presAssocID="{59623D32-4D69-42DD-85CD-027389341071}" presName="parTx" presStyleLbl="alignNode1" presStyleIdx="1" presStyleCnt="3">
        <dgm:presLayoutVars>
          <dgm:chMax val="0"/>
          <dgm:chPref val="0"/>
          <dgm:bulletEnabled val="1"/>
        </dgm:presLayoutVars>
      </dgm:prSet>
      <dgm:spPr/>
    </dgm:pt>
    <dgm:pt modelId="{F18E9830-D2CB-43E8-AB8E-05B2ABB8544E}" type="pres">
      <dgm:prSet presAssocID="{59623D32-4D69-42DD-85CD-027389341071}" presName="desTx" presStyleLbl="alignAccFollowNode1" presStyleIdx="1" presStyleCnt="3">
        <dgm:presLayoutVars>
          <dgm:bulletEnabled val="1"/>
        </dgm:presLayoutVars>
      </dgm:prSet>
      <dgm:spPr/>
    </dgm:pt>
    <dgm:pt modelId="{1413BF33-3CB5-487E-8D9C-3B128FA3A8CB}" type="pres">
      <dgm:prSet presAssocID="{FF05F8A0-05D5-4BC8-84AE-11F0CDB44B6A}" presName="space" presStyleCnt="0"/>
      <dgm:spPr/>
    </dgm:pt>
    <dgm:pt modelId="{49466710-EFDB-44BB-AF41-77A08201716E}" type="pres">
      <dgm:prSet presAssocID="{FA2EB051-0881-42DF-B19F-D522950734B2}" presName="composite" presStyleCnt="0"/>
      <dgm:spPr/>
    </dgm:pt>
    <dgm:pt modelId="{AC12C961-00F2-45E6-B9B9-7B8C991E8799}" type="pres">
      <dgm:prSet presAssocID="{FA2EB051-0881-42DF-B19F-D522950734B2}" presName="parTx" presStyleLbl="alignNode1" presStyleIdx="2" presStyleCnt="3">
        <dgm:presLayoutVars>
          <dgm:chMax val="0"/>
          <dgm:chPref val="0"/>
          <dgm:bulletEnabled val="1"/>
        </dgm:presLayoutVars>
      </dgm:prSet>
      <dgm:spPr/>
    </dgm:pt>
    <dgm:pt modelId="{67DE4BD6-AAFE-4A2D-A02B-0CA2C8D040F6}" type="pres">
      <dgm:prSet presAssocID="{FA2EB051-0881-42DF-B19F-D522950734B2}" presName="desTx" presStyleLbl="alignAccFollowNode1" presStyleIdx="2" presStyleCnt="3">
        <dgm:presLayoutVars>
          <dgm:bulletEnabled val="1"/>
        </dgm:presLayoutVars>
      </dgm:prSet>
      <dgm:spPr/>
    </dgm:pt>
  </dgm:ptLst>
  <dgm:cxnLst>
    <dgm:cxn modelId="{2EECFD32-26AB-472F-9003-49E970320073}" type="presOf" srcId="{A4751C2F-50DC-42B3-BE3C-66635C62DF5B}" destId="{67DE4BD6-AAFE-4A2D-A02B-0CA2C8D040F6}" srcOrd="0" destOrd="0" presId="urn:microsoft.com/office/officeart/2005/8/layout/hList1"/>
    <dgm:cxn modelId="{8CCE0A33-9E9D-4E94-9FE9-24A56A02ADF7}" type="presOf" srcId="{581DF355-82C3-44BD-A2B0-78187E54CCC7}" destId="{F18E9830-D2CB-43E8-AB8E-05B2ABB8544E}" srcOrd="0" destOrd="0" presId="urn:microsoft.com/office/officeart/2005/8/layout/hList1"/>
    <dgm:cxn modelId="{39FFB936-7BB6-44BD-892D-D77E39C98D99}" type="presOf" srcId="{BE1042C7-8FD8-46C3-97B2-C8F6ECCAA577}" destId="{823804D2-D44E-44EA-9FF5-99F97DCCD10A}" srcOrd="0" destOrd="0" presId="urn:microsoft.com/office/officeart/2005/8/layout/hList1"/>
    <dgm:cxn modelId="{62E3F93D-8EE6-4623-B0F5-2E51672FA22E}" srcId="{59623D32-4D69-42DD-85CD-027389341071}" destId="{581DF355-82C3-44BD-A2B0-78187E54CCC7}" srcOrd="0" destOrd="0" parTransId="{2CA17078-8E69-4AD4-8CE4-9B3F8BB306DB}" sibTransId="{601EF65E-15BB-4934-8E1E-6DEFFE1702FB}"/>
    <dgm:cxn modelId="{FCA0DE3E-9DA7-403C-87B9-DD0CA0DE16FA}" srcId="{244B1B3E-83FA-4658-BAF7-A1C28950C6E7}" destId="{59623D32-4D69-42DD-85CD-027389341071}" srcOrd="1" destOrd="0" parTransId="{8C3CF477-F4C0-4176-95A0-1CEE433BD66D}" sibTransId="{FF05F8A0-05D5-4BC8-84AE-11F0CDB44B6A}"/>
    <dgm:cxn modelId="{E0D94A5F-D235-4A27-9436-6243B9CDC53C}" type="presOf" srcId="{244B1B3E-83FA-4658-BAF7-A1C28950C6E7}" destId="{CD122889-8A8D-4BB0-B01E-B98ED66A22D1}" srcOrd="0" destOrd="0" presId="urn:microsoft.com/office/officeart/2005/8/layout/hList1"/>
    <dgm:cxn modelId="{E0ABA179-2A02-4FE6-A4AB-B4F2CCB8D5D1}" srcId="{BE1042C7-8FD8-46C3-97B2-C8F6ECCAA577}" destId="{AC6663AF-9A88-490D-853C-8120C7DBDE78}" srcOrd="0" destOrd="0" parTransId="{420872E8-8AA2-45F6-A8E2-8BF205EB0960}" sibTransId="{34B7117A-1B4E-466B-8D17-59D987A33713}"/>
    <dgm:cxn modelId="{6F646E87-6752-4F31-9C64-A5227D04454B}" type="presOf" srcId="{AC6663AF-9A88-490D-853C-8120C7DBDE78}" destId="{BD2EE0C5-FA31-483E-B76D-6DC608645EA8}" srcOrd="0" destOrd="0" presId="urn:microsoft.com/office/officeart/2005/8/layout/hList1"/>
    <dgm:cxn modelId="{395ADFA3-0915-481A-A479-89176F966CC5}" srcId="{FA2EB051-0881-42DF-B19F-D522950734B2}" destId="{A4751C2F-50DC-42B3-BE3C-66635C62DF5B}" srcOrd="0" destOrd="0" parTransId="{98A445DD-232D-43B4-996A-9AAE775AAE53}" sibTransId="{61FD9762-81CA-459F-A72F-FE38E106590B}"/>
    <dgm:cxn modelId="{DC4706BC-D4DE-4DC7-BEC1-DBC559A79182}" srcId="{244B1B3E-83FA-4658-BAF7-A1C28950C6E7}" destId="{FA2EB051-0881-42DF-B19F-D522950734B2}" srcOrd="2" destOrd="0" parTransId="{603BF450-F4E0-4CEF-9C21-27FDD0CCE880}" sibTransId="{E496903B-959A-4D15-8074-58AFAB6AE879}"/>
    <dgm:cxn modelId="{4C6E36C8-BEEE-4A8F-98F1-8AA1658291ED}" srcId="{244B1B3E-83FA-4658-BAF7-A1C28950C6E7}" destId="{BE1042C7-8FD8-46C3-97B2-C8F6ECCAA577}" srcOrd="0" destOrd="0" parTransId="{621BB3EB-6CE1-4596-9775-D8E49C0230C2}" sibTransId="{45BE4B48-3412-410B-B8EF-6D39A131AE80}"/>
    <dgm:cxn modelId="{317A8FCD-3B3E-40F4-A3D5-4110421A775C}" type="presOf" srcId="{59623D32-4D69-42DD-85CD-027389341071}" destId="{C9DA09FE-968E-4451-896D-DECC9E9C2589}" srcOrd="0" destOrd="0" presId="urn:microsoft.com/office/officeart/2005/8/layout/hList1"/>
    <dgm:cxn modelId="{C1D2F2F1-402B-4DEF-815C-31E5640FB23C}" type="presOf" srcId="{FA2EB051-0881-42DF-B19F-D522950734B2}" destId="{AC12C961-00F2-45E6-B9B9-7B8C991E8799}" srcOrd="0" destOrd="0" presId="urn:microsoft.com/office/officeart/2005/8/layout/hList1"/>
    <dgm:cxn modelId="{44EC55BC-83AF-46C1-91DE-CEFE10A8BA41}" type="presParOf" srcId="{CD122889-8A8D-4BB0-B01E-B98ED66A22D1}" destId="{BC7B5AF7-D169-48C7-A14D-1E9FBD84314E}" srcOrd="0" destOrd="0" presId="urn:microsoft.com/office/officeart/2005/8/layout/hList1"/>
    <dgm:cxn modelId="{1716C085-2511-4521-80C9-9371EACFB37B}" type="presParOf" srcId="{BC7B5AF7-D169-48C7-A14D-1E9FBD84314E}" destId="{823804D2-D44E-44EA-9FF5-99F97DCCD10A}" srcOrd="0" destOrd="0" presId="urn:microsoft.com/office/officeart/2005/8/layout/hList1"/>
    <dgm:cxn modelId="{A7BFC1A6-A3DE-4154-8BF0-CBC1C0E4410F}" type="presParOf" srcId="{BC7B5AF7-D169-48C7-A14D-1E9FBD84314E}" destId="{BD2EE0C5-FA31-483E-B76D-6DC608645EA8}" srcOrd="1" destOrd="0" presId="urn:microsoft.com/office/officeart/2005/8/layout/hList1"/>
    <dgm:cxn modelId="{820E9E05-BE33-4DD0-8AB5-D3A6FF267E29}" type="presParOf" srcId="{CD122889-8A8D-4BB0-B01E-B98ED66A22D1}" destId="{855F9A90-9408-4E6B-A063-BA943B6B5E63}" srcOrd="1" destOrd="0" presId="urn:microsoft.com/office/officeart/2005/8/layout/hList1"/>
    <dgm:cxn modelId="{164F2345-BE36-4FBD-A254-5EF6031AA25F}" type="presParOf" srcId="{CD122889-8A8D-4BB0-B01E-B98ED66A22D1}" destId="{FDB0CFBF-8008-4E01-BBDE-DAFE38134065}" srcOrd="2" destOrd="0" presId="urn:microsoft.com/office/officeart/2005/8/layout/hList1"/>
    <dgm:cxn modelId="{864951CA-E36E-40D6-84B9-0865D671F083}" type="presParOf" srcId="{FDB0CFBF-8008-4E01-BBDE-DAFE38134065}" destId="{C9DA09FE-968E-4451-896D-DECC9E9C2589}" srcOrd="0" destOrd="0" presId="urn:microsoft.com/office/officeart/2005/8/layout/hList1"/>
    <dgm:cxn modelId="{16550E85-2CF7-4F1E-B867-62E1F7627439}" type="presParOf" srcId="{FDB0CFBF-8008-4E01-BBDE-DAFE38134065}" destId="{F18E9830-D2CB-43E8-AB8E-05B2ABB8544E}" srcOrd="1" destOrd="0" presId="urn:microsoft.com/office/officeart/2005/8/layout/hList1"/>
    <dgm:cxn modelId="{20F24F72-8814-4258-8F9C-B5CAAA48F33B}" type="presParOf" srcId="{CD122889-8A8D-4BB0-B01E-B98ED66A22D1}" destId="{1413BF33-3CB5-487E-8D9C-3B128FA3A8CB}" srcOrd="3" destOrd="0" presId="urn:microsoft.com/office/officeart/2005/8/layout/hList1"/>
    <dgm:cxn modelId="{7450CC3D-D7B6-4E0C-904B-3D1ABC1DB2BE}" type="presParOf" srcId="{CD122889-8A8D-4BB0-B01E-B98ED66A22D1}" destId="{49466710-EFDB-44BB-AF41-77A08201716E}" srcOrd="4" destOrd="0" presId="urn:microsoft.com/office/officeart/2005/8/layout/hList1"/>
    <dgm:cxn modelId="{FBBCF618-8C39-4503-8F43-775A470E764B}" type="presParOf" srcId="{49466710-EFDB-44BB-AF41-77A08201716E}" destId="{AC12C961-00F2-45E6-B9B9-7B8C991E8799}" srcOrd="0" destOrd="0" presId="urn:microsoft.com/office/officeart/2005/8/layout/hList1"/>
    <dgm:cxn modelId="{A56900D1-1D1B-43B9-AE8B-B2CD8A51FD84}" type="presParOf" srcId="{49466710-EFDB-44BB-AF41-77A08201716E}" destId="{67DE4BD6-AAFE-4A2D-A02B-0CA2C8D040F6}"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3720F04-4F70-4D64-A29D-B342FC1719D9}" type="doc">
      <dgm:prSet loTypeId="urn:microsoft.com/office/officeart/2005/8/layout/vList2" loCatId="list" qsTypeId="urn:microsoft.com/office/officeart/2005/8/quickstyle/simple1" qsCatId="simple" csTypeId="urn:microsoft.com/office/officeart/2005/8/colors/accent1_1" csCatId="accent1" phldr="1"/>
      <dgm:spPr/>
      <dgm:t>
        <a:bodyPr/>
        <a:lstStyle/>
        <a:p>
          <a:endParaRPr lang="en-IN"/>
        </a:p>
      </dgm:t>
    </dgm:pt>
    <dgm:pt modelId="{78C2C310-6D00-42F5-BD96-86F886AF2859}">
      <dgm:prSet custT="1"/>
      <dgm:spPr/>
      <dgm:t>
        <a:bodyPr/>
        <a:lstStyle/>
        <a:p>
          <a:r>
            <a:rPr lang="en-IN" sz="2400" dirty="0">
              <a:latin typeface="Casper"/>
            </a:rPr>
            <a:t>WAVE FUNCTION</a:t>
          </a:r>
        </a:p>
      </dgm:t>
    </dgm:pt>
    <dgm:pt modelId="{4A8149D1-3236-4850-A0D4-7F0DC0A74381}" type="parTrans" cxnId="{624FBA61-2E1E-4E96-AE3D-B7A559C08B9F}">
      <dgm:prSet/>
      <dgm:spPr/>
      <dgm:t>
        <a:bodyPr/>
        <a:lstStyle/>
        <a:p>
          <a:endParaRPr lang="en-IN"/>
        </a:p>
      </dgm:t>
    </dgm:pt>
    <dgm:pt modelId="{D41B046A-39EB-471A-9419-32CA90055E30}" type="sibTrans" cxnId="{624FBA61-2E1E-4E96-AE3D-B7A559C08B9F}">
      <dgm:prSet/>
      <dgm:spPr/>
      <dgm:t>
        <a:bodyPr/>
        <a:lstStyle/>
        <a:p>
          <a:endParaRPr lang="en-IN"/>
        </a:p>
      </dgm:t>
    </dgm:pt>
    <dgm:pt modelId="{6AE72F79-9B2C-418C-8931-47980205E39C}">
      <dgm:prSet custT="1"/>
      <dgm:spPr/>
      <dgm:t>
        <a:bodyPr/>
        <a:lstStyle/>
        <a:p>
          <a:r>
            <a:rPr lang="en-IN" sz="2400" dirty="0">
              <a:latin typeface="Casper"/>
            </a:rPr>
            <a:t>PROBABILITY DENSITY</a:t>
          </a:r>
        </a:p>
      </dgm:t>
    </dgm:pt>
    <dgm:pt modelId="{0F3B83AF-7673-416C-B661-F79AB5A3B7D5}" type="parTrans" cxnId="{5A90B24E-B05A-40A3-A347-EE71804EFA80}">
      <dgm:prSet/>
      <dgm:spPr/>
      <dgm:t>
        <a:bodyPr/>
        <a:lstStyle/>
        <a:p>
          <a:endParaRPr lang="en-IN"/>
        </a:p>
      </dgm:t>
    </dgm:pt>
    <dgm:pt modelId="{BA3463F2-F25B-4788-8224-D4929A4446CF}" type="sibTrans" cxnId="{5A90B24E-B05A-40A3-A347-EE71804EFA80}">
      <dgm:prSet/>
      <dgm:spPr/>
      <dgm:t>
        <a:bodyPr/>
        <a:lstStyle/>
        <a:p>
          <a:endParaRPr lang="en-IN"/>
        </a:p>
      </dgm:t>
    </dgm:pt>
    <dgm:pt modelId="{527E673E-A0A5-45D0-BC3C-DE0DEE525BF2}">
      <dgm:prSet custT="1"/>
      <dgm:spPr/>
      <dgm:t>
        <a:bodyPr/>
        <a:lstStyle/>
        <a:p>
          <a:r>
            <a:rPr lang="en-IN" sz="2400" dirty="0">
              <a:latin typeface="Casper"/>
            </a:rPr>
            <a:t>PROPERTIES</a:t>
          </a:r>
        </a:p>
      </dgm:t>
    </dgm:pt>
    <dgm:pt modelId="{8E777649-E85C-43E8-AEC8-111E2B125ABB}" type="parTrans" cxnId="{83B6BB86-23F9-4587-BE73-B11CF78F5524}">
      <dgm:prSet/>
      <dgm:spPr/>
      <dgm:t>
        <a:bodyPr/>
        <a:lstStyle/>
        <a:p>
          <a:endParaRPr lang="en-IN"/>
        </a:p>
      </dgm:t>
    </dgm:pt>
    <dgm:pt modelId="{859CB368-A51B-4E26-A560-C7DD193A30A5}" type="sibTrans" cxnId="{83B6BB86-23F9-4587-BE73-B11CF78F5524}">
      <dgm:prSet/>
      <dgm:spPr/>
      <dgm:t>
        <a:bodyPr/>
        <a:lstStyle/>
        <a:p>
          <a:endParaRPr lang="en-IN"/>
        </a:p>
      </dgm:t>
    </dgm:pt>
    <dgm:pt modelId="{6CC9197F-0EDE-47AC-846F-54406B624218}" type="pres">
      <dgm:prSet presAssocID="{43720F04-4F70-4D64-A29D-B342FC1719D9}" presName="linear" presStyleCnt="0">
        <dgm:presLayoutVars>
          <dgm:animLvl val="lvl"/>
          <dgm:resizeHandles val="exact"/>
        </dgm:presLayoutVars>
      </dgm:prSet>
      <dgm:spPr/>
    </dgm:pt>
    <dgm:pt modelId="{FA068D47-9128-40CC-9FDB-255F7888DD74}" type="pres">
      <dgm:prSet presAssocID="{78C2C310-6D00-42F5-BD96-86F886AF2859}" presName="parentText" presStyleLbl="node1" presStyleIdx="0" presStyleCnt="3">
        <dgm:presLayoutVars>
          <dgm:chMax val="0"/>
          <dgm:bulletEnabled val="1"/>
        </dgm:presLayoutVars>
      </dgm:prSet>
      <dgm:spPr/>
    </dgm:pt>
    <dgm:pt modelId="{6C92B666-ED60-4876-A196-98F67D7F1F86}" type="pres">
      <dgm:prSet presAssocID="{D41B046A-39EB-471A-9419-32CA90055E30}" presName="spacer" presStyleCnt="0"/>
      <dgm:spPr/>
    </dgm:pt>
    <dgm:pt modelId="{95EE82A3-9D85-4348-BDCF-41A34F9FDCD9}" type="pres">
      <dgm:prSet presAssocID="{6AE72F79-9B2C-418C-8931-47980205E39C}" presName="parentText" presStyleLbl="node1" presStyleIdx="1" presStyleCnt="3">
        <dgm:presLayoutVars>
          <dgm:chMax val="0"/>
          <dgm:bulletEnabled val="1"/>
        </dgm:presLayoutVars>
      </dgm:prSet>
      <dgm:spPr/>
    </dgm:pt>
    <dgm:pt modelId="{C3F56188-1496-4285-9BA9-D6EE1B76986A}" type="pres">
      <dgm:prSet presAssocID="{BA3463F2-F25B-4788-8224-D4929A4446CF}" presName="spacer" presStyleCnt="0"/>
      <dgm:spPr/>
    </dgm:pt>
    <dgm:pt modelId="{39DC17CC-CDC2-40D3-BAA9-46197E8D6CA7}" type="pres">
      <dgm:prSet presAssocID="{527E673E-A0A5-45D0-BC3C-DE0DEE525BF2}" presName="parentText" presStyleLbl="node1" presStyleIdx="2" presStyleCnt="3">
        <dgm:presLayoutVars>
          <dgm:chMax val="0"/>
          <dgm:bulletEnabled val="1"/>
        </dgm:presLayoutVars>
      </dgm:prSet>
      <dgm:spPr/>
    </dgm:pt>
  </dgm:ptLst>
  <dgm:cxnLst>
    <dgm:cxn modelId="{624FBA61-2E1E-4E96-AE3D-B7A559C08B9F}" srcId="{43720F04-4F70-4D64-A29D-B342FC1719D9}" destId="{78C2C310-6D00-42F5-BD96-86F886AF2859}" srcOrd="0" destOrd="0" parTransId="{4A8149D1-3236-4850-A0D4-7F0DC0A74381}" sibTransId="{D41B046A-39EB-471A-9419-32CA90055E30}"/>
    <dgm:cxn modelId="{641B5464-44DF-4FF9-A6F2-D72DC0659D5E}" type="presOf" srcId="{43720F04-4F70-4D64-A29D-B342FC1719D9}" destId="{6CC9197F-0EDE-47AC-846F-54406B624218}" srcOrd="0" destOrd="0" presId="urn:microsoft.com/office/officeart/2005/8/layout/vList2"/>
    <dgm:cxn modelId="{5A90B24E-B05A-40A3-A347-EE71804EFA80}" srcId="{43720F04-4F70-4D64-A29D-B342FC1719D9}" destId="{6AE72F79-9B2C-418C-8931-47980205E39C}" srcOrd="1" destOrd="0" parTransId="{0F3B83AF-7673-416C-B661-F79AB5A3B7D5}" sibTransId="{BA3463F2-F25B-4788-8224-D4929A4446CF}"/>
    <dgm:cxn modelId="{83B6BB86-23F9-4587-BE73-B11CF78F5524}" srcId="{43720F04-4F70-4D64-A29D-B342FC1719D9}" destId="{527E673E-A0A5-45D0-BC3C-DE0DEE525BF2}" srcOrd="2" destOrd="0" parTransId="{8E777649-E85C-43E8-AEC8-111E2B125ABB}" sibTransId="{859CB368-A51B-4E26-A560-C7DD193A30A5}"/>
    <dgm:cxn modelId="{5FF27F8E-77C7-4CCE-AB7A-2E2C7B1C287B}" type="presOf" srcId="{78C2C310-6D00-42F5-BD96-86F886AF2859}" destId="{FA068D47-9128-40CC-9FDB-255F7888DD74}" srcOrd="0" destOrd="0" presId="urn:microsoft.com/office/officeart/2005/8/layout/vList2"/>
    <dgm:cxn modelId="{EBBF3E9C-5262-483E-80B9-B7CC0F9ADE24}" type="presOf" srcId="{527E673E-A0A5-45D0-BC3C-DE0DEE525BF2}" destId="{39DC17CC-CDC2-40D3-BAA9-46197E8D6CA7}" srcOrd="0" destOrd="0" presId="urn:microsoft.com/office/officeart/2005/8/layout/vList2"/>
    <dgm:cxn modelId="{0225C2A0-C9DB-4A86-A14C-8E91E0F59C73}" type="presOf" srcId="{6AE72F79-9B2C-418C-8931-47980205E39C}" destId="{95EE82A3-9D85-4348-BDCF-41A34F9FDCD9}" srcOrd="0" destOrd="0" presId="urn:microsoft.com/office/officeart/2005/8/layout/vList2"/>
    <dgm:cxn modelId="{1A644FC0-8FDE-4A1A-8E66-F52F2CD17617}" type="presParOf" srcId="{6CC9197F-0EDE-47AC-846F-54406B624218}" destId="{FA068D47-9128-40CC-9FDB-255F7888DD74}" srcOrd="0" destOrd="0" presId="urn:microsoft.com/office/officeart/2005/8/layout/vList2"/>
    <dgm:cxn modelId="{4B6AB386-1488-4E03-BFCB-5C534E63BBF4}" type="presParOf" srcId="{6CC9197F-0EDE-47AC-846F-54406B624218}" destId="{6C92B666-ED60-4876-A196-98F67D7F1F86}" srcOrd="1" destOrd="0" presId="urn:microsoft.com/office/officeart/2005/8/layout/vList2"/>
    <dgm:cxn modelId="{50063B9A-E013-4265-ABD3-8BCD1068D31C}" type="presParOf" srcId="{6CC9197F-0EDE-47AC-846F-54406B624218}" destId="{95EE82A3-9D85-4348-BDCF-41A34F9FDCD9}" srcOrd="2" destOrd="0" presId="urn:microsoft.com/office/officeart/2005/8/layout/vList2"/>
    <dgm:cxn modelId="{734E7FCE-064C-47BA-9995-FD4F3A0E77C7}" type="presParOf" srcId="{6CC9197F-0EDE-47AC-846F-54406B624218}" destId="{C3F56188-1496-4285-9BA9-D6EE1B76986A}" srcOrd="3" destOrd="0" presId="urn:microsoft.com/office/officeart/2005/8/layout/vList2"/>
    <dgm:cxn modelId="{B6A6519A-77B7-4500-BE70-1774D0E4D33C}" type="presParOf" srcId="{6CC9197F-0EDE-47AC-846F-54406B624218}" destId="{39DC17CC-CDC2-40D3-BAA9-46197E8D6CA7}"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0B5599-AB67-4D7B-810B-7A3D73FBC18E}">
      <dsp:nvSpPr>
        <dsp:cNvPr id="0" name=""/>
        <dsp:cNvSpPr/>
      </dsp:nvSpPr>
      <dsp:spPr>
        <a:xfrm>
          <a:off x="0" y="18232"/>
          <a:ext cx="6908800" cy="1468486"/>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IN" sz="2400" b="1" kern="1200" dirty="0">
              <a:latin typeface="Casper" panose="02000506000000020004"/>
            </a:rPr>
            <a:t>UNIT-3</a:t>
          </a:r>
        </a:p>
      </dsp:txBody>
      <dsp:txXfrm>
        <a:off x="43010" y="61242"/>
        <a:ext cx="5286976" cy="1382466"/>
      </dsp:txXfrm>
    </dsp:sp>
    <dsp:sp modelId="{1391C7A5-C46A-46EF-B914-27DF644706EC}">
      <dsp:nvSpPr>
        <dsp:cNvPr id="0" name=""/>
        <dsp:cNvSpPr/>
      </dsp:nvSpPr>
      <dsp:spPr>
        <a:xfrm>
          <a:off x="609599" y="1755777"/>
          <a:ext cx="6908800" cy="1504951"/>
        </a:xfrm>
        <a:prstGeom prst="roundRect">
          <a:avLst>
            <a:gd name="adj" fmla="val 10000"/>
          </a:avLst>
        </a:prstGeom>
        <a:solidFill>
          <a:schemeClr val="accent2">
            <a:hueOff val="-727682"/>
            <a:satOff val="-41964"/>
            <a:lumOff val="43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IN" sz="2400" b="1" kern="1200" dirty="0">
              <a:latin typeface="Casper" panose="02000506000000020004"/>
            </a:rPr>
            <a:t>QUANTUM MECHANICS</a:t>
          </a:r>
        </a:p>
      </dsp:txBody>
      <dsp:txXfrm>
        <a:off x="653678" y="1799856"/>
        <a:ext cx="5232823" cy="1416793"/>
      </dsp:txXfrm>
    </dsp:sp>
    <dsp:sp modelId="{DF9F8172-1EEF-4814-96D1-8216E1DFE46F}">
      <dsp:nvSpPr>
        <dsp:cNvPr id="0" name=""/>
        <dsp:cNvSpPr/>
      </dsp:nvSpPr>
      <dsp:spPr>
        <a:xfrm>
          <a:off x="1219199" y="3511554"/>
          <a:ext cx="6908800" cy="1504951"/>
        </a:xfrm>
        <a:prstGeom prst="roundRect">
          <a:avLst>
            <a:gd name="adj" fmla="val 10000"/>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IN" sz="2400" b="1" kern="1200" dirty="0">
              <a:solidFill>
                <a:schemeClr val="bg1"/>
              </a:solidFill>
              <a:latin typeface="Casper" panose="02000506000000020004"/>
            </a:rPr>
            <a:t>               WAVE-FUNCTION</a:t>
          </a:r>
        </a:p>
      </dsp:txBody>
      <dsp:txXfrm>
        <a:off x="1263278" y="3555633"/>
        <a:ext cx="5232823" cy="1416793"/>
      </dsp:txXfrm>
    </dsp:sp>
    <dsp:sp modelId="{E01B2225-1D38-4B75-AC30-F8B8E757FD86}">
      <dsp:nvSpPr>
        <dsp:cNvPr id="0" name=""/>
        <dsp:cNvSpPr/>
      </dsp:nvSpPr>
      <dsp:spPr>
        <a:xfrm>
          <a:off x="5930581" y="1141255"/>
          <a:ext cx="978218" cy="978218"/>
        </a:xfrm>
        <a:prstGeom prst="downArrow">
          <a:avLst>
            <a:gd name="adj1" fmla="val 55000"/>
            <a:gd name="adj2" fmla="val 45000"/>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IN" sz="3600" kern="1200"/>
        </a:p>
      </dsp:txBody>
      <dsp:txXfrm>
        <a:off x="6150680" y="1141255"/>
        <a:ext cx="538020" cy="736109"/>
      </dsp:txXfrm>
    </dsp:sp>
    <dsp:sp modelId="{CE1FCC98-BB05-4596-8BA6-108808B2BF9E}">
      <dsp:nvSpPr>
        <dsp:cNvPr id="0" name=""/>
        <dsp:cNvSpPr/>
      </dsp:nvSpPr>
      <dsp:spPr>
        <a:xfrm>
          <a:off x="6540181" y="2886999"/>
          <a:ext cx="978218" cy="978218"/>
        </a:xfrm>
        <a:prstGeom prst="downArrow">
          <a:avLst>
            <a:gd name="adj1" fmla="val 55000"/>
            <a:gd name="adj2" fmla="val 45000"/>
          </a:avLst>
        </a:prstGeom>
        <a:solidFill>
          <a:schemeClr val="accent2">
            <a:tint val="40000"/>
            <a:alpha val="90000"/>
            <a:hueOff val="-849226"/>
            <a:satOff val="-75346"/>
            <a:lumOff val="-769"/>
            <a:alphaOff val="0"/>
          </a:schemeClr>
        </a:solidFill>
        <a:ln w="12700" cap="flat" cmpd="sng" algn="ctr">
          <a:solidFill>
            <a:schemeClr val="accent2">
              <a:tint val="40000"/>
              <a:alpha val="90000"/>
              <a:hueOff val="-849226"/>
              <a:satOff val="-75346"/>
              <a:lumOff val="-76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IN" sz="3600" kern="1200"/>
        </a:p>
      </dsp:txBody>
      <dsp:txXfrm>
        <a:off x="6760280" y="2886999"/>
        <a:ext cx="538020" cy="73610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3804D2-D44E-44EA-9FF5-99F97DCCD10A}">
      <dsp:nvSpPr>
        <dsp:cNvPr id="0" name=""/>
        <dsp:cNvSpPr/>
      </dsp:nvSpPr>
      <dsp:spPr>
        <a:xfrm>
          <a:off x="3147" y="2434"/>
          <a:ext cx="3068480" cy="1227392"/>
        </a:xfrm>
        <a:prstGeom prst="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85344" tIns="48768" rIns="85344" bIns="48768" numCol="1" spcCol="1270" anchor="ctr" anchorCtr="0">
          <a:noAutofit/>
        </a:bodyPr>
        <a:lstStyle/>
        <a:p>
          <a:pPr marL="0" lvl="0" indent="0" algn="ctr" defTabSz="533400">
            <a:lnSpc>
              <a:spcPct val="90000"/>
            </a:lnSpc>
            <a:spcBef>
              <a:spcPct val="0"/>
            </a:spcBef>
            <a:spcAft>
              <a:spcPct val="35000"/>
            </a:spcAft>
            <a:buNone/>
          </a:pPr>
          <a:r>
            <a:rPr lang="en-IN" sz="1200" kern="1200">
              <a:latin typeface="Times New Roman" panose="02020603050405020304" pitchFamily="18" charset="0"/>
              <a:cs typeface="Times New Roman" panose="02020603050405020304" pitchFamily="18" charset="0"/>
            </a:rPr>
            <a:t>1</a:t>
          </a:r>
        </a:p>
      </dsp:txBody>
      <dsp:txXfrm>
        <a:off x="3147" y="2434"/>
        <a:ext cx="3068480" cy="1227392"/>
      </dsp:txXfrm>
    </dsp:sp>
    <dsp:sp modelId="{BD2EE0C5-FA31-483E-B76D-6DC608645EA8}">
      <dsp:nvSpPr>
        <dsp:cNvPr id="0" name=""/>
        <dsp:cNvSpPr/>
      </dsp:nvSpPr>
      <dsp:spPr>
        <a:xfrm>
          <a:off x="0" y="1229827"/>
          <a:ext cx="3068480" cy="2635200"/>
        </a:xfrm>
        <a:prstGeom prst="rect">
          <a:avLst/>
        </a:prstGeom>
        <a:solidFill>
          <a:schemeClr val="accent2">
            <a:tint val="40000"/>
            <a:alpha val="90000"/>
            <a:hueOff val="0"/>
            <a:satOff val="0"/>
            <a:lumOff val="0"/>
            <a:alphaOff val="0"/>
          </a:schemeClr>
        </a:solidFill>
        <a:ln w="635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a:lnSpc>
              <a:spcPct val="90000"/>
            </a:lnSpc>
            <a:spcBef>
              <a:spcPct val="0"/>
            </a:spcBef>
            <a:spcAft>
              <a:spcPct val="15000"/>
            </a:spcAft>
            <a:buChar char="•"/>
          </a:pPr>
          <a:r>
            <a:rPr lang="en-IN" sz="2400" kern="1200" dirty="0">
              <a:latin typeface="Casper" panose="02000506000000020004"/>
              <a:cs typeface="Times New Roman" panose="02020603050405020304" pitchFamily="18" charset="0"/>
            </a:rPr>
            <a:t>Students will learn about wave function.</a:t>
          </a:r>
        </a:p>
      </dsp:txBody>
      <dsp:txXfrm>
        <a:off x="0" y="1229827"/>
        <a:ext cx="3068480" cy="2635200"/>
      </dsp:txXfrm>
    </dsp:sp>
    <dsp:sp modelId="{C9DA09FE-968E-4451-896D-DECC9E9C2589}">
      <dsp:nvSpPr>
        <dsp:cNvPr id="0" name=""/>
        <dsp:cNvSpPr/>
      </dsp:nvSpPr>
      <dsp:spPr>
        <a:xfrm>
          <a:off x="3501214" y="2434"/>
          <a:ext cx="3068480" cy="1227392"/>
        </a:xfrm>
        <a:prstGeom prst="rect">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IN" sz="1600" kern="1200">
              <a:latin typeface="Times New Roman" panose="02020603050405020304" pitchFamily="18" charset="0"/>
              <a:cs typeface="Times New Roman" panose="02020603050405020304" pitchFamily="18" charset="0"/>
            </a:rPr>
            <a:t>2</a:t>
          </a:r>
        </a:p>
      </dsp:txBody>
      <dsp:txXfrm>
        <a:off x="3501214" y="2434"/>
        <a:ext cx="3068480" cy="1227392"/>
      </dsp:txXfrm>
    </dsp:sp>
    <dsp:sp modelId="{F18E9830-D2CB-43E8-AB8E-05B2ABB8544E}">
      <dsp:nvSpPr>
        <dsp:cNvPr id="0" name=""/>
        <dsp:cNvSpPr/>
      </dsp:nvSpPr>
      <dsp:spPr>
        <a:xfrm>
          <a:off x="3501214" y="1229827"/>
          <a:ext cx="3068480" cy="2635200"/>
        </a:xfrm>
        <a:prstGeom prst="rect">
          <a:avLst/>
        </a:prstGeom>
        <a:solidFill>
          <a:schemeClr val="accent3">
            <a:tint val="40000"/>
            <a:alpha val="90000"/>
            <a:hueOff val="0"/>
            <a:satOff val="0"/>
            <a:lumOff val="0"/>
            <a:alphaOff val="0"/>
          </a:schemeClr>
        </a:solidFill>
        <a:ln w="6350" cap="flat" cmpd="sng" algn="ctr">
          <a:solidFill>
            <a:schemeClr val="accent3">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a:lnSpc>
              <a:spcPct val="90000"/>
            </a:lnSpc>
            <a:spcBef>
              <a:spcPct val="0"/>
            </a:spcBef>
            <a:spcAft>
              <a:spcPct val="15000"/>
            </a:spcAft>
            <a:buChar char="•"/>
          </a:pPr>
          <a:r>
            <a:rPr lang="en-IN" sz="2400" kern="1200" dirty="0">
              <a:solidFill>
                <a:prstClr val="black">
                  <a:hueOff val="0"/>
                  <a:satOff val="0"/>
                  <a:lumOff val="0"/>
                  <a:alphaOff val="0"/>
                </a:prstClr>
              </a:solidFill>
              <a:latin typeface="Casper" panose="02000506000000020004"/>
              <a:ea typeface="+mn-ea"/>
              <a:cs typeface="Times New Roman" panose="02020603050405020304" pitchFamily="18" charset="0"/>
            </a:rPr>
            <a:t>Students will learn about different quantum variables</a:t>
          </a:r>
          <a:r>
            <a:rPr lang="en-IN" sz="1600" kern="1200" dirty="0">
              <a:latin typeface="Times New Roman" panose="02020603050405020304" pitchFamily="18" charset="0"/>
              <a:cs typeface="Times New Roman" panose="02020603050405020304" pitchFamily="18" charset="0"/>
            </a:rPr>
            <a:t>.</a:t>
          </a:r>
        </a:p>
      </dsp:txBody>
      <dsp:txXfrm>
        <a:off x="3501214" y="1229827"/>
        <a:ext cx="3068480" cy="2635200"/>
      </dsp:txXfrm>
    </dsp:sp>
    <dsp:sp modelId="{AC12C961-00F2-45E6-B9B9-7B8C991E8799}">
      <dsp:nvSpPr>
        <dsp:cNvPr id="0" name=""/>
        <dsp:cNvSpPr/>
      </dsp:nvSpPr>
      <dsp:spPr>
        <a:xfrm>
          <a:off x="6999282" y="2434"/>
          <a:ext cx="3068480" cy="1227392"/>
        </a:xfrm>
        <a:prstGeom prst="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IN" sz="1600" kern="1200">
              <a:latin typeface="Times New Roman" panose="02020603050405020304" pitchFamily="18" charset="0"/>
              <a:cs typeface="Times New Roman" panose="02020603050405020304" pitchFamily="18" charset="0"/>
            </a:rPr>
            <a:t>3</a:t>
          </a:r>
        </a:p>
      </dsp:txBody>
      <dsp:txXfrm>
        <a:off x="6999282" y="2434"/>
        <a:ext cx="3068480" cy="1227392"/>
      </dsp:txXfrm>
    </dsp:sp>
    <dsp:sp modelId="{67DE4BD6-AAFE-4A2D-A02B-0CA2C8D040F6}">
      <dsp:nvSpPr>
        <dsp:cNvPr id="0" name=""/>
        <dsp:cNvSpPr/>
      </dsp:nvSpPr>
      <dsp:spPr>
        <a:xfrm>
          <a:off x="6999282" y="1229827"/>
          <a:ext cx="3068480" cy="2635200"/>
        </a:xfrm>
        <a:prstGeom prst="rect">
          <a:avLst/>
        </a:prstGeom>
        <a:solidFill>
          <a:schemeClr val="accent4">
            <a:tint val="40000"/>
            <a:alpha val="90000"/>
            <a:hueOff val="0"/>
            <a:satOff val="0"/>
            <a:lumOff val="0"/>
            <a:alphaOff val="0"/>
          </a:schemeClr>
        </a:solidFill>
        <a:ln w="6350" cap="flat" cmpd="sng" algn="ctr">
          <a:solidFill>
            <a:schemeClr val="accent4">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a:lnSpc>
              <a:spcPct val="90000"/>
            </a:lnSpc>
            <a:spcBef>
              <a:spcPct val="0"/>
            </a:spcBef>
            <a:spcAft>
              <a:spcPct val="15000"/>
            </a:spcAft>
            <a:buChar char="•"/>
          </a:pPr>
          <a:r>
            <a:rPr lang="en-IN" sz="2400" kern="1200" dirty="0">
              <a:solidFill>
                <a:prstClr val="black">
                  <a:hueOff val="0"/>
                  <a:satOff val="0"/>
                  <a:lumOff val="0"/>
                  <a:alphaOff val="0"/>
                </a:prstClr>
              </a:solidFill>
              <a:latin typeface="Casper" panose="02000506000000020004"/>
              <a:ea typeface="+mn-ea"/>
              <a:cs typeface="Times New Roman" panose="02020603050405020304" pitchFamily="18" charset="0"/>
            </a:rPr>
            <a:t>In this lecture, will derive time independent equation.</a:t>
          </a:r>
        </a:p>
      </dsp:txBody>
      <dsp:txXfrm>
        <a:off x="6999282" y="1229827"/>
        <a:ext cx="3068480" cy="26352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068D47-9128-40CC-9FDB-255F7888DD74}">
      <dsp:nvSpPr>
        <dsp:cNvPr id="0" name=""/>
        <dsp:cNvSpPr/>
      </dsp:nvSpPr>
      <dsp:spPr>
        <a:xfrm>
          <a:off x="0" y="163268"/>
          <a:ext cx="10515600" cy="121680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IN" sz="2400" kern="1200" dirty="0">
              <a:latin typeface="Casper"/>
            </a:rPr>
            <a:t>WAVE FUNCTION</a:t>
          </a:r>
        </a:p>
      </dsp:txBody>
      <dsp:txXfrm>
        <a:off x="59399" y="222667"/>
        <a:ext cx="10396802" cy="1098002"/>
      </dsp:txXfrm>
    </dsp:sp>
    <dsp:sp modelId="{95EE82A3-9D85-4348-BDCF-41A34F9FDCD9}">
      <dsp:nvSpPr>
        <dsp:cNvPr id="0" name=""/>
        <dsp:cNvSpPr/>
      </dsp:nvSpPr>
      <dsp:spPr>
        <a:xfrm>
          <a:off x="0" y="1567269"/>
          <a:ext cx="10515600" cy="121680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IN" sz="2400" kern="1200" dirty="0">
              <a:latin typeface="Casper"/>
            </a:rPr>
            <a:t>PROBABILITY DENSITY</a:t>
          </a:r>
        </a:p>
      </dsp:txBody>
      <dsp:txXfrm>
        <a:off x="59399" y="1626668"/>
        <a:ext cx="10396802" cy="1098002"/>
      </dsp:txXfrm>
    </dsp:sp>
    <dsp:sp modelId="{39DC17CC-CDC2-40D3-BAA9-46197E8D6CA7}">
      <dsp:nvSpPr>
        <dsp:cNvPr id="0" name=""/>
        <dsp:cNvSpPr/>
      </dsp:nvSpPr>
      <dsp:spPr>
        <a:xfrm>
          <a:off x="0" y="2971269"/>
          <a:ext cx="10515600" cy="121680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IN" sz="2400" kern="1200" dirty="0">
              <a:latin typeface="Casper"/>
            </a:rPr>
            <a:t>PROPERTIES</a:t>
          </a:r>
        </a:p>
      </dsp:txBody>
      <dsp:txXfrm>
        <a:off x="59399" y="3030668"/>
        <a:ext cx="10396802" cy="1098002"/>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t>6/15/2023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t>6/15/2023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6/15/2023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youtube.com/watch?v=Ei8CFin00PY" TargetMode="External"/><Relationship Id="rId2" Type="http://schemas.openxmlformats.org/officeDocument/2006/relationships/hyperlink" Target="https://www.youtube.com/watch?v=OFwskHrtYQ4"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ocw.mit.edu/courses/physics/8-04-quantum-physics-i-spring-2013/lecture-notes/MIT8_04S13_Lec03.pdf" TargetMode="External"/><Relationship Id="rId2" Type="http://schemas.openxmlformats.org/officeDocument/2006/relationships/hyperlink" Target="https://chemistry.stackexchange.com/questions/40018/orthogonal-wavefunctions" TargetMode="External"/><Relationship Id="rId1" Type="http://schemas.openxmlformats.org/officeDocument/2006/relationships/slideLayout" Target="../slideLayouts/slideLayout2.xml"/><Relationship Id="rId4" Type="http://schemas.openxmlformats.org/officeDocument/2006/relationships/hyperlink" Target="https://sites.google.com/site/puenggphysics/home/unit-iv/wave-function"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2.bin"/><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1" y="4718027"/>
            <a:ext cx="1219200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id="{CAD0D7B8-E462-453C-B296-CA0154FA54AE}"/>
              </a:ext>
            </a:extLst>
          </p:cNvPr>
          <p:cNvGraphicFramePr>
            <a:graphicFrameLocks noChangeAspect="1"/>
          </p:cNvGraphicFramePr>
          <p:nvPr/>
        </p:nvGraphicFramePr>
        <p:xfrm>
          <a:off x="76788" y="3121720"/>
          <a:ext cx="3303056" cy="3148059"/>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48" name="Object 47">
                        <a:extLst>
                          <a:ext uri="{FF2B5EF4-FFF2-40B4-BE49-F238E27FC236}">
                            <a16:creationId xmlns:a16="http://schemas.microsoft.com/office/drawing/2014/main" id="{CAD0D7B8-E462-453C-B296-CA0154FA54AE}"/>
                          </a:ext>
                        </a:extLst>
                      </p:cNvPr>
                      <p:cNvPicPr>
                        <a:picLocks noChangeAspect="1" noChangeArrowheads="1"/>
                      </p:cNvPicPr>
                      <p:nvPr/>
                    </p:nvPicPr>
                    <p:blipFill>
                      <a:blip r:embed="rId3">
                        <a:lum bright="77000"/>
                        <a:extLst>
                          <a:ext uri="{28A0092B-C50C-407E-A947-70E740481C1C}">
                            <a14:useLocalDpi xmlns:a14="http://schemas.microsoft.com/office/drawing/2010/main" val="0"/>
                          </a:ext>
                        </a:extLst>
                      </a:blip>
                      <a:srcRect/>
                      <a:stretch>
                        <a:fillRect/>
                      </a:stretch>
                    </p:blipFill>
                    <p:spPr bwMode="auto">
                      <a:xfrm>
                        <a:off x="76788" y="3121720"/>
                        <a:ext cx="3303056" cy="3148059"/>
                      </a:xfrm>
                      <a:prstGeom prst="rect">
                        <a:avLst/>
                      </a:prstGeom>
                      <a:noFill/>
                    </p:spPr>
                  </p:pic>
                </p:oleObj>
              </mc:Fallback>
            </mc:AlternateContent>
          </a:graphicData>
        </a:graphic>
      </p:graphicFrame>
      <p:sp>
        <p:nvSpPr>
          <p:cNvPr id="37" name="Right Triangle 36">
            <a:extLst>
              <a:ext uri="{FF2B5EF4-FFF2-40B4-BE49-F238E27FC236}">
                <a16:creationId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p:cNvPicPr>
            <a:picLocks noChangeAspect="1"/>
          </p:cNvPicPr>
          <p:nvPr/>
        </p:nvPicPr>
        <p:blipFill>
          <a:blip r:embed="rId4">
            <a:extLst>
              <a:ext uri="{BEBA8EAE-BF5A-486C-A8C5-ECC9F3942E4B}">
                <a14:imgProps xmlns:a14="http://schemas.microsoft.com/office/drawing/2010/main">
                  <a14:imgLayer r:embed="rId5">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p:cNvSpPr txBox="1">
            <a:spLocks noChangeArrowheads="1"/>
          </p:cNvSpPr>
          <p:nvPr/>
        </p:nvSpPr>
        <p:spPr bwMode="auto">
          <a:xfrm>
            <a:off x="-335292" y="5741723"/>
            <a:ext cx="4912783" cy="1723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defTabSz="622300">
              <a:lnSpc>
                <a:spcPct val="90000"/>
              </a:lnSpc>
              <a:spcBef>
                <a:spcPct val="0"/>
              </a:spcBef>
              <a:spcAft>
                <a:spcPct val="3500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UNIT 3</a:t>
            </a:r>
          </a:p>
          <a:p>
            <a:pPr algn="ctr" defTabSz="622300">
              <a:lnSpc>
                <a:spcPct val="90000"/>
              </a:lnSpc>
              <a:spcBef>
                <a:spcPct val="0"/>
              </a:spcBef>
              <a:spcAft>
                <a:spcPct val="3500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QUANTUM MECHANICS</a:t>
            </a:r>
          </a:p>
          <a:p>
            <a:pPr lvl="0" algn="ctr" defTabSz="622300">
              <a:lnSpc>
                <a:spcPct val="90000"/>
              </a:lnSpc>
              <a:spcBef>
                <a:spcPct val="0"/>
              </a:spcBef>
              <a:spcAft>
                <a:spcPct val="35000"/>
              </a:spcAft>
            </a:pPr>
            <a:endParaRPr lang="en-US" sz="2400" b="1" dirty="0">
              <a:solidFill>
                <a:prstClr val="black">
                  <a:lumMod val="85000"/>
                  <a:lumOff val="15000"/>
                </a:prstClr>
              </a:solidFill>
              <a:latin typeface="Times New Roman" panose="02020603050405020304" pitchFamily="18" charset="0"/>
              <a:cs typeface="Times New Roman" panose="02020603050405020304" pitchFamily="18" charset="0"/>
            </a:endParaRPr>
          </a:p>
          <a:p>
            <a:pPr eaLnBrk="1" hangingPunct="1"/>
            <a:endParaRPr lang="en-US" sz="1600" dirty="0">
              <a:latin typeface="Raleway ExtraBold" pitchFamily="34" charset="-52"/>
            </a:endParaRPr>
          </a:p>
        </p:txBody>
      </p:sp>
      <p:sp>
        <p:nvSpPr>
          <p:cNvPr id="26" name="TextBox 25"/>
          <p:cNvSpPr txBox="1">
            <a:spLocks noChangeArrowheads="1"/>
          </p:cNvSpPr>
          <p:nvPr/>
        </p:nvSpPr>
        <p:spPr bwMode="auto">
          <a:xfrm>
            <a:off x="2877670" y="1132449"/>
            <a:ext cx="8273119" cy="69157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3600" b="1" dirty="0">
                <a:latin typeface="Arial Black" panose="020B0A04020102020204" pitchFamily="34" charset="0"/>
                <a:ea typeface="Karla" pitchFamily="2" charset="0"/>
                <a:cs typeface="Karla" pitchFamily="2" charset="0"/>
              </a:rPr>
              <a:t>INSTITUTE :UIE</a:t>
            </a:r>
          </a:p>
          <a:p>
            <a:pPr lvl="0" algn="ctr" defTabSz="622300">
              <a:lnSpc>
                <a:spcPct val="90000"/>
              </a:lnSpc>
              <a:spcBef>
                <a:spcPct val="0"/>
              </a:spcBef>
              <a:spcAft>
                <a:spcPct val="35000"/>
              </a:spcAft>
            </a:pPr>
            <a:r>
              <a:rPr lang="en-US" sz="3600" b="1" dirty="0">
                <a:latin typeface="Arial Black" panose="020B0A04020102020204" pitchFamily="34" charset="0"/>
                <a:ea typeface="Karla" pitchFamily="2" charset="0"/>
                <a:cs typeface="Karla" pitchFamily="2" charset="0"/>
              </a:rPr>
              <a:t>DEPARTMENT: ALL ACADEMIC UNITS</a:t>
            </a:r>
          </a:p>
          <a:p>
            <a:pPr lvl="0" algn="ctr" defTabSz="622300">
              <a:lnSpc>
                <a:spcPct val="90000"/>
              </a:lnSpc>
              <a:spcBef>
                <a:spcPct val="0"/>
              </a:spcBef>
              <a:spcAft>
                <a:spcPct val="35000"/>
              </a:spcAft>
            </a:pPr>
            <a:r>
              <a:rPr lang="en-US" sz="3200" dirty="0">
                <a:latin typeface="Times New Roman" pitchFamily="18" charset="0"/>
                <a:ea typeface="Calibri" panose="020F0502020204030204" pitchFamily="34" charset="0"/>
                <a:cs typeface="Times New Roman" panose="02020603050405020304" pitchFamily="18" charset="0"/>
              </a:rPr>
              <a:t>Bachelor of Engineering (All Sections)</a:t>
            </a:r>
          </a:p>
          <a:p>
            <a:pPr lvl="0" algn="ctr" defTabSz="622300">
              <a:lnSpc>
                <a:spcPct val="90000"/>
              </a:lnSpc>
              <a:spcBef>
                <a:spcPct val="0"/>
              </a:spcBef>
              <a:spcAft>
                <a:spcPct val="35000"/>
              </a:spcAft>
            </a:pPr>
            <a:r>
              <a:rPr lang="en-US" sz="3200" dirty="0">
                <a:latin typeface="Times New Roman" pitchFamily="18" charset="0"/>
                <a:ea typeface="Calibri" panose="020F0502020204030204" pitchFamily="34" charset="0"/>
                <a:cs typeface="Times New Roman" panose="02020603050405020304" pitchFamily="18" charset="0"/>
              </a:rPr>
              <a:t>Subject Name and Code:</a:t>
            </a:r>
          </a:p>
          <a:p>
            <a:pPr lvl="0" algn="ctr" defTabSz="622300">
              <a:lnSpc>
                <a:spcPct val="90000"/>
              </a:lnSpc>
              <a:spcBef>
                <a:spcPct val="0"/>
              </a:spcBef>
              <a:spcAft>
                <a:spcPct val="35000"/>
              </a:spcAft>
            </a:pPr>
            <a:r>
              <a:rPr lang="en-US" sz="3200">
                <a:latin typeface="Times New Roman" pitchFamily="18" charset="0"/>
                <a:ea typeface="Calibri" panose="020F0502020204030204" pitchFamily="34" charset="0"/>
                <a:cs typeface="Times New Roman" panose="02020603050405020304" pitchFamily="18" charset="0"/>
              </a:rPr>
              <a:t>Engineering Physics 23SPH-141</a:t>
            </a:r>
          </a:p>
          <a:p>
            <a:pPr lvl="0" algn="ctr" defTabSz="622300">
              <a:lnSpc>
                <a:spcPct val="90000"/>
              </a:lnSpc>
              <a:spcBef>
                <a:spcPct val="0"/>
              </a:spcBef>
              <a:spcAft>
                <a:spcPct val="35000"/>
              </a:spcAft>
            </a:pPr>
            <a:r>
              <a:rPr lang="en-US" sz="2800">
                <a:latin typeface="Times New Roman" pitchFamily="18" charset="0"/>
                <a:ea typeface="Calibri" panose="020F0502020204030204" pitchFamily="34" charset="0"/>
                <a:cs typeface="Times New Roman" panose="02020603050405020304" pitchFamily="18" charset="0"/>
              </a:rPr>
              <a:t>Prepared </a:t>
            </a:r>
            <a:r>
              <a:rPr lang="en-US" sz="2800" dirty="0">
                <a:latin typeface="Times New Roman" pitchFamily="18" charset="0"/>
                <a:ea typeface="Calibri" panose="020F0502020204030204" pitchFamily="34" charset="0"/>
                <a:cs typeface="Times New Roman" panose="02020603050405020304" pitchFamily="18" charset="0"/>
              </a:rPr>
              <a:t>by: Ms. </a:t>
            </a:r>
            <a:r>
              <a:rPr lang="en-US" sz="2800" dirty="0" err="1">
                <a:latin typeface="Times New Roman" pitchFamily="18" charset="0"/>
                <a:ea typeface="Calibri" panose="020F0502020204030204" pitchFamily="34" charset="0"/>
                <a:cs typeface="Times New Roman" panose="02020603050405020304" pitchFamily="18" charset="0"/>
              </a:rPr>
              <a:t>Arminder</a:t>
            </a:r>
            <a:endParaRPr lang="en-US" sz="2800" dirty="0">
              <a:latin typeface="Times New Roman" pitchFamily="18" charset="0"/>
              <a:ea typeface="Calibri" panose="020F0502020204030204" pitchFamily="34" charset="0"/>
              <a:cs typeface="Times New Roman" panose="02020603050405020304" pitchFamily="18" charset="0"/>
            </a:endParaRPr>
          </a:p>
          <a:p>
            <a:pPr lvl="0" algn="ctr" defTabSz="622300">
              <a:lnSpc>
                <a:spcPct val="90000"/>
              </a:lnSpc>
              <a:spcBef>
                <a:spcPct val="0"/>
              </a:spcBef>
              <a:spcAft>
                <a:spcPct val="35000"/>
              </a:spcAft>
            </a:pPr>
            <a:endParaRPr lang="en-US" sz="2400" dirty="0">
              <a:latin typeface="Calibri" panose="020F0502020204030204" pitchFamily="34" charset="0"/>
              <a:ea typeface="Calibri" panose="020F0502020204030204" pitchFamily="34" charset="0"/>
              <a:cs typeface="Times New Roman" panose="02020603050405020304" pitchFamily="18" charset="0"/>
            </a:endParaRPr>
          </a:p>
          <a:p>
            <a:pPr lvl="0" algn="ctr" defTabSz="622300">
              <a:lnSpc>
                <a:spcPct val="90000"/>
              </a:lnSpc>
              <a:spcBef>
                <a:spcPct val="0"/>
              </a:spcBef>
              <a:spcAft>
                <a:spcPct val="35000"/>
              </a:spcAft>
            </a:pP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r>
              <a:rPr lang="en-US" sz="3200" b="1" dirty="0">
                <a:solidFill>
                  <a:prstClr val="black">
                    <a:lumMod val="85000"/>
                    <a:lumOff val="15000"/>
                  </a:prstClr>
                </a:solidFill>
                <a:latin typeface="Times New Roman" panose="02020603050405020304" pitchFamily="18" charset="0"/>
                <a:cs typeface="Times New Roman" panose="02020603050405020304" pitchFamily="18" charset="0"/>
              </a:rPr>
              <a:t> </a:t>
            </a:r>
          </a:p>
          <a:p>
            <a:pPr eaLnBrk="1" hangingPunct="1"/>
            <a:endParaRPr lang="en-US" sz="1600" dirty="0">
              <a:latin typeface="Raleway ExtraBold" pitchFamily="34" charset="-52"/>
            </a:endParaRPr>
          </a:p>
        </p:txBody>
      </p:sp>
    </p:spTree>
    <p:extLst>
      <p:ext uri="{BB962C8B-B14F-4D97-AF65-F5344CB8AC3E}">
        <p14:creationId xmlns:p14="http://schemas.microsoft.com/office/powerpoint/2010/main" val="456502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11359166" y="6356350"/>
            <a:ext cx="223234" cy="365125"/>
          </a:xfrm>
          <a:ln>
            <a:solidFill>
              <a:schemeClr val="accent1"/>
            </a:solidFill>
          </a:ln>
        </p:spPr>
        <p:txBody>
          <a:bodyPr/>
          <a:lstStyle/>
          <a:p>
            <a:fld id="{BDCDBBEF-AA6C-4BA6-85B2-A17D7F280E38}" type="slidenum">
              <a:rPr lang="en-US" smtClean="0"/>
              <a:t>2</a:t>
            </a:fld>
            <a:endParaRPr lang="en-US" dirty="0"/>
          </a:p>
        </p:txBody>
      </p:sp>
      <p:sp>
        <p:nvSpPr>
          <p:cNvPr id="10" name="Oval 9"/>
          <p:cNvSpPr/>
          <p:nvPr/>
        </p:nvSpPr>
        <p:spPr>
          <a:xfrm>
            <a:off x="11217276" y="6324600"/>
            <a:ext cx="444500" cy="422275"/>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596EF3AC-12D8-4376-826F-0CDE220D0DD9}"/>
              </a:ext>
            </a:extLst>
          </p:cNvPr>
          <p:cNvSpPr txBox="1"/>
          <p:nvPr/>
        </p:nvSpPr>
        <p:spPr>
          <a:xfrm>
            <a:off x="1519707" y="200819"/>
            <a:ext cx="10062693" cy="769441"/>
          </a:xfrm>
          <a:prstGeom prst="rect">
            <a:avLst/>
          </a:prstGeom>
          <a:solidFill>
            <a:schemeClr val="bg1"/>
          </a:solidFill>
          <a:ln>
            <a:solidFill>
              <a:srgbClr val="C00000"/>
            </a:solidFill>
          </a:ln>
        </p:spPr>
        <p:txBody>
          <a:bodyPr wrap="square" rtlCol="0">
            <a:spAutoFit/>
          </a:bodyPr>
          <a:lstStyle/>
          <a:p>
            <a:pPr algn="ctr"/>
            <a:r>
              <a:rPr lang="en-IN" sz="4400" b="1" dirty="0">
                <a:latin typeface="Casper Bold"/>
              </a:rPr>
              <a:t>COURSE OBJECTIVES</a:t>
            </a:r>
          </a:p>
        </p:txBody>
      </p:sp>
      <p:sp>
        <p:nvSpPr>
          <p:cNvPr id="7" name="Rectangle 6">
            <a:extLst>
              <a:ext uri="{FF2B5EF4-FFF2-40B4-BE49-F238E27FC236}">
                <a16:creationId xmlns:a16="http://schemas.microsoft.com/office/drawing/2014/main" id="{9E9E0D1A-55C5-463F-89FE-BD77E41FFD1A}"/>
              </a:ext>
            </a:extLst>
          </p:cNvPr>
          <p:cNvSpPr/>
          <p:nvPr/>
        </p:nvSpPr>
        <p:spPr>
          <a:xfrm>
            <a:off x="1210092" y="1837121"/>
            <a:ext cx="10241791" cy="4214231"/>
          </a:xfrm>
          <a:prstGeom prst="rect">
            <a:avLst/>
          </a:prstGeom>
          <a:ln>
            <a:solidFill>
              <a:schemeClr val="accent1"/>
            </a:solidFill>
          </a:ln>
        </p:spPr>
        <p:txBody>
          <a:bodyPr wrap="square">
            <a:spAutoFit/>
          </a:bodyPr>
          <a:lstStyle/>
          <a:p>
            <a:pPr marL="342900" marR="38100" lvl="0" indent="-342900" algn="just">
              <a:lnSpc>
                <a:spcPct val="93000"/>
              </a:lnSpc>
              <a:spcAft>
                <a:spcPts val="0"/>
              </a:spcAft>
              <a:buFont typeface="+mj-lt"/>
              <a:buAutoNum type="arabicPeriod"/>
              <a:tabLst>
                <a:tab pos="330200" algn="l"/>
              </a:tabLst>
            </a:pPr>
            <a:r>
              <a:rPr lang="en-IN" sz="2400" dirty="0">
                <a:latin typeface="Casper" panose="02000506000000020004"/>
                <a:ea typeface="Times New Roman" panose="02020603050405020304" pitchFamily="18" charset="0"/>
              </a:rPr>
              <a:t>The course is designed to make the students industry ready to contribute in the growing demand of the industry at local, national and international level.</a:t>
            </a:r>
          </a:p>
          <a:p>
            <a:pPr marL="342900" marR="38100" lvl="0" indent="-342900" algn="just">
              <a:lnSpc>
                <a:spcPct val="93000"/>
              </a:lnSpc>
              <a:spcAft>
                <a:spcPts val="0"/>
              </a:spcAft>
              <a:buFont typeface="+mj-lt"/>
              <a:buAutoNum type="arabicPeriod"/>
              <a:tabLst>
                <a:tab pos="330200" algn="l"/>
              </a:tabLst>
            </a:pPr>
            <a:r>
              <a:rPr lang="en-IN" sz="2400" dirty="0">
                <a:latin typeface="Casper" panose="02000506000000020004"/>
                <a:ea typeface="Times New Roman" panose="02020603050405020304" pitchFamily="18" charset="0"/>
              </a:rPr>
              <a:t>It will make the students competent to understand basic concepts and applications of advanced engineering physics and apply its principles in their respective fields at global platform.</a:t>
            </a:r>
          </a:p>
          <a:p>
            <a:pPr marL="342900" marR="38100" lvl="0" indent="-342900" algn="just">
              <a:lnSpc>
                <a:spcPct val="93000"/>
              </a:lnSpc>
              <a:spcAft>
                <a:spcPts val="0"/>
              </a:spcAft>
              <a:buFont typeface="+mj-lt"/>
              <a:buAutoNum type="arabicPeriod"/>
              <a:tabLst>
                <a:tab pos="330200" algn="l"/>
              </a:tabLst>
            </a:pPr>
            <a:r>
              <a:rPr lang="en-IN" sz="2400" dirty="0">
                <a:latin typeface="Casper" panose="02000506000000020004"/>
                <a:ea typeface="Times New Roman" panose="02020603050405020304" pitchFamily="18" charset="0"/>
              </a:rPr>
              <a:t>It will enhance the skill level of the students and shall make them preferred choice for getting employment in industry and research labs.</a:t>
            </a:r>
          </a:p>
          <a:p>
            <a:pPr marL="342900" marR="38100" lvl="0" indent="-342900" algn="just">
              <a:lnSpc>
                <a:spcPct val="93000"/>
              </a:lnSpc>
              <a:spcAft>
                <a:spcPts val="0"/>
              </a:spcAft>
              <a:buFont typeface="+mj-lt"/>
              <a:buAutoNum type="arabicPeriod"/>
              <a:tabLst>
                <a:tab pos="330200" algn="l"/>
              </a:tabLst>
            </a:pPr>
            <a:r>
              <a:rPr lang="en-IN" sz="2400" dirty="0">
                <a:latin typeface="Casper" panose="02000506000000020004"/>
                <a:ea typeface="Times New Roman" panose="02020603050405020304" pitchFamily="18" charset="0"/>
              </a:rPr>
              <a:t>It will give thorough knowledge of the discipline to enable students to disseminate knowledge in pursuing excellence in academic areas.</a:t>
            </a:r>
          </a:p>
          <a:p>
            <a:pPr marL="342900" marR="38100" lvl="0" indent="-342900" algn="just">
              <a:lnSpc>
                <a:spcPct val="93000"/>
              </a:lnSpc>
              <a:spcAft>
                <a:spcPts val="0"/>
              </a:spcAft>
              <a:buFont typeface="+mj-lt"/>
              <a:buAutoNum type="arabicPeriod"/>
              <a:tabLst>
                <a:tab pos="330200" algn="l"/>
              </a:tabLst>
            </a:pPr>
            <a:endParaRPr lang="en-IN" sz="2400" dirty="0">
              <a:effectLst/>
              <a:latin typeface="Casper" panose="02000506000000020004"/>
              <a:ea typeface="Times New Roman" panose="02020603050405020304" pitchFamily="18" charset="0"/>
            </a:endParaRPr>
          </a:p>
          <a:p>
            <a:pPr marR="38100" lvl="0" algn="just">
              <a:lnSpc>
                <a:spcPct val="93000"/>
              </a:lnSpc>
              <a:spcAft>
                <a:spcPts val="0"/>
              </a:spcAft>
              <a:tabLst>
                <a:tab pos="330200" algn="l"/>
              </a:tabLst>
            </a:pPr>
            <a:endParaRPr lang="en-IN" sz="2400" dirty="0">
              <a:effectLst/>
              <a:latin typeface="Casper" panose="02000506000000020004"/>
              <a:ea typeface="Times New Roman" panose="02020603050405020304" pitchFamily="18" charset="0"/>
            </a:endParaRPr>
          </a:p>
        </p:txBody>
      </p:sp>
    </p:spTree>
    <p:extLst>
      <p:ext uri="{BB962C8B-B14F-4D97-AF65-F5344CB8AC3E}">
        <p14:creationId xmlns:p14="http://schemas.microsoft.com/office/powerpoint/2010/main" val="21387090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DCDBBEF-AA6C-4BA6-85B2-A17D7F280E38}" type="slidenum">
              <a:rPr lang="en-US" smtClean="0"/>
              <a:pPr/>
              <a:t>3</a:t>
            </a:fld>
            <a:endParaRPr lang="en-US"/>
          </a:p>
        </p:txBody>
      </p:sp>
      <p:sp>
        <p:nvSpPr>
          <p:cNvPr id="8" name="Rectangle 7"/>
          <p:cNvSpPr/>
          <p:nvPr/>
        </p:nvSpPr>
        <p:spPr>
          <a:xfrm>
            <a:off x="2096394" y="256020"/>
            <a:ext cx="8507916" cy="1138773"/>
          </a:xfrm>
          <a:prstGeom prst="rect">
            <a:avLst/>
          </a:prstGeom>
        </p:spPr>
        <p:txBody>
          <a:bodyPr wrap="square">
            <a:spAutoFit/>
          </a:bodyPr>
          <a:lstStyle/>
          <a:p>
            <a:pPr algn="ctr"/>
            <a:r>
              <a:rPr lang="en-US" sz="4400" b="1" dirty="0">
                <a:latin typeface="Casper" panose="02000506000000020004"/>
                <a:cs typeface="Times New Roman" pitchFamily="18" charset="0"/>
              </a:rPr>
              <a:t>COURSE OUTCOME</a:t>
            </a:r>
            <a:endParaRPr lang="en-US" sz="4400" b="1" dirty="0">
              <a:latin typeface="Casper" panose="02000506000000020004"/>
            </a:endParaRPr>
          </a:p>
          <a:p>
            <a:r>
              <a:rPr lang="en-US" sz="2400" b="1" dirty="0">
                <a:latin typeface="Casper" panose="02000506000000020004"/>
              </a:rPr>
              <a:t>       </a:t>
            </a:r>
          </a:p>
        </p:txBody>
      </p:sp>
      <p:pic>
        <p:nvPicPr>
          <p:cNvPr id="9" name="Picture 2"/>
          <p:cNvPicPr>
            <a:picLocks noChangeAspect="1" noChangeArrowheads="1"/>
          </p:cNvPicPr>
          <p:nvPr/>
        </p:nvPicPr>
        <p:blipFill>
          <a:blip r:embed="rId2"/>
          <a:srcRect/>
          <a:stretch>
            <a:fillRect/>
          </a:stretch>
        </p:blipFill>
        <p:spPr bwMode="auto">
          <a:xfrm>
            <a:off x="10795992" y="75716"/>
            <a:ext cx="1115616" cy="461141"/>
          </a:xfrm>
          <a:prstGeom prst="rect">
            <a:avLst/>
          </a:prstGeom>
          <a:noFill/>
          <a:ln w="9525">
            <a:noFill/>
            <a:miter lim="800000"/>
            <a:headEnd/>
            <a:tailEnd/>
          </a:ln>
          <a:effectLst/>
        </p:spPr>
      </p:pic>
      <p:pic>
        <p:nvPicPr>
          <p:cNvPr id="11" name="Picture 6" descr="Image result for quantum physic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89323" y="1992205"/>
            <a:ext cx="5164477" cy="4408595"/>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p:cNvSpPr/>
          <p:nvPr/>
        </p:nvSpPr>
        <p:spPr>
          <a:xfrm>
            <a:off x="6394039" y="6495532"/>
            <a:ext cx="2950488" cy="369332"/>
          </a:xfrm>
          <a:prstGeom prst="rect">
            <a:avLst/>
          </a:prstGeom>
        </p:spPr>
        <p:txBody>
          <a:bodyPr wrap="none">
            <a:spAutoFit/>
          </a:bodyPr>
          <a:lstStyle/>
          <a:p>
            <a:pPr algn="ctr"/>
            <a:r>
              <a:rPr lang="en-US" dirty="0">
                <a:latin typeface="Casper"/>
              </a:rPr>
              <a:t>Figure 1 Quantum Theory </a:t>
            </a:r>
          </a:p>
        </p:txBody>
      </p:sp>
      <p:graphicFrame>
        <p:nvGraphicFramePr>
          <p:cNvPr id="13" name="Table 12"/>
          <p:cNvGraphicFramePr>
            <a:graphicFrameLocks noGrp="1"/>
          </p:cNvGraphicFramePr>
          <p:nvPr>
            <p:extLst>
              <p:ext uri="{D42A27DB-BD31-4B8C-83A1-F6EECF244321}">
                <p14:modId xmlns:p14="http://schemas.microsoft.com/office/powerpoint/2010/main" val="799568220"/>
              </p:ext>
            </p:extLst>
          </p:nvPr>
        </p:nvGraphicFramePr>
        <p:xfrm>
          <a:off x="177421" y="2096487"/>
          <a:ext cx="5477164" cy="4637392"/>
        </p:xfrm>
        <a:graphic>
          <a:graphicData uri="http://schemas.openxmlformats.org/drawingml/2006/table">
            <a:tbl>
              <a:tblPr firstRow="1" firstCol="1" bandRow="1">
                <a:tableStyleId>{5940675A-B579-460E-94D1-54222C63F5DA}</a:tableStyleId>
              </a:tblPr>
              <a:tblGrid>
                <a:gridCol w="843045">
                  <a:extLst>
                    <a:ext uri="{9D8B030D-6E8A-4147-A177-3AD203B41FA5}">
                      <a16:colId xmlns:a16="http://schemas.microsoft.com/office/drawing/2014/main" val="20000"/>
                    </a:ext>
                  </a:extLst>
                </a:gridCol>
                <a:gridCol w="3661864">
                  <a:extLst>
                    <a:ext uri="{9D8B030D-6E8A-4147-A177-3AD203B41FA5}">
                      <a16:colId xmlns:a16="http://schemas.microsoft.com/office/drawing/2014/main" val="20001"/>
                    </a:ext>
                  </a:extLst>
                </a:gridCol>
                <a:gridCol w="972255">
                  <a:extLst>
                    <a:ext uri="{9D8B030D-6E8A-4147-A177-3AD203B41FA5}">
                      <a16:colId xmlns:a16="http://schemas.microsoft.com/office/drawing/2014/main" val="20002"/>
                    </a:ext>
                  </a:extLst>
                </a:gridCol>
              </a:tblGrid>
              <a:tr h="709941">
                <a:tc>
                  <a:txBody>
                    <a:bodyPr/>
                    <a:lstStyle/>
                    <a:p>
                      <a:pPr marL="0" marR="0">
                        <a:lnSpc>
                          <a:spcPct val="115000"/>
                        </a:lnSpc>
                        <a:spcBef>
                          <a:spcPts val="0"/>
                        </a:spcBef>
                        <a:spcAft>
                          <a:spcPts val="0"/>
                        </a:spcAft>
                      </a:pPr>
                      <a:r>
                        <a:rPr lang="en-US" sz="1200" b="0" dirty="0">
                          <a:effectLst/>
                        </a:rPr>
                        <a:t>CO Number</a:t>
                      </a:r>
                      <a:endParaRPr lang="en-US" sz="11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b="0" dirty="0">
                          <a:effectLst/>
                        </a:rPr>
                        <a:t>Title </a:t>
                      </a:r>
                    </a:p>
                    <a:p>
                      <a:pPr marL="0" marR="0">
                        <a:lnSpc>
                          <a:spcPct val="115000"/>
                        </a:lnSpc>
                        <a:spcBef>
                          <a:spcPts val="0"/>
                        </a:spcBef>
                        <a:spcAft>
                          <a:spcPts val="0"/>
                        </a:spcAft>
                      </a:pPr>
                      <a:r>
                        <a:rPr lang="en-IN" sz="1200" kern="1200" dirty="0">
                          <a:solidFill>
                            <a:schemeClr val="tx1"/>
                          </a:solidFill>
                          <a:effectLst/>
                          <a:latin typeface="+mn-lt"/>
                          <a:ea typeface="+mn-ea"/>
                          <a:cs typeface="+mn-cs"/>
                        </a:rPr>
                        <a:t>On completion of this course, the students are expected to learn</a:t>
                      </a:r>
                      <a:endParaRPr lang="en-US" sz="12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b="0" dirty="0">
                          <a:effectLst/>
                        </a:rPr>
                        <a:t>Level </a:t>
                      </a:r>
                      <a:endParaRPr lang="en-US" sz="11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579638">
                <a:tc>
                  <a:txBody>
                    <a:bodyPr/>
                    <a:lstStyle/>
                    <a:p>
                      <a:pPr marL="0" marR="0">
                        <a:lnSpc>
                          <a:spcPct val="115000"/>
                        </a:lnSpc>
                        <a:spcBef>
                          <a:spcPts val="0"/>
                        </a:spcBef>
                        <a:spcAft>
                          <a:spcPts val="0"/>
                        </a:spcAft>
                      </a:pPr>
                      <a:r>
                        <a:rPr lang="en-US" sz="1200" b="1" dirty="0">
                          <a:solidFill>
                            <a:schemeClr val="tx1"/>
                          </a:solidFill>
                          <a:effectLst/>
                          <a:latin typeface="+mn-lt"/>
                          <a:ea typeface="Times New Roman" panose="02020603050405020304" pitchFamily="18" charset="0"/>
                          <a:cs typeface="Times New Roman" panose="02020603050405020304" pitchFamily="18" charset="0"/>
                        </a:rPr>
                        <a:t>CO1</a:t>
                      </a:r>
                    </a:p>
                  </a:txBody>
                  <a:tcPr marL="68580" marR="68580" marT="0" marB="0"/>
                </a:tc>
                <a:tc>
                  <a:txBody>
                    <a:bodyPr/>
                    <a:lstStyle/>
                    <a:p>
                      <a:pPr marL="0" marR="53975" algn="just">
                        <a:lnSpc>
                          <a:spcPct val="150000"/>
                        </a:lnSpc>
                        <a:spcBef>
                          <a:spcPts val="0"/>
                        </a:spcBef>
                        <a:spcAft>
                          <a:spcPts val="0"/>
                        </a:spcAft>
                      </a:pPr>
                      <a:r>
                        <a:rPr lang="en-US" sz="1100" dirty="0">
                          <a:effectLst/>
                          <a:latin typeface="Calibri"/>
                          <a:ea typeface="Calibri"/>
                          <a:cs typeface="Calibri"/>
                        </a:rPr>
                        <a:t>Quote the basic fundamental concepts of lasers, optical </a:t>
                      </a:r>
                      <a:r>
                        <a:rPr lang="en-US" sz="1100" dirty="0" err="1">
                          <a:effectLst/>
                          <a:latin typeface="Calibri"/>
                          <a:ea typeface="Calibri"/>
                          <a:cs typeface="Calibri"/>
                        </a:rPr>
                        <a:t>fibres</a:t>
                      </a:r>
                      <a:r>
                        <a:rPr lang="en-US" sz="1100" dirty="0">
                          <a:effectLst/>
                          <a:latin typeface="Calibri"/>
                          <a:ea typeface="Calibri"/>
                          <a:cs typeface="Calibri"/>
                        </a:rPr>
                        <a:t>, crystallography, ultrasonic oscillations, semiconductor physics, quantum mechanics and nanotechnology.</a:t>
                      </a:r>
                      <a:endParaRPr lang="en-US" sz="11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200" b="0" dirty="0">
                          <a:solidFill>
                            <a:schemeClr val="tx1"/>
                          </a:solidFill>
                          <a:effectLst/>
                          <a:latin typeface="+mn-lt"/>
                        </a:rPr>
                        <a:t>Remember, Understand</a:t>
                      </a:r>
                    </a:p>
                    <a:p>
                      <a:pPr marL="0" marR="0">
                        <a:lnSpc>
                          <a:spcPct val="115000"/>
                        </a:lnSpc>
                        <a:spcBef>
                          <a:spcPts val="0"/>
                        </a:spcBef>
                        <a:spcAft>
                          <a:spcPts val="0"/>
                        </a:spcAft>
                      </a:pPr>
                      <a:r>
                        <a:rPr lang="en-US" sz="1200" b="0" dirty="0">
                          <a:solidFill>
                            <a:schemeClr val="tx1"/>
                          </a:solidFill>
                          <a:effectLst/>
                          <a:latin typeface="+mn-lt"/>
                        </a:rPr>
                        <a:t> </a:t>
                      </a:r>
                      <a:endParaRPr lang="en-US" sz="1200" b="0" dirty="0">
                        <a:solidFill>
                          <a:schemeClr val="tx1"/>
                        </a:solidFill>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776699">
                <a:tc>
                  <a:txBody>
                    <a:bodyPr/>
                    <a:lstStyle/>
                    <a:p>
                      <a:pPr marL="0" marR="0">
                        <a:lnSpc>
                          <a:spcPct val="115000"/>
                        </a:lnSpc>
                        <a:spcBef>
                          <a:spcPts val="0"/>
                        </a:spcBef>
                        <a:spcAft>
                          <a:spcPts val="0"/>
                        </a:spcAft>
                      </a:pPr>
                      <a:r>
                        <a:rPr lang="en-US" sz="1200" b="1" dirty="0">
                          <a:solidFill>
                            <a:schemeClr val="tx1"/>
                          </a:solidFill>
                          <a:effectLst/>
                          <a:latin typeface="+mn-lt"/>
                          <a:ea typeface="Times New Roman" panose="02020603050405020304" pitchFamily="18" charset="0"/>
                          <a:cs typeface="Times New Roman" panose="02020603050405020304" pitchFamily="18" charset="0"/>
                        </a:rPr>
                        <a:t>CO2</a:t>
                      </a:r>
                    </a:p>
                  </a:txBody>
                  <a:tcPr marL="68580" marR="68580" marT="0" marB="0"/>
                </a:tc>
                <a:tc>
                  <a:txBody>
                    <a:bodyPr/>
                    <a:lstStyle/>
                    <a:p>
                      <a:pPr marL="0" marR="53975" algn="just">
                        <a:lnSpc>
                          <a:spcPct val="150000"/>
                        </a:lnSpc>
                        <a:spcBef>
                          <a:spcPts val="0"/>
                        </a:spcBef>
                        <a:spcAft>
                          <a:spcPts val="0"/>
                        </a:spcAft>
                      </a:pPr>
                      <a:r>
                        <a:rPr lang="en-US" sz="1100" dirty="0">
                          <a:effectLst/>
                          <a:latin typeface="Calibri"/>
                          <a:ea typeface="Calibri"/>
                          <a:cs typeface="Calibri"/>
                        </a:rPr>
                        <a:t>Demonstrate the working of various lasers, </a:t>
                      </a:r>
                      <a:r>
                        <a:rPr lang="en-US" sz="1100" dirty="0" err="1">
                          <a:effectLst/>
                          <a:latin typeface="Calibri"/>
                          <a:ea typeface="Calibri"/>
                          <a:cs typeface="Calibri"/>
                        </a:rPr>
                        <a:t>fibre</a:t>
                      </a:r>
                      <a:r>
                        <a:rPr lang="en-US" sz="1100" dirty="0">
                          <a:effectLst/>
                          <a:latin typeface="Calibri"/>
                          <a:ea typeface="Calibri"/>
                          <a:cs typeface="Calibri"/>
                        </a:rPr>
                        <a:t> components, semiconductor devices; explain the </a:t>
                      </a:r>
                      <a:r>
                        <a:rPr lang="en-US" sz="1100" dirty="0" err="1">
                          <a:effectLst/>
                          <a:latin typeface="Calibri"/>
                          <a:ea typeface="Calibri"/>
                          <a:cs typeface="Calibri"/>
                        </a:rPr>
                        <a:t>behaviour</a:t>
                      </a:r>
                      <a:r>
                        <a:rPr lang="en-US" sz="1100" dirty="0">
                          <a:effectLst/>
                          <a:latin typeface="Calibri"/>
                          <a:ea typeface="Calibri"/>
                          <a:cs typeface="Calibri"/>
                        </a:rPr>
                        <a:t> of crystalline solids, quantum and </a:t>
                      </a:r>
                      <a:r>
                        <a:rPr lang="en-US" sz="1100" dirty="0" err="1">
                          <a:effectLst/>
                          <a:latin typeface="Calibri"/>
                          <a:ea typeface="Calibri"/>
                          <a:cs typeface="Calibri"/>
                        </a:rPr>
                        <a:t>nano</a:t>
                      </a:r>
                      <a:r>
                        <a:rPr lang="en-US" sz="1100" dirty="0">
                          <a:effectLst/>
                          <a:latin typeface="Calibri"/>
                          <a:ea typeface="Calibri"/>
                          <a:cs typeface="Calibri"/>
                        </a:rPr>
                        <a:t>-scale systems.</a:t>
                      </a:r>
                      <a:endParaRPr lang="en-US" sz="1100" dirty="0">
                        <a:effectLst/>
                        <a:latin typeface="Calibri"/>
                        <a:ea typeface="Calibri"/>
                        <a:cs typeface="Times New Roman"/>
                      </a:endParaRPr>
                    </a:p>
                  </a:txBody>
                  <a:tcPr marL="68580" marR="68580" marT="0" marB="0"/>
                </a:tc>
                <a:tc>
                  <a:txBody>
                    <a:bodyPr/>
                    <a:lstStyle/>
                    <a:p>
                      <a:pPr marL="0" marR="0" algn="l">
                        <a:lnSpc>
                          <a:spcPct val="115000"/>
                        </a:lnSpc>
                        <a:spcBef>
                          <a:spcPts val="0"/>
                        </a:spcBef>
                        <a:spcAft>
                          <a:spcPts val="0"/>
                        </a:spcAft>
                      </a:pPr>
                      <a:r>
                        <a:rPr lang="en-US" sz="1200" b="0" dirty="0">
                          <a:solidFill>
                            <a:schemeClr val="tx1"/>
                          </a:solidFill>
                          <a:effectLst/>
                          <a:latin typeface="+mn-lt"/>
                          <a:ea typeface="Times New Roman" panose="02020603050405020304" pitchFamily="18" charset="0"/>
                          <a:cs typeface="Times New Roman" panose="02020603050405020304" pitchFamily="18" charset="0"/>
                        </a:rPr>
                        <a:t>Understand</a:t>
                      </a:r>
                    </a:p>
                  </a:txBody>
                  <a:tcPr marL="68580" marR="68580" marT="0" marB="0"/>
                </a:tc>
                <a:extLst>
                  <a:ext uri="{0D108BD9-81ED-4DB2-BD59-A6C34878D82A}">
                    <a16:rowId xmlns:a16="http://schemas.microsoft.com/office/drawing/2014/main" val="10004"/>
                  </a:ext>
                </a:extLst>
              </a:tr>
              <a:tr h="579638">
                <a:tc>
                  <a:txBody>
                    <a:bodyPr/>
                    <a:lstStyle/>
                    <a:p>
                      <a:pPr marL="0" marR="0">
                        <a:lnSpc>
                          <a:spcPct val="115000"/>
                        </a:lnSpc>
                        <a:spcBef>
                          <a:spcPts val="0"/>
                        </a:spcBef>
                        <a:spcAft>
                          <a:spcPts val="0"/>
                        </a:spcAft>
                      </a:pPr>
                      <a:r>
                        <a:rPr lang="en-US" sz="1200" b="0" dirty="0">
                          <a:solidFill>
                            <a:schemeClr val="tx1"/>
                          </a:solidFill>
                          <a:effectLst/>
                          <a:latin typeface="+mn-lt"/>
                          <a:ea typeface="Times New Roman" panose="02020603050405020304" pitchFamily="18" charset="0"/>
                          <a:cs typeface="Times New Roman" panose="02020603050405020304" pitchFamily="18" charset="0"/>
                        </a:rPr>
                        <a:t>CO3</a:t>
                      </a:r>
                    </a:p>
                  </a:txBody>
                  <a:tcPr marL="68580" marR="68580" marT="0" marB="0"/>
                </a:tc>
                <a:tc>
                  <a:txBody>
                    <a:bodyPr/>
                    <a:lstStyle/>
                    <a:p>
                      <a:pPr marL="0" marR="53975" algn="just">
                        <a:lnSpc>
                          <a:spcPct val="150000"/>
                        </a:lnSpc>
                        <a:spcBef>
                          <a:spcPts val="0"/>
                        </a:spcBef>
                        <a:spcAft>
                          <a:spcPts val="0"/>
                        </a:spcAft>
                      </a:pPr>
                      <a:r>
                        <a:rPr lang="en-US" sz="1100" dirty="0">
                          <a:effectLst/>
                          <a:latin typeface="Calibri"/>
                          <a:ea typeface="Calibri"/>
                          <a:cs typeface="Calibri"/>
                        </a:rPr>
                        <a:t>Solve problems by applying principles related to lasers, </a:t>
                      </a:r>
                      <a:r>
                        <a:rPr lang="en-US" sz="1100" dirty="0" err="1">
                          <a:effectLst/>
                          <a:latin typeface="Calibri"/>
                          <a:ea typeface="Calibri"/>
                          <a:cs typeface="Calibri"/>
                        </a:rPr>
                        <a:t>fibres</a:t>
                      </a:r>
                      <a:r>
                        <a:rPr lang="en-US" sz="1100" dirty="0">
                          <a:effectLst/>
                          <a:latin typeface="Calibri"/>
                          <a:ea typeface="Calibri"/>
                          <a:cs typeface="Calibri"/>
                        </a:rPr>
                        <a:t>, semiconductors, oscillations, quantum and </a:t>
                      </a:r>
                      <a:r>
                        <a:rPr lang="en-US" sz="1100" dirty="0" err="1">
                          <a:effectLst/>
                          <a:latin typeface="Calibri"/>
                          <a:ea typeface="Calibri"/>
                          <a:cs typeface="Calibri"/>
                        </a:rPr>
                        <a:t>nanoscience</a:t>
                      </a:r>
                      <a:r>
                        <a:rPr lang="en-US" sz="1100" dirty="0">
                          <a:effectLst/>
                          <a:latin typeface="Calibri"/>
                          <a:ea typeface="Calibri"/>
                          <a:cs typeface="Calibri"/>
                        </a:rPr>
                        <a:t>.</a:t>
                      </a:r>
                      <a:endParaRPr lang="en-US" sz="1100" dirty="0">
                        <a:effectLst/>
                        <a:latin typeface="Calibri"/>
                        <a:ea typeface="Calibri"/>
                        <a:cs typeface="Times New Roman"/>
                      </a:endParaRPr>
                    </a:p>
                  </a:txBody>
                  <a:tcPr marL="68580" marR="68580" marT="0" marB="0"/>
                </a:tc>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sz="1200" b="0" dirty="0">
                          <a:solidFill>
                            <a:schemeClr val="tx1"/>
                          </a:solidFill>
                          <a:effectLst/>
                          <a:latin typeface="+mn-lt"/>
                        </a:rPr>
                        <a:t>Applying </a:t>
                      </a:r>
                    </a:p>
                    <a:p>
                      <a:pPr marL="0" marR="0" indent="0" algn="l" defTabSz="914400" rtl="0" eaLnBrk="1" fontAlgn="auto" latinLnBrk="0" hangingPunct="1">
                        <a:lnSpc>
                          <a:spcPct val="115000"/>
                        </a:lnSpc>
                        <a:spcBef>
                          <a:spcPts val="0"/>
                        </a:spcBef>
                        <a:spcAft>
                          <a:spcPts val="0"/>
                        </a:spcAft>
                        <a:buClrTx/>
                        <a:buSzTx/>
                        <a:buFontTx/>
                        <a:buNone/>
                        <a:tabLst/>
                        <a:defRPr/>
                      </a:pPr>
                      <a:endParaRPr lang="en-US" sz="1200" b="0" dirty="0">
                        <a:solidFill>
                          <a:schemeClr val="tx1"/>
                        </a:solidFill>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5"/>
                  </a:ext>
                </a:extLst>
              </a:tr>
              <a:tr h="579638">
                <a:tc>
                  <a:txBody>
                    <a:bodyPr/>
                    <a:lstStyle/>
                    <a:p>
                      <a:pPr marL="0" marR="0">
                        <a:lnSpc>
                          <a:spcPct val="115000"/>
                        </a:lnSpc>
                        <a:spcBef>
                          <a:spcPts val="0"/>
                        </a:spcBef>
                        <a:spcAft>
                          <a:spcPts val="0"/>
                        </a:spcAft>
                      </a:pPr>
                      <a:r>
                        <a:rPr lang="en-US" sz="1200" b="0" dirty="0">
                          <a:solidFill>
                            <a:schemeClr val="tx1"/>
                          </a:solidFill>
                          <a:effectLst/>
                          <a:latin typeface="+mn-lt"/>
                          <a:ea typeface="Times New Roman" panose="02020603050405020304" pitchFamily="18" charset="0"/>
                          <a:cs typeface="Times New Roman" panose="02020603050405020304" pitchFamily="18" charset="0"/>
                        </a:rPr>
                        <a:t>CO4</a:t>
                      </a:r>
                    </a:p>
                  </a:txBody>
                  <a:tcPr marL="68580" marR="68580" marT="0" marB="0"/>
                </a:tc>
                <a:tc>
                  <a:txBody>
                    <a:bodyPr/>
                    <a:lstStyle/>
                    <a:p>
                      <a:pPr marL="0" marR="53975" algn="just">
                        <a:lnSpc>
                          <a:spcPct val="150000"/>
                        </a:lnSpc>
                        <a:spcBef>
                          <a:spcPts val="0"/>
                        </a:spcBef>
                        <a:spcAft>
                          <a:spcPts val="0"/>
                        </a:spcAft>
                      </a:pPr>
                      <a:r>
                        <a:rPr lang="en-US" sz="1100" dirty="0">
                          <a:effectLst/>
                          <a:latin typeface="Calibri"/>
                          <a:ea typeface="Calibri"/>
                          <a:cs typeface="Calibri"/>
                        </a:rPr>
                        <a:t>Compare various lasers and </a:t>
                      </a:r>
                      <a:r>
                        <a:rPr lang="en-US" sz="1100" dirty="0" err="1">
                          <a:effectLst/>
                          <a:latin typeface="Calibri"/>
                          <a:ea typeface="Calibri"/>
                          <a:cs typeface="Calibri"/>
                        </a:rPr>
                        <a:t>fibres</a:t>
                      </a:r>
                      <a:r>
                        <a:rPr lang="en-US" sz="1100" dirty="0">
                          <a:effectLst/>
                          <a:latin typeface="Calibri"/>
                          <a:ea typeface="Calibri"/>
                          <a:cs typeface="Calibri"/>
                        </a:rPr>
                        <a:t>, semiconducting devices, crystalline materials, structures at quantum and </a:t>
                      </a:r>
                      <a:r>
                        <a:rPr lang="en-US" sz="1100" dirty="0" err="1">
                          <a:effectLst/>
                          <a:latin typeface="Calibri"/>
                          <a:ea typeface="Calibri"/>
                          <a:cs typeface="Calibri"/>
                        </a:rPr>
                        <a:t>nanoscale</a:t>
                      </a:r>
                      <a:r>
                        <a:rPr lang="en-US" sz="1100" dirty="0">
                          <a:effectLst/>
                          <a:latin typeface="Calibri"/>
                          <a:ea typeface="Calibri"/>
                          <a:cs typeface="Calibri"/>
                        </a:rPr>
                        <a:t> on the basis of their properties for industrial applications.</a:t>
                      </a:r>
                      <a:endParaRPr lang="en-US" sz="1100" dirty="0">
                        <a:effectLst/>
                        <a:latin typeface="Calibri"/>
                        <a:ea typeface="Calibri"/>
                        <a:cs typeface="Times New Roman"/>
                      </a:endParaRPr>
                    </a:p>
                  </a:txBody>
                  <a:tcPr marL="68580" marR="68580" marT="0" marB="0"/>
                </a:tc>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sz="1200" b="0" dirty="0">
                          <a:solidFill>
                            <a:schemeClr val="tx1"/>
                          </a:solidFill>
                          <a:effectLst/>
                          <a:latin typeface="+mn-lt"/>
                          <a:ea typeface="Times New Roman" panose="02020603050405020304" pitchFamily="18" charset="0"/>
                          <a:cs typeface="Times New Roman" panose="02020603050405020304" pitchFamily="18" charset="0"/>
                        </a:rPr>
                        <a:t>Analyze</a:t>
                      </a:r>
                    </a:p>
                  </a:txBody>
                  <a:tcPr marL="68580" marR="68580" marT="0" marB="0"/>
                </a:tc>
                <a:extLst>
                  <a:ext uri="{0D108BD9-81ED-4DB2-BD59-A6C34878D82A}">
                    <a16:rowId xmlns:a16="http://schemas.microsoft.com/office/drawing/2014/main" val="10002"/>
                  </a:ext>
                </a:extLst>
              </a:tr>
              <a:tr h="887612">
                <a:tc>
                  <a:txBody>
                    <a:bodyPr/>
                    <a:lstStyle/>
                    <a:p>
                      <a:pPr marL="0" marR="0">
                        <a:lnSpc>
                          <a:spcPct val="115000"/>
                        </a:lnSpc>
                        <a:spcBef>
                          <a:spcPts val="0"/>
                        </a:spcBef>
                        <a:spcAft>
                          <a:spcPts val="0"/>
                        </a:spcAft>
                      </a:pPr>
                      <a:r>
                        <a:rPr lang="en-US" sz="1200" b="0" dirty="0">
                          <a:effectLst/>
                          <a:latin typeface="+mn-lt"/>
                          <a:ea typeface="Times New Roman" panose="02020603050405020304" pitchFamily="18" charset="0"/>
                          <a:cs typeface="Times New Roman" panose="02020603050405020304" pitchFamily="18" charset="0"/>
                        </a:rPr>
                        <a:t>CO5</a:t>
                      </a:r>
                    </a:p>
                  </a:txBody>
                  <a:tcPr marL="68580" marR="68580" marT="0" marB="0"/>
                </a:tc>
                <a:tc>
                  <a:txBody>
                    <a:bodyPr/>
                    <a:lstStyle/>
                    <a:p>
                      <a:pPr marL="0" marR="53975" algn="just">
                        <a:lnSpc>
                          <a:spcPct val="150000"/>
                        </a:lnSpc>
                        <a:spcBef>
                          <a:spcPts val="0"/>
                        </a:spcBef>
                        <a:spcAft>
                          <a:spcPts val="0"/>
                        </a:spcAft>
                      </a:pPr>
                      <a:r>
                        <a:rPr lang="en-US" sz="1100" dirty="0">
                          <a:effectLst/>
                          <a:latin typeface="Calibri"/>
                          <a:ea typeface="Calibri"/>
                          <a:cs typeface="Calibri"/>
                        </a:rPr>
                        <a:t>Develop various systems using lasers, </a:t>
                      </a:r>
                      <a:r>
                        <a:rPr lang="en-US" sz="1100" dirty="0" err="1">
                          <a:effectLst/>
                          <a:latin typeface="Calibri"/>
                          <a:ea typeface="Calibri"/>
                          <a:cs typeface="Calibri"/>
                        </a:rPr>
                        <a:t>fibres</a:t>
                      </a:r>
                      <a:r>
                        <a:rPr lang="en-US" sz="1100" dirty="0">
                          <a:effectLst/>
                          <a:latin typeface="Calibri"/>
                          <a:ea typeface="Calibri"/>
                          <a:cs typeface="Calibri"/>
                        </a:rPr>
                        <a:t>, semiconductors and </a:t>
                      </a:r>
                      <a:r>
                        <a:rPr lang="en-US" sz="1100" dirty="0" err="1">
                          <a:effectLst/>
                          <a:latin typeface="Calibri"/>
                          <a:ea typeface="Calibri"/>
                          <a:cs typeface="Calibri"/>
                        </a:rPr>
                        <a:t>nanomaterials</a:t>
                      </a:r>
                      <a:r>
                        <a:rPr lang="en-US" sz="1100" dirty="0">
                          <a:effectLst/>
                          <a:latin typeface="Calibri"/>
                          <a:ea typeface="Calibri"/>
                          <a:cs typeface="Calibri"/>
                        </a:rPr>
                        <a:t> for futuristic applications.</a:t>
                      </a:r>
                      <a:endParaRPr lang="en-US" sz="11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200" b="0" dirty="0">
                          <a:effectLst/>
                          <a:latin typeface="+mn-lt"/>
                        </a:rPr>
                        <a:t>Design</a:t>
                      </a:r>
                      <a:r>
                        <a:rPr lang="en-US" sz="1200" b="0" dirty="0">
                          <a:solidFill>
                            <a:schemeClr val="tx1"/>
                          </a:solidFill>
                          <a:effectLst/>
                          <a:latin typeface="+mn-lt"/>
                        </a:rPr>
                        <a:t> </a:t>
                      </a:r>
                    </a:p>
                    <a:p>
                      <a:pPr marL="0" marR="0" indent="0" algn="l" defTabSz="914400" rtl="0" eaLnBrk="1" fontAlgn="auto" latinLnBrk="0" hangingPunct="1">
                        <a:lnSpc>
                          <a:spcPct val="115000"/>
                        </a:lnSpc>
                        <a:spcBef>
                          <a:spcPts val="0"/>
                        </a:spcBef>
                        <a:spcAft>
                          <a:spcPts val="0"/>
                        </a:spcAft>
                        <a:buClrTx/>
                        <a:buSzTx/>
                        <a:buFontTx/>
                        <a:buNone/>
                        <a:tabLst/>
                        <a:defRPr/>
                      </a:pPr>
                      <a:endParaRPr lang="en-US" sz="1200" b="0" dirty="0">
                        <a:solidFill>
                          <a:schemeClr val="tx1"/>
                        </a:solidFill>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4460187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a:extLst>
              <a:ext uri="{FF2B5EF4-FFF2-40B4-BE49-F238E27FC236}">
                <a16:creationId xmlns:a16="http://schemas.microsoft.com/office/drawing/2014/main" id="{8AC7EE2D-EA09-47AE-8E42-93B7EFA7BE8D}"/>
              </a:ext>
            </a:extLst>
          </p:cNvPr>
          <p:cNvGraphicFramePr/>
          <p:nvPr>
            <p:extLst>
              <p:ext uri="{D42A27DB-BD31-4B8C-83A1-F6EECF244321}">
                <p14:modId xmlns:p14="http://schemas.microsoft.com/office/powerpoint/2010/main" val="3622009932"/>
              </p:ext>
            </p:extLst>
          </p:nvPr>
        </p:nvGraphicFramePr>
        <p:xfrm>
          <a:off x="2250059" y="1310186"/>
          <a:ext cx="8128000" cy="50165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TextBox 9">
            <a:extLst>
              <a:ext uri="{FF2B5EF4-FFF2-40B4-BE49-F238E27FC236}">
                <a16:creationId xmlns:a16="http://schemas.microsoft.com/office/drawing/2014/main" id="{4DD4BA6F-458C-471C-8C28-91ED72EAB6B6}"/>
              </a:ext>
            </a:extLst>
          </p:cNvPr>
          <p:cNvSpPr txBox="1"/>
          <p:nvPr/>
        </p:nvSpPr>
        <p:spPr>
          <a:xfrm>
            <a:off x="1416676" y="259122"/>
            <a:ext cx="10045521" cy="769441"/>
          </a:xfrm>
          <a:prstGeom prst="rect">
            <a:avLst/>
          </a:prstGeom>
          <a:noFill/>
          <a:ln>
            <a:solidFill>
              <a:srgbClr val="C00000"/>
            </a:solidFill>
          </a:ln>
        </p:spPr>
        <p:txBody>
          <a:bodyPr wrap="square" rtlCol="0">
            <a:spAutoFit/>
          </a:bodyPr>
          <a:lstStyle/>
          <a:p>
            <a:pPr algn="ctr"/>
            <a:r>
              <a:rPr lang="en-IN" sz="4400" b="1" dirty="0">
                <a:latin typeface="Casper Bold" panose="02000806040000020004"/>
              </a:rPr>
              <a:t>INTRODUCTION</a:t>
            </a:r>
          </a:p>
        </p:txBody>
      </p:sp>
    </p:spTree>
    <p:extLst>
      <p:ext uri="{BB962C8B-B14F-4D97-AF65-F5344CB8AC3E}">
        <p14:creationId xmlns:p14="http://schemas.microsoft.com/office/powerpoint/2010/main" val="22615938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816B0E-1F9E-4AB3-A8DB-9B8EC1A15F10}"/>
              </a:ext>
            </a:extLst>
          </p:cNvPr>
          <p:cNvSpPr>
            <a:spLocks noGrp="1"/>
          </p:cNvSpPr>
          <p:nvPr>
            <p:ph type="title"/>
          </p:nvPr>
        </p:nvSpPr>
        <p:spPr>
          <a:xfrm>
            <a:off x="1282890" y="365125"/>
            <a:ext cx="10070910" cy="1095185"/>
          </a:xfrm>
          <a:ln>
            <a:solidFill>
              <a:srgbClr val="C00000"/>
            </a:solidFill>
          </a:ln>
        </p:spPr>
        <p:txBody>
          <a:bodyPr/>
          <a:lstStyle/>
          <a:p>
            <a:pPr algn="ctr"/>
            <a:r>
              <a:rPr lang="en-IN" b="1" dirty="0">
                <a:latin typeface="Casper" panose="02000506000000020004"/>
              </a:rPr>
              <a:t>LECTURE OBJECTIVE</a:t>
            </a:r>
          </a:p>
        </p:txBody>
      </p:sp>
      <p:sp>
        <p:nvSpPr>
          <p:cNvPr id="4" name="Slide Number Placeholder 3">
            <a:extLst>
              <a:ext uri="{FF2B5EF4-FFF2-40B4-BE49-F238E27FC236}">
                <a16:creationId xmlns:a16="http://schemas.microsoft.com/office/drawing/2014/main" id="{DB4A666C-B06C-4C5F-A5D3-460C93A567BF}"/>
              </a:ext>
            </a:extLst>
          </p:cNvPr>
          <p:cNvSpPr>
            <a:spLocks noGrp="1"/>
          </p:cNvSpPr>
          <p:nvPr>
            <p:ph type="sldNum" sz="quarter" idx="12"/>
          </p:nvPr>
        </p:nvSpPr>
        <p:spPr/>
        <p:txBody>
          <a:bodyPr/>
          <a:lstStyle/>
          <a:p>
            <a:fld id="{BDCDBBEF-AA6C-4BA6-85B2-A17D7F280E38}" type="slidenum">
              <a:rPr lang="en-US" smtClean="0"/>
              <a:t>5</a:t>
            </a:fld>
            <a:endParaRPr lang="en-US"/>
          </a:p>
        </p:txBody>
      </p:sp>
      <p:graphicFrame>
        <p:nvGraphicFramePr>
          <p:cNvPr id="5" name="Diagram 4">
            <a:extLst>
              <a:ext uri="{FF2B5EF4-FFF2-40B4-BE49-F238E27FC236}">
                <a16:creationId xmlns:a16="http://schemas.microsoft.com/office/drawing/2014/main" id="{6AD668E6-34F6-4470-8A68-39B869EA940A}"/>
              </a:ext>
            </a:extLst>
          </p:cNvPr>
          <p:cNvGraphicFramePr/>
          <p:nvPr>
            <p:extLst>
              <p:ext uri="{D42A27DB-BD31-4B8C-83A1-F6EECF244321}">
                <p14:modId xmlns:p14="http://schemas.microsoft.com/office/powerpoint/2010/main" val="844115457"/>
              </p:ext>
            </p:extLst>
          </p:nvPr>
        </p:nvGraphicFramePr>
        <p:xfrm>
          <a:off x="1282890" y="1828800"/>
          <a:ext cx="10070910" cy="38674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611851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64776" y="304091"/>
            <a:ext cx="9989024" cy="977120"/>
          </a:xfrm>
          <a:ln>
            <a:solidFill>
              <a:srgbClr val="C00000"/>
            </a:solidFill>
          </a:ln>
        </p:spPr>
        <p:txBody>
          <a:bodyPr>
            <a:normAutofit/>
          </a:bodyPr>
          <a:lstStyle/>
          <a:p>
            <a:pPr algn="ctr"/>
            <a:r>
              <a:rPr lang="en-US" b="1" dirty="0">
                <a:latin typeface="Casper Bold" panose="02000806040000020004" pitchFamily="2" charset="0"/>
                <a:cs typeface="Arial" panose="020B0604020202020204" pitchFamily="34" charset="0"/>
              </a:rPr>
              <a:t> CONTENT</a:t>
            </a:r>
            <a:endParaRPr lang="en-US" b="1" dirty="0"/>
          </a:p>
        </p:txBody>
      </p:sp>
      <p:sp>
        <p:nvSpPr>
          <p:cNvPr id="4" name="Slide Number Placeholder 3"/>
          <p:cNvSpPr>
            <a:spLocks noGrp="1"/>
          </p:cNvSpPr>
          <p:nvPr>
            <p:ph type="sldNum" sz="quarter" idx="12"/>
          </p:nvPr>
        </p:nvSpPr>
        <p:spPr/>
        <p:txBody>
          <a:bodyPr/>
          <a:lstStyle/>
          <a:p>
            <a:fld id="{BDCDBBEF-AA6C-4BA6-85B2-A17D7F280E38}" type="slidenum">
              <a:rPr lang="en-US" smtClean="0"/>
              <a:t>6</a:t>
            </a:fld>
            <a:endParaRPr lang="en-US"/>
          </a:p>
        </p:txBody>
      </p:sp>
      <p:graphicFrame>
        <p:nvGraphicFramePr>
          <p:cNvPr id="6" name="Content Placeholder 5">
            <a:extLst>
              <a:ext uri="{FF2B5EF4-FFF2-40B4-BE49-F238E27FC236}">
                <a16:creationId xmlns:a16="http://schemas.microsoft.com/office/drawing/2014/main" id="{D93E4609-49EF-46D7-B0B0-5484D1D96FF3}"/>
              </a:ext>
            </a:extLst>
          </p:cNvPr>
          <p:cNvGraphicFramePr>
            <a:graphicFrameLocks noGrp="1"/>
          </p:cNvGraphicFramePr>
          <p:nvPr>
            <p:ph idx="1"/>
            <p:extLst>
              <p:ext uri="{D42A27DB-BD31-4B8C-83A1-F6EECF244321}">
                <p14:modId xmlns:p14="http://schemas.microsoft.com/office/powerpoint/2010/main" val="2504192228"/>
              </p:ext>
            </p:extLst>
          </p:nvPr>
        </p:nvGraphicFramePr>
        <p:xfrm>
          <a:off x="838200" y="1643111"/>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237023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B2C017-F260-453E-A35F-4910AC5BB155}"/>
              </a:ext>
            </a:extLst>
          </p:cNvPr>
          <p:cNvSpPr>
            <a:spLocks noGrp="1"/>
          </p:cNvSpPr>
          <p:nvPr>
            <p:ph type="title"/>
          </p:nvPr>
        </p:nvSpPr>
        <p:spPr>
          <a:ln>
            <a:solidFill>
              <a:srgbClr val="C00000"/>
            </a:solidFill>
          </a:ln>
        </p:spPr>
        <p:txBody>
          <a:bodyPr/>
          <a:lstStyle/>
          <a:p>
            <a:pPr algn="ctr"/>
            <a:r>
              <a:rPr lang="en-IN" b="1" dirty="0">
                <a:latin typeface="Casper"/>
              </a:rPr>
              <a:t>Wave function </a:t>
            </a:r>
            <a:br>
              <a:rPr lang="en-IN" dirty="0"/>
            </a:br>
            <a:endParaRPr lang="en-IN" dirty="0"/>
          </a:p>
        </p:txBody>
      </p:sp>
      <p:sp>
        <p:nvSpPr>
          <p:cNvPr id="3" name="Content Placeholder 2">
            <a:extLst>
              <a:ext uri="{FF2B5EF4-FFF2-40B4-BE49-F238E27FC236}">
                <a16:creationId xmlns:a16="http://schemas.microsoft.com/office/drawing/2014/main" id="{BFD07EC8-A540-4DD2-B98B-72F379D31981}"/>
              </a:ext>
            </a:extLst>
          </p:cNvPr>
          <p:cNvSpPr>
            <a:spLocks noGrp="1"/>
          </p:cNvSpPr>
          <p:nvPr>
            <p:ph idx="1"/>
          </p:nvPr>
        </p:nvSpPr>
        <p:spPr>
          <a:xfrm>
            <a:off x="838200" y="1825625"/>
            <a:ext cx="10515600" cy="4667250"/>
          </a:xfrm>
          <a:ln>
            <a:solidFill>
              <a:schemeClr val="accent1"/>
            </a:solidFill>
          </a:ln>
        </p:spPr>
        <p:txBody>
          <a:bodyPr>
            <a:normAutofit/>
          </a:bodyPr>
          <a:lstStyle/>
          <a:p>
            <a:pPr lvl="0">
              <a:lnSpc>
                <a:spcPct val="150000"/>
              </a:lnSpc>
              <a:buFont typeface="Wingdings" panose="05000000000000000000" pitchFamily="2" charset="2"/>
              <a:buChar char="v"/>
            </a:pPr>
            <a:r>
              <a:rPr lang="en-IN" sz="2400" dirty="0">
                <a:latin typeface="Casper"/>
              </a:rPr>
              <a:t>The quantity that characterizes the de–Broglie wave or matter wave is called the wave function. </a:t>
            </a:r>
          </a:p>
          <a:p>
            <a:pPr lvl="0">
              <a:lnSpc>
                <a:spcPct val="150000"/>
              </a:lnSpc>
              <a:buFont typeface="Wingdings" panose="05000000000000000000" pitchFamily="2" charset="2"/>
              <a:buChar char="v"/>
            </a:pPr>
            <a:r>
              <a:rPr lang="en-IN" sz="2400" dirty="0">
                <a:latin typeface="Casper"/>
              </a:rPr>
              <a:t>It is usually denoted as Ψ = (x, y, z, t). </a:t>
            </a:r>
          </a:p>
          <a:p>
            <a:pPr lvl="0">
              <a:lnSpc>
                <a:spcPct val="150000"/>
              </a:lnSpc>
              <a:buFont typeface="Wingdings" panose="05000000000000000000" pitchFamily="2" charset="2"/>
              <a:buChar char="v"/>
            </a:pPr>
            <a:r>
              <a:rPr lang="en-IN" sz="2400" dirty="0">
                <a:latin typeface="Casper"/>
              </a:rPr>
              <a:t>This gives complete information about the state of a physical system at a particular time. </a:t>
            </a:r>
          </a:p>
          <a:p>
            <a:pPr lvl="0">
              <a:lnSpc>
                <a:spcPct val="150000"/>
              </a:lnSpc>
              <a:buFont typeface="Wingdings" panose="05000000000000000000" pitchFamily="2" charset="2"/>
              <a:buChar char="v"/>
            </a:pPr>
            <a:r>
              <a:rPr lang="en-IN" sz="2400" dirty="0">
                <a:latin typeface="Casper"/>
              </a:rPr>
              <a:t>It is also called the state function and represents the probability amplitude. If ‘Ψ’ is large, the probability of finding the particle is also large and if ‘Ψ ‘ is small then the probability of finding the particle is small. </a:t>
            </a:r>
          </a:p>
          <a:p>
            <a:endParaRPr lang="en-IN" dirty="0"/>
          </a:p>
        </p:txBody>
      </p:sp>
      <p:sp>
        <p:nvSpPr>
          <p:cNvPr id="4" name="Slide Number Placeholder 3">
            <a:extLst>
              <a:ext uri="{FF2B5EF4-FFF2-40B4-BE49-F238E27FC236}">
                <a16:creationId xmlns:a16="http://schemas.microsoft.com/office/drawing/2014/main" id="{553C8D5E-0821-45B9-9E1B-26A66C11CBC1}"/>
              </a:ext>
            </a:extLst>
          </p:cNvPr>
          <p:cNvSpPr>
            <a:spLocks noGrp="1"/>
          </p:cNvSpPr>
          <p:nvPr>
            <p:ph type="sldNum" sz="quarter" idx="12"/>
          </p:nvPr>
        </p:nvSpPr>
        <p:spPr/>
        <p:txBody>
          <a:bodyPr/>
          <a:lstStyle/>
          <a:p>
            <a:fld id="{BDCDBBEF-AA6C-4BA6-85B2-A17D7F280E38}" type="slidenum">
              <a:rPr lang="en-US" smtClean="0"/>
              <a:t>7</a:t>
            </a:fld>
            <a:endParaRPr lang="en-US"/>
          </a:p>
        </p:txBody>
      </p:sp>
    </p:spTree>
    <p:extLst>
      <p:ext uri="{BB962C8B-B14F-4D97-AF65-F5344CB8AC3E}">
        <p14:creationId xmlns:p14="http://schemas.microsoft.com/office/powerpoint/2010/main" val="19081442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BB37070-C8B2-419A-B4F6-982868F3A118}"/>
              </a:ext>
            </a:extLst>
          </p:cNvPr>
          <p:cNvSpPr>
            <a:spLocks noGrp="1"/>
          </p:cNvSpPr>
          <p:nvPr>
            <p:ph idx="1"/>
          </p:nvPr>
        </p:nvSpPr>
        <p:spPr>
          <a:ln>
            <a:solidFill>
              <a:schemeClr val="accent1"/>
            </a:solidFill>
          </a:ln>
        </p:spPr>
        <p:txBody>
          <a:bodyPr/>
          <a:lstStyle/>
          <a:p>
            <a:pPr lvl="0">
              <a:lnSpc>
                <a:spcPct val="150000"/>
              </a:lnSpc>
              <a:buFont typeface="Wingdings" panose="05000000000000000000" pitchFamily="2" charset="2"/>
              <a:buChar char="v"/>
            </a:pPr>
            <a:r>
              <a:rPr lang="en-IN" sz="2400" dirty="0">
                <a:latin typeface="Casper"/>
              </a:rPr>
              <a:t>The wave function gives the likelihood of finding the particle at a given instant and at a given position inside the wave packet.</a:t>
            </a:r>
          </a:p>
          <a:p>
            <a:pPr lvl="0">
              <a:lnSpc>
                <a:spcPct val="150000"/>
              </a:lnSpc>
              <a:buFont typeface="Wingdings" panose="05000000000000000000" pitchFamily="2" charset="2"/>
              <a:buChar char="v"/>
            </a:pPr>
            <a:r>
              <a:rPr lang="en-IN" sz="2400" dirty="0">
                <a:latin typeface="Casper"/>
              </a:rPr>
              <a:t>|ψ(x)| </a:t>
            </a:r>
            <a:r>
              <a:rPr lang="en-IN" sz="2400" baseline="30000" dirty="0">
                <a:latin typeface="Casper"/>
              </a:rPr>
              <a:t>2</a:t>
            </a:r>
            <a:r>
              <a:rPr lang="en-IN" sz="2400" dirty="0">
                <a:latin typeface="Casper"/>
              </a:rPr>
              <a:t> determines the probability (density) that an object in the state ψ(x) will be found at position x.</a:t>
            </a:r>
          </a:p>
          <a:p>
            <a:endParaRPr lang="en-IN" dirty="0"/>
          </a:p>
        </p:txBody>
      </p:sp>
      <p:sp>
        <p:nvSpPr>
          <p:cNvPr id="4" name="Slide Number Placeholder 3">
            <a:extLst>
              <a:ext uri="{FF2B5EF4-FFF2-40B4-BE49-F238E27FC236}">
                <a16:creationId xmlns:a16="http://schemas.microsoft.com/office/drawing/2014/main" id="{98BA29BB-E6B7-4F01-A5C4-D462415F17D1}"/>
              </a:ext>
            </a:extLst>
          </p:cNvPr>
          <p:cNvSpPr>
            <a:spLocks noGrp="1"/>
          </p:cNvSpPr>
          <p:nvPr>
            <p:ph type="sldNum" sz="quarter" idx="12"/>
          </p:nvPr>
        </p:nvSpPr>
        <p:spPr/>
        <p:txBody>
          <a:bodyPr/>
          <a:lstStyle/>
          <a:p>
            <a:fld id="{BDCDBBEF-AA6C-4BA6-85B2-A17D7F280E38}" type="slidenum">
              <a:rPr lang="en-US" smtClean="0"/>
              <a:t>8</a:t>
            </a:fld>
            <a:endParaRPr lang="en-US"/>
          </a:p>
        </p:txBody>
      </p:sp>
      <p:sp>
        <p:nvSpPr>
          <p:cNvPr id="5" name="Title 1">
            <a:extLst>
              <a:ext uri="{FF2B5EF4-FFF2-40B4-BE49-F238E27FC236}">
                <a16:creationId xmlns:a16="http://schemas.microsoft.com/office/drawing/2014/main" id="{BF6EDBDC-1E01-4CAF-961D-3203DFB32B02}"/>
              </a:ext>
            </a:extLst>
          </p:cNvPr>
          <p:cNvSpPr>
            <a:spLocks noGrp="1"/>
          </p:cNvSpPr>
          <p:nvPr>
            <p:ph type="title"/>
          </p:nvPr>
        </p:nvSpPr>
        <p:spPr>
          <a:xfrm>
            <a:off x="838200" y="365125"/>
            <a:ext cx="10515600" cy="1325563"/>
          </a:xfrm>
          <a:ln>
            <a:solidFill>
              <a:srgbClr val="C00000"/>
            </a:solidFill>
          </a:ln>
        </p:spPr>
        <p:txBody>
          <a:bodyPr/>
          <a:lstStyle/>
          <a:p>
            <a:pPr algn="ctr"/>
            <a:r>
              <a:rPr lang="en-IN" b="1" dirty="0">
                <a:latin typeface="Casper"/>
              </a:rPr>
              <a:t>Wave function </a:t>
            </a:r>
            <a:br>
              <a:rPr lang="en-IN" dirty="0"/>
            </a:br>
            <a:endParaRPr lang="en-IN" dirty="0"/>
          </a:p>
        </p:txBody>
      </p:sp>
    </p:spTree>
    <p:extLst>
      <p:ext uri="{BB962C8B-B14F-4D97-AF65-F5344CB8AC3E}">
        <p14:creationId xmlns:p14="http://schemas.microsoft.com/office/powerpoint/2010/main" val="36603625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8E812-94F9-4C4A-BD8C-C3ADF9627002}"/>
              </a:ext>
            </a:extLst>
          </p:cNvPr>
          <p:cNvSpPr>
            <a:spLocks noGrp="1"/>
          </p:cNvSpPr>
          <p:nvPr>
            <p:ph type="title"/>
          </p:nvPr>
        </p:nvSpPr>
        <p:spPr>
          <a:xfrm>
            <a:off x="838200" y="1"/>
            <a:ext cx="10515600" cy="1690688"/>
          </a:xfrm>
          <a:ln>
            <a:solidFill>
              <a:srgbClr val="C00000"/>
            </a:solidFill>
          </a:ln>
        </p:spPr>
        <p:txBody>
          <a:bodyPr>
            <a:normAutofit fontScale="90000"/>
          </a:bodyPr>
          <a:lstStyle/>
          <a:p>
            <a:pPr algn="ctr"/>
            <a:br>
              <a:rPr lang="en-IN" b="1" dirty="0">
                <a:latin typeface="Casper"/>
              </a:rPr>
            </a:br>
            <a:r>
              <a:rPr lang="en-IN" b="1" dirty="0">
                <a:latin typeface="Casper"/>
              </a:rPr>
              <a:t>PHYSICAL SIGNIFICANCE OF WAVE FUNCTION</a:t>
            </a:r>
            <a:br>
              <a:rPr lang="en-IN" dirty="0"/>
            </a:br>
            <a:endParaRPr lang="en-IN" dirty="0"/>
          </a:p>
        </p:txBody>
      </p:sp>
      <p:sp>
        <p:nvSpPr>
          <p:cNvPr id="3" name="Content Placeholder 2">
            <a:extLst>
              <a:ext uri="{FF2B5EF4-FFF2-40B4-BE49-F238E27FC236}">
                <a16:creationId xmlns:a16="http://schemas.microsoft.com/office/drawing/2014/main" id="{4C9241BD-3A5E-470A-A9B7-C7D61EBFCE8A}"/>
              </a:ext>
            </a:extLst>
          </p:cNvPr>
          <p:cNvSpPr>
            <a:spLocks noGrp="1"/>
          </p:cNvSpPr>
          <p:nvPr>
            <p:ph idx="1"/>
          </p:nvPr>
        </p:nvSpPr>
        <p:spPr>
          <a:xfrm>
            <a:off x="838200" y="1825625"/>
            <a:ext cx="10515600" cy="4667250"/>
          </a:xfrm>
          <a:ln>
            <a:solidFill>
              <a:schemeClr val="accent1"/>
            </a:solidFill>
          </a:ln>
        </p:spPr>
        <p:txBody>
          <a:bodyPr>
            <a:normAutofit lnSpcReduction="10000"/>
          </a:bodyPr>
          <a:lstStyle/>
          <a:p>
            <a:pPr lvl="0">
              <a:lnSpc>
                <a:spcPct val="150000"/>
              </a:lnSpc>
              <a:buFont typeface="Wingdings" panose="05000000000000000000" pitchFamily="2" charset="2"/>
              <a:buChar char="v"/>
            </a:pPr>
            <a:r>
              <a:rPr lang="en-IN" sz="2400" dirty="0">
                <a:latin typeface="Casper"/>
              </a:rPr>
              <a:t>In any physical wave if ‘A’ is the amplitude of the wave, then the energy density i.e., energy per unit volume is equal to ‘A</a:t>
            </a:r>
            <a:r>
              <a:rPr lang="en-IN" sz="2400" baseline="30000" dirty="0">
                <a:latin typeface="Casper"/>
              </a:rPr>
              <a:t>2</a:t>
            </a:r>
            <a:r>
              <a:rPr lang="en-IN" sz="2400" dirty="0">
                <a:latin typeface="Casper"/>
              </a:rPr>
              <a:t>’</a:t>
            </a:r>
          </a:p>
          <a:p>
            <a:pPr lvl="0">
              <a:lnSpc>
                <a:spcPct val="150000"/>
              </a:lnSpc>
              <a:buFont typeface="Wingdings" panose="05000000000000000000" pitchFamily="2" charset="2"/>
              <a:buChar char="v"/>
            </a:pPr>
            <a:r>
              <a:rPr lang="en-IN" sz="2400" dirty="0">
                <a:latin typeface="Casper"/>
              </a:rPr>
              <a:t>Similar interpretation can be made in case of mater wave also. In matter wave, if ‘Ψ ‘is the wave function of matter waves at any point in space, then the particle density at that point may be taken as proportional to ‘Ψ</a:t>
            </a:r>
            <a:r>
              <a:rPr lang="en-IN" sz="2400" baseline="30000" dirty="0">
                <a:latin typeface="Casper"/>
              </a:rPr>
              <a:t>2</a:t>
            </a:r>
            <a:r>
              <a:rPr lang="en-IN" sz="2400" dirty="0">
                <a:latin typeface="Casper"/>
              </a:rPr>
              <a:t>’.</a:t>
            </a:r>
          </a:p>
          <a:p>
            <a:pPr lvl="0">
              <a:lnSpc>
                <a:spcPct val="150000"/>
              </a:lnSpc>
              <a:buFont typeface="Wingdings" panose="05000000000000000000" pitchFamily="2" charset="2"/>
              <a:buChar char="v"/>
            </a:pPr>
            <a:r>
              <a:rPr lang="en-IN" sz="2400" dirty="0">
                <a:latin typeface="Casper"/>
              </a:rPr>
              <a:t>Thus, Ψ</a:t>
            </a:r>
            <a:r>
              <a:rPr lang="en-IN" sz="2400" baseline="30000" dirty="0">
                <a:latin typeface="Casper"/>
              </a:rPr>
              <a:t>2 </a:t>
            </a:r>
            <a:r>
              <a:rPr lang="en-IN" sz="2400" dirty="0">
                <a:latin typeface="Casper"/>
              </a:rPr>
              <a:t>is a measure of particle density. According to Max Born Ψ*Ψ = Ψ</a:t>
            </a:r>
            <a:r>
              <a:rPr lang="en-IN" sz="2400" baseline="30000" dirty="0">
                <a:latin typeface="Casper"/>
              </a:rPr>
              <a:t>2</a:t>
            </a:r>
            <a:r>
              <a:rPr lang="en-IN" sz="2400" dirty="0">
                <a:latin typeface="Casper"/>
              </a:rPr>
              <a:t> gives the probability of finding the particle in the state ‘Ψ’. i.e., ‘Ψ</a:t>
            </a:r>
            <a:r>
              <a:rPr lang="en-IN" sz="2400" baseline="30000" dirty="0">
                <a:latin typeface="Casper"/>
              </a:rPr>
              <a:t>2</a:t>
            </a:r>
            <a:r>
              <a:rPr lang="en-IN" sz="2400" dirty="0">
                <a:latin typeface="Casper"/>
              </a:rPr>
              <a:t>’ is a measure of probability density.</a:t>
            </a:r>
          </a:p>
          <a:p>
            <a:endParaRPr lang="en-IN" dirty="0"/>
          </a:p>
        </p:txBody>
      </p:sp>
      <p:sp>
        <p:nvSpPr>
          <p:cNvPr id="4" name="Slide Number Placeholder 3">
            <a:extLst>
              <a:ext uri="{FF2B5EF4-FFF2-40B4-BE49-F238E27FC236}">
                <a16:creationId xmlns:a16="http://schemas.microsoft.com/office/drawing/2014/main" id="{3834457C-D612-45F5-BE12-4BEF49BD70AB}"/>
              </a:ext>
            </a:extLst>
          </p:cNvPr>
          <p:cNvSpPr>
            <a:spLocks noGrp="1"/>
          </p:cNvSpPr>
          <p:nvPr>
            <p:ph type="sldNum" sz="quarter" idx="12"/>
          </p:nvPr>
        </p:nvSpPr>
        <p:spPr/>
        <p:txBody>
          <a:bodyPr/>
          <a:lstStyle/>
          <a:p>
            <a:fld id="{BDCDBBEF-AA6C-4BA6-85B2-A17D7F280E38}" type="slidenum">
              <a:rPr lang="en-US" smtClean="0"/>
              <a:t>9</a:t>
            </a:fld>
            <a:endParaRPr lang="en-US"/>
          </a:p>
        </p:txBody>
      </p:sp>
    </p:spTree>
    <p:extLst>
      <p:ext uri="{BB962C8B-B14F-4D97-AF65-F5344CB8AC3E}">
        <p14:creationId xmlns:p14="http://schemas.microsoft.com/office/powerpoint/2010/main" val="3131745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742EA45-E18A-4812-A7A8-672A05F5A594}"/>
              </a:ext>
            </a:extLst>
          </p:cNvPr>
          <p:cNvSpPr>
            <a:spLocks noGrp="1"/>
          </p:cNvSpPr>
          <p:nvPr>
            <p:ph idx="1"/>
          </p:nvPr>
        </p:nvSpPr>
        <p:spPr>
          <a:xfrm>
            <a:off x="838200" y="1825625"/>
            <a:ext cx="10618694" cy="4857564"/>
          </a:xfrm>
          <a:ln>
            <a:solidFill>
              <a:schemeClr val="accent1"/>
            </a:solidFill>
          </a:ln>
        </p:spPr>
        <p:txBody>
          <a:bodyPr>
            <a:normAutofit fontScale="77500" lnSpcReduction="20000"/>
          </a:bodyPr>
          <a:lstStyle/>
          <a:p>
            <a:pPr lvl="0">
              <a:lnSpc>
                <a:spcPct val="150000"/>
              </a:lnSpc>
              <a:buFont typeface="Wingdings" panose="05000000000000000000" pitchFamily="2" charset="2"/>
              <a:buChar char="v"/>
            </a:pPr>
            <a:r>
              <a:rPr lang="en-IN" sz="2900" dirty="0">
                <a:latin typeface="Casper"/>
              </a:rPr>
              <a:t>The probability of finding the particle in a volume dv (= dx </a:t>
            </a:r>
            <a:r>
              <a:rPr lang="en-IN" sz="2900" dirty="0" err="1">
                <a:latin typeface="Casper"/>
              </a:rPr>
              <a:t>dy</a:t>
            </a:r>
            <a:r>
              <a:rPr lang="en-IN" sz="2900" dirty="0">
                <a:latin typeface="Casper"/>
              </a:rPr>
              <a:t> </a:t>
            </a:r>
            <a:r>
              <a:rPr lang="en-IN" sz="2900" dirty="0" err="1">
                <a:latin typeface="Casper"/>
              </a:rPr>
              <a:t>dz</a:t>
            </a:r>
            <a:r>
              <a:rPr lang="en-IN" sz="2900" dirty="0">
                <a:latin typeface="Casper"/>
              </a:rPr>
              <a:t>) is given by dv or dx </a:t>
            </a:r>
            <a:r>
              <a:rPr lang="en-IN" sz="2900" dirty="0" err="1">
                <a:latin typeface="Casper"/>
              </a:rPr>
              <a:t>dy</a:t>
            </a:r>
            <a:r>
              <a:rPr lang="en-IN" sz="2900" dirty="0">
                <a:latin typeface="Casper"/>
              </a:rPr>
              <a:t> dz.</a:t>
            </a:r>
          </a:p>
          <a:p>
            <a:pPr lvl="0">
              <a:lnSpc>
                <a:spcPct val="150000"/>
              </a:lnSpc>
              <a:buFont typeface="Wingdings" panose="05000000000000000000" pitchFamily="2" charset="2"/>
              <a:buChar char="v"/>
            </a:pPr>
            <a:r>
              <a:rPr lang="en-IN" sz="2900" dirty="0">
                <a:latin typeface="Casper"/>
              </a:rPr>
              <a:t>Since the particle has to be present somewhere, total probability of finding the particle somewhere is unity i.e., particle is certainly to be found somewhere in space. i.e., ∫ ∫ ∫ </a:t>
            </a:r>
            <a:r>
              <a:rPr lang="en-IN" sz="2900" baseline="30000" dirty="0">
                <a:latin typeface="Casper"/>
              </a:rPr>
              <a:t>+∞ −∞ +∞ </a:t>
            </a:r>
            <a:r>
              <a:rPr lang="en-IN" sz="2900" baseline="-25000" dirty="0">
                <a:latin typeface="Casper"/>
              </a:rPr>
              <a:t>−∞ +∞ −∞</a:t>
            </a:r>
            <a:r>
              <a:rPr lang="en-IN" sz="2900" dirty="0">
                <a:latin typeface="Casper"/>
              </a:rPr>
              <a:t> Ψ </a:t>
            </a:r>
            <a:r>
              <a:rPr lang="en-IN" sz="2900" baseline="30000" dirty="0">
                <a:latin typeface="Casper"/>
              </a:rPr>
              <a:t>2</a:t>
            </a:r>
            <a:r>
              <a:rPr lang="en-IN" sz="2900" dirty="0">
                <a:latin typeface="Casper"/>
              </a:rPr>
              <a:t>dx </a:t>
            </a:r>
            <a:r>
              <a:rPr lang="en-IN" sz="2900" dirty="0" err="1">
                <a:latin typeface="Casper"/>
              </a:rPr>
              <a:t>dy</a:t>
            </a:r>
            <a:r>
              <a:rPr lang="en-IN" sz="2900" dirty="0">
                <a:latin typeface="Casper"/>
              </a:rPr>
              <a:t> </a:t>
            </a:r>
            <a:r>
              <a:rPr lang="en-IN" sz="2900" dirty="0" err="1">
                <a:latin typeface="Casper"/>
              </a:rPr>
              <a:t>dz</a:t>
            </a:r>
            <a:r>
              <a:rPr lang="en-IN" sz="2900" dirty="0">
                <a:latin typeface="Casper"/>
              </a:rPr>
              <a:t> = 1.</a:t>
            </a:r>
          </a:p>
          <a:p>
            <a:pPr>
              <a:lnSpc>
                <a:spcPct val="150000"/>
              </a:lnSpc>
              <a:buFont typeface="Wingdings" panose="05000000000000000000" pitchFamily="2" charset="2"/>
              <a:buChar char="v"/>
            </a:pPr>
            <a:r>
              <a:rPr lang="en-IN" sz="2900" dirty="0">
                <a:latin typeface="Casper"/>
              </a:rPr>
              <a:t>Such condition is called Normalization condition. A wave function which satisfies this condition is known as normalized wave function.</a:t>
            </a:r>
          </a:p>
          <a:p>
            <a:pPr lvl="0">
              <a:lnSpc>
                <a:spcPct val="150000"/>
              </a:lnSpc>
              <a:buFont typeface="Wingdings" panose="05000000000000000000" pitchFamily="2" charset="2"/>
              <a:buChar char="v"/>
            </a:pPr>
            <a:r>
              <a:rPr lang="en-IN" sz="2900" dirty="0">
                <a:latin typeface="Casper"/>
              </a:rPr>
              <a:t>Two wavefunctions that are perpendicular to each other must satisfy the following equation:</a:t>
            </a:r>
          </a:p>
          <a:p>
            <a:pPr marL="0" indent="0" algn="ctr" fontAlgn="base">
              <a:lnSpc>
                <a:spcPct val="150000"/>
              </a:lnSpc>
              <a:buNone/>
            </a:pPr>
            <a:r>
              <a:rPr lang="en-IN" sz="2900" dirty="0">
                <a:latin typeface="Casper"/>
              </a:rPr>
              <a:t>                   ∫ψ1ψ2dx=0</a:t>
            </a:r>
          </a:p>
          <a:p>
            <a:pPr fontAlgn="base">
              <a:lnSpc>
                <a:spcPct val="150000"/>
              </a:lnSpc>
              <a:buFont typeface="Wingdings" panose="05000000000000000000" pitchFamily="2" charset="2"/>
              <a:buChar char="v"/>
            </a:pPr>
            <a:r>
              <a:rPr lang="en-IN" sz="2900" dirty="0">
                <a:latin typeface="Casper"/>
              </a:rPr>
              <a:t>These wave functions are known as orthogonal wave function.</a:t>
            </a:r>
          </a:p>
          <a:p>
            <a:endParaRPr lang="en-IN" dirty="0"/>
          </a:p>
        </p:txBody>
      </p:sp>
      <p:sp>
        <p:nvSpPr>
          <p:cNvPr id="4" name="Slide Number Placeholder 3">
            <a:extLst>
              <a:ext uri="{FF2B5EF4-FFF2-40B4-BE49-F238E27FC236}">
                <a16:creationId xmlns:a16="http://schemas.microsoft.com/office/drawing/2014/main" id="{9012988C-681C-4741-AB17-2F2F3EB56D7F}"/>
              </a:ext>
            </a:extLst>
          </p:cNvPr>
          <p:cNvSpPr>
            <a:spLocks noGrp="1"/>
          </p:cNvSpPr>
          <p:nvPr>
            <p:ph type="sldNum" sz="quarter" idx="12"/>
          </p:nvPr>
        </p:nvSpPr>
        <p:spPr/>
        <p:txBody>
          <a:bodyPr/>
          <a:lstStyle/>
          <a:p>
            <a:fld id="{BDCDBBEF-AA6C-4BA6-85B2-A17D7F280E38}" type="slidenum">
              <a:rPr lang="en-US" smtClean="0"/>
              <a:t>10</a:t>
            </a:fld>
            <a:endParaRPr lang="en-US"/>
          </a:p>
        </p:txBody>
      </p:sp>
      <p:sp>
        <p:nvSpPr>
          <p:cNvPr id="5" name="Title 1">
            <a:extLst>
              <a:ext uri="{FF2B5EF4-FFF2-40B4-BE49-F238E27FC236}">
                <a16:creationId xmlns:a16="http://schemas.microsoft.com/office/drawing/2014/main" id="{C3D9E6BC-36E4-4D96-95E5-32C2F03FE3BC}"/>
              </a:ext>
            </a:extLst>
          </p:cNvPr>
          <p:cNvSpPr>
            <a:spLocks noGrp="1"/>
          </p:cNvSpPr>
          <p:nvPr>
            <p:ph type="title"/>
          </p:nvPr>
        </p:nvSpPr>
        <p:spPr>
          <a:xfrm>
            <a:off x="838200" y="365125"/>
            <a:ext cx="10515600" cy="1325563"/>
          </a:xfrm>
          <a:ln>
            <a:solidFill>
              <a:srgbClr val="C00000"/>
            </a:solidFill>
          </a:ln>
        </p:spPr>
        <p:txBody>
          <a:bodyPr>
            <a:normAutofit fontScale="90000"/>
          </a:bodyPr>
          <a:lstStyle/>
          <a:p>
            <a:pPr algn="ctr"/>
            <a:br>
              <a:rPr lang="en-IN" b="1" dirty="0">
                <a:latin typeface="Casper"/>
              </a:rPr>
            </a:br>
            <a:r>
              <a:rPr lang="en-IN" b="1" dirty="0">
                <a:latin typeface="Casper"/>
              </a:rPr>
              <a:t>PHYSICAL SIGNIFICANCE OF WAVE FUNCTION</a:t>
            </a:r>
            <a:br>
              <a:rPr lang="en-IN" dirty="0"/>
            </a:br>
            <a:endParaRPr lang="en-IN" dirty="0"/>
          </a:p>
        </p:txBody>
      </p:sp>
    </p:spTree>
    <p:extLst>
      <p:ext uri="{BB962C8B-B14F-4D97-AF65-F5344CB8AC3E}">
        <p14:creationId xmlns:p14="http://schemas.microsoft.com/office/powerpoint/2010/main" val="19273811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91C5E0-F67A-4F88-8E4A-DBC85D79BBB7}"/>
              </a:ext>
            </a:extLst>
          </p:cNvPr>
          <p:cNvSpPr>
            <a:spLocks noGrp="1"/>
          </p:cNvSpPr>
          <p:nvPr>
            <p:ph type="title"/>
          </p:nvPr>
        </p:nvSpPr>
        <p:spPr>
          <a:ln>
            <a:solidFill>
              <a:srgbClr val="C00000"/>
            </a:solidFill>
          </a:ln>
        </p:spPr>
        <p:txBody>
          <a:bodyPr/>
          <a:lstStyle/>
          <a:p>
            <a:pPr algn="ctr"/>
            <a:r>
              <a:rPr lang="en-IN" b="1" dirty="0">
                <a:latin typeface="Casper"/>
              </a:rPr>
              <a:t>PROPERTIES OF WAVE FUNCTIONS</a:t>
            </a:r>
            <a:endParaRPr lang="en-IN" dirty="0">
              <a:latin typeface="Casper"/>
            </a:endParaRPr>
          </a:p>
        </p:txBody>
      </p:sp>
      <p:sp>
        <p:nvSpPr>
          <p:cNvPr id="3" name="Content Placeholder 2">
            <a:extLst>
              <a:ext uri="{FF2B5EF4-FFF2-40B4-BE49-F238E27FC236}">
                <a16:creationId xmlns:a16="http://schemas.microsoft.com/office/drawing/2014/main" id="{0132E530-134A-4057-8E74-B8A39834C704}"/>
              </a:ext>
            </a:extLst>
          </p:cNvPr>
          <p:cNvSpPr>
            <a:spLocks noGrp="1"/>
          </p:cNvSpPr>
          <p:nvPr>
            <p:ph idx="1"/>
          </p:nvPr>
        </p:nvSpPr>
        <p:spPr>
          <a:xfrm>
            <a:off x="838200" y="1811337"/>
            <a:ext cx="10645588" cy="4804616"/>
          </a:xfrm>
          <a:ln>
            <a:solidFill>
              <a:schemeClr val="accent1"/>
            </a:solidFill>
          </a:ln>
        </p:spPr>
        <p:txBody>
          <a:bodyPr>
            <a:normAutofit/>
          </a:bodyPr>
          <a:lstStyle/>
          <a:p>
            <a:pPr lvl="0">
              <a:lnSpc>
                <a:spcPct val="150000"/>
              </a:lnSpc>
              <a:buFont typeface="Wingdings" panose="05000000000000000000" pitchFamily="2" charset="2"/>
              <a:buChar char="v"/>
            </a:pPr>
            <a:r>
              <a:rPr lang="en-IN" sz="2400" dirty="0">
                <a:latin typeface="Casper"/>
              </a:rPr>
              <a:t>In order to avoid infinite probabilities, Ψ must be finite for all values of x, y, z. </a:t>
            </a:r>
          </a:p>
          <a:p>
            <a:pPr lvl="0">
              <a:lnSpc>
                <a:spcPct val="150000"/>
              </a:lnSpc>
              <a:buFont typeface="Wingdings" panose="05000000000000000000" pitchFamily="2" charset="2"/>
              <a:buChar char="v"/>
            </a:pPr>
            <a:r>
              <a:rPr lang="en-IN" sz="2400" dirty="0">
                <a:latin typeface="Casper"/>
              </a:rPr>
              <a:t>In order to avoid multiple values of the probability, Ψ must be single valued. i.e., for each set of x, y and z, Ψ must have a unique value. </a:t>
            </a:r>
          </a:p>
          <a:p>
            <a:pPr lvl="0">
              <a:lnSpc>
                <a:spcPct val="150000"/>
              </a:lnSpc>
              <a:buFont typeface="Wingdings" panose="05000000000000000000" pitchFamily="2" charset="2"/>
              <a:buChar char="v"/>
            </a:pPr>
            <a:r>
              <a:rPr lang="en-IN" sz="2400" dirty="0">
                <a:latin typeface="Casper"/>
              </a:rPr>
              <a:t>For finite potentials, Ψ and x, y, z, ∂Ψ/∂x, ∂Ψ/∂y, ∂Ψ/∂z must be continuous in all regions. </a:t>
            </a:r>
          </a:p>
          <a:p>
            <a:pPr lvl="0">
              <a:lnSpc>
                <a:spcPct val="150000"/>
              </a:lnSpc>
              <a:buFont typeface="Wingdings" panose="05000000000000000000" pitchFamily="2" charset="2"/>
              <a:buChar char="v"/>
            </a:pPr>
            <a:r>
              <a:rPr lang="en-IN" sz="2400" dirty="0">
                <a:latin typeface="Casper"/>
              </a:rPr>
              <a:t>In order to normalize the wave function, Ψ must approach to zero as ‘x’ approaches to ± infinity.</a:t>
            </a:r>
          </a:p>
          <a:p>
            <a:endParaRPr lang="en-IN" dirty="0"/>
          </a:p>
        </p:txBody>
      </p:sp>
      <p:sp>
        <p:nvSpPr>
          <p:cNvPr id="4" name="Slide Number Placeholder 3">
            <a:extLst>
              <a:ext uri="{FF2B5EF4-FFF2-40B4-BE49-F238E27FC236}">
                <a16:creationId xmlns:a16="http://schemas.microsoft.com/office/drawing/2014/main" id="{F0E60446-56E5-4043-821C-1ABFFA9BA42A}"/>
              </a:ext>
            </a:extLst>
          </p:cNvPr>
          <p:cNvSpPr>
            <a:spLocks noGrp="1"/>
          </p:cNvSpPr>
          <p:nvPr>
            <p:ph type="sldNum" sz="quarter" idx="12"/>
          </p:nvPr>
        </p:nvSpPr>
        <p:spPr/>
        <p:txBody>
          <a:bodyPr/>
          <a:lstStyle/>
          <a:p>
            <a:fld id="{BDCDBBEF-AA6C-4BA6-85B2-A17D7F280E38}" type="slidenum">
              <a:rPr lang="en-US" smtClean="0"/>
              <a:t>11</a:t>
            </a:fld>
            <a:endParaRPr lang="en-US"/>
          </a:p>
        </p:txBody>
      </p:sp>
    </p:spTree>
    <p:extLst>
      <p:ext uri="{BB962C8B-B14F-4D97-AF65-F5344CB8AC3E}">
        <p14:creationId xmlns:p14="http://schemas.microsoft.com/office/powerpoint/2010/main" val="22882261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3652F-2E37-441C-A7C1-E694855274F5}"/>
              </a:ext>
            </a:extLst>
          </p:cNvPr>
          <p:cNvSpPr>
            <a:spLocks noGrp="1"/>
          </p:cNvSpPr>
          <p:nvPr>
            <p:ph type="title"/>
          </p:nvPr>
        </p:nvSpPr>
        <p:spPr>
          <a:xfrm>
            <a:off x="1310184" y="210142"/>
            <a:ext cx="10043615" cy="1013299"/>
          </a:xfrm>
          <a:solidFill>
            <a:schemeClr val="bg1"/>
          </a:solidFill>
          <a:ln>
            <a:solidFill>
              <a:srgbClr val="C00000"/>
            </a:solidFill>
          </a:ln>
        </p:spPr>
        <p:txBody>
          <a:bodyPr/>
          <a:lstStyle/>
          <a:p>
            <a:pPr algn="ctr"/>
            <a:r>
              <a:rPr lang="en-IN" b="1" dirty="0">
                <a:latin typeface="Casper Bold"/>
              </a:rPr>
              <a:t>SUMMARY</a:t>
            </a:r>
            <a:r>
              <a:rPr lang="en-IN" dirty="0"/>
              <a:t> </a:t>
            </a:r>
          </a:p>
        </p:txBody>
      </p:sp>
      <p:sp>
        <p:nvSpPr>
          <p:cNvPr id="3" name="Content Placeholder 2">
            <a:extLst>
              <a:ext uri="{FF2B5EF4-FFF2-40B4-BE49-F238E27FC236}">
                <a16:creationId xmlns:a16="http://schemas.microsoft.com/office/drawing/2014/main" id="{599689A2-2691-4591-AC85-2ED96D0C6C6B}"/>
              </a:ext>
            </a:extLst>
          </p:cNvPr>
          <p:cNvSpPr>
            <a:spLocks noGrp="1"/>
          </p:cNvSpPr>
          <p:nvPr>
            <p:ph idx="1"/>
          </p:nvPr>
        </p:nvSpPr>
        <p:spPr>
          <a:xfrm>
            <a:off x="838200" y="1715839"/>
            <a:ext cx="10515600" cy="2931317"/>
          </a:xfrm>
          <a:ln>
            <a:solidFill>
              <a:schemeClr val="accent1"/>
            </a:solidFill>
          </a:ln>
        </p:spPr>
        <p:txBody>
          <a:bodyPr>
            <a:normAutofit lnSpcReduction="10000"/>
          </a:bodyPr>
          <a:lstStyle/>
          <a:p>
            <a:pPr lvl="0">
              <a:lnSpc>
                <a:spcPct val="150000"/>
              </a:lnSpc>
              <a:buFont typeface="Wingdings" panose="05000000000000000000" pitchFamily="2" charset="2"/>
              <a:buChar char="v"/>
            </a:pPr>
            <a:r>
              <a:rPr lang="en-IN" sz="2400" dirty="0">
                <a:latin typeface="Casper"/>
              </a:rPr>
              <a:t>The quantity that characterizes the de–Broglie wave or matter wave is called the wave function. </a:t>
            </a:r>
          </a:p>
          <a:p>
            <a:pPr lvl="0">
              <a:lnSpc>
                <a:spcPct val="150000"/>
              </a:lnSpc>
              <a:buFont typeface="Wingdings" panose="05000000000000000000" pitchFamily="2" charset="2"/>
              <a:buChar char="v"/>
            </a:pPr>
            <a:r>
              <a:rPr lang="en-IN" sz="2400" dirty="0">
                <a:latin typeface="Casper"/>
              </a:rPr>
              <a:t>It is usually denoted as Ψ = (x, y, z, t). </a:t>
            </a:r>
          </a:p>
          <a:p>
            <a:pPr lvl="0">
              <a:lnSpc>
                <a:spcPct val="150000"/>
              </a:lnSpc>
              <a:buFont typeface="Wingdings" panose="05000000000000000000" pitchFamily="2" charset="2"/>
              <a:buChar char="v"/>
            </a:pPr>
            <a:r>
              <a:rPr lang="en-IN" sz="2400" dirty="0">
                <a:latin typeface="Casper"/>
              </a:rPr>
              <a:t>|ψ(x)| 2 determines the probability (density) that an object in the state ψ(x) will be found at position x.</a:t>
            </a:r>
          </a:p>
          <a:p>
            <a:endParaRPr lang="en-IN" dirty="0"/>
          </a:p>
        </p:txBody>
      </p:sp>
      <p:sp>
        <p:nvSpPr>
          <p:cNvPr id="4" name="Slide Number Placeholder 3">
            <a:extLst>
              <a:ext uri="{FF2B5EF4-FFF2-40B4-BE49-F238E27FC236}">
                <a16:creationId xmlns:a16="http://schemas.microsoft.com/office/drawing/2014/main" id="{D3EC5110-2117-444B-B483-C03F3375A4AF}"/>
              </a:ext>
            </a:extLst>
          </p:cNvPr>
          <p:cNvSpPr>
            <a:spLocks noGrp="1"/>
          </p:cNvSpPr>
          <p:nvPr>
            <p:ph type="sldNum" sz="quarter" idx="12"/>
          </p:nvPr>
        </p:nvSpPr>
        <p:spPr/>
        <p:txBody>
          <a:bodyPr/>
          <a:lstStyle/>
          <a:p>
            <a:fld id="{BDCDBBEF-AA6C-4BA6-85B2-A17D7F280E38}" type="slidenum">
              <a:rPr lang="en-US" smtClean="0"/>
              <a:t>12</a:t>
            </a:fld>
            <a:endParaRPr lang="en-US"/>
          </a:p>
        </p:txBody>
      </p:sp>
    </p:spTree>
    <p:extLst>
      <p:ext uri="{BB962C8B-B14F-4D97-AF65-F5344CB8AC3E}">
        <p14:creationId xmlns:p14="http://schemas.microsoft.com/office/powerpoint/2010/main" val="18126679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097D8E-8C48-4057-BB98-FF57A21F57FE}"/>
              </a:ext>
            </a:extLst>
          </p:cNvPr>
          <p:cNvSpPr>
            <a:spLocks noGrp="1"/>
          </p:cNvSpPr>
          <p:nvPr>
            <p:ph type="title"/>
          </p:nvPr>
        </p:nvSpPr>
        <p:spPr>
          <a:xfrm>
            <a:off x="1243351" y="67235"/>
            <a:ext cx="10016319" cy="1458305"/>
          </a:xfrm>
          <a:ln>
            <a:solidFill>
              <a:srgbClr val="C00000"/>
            </a:solidFill>
          </a:ln>
        </p:spPr>
        <p:txBody>
          <a:bodyPr/>
          <a:lstStyle/>
          <a:p>
            <a:pPr algn="ctr"/>
            <a:r>
              <a:rPr lang="en-IN" dirty="0"/>
              <a:t>	</a:t>
            </a:r>
            <a:r>
              <a:rPr lang="en-IN" b="1" dirty="0">
                <a:latin typeface="Casper Bold" panose="02000806040000020004"/>
              </a:rPr>
              <a:t>FREQUENTLY ASKED QUESTIONS</a:t>
            </a:r>
          </a:p>
        </p:txBody>
      </p:sp>
      <p:sp>
        <p:nvSpPr>
          <p:cNvPr id="3" name="Content Placeholder 2">
            <a:extLst>
              <a:ext uri="{FF2B5EF4-FFF2-40B4-BE49-F238E27FC236}">
                <a16:creationId xmlns:a16="http://schemas.microsoft.com/office/drawing/2014/main" id="{BE7F128C-CEF3-4F3A-9DD2-A021EC8C00C0}"/>
              </a:ext>
            </a:extLst>
          </p:cNvPr>
          <p:cNvSpPr>
            <a:spLocks noGrp="1"/>
          </p:cNvSpPr>
          <p:nvPr>
            <p:ph idx="1"/>
          </p:nvPr>
        </p:nvSpPr>
        <p:spPr>
          <a:xfrm>
            <a:off x="838200" y="1690688"/>
            <a:ext cx="10515600" cy="4000428"/>
          </a:xfrm>
          <a:ln>
            <a:solidFill>
              <a:schemeClr val="accent1"/>
            </a:solidFill>
          </a:ln>
        </p:spPr>
        <p:txBody>
          <a:bodyPr>
            <a:normAutofit/>
          </a:bodyPr>
          <a:lstStyle/>
          <a:p>
            <a:pPr lvl="0">
              <a:lnSpc>
                <a:spcPct val="150000"/>
              </a:lnSpc>
              <a:buFont typeface="Wingdings" panose="05000000000000000000" pitchFamily="2" charset="2"/>
              <a:buChar char="v"/>
            </a:pPr>
            <a:r>
              <a:rPr lang="en-IN" sz="2400" dirty="0">
                <a:latin typeface="Casper"/>
              </a:rPr>
              <a:t>Enlist the properties of acceptable wave function.</a:t>
            </a:r>
          </a:p>
          <a:p>
            <a:pPr>
              <a:lnSpc>
                <a:spcPct val="150000"/>
              </a:lnSpc>
              <a:buFont typeface="Wingdings" panose="05000000000000000000" pitchFamily="2" charset="2"/>
              <a:buChar char="v"/>
            </a:pPr>
            <a:r>
              <a:rPr lang="en-IN" sz="2400" dirty="0">
                <a:latin typeface="Casper"/>
              </a:rPr>
              <a:t>What you understand by normalised and orthogonal wave function?</a:t>
            </a:r>
          </a:p>
        </p:txBody>
      </p:sp>
      <p:sp>
        <p:nvSpPr>
          <p:cNvPr id="4" name="Slide Number Placeholder 3">
            <a:extLst>
              <a:ext uri="{FF2B5EF4-FFF2-40B4-BE49-F238E27FC236}">
                <a16:creationId xmlns:a16="http://schemas.microsoft.com/office/drawing/2014/main" id="{562ECA2E-87EA-4CA3-8F71-C3B203EC9EB3}"/>
              </a:ext>
            </a:extLst>
          </p:cNvPr>
          <p:cNvSpPr>
            <a:spLocks noGrp="1"/>
          </p:cNvSpPr>
          <p:nvPr>
            <p:ph type="sldNum" sz="quarter" idx="12"/>
          </p:nvPr>
        </p:nvSpPr>
        <p:spPr/>
        <p:txBody>
          <a:bodyPr/>
          <a:lstStyle/>
          <a:p>
            <a:fld id="{BDCDBBEF-AA6C-4BA6-85B2-A17D7F280E38}" type="slidenum">
              <a:rPr lang="en-US" smtClean="0"/>
              <a:t>13</a:t>
            </a:fld>
            <a:endParaRPr lang="en-US"/>
          </a:p>
        </p:txBody>
      </p:sp>
    </p:spTree>
    <p:extLst>
      <p:ext uri="{BB962C8B-B14F-4D97-AF65-F5344CB8AC3E}">
        <p14:creationId xmlns:p14="http://schemas.microsoft.com/office/powerpoint/2010/main" val="2287860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42196" y="360362"/>
            <a:ext cx="9811603" cy="1045358"/>
          </a:xfrm>
          <a:ln>
            <a:solidFill>
              <a:srgbClr val="C00000"/>
            </a:solidFill>
          </a:ln>
        </p:spPr>
        <p:txBody>
          <a:bodyPr/>
          <a:lstStyle/>
          <a:p>
            <a:pPr algn="ctr"/>
            <a:r>
              <a:rPr lang="en-US" b="1" dirty="0">
                <a:latin typeface="Casper Bold" panose="02000806040000020004" pitchFamily="2" charset="0"/>
                <a:cs typeface="Arial" panose="020B0604020202020204" pitchFamily="34" charset="0"/>
              </a:rPr>
              <a:t>REFERENCE-BOOKS</a:t>
            </a:r>
            <a:r>
              <a:rPr lang="en-US" sz="2800" b="1" dirty="0">
                <a:latin typeface="Casper Bold" panose="02000806040000020004" pitchFamily="2" charset="0"/>
                <a:cs typeface="Arial" panose="020B0604020202020204" pitchFamily="34" charset="0"/>
              </a:rPr>
              <a:t> </a:t>
            </a:r>
            <a:r>
              <a:rPr lang="en-US" sz="2800" b="1" dirty="0"/>
              <a:t>  </a:t>
            </a:r>
            <a:endParaRPr lang="en-US" b="1" dirty="0"/>
          </a:p>
        </p:txBody>
      </p:sp>
      <p:sp>
        <p:nvSpPr>
          <p:cNvPr id="3" name="Content Placeholder 2"/>
          <p:cNvSpPr>
            <a:spLocks noGrp="1"/>
          </p:cNvSpPr>
          <p:nvPr>
            <p:ph idx="1"/>
          </p:nvPr>
        </p:nvSpPr>
        <p:spPr>
          <a:xfrm>
            <a:off x="838200" y="1825625"/>
            <a:ext cx="10515600" cy="3397728"/>
          </a:xfrm>
          <a:ln>
            <a:solidFill>
              <a:schemeClr val="accent1"/>
            </a:solidFill>
          </a:ln>
        </p:spPr>
        <p:txBody>
          <a:bodyPr>
            <a:normAutofit/>
          </a:bodyPr>
          <a:lstStyle/>
          <a:p>
            <a:endParaRPr lang="en-IN" sz="1600" dirty="0"/>
          </a:p>
          <a:p>
            <a:pPr lvl="0">
              <a:buFont typeface="Wingdings" panose="05000000000000000000" pitchFamily="2" charset="2"/>
              <a:buChar char="v"/>
            </a:pPr>
            <a:r>
              <a:rPr lang="en-IN" sz="2400" dirty="0"/>
              <a:t>Concepts of Modern Physics, (Fifth Edition) A </a:t>
            </a:r>
            <a:r>
              <a:rPr lang="en-IN" sz="2400" dirty="0" err="1"/>
              <a:t>Beiser</a:t>
            </a:r>
            <a:r>
              <a:rPr lang="en-IN" sz="2400" dirty="0"/>
              <a:t>, McGraw Hill International.</a:t>
            </a:r>
          </a:p>
          <a:p>
            <a:pPr lvl="0">
              <a:buFont typeface="Wingdings" panose="05000000000000000000" pitchFamily="2" charset="2"/>
              <a:buChar char="v"/>
            </a:pPr>
            <a:r>
              <a:rPr lang="en-IN" sz="2400" b="1" dirty="0"/>
              <a:t>T2</a:t>
            </a:r>
            <a:r>
              <a:rPr lang="en-IN" sz="2400" dirty="0"/>
              <a:t>. Fundamentals of Physics, David Halliday, Robert Resnick and </a:t>
            </a:r>
            <a:r>
              <a:rPr lang="en-IN" sz="2400" dirty="0" err="1"/>
              <a:t>Jearl</a:t>
            </a:r>
            <a:r>
              <a:rPr lang="en-IN" sz="2400" dirty="0"/>
              <a:t> Walker, </a:t>
            </a:r>
            <a:r>
              <a:rPr lang="en-IN" sz="2400" dirty="0" err="1"/>
              <a:t>Wileyplus</a:t>
            </a:r>
            <a:r>
              <a:rPr lang="en-IN" sz="2400" dirty="0"/>
              <a:t>.</a:t>
            </a:r>
          </a:p>
          <a:p>
            <a:pPr marL="0" indent="0">
              <a:buNone/>
            </a:pPr>
            <a:endParaRPr lang="en-IN" dirty="0"/>
          </a:p>
          <a:p>
            <a:endParaRPr lang="en-US" sz="1600" dirty="0">
              <a:latin typeface="Casper" panose="02000506000000020004" pitchFamily="2"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t>14</a:t>
            </a:fld>
            <a:endParaRPr lang="en-US"/>
          </a:p>
        </p:txBody>
      </p:sp>
    </p:spTree>
    <p:extLst>
      <p:ext uri="{BB962C8B-B14F-4D97-AF65-F5344CB8AC3E}">
        <p14:creationId xmlns:p14="http://schemas.microsoft.com/office/powerpoint/2010/main" val="33619184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C827E1B-FA72-46A2-BDE3-AD692BA7B1E1}"/>
              </a:ext>
            </a:extLst>
          </p:cNvPr>
          <p:cNvSpPr>
            <a:spLocks noGrp="1"/>
          </p:cNvSpPr>
          <p:nvPr>
            <p:ph idx="1"/>
          </p:nvPr>
        </p:nvSpPr>
        <p:spPr>
          <a:xfrm>
            <a:off x="838200" y="1705366"/>
            <a:ext cx="10515600" cy="4351338"/>
          </a:xfrm>
          <a:ln>
            <a:solidFill>
              <a:schemeClr val="accent1"/>
            </a:solidFill>
          </a:ln>
        </p:spPr>
        <p:txBody>
          <a:bodyPr>
            <a:normAutofit/>
          </a:bodyPr>
          <a:lstStyle/>
          <a:p>
            <a:pPr marL="0" lvl="0" indent="0">
              <a:lnSpc>
                <a:spcPct val="200000"/>
              </a:lnSpc>
              <a:buNone/>
            </a:pPr>
            <a:endParaRPr lang="en-IN" sz="2400" dirty="0">
              <a:latin typeface="Casper"/>
            </a:endParaRPr>
          </a:p>
          <a:p>
            <a:pPr lvl="0">
              <a:lnSpc>
                <a:spcPct val="150000"/>
              </a:lnSpc>
              <a:buFont typeface="Wingdings" panose="05000000000000000000" pitchFamily="2" charset="2"/>
              <a:buChar char="v"/>
            </a:pPr>
            <a:r>
              <a:rPr lang="en-IN" sz="2400" u="sng" dirty="0">
                <a:latin typeface="Casper"/>
                <a:hlinkClick r:id="rId2"/>
              </a:rPr>
              <a:t>https://www.youtube.com/watch?v=OFwskHrtYQ4</a:t>
            </a:r>
            <a:endParaRPr lang="en-IN" sz="2400" dirty="0">
              <a:latin typeface="Casper"/>
            </a:endParaRPr>
          </a:p>
          <a:p>
            <a:pPr lvl="0">
              <a:lnSpc>
                <a:spcPct val="150000"/>
              </a:lnSpc>
              <a:buFont typeface="Wingdings" panose="05000000000000000000" pitchFamily="2" charset="2"/>
              <a:buChar char="v"/>
            </a:pPr>
            <a:r>
              <a:rPr lang="en-IN" sz="2400" u="sng" dirty="0">
                <a:latin typeface="Casper"/>
                <a:hlinkClick r:id="rId3"/>
              </a:rPr>
              <a:t>https://www.youtube.com/watch?v=Ei8CFin00PY</a:t>
            </a:r>
            <a:endParaRPr lang="en-IN" sz="2400" dirty="0">
              <a:latin typeface="Casper"/>
            </a:endParaRPr>
          </a:p>
          <a:p>
            <a:pPr lvl="0">
              <a:lnSpc>
                <a:spcPct val="150000"/>
              </a:lnSpc>
            </a:pPr>
            <a:endParaRPr lang="en-IN" sz="2400" dirty="0">
              <a:latin typeface="Casper"/>
            </a:endParaRPr>
          </a:p>
        </p:txBody>
      </p:sp>
      <p:sp>
        <p:nvSpPr>
          <p:cNvPr id="4" name="Slide Number Placeholder 3">
            <a:extLst>
              <a:ext uri="{FF2B5EF4-FFF2-40B4-BE49-F238E27FC236}">
                <a16:creationId xmlns:a16="http://schemas.microsoft.com/office/drawing/2014/main" id="{66357D08-C8DF-492D-B091-92F7A1070ABD}"/>
              </a:ext>
            </a:extLst>
          </p:cNvPr>
          <p:cNvSpPr>
            <a:spLocks noGrp="1"/>
          </p:cNvSpPr>
          <p:nvPr>
            <p:ph type="sldNum" sz="quarter" idx="12"/>
          </p:nvPr>
        </p:nvSpPr>
        <p:spPr/>
        <p:txBody>
          <a:bodyPr/>
          <a:lstStyle/>
          <a:p>
            <a:fld id="{BDCDBBEF-AA6C-4BA6-85B2-A17D7F280E38}" type="slidenum">
              <a:rPr lang="en-US" smtClean="0"/>
              <a:t>15</a:t>
            </a:fld>
            <a:endParaRPr lang="en-US"/>
          </a:p>
        </p:txBody>
      </p:sp>
      <p:sp>
        <p:nvSpPr>
          <p:cNvPr id="5" name="Title 1">
            <a:extLst>
              <a:ext uri="{FF2B5EF4-FFF2-40B4-BE49-F238E27FC236}">
                <a16:creationId xmlns:a16="http://schemas.microsoft.com/office/drawing/2014/main" id="{0911A6BF-63EE-4BCE-8A53-0B0D2D5CC541}"/>
              </a:ext>
            </a:extLst>
          </p:cNvPr>
          <p:cNvSpPr>
            <a:spLocks noGrp="1"/>
          </p:cNvSpPr>
          <p:nvPr>
            <p:ph type="title"/>
          </p:nvPr>
        </p:nvSpPr>
        <p:spPr>
          <a:xfrm>
            <a:off x="1542196" y="360362"/>
            <a:ext cx="9811603" cy="1045358"/>
          </a:xfrm>
          <a:ln>
            <a:solidFill>
              <a:srgbClr val="C00000"/>
            </a:solidFill>
          </a:ln>
        </p:spPr>
        <p:txBody>
          <a:bodyPr/>
          <a:lstStyle/>
          <a:p>
            <a:pPr algn="ctr"/>
            <a:r>
              <a:rPr lang="en-US" b="1" dirty="0">
                <a:latin typeface="Casper Bold" panose="02000806040000020004" pitchFamily="2" charset="0"/>
                <a:cs typeface="Arial" panose="020B0604020202020204" pitchFamily="34" charset="0"/>
              </a:rPr>
              <a:t>REFERENCE</a:t>
            </a:r>
            <a:r>
              <a:rPr lang="en-US" sz="2800" b="1" dirty="0">
                <a:latin typeface="Casper Bold" panose="02000806040000020004" pitchFamily="2" charset="0"/>
                <a:cs typeface="Arial" panose="020B0604020202020204" pitchFamily="34" charset="0"/>
              </a:rPr>
              <a:t> -</a:t>
            </a:r>
            <a:r>
              <a:rPr lang="en-US" b="1" dirty="0">
                <a:latin typeface="Casper Bold" panose="02000806040000020004" pitchFamily="2" charset="0"/>
                <a:cs typeface="Arial" panose="020B0604020202020204" pitchFamily="34" charset="0"/>
              </a:rPr>
              <a:t>VIDEOS</a:t>
            </a:r>
            <a:endParaRPr lang="en-US" b="1" dirty="0"/>
          </a:p>
        </p:txBody>
      </p:sp>
    </p:spTree>
    <p:extLst>
      <p:ext uri="{BB962C8B-B14F-4D97-AF65-F5344CB8AC3E}">
        <p14:creationId xmlns:p14="http://schemas.microsoft.com/office/powerpoint/2010/main" val="23241154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36E0C7-352C-473F-9256-1F1E018B260A}"/>
              </a:ext>
            </a:extLst>
          </p:cNvPr>
          <p:cNvSpPr>
            <a:spLocks noGrp="1"/>
          </p:cNvSpPr>
          <p:nvPr>
            <p:ph idx="1"/>
          </p:nvPr>
        </p:nvSpPr>
        <p:spPr>
          <a:xfrm>
            <a:off x="838200" y="1825625"/>
            <a:ext cx="10515600" cy="4017963"/>
          </a:xfrm>
          <a:ln>
            <a:solidFill>
              <a:schemeClr val="accent1"/>
            </a:solidFill>
          </a:ln>
        </p:spPr>
        <p:txBody>
          <a:bodyPr>
            <a:noAutofit/>
          </a:bodyPr>
          <a:lstStyle/>
          <a:p>
            <a:pPr lvl="0">
              <a:lnSpc>
                <a:spcPct val="170000"/>
              </a:lnSpc>
              <a:buFont typeface="Wingdings" panose="05000000000000000000" pitchFamily="2" charset="2"/>
              <a:buChar char="v"/>
            </a:pPr>
            <a:r>
              <a:rPr lang="en-IN" sz="2400" u="sng" dirty="0">
                <a:latin typeface="Casper"/>
                <a:hlinkClick r:id="rId2"/>
              </a:rPr>
              <a:t>https://chemistry.stackexchange.com/questions/40018/orthogonal-wavefunctions</a:t>
            </a:r>
            <a:endParaRPr lang="en-IN" sz="2400" dirty="0">
              <a:latin typeface="Casper"/>
            </a:endParaRPr>
          </a:p>
          <a:p>
            <a:pPr lvl="0">
              <a:lnSpc>
                <a:spcPct val="170000"/>
              </a:lnSpc>
              <a:buFont typeface="Wingdings" panose="05000000000000000000" pitchFamily="2" charset="2"/>
              <a:buChar char="v"/>
            </a:pPr>
            <a:r>
              <a:rPr lang="en-IN" sz="2400" u="sng" dirty="0">
                <a:latin typeface="Casper"/>
                <a:hlinkClick r:id="rId3"/>
              </a:rPr>
              <a:t>https://ocw.mit.edu/courses/physics/8-04-quantum-physics-i-spring-2013/lecture-notes/MIT8_04S13_Lec03.pdf</a:t>
            </a:r>
            <a:endParaRPr lang="en-IN" sz="2400" dirty="0">
              <a:latin typeface="Casper"/>
            </a:endParaRPr>
          </a:p>
          <a:p>
            <a:pPr>
              <a:lnSpc>
                <a:spcPct val="170000"/>
              </a:lnSpc>
              <a:buFont typeface="Wingdings" panose="05000000000000000000" pitchFamily="2" charset="2"/>
              <a:buChar char="v"/>
            </a:pPr>
            <a:r>
              <a:rPr lang="en-IN" sz="2400" u="sng" dirty="0">
                <a:latin typeface="Casper"/>
                <a:hlinkClick r:id="rId4"/>
              </a:rPr>
              <a:t>https://sites.google.com/site/puenggphysics/home/unit-iv/wave-function</a:t>
            </a:r>
            <a:endParaRPr lang="en-US" sz="2400" dirty="0">
              <a:latin typeface="Casper"/>
            </a:endParaRPr>
          </a:p>
        </p:txBody>
      </p:sp>
      <p:sp>
        <p:nvSpPr>
          <p:cNvPr id="4" name="Slide Number Placeholder 3">
            <a:extLst>
              <a:ext uri="{FF2B5EF4-FFF2-40B4-BE49-F238E27FC236}">
                <a16:creationId xmlns:a16="http://schemas.microsoft.com/office/drawing/2014/main" id="{2BAE05B9-2025-41E4-A18B-080BEAAFED43}"/>
              </a:ext>
            </a:extLst>
          </p:cNvPr>
          <p:cNvSpPr>
            <a:spLocks noGrp="1"/>
          </p:cNvSpPr>
          <p:nvPr>
            <p:ph type="sldNum" sz="quarter" idx="12"/>
          </p:nvPr>
        </p:nvSpPr>
        <p:spPr/>
        <p:txBody>
          <a:bodyPr/>
          <a:lstStyle/>
          <a:p>
            <a:fld id="{BDCDBBEF-AA6C-4BA6-85B2-A17D7F280E38}" type="slidenum">
              <a:rPr lang="en-US" smtClean="0"/>
              <a:t>16</a:t>
            </a:fld>
            <a:endParaRPr lang="en-US"/>
          </a:p>
        </p:txBody>
      </p:sp>
      <p:sp>
        <p:nvSpPr>
          <p:cNvPr id="5" name="Title 1">
            <a:extLst>
              <a:ext uri="{FF2B5EF4-FFF2-40B4-BE49-F238E27FC236}">
                <a16:creationId xmlns:a16="http://schemas.microsoft.com/office/drawing/2014/main" id="{B1EFFB61-AD56-4A45-8303-70CEBA364E29}"/>
              </a:ext>
            </a:extLst>
          </p:cNvPr>
          <p:cNvSpPr>
            <a:spLocks noGrp="1"/>
          </p:cNvSpPr>
          <p:nvPr>
            <p:ph type="title"/>
          </p:nvPr>
        </p:nvSpPr>
        <p:spPr>
          <a:xfrm>
            <a:off x="1542196" y="360362"/>
            <a:ext cx="9811603" cy="1045358"/>
          </a:xfrm>
          <a:ln>
            <a:solidFill>
              <a:srgbClr val="C00000"/>
            </a:solidFill>
          </a:ln>
        </p:spPr>
        <p:txBody>
          <a:bodyPr/>
          <a:lstStyle/>
          <a:p>
            <a:pPr algn="ctr"/>
            <a:r>
              <a:rPr lang="en-US" b="1" dirty="0">
                <a:latin typeface="Casper Bold" panose="02000806040000020004" pitchFamily="2" charset="0"/>
                <a:cs typeface="Arial" panose="020B0604020202020204" pitchFamily="34" charset="0"/>
              </a:rPr>
              <a:t>REFERENCE-WEBSITE</a:t>
            </a:r>
            <a:r>
              <a:rPr lang="en-US" sz="2800" dirty="0">
                <a:latin typeface="Casper Bold" panose="02000806040000020004" pitchFamily="2" charset="0"/>
                <a:cs typeface="Arial" panose="020B0604020202020204" pitchFamily="34" charset="0"/>
              </a:rPr>
              <a:t> </a:t>
            </a:r>
            <a:r>
              <a:rPr lang="en-US" sz="2800" dirty="0"/>
              <a:t>  </a:t>
            </a:r>
            <a:endParaRPr lang="en-US" dirty="0"/>
          </a:p>
        </p:txBody>
      </p:sp>
    </p:spTree>
    <p:extLst>
      <p:ext uri="{BB962C8B-B14F-4D97-AF65-F5344CB8AC3E}">
        <p14:creationId xmlns:p14="http://schemas.microsoft.com/office/powerpoint/2010/main" val="37161117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4059142145"/>
                </p:ext>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0" name=""/>
                        <p:cNvPicPr>
                          <a:picLocks noChangeAspect="1" noChangeArrowheads="1"/>
                        </p:cNvPicPr>
                        <p:nvPr/>
                      </p:nvPicPr>
                      <p:blipFill>
                        <a:blip r:embed="rId3">
                          <a:lum/>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p:spPr>
                    </p:pic>
                  </p:oleObj>
                </mc:Fallback>
              </mc:AlternateContent>
            </a:graphicData>
          </a:graphic>
        </p:graphicFrame>
      </p:grpSp>
      <p:sp>
        <p:nvSpPr>
          <p:cNvPr id="2" name="Rectangle 1"/>
          <p:cNvSpPr/>
          <p:nvPr/>
        </p:nvSpPr>
        <p:spPr>
          <a:xfrm>
            <a:off x="4114005" y="5394447"/>
            <a:ext cx="3291350" cy="646331"/>
          </a:xfrm>
          <a:prstGeom prst="rect">
            <a:avLst/>
          </a:prstGeom>
        </p:spPr>
        <p:txBody>
          <a:bodyPr wrap="none">
            <a:spAutoFit/>
          </a:bodyPr>
          <a:lstStyle/>
          <a:p>
            <a:r>
              <a:rPr lang="en-US" dirty="0">
                <a:latin typeface="Casper" panose="02000506000000020004" pitchFamily="2" charset="0"/>
                <a:ea typeface="Segoe UI" panose="020B0502040204020203" pitchFamily="34" charset="0"/>
                <a:cs typeface="Segoe UI" panose="020B0502040204020203" pitchFamily="34" charset="0"/>
              </a:rPr>
              <a:t>For queries</a:t>
            </a:r>
          </a:p>
          <a:p>
            <a:r>
              <a:rPr lang="en-US" dirty="0">
                <a:latin typeface="Casper" panose="02000506000000020004" pitchFamily="2" charset="0"/>
                <a:cs typeface="Segoe UI" panose="020B0502040204020203" pitchFamily="34" charset="0"/>
              </a:rPr>
              <a:t>Email: arminder.uis@cumail.in</a:t>
            </a:r>
            <a:endParaRPr lang="en-US" dirty="0"/>
          </a:p>
        </p:txBody>
      </p:sp>
    </p:spTree>
    <p:extLst>
      <p:ext uri="{BB962C8B-B14F-4D97-AF65-F5344CB8AC3E}">
        <p14:creationId xmlns:p14="http://schemas.microsoft.com/office/powerpoint/2010/main" val="265650126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1662</TotalTime>
  <Words>1105</Words>
  <Application>Microsoft Office PowerPoint</Application>
  <PresentationFormat>Widescreen</PresentationFormat>
  <Paragraphs>117</Paragraphs>
  <Slides>17</Slides>
  <Notes>0</Notes>
  <HiddenSlides>0</HiddenSlides>
  <MMClips>0</MMClips>
  <ScaleCrop>false</ScaleCrop>
  <HeadingPairs>
    <vt:vector size="8" baseType="variant">
      <vt:variant>
        <vt:lpstr>Fonts Used</vt:lpstr>
      </vt:variant>
      <vt:variant>
        <vt:i4>9</vt:i4>
      </vt:variant>
      <vt:variant>
        <vt:lpstr>Theme</vt:lpstr>
      </vt:variant>
      <vt:variant>
        <vt:i4>2</vt:i4>
      </vt:variant>
      <vt:variant>
        <vt:lpstr>Embedded OLE Servers</vt:lpstr>
      </vt:variant>
      <vt:variant>
        <vt:i4>1</vt:i4>
      </vt:variant>
      <vt:variant>
        <vt:lpstr>Slide Titles</vt:lpstr>
      </vt:variant>
      <vt:variant>
        <vt:i4>17</vt:i4>
      </vt:variant>
    </vt:vector>
  </HeadingPairs>
  <TitlesOfParts>
    <vt:vector size="29" baseType="lpstr">
      <vt:lpstr>Arial</vt:lpstr>
      <vt:lpstr>Arial Black</vt:lpstr>
      <vt:lpstr>Calibri</vt:lpstr>
      <vt:lpstr>Calibri Light</vt:lpstr>
      <vt:lpstr>Casper</vt:lpstr>
      <vt:lpstr>Casper Bold</vt:lpstr>
      <vt:lpstr>Raleway ExtraBold</vt:lpstr>
      <vt:lpstr>Times New Roman</vt:lpstr>
      <vt:lpstr>Wingdings</vt:lpstr>
      <vt:lpstr>1_Office Theme</vt:lpstr>
      <vt:lpstr>Contents Slide Master</vt:lpstr>
      <vt:lpstr>CorelDRAW</vt:lpstr>
      <vt:lpstr>PowerPoint Presentation</vt:lpstr>
      <vt:lpstr>PowerPoint Presentation</vt:lpstr>
      <vt:lpstr>PowerPoint Presentation</vt:lpstr>
      <vt:lpstr>PowerPoint Presentation</vt:lpstr>
      <vt:lpstr>LECTURE OBJECTIVE</vt:lpstr>
      <vt:lpstr> CONTENT</vt:lpstr>
      <vt:lpstr>Wave function  </vt:lpstr>
      <vt:lpstr>Wave function  </vt:lpstr>
      <vt:lpstr> PHYSICAL SIGNIFICANCE OF WAVE FUNCTION </vt:lpstr>
      <vt:lpstr> PHYSICAL SIGNIFICANCE OF WAVE FUNCTION </vt:lpstr>
      <vt:lpstr>PROPERTIES OF WAVE FUNCTIONS</vt:lpstr>
      <vt:lpstr>SUMMARY </vt:lpstr>
      <vt:lpstr> FREQUENTLY ASKED QUESTIONS</vt:lpstr>
      <vt:lpstr>REFERENCE-BOOKS   </vt:lpstr>
      <vt:lpstr>REFERENCE -VIDEOS</vt:lpstr>
      <vt:lpstr>REFERENCE-WEBSITE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Indu Gupta</cp:lastModifiedBy>
  <cp:revision>122</cp:revision>
  <dcterms:created xsi:type="dcterms:W3CDTF">2019-01-09T10:33:58Z</dcterms:created>
  <dcterms:modified xsi:type="dcterms:W3CDTF">2023-06-15T15:54:06Z</dcterms:modified>
</cp:coreProperties>
</file>