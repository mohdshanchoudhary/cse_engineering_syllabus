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2"/>
  </p:notesMasterIdLst>
  <p:handoutMasterIdLst>
    <p:handoutMasterId r:id="rId23"/>
  </p:handoutMasterIdLst>
  <p:sldIdLst>
    <p:sldId id="277" r:id="rId3"/>
    <p:sldId id="265" r:id="rId4"/>
    <p:sldId id="377" r:id="rId5"/>
    <p:sldId id="295" r:id="rId6"/>
    <p:sldId id="281" r:id="rId7"/>
    <p:sldId id="291" r:id="rId8"/>
    <p:sldId id="494" r:id="rId9"/>
    <p:sldId id="493" r:id="rId10"/>
    <p:sldId id="495" r:id="rId11"/>
    <p:sldId id="496" r:id="rId12"/>
    <p:sldId id="497" r:id="rId13"/>
    <p:sldId id="498" r:id="rId14"/>
    <p:sldId id="499" r:id="rId15"/>
    <p:sldId id="500" r:id="rId16"/>
    <p:sldId id="383" r:id="rId17"/>
    <p:sldId id="384" r:id="rId18"/>
    <p:sldId id="284" r:id="rId19"/>
    <p:sldId id="385" r:id="rId20"/>
    <p:sldId id="27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minder kaur" initials="ak" lastIdx="20" clrIdx="0">
    <p:extLst>
      <p:ext uri="{19B8F6BF-5375-455C-9EA6-DF929625EA0E}">
        <p15:presenceInfo xmlns:p15="http://schemas.microsoft.com/office/powerpoint/2012/main" userId="a22e12bbabfcda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14" autoAdjust="0"/>
    <p:restoredTop sz="94394" autoAdjust="0"/>
  </p:normalViewPr>
  <p:slideViewPr>
    <p:cSldViewPr snapToGrid="0">
      <p:cViewPr varScale="1">
        <p:scale>
          <a:sx n="66" d="100"/>
          <a:sy n="66" d="100"/>
        </p:scale>
        <p:origin x="672"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1.jfif"/><Relationship Id="rId2" Type="http://schemas.openxmlformats.org/officeDocument/2006/relationships/image" Target="../media/image10.jfif"/><Relationship Id="rId1" Type="http://schemas.openxmlformats.org/officeDocument/2006/relationships/image" Target="../media/image9.jfif"/></Relationships>
</file>

<file path=ppt/diagrams/_rels/drawing1.xml.rels><?xml version="1.0" encoding="UTF-8" standalone="yes"?>
<Relationships xmlns="http://schemas.openxmlformats.org/package/2006/relationships"><Relationship Id="rId3" Type="http://schemas.openxmlformats.org/officeDocument/2006/relationships/image" Target="../media/image11.jfif"/><Relationship Id="rId2" Type="http://schemas.openxmlformats.org/officeDocument/2006/relationships/image" Target="../media/image10.jfif"/><Relationship Id="rId1" Type="http://schemas.openxmlformats.org/officeDocument/2006/relationships/image" Target="../media/image9.jfif"/></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654A98-D1FE-4D52-AC40-FC2940D83D90}" type="doc">
      <dgm:prSet loTypeId="urn:microsoft.com/office/officeart/2005/8/layout/hList7" loCatId="list" qsTypeId="urn:microsoft.com/office/officeart/2005/8/quickstyle/simple3" qsCatId="simple" csTypeId="urn:microsoft.com/office/officeart/2005/8/colors/colorful1" csCatId="colorful" phldr="1"/>
      <dgm:spPr/>
      <dgm:t>
        <a:bodyPr/>
        <a:lstStyle/>
        <a:p>
          <a:endParaRPr lang="en-IN"/>
        </a:p>
      </dgm:t>
    </dgm:pt>
    <dgm:pt modelId="{EB8A354C-F3C7-454B-83E5-47C0AFE4BA9B}">
      <dgm:prSet phldrT="[Text]" custT="1"/>
      <dgm:spPr/>
      <dgm:t>
        <a:bodyPr/>
        <a:lstStyle/>
        <a:p>
          <a:pPr algn="just"/>
          <a:r>
            <a:rPr lang="en-IN" sz="2400" dirty="0">
              <a:latin typeface="+mn-lt"/>
              <a:cs typeface="Times New Roman" panose="02020603050405020304" pitchFamily="18" charset="0"/>
            </a:rPr>
            <a:t>Students will learn about quantum computing.</a:t>
          </a:r>
        </a:p>
      </dgm:t>
    </dgm:pt>
    <dgm:pt modelId="{855DF5E0-6DD9-47D1-85C1-71E7C93C7938}" type="parTrans" cxnId="{1F8DC843-A980-4671-A488-C56D7E2A0332}">
      <dgm:prSet/>
      <dgm:spPr/>
      <dgm:t>
        <a:bodyPr/>
        <a:lstStyle/>
        <a:p>
          <a:endParaRPr lang="en-IN"/>
        </a:p>
      </dgm:t>
    </dgm:pt>
    <dgm:pt modelId="{50DA53F4-7CD0-42FA-8C47-6937EC0C788A}" type="sibTrans" cxnId="{1F8DC843-A980-4671-A488-C56D7E2A0332}">
      <dgm:prSet/>
      <dgm:spPr/>
      <dgm:t>
        <a:bodyPr/>
        <a:lstStyle/>
        <a:p>
          <a:endParaRPr lang="en-IN"/>
        </a:p>
      </dgm:t>
    </dgm:pt>
    <dgm:pt modelId="{6D978731-264F-4D48-A49B-A558474EE7D8}">
      <dgm:prSet phldrT="[Text]" custT="1"/>
      <dgm:spPr/>
      <dgm:t>
        <a:bodyPr/>
        <a:lstStyle/>
        <a:p>
          <a:pPr algn="just"/>
          <a:r>
            <a:rPr lang="en-IN" sz="2400" dirty="0">
              <a:latin typeface="+mn-lt"/>
              <a:cs typeface="Times New Roman" panose="02020603050405020304" pitchFamily="18" charset="0"/>
            </a:rPr>
            <a:t>Students will understand how quantum computing developed.</a:t>
          </a:r>
        </a:p>
      </dgm:t>
    </dgm:pt>
    <dgm:pt modelId="{1303F81F-D0B2-40BD-8EE0-E03135E9309A}" type="parTrans" cxnId="{9F5C091B-72EC-40AD-8C58-AB1B32E39C39}">
      <dgm:prSet/>
      <dgm:spPr/>
      <dgm:t>
        <a:bodyPr/>
        <a:lstStyle/>
        <a:p>
          <a:endParaRPr lang="en-IN"/>
        </a:p>
      </dgm:t>
    </dgm:pt>
    <dgm:pt modelId="{E615A6AB-D553-414A-AF92-F290BC3F199A}" type="sibTrans" cxnId="{9F5C091B-72EC-40AD-8C58-AB1B32E39C39}">
      <dgm:prSet/>
      <dgm:spPr/>
      <dgm:t>
        <a:bodyPr/>
        <a:lstStyle/>
        <a:p>
          <a:endParaRPr lang="en-IN"/>
        </a:p>
      </dgm:t>
    </dgm:pt>
    <dgm:pt modelId="{FF9B39E7-F148-497F-8E27-B07B0EA561CD}">
      <dgm:prSet phldrT="[Text]" custT="1"/>
      <dgm:spPr/>
      <dgm:t>
        <a:bodyPr/>
        <a:lstStyle/>
        <a:p>
          <a:pPr algn="just"/>
          <a:r>
            <a:rPr lang="en-IN" sz="2400" dirty="0">
              <a:latin typeface="+mn-lt"/>
              <a:cs typeface="Times New Roman" panose="02020603050405020304" pitchFamily="18" charset="0"/>
            </a:rPr>
            <a:t>Students will learn future prospect of quantum computing.</a:t>
          </a:r>
        </a:p>
      </dgm:t>
    </dgm:pt>
    <dgm:pt modelId="{F606E620-6C7D-4583-BC51-2DA4AAB6BBC6}" type="parTrans" cxnId="{783D770D-A246-4A80-B5AA-3B108B54D3CD}">
      <dgm:prSet/>
      <dgm:spPr/>
      <dgm:t>
        <a:bodyPr/>
        <a:lstStyle/>
        <a:p>
          <a:endParaRPr lang="en-IN"/>
        </a:p>
      </dgm:t>
    </dgm:pt>
    <dgm:pt modelId="{93D5ABFB-C6E8-4E92-BE50-246FE07E8EE5}" type="sibTrans" cxnId="{783D770D-A246-4A80-B5AA-3B108B54D3CD}">
      <dgm:prSet/>
      <dgm:spPr/>
      <dgm:t>
        <a:bodyPr/>
        <a:lstStyle/>
        <a:p>
          <a:endParaRPr lang="en-IN"/>
        </a:p>
      </dgm:t>
    </dgm:pt>
    <dgm:pt modelId="{E28E89FF-891B-4BC0-AF5B-351B44FE9A5A}" type="pres">
      <dgm:prSet presAssocID="{39654A98-D1FE-4D52-AC40-FC2940D83D90}" presName="Name0" presStyleCnt="0">
        <dgm:presLayoutVars>
          <dgm:dir/>
          <dgm:resizeHandles val="exact"/>
        </dgm:presLayoutVars>
      </dgm:prSet>
      <dgm:spPr/>
    </dgm:pt>
    <dgm:pt modelId="{323C8708-EBC8-4346-B9D7-F4F4FED58C31}" type="pres">
      <dgm:prSet presAssocID="{39654A98-D1FE-4D52-AC40-FC2940D83D90}" presName="fgShape" presStyleLbl="fgShp" presStyleIdx="0" presStyleCnt="1"/>
      <dgm:spPr/>
    </dgm:pt>
    <dgm:pt modelId="{068BF970-D871-4BF1-97F3-0BE30617AC82}" type="pres">
      <dgm:prSet presAssocID="{39654A98-D1FE-4D52-AC40-FC2940D83D90}" presName="linComp" presStyleCnt="0"/>
      <dgm:spPr/>
    </dgm:pt>
    <dgm:pt modelId="{E30EBF77-120B-4CD3-A033-94649BE40A66}" type="pres">
      <dgm:prSet presAssocID="{EB8A354C-F3C7-454B-83E5-47C0AFE4BA9B}" presName="compNode" presStyleCnt="0"/>
      <dgm:spPr/>
    </dgm:pt>
    <dgm:pt modelId="{B0625DDC-302A-456C-8B12-57155170D50A}" type="pres">
      <dgm:prSet presAssocID="{EB8A354C-F3C7-454B-83E5-47C0AFE4BA9B}" presName="bkgdShape" presStyleLbl="node1" presStyleIdx="0" presStyleCnt="3"/>
      <dgm:spPr/>
    </dgm:pt>
    <dgm:pt modelId="{AE6D4CE1-C252-41FF-A301-5445162591BD}" type="pres">
      <dgm:prSet presAssocID="{EB8A354C-F3C7-454B-83E5-47C0AFE4BA9B}" presName="nodeTx" presStyleLbl="node1" presStyleIdx="0" presStyleCnt="3">
        <dgm:presLayoutVars>
          <dgm:bulletEnabled val="1"/>
        </dgm:presLayoutVars>
      </dgm:prSet>
      <dgm:spPr/>
    </dgm:pt>
    <dgm:pt modelId="{BE5B8B0C-3C04-4580-B087-168909CA886E}" type="pres">
      <dgm:prSet presAssocID="{EB8A354C-F3C7-454B-83E5-47C0AFE4BA9B}" presName="invisiNode" presStyleLbl="node1" presStyleIdx="0" presStyleCnt="3"/>
      <dgm:spPr/>
    </dgm:pt>
    <dgm:pt modelId="{B103F8D8-76B4-4272-BA94-128B4C2C71A0}" type="pres">
      <dgm:prSet presAssocID="{EB8A354C-F3C7-454B-83E5-47C0AFE4BA9B}" presName="imagNode" presStyleLbl="fgImgPlace1" presStyleIdx="0" presStyleCnt="3" custLinFactNeighborX="-8628" custLinFactNeighborY="-1536"/>
      <dgm:spPr>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dgm:spPr>
    </dgm:pt>
    <dgm:pt modelId="{485E51A4-F0D1-4786-A30C-7A22C6116916}" type="pres">
      <dgm:prSet presAssocID="{50DA53F4-7CD0-42FA-8C47-6937EC0C788A}" presName="sibTrans" presStyleLbl="sibTrans2D1" presStyleIdx="0" presStyleCnt="0"/>
      <dgm:spPr/>
    </dgm:pt>
    <dgm:pt modelId="{365E3586-FE2C-46EC-A4DB-F75C9DC9BE12}" type="pres">
      <dgm:prSet presAssocID="{6D978731-264F-4D48-A49B-A558474EE7D8}" presName="compNode" presStyleCnt="0"/>
      <dgm:spPr/>
    </dgm:pt>
    <dgm:pt modelId="{59466344-34F2-47FE-BE5B-DE4D2D0D235D}" type="pres">
      <dgm:prSet presAssocID="{6D978731-264F-4D48-A49B-A558474EE7D8}" presName="bkgdShape" presStyleLbl="node1" presStyleIdx="1" presStyleCnt="3" custLinFactNeighborX="-1471"/>
      <dgm:spPr/>
    </dgm:pt>
    <dgm:pt modelId="{266A0E14-40CF-4920-A67F-1CCB058A7470}" type="pres">
      <dgm:prSet presAssocID="{6D978731-264F-4D48-A49B-A558474EE7D8}" presName="nodeTx" presStyleLbl="node1" presStyleIdx="1" presStyleCnt="3">
        <dgm:presLayoutVars>
          <dgm:bulletEnabled val="1"/>
        </dgm:presLayoutVars>
      </dgm:prSet>
      <dgm:spPr/>
    </dgm:pt>
    <dgm:pt modelId="{97682022-119D-48E1-AF8F-5229A0350892}" type="pres">
      <dgm:prSet presAssocID="{6D978731-264F-4D48-A49B-A558474EE7D8}" presName="invisiNode" presStyleLbl="node1" presStyleIdx="1" presStyleCnt="3"/>
      <dgm:spPr/>
    </dgm:pt>
    <dgm:pt modelId="{50C2274F-4F2F-4CCF-A2D0-F4FCD0746BCB}" type="pres">
      <dgm:prSet presAssocID="{6D978731-264F-4D48-A49B-A558474EE7D8}" presName="imagNode" presStyleLbl="fgImgPlace1" presStyleIdx="1" presStyleCnt="3" custLinFactNeighborX="-811" custLinFactNeighborY="-1621"/>
      <dgm:spPr>
        <a:blipFill>
          <a:blip xmlns:r="http://schemas.openxmlformats.org/officeDocument/2006/relationships" r:embed="rId2">
            <a:extLst>
              <a:ext uri="{28A0092B-C50C-407E-A947-70E740481C1C}">
                <a14:useLocalDpi xmlns:a14="http://schemas.microsoft.com/office/drawing/2010/main" val="0"/>
              </a:ext>
            </a:extLst>
          </a:blip>
          <a:srcRect/>
          <a:stretch>
            <a:fillRect l="-33000" r="-33000"/>
          </a:stretch>
        </a:blipFill>
      </dgm:spPr>
    </dgm:pt>
    <dgm:pt modelId="{AB002910-53CC-4237-BE47-F9C520C00106}" type="pres">
      <dgm:prSet presAssocID="{E615A6AB-D553-414A-AF92-F290BC3F199A}" presName="sibTrans" presStyleLbl="sibTrans2D1" presStyleIdx="0" presStyleCnt="0"/>
      <dgm:spPr/>
    </dgm:pt>
    <dgm:pt modelId="{BACE84A8-E6D3-41DC-8EAF-DEDCC00F43B5}" type="pres">
      <dgm:prSet presAssocID="{FF9B39E7-F148-497F-8E27-B07B0EA561CD}" presName="compNode" presStyleCnt="0"/>
      <dgm:spPr/>
    </dgm:pt>
    <dgm:pt modelId="{B2B10F68-512F-4683-BEE4-9F8C729BF5C7}" type="pres">
      <dgm:prSet presAssocID="{FF9B39E7-F148-497F-8E27-B07B0EA561CD}" presName="bkgdShape" presStyleLbl="node1" presStyleIdx="2" presStyleCnt="3"/>
      <dgm:spPr/>
    </dgm:pt>
    <dgm:pt modelId="{70C2D766-8FE4-4831-8DBD-FA88F235FC1A}" type="pres">
      <dgm:prSet presAssocID="{FF9B39E7-F148-497F-8E27-B07B0EA561CD}" presName="nodeTx" presStyleLbl="node1" presStyleIdx="2" presStyleCnt="3">
        <dgm:presLayoutVars>
          <dgm:bulletEnabled val="1"/>
        </dgm:presLayoutVars>
      </dgm:prSet>
      <dgm:spPr/>
    </dgm:pt>
    <dgm:pt modelId="{F1727CDB-073A-47B7-B6A4-49E5643CBEF8}" type="pres">
      <dgm:prSet presAssocID="{FF9B39E7-F148-497F-8E27-B07B0EA561CD}" presName="invisiNode" presStyleLbl="node1" presStyleIdx="2" presStyleCnt="3"/>
      <dgm:spPr/>
    </dgm:pt>
    <dgm:pt modelId="{248B46C9-1690-4475-9D9E-0B3167A7796B}" type="pres">
      <dgm:prSet presAssocID="{FF9B39E7-F148-497F-8E27-B07B0EA561CD}" presName="imagNode"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dgm:spPr>
    </dgm:pt>
  </dgm:ptLst>
  <dgm:cxnLst>
    <dgm:cxn modelId="{DE73E20C-5717-44E6-992D-C0510FCBD0E6}" type="presOf" srcId="{FF9B39E7-F148-497F-8E27-B07B0EA561CD}" destId="{B2B10F68-512F-4683-BEE4-9F8C729BF5C7}" srcOrd="0" destOrd="0" presId="urn:microsoft.com/office/officeart/2005/8/layout/hList7"/>
    <dgm:cxn modelId="{783D770D-A246-4A80-B5AA-3B108B54D3CD}" srcId="{39654A98-D1FE-4D52-AC40-FC2940D83D90}" destId="{FF9B39E7-F148-497F-8E27-B07B0EA561CD}" srcOrd="2" destOrd="0" parTransId="{F606E620-6C7D-4583-BC51-2DA4AAB6BBC6}" sibTransId="{93D5ABFB-C6E8-4E92-BE50-246FE07E8EE5}"/>
    <dgm:cxn modelId="{E48C9D19-B22D-493F-BFF0-F531F73A9C79}" type="presOf" srcId="{E615A6AB-D553-414A-AF92-F290BC3F199A}" destId="{AB002910-53CC-4237-BE47-F9C520C00106}" srcOrd="0" destOrd="0" presId="urn:microsoft.com/office/officeart/2005/8/layout/hList7"/>
    <dgm:cxn modelId="{9F5C091B-72EC-40AD-8C58-AB1B32E39C39}" srcId="{39654A98-D1FE-4D52-AC40-FC2940D83D90}" destId="{6D978731-264F-4D48-A49B-A558474EE7D8}" srcOrd="1" destOrd="0" parTransId="{1303F81F-D0B2-40BD-8EE0-E03135E9309A}" sibTransId="{E615A6AB-D553-414A-AF92-F290BC3F199A}"/>
    <dgm:cxn modelId="{2BC2482C-E41C-48D8-8EE1-65F2B17BC8D2}" type="presOf" srcId="{EB8A354C-F3C7-454B-83E5-47C0AFE4BA9B}" destId="{B0625DDC-302A-456C-8B12-57155170D50A}" srcOrd="0" destOrd="0" presId="urn:microsoft.com/office/officeart/2005/8/layout/hList7"/>
    <dgm:cxn modelId="{1F8DC843-A980-4671-A488-C56D7E2A0332}" srcId="{39654A98-D1FE-4D52-AC40-FC2940D83D90}" destId="{EB8A354C-F3C7-454B-83E5-47C0AFE4BA9B}" srcOrd="0" destOrd="0" parTransId="{855DF5E0-6DD9-47D1-85C1-71E7C93C7938}" sibTransId="{50DA53F4-7CD0-42FA-8C47-6937EC0C788A}"/>
    <dgm:cxn modelId="{0F815C45-79BD-4C33-A044-990A498C8101}" type="presOf" srcId="{39654A98-D1FE-4D52-AC40-FC2940D83D90}" destId="{E28E89FF-891B-4BC0-AF5B-351B44FE9A5A}" srcOrd="0" destOrd="0" presId="urn:microsoft.com/office/officeart/2005/8/layout/hList7"/>
    <dgm:cxn modelId="{BB57B1A6-C7BF-4B73-9E9A-07A9A7CAD7C7}" type="presOf" srcId="{50DA53F4-7CD0-42FA-8C47-6937EC0C788A}" destId="{485E51A4-F0D1-4786-A30C-7A22C6116916}" srcOrd="0" destOrd="0" presId="urn:microsoft.com/office/officeart/2005/8/layout/hList7"/>
    <dgm:cxn modelId="{E2E5A6A8-7193-4731-AD9C-755A0977BB7C}" type="presOf" srcId="{EB8A354C-F3C7-454B-83E5-47C0AFE4BA9B}" destId="{AE6D4CE1-C252-41FF-A301-5445162591BD}" srcOrd="1" destOrd="0" presId="urn:microsoft.com/office/officeart/2005/8/layout/hList7"/>
    <dgm:cxn modelId="{3BCF00C3-8E60-4591-A85E-900640FA81D7}" type="presOf" srcId="{6D978731-264F-4D48-A49B-A558474EE7D8}" destId="{59466344-34F2-47FE-BE5B-DE4D2D0D235D}" srcOrd="0" destOrd="0" presId="urn:microsoft.com/office/officeart/2005/8/layout/hList7"/>
    <dgm:cxn modelId="{4A4CC3DF-3995-40FC-9BE0-AAE36A37095C}" type="presOf" srcId="{6D978731-264F-4D48-A49B-A558474EE7D8}" destId="{266A0E14-40CF-4920-A67F-1CCB058A7470}" srcOrd="1" destOrd="0" presId="urn:microsoft.com/office/officeart/2005/8/layout/hList7"/>
    <dgm:cxn modelId="{165587EA-BDB9-41E9-BC3E-F451BF8B049C}" type="presOf" srcId="{FF9B39E7-F148-497F-8E27-B07B0EA561CD}" destId="{70C2D766-8FE4-4831-8DBD-FA88F235FC1A}" srcOrd="1" destOrd="0" presId="urn:microsoft.com/office/officeart/2005/8/layout/hList7"/>
    <dgm:cxn modelId="{67477FD3-D294-4FB0-897E-212966FE5875}" type="presParOf" srcId="{E28E89FF-891B-4BC0-AF5B-351B44FE9A5A}" destId="{323C8708-EBC8-4346-B9D7-F4F4FED58C31}" srcOrd="0" destOrd="0" presId="urn:microsoft.com/office/officeart/2005/8/layout/hList7"/>
    <dgm:cxn modelId="{2717FB1C-E02D-4A02-BADB-7257E06315DA}" type="presParOf" srcId="{E28E89FF-891B-4BC0-AF5B-351B44FE9A5A}" destId="{068BF970-D871-4BF1-97F3-0BE30617AC82}" srcOrd="1" destOrd="0" presId="urn:microsoft.com/office/officeart/2005/8/layout/hList7"/>
    <dgm:cxn modelId="{D9D5E752-39CE-406D-969E-4EBFCD065CC4}" type="presParOf" srcId="{068BF970-D871-4BF1-97F3-0BE30617AC82}" destId="{E30EBF77-120B-4CD3-A033-94649BE40A66}" srcOrd="0" destOrd="0" presId="urn:microsoft.com/office/officeart/2005/8/layout/hList7"/>
    <dgm:cxn modelId="{BFD9AA05-3D8B-4B9B-B4C8-4A90041B7CB2}" type="presParOf" srcId="{E30EBF77-120B-4CD3-A033-94649BE40A66}" destId="{B0625DDC-302A-456C-8B12-57155170D50A}" srcOrd="0" destOrd="0" presId="urn:microsoft.com/office/officeart/2005/8/layout/hList7"/>
    <dgm:cxn modelId="{D45F93B7-0BEB-4D39-8248-3E22A17C536C}" type="presParOf" srcId="{E30EBF77-120B-4CD3-A033-94649BE40A66}" destId="{AE6D4CE1-C252-41FF-A301-5445162591BD}" srcOrd="1" destOrd="0" presId="urn:microsoft.com/office/officeart/2005/8/layout/hList7"/>
    <dgm:cxn modelId="{09686947-27E9-467B-8777-D428A6390A48}" type="presParOf" srcId="{E30EBF77-120B-4CD3-A033-94649BE40A66}" destId="{BE5B8B0C-3C04-4580-B087-168909CA886E}" srcOrd="2" destOrd="0" presId="urn:microsoft.com/office/officeart/2005/8/layout/hList7"/>
    <dgm:cxn modelId="{9B3970F4-676F-4283-B9CD-424E6253C12B}" type="presParOf" srcId="{E30EBF77-120B-4CD3-A033-94649BE40A66}" destId="{B103F8D8-76B4-4272-BA94-128B4C2C71A0}" srcOrd="3" destOrd="0" presId="urn:microsoft.com/office/officeart/2005/8/layout/hList7"/>
    <dgm:cxn modelId="{B637A60B-A4A1-40E8-B7D3-FEB757DB510B}" type="presParOf" srcId="{068BF970-D871-4BF1-97F3-0BE30617AC82}" destId="{485E51A4-F0D1-4786-A30C-7A22C6116916}" srcOrd="1" destOrd="0" presId="urn:microsoft.com/office/officeart/2005/8/layout/hList7"/>
    <dgm:cxn modelId="{18AC45AB-E494-42A0-9E99-559E885FFB72}" type="presParOf" srcId="{068BF970-D871-4BF1-97F3-0BE30617AC82}" destId="{365E3586-FE2C-46EC-A4DB-F75C9DC9BE12}" srcOrd="2" destOrd="0" presId="urn:microsoft.com/office/officeart/2005/8/layout/hList7"/>
    <dgm:cxn modelId="{4904A346-4C63-4389-B751-A13629DDAD04}" type="presParOf" srcId="{365E3586-FE2C-46EC-A4DB-F75C9DC9BE12}" destId="{59466344-34F2-47FE-BE5B-DE4D2D0D235D}" srcOrd="0" destOrd="0" presId="urn:microsoft.com/office/officeart/2005/8/layout/hList7"/>
    <dgm:cxn modelId="{9FFE1498-93E0-4D1A-8C89-04DB22675A8A}" type="presParOf" srcId="{365E3586-FE2C-46EC-A4DB-F75C9DC9BE12}" destId="{266A0E14-40CF-4920-A67F-1CCB058A7470}" srcOrd="1" destOrd="0" presId="urn:microsoft.com/office/officeart/2005/8/layout/hList7"/>
    <dgm:cxn modelId="{6C73281C-CAEB-41E8-8E57-15330238A5B2}" type="presParOf" srcId="{365E3586-FE2C-46EC-A4DB-F75C9DC9BE12}" destId="{97682022-119D-48E1-AF8F-5229A0350892}" srcOrd="2" destOrd="0" presId="urn:microsoft.com/office/officeart/2005/8/layout/hList7"/>
    <dgm:cxn modelId="{6AD04249-2B27-4AE2-8D83-4F66EBB2D964}" type="presParOf" srcId="{365E3586-FE2C-46EC-A4DB-F75C9DC9BE12}" destId="{50C2274F-4F2F-4CCF-A2D0-F4FCD0746BCB}" srcOrd="3" destOrd="0" presId="urn:microsoft.com/office/officeart/2005/8/layout/hList7"/>
    <dgm:cxn modelId="{B8A656EE-474D-4474-9DEC-3D6887BACF2F}" type="presParOf" srcId="{068BF970-D871-4BF1-97F3-0BE30617AC82}" destId="{AB002910-53CC-4237-BE47-F9C520C00106}" srcOrd="3" destOrd="0" presId="urn:microsoft.com/office/officeart/2005/8/layout/hList7"/>
    <dgm:cxn modelId="{8FF8CB7C-BF18-4390-9287-78081FB0981C}" type="presParOf" srcId="{068BF970-D871-4BF1-97F3-0BE30617AC82}" destId="{BACE84A8-E6D3-41DC-8EAF-DEDCC00F43B5}" srcOrd="4" destOrd="0" presId="urn:microsoft.com/office/officeart/2005/8/layout/hList7"/>
    <dgm:cxn modelId="{6F05BC51-1074-47C0-ACAF-75C98FCCB673}" type="presParOf" srcId="{BACE84A8-E6D3-41DC-8EAF-DEDCC00F43B5}" destId="{B2B10F68-512F-4683-BEE4-9F8C729BF5C7}" srcOrd="0" destOrd="0" presId="urn:microsoft.com/office/officeart/2005/8/layout/hList7"/>
    <dgm:cxn modelId="{5A61C906-A570-498D-A74D-045EC46A4A64}" type="presParOf" srcId="{BACE84A8-E6D3-41DC-8EAF-DEDCC00F43B5}" destId="{70C2D766-8FE4-4831-8DBD-FA88F235FC1A}" srcOrd="1" destOrd="0" presId="urn:microsoft.com/office/officeart/2005/8/layout/hList7"/>
    <dgm:cxn modelId="{6FCB74B2-4A64-4494-8D1B-F9CACF3143A4}" type="presParOf" srcId="{BACE84A8-E6D3-41DC-8EAF-DEDCC00F43B5}" destId="{F1727CDB-073A-47B7-B6A4-49E5643CBEF8}" srcOrd="2" destOrd="0" presId="urn:microsoft.com/office/officeart/2005/8/layout/hList7"/>
    <dgm:cxn modelId="{F246C2F4-10E7-4635-AFD6-0947843F9FEB}" type="presParOf" srcId="{BACE84A8-E6D3-41DC-8EAF-DEDCC00F43B5}" destId="{248B46C9-1690-4475-9D9E-0B3167A7796B}"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625DDC-302A-456C-8B12-57155170D50A}">
      <dsp:nvSpPr>
        <dsp:cNvPr id="0" name=""/>
        <dsp:cNvSpPr/>
      </dsp:nvSpPr>
      <dsp:spPr>
        <a:xfrm>
          <a:off x="2077" y="0"/>
          <a:ext cx="3232903" cy="4751995"/>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just" defTabSz="1066800">
            <a:lnSpc>
              <a:spcPct val="90000"/>
            </a:lnSpc>
            <a:spcBef>
              <a:spcPct val="0"/>
            </a:spcBef>
            <a:spcAft>
              <a:spcPct val="35000"/>
            </a:spcAft>
            <a:buNone/>
          </a:pPr>
          <a:r>
            <a:rPr lang="en-IN" sz="2400" kern="1200" dirty="0">
              <a:latin typeface="+mn-lt"/>
              <a:cs typeface="Times New Roman" panose="02020603050405020304" pitchFamily="18" charset="0"/>
            </a:rPr>
            <a:t>Students will learn about quantum computing.</a:t>
          </a:r>
        </a:p>
      </dsp:txBody>
      <dsp:txXfrm>
        <a:off x="2077" y="1900798"/>
        <a:ext cx="3232903" cy="1900798"/>
      </dsp:txXfrm>
    </dsp:sp>
    <dsp:sp modelId="{B103F8D8-76B4-4272-BA94-128B4C2C71A0}">
      <dsp:nvSpPr>
        <dsp:cNvPr id="0" name=""/>
        <dsp:cNvSpPr/>
      </dsp:nvSpPr>
      <dsp:spPr>
        <a:xfrm>
          <a:off x="690791" y="260813"/>
          <a:ext cx="1582414" cy="1582414"/>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59466344-34F2-47FE-BE5B-DE4D2D0D235D}">
      <dsp:nvSpPr>
        <dsp:cNvPr id="0" name=""/>
        <dsp:cNvSpPr/>
      </dsp:nvSpPr>
      <dsp:spPr>
        <a:xfrm>
          <a:off x="3284412" y="0"/>
          <a:ext cx="3232903" cy="4751995"/>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just" defTabSz="1066800">
            <a:lnSpc>
              <a:spcPct val="90000"/>
            </a:lnSpc>
            <a:spcBef>
              <a:spcPct val="0"/>
            </a:spcBef>
            <a:spcAft>
              <a:spcPct val="35000"/>
            </a:spcAft>
            <a:buNone/>
          </a:pPr>
          <a:r>
            <a:rPr lang="en-IN" sz="2400" kern="1200" dirty="0">
              <a:latin typeface="+mn-lt"/>
              <a:cs typeface="Times New Roman" panose="02020603050405020304" pitchFamily="18" charset="0"/>
            </a:rPr>
            <a:t>Students will understand how quantum computing developed.</a:t>
          </a:r>
        </a:p>
      </dsp:txBody>
      <dsp:txXfrm>
        <a:off x="3284412" y="1900798"/>
        <a:ext cx="3232903" cy="1900798"/>
      </dsp:txXfrm>
    </dsp:sp>
    <dsp:sp modelId="{50C2274F-4F2F-4CCF-A2D0-F4FCD0746BCB}">
      <dsp:nvSpPr>
        <dsp:cNvPr id="0" name=""/>
        <dsp:cNvSpPr/>
      </dsp:nvSpPr>
      <dsp:spPr>
        <a:xfrm>
          <a:off x="4144379" y="259468"/>
          <a:ext cx="1582414" cy="1582414"/>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33000" r="-33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B2B10F68-512F-4683-BEE4-9F8C729BF5C7}">
      <dsp:nvSpPr>
        <dsp:cNvPr id="0" name=""/>
        <dsp:cNvSpPr/>
      </dsp:nvSpPr>
      <dsp:spPr>
        <a:xfrm>
          <a:off x="6661858" y="0"/>
          <a:ext cx="3232903" cy="4751995"/>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0688" tIns="170688" rIns="170688" bIns="170688" numCol="1" spcCol="1270" anchor="ctr" anchorCtr="0">
          <a:noAutofit/>
        </a:bodyPr>
        <a:lstStyle/>
        <a:p>
          <a:pPr marL="0" lvl="0" indent="0" algn="just" defTabSz="1066800">
            <a:lnSpc>
              <a:spcPct val="90000"/>
            </a:lnSpc>
            <a:spcBef>
              <a:spcPct val="0"/>
            </a:spcBef>
            <a:spcAft>
              <a:spcPct val="35000"/>
            </a:spcAft>
            <a:buNone/>
          </a:pPr>
          <a:r>
            <a:rPr lang="en-IN" sz="2400" kern="1200" dirty="0">
              <a:latin typeface="+mn-lt"/>
              <a:cs typeface="Times New Roman" panose="02020603050405020304" pitchFamily="18" charset="0"/>
            </a:rPr>
            <a:t>Students will learn future prospect of quantum computing.</a:t>
          </a:r>
        </a:p>
      </dsp:txBody>
      <dsp:txXfrm>
        <a:off x="6661858" y="1900798"/>
        <a:ext cx="3232903" cy="1900798"/>
      </dsp:txXfrm>
    </dsp:sp>
    <dsp:sp modelId="{248B46C9-1690-4475-9D9E-0B3167A7796B}">
      <dsp:nvSpPr>
        <dsp:cNvPr id="0" name=""/>
        <dsp:cNvSpPr/>
      </dsp:nvSpPr>
      <dsp:spPr>
        <a:xfrm>
          <a:off x="7487103" y="285119"/>
          <a:ext cx="1582414" cy="1582414"/>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a:ln w="6350" cap="flat" cmpd="sng" algn="ctr">
          <a:solidFill>
            <a:schemeClr val="lt1">
              <a:hueOff val="0"/>
              <a:satOff val="0"/>
              <a:lumOff val="0"/>
              <a:alphaOff val="0"/>
            </a:schemeClr>
          </a:solidFill>
          <a:prstDash val="solid"/>
          <a:miter lim="800000"/>
        </a:ln>
        <a:effectLst/>
      </dsp:spPr>
      <dsp:style>
        <a:lnRef idx="1">
          <a:scrgbClr r="0" g="0" b="0"/>
        </a:lnRef>
        <a:fillRef idx="1">
          <a:scrgbClr r="0" g="0" b="0"/>
        </a:fillRef>
        <a:effectRef idx="1">
          <a:scrgbClr r="0" g="0" b="0"/>
        </a:effectRef>
        <a:fontRef idx="minor"/>
      </dsp:style>
    </dsp:sp>
    <dsp:sp modelId="{323C8708-EBC8-4346-B9D7-F4F4FED58C31}">
      <dsp:nvSpPr>
        <dsp:cNvPr id="0" name=""/>
        <dsp:cNvSpPr/>
      </dsp:nvSpPr>
      <dsp:spPr>
        <a:xfrm>
          <a:off x="395873" y="3801596"/>
          <a:ext cx="9105092" cy="712799"/>
        </a:xfrm>
        <a:prstGeom prst="leftRightArrow">
          <a:avLst/>
        </a:prstGeom>
        <a:gradFill rotWithShape="0">
          <a:gsLst>
            <a:gs pos="0">
              <a:schemeClr val="accent2">
                <a:tint val="40000"/>
                <a:hueOff val="0"/>
                <a:satOff val="0"/>
                <a:lumOff val="0"/>
                <a:alphaOff val="0"/>
                <a:lumMod val="110000"/>
                <a:satMod val="105000"/>
                <a:tint val="67000"/>
              </a:schemeClr>
            </a:gs>
            <a:gs pos="50000">
              <a:schemeClr val="accent2">
                <a:tint val="40000"/>
                <a:hueOff val="0"/>
                <a:satOff val="0"/>
                <a:lumOff val="0"/>
                <a:alphaOff val="0"/>
                <a:lumMod val="105000"/>
                <a:satMod val="103000"/>
                <a:tint val="73000"/>
              </a:schemeClr>
            </a:gs>
            <a:gs pos="100000">
              <a:schemeClr val="accent2">
                <a:tint val="40000"/>
                <a:hueOff val="0"/>
                <a:satOff val="0"/>
                <a:lumOff val="0"/>
                <a:alphaOff val="0"/>
                <a:lumMod val="105000"/>
                <a:satMod val="109000"/>
                <a:tint val="81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flat" dir="t"/>
        </a:scene3d>
        <a:sp3d prstMaterial="dkEdge">
          <a:bevelT w="8200" h="38100"/>
        </a:sp3d>
      </dsp:spPr>
      <dsp:style>
        <a:lnRef idx="1">
          <a:scrgbClr r="0" g="0" b="0"/>
        </a:lnRef>
        <a:fillRef idx="2">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hyperlink" Target="https://www.merriam-webster.com/dictionary/quantum" TargetMode="External"/><Relationship Id="rId2" Type="http://schemas.openxmlformats.org/officeDocument/2006/relationships/hyperlink" Target="https://www.britannica.com/biography/Richard-Feynman" TargetMode="External"/><Relationship Id="rId1" Type="http://schemas.openxmlformats.org/officeDocument/2006/relationships/slideLayout" Target="../slideLayouts/slideLayout8.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hyperlink" Target="https://www.britannica.com/science/algorithm" TargetMode="External"/><Relationship Id="rId2" Type="http://schemas.openxmlformats.org/officeDocument/2006/relationships/hyperlink" Target="https://www.britannica.com/topic/University-of-Oxford" TargetMode="Externa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s://www.britannica.com/topic/Massachusetts-Institute-of-Technology" TargetMode="External"/><Relationship Id="rId2" Type="http://schemas.openxmlformats.org/officeDocument/2006/relationships/hyperlink" Target="https://www.britannica.com/topic/Los-Alamos-National-Laboratory" TargetMode="External"/><Relationship Id="rId1" Type="http://schemas.openxmlformats.org/officeDocument/2006/relationships/slideLayout" Target="../slideLayouts/slideLayout8.xml"/><Relationship Id="rId6" Type="http://schemas.openxmlformats.org/officeDocument/2006/relationships/hyperlink" Target="https://www.britannica.com/science/spin-atomic-physics" TargetMode="External"/><Relationship Id="rId5" Type="http://schemas.openxmlformats.org/officeDocument/2006/relationships/hyperlink" Target="https://www.britannica.com/science/magnetic-field" TargetMode="External"/><Relationship Id="rId4" Type="http://schemas.openxmlformats.org/officeDocument/2006/relationships/hyperlink" Target="https://www.merriam-webster.com/dictionary/coheren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hyperlink" Target="https://physics.aps.org/articles/v8/87" TargetMode="External"/><Relationship Id="rId7" Type="http://schemas.openxmlformats.org/officeDocument/2006/relationships/hyperlink" Target="https://theconversation.com/a-quantum-computing-future-is-unlikely-due-to-random-hardware-errors-126503" TargetMode="External"/><Relationship Id="rId2" Type="http://schemas.openxmlformats.org/officeDocument/2006/relationships/hyperlink" Target="https://www.theguardian.com/commentisfree/2019/sep/28/google-quantum-computer-internet-security-threat" TargetMode="External"/><Relationship Id="rId1" Type="http://schemas.openxmlformats.org/officeDocument/2006/relationships/slideLayout" Target="../slideLayouts/slideLayout2.xml"/><Relationship Id="rId6" Type="http://schemas.openxmlformats.org/officeDocument/2006/relationships/hyperlink" Target="https://www.sciencedaily.com/releases/2020/04/200423130440.htm" TargetMode="External"/><Relationship Id="rId5" Type="http://schemas.openxmlformats.org/officeDocument/2006/relationships/hyperlink" Target="https://www.princeton.edu/news/2020/01/21/quantum-computing-opening-new-realms-possibilities" TargetMode="External"/><Relationship Id="rId4" Type="http://schemas.openxmlformats.org/officeDocument/2006/relationships/hyperlink" Target="https://www.caltech.edu/about/news/feynmans-nobel-year-48524"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OlatlIaqPj8" TargetMode="External"/><Relationship Id="rId2" Type="http://schemas.openxmlformats.org/officeDocument/2006/relationships/hyperlink" Target="https://www.youtube.com/watch?v=F_Riqjdh2oM" TargetMode="External"/><Relationship Id="rId1" Type="http://schemas.openxmlformats.org/officeDocument/2006/relationships/slideLayout" Target="../slideLayouts/slideLayout2.xml"/><Relationship Id="rId4" Type="http://schemas.openxmlformats.org/officeDocument/2006/relationships/hyperlink" Target="https://www.youtube.com/watch?v=FnPp73F5cnE"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 y="4718027"/>
            <a:ext cx="1219200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771499" y="1117912"/>
            <a:ext cx="8547875" cy="691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DEPARTMENT: ALL ACADEMIC UNITS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Bachelor of Engineering (All Sections)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320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a:latin typeface="Times New Roman" pitchFamily="18" charset="0"/>
                <a:ea typeface="Calibri" panose="020F0502020204030204" pitchFamily="34" charset="0"/>
                <a:cs typeface="Times New Roman" panose="02020603050405020304" pitchFamily="18" charset="0"/>
              </a:rPr>
              <a:t>Prepared </a:t>
            </a:r>
            <a:r>
              <a:rPr lang="en-US" sz="2800" dirty="0">
                <a:latin typeface="Times New Roman" pitchFamily="18" charset="0"/>
                <a:ea typeface="Calibri" panose="020F0502020204030204" pitchFamily="34" charset="0"/>
                <a:cs typeface="Times New Roman" panose="02020603050405020304" pitchFamily="18" charset="0"/>
              </a:rPr>
              <a:t>by: Ms. </a:t>
            </a:r>
            <a:r>
              <a:rPr lang="en-US" sz="2800" dirty="0" err="1">
                <a:latin typeface="Times New Roman" pitchFamily="18" charset="0"/>
                <a:ea typeface="Calibri" panose="020F0502020204030204" pitchFamily="34" charset="0"/>
                <a:cs typeface="Times New Roman" panose="02020603050405020304" pitchFamily="18" charset="0"/>
              </a:rPr>
              <a:t>Arminder</a:t>
            </a:r>
            <a:endParaRPr lang="en-US" sz="2800" dirty="0">
              <a:latin typeface="Times New Roman"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
        <p:nvSpPr>
          <p:cNvPr id="15" name="TextBox 14"/>
          <p:cNvSpPr txBox="1">
            <a:spLocks noChangeArrowheads="1"/>
          </p:cNvSpPr>
          <p:nvPr/>
        </p:nvSpPr>
        <p:spPr bwMode="auto">
          <a:xfrm>
            <a:off x="12104" y="5741722"/>
            <a:ext cx="4912783" cy="1218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UNIT 3</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Introduction to Nanotechnology &amp; Quantum Computing</a:t>
            </a: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359166" y="6356350"/>
            <a:ext cx="223234" cy="365125"/>
          </a:xfrm>
          <a:ln>
            <a:solidFill>
              <a:schemeClr val="accent1"/>
            </a:solidFill>
          </a:ln>
        </p:spPr>
        <p:txBody>
          <a:bodyPr/>
          <a:lstStyle/>
          <a:p>
            <a:fld id="{BDCDBBEF-AA6C-4BA6-85B2-A17D7F280E38}" type="slidenum">
              <a:rPr lang="en-US" smtClean="0"/>
              <a:t>2</a:t>
            </a:fld>
            <a:endParaRPr lang="en-US" dirty="0"/>
          </a:p>
        </p:txBody>
      </p:sp>
      <p:sp>
        <p:nvSpPr>
          <p:cNvPr id="10" name="Oval 9"/>
          <p:cNvSpPr/>
          <p:nvPr/>
        </p:nvSpPr>
        <p:spPr>
          <a:xfrm>
            <a:off x="11217276" y="6324600"/>
            <a:ext cx="444500" cy="42227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96EF3AC-12D8-4376-826F-0CDE220D0DD9}"/>
              </a:ext>
            </a:extLst>
          </p:cNvPr>
          <p:cNvSpPr txBox="1"/>
          <p:nvPr/>
        </p:nvSpPr>
        <p:spPr>
          <a:xfrm>
            <a:off x="1519707" y="200819"/>
            <a:ext cx="10062693" cy="769441"/>
          </a:xfrm>
          <a:prstGeom prst="rect">
            <a:avLst/>
          </a:prstGeom>
          <a:solidFill>
            <a:schemeClr val="bg1"/>
          </a:solidFill>
          <a:ln>
            <a:solidFill>
              <a:srgbClr val="C00000"/>
            </a:solidFill>
          </a:ln>
        </p:spPr>
        <p:txBody>
          <a:bodyPr wrap="square" rtlCol="0">
            <a:spAutoFit/>
          </a:bodyPr>
          <a:lstStyle/>
          <a:p>
            <a:pPr algn="ctr"/>
            <a:r>
              <a:rPr lang="en-IN" sz="4400" b="1" dirty="0">
                <a:latin typeface="Casper Bold"/>
              </a:rPr>
              <a:t>COURSE OBJECTIVES</a:t>
            </a:r>
          </a:p>
        </p:txBody>
      </p:sp>
      <p:sp>
        <p:nvSpPr>
          <p:cNvPr id="7" name="Rectangle 6">
            <a:extLst>
              <a:ext uri="{FF2B5EF4-FFF2-40B4-BE49-F238E27FC236}">
                <a16:creationId xmlns:a16="http://schemas.microsoft.com/office/drawing/2014/main" id="{9E9E0D1A-55C5-463F-89FE-BD77E41FFD1A}"/>
              </a:ext>
            </a:extLst>
          </p:cNvPr>
          <p:cNvSpPr/>
          <p:nvPr/>
        </p:nvSpPr>
        <p:spPr>
          <a:xfrm>
            <a:off x="1210092" y="1837121"/>
            <a:ext cx="10241791" cy="4214231"/>
          </a:xfrm>
          <a:prstGeom prst="rect">
            <a:avLst/>
          </a:prstGeom>
          <a:ln>
            <a:solidFill>
              <a:schemeClr val="accent1"/>
            </a:solidFill>
          </a:ln>
        </p:spPr>
        <p:txBody>
          <a:bodyPr wrap="square">
            <a:spAutoFit/>
          </a:bodyPr>
          <a:lstStyle/>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The course is designed to make the students industry ready to contribute in the growing demand of the industry at local, national and international level.</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make the students competent to understand basic concepts and applications of advanced engineering physics and apply its principles in their respective fields at global platform.</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enhance the skill level of the students and shall make them preferred choice for getting employment in industry and research labs.</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give thorough knowledge of the discipline to enable students to disseminate knowledge in pursuing excellence in academic areas.</a:t>
            </a:r>
          </a:p>
          <a:p>
            <a:pPr marL="342900" marR="38100" lvl="0" indent="-342900" algn="just">
              <a:lnSpc>
                <a:spcPct val="93000"/>
              </a:lnSpc>
              <a:spcAft>
                <a:spcPts val="0"/>
              </a:spcAft>
              <a:buFont typeface="+mj-lt"/>
              <a:buAutoNum type="arabicPeriod"/>
              <a:tabLst>
                <a:tab pos="330200" algn="l"/>
              </a:tabLst>
            </a:pPr>
            <a:endParaRPr lang="en-IN" sz="2400" dirty="0">
              <a:effectLst/>
              <a:latin typeface="Casper" panose="02000506000000020004"/>
              <a:ea typeface="Times New Roman" panose="02020603050405020304" pitchFamily="18" charset="0"/>
            </a:endParaRPr>
          </a:p>
          <a:p>
            <a:pPr marR="38100" lvl="0" algn="just">
              <a:lnSpc>
                <a:spcPct val="93000"/>
              </a:lnSpc>
              <a:spcAft>
                <a:spcPts val="0"/>
              </a:spcAft>
              <a:tabLst>
                <a:tab pos="330200" algn="l"/>
              </a:tabLst>
            </a:pPr>
            <a:endParaRPr lang="en-IN" sz="2400" dirty="0">
              <a:effectLst/>
              <a:latin typeface="Casper" panose="02000506000000020004"/>
              <a:ea typeface="Times New Roman" panose="02020603050405020304" pitchFamily="18" charset="0"/>
            </a:endParaRPr>
          </a:p>
        </p:txBody>
      </p:sp>
    </p:spTree>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3</a:t>
            </a:fld>
            <a:endParaRPr lang="en-US"/>
          </a:p>
        </p:txBody>
      </p:sp>
      <p:sp>
        <p:nvSpPr>
          <p:cNvPr id="8" name="Rectangle 7"/>
          <p:cNvSpPr/>
          <p:nvPr/>
        </p:nvSpPr>
        <p:spPr>
          <a:xfrm>
            <a:off x="2096394" y="256020"/>
            <a:ext cx="8507916" cy="1138773"/>
          </a:xfrm>
          <a:prstGeom prst="rect">
            <a:avLst/>
          </a:prstGeom>
        </p:spPr>
        <p:txBody>
          <a:bodyPr wrap="square">
            <a:spAutoFit/>
          </a:bodyPr>
          <a:lstStyle/>
          <a:p>
            <a:pPr algn="ctr"/>
            <a:r>
              <a:rPr lang="en-US" sz="4400" b="1" dirty="0">
                <a:latin typeface="Casper" panose="02000506000000020004"/>
                <a:cs typeface="Times New Roman" pitchFamily="18" charset="0"/>
              </a:rPr>
              <a:t>COURSE OUTCOME</a:t>
            </a:r>
            <a:endParaRPr lang="en-US" sz="4400" b="1" dirty="0">
              <a:latin typeface="Casper" panose="02000506000000020004"/>
            </a:endParaRPr>
          </a:p>
          <a:p>
            <a:r>
              <a:rPr lang="en-US" sz="2400" b="1" dirty="0">
                <a:latin typeface="Casper" panose="02000506000000020004"/>
              </a:rPr>
              <a:t>       </a:t>
            </a:r>
          </a:p>
        </p:txBody>
      </p:sp>
      <p:pic>
        <p:nvPicPr>
          <p:cNvPr id="9" name="Picture 2"/>
          <p:cNvPicPr>
            <a:picLocks noChangeAspect="1" noChangeArrowheads="1"/>
          </p:cNvPicPr>
          <p:nvPr/>
        </p:nvPicPr>
        <p:blipFill>
          <a:blip r:embed="rId2"/>
          <a:srcRect/>
          <a:stretch>
            <a:fillRect/>
          </a:stretch>
        </p:blipFill>
        <p:spPr bwMode="auto">
          <a:xfrm>
            <a:off x="10795992" y="75716"/>
            <a:ext cx="1115616" cy="461141"/>
          </a:xfrm>
          <a:prstGeom prst="rect">
            <a:avLst/>
          </a:prstGeom>
          <a:noFill/>
          <a:ln w="9525">
            <a:noFill/>
            <a:miter lim="800000"/>
            <a:headEnd/>
            <a:tailEnd/>
          </a:ln>
          <a:effectLst/>
        </p:spPr>
      </p:pic>
      <p:graphicFrame>
        <p:nvGraphicFramePr>
          <p:cNvPr id="10" name="Table 9"/>
          <p:cNvGraphicFramePr>
            <a:graphicFrameLocks noGrp="1"/>
          </p:cNvGraphicFramePr>
          <p:nvPr>
            <p:extLst>
              <p:ext uri="{D42A27DB-BD31-4B8C-83A1-F6EECF244321}">
                <p14:modId xmlns:p14="http://schemas.microsoft.com/office/powerpoint/2010/main" val="3100053235"/>
              </p:ext>
            </p:extLst>
          </p:nvPr>
        </p:nvGraphicFramePr>
        <p:xfrm>
          <a:off x="659589" y="1537699"/>
          <a:ext cx="10694211" cy="4113166"/>
        </p:xfrm>
        <a:graphic>
          <a:graphicData uri="http://schemas.openxmlformats.org/drawingml/2006/table">
            <a:tbl>
              <a:tblPr firstRow="1" firstCol="1" bandRow="1">
                <a:tableStyleId>{5940675A-B579-460E-94D1-54222C63F5DA}</a:tableStyleId>
              </a:tblPr>
              <a:tblGrid>
                <a:gridCol w="824144">
                  <a:extLst>
                    <a:ext uri="{9D8B030D-6E8A-4147-A177-3AD203B41FA5}">
                      <a16:colId xmlns:a16="http://schemas.microsoft.com/office/drawing/2014/main" val="20000"/>
                    </a:ext>
                  </a:extLst>
                </a:gridCol>
                <a:gridCol w="7207549">
                  <a:extLst>
                    <a:ext uri="{9D8B030D-6E8A-4147-A177-3AD203B41FA5}">
                      <a16:colId xmlns:a16="http://schemas.microsoft.com/office/drawing/2014/main" val="20001"/>
                    </a:ext>
                  </a:extLst>
                </a:gridCol>
                <a:gridCol w="2662518">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b="0" dirty="0">
                          <a:effectLst/>
                          <a:latin typeface="Calibri"/>
                          <a:ea typeface="Calibri"/>
                          <a:cs typeface="Calibri"/>
                        </a:rPr>
                        <a:t>Quote the basic fundamental concepts of lasers, optical </a:t>
                      </a:r>
                      <a:r>
                        <a:rPr lang="en-US" sz="1100" b="0" dirty="0" err="1">
                          <a:effectLst/>
                          <a:latin typeface="Calibri"/>
                          <a:ea typeface="Calibri"/>
                          <a:cs typeface="Calibri"/>
                        </a:rPr>
                        <a:t>fibres</a:t>
                      </a:r>
                      <a:r>
                        <a:rPr lang="en-US" sz="1100" b="0" dirty="0">
                          <a:effectLst/>
                          <a:latin typeface="Calibri"/>
                          <a:ea typeface="Calibri"/>
                          <a:cs typeface="Calibri"/>
                        </a:rPr>
                        <a:t>, crystallography, ultrasonic oscillations, semiconductor physics, quantum mechanics and nanotechnology.</a:t>
                      </a:r>
                      <a:endParaRPr lang="en-US" sz="1100" b="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b="0" dirty="0">
                          <a:effectLst/>
                          <a:latin typeface="Calibri"/>
                          <a:ea typeface="Calibri"/>
                          <a:cs typeface="Calibri"/>
                        </a:rPr>
                        <a:t>Demonstrate the working of various lasers, </a:t>
                      </a:r>
                      <a:r>
                        <a:rPr lang="en-US" sz="1100" b="0" dirty="0" err="1">
                          <a:effectLst/>
                          <a:latin typeface="Calibri"/>
                          <a:ea typeface="Calibri"/>
                          <a:cs typeface="Calibri"/>
                        </a:rPr>
                        <a:t>fibre</a:t>
                      </a:r>
                      <a:r>
                        <a:rPr lang="en-US" sz="1100" b="0" dirty="0">
                          <a:effectLst/>
                          <a:latin typeface="Calibri"/>
                          <a:ea typeface="Calibri"/>
                          <a:cs typeface="Calibri"/>
                        </a:rPr>
                        <a:t> components, semiconductor devices; explain the </a:t>
                      </a:r>
                      <a:r>
                        <a:rPr lang="en-US" sz="1100" b="0" dirty="0" err="1">
                          <a:effectLst/>
                          <a:latin typeface="Calibri"/>
                          <a:ea typeface="Calibri"/>
                          <a:cs typeface="Calibri"/>
                        </a:rPr>
                        <a:t>behaviour</a:t>
                      </a:r>
                      <a:r>
                        <a:rPr lang="en-US" sz="1100" b="0" dirty="0">
                          <a:effectLst/>
                          <a:latin typeface="Calibri"/>
                          <a:ea typeface="Calibri"/>
                          <a:cs typeface="Calibri"/>
                        </a:rPr>
                        <a:t> of crystalline solids, quantum and </a:t>
                      </a:r>
                      <a:r>
                        <a:rPr lang="en-US" sz="1100" b="0" dirty="0" err="1">
                          <a:effectLst/>
                          <a:latin typeface="Calibri"/>
                          <a:ea typeface="Calibri"/>
                          <a:cs typeface="Calibri"/>
                        </a:rPr>
                        <a:t>nano</a:t>
                      </a:r>
                      <a:r>
                        <a:rPr lang="en-US" sz="1100" b="0" dirty="0">
                          <a:effectLst/>
                          <a:latin typeface="Calibri"/>
                          <a:ea typeface="Calibri"/>
                          <a:cs typeface="Calibri"/>
                        </a:rPr>
                        <a:t>-scale systems.</a:t>
                      </a:r>
                      <a:endParaRPr lang="en-US" sz="1100" b="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b="0" dirty="0">
                          <a:effectLst/>
                          <a:latin typeface="Calibri"/>
                          <a:ea typeface="Calibri"/>
                          <a:cs typeface="Calibri"/>
                        </a:rPr>
                        <a:t>Solve problems by applying principles related to lasers, </a:t>
                      </a:r>
                      <a:r>
                        <a:rPr lang="en-US" sz="1100" b="0" dirty="0" err="1">
                          <a:effectLst/>
                          <a:latin typeface="Calibri"/>
                          <a:ea typeface="Calibri"/>
                          <a:cs typeface="Calibri"/>
                        </a:rPr>
                        <a:t>fibres</a:t>
                      </a:r>
                      <a:r>
                        <a:rPr lang="en-US" sz="1100" b="0" dirty="0">
                          <a:effectLst/>
                          <a:latin typeface="Calibri"/>
                          <a:ea typeface="Calibri"/>
                          <a:cs typeface="Calibri"/>
                        </a:rPr>
                        <a:t>, semiconductors, oscillations, quantum and </a:t>
                      </a:r>
                      <a:r>
                        <a:rPr lang="en-US" sz="1100" b="0" dirty="0" err="1">
                          <a:effectLst/>
                          <a:latin typeface="Calibri"/>
                          <a:ea typeface="Calibri"/>
                          <a:cs typeface="Calibri"/>
                        </a:rPr>
                        <a:t>nanoscience</a:t>
                      </a:r>
                      <a:r>
                        <a:rPr lang="en-US" sz="1100" b="0" dirty="0">
                          <a:effectLst/>
                          <a:latin typeface="Calibri"/>
                          <a:ea typeface="Calibri"/>
                          <a:cs typeface="Calibri"/>
                        </a:rPr>
                        <a:t>.</a:t>
                      </a:r>
                      <a:endParaRPr lang="en-US" sz="1100" b="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b="0" dirty="0">
                          <a:effectLst/>
                          <a:latin typeface="Calibri"/>
                          <a:ea typeface="Calibri"/>
                          <a:cs typeface="Calibri"/>
                        </a:rPr>
                        <a:t>Compare various lasers and </a:t>
                      </a:r>
                      <a:r>
                        <a:rPr lang="en-US" sz="1100" b="0" dirty="0" err="1">
                          <a:effectLst/>
                          <a:latin typeface="Calibri"/>
                          <a:ea typeface="Calibri"/>
                          <a:cs typeface="Calibri"/>
                        </a:rPr>
                        <a:t>fibres</a:t>
                      </a:r>
                      <a:r>
                        <a:rPr lang="en-US" sz="1100" b="0" dirty="0">
                          <a:effectLst/>
                          <a:latin typeface="Calibri"/>
                          <a:ea typeface="Calibri"/>
                          <a:cs typeface="Calibri"/>
                        </a:rPr>
                        <a:t>, semiconducting devices, crystalline materials, structures at quantum and </a:t>
                      </a:r>
                      <a:r>
                        <a:rPr lang="en-US" sz="1100" b="0" dirty="0" err="1">
                          <a:effectLst/>
                          <a:latin typeface="Calibri"/>
                          <a:ea typeface="Calibri"/>
                          <a:cs typeface="Calibri"/>
                        </a:rPr>
                        <a:t>nanoscale</a:t>
                      </a:r>
                      <a:r>
                        <a:rPr lang="en-US" sz="1100" b="0" dirty="0">
                          <a:effectLst/>
                          <a:latin typeface="Calibri"/>
                          <a:ea typeface="Calibri"/>
                          <a:cs typeface="Calibri"/>
                        </a:rPr>
                        <a:t> on the basis of their properties for industrial applications.</a:t>
                      </a:r>
                      <a:endParaRPr lang="en-US" sz="1100" b="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b="0" dirty="0">
                          <a:effectLst/>
                          <a:latin typeface="Calibri"/>
                          <a:ea typeface="Calibri"/>
                          <a:cs typeface="Calibri"/>
                        </a:rPr>
                        <a:t>Develop various systems using lasers, </a:t>
                      </a:r>
                      <a:r>
                        <a:rPr lang="en-US" sz="1100" b="0" dirty="0" err="1">
                          <a:effectLst/>
                          <a:latin typeface="Calibri"/>
                          <a:ea typeface="Calibri"/>
                          <a:cs typeface="Calibri"/>
                        </a:rPr>
                        <a:t>fibres</a:t>
                      </a:r>
                      <a:r>
                        <a:rPr lang="en-US" sz="1100" b="0" dirty="0">
                          <a:effectLst/>
                          <a:latin typeface="Calibri"/>
                          <a:ea typeface="Calibri"/>
                          <a:cs typeface="Calibri"/>
                        </a:rPr>
                        <a:t>, semiconductors and </a:t>
                      </a:r>
                      <a:r>
                        <a:rPr lang="en-US" sz="1100" b="0" dirty="0" err="1">
                          <a:effectLst/>
                          <a:latin typeface="Calibri"/>
                          <a:ea typeface="Calibri"/>
                          <a:cs typeface="Calibri"/>
                        </a:rPr>
                        <a:t>nanomaterials</a:t>
                      </a:r>
                      <a:r>
                        <a:rPr lang="en-US" sz="1100" b="0" dirty="0">
                          <a:effectLst/>
                          <a:latin typeface="Calibri"/>
                          <a:ea typeface="Calibri"/>
                          <a:cs typeface="Calibri"/>
                        </a:rPr>
                        <a:t> for futuristic applications.</a:t>
                      </a:r>
                      <a:endParaRPr lang="en-US" sz="1100" b="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4601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0BE1E-5618-42FF-A3DC-86E1176236B9}"/>
              </a:ext>
            </a:extLst>
          </p:cNvPr>
          <p:cNvSpPr>
            <a:spLocks noGrp="1"/>
          </p:cNvSpPr>
          <p:nvPr>
            <p:ph type="title"/>
          </p:nvPr>
        </p:nvSpPr>
        <p:spPr>
          <a:xfrm>
            <a:off x="1262130" y="321973"/>
            <a:ext cx="10091670" cy="888642"/>
          </a:xfrm>
          <a:ln>
            <a:solidFill>
              <a:srgbClr val="C00000"/>
            </a:solidFill>
          </a:ln>
        </p:spPr>
        <p:txBody>
          <a:bodyPr anchor="t">
            <a:normAutofit fontScale="90000"/>
          </a:bodyPr>
          <a:lstStyle/>
          <a:p>
            <a:pPr algn="ctr"/>
            <a:r>
              <a:rPr lang="en-IN" sz="4900" b="1" dirty="0">
                <a:latin typeface="+mn-lt"/>
              </a:rPr>
              <a:t>LECTURE OBJECTIVE </a:t>
            </a:r>
            <a:br>
              <a:rPr lang="en-IN" b="1" dirty="0"/>
            </a:br>
            <a:endParaRPr lang="en-IN" b="1" dirty="0"/>
          </a:p>
        </p:txBody>
      </p:sp>
      <p:sp>
        <p:nvSpPr>
          <p:cNvPr id="4" name="Slide Number Placeholder 3">
            <a:extLst>
              <a:ext uri="{FF2B5EF4-FFF2-40B4-BE49-F238E27FC236}">
                <a16:creationId xmlns:a16="http://schemas.microsoft.com/office/drawing/2014/main" id="{914A127A-A5D6-4126-AE36-C5A092704CA9}"/>
              </a:ext>
            </a:extLst>
          </p:cNvPr>
          <p:cNvSpPr>
            <a:spLocks noGrp="1"/>
          </p:cNvSpPr>
          <p:nvPr>
            <p:ph type="sldNum" sz="quarter" idx="12"/>
          </p:nvPr>
        </p:nvSpPr>
        <p:spPr/>
        <p:txBody>
          <a:bodyPr/>
          <a:lstStyle/>
          <a:p>
            <a:fld id="{BDCDBBEF-AA6C-4BA6-85B2-A17D7F280E38}" type="slidenum">
              <a:rPr lang="en-US" smtClean="0"/>
              <a:t>4</a:t>
            </a:fld>
            <a:endParaRPr lang="en-US"/>
          </a:p>
        </p:txBody>
      </p:sp>
      <p:graphicFrame>
        <p:nvGraphicFramePr>
          <p:cNvPr id="7" name="Diagram 6">
            <a:extLst>
              <a:ext uri="{FF2B5EF4-FFF2-40B4-BE49-F238E27FC236}">
                <a16:creationId xmlns:a16="http://schemas.microsoft.com/office/drawing/2014/main" id="{B76B42C9-240B-4A2E-B092-C892DE07F8A6}"/>
              </a:ext>
            </a:extLst>
          </p:cNvPr>
          <p:cNvGraphicFramePr/>
          <p:nvPr>
            <p:extLst>
              <p:ext uri="{D42A27DB-BD31-4B8C-83A1-F6EECF244321}">
                <p14:modId xmlns:p14="http://schemas.microsoft.com/office/powerpoint/2010/main" val="1921787598"/>
              </p:ext>
            </p:extLst>
          </p:nvPr>
        </p:nvGraphicFramePr>
        <p:xfrm>
          <a:off x="1446663" y="1784032"/>
          <a:ext cx="9896840" cy="47519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5713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5</a:t>
            </a:fld>
            <a:endParaRPr lang="en-US" dirty="0"/>
          </a:p>
        </p:txBody>
      </p:sp>
      <p:sp>
        <p:nvSpPr>
          <p:cNvPr id="8" name="Title 7"/>
          <p:cNvSpPr txBox="1">
            <a:spLocks noGrp="1" noChangeArrowheads="1"/>
          </p:cNvSpPr>
          <p:nvPr>
            <p:ph type="title"/>
          </p:nvPr>
        </p:nvSpPr>
        <p:spPr bwMode="auto">
          <a:xfrm>
            <a:off x="228979" y="558376"/>
            <a:ext cx="5063320"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400" b="1" dirty="0">
                <a:effectLst/>
                <a:latin typeface="Times New Roman" panose="02020603050405020304" pitchFamily="18" charset="0"/>
                <a:ea typeface="Calibri" panose="020F0502020204030204" pitchFamily="34" charset="0"/>
                <a:cs typeface="Raavi" panose="020B0502040204020203" pitchFamily="34" charset="0"/>
              </a:rPr>
              <a:t>QUANTUM COMPUTING</a:t>
            </a:r>
            <a:br>
              <a:rPr lang="en-US" sz="1800" dirty="0">
                <a:effectLst/>
                <a:latin typeface="Calibri" panose="020F0502020204030204" pitchFamily="34" charset="0"/>
                <a:ea typeface="Calibri" panose="020F0502020204030204" pitchFamily="34" charset="0"/>
                <a:cs typeface="Raavi" panose="020B0502040204020203" pitchFamily="34" charset="0"/>
              </a:rPr>
            </a:br>
            <a:endParaRPr lang="en-US" sz="4400" b="1"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6477" y="2478902"/>
            <a:ext cx="5457067" cy="3913059"/>
          </a:xfrm>
          <a:prstGeom prst="rect">
            <a:avLst/>
          </a:prstGeom>
          <a:noFill/>
          <a:ln>
            <a:solidFill>
              <a:schemeClr val="tx1"/>
            </a:solidFill>
          </a:ln>
        </p:spPr>
        <p:txBody>
          <a:bodyPr wrap="square" rtlCol="0">
            <a:spAutoFit/>
          </a:bodyPr>
          <a:lstStyle/>
          <a:p>
            <a:pPr algn="just">
              <a:lnSpc>
                <a:spcPct val="150000"/>
              </a:lnSpc>
            </a:pPr>
            <a:r>
              <a:rPr lang="en-IN" sz="2400" dirty="0">
                <a:solidFill>
                  <a:srgbClr val="000000"/>
                </a:solidFill>
                <a:effectLst/>
                <a:ea typeface="Calibri" panose="020F0502020204030204" pitchFamily="34" charset="0"/>
                <a:cs typeface="Raavi" panose="020B0502040204020203" pitchFamily="34" charset="0"/>
              </a:rPr>
              <a:t>Quantum computing is the use of quantum-mechanical phenomena such as superposition and entanglement to perform computation. Computers that perform quantum computations are known as quantum computers.</a:t>
            </a:r>
            <a:endParaRPr lang="en-US" sz="2400" dirty="0">
              <a:effectLst/>
              <a:ea typeface="Calibri" panose="020F0502020204030204" pitchFamily="34" charset="0"/>
              <a:cs typeface="Raavi" panose="020B0502040204020203" pitchFamily="34" charset="0"/>
            </a:endParaRPr>
          </a:p>
          <a:p>
            <a:pPr algn="just">
              <a:lnSpc>
                <a:spcPct val="150000"/>
              </a:lnSpc>
            </a:pPr>
            <a:endParaRPr lang="en-US" sz="2400" dirty="0"/>
          </a:p>
        </p:txBody>
      </p:sp>
      <p:pic>
        <p:nvPicPr>
          <p:cNvPr id="2" name="Picture 1" descr="Will advances in quantum computing affect internet security ...">
            <a:extLst>
              <a:ext uri="{FF2B5EF4-FFF2-40B4-BE49-F238E27FC236}">
                <a16:creationId xmlns:a16="http://schemas.microsoft.com/office/drawing/2014/main" id="{B475484F-FAA6-41E7-9D2D-663827137F8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973445" y="1372490"/>
            <a:ext cx="5731510" cy="3663534"/>
          </a:xfrm>
          <a:prstGeom prst="rect">
            <a:avLst/>
          </a:prstGeom>
          <a:ln w="88900" cap="sq" cmpd="thickThin">
            <a:solidFill>
              <a:srgbClr val="000000"/>
            </a:solidFill>
            <a:prstDash val="solid"/>
            <a:miter lim="800000"/>
          </a:ln>
          <a:effectLst>
            <a:innerShdw blurRad="76200">
              <a:srgbClr val="000000"/>
            </a:innerShdw>
          </a:effectLst>
        </p:spPr>
      </p:pic>
      <p:sp>
        <p:nvSpPr>
          <p:cNvPr id="13" name="TextBox 12">
            <a:extLst>
              <a:ext uri="{FF2B5EF4-FFF2-40B4-BE49-F238E27FC236}">
                <a16:creationId xmlns:a16="http://schemas.microsoft.com/office/drawing/2014/main" id="{D75CC3DB-791B-4745-9E45-0F8E4D93E7B1}"/>
              </a:ext>
            </a:extLst>
          </p:cNvPr>
          <p:cNvSpPr txBox="1"/>
          <p:nvPr/>
        </p:nvSpPr>
        <p:spPr>
          <a:xfrm>
            <a:off x="5973445" y="5177441"/>
            <a:ext cx="6093724" cy="390684"/>
          </a:xfrm>
          <a:prstGeom prst="rect">
            <a:avLst/>
          </a:prstGeom>
          <a:noFill/>
        </p:spPr>
        <p:txBody>
          <a:bodyPr wrap="square">
            <a:spAutoFit/>
          </a:bodyPr>
          <a:lstStyle/>
          <a:p>
            <a:pPr marL="0" marR="0" algn="just">
              <a:lnSpc>
                <a:spcPct val="115000"/>
              </a:lnSpc>
              <a:spcBef>
                <a:spcPts val="0"/>
              </a:spcBef>
              <a:spcAft>
                <a:spcPts val="800"/>
              </a:spcAft>
            </a:pPr>
            <a:r>
              <a:rPr lang="en-IN" sz="1800"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Figure 1: IBM’s new 53-qubit quantum computer [1]</a:t>
            </a:r>
            <a:endParaRPr lang="en-US" sz="1400" dirty="0">
              <a:effectLst/>
              <a:latin typeface="Calibri" panose="020F0502020204030204" pitchFamily="34" charset="0"/>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val="693801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6</a:t>
            </a:fld>
            <a:endParaRPr lang="en-US" dirty="0"/>
          </a:p>
        </p:txBody>
      </p:sp>
      <p:sp>
        <p:nvSpPr>
          <p:cNvPr id="8" name="Title 7"/>
          <p:cNvSpPr txBox="1">
            <a:spLocks noGrp="1" noChangeArrowheads="1"/>
          </p:cNvSpPr>
          <p:nvPr>
            <p:ph type="title"/>
          </p:nvPr>
        </p:nvSpPr>
        <p:spPr bwMode="auto">
          <a:xfrm>
            <a:off x="916675" y="416404"/>
            <a:ext cx="1035865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400" b="1" dirty="0">
                <a:effectLst/>
                <a:latin typeface="Times New Roman" panose="02020603050405020304" pitchFamily="18" charset="0"/>
                <a:ea typeface="Calibri" panose="020F0502020204030204" pitchFamily="34" charset="0"/>
                <a:cs typeface="Raavi" panose="020B0502040204020203" pitchFamily="34" charset="0"/>
              </a:rPr>
              <a:t>QUANTUM COMPUTING</a:t>
            </a:r>
            <a:br>
              <a:rPr lang="en-US" sz="1800" dirty="0">
                <a:effectLst/>
                <a:latin typeface="Calibri" panose="020F0502020204030204" pitchFamily="34" charset="0"/>
                <a:ea typeface="Calibri" panose="020F0502020204030204" pitchFamily="34" charset="0"/>
                <a:cs typeface="Raavi" panose="020B0502040204020203" pitchFamily="34"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292E1ED-E543-4398-A077-D1313620C59F}"/>
              </a:ext>
            </a:extLst>
          </p:cNvPr>
          <p:cNvSpPr txBox="1"/>
          <p:nvPr/>
        </p:nvSpPr>
        <p:spPr>
          <a:xfrm>
            <a:off x="1364776" y="1063911"/>
            <a:ext cx="9910549" cy="4842031"/>
          </a:xfrm>
          <a:prstGeom prst="rect">
            <a:avLst/>
          </a:prstGeom>
          <a:noFill/>
        </p:spPr>
        <p:txBody>
          <a:bodyPr wrap="square">
            <a:spAutoFit/>
          </a:bodyPr>
          <a:lstStyle/>
          <a:p>
            <a:pPr marL="342900" marR="0" indent="-342900" algn="just">
              <a:lnSpc>
                <a:spcPct val="115000"/>
              </a:lnSpc>
              <a:spcBef>
                <a:spcPts val="0"/>
              </a:spcBef>
              <a:spcAft>
                <a:spcPts val="800"/>
              </a:spcAft>
              <a:buFont typeface="Wingdings" panose="05000000000000000000" pitchFamily="2" charset="2"/>
              <a:buChar char="q"/>
            </a:pPr>
            <a:r>
              <a:rPr lang="en-IN" sz="2400" dirty="0">
                <a:effectLst/>
                <a:ea typeface="Calibri" panose="020F0502020204030204" pitchFamily="34" charset="0"/>
                <a:cs typeface="Raavi" panose="020B0502040204020203" pitchFamily="34" charset="0"/>
              </a:rPr>
              <a:t>A quantum computer harnesses some of the almost-mystical phenomena of quantum mechanics to deliver huge leaps forward in processing power. Quantum machines promise to outstrip even the most capable of today’s—and tomorrow’s—supercomputers.</a:t>
            </a:r>
            <a:endParaRPr lang="en-US" sz="2400" dirty="0">
              <a:effectLst/>
              <a:ea typeface="Calibri" panose="020F0502020204030204" pitchFamily="34" charset="0"/>
              <a:cs typeface="Raavi" panose="020B0502040204020203" pitchFamily="34" charset="0"/>
            </a:endParaRPr>
          </a:p>
          <a:p>
            <a:pPr marL="342900" marR="0" indent="-342900" algn="just">
              <a:lnSpc>
                <a:spcPct val="115000"/>
              </a:lnSpc>
              <a:spcBef>
                <a:spcPts val="0"/>
              </a:spcBef>
              <a:spcAft>
                <a:spcPts val="800"/>
              </a:spcAft>
              <a:buFont typeface="Wingdings" panose="05000000000000000000" pitchFamily="2" charset="2"/>
              <a:buChar char="q"/>
            </a:pPr>
            <a:r>
              <a:rPr lang="en-IN" sz="2400" dirty="0">
                <a:effectLst/>
                <a:ea typeface="Calibri" panose="020F0502020204030204" pitchFamily="34" charset="0"/>
                <a:cs typeface="Raavi" panose="020B0502040204020203" pitchFamily="34" charset="0"/>
              </a:rPr>
              <a:t>They won’t wipe out conventional computers, though. Using a classical machine will still be the easiest and most economical solution for tackling most problems. But quantum computers promise to power exciting advances in various fields, from materials science to pharmaceuticals research. Companies are already experimenting with them to develop things like lighter and more powerful batteries for electric cars, and to help create novel drugs.</a:t>
            </a:r>
            <a:endParaRPr lang="en-US" sz="2400" dirty="0">
              <a:effectLst/>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val="3810596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7</a:t>
            </a:fld>
            <a:endParaRPr lang="en-US" dirty="0"/>
          </a:p>
        </p:txBody>
      </p:sp>
      <p:sp>
        <p:nvSpPr>
          <p:cNvPr id="8" name="Title 7"/>
          <p:cNvSpPr txBox="1">
            <a:spLocks noGrp="1" noChangeArrowheads="1"/>
          </p:cNvSpPr>
          <p:nvPr>
            <p:ph type="title"/>
          </p:nvPr>
        </p:nvSpPr>
        <p:spPr bwMode="auto">
          <a:xfrm>
            <a:off x="1070213" y="27343"/>
            <a:ext cx="1035865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400" b="1" dirty="0">
                <a:effectLst/>
                <a:latin typeface="Times New Roman" panose="02020603050405020304" pitchFamily="18" charset="0"/>
                <a:ea typeface="Calibri" panose="020F0502020204030204" pitchFamily="34" charset="0"/>
                <a:cs typeface="Raavi" panose="020B0502040204020203" pitchFamily="34" charset="0"/>
              </a:rPr>
              <a:t>QUANTUM COMPUTING</a:t>
            </a:r>
            <a:br>
              <a:rPr lang="en-US" sz="1800" dirty="0">
                <a:effectLst/>
                <a:latin typeface="Calibri" panose="020F0502020204030204" pitchFamily="34" charset="0"/>
                <a:ea typeface="Calibri" panose="020F0502020204030204" pitchFamily="34" charset="0"/>
                <a:cs typeface="Raavi" panose="020B0502040204020203" pitchFamily="34"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292E1ED-E543-4398-A077-D1313620C59F}"/>
              </a:ext>
            </a:extLst>
          </p:cNvPr>
          <p:cNvSpPr txBox="1"/>
          <p:nvPr/>
        </p:nvSpPr>
        <p:spPr>
          <a:xfrm>
            <a:off x="649406" y="682907"/>
            <a:ext cx="10893188" cy="5369355"/>
          </a:xfrm>
          <a:prstGeom prst="rect">
            <a:avLst/>
          </a:prstGeom>
          <a:noFill/>
        </p:spPr>
        <p:txBody>
          <a:bodyPr wrap="square">
            <a:spAutoFit/>
          </a:bodyPr>
          <a:lstStyle/>
          <a:p>
            <a:pPr marL="342900" marR="0" indent="-342900" algn="just">
              <a:lnSpc>
                <a:spcPct val="115000"/>
              </a:lnSpc>
              <a:spcBef>
                <a:spcPts val="0"/>
              </a:spcBef>
              <a:spcAft>
                <a:spcPts val="800"/>
              </a:spcAft>
              <a:buFont typeface="Wingdings" panose="05000000000000000000" pitchFamily="2" charset="2"/>
              <a:buChar char="q"/>
            </a:pPr>
            <a:r>
              <a:rPr lang="en-IN" sz="2400" dirty="0">
                <a:effectLst/>
                <a:ea typeface="Calibri" panose="020F0502020204030204" pitchFamily="34" charset="0"/>
                <a:cs typeface="Raavi" panose="020B0502040204020203" pitchFamily="34" charset="0"/>
              </a:rPr>
              <a:t>Quantum computers, on the other hand, use qubits, which are typically subatomic particles such as electrons or photons. Generating and managing qubits is a scientific and engineering challenge. Some companies, such as IBM, Google, and </a:t>
            </a:r>
            <a:r>
              <a:rPr lang="en-IN" sz="2400" dirty="0" err="1">
                <a:effectLst/>
                <a:ea typeface="Calibri" panose="020F0502020204030204" pitchFamily="34" charset="0"/>
                <a:cs typeface="Raavi" panose="020B0502040204020203" pitchFamily="34" charset="0"/>
              </a:rPr>
              <a:t>Rigetti</a:t>
            </a:r>
            <a:r>
              <a:rPr lang="en-IN" sz="2400" dirty="0">
                <a:effectLst/>
                <a:ea typeface="Calibri" panose="020F0502020204030204" pitchFamily="34" charset="0"/>
                <a:cs typeface="Raavi" panose="020B0502040204020203" pitchFamily="34" charset="0"/>
              </a:rPr>
              <a:t> Computing, use superconducting circuits cooled to temperatures colder than deep space. </a:t>
            </a:r>
          </a:p>
          <a:p>
            <a:pPr marL="342900" marR="0" indent="-342900" algn="just">
              <a:lnSpc>
                <a:spcPct val="115000"/>
              </a:lnSpc>
              <a:spcBef>
                <a:spcPts val="0"/>
              </a:spcBef>
              <a:spcAft>
                <a:spcPts val="800"/>
              </a:spcAft>
              <a:buFont typeface="Wingdings" panose="05000000000000000000" pitchFamily="2" charset="2"/>
              <a:buChar char="q"/>
            </a:pPr>
            <a:r>
              <a:rPr lang="en-IN" sz="2400" dirty="0">
                <a:effectLst/>
                <a:ea typeface="Calibri" panose="020F0502020204030204" pitchFamily="34" charset="0"/>
                <a:cs typeface="Raavi" panose="020B0502040204020203" pitchFamily="34" charset="0"/>
              </a:rPr>
              <a:t>Qubits have some quirky quantum properties that mean a connected group of them can provide way more processing power than the same number of binary bits. One of those properties is known as superposition and another is called entanglement. </a:t>
            </a:r>
            <a:endParaRPr lang="en-US" sz="2400" dirty="0">
              <a:effectLst/>
              <a:ea typeface="Calibri" panose="020F0502020204030204" pitchFamily="34" charset="0"/>
              <a:cs typeface="Raavi" panose="020B0502040204020203" pitchFamily="34" charset="0"/>
            </a:endParaRPr>
          </a:p>
          <a:p>
            <a:pPr marL="342900" marR="0" indent="-342900" algn="just">
              <a:lnSpc>
                <a:spcPct val="115000"/>
              </a:lnSpc>
              <a:spcBef>
                <a:spcPts val="0"/>
              </a:spcBef>
              <a:spcAft>
                <a:spcPts val="800"/>
              </a:spcAft>
              <a:buFont typeface="Wingdings" panose="05000000000000000000" pitchFamily="2" charset="2"/>
              <a:buChar char="q"/>
            </a:pPr>
            <a:r>
              <a:rPr lang="en-IN" sz="2400" dirty="0">
                <a:effectLst/>
                <a:ea typeface="Calibri" panose="020F0502020204030204" pitchFamily="34" charset="0"/>
                <a:cs typeface="Raavi" panose="020B0502040204020203" pitchFamily="34" charset="0"/>
              </a:rPr>
              <a:t>All computing systems rely on a fundamental ability to store and manipulate information. Current computers manipulate individual bits, which store information as binary 0 and 1 states. </a:t>
            </a:r>
            <a:endParaRPr lang="en-US" sz="2400" dirty="0">
              <a:effectLst/>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val="1263252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8</a:t>
            </a:fld>
            <a:endParaRPr lang="en-US" dirty="0"/>
          </a:p>
        </p:txBody>
      </p:sp>
      <p:sp>
        <p:nvSpPr>
          <p:cNvPr id="8" name="Title 7"/>
          <p:cNvSpPr txBox="1">
            <a:spLocks noGrp="1" noChangeArrowheads="1"/>
          </p:cNvSpPr>
          <p:nvPr>
            <p:ph type="title"/>
          </p:nvPr>
        </p:nvSpPr>
        <p:spPr bwMode="auto">
          <a:xfrm>
            <a:off x="1070213" y="244717"/>
            <a:ext cx="1035865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400" b="1" dirty="0">
                <a:effectLst/>
                <a:latin typeface="Times New Roman" panose="02020603050405020304" pitchFamily="18" charset="0"/>
                <a:ea typeface="Calibri" panose="020F0502020204030204" pitchFamily="34" charset="0"/>
                <a:cs typeface="Raavi" panose="020B0502040204020203" pitchFamily="34" charset="0"/>
              </a:rPr>
              <a:t>QUANTUM COMPUTING</a:t>
            </a:r>
            <a:br>
              <a:rPr lang="en-US" sz="1800" dirty="0">
                <a:effectLst/>
                <a:latin typeface="Calibri" panose="020F0502020204030204" pitchFamily="34" charset="0"/>
                <a:ea typeface="Calibri" panose="020F0502020204030204" pitchFamily="34" charset="0"/>
                <a:cs typeface="Raavi" panose="020B0502040204020203" pitchFamily="34"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292E1ED-E543-4398-A077-D1313620C59F}"/>
              </a:ext>
            </a:extLst>
          </p:cNvPr>
          <p:cNvSpPr txBox="1"/>
          <p:nvPr/>
        </p:nvSpPr>
        <p:spPr>
          <a:xfrm>
            <a:off x="268405" y="1338471"/>
            <a:ext cx="5827595" cy="5162439"/>
          </a:xfrm>
          <a:prstGeom prst="rect">
            <a:avLst/>
          </a:prstGeom>
          <a:noFill/>
        </p:spPr>
        <p:txBody>
          <a:bodyPr wrap="square">
            <a:spAutoFit/>
          </a:bodyPr>
          <a:lstStyle/>
          <a:p>
            <a:pPr marL="0" marR="0" algn="just">
              <a:lnSpc>
                <a:spcPct val="115000"/>
              </a:lnSpc>
              <a:spcBef>
                <a:spcPts val="0"/>
              </a:spcBef>
              <a:spcAft>
                <a:spcPts val="800"/>
              </a:spcAft>
            </a:pPr>
            <a:r>
              <a:rPr lang="en-IN" sz="2400" dirty="0">
                <a:effectLst/>
                <a:ea typeface="Calibri" panose="020F0502020204030204" pitchFamily="34" charset="0"/>
                <a:cs typeface="Raavi" panose="020B0502040204020203" pitchFamily="34" charset="0"/>
              </a:rPr>
              <a:t>Here, learn about the quantum properties leveraged by qubits, how they're used to compute, and how quantum systems scale.</a:t>
            </a:r>
            <a:endParaRPr lang="en-US" sz="2400" dirty="0">
              <a:effectLst/>
              <a:ea typeface="Calibri" panose="020F0502020204030204" pitchFamily="34" charset="0"/>
              <a:cs typeface="Raavi" panose="020B0502040204020203" pitchFamily="34" charset="0"/>
            </a:endParaRPr>
          </a:p>
          <a:p>
            <a:pPr algn="just"/>
            <a:r>
              <a:rPr lang="en-IN" sz="2400" dirty="0">
                <a:effectLst/>
                <a:ea typeface="Calibri" panose="020F0502020204030204" pitchFamily="34" charset="0"/>
              </a:rPr>
              <a:t>There are a few different ways to create a qubit. One method uses superconductivity to create and maintain a quantum state. To work with these superconducting qubits for extended periods of time, they must be kept very cold. Any heat in the system can introduce error, which is why quantum computers operate at temperatures close to absolute zero, colder than the vacuum of space</a:t>
            </a:r>
            <a:endParaRPr lang="en-US" sz="2400" dirty="0">
              <a:effectLst/>
              <a:ea typeface="Calibri" panose="020F0502020204030204" pitchFamily="34" charset="0"/>
              <a:cs typeface="Raavi" panose="020B0502040204020203" pitchFamily="34" charset="0"/>
            </a:endParaRPr>
          </a:p>
        </p:txBody>
      </p:sp>
      <p:pic>
        <p:nvPicPr>
          <p:cNvPr id="2" name="Picture 1" descr="Physics - Wiring Up Superconducting Qubits">
            <a:extLst>
              <a:ext uri="{FF2B5EF4-FFF2-40B4-BE49-F238E27FC236}">
                <a16:creationId xmlns:a16="http://schemas.microsoft.com/office/drawing/2014/main" id="{71B4C57F-E49F-4BBD-AB11-C51815622F9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496334" y="1555845"/>
            <a:ext cx="4932529" cy="4162567"/>
          </a:xfrm>
          <a:prstGeom prst="rect">
            <a:avLst/>
          </a:prstGeom>
          <a:ln w="88900" cap="sq" cmpd="thickThin">
            <a:solidFill>
              <a:srgbClr val="000000"/>
            </a:solidFill>
            <a:prstDash val="solid"/>
            <a:miter lim="800000"/>
          </a:ln>
          <a:effectLst>
            <a:innerShdw blurRad="76200">
              <a:srgbClr val="000000"/>
            </a:innerShdw>
          </a:effectLst>
        </p:spPr>
      </p:pic>
      <p:sp>
        <p:nvSpPr>
          <p:cNvPr id="12" name="TextBox 11">
            <a:extLst>
              <a:ext uri="{FF2B5EF4-FFF2-40B4-BE49-F238E27FC236}">
                <a16:creationId xmlns:a16="http://schemas.microsoft.com/office/drawing/2014/main" id="{C6A90C02-4DB1-490E-9B58-46B1FDF8DE94}"/>
              </a:ext>
            </a:extLst>
          </p:cNvPr>
          <p:cNvSpPr txBox="1"/>
          <p:nvPr/>
        </p:nvSpPr>
        <p:spPr>
          <a:xfrm>
            <a:off x="5915736" y="5949791"/>
            <a:ext cx="6093724" cy="390684"/>
          </a:xfrm>
          <a:prstGeom prst="rect">
            <a:avLst/>
          </a:prstGeom>
          <a:noFill/>
        </p:spPr>
        <p:txBody>
          <a:bodyPr wrap="square">
            <a:spAutoFit/>
          </a:bodyPr>
          <a:lstStyle/>
          <a:p>
            <a:pPr marL="0" marR="0" algn="ctr">
              <a:lnSpc>
                <a:spcPct val="115000"/>
              </a:lnSpc>
              <a:spcBef>
                <a:spcPts val="0"/>
              </a:spcBef>
              <a:spcAft>
                <a:spcPts val="800"/>
              </a:spcAft>
            </a:pPr>
            <a:r>
              <a:rPr lang="en-IN" sz="1800" dirty="0">
                <a:effectLst/>
                <a:latin typeface="Times New Roman" panose="02020603050405020304" pitchFamily="18" charset="0"/>
                <a:ea typeface="Calibri" panose="020F0502020204030204" pitchFamily="34" charset="0"/>
                <a:cs typeface="Raavi" panose="020B0502040204020203" pitchFamily="34" charset="0"/>
              </a:rPr>
              <a:t>Figure 2: wiring up superconducting qubits [2]</a:t>
            </a:r>
            <a:endParaRPr lang="en-US" sz="1400" dirty="0">
              <a:effectLst/>
              <a:latin typeface="Calibri" panose="020F0502020204030204" pitchFamily="34" charset="0"/>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val="135203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9</a:t>
            </a:fld>
            <a:endParaRPr lang="en-US" dirty="0"/>
          </a:p>
        </p:txBody>
      </p:sp>
      <p:sp>
        <p:nvSpPr>
          <p:cNvPr id="8" name="Title 7"/>
          <p:cNvSpPr txBox="1">
            <a:spLocks noGrp="1" noChangeArrowheads="1"/>
          </p:cNvSpPr>
          <p:nvPr>
            <p:ph type="title"/>
          </p:nvPr>
        </p:nvSpPr>
        <p:spPr bwMode="auto">
          <a:xfrm>
            <a:off x="916675" y="283011"/>
            <a:ext cx="10358650" cy="1560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400" b="1" dirty="0">
                <a:effectLst/>
                <a:latin typeface="+mn-lt"/>
                <a:ea typeface="Calibri" panose="020F0502020204030204" pitchFamily="34" charset="0"/>
                <a:cs typeface="Raavi" panose="020B0502040204020203" pitchFamily="34" charset="0"/>
              </a:rPr>
              <a:t>Quantum Vocabulary </a:t>
            </a:r>
            <a:r>
              <a:rPr lang="en-IN" sz="4400" b="1" dirty="0">
                <a:latin typeface="+mn-lt"/>
                <a:ea typeface="Calibri" panose="020F0502020204030204" pitchFamily="34" charset="0"/>
                <a:cs typeface="Raavi" panose="020B0502040204020203" pitchFamily="34" charset="0"/>
              </a:rPr>
              <a:t>A</a:t>
            </a:r>
            <a:r>
              <a:rPr lang="en-IN" sz="4400" b="1" dirty="0">
                <a:effectLst/>
                <a:latin typeface="+mn-lt"/>
                <a:ea typeface="Calibri" panose="020F0502020204030204" pitchFamily="34" charset="0"/>
                <a:cs typeface="Raavi" panose="020B0502040204020203" pitchFamily="34" charset="0"/>
              </a:rPr>
              <a:t>nd </a:t>
            </a:r>
            <a:r>
              <a:rPr lang="en-IN" sz="4400" b="1" dirty="0">
                <a:latin typeface="+mn-lt"/>
                <a:ea typeface="Calibri" panose="020F0502020204030204" pitchFamily="34" charset="0"/>
                <a:cs typeface="Raavi" panose="020B0502040204020203" pitchFamily="34" charset="0"/>
              </a:rPr>
              <a:t>T</a:t>
            </a:r>
            <a:r>
              <a:rPr lang="en-IN" sz="4400" b="1" dirty="0">
                <a:effectLst/>
                <a:latin typeface="+mn-lt"/>
                <a:ea typeface="Calibri" panose="020F0502020204030204" pitchFamily="34" charset="0"/>
                <a:cs typeface="Raavi" panose="020B0502040204020203" pitchFamily="34" charset="0"/>
              </a:rPr>
              <a:t>erminology</a:t>
            </a:r>
            <a:br>
              <a:rPr lang="en-US" sz="1800" dirty="0">
                <a:effectLst/>
                <a:latin typeface="Calibri" panose="020F0502020204030204" pitchFamily="34" charset="0"/>
                <a:ea typeface="Calibri" panose="020F0502020204030204" pitchFamily="34" charset="0"/>
                <a:cs typeface="Raavi" panose="020B0502040204020203" pitchFamily="34" charset="0"/>
              </a:rPr>
            </a:br>
            <a:br>
              <a:rPr lang="en-US" sz="1800" dirty="0">
                <a:effectLst/>
                <a:latin typeface="Calibri" panose="020F0502020204030204" pitchFamily="34" charset="0"/>
                <a:ea typeface="Calibri" panose="020F0502020204030204" pitchFamily="34" charset="0"/>
                <a:cs typeface="Raavi" panose="020B0502040204020203" pitchFamily="34"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87850EF-7F5C-4295-A840-DF8567F8AB3B}"/>
              </a:ext>
            </a:extLst>
          </p:cNvPr>
          <p:cNvSpPr txBox="1"/>
          <p:nvPr/>
        </p:nvSpPr>
        <p:spPr>
          <a:xfrm>
            <a:off x="1214650" y="1031755"/>
            <a:ext cx="9853683" cy="5262979"/>
          </a:xfrm>
          <a:prstGeom prst="rect">
            <a:avLst/>
          </a:prstGeom>
          <a:noFill/>
        </p:spPr>
        <p:txBody>
          <a:bodyPr wrap="square">
            <a:spAutoFit/>
          </a:bodyPr>
          <a:lstStyle/>
          <a:p>
            <a:pPr marR="0" algn="just"/>
            <a:r>
              <a:rPr lang="en-IN" sz="2400" dirty="0">
                <a:solidFill>
                  <a:srgbClr val="000000"/>
                </a:solidFill>
                <a:effectLst/>
                <a:ea typeface="Times New Roman" panose="02020603050405020304" pitchFamily="18" charset="0"/>
              </a:rPr>
              <a:t>Following is a brief primer of quantum computing concepts and terms.</a:t>
            </a:r>
            <a:endParaRPr lang="en-US" sz="2400" dirty="0">
              <a:effectLst/>
              <a:ea typeface="Times New Roman" panose="02020603050405020304" pitchFamily="18" charset="0"/>
            </a:endParaRPr>
          </a:p>
          <a:p>
            <a:pPr marL="342900" marR="0" indent="-342900" algn="just">
              <a:buFont typeface="Wingdings" panose="05000000000000000000" pitchFamily="2" charset="2"/>
              <a:buChar char="v"/>
            </a:pPr>
            <a:r>
              <a:rPr lang="en-IN" sz="2400" b="1" dirty="0">
                <a:solidFill>
                  <a:srgbClr val="000000"/>
                </a:solidFill>
                <a:effectLst/>
                <a:ea typeface="Times New Roman" panose="02020603050405020304" pitchFamily="18" charset="0"/>
              </a:rPr>
              <a:t>Qubits not bits.</a:t>
            </a:r>
            <a:r>
              <a:rPr lang="en-IN" sz="2400" dirty="0">
                <a:solidFill>
                  <a:srgbClr val="000000"/>
                </a:solidFill>
                <a:effectLst/>
                <a:ea typeface="Times New Roman" panose="02020603050405020304" pitchFamily="18" charset="0"/>
              </a:rPr>
              <a:t> Quantum computers do calculations with quantum bits, or qubits, rather than the digital bits in traditional computers. Qubits allow quantum computers to consider previously unimaginable amounts of information.</a:t>
            </a:r>
            <a:endParaRPr lang="en-US" sz="2400" dirty="0">
              <a:effectLst/>
              <a:ea typeface="Times New Roman" panose="02020603050405020304" pitchFamily="18" charset="0"/>
            </a:endParaRPr>
          </a:p>
          <a:p>
            <a:pPr marL="342900" marR="0" indent="-342900" algn="just">
              <a:buFont typeface="Wingdings" panose="05000000000000000000" pitchFamily="2" charset="2"/>
              <a:buChar char="v"/>
            </a:pPr>
            <a:r>
              <a:rPr lang="en-IN" sz="2400" b="1" dirty="0">
                <a:solidFill>
                  <a:srgbClr val="000000"/>
                </a:solidFill>
                <a:effectLst/>
                <a:ea typeface="Times New Roman" panose="02020603050405020304" pitchFamily="18" charset="0"/>
              </a:rPr>
              <a:t>Superposition.</a:t>
            </a:r>
            <a:r>
              <a:rPr lang="en-IN" sz="2400" dirty="0">
                <a:solidFill>
                  <a:srgbClr val="000000"/>
                </a:solidFill>
                <a:effectLst/>
                <a:ea typeface="Times New Roman" panose="02020603050405020304" pitchFamily="18" charset="0"/>
              </a:rPr>
              <a:t> Quantum objects can be in more than one state at the same time, a situation depicted by Schrödinger’s cat, a fictional feline that is simultaneously alive and dead. For example, a qubit can represent the values 0 and 1 simultaneously, whereas classical bits can only be either a 0 or a 1.</a:t>
            </a:r>
            <a:endParaRPr lang="en-US" sz="2400" dirty="0">
              <a:effectLst/>
              <a:ea typeface="Times New Roman" panose="02020603050405020304" pitchFamily="18" charset="0"/>
            </a:endParaRPr>
          </a:p>
          <a:p>
            <a:pPr marL="342900" marR="0" indent="-342900" algn="just">
              <a:buFont typeface="Wingdings" panose="05000000000000000000" pitchFamily="2" charset="2"/>
              <a:buChar char="v"/>
            </a:pPr>
            <a:r>
              <a:rPr lang="en-IN" sz="2400" b="1" dirty="0">
                <a:solidFill>
                  <a:srgbClr val="000000"/>
                </a:solidFill>
                <a:effectLst/>
                <a:ea typeface="Times New Roman" panose="02020603050405020304" pitchFamily="18" charset="0"/>
              </a:rPr>
              <a:t>Entanglement.</a:t>
            </a:r>
            <a:r>
              <a:rPr lang="en-IN" sz="2400" dirty="0">
                <a:solidFill>
                  <a:srgbClr val="000000"/>
                </a:solidFill>
                <a:effectLst/>
                <a:ea typeface="Times New Roman" panose="02020603050405020304" pitchFamily="18" charset="0"/>
              </a:rPr>
              <a:t> When qubits are entangled, they form a connection to each other that survives no matter the distance between them. A change to one qubit will alter its entangled twin, a finding that baffled even Einstein, who called entanglement “spooky action at a distance.”</a:t>
            </a:r>
            <a:endParaRPr lang="en-US" sz="2400" dirty="0">
              <a:effectLst/>
              <a:ea typeface="Times New Roman" panose="02020603050405020304" pitchFamily="18" charset="0"/>
            </a:endParaRPr>
          </a:p>
        </p:txBody>
      </p:sp>
    </p:spTree>
    <p:extLst>
      <p:ext uri="{BB962C8B-B14F-4D97-AF65-F5344CB8AC3E}">
        <p14:creationId xmlns:p14="http://schemas.microsoft.com/office/powerpoint/2010/main" val="1954385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10</a:t>
            </a:fld>
            <a:endParaRPr lang="en-US" dirty="0"/>
          </a:p>
        </p:txBody>
      </p:sp>
      <p:sp>
        <p:nvSpPr>
          <p:cNvPr id="8" name="Title 7"/>
          <p:cNvSpPr txBox="1">
            <a:spLocks noGrp="1" noChangeArrowheads="1"/>
          </p:cNvSpPr>
          <p:nvPr>
            <p:ph type="title"/>
          </p:nvPr>
        </p:nvSpPr>
        <p:spPr bwMode="auto">
          <a:xfrm>
            <a:off x="916675" y="283011"/>
            <a:ext cx="10358650" cy="1560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400" b="1" dirty="0">
                <a:effectLst/>
                <a:latin typeface="+mn-lt"/>
                <a:ea typeface="Calibri" panose="020F0502020204030204" pitchFamily="34" charset="0"/>
                <a:cs typeface="Raavi" panose="020B0502040204020203" pitchFamily="34" charset="0"/>
              </a:rPr>
              <a:t>Quantum Vocabulary </a:t>
            </a:r>
            <a:r>
              <a:rPr lang="en-IN" sz="4400" b="1" dirty="0">
                <a:latin typeface="+mn-lt"/>
                <a:ea typeface="Calibri" panose="020F0502020204030204" pitchFamily="34" charset="0"/>
                <a:cs typeface="Raavi" panose="020B0502040204020203" pitchFamily="34" charset="0"/>
              </a:rPr>
              <a:t>A</a:t>
            </a:r>
            <a:r>
              <a:rPr lang="en-IN" sz="4400" b="1" dirty="0">
                <a:effectLst/>
                <a:latin typeface="+mn-lt"/>
                <a:ea typeface="Calibri" panose="020F0502020204030204" pitchFamily="34" charset="0"/>
                <a:cs typeface="Raavi" panose="020B0502040204020203" pitchFamily="34" charset="0"/>
              </a:rPr>
              <a:t>nd </a:t>
            </a:r>
            <a:r>
              <a:rPr lang="en-IN" sz="4400" b="1" dirty="0">
                <a:latin typeface="+mn-lt"/>
                <a:ea typeface="Calibri" panose="020F0502020204030204" pitchFamily="34" charset="0"/>
                <a:cs typeface="Raavi" panose="020B0502040204020203" pitchFamily="34" charset="0"/>
              </a:rPr>
              <a:t>T</a:t>
            </a:r>
            <a:r>
              <a:rPr lang="en-IN" sz="4400" b="1" dirty="0">
                <a:effectLst/>
                <a:latin typeface="+mn-lt"/>
                <a:ea typeface="Calibri" panose="020F0502020204030204" pitchFamily="34" charset="0"/>
                <a:cs typeface="Raavi" panose="020B0502040204020203" pitchFamily="34" charset="0"/>
              </a:rPr>
              <a:t>erminology</a:t>
            </a:r>
            <a:br>
              <a:rPr lang="en-US" sz="1800" dirty="0">
                <a:effectLst/>
                <a:latin typeface="Calibri" panose="020F0502020204030204" pitchFamily="34" charset="0"/>
                <a:ea typeface="Calibri" panose="020F0502020204030204" pitchFamily="34" charset="0"/>
                <a:cs typeface="Raavi" panose="020B0502040204020203" pitchFamily="34" charset="0"/>
              </a:rPr>
            </a:br>
            <a:br>
              <a:rPr lang="en-US" sz="1800" dirty="0">
                <a:effectLst/>
                <a:latin typeface="Calibri" panose="020F0502020204030204" pitchFamily="34" charset="0"/>
                <a:ea typeface="Calibri" panose="020F0502020204030204" pitchFamily="34" charset="0"/>
                <a:cs typeface="Raavi" panose="020B0502040204020203" pitchFamily="34"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87850EF-7F5C-4295-A840-DF8567F8AB3B}"/>
              </a:ext>
            </a:extLst>
          </p:cNvPr>
          <p:cNvSpPr txBox="1"/>
          <p:nvPr/>
        </p:nvSpPr>
        <p:spPr>
          <a:xfrm>
            <a:off x="709684" y="1031755"/>
            <a:ext cx="10428216" cy="6311856"/>
          </a:xfrm>
          <a:prstGeom prst="rect">
            <a:avLst/>
          </a:prstGeom>
          <a:noFill/>
        </p:spPr>
        <p:txBody>
          <a:bodyPr wrap="square">
            <a:spAutoFit/>
          </a:bodyPr>
          <a:lstStyle/>
          <a:p>
            <a:pPr marL="0" marR="0" algn="just"/>
            <a:r>
              <a:rPr lang="en-IN" sz="2400" b="1" dirty="0">
                <a:solidFill>
                  <a:srgbClr val="000000"/>
                </a:solidFill>
                <a:effectLst/>
                <a:ea typeface="Times New Roman" panose="02020603050405020304" pitchFamily="18" charset="0"/>
              </a:rPr>
              <a:t>Types of qubits.</a:t>
            </a:r>
            <a:r>
              <a:rPr lang="en-IN" sz="2400" dirty="0">
                <a:solidFill>
                  <a:srgbClr val="000000"/>
                </a:solidFill>
                <a:effectLst/>
                <a:ea typeface="Times New Roman" panose="02020603050405020304" pitchFamily="18" charset="0"/>
              </a:rPr>
              <a:t> At the core of the quantum computer is the qubit, a quantum bit of information typically made from a particle so small that it exhibits quantum properties rather than obeying the classical laws of physics that govern our everyday lives. A number of types of qubits are in development:</a:t>
            </a:r>
            <a:endParaRPr lang="en-US" sz="2400" dirty="0">
              <a:effectLst/>
              <a:ea typeface="Times New Roman" panose="02020603050405020304" pitchFamily="18" charset="0"/>
            </a:endParaRPr>
          </a:p>
          <a:p>
            <a:pPr marL="342900" marR="0" lvl="0" indent="-342900" algn="just">
              <a:lnSpc>
                <a:spcPct val="107000"/>
              </a:lnSpc>
              <a:spcBef>
                <a:spcPts val="0"/>
              </a:spcBef>
              <a:spcAft>
                <a:spcPts val="0"/>
              </a:spcAft>
              <a:buSzPts val="1000"/>
              <a:buFont typeface="Symbol" panose="05050102010706020507" pitchFamily="18" charset="2"/>
              <a:buChar char=""/>
              <a:tabLst>
                <a:tab pos="457200" algn="l"/>
              </a:tabLst>
            </a:pPr>
            <a:r>
              <a:rPr lang="en-IN" sz="2400" dirty="0">
                <a:solidFill>
                  <a:srgbClr val="000000"/>
                </a:solidFill>
                <a:effectLst/>
                <a:ea typeface="Calibri" panose="020F0502020204030204" pitchFamily="34" charset="0"/>
                <a:cs typeface="Raavi" panose="020B0502040204020203" pitchFamily="34" charset="0"/>
              </a:rPr>
              <a:t>Superconducting qubits, or </a:t>
            </a:r>
            <a:r>
              <a:rPr lang="en-IN" sz="2400" dirty="0" err="1">
                <a:solidFill>
                  <a:srgbClr val="000000"/>
                </a:solidFill>
                <a:effectLst/>
                <a:ea typeface="Calibri" panose="020F0502020204030204" pitchFamily="34" charset="0"/>
                <a:cs typeface="Raavi" panose="020B0502040204020203" pitchFamily="34" charset="0"/>
              </a:rPr>
              <a:t>transmons</a:t>
            </a:r>
            <a:r>
              <a:rPr lang="en-IN" sz="2400" dirty="0">
                <a:solidFill>
                  <a:srgbClr val="000000"/>
                </a:solidFill>
                <a:effectLst/>
                <a:ea typeface="Calibri" panose="020F0502020204030204" pitchFamily="34" charset="0"/>
                <a:cs typeface="Raavi" panose="020B0502040204020203" pitchFamily="34" charset="0"/>
              </a:rPr>
              <a:t>. Already in use in prototype computers made by Google, IBM and others, these qubits are made from superconducting electrical circuits.</a:t>
            </a:r>
            <a:endParaRPr lang="en-US" sz="2400" dirty="0">
              <a:effectLst/>
              <a:ea typeface="Calibri" panose="020F0502020204030204" pitchFamily="34" charset="0"/>
              <a:cs typeface="Raavi" panose="020B0502040204020203" pitchFamily="34" charset="0"/>
            </a:endParaRPr>
          </a:p>
          <a:p>
            <a:pPr marL="342900" marR="0" lvl="0" indent="-342900" algn="just">
              <a:lnSpc>
                <a:spcPct val="107000"/>
              </a:lnSpc>
              <a:spcBef>
                <a:spcPts val="0"/>
              </a:spcBef>
              <a:spcAft>
                <a:spcPts val="0"/>
              </a:spcAft>
              <a:buSzPts val="1000"/>
              <a:buFont typeface="Symbol" panose="05050102010706020507" pitchFamily="18" charset="2"/>
              <a:buChar char=""/>
              <a:tabLst>
                <a:tab pos="457200" algn="l"/>
              </a:tabLst>
            </a:pPr>
            <a:r>
              <a:rPr lang="en-IN" sz="2400" dirty="0">
                <a:solidFill>
                  <a:srgbClr val="000000"/>
                </a:solidFill>
                <a:effectLst/>
                <a:ea typeface="Calibri" panose="020F0502020204030204" pitchFamily="34" charset="0"/>
                <a:cs typeface="Raavi" panose="020B0502040204020203" pitchFamily="34" charset="0"/>
              </a:rPr>
              <a:t>Trapped atoms. Atoms trapped in place by lasers can behave as qubits. Trapped ions (charged atoms) can also act as qubits.</a:t>
            </a:r>
            <a:endParaRPr lang="en-US" sz="2400" dirty="0">
              <a:effectLst/>
              <a:ea typeface="Calibri" panose="020F0502020204030204" pitchFamily="34" charset="0"/>
              <a:cs typeface="Raavi" panose="020B0502040204020203" pitchFamily="34" charset="0"/>
            </a:endParaRPr>
          </a:p>
          <a:p>
            <a:pPr marL="342900" marR="0" lvl="0" indent="-342900" algn="just">
              <a:lnSpc>
                <a:spcPct val="107000"/>
              </a:lnSpc>
              <a:spcBef>
                <a:spcPts val="0"/>
              </a:spcBef>
              <a:spcAft>
                <a:spcPts val="0"/>
              </a:spcAft>
              <a:buSzPts val="1000"/>
              <a:buFont typeface="Symbol" panose="05050102010706020507" pitchFamily="18" charset="2"/>
              <a:buChar char=""/>
              <a:tabLst>
                <a:tab pos="457200" algn="l"/>
              </a:tabLst>
            </a:pPr>
            <a:r>
              <a:rPr lang="en-IN" sz="2400" dirty="0">
                <a:solidFill>
                  <a:srgbClr val="000000"/>
                </a:solidFill>
                <a:effectLst/>
                <a:ea typeface="Calibri" panose="020F0502020204030204" pitchFamily="34" charset="0"/>
                <a:cs typeface="Raavi" panose="020B0502040204020203" pitchFamily="34" charset="0"/>
              </a:rPr>
              <a:t>Silicon spin qubits. An up-and-coming technology involves trapping electrons in silicon chambers to manipulate a quantum property known as spin.</a:t>
            </a:r>
            <a:endParaRPr lang="en-US" sz="2400" dirty="0">
              <a:effectLst/>
              <a:ea typeface="Calibri" panose="020F0502020204030204" pitchFamily="34" charset="0"/>
              <a:cs typeface="Raavi" panose="020B0502040204020203" pitchFamily="34" charset="0"/>
            </a:endParaRPr>
          </a:p>
          <a:p>
            <a:pPr marL="342900" marR="0" lvl="0" indent="-342900" algn="just">
              <a:lnSpc>
                <a:spcPct val="107000"/>
              </a:lnSpc>
              <a:spcBef>
                <a:spcPts val="0"/>
              </a:spcBef>
              <a:spcAft>
                <a:spcPts val="0"/>
              </a:spcAft>
              <a:buSzPts val="1000"/>
              <a:buFont typeface="Symbol" panose="05050102010706020507" pitchFamily="18" charset="2"/>
              <a:buChar char=""/>
              <a:tabLst>
                <a:tab pos="457200" algn="l"/>
              </a:tabLst>
            </a:pPr>
            <a:r>
              <a:rPr lang="en-IN" sz="2400" dirty="0">
                <a:solidFill>
                  <a:srgbClr val="000000"/>
                </a:solidFill>
                <a:effectLst/>
                <a:ea typeface="Calibri" panose="020F0502020204030204" pitchFamily="34" charset="0"/>
                <a:cs typeface="Raavi" panose="020B0502040204020203" pitchFamily="34" charset="0"/>
              </a:rPr>
              <a:t>Topological qubits. Still quite early in development, quasi-particles called Majorana fermions, which exist in certain materials, have the potential for use as qubits. </a:t>
            </a:r>
            <a:endParaRPr lang="en-US" sz="2400" dirty="0">
              <a:effectLst/>
              <a:ea typeface="Calibri" panose="020F0502020204030204" pitchFamily="34" charset="0"/>
              <a:cs typeface="Raavi" panose="020B0502040204020203" pitchFamily="34" charset="0"/>
            </a:endParaRPr>
          </a:p>
          <a:p>
            <a:pPr marL="0" marR="0" algn="just">
              <a:lnSpc>
                <a:spcPct val="115000"/>
              </a:lnSpc>
              <a:spcBef>
                <a:spcPts val="0"/>
              </a:spcBef>
              <a:spcAft>
                <a:spcPts val="800"/>
              </a:spcAft>
            </a:pPr>
            <a:r>
              <a:rPr lang="en-IN" sz="1800" b="1" dirty="0">
                <a:effectLst/>
                <a:latin typeface="Times New Roman" panose="02020603050405020304" pitchFamily="18" charset="0"/>
                <a:ea typeface="Calibri" panose="020F0502020204030204" pitchFamily="34" charset="0"/>
                <a:cs typeface="Raavi" panose="020B0502040204020203" pitchFamily="34" charset="0"/>
              </a:rPr>
              <a:t> </a:t>
            </a:r>
            <a:endParaRPr lang="en-US" sz="1800" dirty="0">
              <a:effectLst/>
              <a:latin typeface="Calibri" panose="020F0502020204030204" pitchFamily="34" charset="0"/>
              <a:ea typeface="Calibri" panose="020F0502020204030204" pitchFamily="34" charset="0"/>
              <a:cs typeface="Raavi" panose="020B0502040204020203" pitchFamily="34" charset="0"/>
            </a:endParaRPr>
          </a:p>
          <a:p>
            <a:pPr marR="0" algn="just"/>
            <a:endParaRPr lang="en-US" sz="2400" dirty="0">
              <a:effectLst/>
              <a:ea typeface="Times New Roman" panose="02020603050405020304" pitchFamily="18" charset="0"/>
            </a:endParaRPr>
          </a:p>
        </p:txBody>
      </p:sp>
    </p:spTree>
    <p:extLst>
      <p:ext uri="{BB962C8B-B14F-4D97-AF65-F5344CB8AC3E}">
        <p14:creationId xmlns:p14="http://schemas.microsoft.com/office/powerpoint/2010/main" val="1196053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11</a:t>
            </a:fld>
            <a:endParaRPr lang="en-US" dirty="0"/>
          </a:p>
        </p:txBody>
      </p:sp>
      <p:sp>
        <p:nvSpPr>
          <p:cNvPr id="8" name="Title 7"/>
          <p:cNvSpPr txBox="1">
            <a:spLocks noGrp="1" noChangeArrowheads="1"/>
          </p:cNvSpPr>
          <p:nvPr>
            <p:ph type="title"/>
          </p:nvPr>
        </p:nvSpPr>
        <p:spPr bwMode="auto">
          <a:xfrm>
            <a:off x="1080876" y="412306"/>
            <a:ext cx="1035865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400" b="1" dirty="0">
                <a:effectLst/>
                <a:latin typeface="Times New Roman" panose="02020603050405020304" pitchFamily="18" charset="0"/>
                <a:ea typeface="Calibri" panose="020F0502020204030204" pitchFamily="34" charset="0"/>
                <a:cs typeface="Raavi" panose="020B0502040204020203" pitchFamily="34" charset="0"/>
              </a:rPr>
              <a:t>HISTORY </a:t>
            </a:r>
            <a:br>
              <a:rPr lang="en-US" sz="1800" dirty="0">
                <a:effectLst/>
                <a:latin typeface="Calibri" panose="020F0502020204030204" pitchFamily="34" charset="0"/>
                <a:ea typeface="Calibri" panose="020F0502020204030204" pitchFamily="34" charset="0"/>
                <a:cs typeface="Raavi" panose="020B0502040204020203" pitchFamily="34"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23ABEFF-0B7C-4396-834D-9FA80A289FB8}"/>
              </a:ext>
            </a:extLst>
          </p:cNvPr>
          <p:cNvSpPr txBox="1"/>
          <p:nvPr/>
        </p:nvSpPr>
        <p:spPr>
          <a:xfrm>
            <a:off x="409434" y="1559228"/>
            <a:ext cx="4870592" cy="4314707"/>
          </a:xfrm>
          <a:prstGeom prst="rect">
            <a:avLst/>
          </a:prstGeom>
          <a:noFill/>
        </p:spPr>
        <p:txBody>
          <a:bodyPr wrap="square">
            <a:spAutoFit/>
          </a:bodyPr>
          <a:lstStyle/>
          <a:p>
            <a:pPr marL="342900" marR="0" lvl="0" indent="-342900" algn="just">
              <a:lnSpc>
                <a:spcPct val="115000"/>
              </a:lnSpc>
              <a:spcBef>
                <a:spcPts val="0"/>
              </a:spcBef>
              <a:spcAft>
                <a:spcPts val="800"/>
              </a:spcAft>
              <a:buFont typeface="Wingdings" panose="05000000000000000000" pitchFamily="2" charset="2"/>
              <a:buChar char=""/>
            </a:pPr>
            <a:r>
              <a:rPr lang="en-IN" sz="2400" dirty="0">
                <a:solidFill>
                  <a:srgbClr val="000000"/>
                </a:solidFill>
                <a:effectLst/>
                <a:ea typeface="Calibri" panose="020F0502020204030204" pitchFamily="34" charset="0"/>
                <a:cs typeface="Raavi" panose="020B0502040204020203" pitchFamily="34" charset="0"/>
              </a:rPr>
              <a:t>As early as 1959 the American physicist and Nobel laureate </a:t>
            </a:r>
            <a:r>
              <a:rPr lang="en-IN" sz="2400" u="none" strike="noStrike" dirty="0">
                <a:solidFill>
                  <a:srgbClr val="000000"/>
                </a:solidFill>
                <a:effectLst/>
                <a:ea typeface="Calibri" panose="020F0502020204030204" pitchFamily="34" charset="0"/>
                <a:cs typeface="Raavi" panose="020B0502040204020203" pitchFamily="34" charset="0"/>
                <a:hlinkClick r:id="rId2"/>
              </a:rPr>
              <a:t>Richard Feynman</a:t>
            </a:r>
            <a:r>
              <a:rPr lang="en-IN" sz="2400" dirty="0">
                <a:solidFill>
                  <a:srgbClr val="000000"/>
                </a:solidFill>
                <a:effectLst/>
                <a:ea typeface="Calibri" panose="020F0502020204030204" pitchFamily="34" charset="0"/>
                <a:cs typeface="Raavi" panose="020B0502040204020203" pitchFamily="34" charset="0"/>
              </a:rPr>
              <a:t> noted that, as electronic components begin to reach microscopic scales, effects predicted by </a:t>
            </a:r>
            <a:r>
              <a:rPr lang="en-IN" sz="2400" u="none" strike="noStrike" dirty="0">
                <a:solidFill>
                  <a:srgbClr val="000000"/>
                </a:solidFill>
                <a:effectLst/>
                <a:ea typeface="Calibri" panose="020F0502020204030204" pitchFamily="34" charset="0"/>
                <a:cs typeface="Raavi" panose="020B0502040204020203" pitchFamily="34" charset="0"/>
                <a:hlinkClick r:id="rId3"/>
              </a:rPr>
              <a:t>quantum</a:t>
            </a:r>
            <a:r>
              <a:rPr lang="en-IN" sz="2400" dirty="0">
                <a:solidFill>
                  <a:srgbClr val="000000"/>
                </a:solidFill>
                <a:effectLst/>
                <a:ea typeface="Calibri" panose="020F0502020204030204" pitchFamily="34" charset="0"/>
                <a:cs typeface="Raavi" panose="020B0502040204020203" pitchFamily="34" charset="0"/>
              </a:rPr>
              <a:t> mechanics occur—which, he suggested, might be exploited in the design of more powerful computers.</a:t>
            </a:r>
            <a:endParaRPr lang="en-US" sz="2400" dirty="0">
              <a:effectLst/>
              <a:ea typeface="Calibri" panose="020F0502020204030204" pitchFamily="34" charset="0"/>
              <a:cs typeface="Raavi" panose="020B0502040204020203" pitchFamily="34" charset="0"/>
            </a:endParaRPr>
          </a:p>
        </p:txBody>
      </p:sp>
      <p:pic>
        <p:nvPicPr>
          <p:cNvPr id="3" name="Picture 2">
            <a:extLst>
              <a:ext uri="{FF2B5EF4-FFF2-40B4-BE49-F238E27FC236}">
                <a16:creationId xmlns:a16="http://schemas.microsoft.com/office/drawing/2014/main" id="{34F75AD8-B924-43B9-A41C-6ABBE3D13A7F}"/>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5502276" y="1723434"/>
            <a:ext cx="5715000" cy="4336172"/>
          </a:xfrm>
          <a:prstGeom prst="rect">
            <a:avLst/>
          </a:prstGeom>
          <a:noFill/>
          <a:ln>
            <a:noFill/>
          </a:ln>
        </p:spPr>
      </p:pic>
      <p:sp>
        <p:nvSpPr>
          <p:cNvPr id="13" name="TextBox 12">
            <a:extLst>
              <a:ext uri="{FF2B5EF4-FFF2-40B4-BE49-F238E27FC236}">
                <a16:creationId xmlns:a16="http://schemas.microsoft.com/office/drawing/2014/main" id="{46E7BC21-5CFF-4A4A-810E-D397212C1F13}"/>
              </a:ext>
            </a:extLst>
          </p:cNvPr>
          <p:cNvSpPr txBox="1"/>
          <p:nvPr/>
        </p:nvSpPr>
        <p:spPr>
          <a:xfrm>
            <a:off x="4977785" y="6139878"/>
            <a:ext cx="6093724" cy="709233"/>
          </a:xfrm>
          <a:prstGeom prst="rect">
            <a:avLst/>
          </a:prstGeom>
          <a:noFill/>
        </p:spPr>
        <p:txBody>
          <a:bodyPr wrap="square">
            <a:spAutoFit/>
          </a:bodyPr>
          <a:lstStyle/>
          <a:p>
            <a:pPr marL="457200" marR="0" algn="just">
              <a:lnSpc>
                <a:spcPct val="115000"/>
              </a:lnSpc>
              <a:spcBef>
                <a:spcPts val="0"/>
              </a:spcBef>
              <a:spcAft>
                <a:spcPts val="800"/>
              </a:spcAft>
            </a:pPr>
            <a:r>
              <a:rPr lang="en-IN" sz="1800"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Figure 3: Caltech physicist and Nobel Laureate Richard Feynman [3]</a:t>
            </a:r>
            <a:endParaRPr lang="en-US" sz="1400" dirty="0">
              <a:effectLst/>
              <a:latin typeface="Calibri" panose="020F0502020204030204" pitchFamily="34" charset="0"/>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val="3685324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12</a:t>
            </a:fld>
            <a:endParaRPr lang="en-US" dirty="0"/>
          </a:p>
        </p:txBody>
      </p:sp>
      <p:sp>
        <p:nvSpPr>
          <p:cNvPr id="8" name="Title 7"/>
          <p:cNvSpPr txBox="1">
            <a:spLocks noGrp="1" noChangeArrowheads="1"/>
          </p:cNvSpPr>
          <p:nvPr>
            <p:ph type="title"/>
          </p:nvPr>
        </p:nvSpPr>
        <p:spPr bwMode="auto">
          <a:xfrm>
            <a:off x="1080876" y="412306"/>
            <a:ext cx="1035865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400" b="1" dirty="0">
                <a:effectLst/>
                <a:latin typeface="Times New Roman" panose="02020603050405020304" pitchFamily="18" charset="0"/>
                <a:ea typeface="Calibri" panose="020F0502020204030204" pitchFamily="34" charset="0"/>
                <a:cs typeface="Raavi" panose="020B0502040204020203" pitchFamily="34" charset="0"/>
              </a:rPr>
              <a:t>HISTORY </a:t>
            </a:r>
            <a:br>
              <a:rPr lang="en-US" sz="1800" dirty="0">
                <a:effectLst/>
                <a:latin typeface="Calibri" panose="020F0502020204030204" pitchFamily="34" charset="0"/>
                <a:ea typeface="Calibri" panose="020F0502020204030204" pitchFamily="34" charset="0"/>
                <a:cs typeface="Raavi" panose="020B0502040204020203" pitchFamily="34"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23ABEFF-0B7C-4396-834D-9FA80A289FB8}"/>
              </a:ext>
            </a:extLst>
          </p:cNvPr>
          <p:cNvSpPr txBox="1"/>
          <p:nvPr/>
        </p:nvSpPr>
        <p:spPr>
          <a:xfrm>
            <a:off x="1080876" y="1194145"/>
            <a:ext cx="9721754" cy="5691494"/>
          </a:xfrm>
          <a:prstGeom prst="rect">
            <a:avLst/>
          </a:prstGeom>
          <a:noFill/>
        </p:spPr>
        <p:txBody>
          <a:bodyPr wrap="square">
            <a:spAutoFit/>
          </a:bodyPr>
          <a:lstStyle/>
          <a:p>
            <a:pPr marL="342900" indent="-342900" algn="just">
              <a:lnSpc>
                <a:spcPct val="115000"/>
              </a:lnSpc>
              <a:spcAft>
                <a:spcPts val="800"/>
              </a:spcAft>
              <a:buFont typeface="Wingdings" panose="05000000000000000000" pitchFamily="2" charset="2"/>
              <a:buChar char=""/>
            </a:pPr>
            <a:r>
              <a:rPr lang="en-IN" sz="2400" dirty="0">
                <a:solidFill>
                  <a:srgbClr val="000000"/>
                </a:solidFill>
                <a:effectLst/>
                <a:ea typeface="Calibri" panose="020F0502020204030204" pitchFamily="34" charset="0"/>
                <a:cs typeface="Raavi" panose="020B0502040204020203" pitchFamily="34" charset="0"/>
              </a:rPr>
              <a:t>During the 1980s and ’90s the theory of quantum computers advanced considerably beyond Feynman’s early speculations. In 1985 David Deutsch of the </a:t>
            </a:r>
            <a:r>
              <a:rPr lang="en-IN" sz="2400" u="none" strike="noStrike" dirty="0">
                <a:solidFill>
                  <a:srgbClr val="000000"/>
                </a:solidFill>
                <a:effectLst/>
                <a:ea typeface="Calibri" panose="020F0502020204030204" pitchFamily="34" charset="0"/>
                <a:cs typeface="Raavi" panose="020B0502040204020203" pitchFamily="34" charset="0"/>
                <a:hlinkClick r:id="rId2"/>
              </a:rPr>
              <a:t>University of Oxford</a:t>
            </a:r>
            <a:r>
              <a:rPr lang="en-IN" sz="2400" dirty="0">
                <a:solidFill>
                  <a:srgbClr val="000000"/>
                </a:solidFill>
                <a:effectLst/>
                <a:ea typeface="Calibri" panose="020F0502020204030204" pitchFamily="34" charset="0"/>
                <a:cs typeface="Raavi" panose="020B0502040204020203" pitchFamily="34" charset="0"/>
              </a:rPr>
              <a:t> described the construction of quantum logic gates for a universal quantum computer, and in 1994 Peter Shor of AT&amp;T devised an </a:t>
            </a:r>
            <a:r>
              <a:rPr lang="en-IN" sz="2400" u="none" strike="noStrike" dirty="0">
                <a:solidFill>
                  <a:srgbClr val="000000"/>
                </a:solidFill>
                <a:effectLst/>
                <a:ea typeface="Calibri" panose="020F0502020204030204" pitchFamily="34" charset="0"/>
                <a:cs typeface="Raavi" panose="020B0502040204020203" pitchFamily="34" charset="0"/>
                <a:hlinkClick r:id="rId3"/>
              </a:rPr>
              <a:t>algorithm</a:t>
            </a:r>
            <a:r>
              <a:rPr lang="en-IN" sz="2400" dirty="0">
                <a:solidFill>
                  <a:srgbClr val="000000"/>
                </a:solidFill>
                <a:effectLst/>
                <a:ea typeface="Calibri" panose="020F0502020204030204" pitchFamily="34" charset="0"/>
                <a:cs typeface="Raavi" panose="020B0502040204020203" pitchFamily="34" charset="0"/>
              </a:rPr>
              <a:t> to factor numbers with a quantum computer that would require as few as six qubits (although many more qubits would be necessary for factoring large numbers in a reasonable time). When a practical quantum computer is built, it will break current encryption schemes based on multiplying two large primes; in compensation, quantum mechanical effects offer a new method of secure communication known as quantum encryption. However, actually building a useful quantum computer has proved difficult.</a:t>
            </a:r>
            <a:endParaRPr lang="en-US" sz="2400" dirty="0">
              <a:effectLst/>
              <a:ea typeface="Calibri" panose="020F0502020204030204" pitchFamily="34" charset="0"/>
              <a:cs typeface="Raavi" panose="020B0502040204020203" pitchFamily="34" charset="0"/>
            </a:endParaRPr>
          </a:p>
          <a:p>
            <a:pPr marL="342900" marR="0" lvl="0" indent="-342900" algn="just">
              <a:lnSpc>
                <a:spcPct val="115000"/>
              </a:lnSpc>
              <a:spcBef>
                <a:spcPts val="0"/>
              </a:spcBef>
              <a:spcAft>
                <a:spcPts val="800"/>
              </a:spcAft>
              <a:buFont typeface="Wingdings" panose="05000000000000000000" pitchFamily="2" charset="2"/>
              <a:buChar char=""/>
            </a:pPr>
            <a:endParaRPr lang="en-US" sz="2400" dirty="0">
              <a:effectLst/>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val="723735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13</a:t>
            </a:fld>
            <a:endParaRPr lang="en-US" dirty="0"/>
          </a:p>
        </p:txBody>
      </p:sp>
      <p:sp>
        <p:nvSpPr>
          <p:cNvPr id="8" name="Title 7"/>
          <p:cNvSpPr txBox="1">
            <a:spLocks noGrp="1" noChangeArrowheads="1"/>
          </p:cNvSpPr>
          <p:nvPr>
            <p:ph type="title"/>
          </p:nvPr>
        </p:nvSpPr>
        <p:spPr bwMode="auto">
          <a:xfrm>
            <a:off x="1223750" y="409081"/>
            <a:ext cx="10358650"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400" b="1" dirty="0">
                <a:solidFill>
                  <a:srgbClr val="000000"/>
                </a:solidFill>
                <a:effectLst/>
                <a:latin typeface="Times New Roman" panose="02020603050405020304" pitchFamily="18" charset="0"/>
                <a:ea typeface="Calibri" panose="020F0502020204030204" pitchFamily="34" charset="0"/>
                <a:cs typeface="Raavi" panose="020B0502040204020203" pitchFamily="34" charset="0"/>
              </a:rPr>
              <a:t>Future research </a:t>
            </a:r>
            <a:br>
              <a:rPr lang="en-US" sz="4400" dirty="0">
                <a:effectLst/>
                <a:latin typeface="Calibri" panose="020F0502020204030204" pitchFamily="34" charset="0"/>
                <a:ea typeface="Calibri" panose="020F0502020204030204" pitchFamily="34" charset="0"/>
                <a:cs typeface="Raavi" panose="020B0502040204020203" pitchFamily="34" charset="0"/>
              </a:rPr>
            </a:br>
            <a:r>
              <a:rPr lang="en-IN" sz="4400" b="1" dirty="0">
                <a:effectLst/>
                <a:latin typeface="Times New Roman" panose="02020603050405020304" pitchFamily="18" charset="0"/>
                <a:ea typeface="Calibri" panose="020F0502020204030204" pitchFamily="34" charset="0"/>
                <a:cs typeface="Raavi" panose="020B0502040204020203" pitchFamily="34" charset="0"/>
              </a:rPr>
              <a:t> </a:t>
            </a:r>
            <a:br>
              <a:rPr lang="en-US" sz="1800" dirty="0">
                <a:effectLst/>
                <a:latin typeface="Calibri" panose="020F0502020204030204" pitchFamily="34" charset="0"/>
                <a:ea typeface="Calibri" panose="020F0502020204030204" pitchFamily="34" charset="0"/>
                <a:cs typeface="Raavi" panose="020B0502040204020203" pitchFamily="34"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B874740-4921-4C4A-8BFD-A85FCA3D8BE5}"/>
              </a:ext>
            </a:extLst>
          </p:cNvPr>
          <p:cNvSpPr txBox="1"/>
          <p:nvPr/>
        </p:nvSpPr>
        <p:spPr>
          <a:xfrm>
            <a:off x="245659" y="1945763"/>
            <a:ext cx="11700682" cy="4503156"/>
          </a:xfrm>
          <a:prstGeom prst="rect">
            <a:avLst/>
          </a:prstGeom>
          <a:noFill/>
        </p:spPr>
        <p:txBody>
          <a:bodyPr wrap="square">
            <a:spAutoFit/>
          </a:bodyPr>
          <a:lstStyle/>
          <a:p>
            <a:pPr marL="0" marR="0" algn="just" fontAlgn="base">
              <a:lnSpc>
                <a:spcPct val="107000"/>
              </a:lnSpc>
              <a:spcBef>
                <a:spcPts val="0"/>
              </a:spcBef>
              <a:spcAft>
                <a:spcPts val="900"/>
              </a:spcAft>
            </a:pPr>
            <a:r>
              <a:rPr lang="en-IN" sz="2400" b="1" dirty="0">
                <a:solidFill>
                  <a:srgbClr val="000000"/>
                </a:solidFill>
                <a:effectLst/>
                <a:ea typeface="Times New Roman" panose="02020603050405020304" pitchFamily="18" charset="0"/>
                <a:cs typeface="Raavi" panose="020B0502040204020203" pitchFamily="34" charset="0"/>
              </a:rPr>
              <a:t>Quantum cryptography</a:t>
            </a:r>
            <a:endParaRPr lang="en-US" sz="2400" b="1" dirty="0">
              <a:solidFill>
                <a:srgbClr val="2F5496"/>
              </a:solidFill>
              <a:effectLst/>
              <a:ea typeface="Times New Roman" panose="02020603050405020304" pitchFamily="18" charset="0"/>
              <a:cs typeface="Raavi" panose="020B0502040204020203" pitchFamily="34" charset="0"/>
            </a:endParaRPr>
          </a:p>
          <a:p>
            <a:pPr marL="0" marR="0" algn="just">
              <a:lnSpc>
                <a:spcPct val="115000"/>
              </a:lnSpc>
              <a:spcBef>
                <a:spcPts val="0"/>
              </a:spcBef>
              <a:spcAft>
                <a:spcPts val="800"/>
              </a:spcAft>
            </a:pPr>
            <a:r>
              <a:rPr lang="en-IN" sz="2400" dirty="0">
                <a:solidFill>
                  <a:srgbClr val="000000"/>
                </a:solidFill>
                <a:effectLst/>
                <a:ea typeface="Calibri" panose="020F0502020204030204" pitchFamily="34" charset="0"/>
                <a:cs typeface="Raavi" panose="020B0502040204020203" pitchFamily="34" charset="0"/>
              </a:rPr>
              <a:t>While the problem of noise is a serious challenge in the implementation of quantum computers, it isn’t so in quantum cryptography, where people are dealing with single qubits, for single qubits can remain isolated from the environment for significant amount of time. Using quantum cryptography, two users can exchange the very large numbers known as keys, which secure data, without anyone able to break the key exchange system. Such key exchange could help secure communications between satellites and naval ships. But the actual encryption algorithm used after the key is exchanged remains classical, and therefore the encryption is theoretically no stronger than classical methods.</a:t>
            </a:r>
            <a:endParaRPr lang="en-US" sz="2400" dirty="0">
              <a:effectLst/>
              <a:ea typeface="Calibri" panose="020F0502020204030204" pitchFamily="34" charset="0"/>
              <a:cs typeface="Raavi" panose="020B0502040204020203" pitchFamily="34" charset="0"/>
            </a:endParaRPr>
          </a:p>
          <a:p>
            <a:pPr marL="342900" marR="0" lvl="0" indent="-342900" algn="just">
              <a:lnSpc>
                <a:spcPct val="115000"/>
              </a:lnSpc>
              <a:spcBef>
                <a:spcPts val="0"/>
              </a:spcBef>
              <a:spcAft>
                <a:spcPts val="800"/>
              </a:spcAft>
              <a:buFont typeface="Wingdings" panose="05000000000000000000" pitchFamily="2" charset="2"/>
              <a:buChar char=""/>
            </a:pPr>
            <a:endParaRPr lang="en-US" sz="2400" dirty="0">
              <a:effectLst/>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val="1850798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14</a:t>
            </a:fld>
            <a:endParaRPr lang="en-US" dirty="0"/>
          </a:p>
        </p:txBody>
      </p:sp>
      <p:sp>
        <p:nvSpPr>
          <p:cNvPr id="8" name="Title 7"/>
          <p:cNvSpPr txBox="1">
            <a:spLocks noGrp="1" noChangeArrowheads="1"/>
          </p:cNvSpPr>
          <p:nvPr>
            <p:ph type="title"/>
          </p:nvPr>
        </p:nvSpPr>
        <p:spPr bwMode="auto">
          <a:xfrm>
            <a:off x="1080876" y="64279"/>
            <a:ext cx="1035865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IN" sz="4400" b="1" dirty="0">
                <a:effectLst/>
                <a:latin typeface="Times New Roman" panose="02020603050405020304" pitchFamily="18" charset="0"/>
                <a:ea typeface="Calibri" panose="020F0502020204030204" pitchFamily="34" charset="0"/>
                <a:cs typeface="Raavi" panose="020B0502040204020203" pitchFamily="34" charset="0"/>
              </a:rPr>
              <a:t>HISTORY </a:t>
            </a:r>
            <a:br>
              <a:rPr lang="en-US" sz="1800" dirty="0">
                <a:effectLst/>
                <a:latin typeface="Calibri" panose="020F0502020204030204" pitchFamily="34" charset="0"/>
                <a:ea typeface="Calibri" panose="020F0502020204030204" pitchFamily="34" charset="0"/>
                <a:cs typeface="Raavi" panose="020B0502040204020203" pitchFamily="34"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B874740-4921-4C4A-8BFD-A85FCA3D8BE5}"/>
              </a:ext>
            </a:extLst>
          </p:cNvPr>
          <p:cNvSpPr txBox="1"/>
          <p:nvPr/>
        </p:nvSpPr>
        <p:spPr>
          <a:xfrm>
            <a:off x="95534" y="1369344"/>
            <a:ext cx="11700682" cy="5164171"/>
          </a:xfrm>
          <a:prstGeom prst="rect">
            <a:avLst/>
          </a:prstGeom>
          <a:noFill/>
        </p:spPr>
        <p:txBody>
          <a:bodyPr wrap="square">
            <a:spAutoFit/>
          </a:bodyPr>
          <a:lstStyle/>
          <a:p>
            <a:pPr marL="342900" marR="0" lvl="0" indent="-342900" algn="just">
              <a:lnSpc>
                <a:spcPct val="115000"/>
              </a:lnSpc>
              <a:spcBef>
                <a:spcPts val="0"/>
              </a:spcBef>
              <a:spcAft>
                <a:spcPts val="800"/>
              </a:spcAft>
              <a:buFont typeface="Wingdings" panose="05000000000000000000" pitchFamily="2" charset="2"/>
              <a:buChar char=""/>
            </a:pPr>
            <a:r>
              <a:rPr lang="en-IN" sz="2400" dirty="0">
                <a:solidFill>
                  <a:srgbClr val="000000"/>
                </a:solidFill>
                <a:effectLst/>
                <a:ea typeface="Calibri" panose="020F0502020204030204" pitchFamily="34" charset="0"/>
                <a:cs typeface="Raavi" panose="020B0502040204020203" pitchFamily="34" charset="0"/>
              </a:rPr>
              <a:t>In 1998 Isaac Chuang of the </a:t>
            </a:r>
            <a:r>
              <a:rPr lang="en-IN" sz="2400" u="none" strike="noStrike" dirty="0">
                <a:solidFill>
                  <a:srgbClr val="000000"/>
                </a:solidFill>
                <a:effectLst/>
                <a:ea typeface="Calibri" panose="020F0502020204030204" pitchFamily="34" charset="0"/>
                <a:cs typeface="Raavi" panose="020B0502040204020203" pitchFamily="34" charset="0"/>
                <a:hlinkClick r:id="rId2"/>
              </a:rPr>
              <a:t>Los Alamos National Laboratory</a:t>
            </a:r>
            <a:r>
              <a:rPr lang="en-IN" sz="2400" dirty="0">
                <a:solidFill>
                  <a:srgbClr val="000000"/>
                </a:solidFill>
                <a:effectLst/>
                <a:ea typeface="Calibri" panose="020F0502020204030204" pitchFamily="34" charset="0"/>
                <a:cs typeface="Raavi" panose="020B0502040204020203" pitchFamily="34" charset="0"/>
              </a:rPr>
              <a:t>, Neil </a:t>
            </a:r>
            <a:r>
              <a:rPr lang="en-IN" sz="2400" dirty="0" err="1">
                <a:solidFill>
                  <a:srgbClr val="000000"/>
                </a:solidFill>
                <a:effectLst/>
                <a:ea typeface="Calibri" panose="020F0502020204030204" pitchFamily="34" charset="0"/>
                <a:cs typeface="Raavi" panose="020B0502040204020203" pitchFamily="34" charset="0"/>
              </a:rPr>
              <a:t>Gershenfeld</a:t>
            </a:r>
            <a:r>
              <a:rPr lang="en-IN" sz="2400" dirty="0">
                <a:solidFill>
                  <a:srgbClr val="000000"/>
                </a:solidFill>
                <a:effectLst/>
                <a:ea typeface="Calibri" panose="020F0502020204030204" pitchFamily="34" charset="0"/>
                <a:cs typeface="Raavi" panose="020B0502040204020203" pitchFamily="34" charset="0"/>
              </a:rPr>
              <a:t> of the </a:t>
            </a:r>
            <a:r>
              <a:rPr lang="en-IN" sz="2400" u="none" strike="noStrike" dirty="0">
                <a:solidFill>
                  <a:srgbClr val="000000"/>
                </a:solidFill>
                <a:effectLst/>
                <a:ea typeface="Calibri" panose="020F0502020204030204" pitchFamily="34" charset="0"/>
                <a:cs typeface="Raavi" panose="020B0502040204020203" pitchFamily="34" charset="0"/>
                <a:hlinkClick r:id="rId3"/>
              </a:rPr>
              <a:t>Massachusetts Institute of Technology</a:t>
            </a:r>
            <a:r>
              <a:rPr lang="en-IN" sz="2400" dirty="0">
                <a:solidFill>
                  <a:srgbClr val="000000"/>
                </a:solidFill>
                <a:effectLst/>
                <a:ea typeface="Calibri" panose="020F0502020204030204" pitchFamily="34" charset="0"/>
                <a:cs typeface="Raavi" panose="020B0502040204020203" pitchFamily="34" charset="0"/>
              </a:rPr>
              <a:t> (MIT), and Mark Kubinec of the University of California at Berkeley created the first quantum computer (2-qubit) that could be loaded with data and output a solution. Although their system was </a:t>
            </a:r>
            <a:r>
              <a:rPr lang="en-IN" sz="2400" u="none" strike="noStrike" dirty="0">
                <a:solidFill>
                  <a:srgbClr val="000000"/>
                </a:solidFill>
                <a:effectLst/>
                <a:ea typeface="Calibri" panose="020F0502020204030204" pitchFamily="34" charset="0"/>
                <a:cs typeface="Raavi" panose="020B0502040204020203" pitchFamily="34" charset="0"/>
                <a:hlinkClick r:id="rId4"/>
              </a:rPr>
              <a:t>coherent</a:t>
            </a:r>
            <a:r>
              <a:rPr lang="en-IN" sz="2400" dirty="0">
                <a:solidFill>
                  <a:srgbClr val="000000"/>
                </a:solidFill>
                <a:effectLst/>
                <a:ea typeface="Calibri" panose="020F0502020204030204" pitchFamily="34" charset="0"/>
                <a:cs typeface="Raavi" panose="020B0502040204020203" pitchFamily="34" charset="0"/>
              </a:rPr>
              <a:t> for only a few nanoseconds and trivial from the perspective of solving meaningful problems, it demonstrated the principles of quantum computation. Rather than trying to isolate a few subatomic particles, they dissolved a large number of chloroform molecules (CHCL</a:t>
            </a:r>
            <a:r>
              <a:rPr lang="en-IN" sz="2400" baseline="-25000" dirty="0">
                <a:solidFill>
                  <a:srgbClr val="000000"/>
                </a:solidFill>
                <a:effectLst/>
                <a:ea typeface="Calibri" panose="020F0502020204030204" pitchFamily="34" charset="0"/>
                <a:cs typeface="Raavi" panose="020B0502040204020203" pitchFamily="34" charset="0"/>
              </a:rPr>
              <a:t>3</a:t>
            </a:r>
            <a:r>
              <a:rPr lang="en-IN" sz="2400" dirty="0">
                <a:solidFill>
                  <a:srgbClr val="000000"/>
                </a:solidFill>
                <a:effectLst/>
                <a:ea typeface="Calibri" panose="020F0502020204030204" pitchFamily="34" charset="0"/>
                <a:cs typeface="Raavi" panose="020B0502040204020203" pitchFamily="34" charset="0"/>
              </a:rPr>
              <a:t>) in water at room temperature and applied a </a:t>
            </a:r>
            <a:r>
              <a:rPr lang="en-IN" sz="2400" u="none" strike="noStrike" dirty="0">
                <a:solidFill>
                  <a:srgbClr val="000000"/>
                </a:solidFill>
                <a:effectLst/>
                <a:ea typeface="Calibri" panose="020F0502020204030204" pitchFamily="34" charset="0"/>
                <a:cs typeface="Raavi" panose="020B0502040204020203" pitchFamily="34" charset="0"/>
                <a:hlinkClick r:id="rId5"/>
              </a:rPr>
              <a:t>magnetic field</a:t>
            </a:r>
            <a:r>
              <a:rPr lang="en-IN" sz="2400" dirty="0">
                <a:solidFill>
                  <a:srgbClr val="000000"/>
                </a:solidFill>
                <a:effectLst/>
                <a:ea typeface="Calibri" panose="020F0502020204030204" pitchFamily="34" charset="0"/>
                <a:cs typeface="Raavi" panose="020B0502040204020203" pitchFamily="34" charset="0"/>
              </a:rPr>
              <a:t> to orient the spins of the carbon and hydrogen nuclei in the chloroform. (Because ordinary carbon has no magnetic </a:t>
            </a:r>
            <a:r>
              <a:rPr lang="en-IN" sz="2400" u="none" strike="noStrike" dirty="0">
                <a:solidFill>
                  <a:srgbClr val="000000"/>
                </a:solidFill>
                <a:effectLst/>
                <a:ea typeface="Calibri" panose="020F0502020204030204" pitchFamily="34" charset="0"/>
                <a:cs typeface="Raavi" panose="020B0502040204020203" pitchFamily="34" charset="0"/>
                <a:hlinkClick r:id="rId6"/>
              </a:rPr>
              <a:t>spin</a:t>
            </a:r>
            <a:r>
              <a:rPr lang="en-IN" sz="2400" dirty="0">
                <a:solidFill>
                  <a:srgbClr val="000000"/>
                </a:solidFill>
                <a:effectLst/>
                <a:ea typeface="Calibri" panose="020F0502020204030204" pitchFamily="34" charset="0"/>
                <a:cs typeface="Raavi" panose="020B0502040204020203" pitchFamily="34" charset="0"/>
              </a:rPr>
              <a:t>, their solution used an isotope, carbon-13.) A spin parallel to the external magnetic field could then be interpreted as a 1 and an antiparallel spin as 0, and the hydrogen nuclei and carbon-13 nuclei could be treated collectively as a 2-qubit system.. </a:t>
            </a:r>
            <a:endParaRPr lang="en-US" sz="2400" dirty="0">
              <a:effectLst/>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val="1379236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15</a:t>
            </a:fld>
            <a:endParaRPr lang="en-US" dirty="0"/>
          </a:p>
        </p:txBody>
      </p:sp>
      <p:sp>
        <p:nvSpPr>
          <p:cNvPr id="8" name="Title 7"/>
          <p:cNvSpPr txBox="1">
            <a:spLocks noGrp="1" noChangeArrowheads="1"/>
          </p:cNvSpPr>
          <p:nvPr>
            <p:ph type="title"/>
          </p:nvPr>
        </p:nvSpPr>
        <p:spPr bwMode="auto">
          <a:xfrm>
            <a:off x="234051" y="300111"/>
            <a:ext cx="11427725"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ea typeface="Karla" pitchFamily="2" charset="0"/>
                <a:cs typeface="Times New Roman" pitchFamily="18" charset="0"/>
              </a:rPr>
              <a:t>SUMMARY</a:t>
            </a:r>
            <a:br>
              <a:rPr lang="en-US" sz="4400" b="1" dirty="0">
                <a:latin typeface="+mn-lt"/>
                <a:ea typeface="Karla" pitchFamily="2" charset="0"/>
                <a:cs typeface="Karla" pitchFamily="2"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627796" y="1931314"/>
            <a:ext cx="11136573" cy="3913059"/>
          </a:xfrm>
          <a:prstGeom prst="rect">
            <a:avLst/>
          </a:prstGeom>
          <a:noFill/>
          <a:ln>
            <a:solidFill>
              <a:schemeClr val="tx1"/>
            </a:solidFill>
          </a:ln>
        </p:spPr>
        <p:txBody>
          <a:bodyPr wrap="square" rtlCol="0">
            <a:spAutoFit/>
          </a:bodyPr>
          <a:lstStyle/>
          <a:p>
            <a:pPr marL="457200" indent="-457200" algn="just">
              <a:lnSpc>
                <a:spcPct val="150000"/>
              </a:lnSpc>
              <a:buFont typeface="Wingdings" panose="05000000000000000000" pitchFamily="2" charset="2"/>
              <a:buChar char="q"/>
            </a:pPr>
            <a:r>
              <a:rPr lang="en-IN" sz="2400" dirty="0">
                <a:solidFill>
                  <a:srgbClr val="000000"/>
                </a:solidFill>
                <a:effectLst/>
                <a:ea typeface="Calibri" panose="020F0502020204030204" pitchFamily="34" charset="0"/>
                <a:cs typeface="Raavi" panose="020B0502040204020203" pitchFamily="34" charset="0"/>
              </a:rPr>
              <a:t>Quantum computing is the use of quantum-mechanical phenomena.</a:t>
            </a:r>
          </a:p>
          <a:p>
            <a:pPr marL="457200" indent="-457200" algn="just">
              <a:lnSpc>
                <a:spcPct val="150000"/>
              </a:lnSpc>
              <a:buFont typeface="Wingdings" panose="05000000000000000000" pitchFamily="2" charset="2"/>
              <a:buChar char="q"/>
            </a:pPr>
            <a:r>
              <a:rPr lang="en-IN" sz="2400" dirty="0">
                <a:effectLst/>
                <a:ea typeface="Calibri" panose="020F0502020204030204" pitchFamily="34" charset="0"/>
                <a:cs typeface="Raavi" panose="020B0502040204020203" pitchFamily="34" charset="0"/>
              </a:rPr>
              <a:t>Quantum computers, on the other hand, use qubits, which are typically subatomic particles such as electrons or photons</a:t>
            </a:r>
            <a:r>
              <a:rPr lang="en-IN" sz="2400" dirty="0">
                <a:solidFill>
                  <a:srgbClr val="000000"/>
                </a:solidFill>
                <a:ea typeface="Calibri" panose="020F0502020204030204" pitchFamily="34" charset="0"/>
                <a:cs typeface="Raavi" panose="020B0502040204020203" pitchFamily="34" charset="0"/>
              </a:rPr>
              <a:t>.</a:t>
            </a:r>
          </a:p>
          <a:p>
            <a:pPr marL="457200" indent="-457200" algn="just">
              <a:lnSpc>
                <a:spcPct val="150000"/>
              </a:lnSpc>
              <a:buFont typeface="Wingdings" panose="05000000000000000000" pitchFamily="2" charset="2"/>
              <a:buChar char="q"/>
            </a:pPr>
            <a:r>
              <a:rPr lang="en-IN" sz="2400" dirty="0">
                <a:solidFill>
                  <a:srgbClr val="000000"/>
                </a:solidFill>
                <a:effectLst/>
                <a:ea typeface="Calibri" panose="020F0502020204030204" pitchFamily="34" charset="0"/>
                <a:cs typeface="Raavi" panose="020B0502040204020203" pitchFamily="34" charset="0"/>
              </a:rPr>
              <a:t>While the problem of noise is a serious challenge in the implementation of quantum computers, it isn’t so in quantum cryptography, where people are dealing with single qubits, for single qubits can remain isolated from the environment for significant amount of time.</a:t>
            </a:r>
            <a:endParaRPr lang="en-US" sz="2400" dirty="0"/>
          </a:p>
        </p:txBody>
      </p:sp>
    </p:spTree>
    <p:extLst>
      <p:ext uri="{BB962C8B-B14F-4D97-AF65-F5344CB8AC3E}">
        <p14:creationId xmlns:p14="http://schemas.microsoft.com/office/powerpoint/2010/main" val="3695358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16</a:t>
            </a:fld>
            <a:endParaRPr lang="en-US" dirty="0"/>
          </a:p>
        </p:txBody>
      </p:sp>
      <p:sp>
        <p:nvSpPr>
          <p:cNvPr id="8" name="Title 7"/>
          <p:cNvSpPr txBox="1">
            <a:spLocks noGrp="1" noChangeArrowheads="1"/>
          </p:cNvSpPr>
          <p:nvPr>
            <p:ph type="title"/>
          </p:nvPr>
        </p:nvSpPr>
        <p:spPr bwMode="auto">
          <a:xfrm>
            <a:off x="382137" y="323090"/>
            <a:ext cx="11427725"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ea typeface="Karla" pitchFamily="2" charset="0"/>
                <a:cs typeface="Times New Roman" pitchFamily="18" charset="0"/>
              </a:rPr>
              <a:t>FAQ</a:t>
            </a:r>
            <a:br>
              <a:rPr lang="en-US" sz="4400" b="1" dirty="0">
                <a:latin typeface="+mn-lt"/>
                <a:ea typeface="Karla" pitchFamily="2" charset="0"/>
                <a:cs typeface="Karla" pitchFamily="2"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673289" y="2655615"/>
            <a:ext cx="11136573" cy="1571712"/>
          </a:xfrm>
          <a:prstGeom prst="rect">
            <a:avLst/>
          </a:prstGeom>
          <a:noFill/>
          <a:ln>
            <a:solidFill>
              <a:schemeClr val="tx1"/>
            </a:solidFill>
          </a:ln>
        </p:spPr>
        <p:txBody>
          <a:bodyPr wrap="square" rtlCol="0">
            <a:spAutoFit/>
          </a:bodyPr>
          <a:lstStyle/>
          <a:p>
            <a:pPr marL="0" marR="0" algn="just">
              <a:lnSpc>
                <a:spcPct val="115000"/>
              </a:lnSpc>
              <a:spcBef>
                <a:spcPts val="0"/>
              </a:spcBef>
              <a:spcAft>
                <a:spcPts val="800"/>
              </a:spcAft>
              <a:tabLst>
                <a:tab pos="1980565" algn="l"/>
              </a:tabLst>
            </a:pPr>
            <a:r>
              <a:rPr lang="en-US" sz="2400" dirty="0">
                <a:effectLst/>
                <a:ea typeface="Calibri" panose="020F0502020204030204" pitchFamily="34" charset="0"/>
                <a:cs typeface="Raavi" panose="020B0502040204020203" pitchFamily="34" charset="0"/>
              </a:rPr>
              <a:t>1.What leads to origin of Quantum Computing?</a:t>
            </a:r>
          </a:p>
          <a:p>
            <a:pPr marL="0" marR="0" algn="just">
              <a:lnSpc>
                <a:spcPct val="115000"/>
              </a:lnSpc>
              <a:spcBef>
                <a:spcPts val="0"/>
              </a:spcBef>
              <a:spcAft>
                <a:spcPts val="800"/>
              </a:spcAft>
              <a:tabLst>
                <a:tab pos="1980565" algn="l"/>
              </a:tabLst>
            </a:pPr>
            <a:r>
              <a:rPr lang="en-US" sz="2400" dirty="0">
                <a:ea typeface="Calibri" panose="020F0502020204030204" pitchFamily="34" charset="0"/>
                <a:cs typeface="Raavi" panose="020B0502040204020203" pitchFamily="34" charset="0"/>
              </a:rPr>
              <a:t>2.Define Quantum Computing.</a:t>
            </a:r>
          </a:p>
          <a:p>
            <a:pPr marL="0" marR="0" algn="just">
              <a:lnSpc>
                <a:spcPct val="115000"/>
              </a:lnSpc>
              <a:spcBef>
                <a:spcPts val="0"/>
              </a:spcBef>
              <a:spcAft>
                <a:spcPts val="800"/>
              </a:spcAft>
              <a:tabLst>
                <a:tab pos="1980565" algn="l"/>
              </a:tabLst>
            </a:pPr>
            <a:r>
              <a:rPr lang="en-US" sz="2400" dirty="0">
                <a:effectLst/>
                <a:ea typeface="Calibri" panose="020F0502020204030204" pitchFamily="34" charset="0"/>
                <a:cs typeface="Raavi" panose="020B0502040204020203" pitchFamily="34" charset="0"/>
              </a:rPr>
              <a:t>3.What are future applications of </a:t>
            </a:r>
            <a:r>
              <a:rPr lang="en-US" sz="2400" dirty="0">
                <a:ea typeface="Calibri" panose="020F0502020204030204" pitchFamily="34" charset="0"/>
                <a:cs typeface="Raavi" panose="020B0502040204020203" pitchFamily="34" charset="0"/>
              </a:rPr>
              <a:t>Quantum Computing?</a:t>
            </a:r>
            <a:endParaRPr lang="en-US" sz="2400" dirty="0">
              <a:effectLst/>
              <a:ea typeface="Calibri" panose="020F0502020204030204" pitchFamily="34" charset="0"/>
              <a:cs typeface="Raavi" panose="020B0502040204020203" pitchFamily="34" charset="0"/>
            </a:endParaRPr>
          </a:p>
        </p:txBody>
      </p:sp>
    </p:spTree>
    <p:extLst>
      <p:ext uri="{BB962C8B-B14F-4D97-AF65-F5344CB8AC3E}">
        <p14:creationId xmlns:p14="http://schemas.microsoft.com/office/powerpoint/2010/main" val="555230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2800" dirty="0"/>
              <a:t>  </a:t>
            </a:r>
            <a:endParaRPr lang="en-US" dirty="0"/>
          </a:p>
        </p:txBody>
      </p:sp>
      <p:sp>
        <p:nvSpPr>
          <p:cNvPr id="3" name="Content Placeholder 2"/>
          <p:cNvSpPr>
            <a:spLocks noGrp="1"/>
          </p:cNvSpPr>
          <p:nvPr>
            <p:ph idx="1"/>
          </p:nvPr>
        </p:nvSpPr>
        <p:spPr>
          <a:xfrm>
            <a:off x="838200" y="1803400"/>
            <a:ext cx="10515600" cy="4694901"/>
          </a:xfrm>
        </p:spPr>
        <p:txBody>
          <a:bodyPr>
            <a:normAutofit/>
          </a:bodyPr>
          <a:lstStyle/>
          <a:p>
            <a:pPr marL="0" marR="0" algn="just">
              <a:lnSpc>
                <a:spcPct val="150000"/>
              </a:lnSpc>
              <a:spcBef>
                <a:spcPts val="0"/>
              </a:spcBef>
              <a:spcAft>
                <a:spcPts val="800"/>
              </a:spcAft>
            </a:pPr>
            <a:r>
              <a:rPr lang="en-IN" sz="1800" b="1" dirty="0">
                <a:effectLst/>
                <a:latin typeface="Times New Roman" panose="02020603050405020304" pitchFamily="18" charset="0"/>
                <a:ea typeface="Calibri" panose="020F0502020204030204" pitchFamily="34" charset="0"/>
                <a:cs typeface="Raavi" panose="020B0502040204020203" pitchFamily="34" charset="0"/>
              </a:rPr>
              <a:t>Image References </a:t>
            </a:r>
            <a:endParaRPr lang="en-US" sz="1800" dirty="0">
              <a:effectLst/>
              <a:latin typeface="Calibri" panose="020F0502020204030204" pitchFamily="34" charset="0"/>
              <a:ea typeface="Calibri" panose="020F0502020204030204" pitchFamily="34" charset="0"/>
              <a:cs typeface="Raavi" panose="020B0502040204020203" pitchFamily="34" charset="0"/>
            </a:endParaRPr>
          </a:p>
          <a:p>
            <a:pPr marL="0" marR="0" algn="just">
              <a:lnSpc>
                <a:spcPct val="150000"/>
              </a:lnSpc>
              <a:spcBef>
                <a:spcPts val="0"/>
              </a:spcBef>
              <a:spcAft>
                <a:spcPts val="800"/>
              </a:spcAft>
            </a:pPr>
            <a:r>
              <a:rPr lang="en-IN" sz="1800" dirty="0">
                <a:effectLst/>
                <a:latin typeface="Times New Roman" panose="02020603050405020304" pitchFamily="18" charset="0"/>
                <a:ea typeface="Calibri" panose="020F0502020204030204" pitchFamily="34" charset="0"/>
                <a:cs typeface="Raavi" panose="020B0502040204020203" pitchFamily="34" charset="0"/>
              </a:rPr>
              <a:t>[1]</a:t>
            </a:r>
            <a:r>
              <a:rPr lang="en-IN" sz="1800" u="sng" dirty="0">
                <a:solidFill>
                  <a:srgbClr val="0000FF"/>
                </a:solidFill>
                <a:effectLst/>
                <a:latin typeface="Times New Roman" panose="02020603050405020304" pitchFamily="18" charset="0"/>
                <a:ea typeface="Calibri" panose="020F0502020204030204" pitchFamily="34" charset="0"/>
                <a:cs typeface="Raavi" panose="020B0502040204020203" pitchFamily="34" charset="0"/>
                <a:hlinkClick r:id="rId2"/>
              </a:rPr>
              <a:t>https://www.theguardian.com/commentisfree/2019/sep/28/google-quantum-computer-internet-security- threat</a:t>
            </a:r>
            <a:endParaRPr lang="en-US" sz="1800" dirty="0">
              <a:effectLst/>
              <a:latin typeface="Calibri" panose="020F0502020204030204" pitchFamily="34" charset="0"/>
              <a:ea typeface="Calibri" panose="020F0502020204030204" pitchFamily="34" charset="0"/>
              <a:cs typeface="Raavi" panose="020B0502040204020203" pitchFamily="34" charset="0"/>
            </a:endParaRPr>
          </a:p>
          <a:p>
            <a:pPr marL="0" marR="0" algn="just">
              <a:lnSpc>
                <a:spcPct val="150000"/>
              </a:lnSpc>
              <a:spcBef>
                <a:spcPts val="0"/>
              </a:spcBef>
              <a:spcAft>
                <a:spcPts val="800"/>
              </a:spcAft>
            </a:pPr>
            <a:r>
              <a:rPr lang="en-IN" sz="1800" dirty="0">
                <a:effectLst/>
                <a:latin typeface="Times New Roman" panose="02020603050405020304" pitchFamily="18" charset="0"/>
                <a:ea typeface="Calibri" panose="020F0502020204030204" pitchFamily="34" charset="0"/>
                <a:cs typeface="Raavi" panose="020B0502040204020203" pitchFamily="34" charset="0"/>
              </a:rPr>
              <a:t>[2] </a:t>
            </a:r>
            <a:r>
              <a:rPr lang="en-IN" sz="1800" u="sng" dirty="0">
                <a:solidFill>
                  <a:srgbClr val="0000FF"/>
                </a:solidFill>
                <a:effectLst/>
                <a:latin typeface="Times New Roman" panose="02020603050405020304" pitchFamily="18" charset="0"/>
                <a:ea typeface="Calibri" panose="020F0502020204030204" pitchFamily="34" charset="0"/>
                <a:cs typeface="Raavi" panose="020B0502040204020203" pitchFamily="34" charset="0"/>
                <a:hlinkClick r:id="rId3"/>
              </a:rPr>
              <a:t>https://physics.aps.org/articles/v8/87</a:t>
            </a:r>
            <a:endParaRPr lang="en-US" sz="1800" dirty="0">
              <a:effectLst/>
              <a:latin typeface="Calibri" panose="020F0502020204030204" pitchFamily="34" charset="0"/>
              <a:ea typeface="Calibri" panose="020F0502020204030204" pitchFamily="34" charset="0"/>
              <a:cs typeface="Raavi" panose="020B0502040204020203" pitchFamily="34" charset="0"/>
            </a:endParaRPr>
          </a:p>
          <a:p>
            <a:pPr marL="0" marR="0" algn="just">
              <a:lnSpc>
                <a:spcPct val="150000"/>
              </a:lnSpc>
              <a:spcBef>
                <a:spcPts val="0"/>
              </a:spcBef>
              <a:spcAft>
                <a:spcPts val="800"/>
              </a:spcAft>
            </a:pPr>
            <a:r>
              <a:rPr lang="en-IN" sz="1800" dirty="0">
                <a:effectLst/>
                <a:latin typeface="Times New Roman" panose="02020603050405020304" pitchFamily="18" charset="0"/>
                <a:ea typeface="Calibri" panose="020F0502020204030204" pitchFamily="34" charset="0"/>
                <a:cs typeface="Raavi" panose="020B0502040204020203" pitchFamily="34" charset="0"/>
              </a:rPr>
              <a:t>[3] </a:t>
            </a:r>
            <a:r>
              <a:rPr lang="en-IN" sz="1800" u="sng" dirty="0">
                <a:solidFill>
                  <a:srgbClr val="0000FF"/>
                </a:solidFill>
                <a:effectLst/>
                <a:latin typeface="Times New Roman" panose="02020603050405020304" pitchFamily="18" charset="0"/>
                <a:ea typeface="Calibri" panose="020F0502020204030204" pitchFamily="34" charset="0"/>
                <a:cs typeface="Raavi" panose="020B0502040204020203" pitchFamily="34" charset="0"/>
                <a:hlinkClick r:id="rId4"/>
              </a:rPr>
              <a:t>https://www.caltech.edu/about/news/feynmans-nobel-year-48524</a:t>
            </a:r>
            <a:endParaRPr lang="en-US" sz="1800" dirty="0">
              <a:effectLst/>
              <a:latin typeface="Calibri" panose="020F0502020204030204" pitchFamily="34" charset="0"/>
              <a:ea typeface="Calibri" panose="020F0502020204030204" pitchFamily="34" charset="0"/>
              <a:cs typeface="Raavi" panose="020B0502040204020203" pitchFamily="34" charset="0"/>
            </a:endParaRPr>
          </a:p>
          <a:p>
            <a:pPr marL="0" marR="0" algn="just">
              <a:lnSpc>
                <a:spcPct val="115000"/>
              </a:lnSpc>
              <a:spcBef>
                <a:spcPts val="0"/>
              </a:spcBef>
              <a:spcAft>
                <a:spcPts val="800"/>
              </a:spcAft>
            </a:pPr>
            <a:r>
              <a:rPr lang="en-IN" sz="1800" b="1" dirty="0">
                <a:effectLst/>
                <a:latin typeface="Times New Roman" panose="02020603050405020304" pitchFamily="18" charset="0"/>
                <a:ea typeface="Calibri" panose="020F0502020204030204" pitchFamily="34" charset="0"/>
                <a:cs typeface="Raavi" panose="020B0502040204020203" pitchFamily="34" charset="0"/>
              </a:rPr>
              <a:t>References </a:t>
            </a:r>
            <a:endParaRPr lang="en-US" sz="1800" dirty="0">
              <a:effectLst/>
              <a:latin typeface="Calibri" panose="020F0502020204030204" pitchFamily="34" charset="0"/>
              <a:ea typeface="Calibri" panose="020F0502020204030204" pitchFamily="34" charset="0"/>
              <a:cs typeface="Raavi" panose="020B0502040204020203" pitchFamily="34" charset="0"/>
            </a:endParaRPr>
          </a:p>
          <a:p>
            <a:pPr marL="342900" marR="0" lvl="0" indent="-342900" algn="just">
              <a:lnSpc>
                <a:spcPct val="150000"/>
              </a:lnSpc>
              <a:spcBef>
                <a:spcPts val="0"/>
              </a:spcBef>
              <a:spcAft>
                <a:spcPts val="0"/>
              </a:spcAft>
              <a:buFont typeface="+mj-lt"/>
              <a:buAutoNum type="arabicPeriod"/>
            </a:pPr>
            <a:r>
              <a:rPr lang="en-IN" sz="1800" u="sng" dirty="0">
                <a:solidFill>
                  <a:srgbClr val="0000FF"/>
                </a:solidFill>
                <a:effectLst/>
                <a:latin typeface="Times New Roman" panose="02020603050405020304" pitchFamily="18" charset="0"/>
                <a:ea typeface="Calibri" panose="020F0502020204030204" pitchFamily="34" charset="0"/>
                <a:cs typeface="Raavi" panose="020B0502040204020203" pitchFamily="34" charset="0"/>
                <a:hlinkClick r:id="rId5"/>
              </a:rPr>
              <a:t>https://www.princeton.edu/news/2020/01/21/quantum-computing-opening-new-realms-possibilities</a:t>
            </a:r>
            <a:endParaRPr lang="en-US" sz="1800" dirty="0">
              <a:effectLst/>
              <a:latin typeface="Calibri" panose="020F0502020204030204" pitchFamily="34" charset="0"/>
              <a:ea typeface="Calibri" panose="020F0502020204030204" pitchFamily="34" charset="0"/>
              <a:cs typeface="Raavi" panose="020B0502040204020203" pitchFamily="34" charset="0"/>
            </a:endParaRPr>
          </a:p>
          <a:p>
            <a:pPr marL="342900" marR="0" lvl="0" indent="-342900" algn="just">
              <a:lnSpc>
                <a:spcPct val="150000"/>
              </a:lnSpc>
              <a:spcBef>
                <a:spcPts val="0"/>
              </a:spcBef>
              <a:spcAft>
                <a:spcPts val="800"/>
              </a:spcAft>
              <a:buFont typeface="+mj-lt"/>
              <a:buAutoNum type="arabicPeriod"/>
            </a:pPr>
            <a:r>
              <a:rPr lang="en-IN" sz="1800" u="sng" dirty="0">
                <a:solidFill>
                  <a:srgbClr val="0000FF"/>
                </a:solidFill>
                <a:effectLst/>
                <a:latin typeface="Times New Roman" panose="02020603050405020304" pitchFamily="18" charset="0"/>
                <a:ea typeface="Calibri" panose="020F0502020204030204" pitchFamily="34" charset="0"/>
                <a:cs typeface="Raavi" panose="020B0502040204020203" pitchFamily="34" charset="0"/>
                <a:hlinkClick r:id="rId6"/>
              </a:rPr>
              <a:t>https://www.sciencedaily.com/releases/2020/04/200423130440.htm</a:t>
            </a:r>
            <a:endParaRPr lang="en-US" sz="1800" dirty="0">
              <a:effectLst/>
              <a:latin typeface="Calibri" panose="020F0502020204030204" pitchFamily="34" charset="0"/>
              <a:ea typeface="Calibri" panose="020F0502020204030204" pitchFamily="34" charset="0"/>
              <a:cs typeface="Raavi" panose="020B0502040204020203" pitchFamily="34" charset="0"/>
            </a:endParaRPr>
          </a:p>
          <a:p>
            <a:r>
              <a:rPr lang="en-IN" sz="1800" u="sng" dirty="0">
                <a:solidFill>
                  <a:srgbClr val="0000FF"/>
                </a:solidFill>
                <a:effectLst/>
                <a:latin typeface="Times New Roman" panose="02020603050405020304" pitchFamily="18" charset="0"/>
                <a:ea typeface="Calibri" panose="020F0502020204030204" pitchFamily="34" charset="0"/>
                <a:cs typeface="Raavi" panose="020B0502040204020203" pitchFamily="34" charset="0"/>
                <a:hlinkClick r:id="rId7"/>
              </a:rPr>
              <a:t>https://theconversation.com/a-quantum-computing-future-is-unlikely-due-to-random-hardware-errors-126503</a:t>
            </a:r>
            <a:endParaRPr lang="en-IN" sz="2400" b="1"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17</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2800" dirty="0"/>
              <a:t>  </a:t>
            </a:r>
            <a:endParaRPr lang="en-US" dirty="0"/>
          </a:p>
        </p:txBody>
      </p:sp>
      <p:sp>
        <p:nvSpPr>
          <p:cNvPr id="3" name="Content Placeholder 2"/>
          <p:cNvSpPr>
            <a:spLocks noGrp="1"/>
          </p:cNvSpPr>
          <p:nvPr>
            <p:ph idx="1"/>
          </p:nvPr>
        </p:nvSpPr>
        <p:spPr>
          <a:xfrm>
            <a:off x="838200" y="1803400"/>
            <a:ext cx="10515600" cy="4694901"/>
          </a:xfrm>
        </p:spPr>
        <p:txBody>
          <a:bodyPr>
            <a:normAutofit/>
          </a:bodyPr>
          <a:lstStyle/>
          <a:p>
            <a:r>
              <a:rPr lang="en-IN" sz="2400" b="1" dirty="0"/>
              <a:t>Video link</a:t>
            </a:r>
            <a:endParaRPr lang="en-US" sz="2400" dirty="0">
              <a:effectLst/>
              <a:ea typeface="Calibri" panose="020F0502020204030204" pitchFamily="34" charset="0"/>
              <a:cs typeface="Raavi" panose="020B0502040204020203" pitchFamily="34" charset="0"/>
            </a:endParaRPr>
          </a:p>
          <a:p>
            <a:pPr marL="342900" marR="0" lvl="0" indent="-342900" algn="just">
              <a:lnSpc>
                <a:spcPct val="150000"/>
              </a:lnSpc>
              <a:spcBef>
                <a:spcPts val="0"/>
              </a:spcBef>
              <a:spcAft>
                <a:spcPts val="0"/>
              </a:spcAft>
              <a:buFont typeface="+mj-lt"/>
              <a:buAutoNum type="arabicPeriod"/>
            </a:pPr>
            <a:r>
              <a:rPr lang="en-IN" sz="2400" u="sng" dirty="0">
                <a:effectLst/>
                <a:ea typeface="Calibri" panose="020F0502020204030204" pitchFamily="34" charset="0"/>
                <a:cs typeface="Raavi" panose="020B0502040204020203" pitchFamily="34" charset="0"/>
                <a:hlinkClick r:id="rId2">
                  <a:extLst>
                    <a:ext uri="{A12FA001-AC4F-418D-AE19-62706E023703}">
                      <ahyp:hlinkClr xmlns:ahyp="http://schemas.microsoft.com/office/drawing/2018/hyperlinkcolor" val="tx"/>
                    </a:ext>
                  </a:extLst>
                </a:hlinkClick>
              </a:rPr>
              <a:t>https://www.youtube.com/watch?v=F_Riqjdh2oM</a:t>
            </a:r>
            <a:endParaRPr lang="en-US" sz="2400" dirty="0">
              <a:effectLst/>
              <a:ea typeface="Calibri" panose="020F0502020204030204" pitchFamily="34" charset="0"/>
              <a:cs typeface="Raavi" panose="020B0502040204020203" pitchFamily="34" charset="0"/>
            </a:endParaRPr>
          </a:p>
          <a:p>
            <a:pPr marL="342900" marR="0" lvl="0" indent="-342900" algn="just">
              <a:lnSpc>
                <a:spcPct val="150000"/>
              </a:lnSpc>
              <a:spcBef>
                <a:spcPts val="0"/>
              </a:spcBef>
              <a:spcAft>
                <a:spcPts val="0"/>
              </a:spcAft>
              <a:buFont typeface="+mj-lt"/>
              <a:buAutoNum type="arabicPeriod"/>
            </a:pPr>
            <a:r>
              <a:rPr lang="en-IN" sz="2400" u="sng" dirty="0">
                <a:effectLst/>
                <a:ea typeface="Calibri" panose="020F0502020204030204" pitchFamily="34" charset="0"/>
                <a:cs typeface="Raavi" panose="020B0502040204020203" pitchFamily="34" charset="0"/>
                <a:hlinkClick r:id="rId3">
                  <a:extLst>
                    <a:ext uri="{A12FA001-AC4F-418D-AE19-62706E023703}">
                      <ahyp:hlinkClr xmlns:ahyp="http://schemas.microsoft.com/office/drawing/2018/hyperlinkcolor" val="tx"/>
                    </a:ext>
                  </a:extLst>
                </a:hlinkClick>
              </a:rPr>
              <a:t>https://www.youtube.com/watch?v=OlatlIaqPj8</a:t>
            </a:r>
            <a:endParaRPr lang="en-US" sz="2400" dirty="0">
              <a:effectLst/>
              <a:ea typeface="Calibri" panose="020F0502020204030204" pitchFamily="34" charset="0"/>
              <a:cs typeface="Raavi" panose="020B0502040204020203" pitchFamily="34" charset="0"/>
            </a:endParaRPr>
          </a:p>
          <a:p>
            <a:pPr marL="342900" marR="0" lvl="0" indent="-342900" algn="just">
              <a:lnSpc>
                <a:spcPct val="150000"/>
              </a:lnSpc>
              <a:spcBef>
                <a:spcPts val="0"/>
              </a:spcBef>
              <a:spcAft>
                <a:spcPts val="800"/>
              </a:spcAft>
              <a:buFont typeface="+mj-lt"/>
              <a:buAutoNum type="arabicPeriod"/>
            </a:pPr>
            <a:r>
              <a:rPr lang="en-IN" sz="2400" u="sng" dirty="0">
                <a:effectLst/>
                <a:ea typeface="Calibri" panose="020F0502020204030204" pitchFamily="34" charset="0"/>
                <a:cs typeface="Raavi" panose="020B0502040204020203" pitchFamily="34" charset="0"/>
                <a:hlinkClick r:id="rId4">
                  <a:extLst>
                    <a:ext uri="{A12FA001-AC4F-418D-AE19-62706E023703}">
                      <ahyp:hlinkClr xmlns:ahyp="http://schemas.microsoft.com/office/drawing/2018/hyperlinkcolor" val="tx"/>
                    </a:ext>
                  </a:extLst>
                </a:hlinkClick>
              </a:rPr>
              <a:t>https://www.youtube.com/watch?v=FnPp73F5cnE</a:t>
            </a:r>
            <a:endParaRPr lang="en-US" sz="2400" dirty="0">
              <a:effectLst/>
              <a:ea typeface="Calibri" panose="020F0502020204030204" pitchFamily="34" charset="0"/>
              <a:cs typeface="Raavi" panose="020B0502040204020203" pitchFamily="34" charset="0"/>
            </a:endParaRPr>
          </a:p>
          <a:p>
            <a:pPr marL="0" marR="0" algn="just">
              <a:lnSpc>
                <a:spcPct val="115000"/>
              </a:lnSpc>
              <a:spcBef>
                <a:spcPts val="0"/>
              </a:spcBef>
              <a:spcAft>
                <a:spcPts val="800"/>
              </a:spcAft>
            </a:pPr>
            <a:r>
              <a:rPr lang="en-IN" sz="2400" b="1" dirty="0">
                <a:effectLst/>
                <a:ea typeface="Calibri" panose="020F0502020204030204" pitchFamily="34" charset="0"/>
                <a:cs typeface="Raavi" panose="020B0502040204020203" pitchFamily="34" charset="0"/>
              </a:rPr>
              <a:t>BOOKS</a:t>
            </a:r>
            <a:endParaRPr lang="en-US" sz="2400" b="1" dirty="0">
              <a:effectLst/>
              <a:ea typeface="Calibri" panose="020F0502020204030204" pitchFamily="34" charset="0"/>
              <a:cs typeface="Raavi" panose="020B0502040204020203" pitchFamily="34" charset="0"/>
            </a:endParaRPr>
          </a:p>
          <a:p>
            <a:pPr marL="457200" marR="0" indent="-457200" algn="just">
              <a:lnSpc>
                <a:spcPct val="115000"/>
              </a:lnSpc>
              <a:spcBef>
                <a:spcPts val="0"/>
              </a:spcBef>
              <a:spcAft>
                <a:spcPts val="1000"/>
              </a:spcAft>
              <a:tabLst>
                <a:tab pos="228600" algn="l"/>
              </a:tabLst>
            </a:pPr>
            <a:r>
              <a:rPr lang="en-IN" sz="2400" dirty="0" err="1">
                <a:effectLst/>
                <a:ea typeface="Calibri" panose="020F0502020204030204" pitchFamily="34" charset="0"/>
                <a:cs typeface="Raavi" panose="020B0502040204020203" pitchFamily="34" charset="0"/>
              </a:rPr>
              <a:t>Sahni</a:t>
            </a:r>
            <a:r>
              <a:rPr lang="en-IN" sz="2400" dirty="0">
                <a:effectLst/>
                <a:ea typeface="Calibri" panose="020F0502020204030204" pitchFamily="34" charset="0"/>
                <a:cs typeface="Raavi" panose="020B0502040204020203" pitchFamily="34" charset="0"/>
              </a:rPr>
              <a:t> V., Goswami D. (2008) Nano Computing, McGraw Hill Education Asia Ltd., ISBN: 978007024892Beiser A., </a:t>
            </a:r>
            <a:r>
              <a:rPr lang="en-IN" sz="2400" dirty="0" err="1">
                <a:effectLst/>
                <a:ea typeface="Calibri" panose="020F0502020204030204" pitchFamily="34" charset="0"/>
                <a:cs typeface="Raavi" panose="020B0502040204020203" pitchFamily="34" charset="0"/>
              </a:rPr>
              <a:t>Ghatak</a:t>
            </a:r>
            <a:r>
              <a:rPr lang="en-IN" sz="2400" dirty="0">
                <a:effectLst/>
                <a:ea typeface="Calibri" panose="020F0502020204030204" pitchFamily="34" charset="0"/>
                <a:cs typeface="Raavi" panose="020B0502040204020203" pitchFamily="34" charset="0"/>
              </a:rPr>
              <a:t> A, Garg S.C., Applied Physics, Edition 1</a:t>
            </a:r>
            <a:r>
              <a:rPr lang="en-IN" sz="2400" baseline="30000" dirty="0">
                <a:effectLst/>
                <a:ea typeface="Calibri" panose="020F0502020204030204" pitchFamily="34" charset="0"/>
                <a:cs typeface="Raavi" panose="020B0502040204020203" pitchFamily="34" charset="0"/>
              </a:rPr>
              <a:t>st</a:t>
            </a:r>
            <a:r>
              <a:rPr lang="en-IN" sz="2400" dirty="0">
                <a:effectLst/>
                <a:ea typeface="Calibri" panose="020F0502020204030204" pitchFamily="34" charset="0"/>
                <a:cs typeface="Raavi" panose="020B0502040204020203" pitchFamily="34" charset="0"/>
              </a:rPr>
              <a:t>, (2013), Tata McGraw-Hill, Noida.</a:t>
            </a:r>
            <a:endParaRPr lang="en-US" sz="2400" dirty="0">
              <a:effectLst/>
              <a:ea typeface="Calibri" panose="020F0502020204030204" pitchFamily="34" charset="0"/>
              <a:cs typeface="Raavi" panose="020B0502040204020203" pitchFamily="34" charset="0"/>
            </a:endParaRPr>
          </a:p>
          <a:p>
            <a:endParaRPr lang="en-IN" b="1" dirty="0"/>
          </a:p>
          <a:p>
            <a:endParaRPr lang="en-IN" b="1" dirty="0"/>
          </a:p>
          <a:p>
            <a:pPr marL="0" indent="0">
              <a:buNone/>
            </a:pPr>
            <a:endParaRPr lang="en-US" sz="1700" dirty="0">
              <a:latin typeface="Casper"/>
            </a:endParaRPr>
          </a:p>
          <a:p>
            <a:pPr algn="just">
              <a:buNone/>
              <a:defRPr/>
            </a:pPr>
            <a:endParaRPr lang="en-IN" sz="16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18</a:t>
            </a:fld>
            <a:endParaRPr lang="en-US"/>
          </a:p>
        </p:txBody>
      </p:sp>
      <p:sp>
        <p:nvSpPr>
          <p:cNvPr id="5" name="Rectangle 4"/>
          <p:cNvSpPr/>
          <p:nvPr/>
        </p:nvSpPr>
        <p:spPr>
          <a:xfrm>
            <a:off x="838200" y="1803400"/>
            <a:ext cx="10515600" cy="50546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3463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
        <p:nvSpPr>
          <p:cNvPr id="2" name="Rectangle 1"/>
          <p:cNvSpPr/>
          <p:nvPr/>
        </p:nvSpPr>
        <p:spPr>
          <a:xfrm>
            <a:off x="4114005" y="5394447"/>
            <a:ext cx="3961049" cy="646331"/>
          </a:xfrm>
          <a:prstGeom prst="rect">
            <a:avLst/>
          </a:prstGeom>
        </p:spPr>
        <p:txBody>
          <a:bodyPr wrap="squar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arminder.uis@cumail.in</a:t>
            </a:r>
            <a:endParaRPr lang="en-US" dirty="0"/>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1985</TotalTime>
  <Words>1856</Words>
  <Application>Microsoft Office PowerPoint</Application>
  <PresentationFormat>Widescreen</PresentationFormat>
  <Paragraphs>128</Paragraphs>
  <Slides>19</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19</vt:i4>
      </vt:variant>
    </vt:vector>
  </HeadingPairs>
  <TitlesOfParts>
    <vt:vector size="32" baseType="lpstr">
      <vt:lpstr>Arial</vt:lpstr>
      <vt:lpstr>Arial Black</vt:lpstr>
      <vt:lpstr>Calibri</vt:lpstr>
      <vt:lpstr>Calibri Light</vt:lpstr>
      <vt:lpstr>Casper</vt:lpstr>
      <vt:lpstr>Casper Bold</vt:lpstr>
      <vt:lpstr>Raleway ExtraBold</vt:lpstr>
      <vt:lpstr>Symbol</vt:lpstr>
      <vt:lpstr>Times New Roman</vt:lpstr>
      <vt:lpstr>Wingdings</vt:lpstr>
      <vt:lpstr>1_Office Theme</vt:lpstr>
      <vt:lpstr>Contents Slide Master</vt:lpstr>
      <vt:lpstr>CorelDRAW</vt:lpstr>
      <vt:lpstr>PowerPoint Presentation</vt:lpstr>
      <vt:lpstr>PowerPoint Presentation</vt:lpstr>
      <vt:lpstr>PowerPoint Presentation</vt:lpstr>
      <vt:lpstr>LECTURE OBJECTIVE  </vt:lpstr>
      <vt:lpstr>QUANTUM COMPUTING </vt:lpstr>
      <vt:lpstr>QUANTUM COMPUTING </vt:lpstr>
      <vt:lpstr>QUANTUM COMPUTING </vt:lpstr>
      <vt:lpstr>QUANTUM COMPUTING </vt:lpstr>
      <vt:lpstr>Quantum Vocabulary And Terminology  </vt:lpstr>
      <vt:lpstr>Quantum Vocabulary And Terminology  </vt:lpstr>
      <vt:lpstr>HISTORY  </vt:lpstr>
      <vt:lpstr>HISTORY  </vt:lpstr>
      <vt:lpstr>Future research    </vt:lpstr>
      <vt:lpstr>HISTORY  </vt:lpstr>
      <vt:lpstr>SUMMARY </vt:lpstr>
      <vt:lpstr>FAQ </vt:lpstr>
      <vt:lpstr>REFERENCES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171</cp:revision>
  <dcterms:created xsi:type="dcterms:W3CDTF">2019-01-09T10:33:58Z</dcterms:created>
  <dcterms:modified xsi:type="dcterms:W3CDTF">2023-06-15T16:06:27Z</dcterms:modified>
</cp:coreProperties>
</file>