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74" r:id="rId1"/>
    <p:sldMasterId id="2147483686" r:id="rId2"/>
  </p:sldMasterIdLst>
  <p:notesMasterIdLst>
    <p:notesMasterId r:id="rId22"/>
  </p:notesMasterIdLst>
  <p:handoutMasterIdLst>
    <p:handoutMasterId r:id="rId23"/>
  </p:handoutMasterIdLst>
  <p:sldIdLst>
    <p:sldId id="393" r:id="rId3"/>
    <p:sldId id="394" r:id="rId4"/>
    <p:sldId id="377" r:id="rId5"/>
    <p:sldId id="386" r:id="rId6"/>
    <p:sldId id="265" r:id="rId7"/>
    <p:sldId id="281" r:id="rId8"/>
    <p:sldId id="381" r:id="rId9"/>
    <p:sldId id="291" r:id="rId10"/>
    <p:sldId id="390" r:id="rId11"/>
    <p:sldId id="391" r:id="rId12"/>
    <p:sldId id="392" r:id="rId13"/>
    <p:sldId id="292" r:id="rId14"/>
    <p:sldId id="388" r:id="rId15"/>
    <p:sldId id="389" r:id="rId16"/>
    <p:sldId id="383" r:id="rId17"/>
    <p:sldId id="384" r:id="rId18"/>
    <p:sldId id="284" r:id="rId19"/>
    <p:sldId id="385" r:id="rId20"/>
    <p:sldId id="27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varScale="1">
        <p:scale>
          <a:sx n="66" d="100"/>
          <a:sy n="66" d="100"/>
        </p:scale>
        <p:origin x="67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4B1B3E-83FA-4658-BAF7-A1C28950C6E7}"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BE1042C7-8FD8-46C3-97B2-C8F6ECCAA577}">
      <dgm:prSet phldrT="[Text]" custT="1"/>
      <dgm:spPr/>
      <dgm:t>
        <a:bodyPr/>
        <a:lstStyle/>
        <a:p>
          <a:r>
            <a:rPr lang="en-IN" sz="1200">
              <a:latin typeface="Times New Roman" panose="02020603050405020304" pitchFamily="18" charset="0"/>
              <a:cs typeface="Times New Roman" panose="02020603050405020304" pitchFamily="18" charset="0"/>
            </a:rPr>
            <a:t>1</a:t>
          </a:r>
        </a:p>
      </dgm:t>
    </dgm:pt>
    <dgm:pt modelId="{621BB3EB-6CE1-4596-9775-D8E49C0230C2}" type="parTrans" cxnId="{4C6E36C8-BEEE-4A8F-98F1-8AA1658291ED}">
      <dgm:prSet/>
      <dgm:spPr/>
      <dgm:t>
        <a:bodyPr/>
        <a:lstStyle/>
        <a:p>
          <a:endParaRPr lang="en-IN"/>
        </a:p>
      </dgm:t>
    </dgm:pt>
    <dgm:pt modelId="{45BE4B48-3412-410B-B8EF-6D39A131AE80}" type="sibTrans" cxnId="{4C6E36C8-BEEE-4A8F-98F1-8AA1658291ED}">
      <dgm:prSet/>
      <dgm:spPr/>
      <dgm:t>
        <a:bodyPr/>
        <a:lstStyle/>
        <a:p>
          <a:endParaRPr lang="en-IN"/>
        </a:p>
      </dgm:t>
    </dgm:pt>
    <dgm:pt modelId="{AC6663AF-9A88-490D-853C-8120C7DBDE78}">
      <dgm:prSet phldrT="[Text]" custT="1"/>
      <dgm:spPr/>
      <dgm:t>
        <a:bodyPr/>
        <a:lstStyle/>
        <a:p>
          <a:r>
            <a:rPr lang="en-IN" sz="2400" dirty="0">
              <a:latin typeface="+mn-lt"/>
              <a:cs typeface="Times New Roman" panose="02020603050405020304" pitchFamily="18" charset="0"/>
            </a:rPr>
            <a:t>Students will learn about uncertainty principle.</a:t>
          </a:r>
        </a:p>
      </dgm:t>
    </dgm:pt>
    <dgm:pt modelId="{420872E8-8AA2-45F6-A8E2-8BF205EB0960}" type="parTrans" cxnId="{E0ABA179-2A02-4FE6-A4AB-B4F2CCB8D5D1}">
      <dgm:prSet/>
      <dgm:spPr/>
      <dgm:t>
        <a:bodyPr/>
        <a:lstStyle/>
        <a:p>
          <a:endParaRPr lang="en-IN"/>
        </a:p>
      </dgm:t>
    </dgm:pt>
    <dgm:pt modelId="{34B7117A-1B4E-466B-8D17-59D987A33713}" type="sibTrans" cxnId="{E0ABA179-2A02-4FE6-A4AB-B4F2CCB8D5D1}">
      <dgm:prSet/>
      <dgm:spPr/>
      <dgm:t>
        <a:bodyPr/>
        <a:lstStyle/>
        <a:p>
          <a:endParaRPr lang="en-IN"/>
        </a:p>
      </dgm:t>
    </dgm:pt>
    <dgm:pt modelId="{59623D32-4D69-42DD-85CD-027389341071}">
      <dgm:prSet phldrT="[Text]" custT="1"/>
      <dgm:spPr/>
      <dgm:t>
        <a:bodyPr/>
        <a:lstStyle/>
        <a:p>
          <a:r>
            <a:rPr lang="en-IN" sz="1600">
              <a:latin typeface="Times New Roman" panose="02020603050405020304" pitchFamily="18" charset="0"/>
              <a:cs typeface="Times New Roman" panose="02020603050405020304" pitchFamily="18" charset="0"/>
            </a:rPr>
            <a:t>2</a:t>
          </a:r>
        </a:p>
      </dgm:t>
    </dgm:pt>
    <dgm:pt modelId="{8C3CF477-F4C0-4176-95A0-1CEE433BD66D}" type="parTrans" cxnId="{FCA0DE3E-9DA7-403C-87B9-DD0CA0DE16FA}">
      <dgm:prSet/>
      <dgm:spPr/>
      <dgm:t>
        <a:bodyPr/>
        <a:lstStyle/>
        <a:p>
          <a:endParaRPr lang="en-IN"/>
        </a:p>
      </dgm:t>
    </dgm:pt>
    <dgm:pt modelId="{FF05F8A0-05D5-4BC8-84AE-11F0CDB44B6A}" type="sibTrans" cxnId="{FCA0DE3E-9DA7-403C-87B9-DD0CA0DE16FA}">
      <dgm:prSet/>
      <dgm:spPr/>
      <dgm:t>
        <a:bodyPr/>
        <a:lstStyle/>
        <a:p>
          <a:endParaRPr lang="en-IN"/>
        </a:p>
      </dgm:t>
    </dgm:pt>
    <dgm:pt modelId="{581DF355-82C3-44BD-A2B0-78187E54CCC7}">
      <dgm:prSet phldrT="[Text]" custT="1"/>
      <dgm:spPr/>
      <dgm:t>
        <a:bodyPr/>
        <a:lstStyle/>
        <a:p>
          <a:r>
            <a:rPr lang="en-IN" sz="2400" dirty="0">
              <a:latin typeface="+mn-lt"/>
              <a:cs typeface="Times New Roman" panose="02020603050405020304" pitchFamily="18" charset="0"/>
            </a:rPr>
            <a:t>Students will learn about different relations uncertainty principle.</a:t>
          </a:r>
        </a:p>
      </dgm:t>
    </dgm:pt>
    <dgm:pt modelId="{2CA17078-8E69-4AD4-8CE4-9B3F8BB306DB}" type="parTrans" cxnId="{62E3F93D-8EE6-4623-B0F5-2E51672FA22E}">
      <dgm:prSet/>
      <dgm:spPr/>
      <dgm:t>
        <a:bodyPr/>
        <a:lstStyle/>
        <a:p>
          <a:endParaRPr lang="en-IN"/>
        </a:p>
      </dgm:t>
    </dgm:pt>
    <dgm:pt modelId="{601EF65E-15BB-4934-8E1E-6DEFFE1702FB}" type="sibTrans" cxnId="{62E3F93D-8EE6-4623-B0F5-2E51672FA22E}">
      <dgm:prSet/>
      <dgm:spPr/>
      <dgm:t>
        <a:bodyPr/>
        <a:lstStyle/>
        <a:p>
          <a:endParaRPr lang="en-IN"/>
        </a:p>
      </dgm:t>
    </dgm:pt>
    <dgm:pt modelId="{FA2EB051-0881-42DF-B19F-D522950734B2}">
      <dgm:prSet phldrT="[Text]" custT="1"/>
      <dgm:spPr/>
      <dgm:t>
        <a:bodyPr/>
        <a:lstStyle/>
        <a:p>
          <a:r>
            <a:rPr lang="en-IN" sz="1600">
              <a:latin typeface="Times New Roman" panose="02020603050405020304" pitchFamily="18" charset="0"/>
              <a:cs typeface="Times New Roman" panose="02020603050405020304" pitchFamily="18" charset="0"/>
            </a:rPr>
            <a:t>3</a:t>
          </a:r>
        </a:p>
      </dgm:t>
    </dgm:pt>
    <dgm:pt modelId="{603BF450-F4E0-4CEF-9C21-27FDD0CCE880}" type="parTrans" cxnId="{DC4706BC-D4DE-4DC7-BEC1-DBC559A79182}">
      <dgm:prSet/>
      <dgm:spPr/>
      <dgm:t>
        <a:bodyPr/>
        <a:lstStyle/>
        <a:p>
          <a:endParaRPr lang="en-IN"/>
        </a:p>
      </dgm:t>
    </dgm:pt>
    <dgm:pt modelId="{E496903B-959A-4D15-8074-58AFAB6AE879}" type="sibTrans" cxnId="{DC4706BC-D4DE-4DC7-BEC1-DBC559A79182}">
      <dgm:prSet/>
      <dgm:spPr/>
      <dgm:t>
        <a:bodyPr/>
        <a:lstStyle/>
        <a:p>
          <a:endParaRPr lang="en-IN"/>
        </a:p>
      </dgm:t>
    </dgm:pt>
    <dgm:pt modelId="{A4751C2F-50DC-42B3-BE3C-66635C62DF5B}">
      <dgm:prSet phldrT="[Text]" custT="1"/>
      <dgm:spPr/>
      <dgm:t>
        <a:bodyPr/>
        <a:lstStyle/>
        <a:p>
          <a:r>
            <a:rPr lang="en-IN" sz="2400" dirty="0">
              <a:latin typeface="+mn-lt"/>
              <a:cs typeface="Times New Roman" panose="02020603050405020304" pitchFamily="18" charset="0"/>
            </a:rPr>
            <a:t>In this lecture students will learn about applications of uncertainty principle. </a:t>
          </a:r>
          <a:r>
            <a:rPr lang="en-IN" sz="1600" dirty="0">
              <a:latin typeface="Times New Roman" panose="02020603050405020304" pitchFamily="18" charset="0"/>
              <a:cs typeface="Times New Roman" panose="02020603050405020304" pitchFamily="18" charset="0"/>
            </a:rPr>
            <a:t>.</a:t>
          </a:r>
        </a:p>
      </dgm:t>
    </dgm:pt>
    <dgm:pt modelId="{98A445DD-232D-43B4-996A-9AAE775AAE53}" type="parTrans" cxnId="{395ADFA3-0915-481A-A479-89176F966CC5}">
      <dgm:prSet/>
      <dgm:spPr/>
      <dgm:t>
        <a:bodyPr/>
        <a:lstStyle/>
        <a:p>
          <a:endParaRPr lang="en-IN"/>
        </a:p>
      </dgm:t>
    </dgm:pt>
    <dgm:pt modelId="{61FD9762-81CA-459F-A72F-FE38E106590B}" type="sibTrans" cxnId="{395ADFA3-0915-481A-A479-89176F966CC5}">
      <dgm:prSet/>
      <dgm:spPr/>
      <dgm:t>
        <a:bodyPr/>
        <a:lstStyle/>
        <a:p>
          <a:endParaRPr lang="en-IN"/>
        </a:p>
      </dgm:t>
    </dgm:pt>
    <dgm:pt modelId="{CD122889-8A8D-4BB0-B01E-B98ED66A22D1}" type="pres">
      <dgm:prSet presAssocID="{244B1B3E-83FA-4658-BAF7-A1C28950C6E7}" presName="Name0" presStyleCnt="0">
        <dgm:presLayoutVars>
          <dgm:dir/>
          <dgm:animLvl val="lvl"/>
          <dgm:resizeHandles val="exact"/>
        </dgm:presLayoutVars>
      </dgm:prSet>
      <dgm:spPr/>
    </dgm:pt>
    <dgm:pt modelId="{BC7B5AF7-D169-48C7-A14D-1E9FBD84314E}" type="pres">
      <dgm:prSet presAssocID="{BE1042C7-8FD8-46C3-97B2-C8F6ECCAA577}" presName="composite" presStyleCnt="0"/>
      <dgm:spPr/>
    </dgm:pt>
    <dgm:pt modelId="{823804D2-D44E-44EA-9FF5-99F97DCCD10A}" type="pres">
      <dgm:prSet presAssocID="{BE1042C7-8FD8-46C3-97B2-C8F6ECCAA577}" presName="parTx" presStyleLbl="alignNode1" presStyleIdx="0" presStyleCnt="3">
        <dgm:presLayoutVars>
          <dgm:chMax val="0"/>
          <dgm:chPref val="0"/>
          <dgm:bulletEnabled val="1"/>
        </dgm:presLayoutVars>
      </dgm:prSet>
      <dgm:spPr/>
    </dgm:pt>
    <dgm:pt modelId="{BD2EE0C5-FA31-483E-B76D-6DC608645EA8}" type="pres">
      <dgm:prSet presAssocID="{BE1042C7-8FD8-46C3-97B2-C8F6ECCAA577}" presName="desTx" presStyleLbl="alignAccFollowNode1" presStyleIdx="0" presStyleCnt="3">
        <dgm:presLayoutVars>
          <dgm:bulletEnabled val="1"/>
        </dgm:presLayoutVars>
      </dgm:prSet>
      <dgm:spPr/>
    </dgm:pt>
    <dgm:pt modelId="{855F9A90-9408-4E6B-A063-BA943B6B5E63}" type="pres">
      <dgm:prSet presAssocID="{45BE4B48-3412-410B-B8EF-6D39A131AE80}" presName="space" presStyleCnt="0"/>
      <dgm:spPr/>
    </dgm:pt>
    <dgm:pt modelId="{FDB0CFBF-8008-4E01-BBDE-DAFE38134065}" type="pres">
      <dgm:prSet presAssocID="{59623D32-4D69-42DD-85CD-027389341071}" presName="composite" presStyleCnt="0"/>
      <dgm:spPr/>
    </dgm:pt>
    <dgm:pt modelId="{C9DA09FE-968E-4451-896D-DECC9E9C2589}" type="pres">
      <dgm:prSet presAssocID="{59623D32-4D69-42DD-85CD-027389341071}" presName="parTx" presStyleLbl="alignNode1" presStyleIdx="1" presStyleCnt="3">
        <dgm:presLayoutVars>
          <dgm:chMax val="0"/>
          <dgm:chPref val="0"/>
          <dgm:bulletEnabled val="1"/>
        </dgm:presLayoutVars>
      </dgm:prSet>
      <dgm:spPr/>
    </dgm:pt>
    <dgm:pt modelId="{F18E9830-D2CB-43E8-AB8E-05B2ABB8544E}" type="pres">
      <dgm:prSet presAssocID="{59623D32-4D69-42DD-85CD-027389341071}" presName="desTx" presStyleLbl="alignAccFollowNode1" presStyleIdx="1" presStyleCnt="3">
        <dgm:presLayoutVars>
          <dgm:bulletEnabled val="1"/>
        </dgm:presLayoutVars>
      </dgm:prSet>
      <dgm:spPr/>
    </dgm:pt>
    <dgm:pt modelId="{1413BF33-3CB5-487E-8D9C-3B128FA3A8CB}" type="pres">
      <dgm:prSet presAssocID="{FF05F8A0-05D5-4BC8-84AE-11F0CDB44B6A}" presName="space" presStyleCnt="0"/>
      <dgm:spPr/>
    </dgm:pt>
    <dgm:pt modelId="{49466710-EFDB-44BB-AF41-77A08201716E}" type="pres">
      <dgm:prSet presAssocID="{FA2EB051-0881-42DF-B19F-D522950734B2}" presName="composite" presStyleCnt="0"/>
      <dgm:spPr/>
    </dgm:pt>
    <dgm:pt modelId="{AC12C961-00F2-45E6-B9B9-7B8C991E8799}" type="pres">
      <dgm:prSet presAssocID="{FA2EB051-0881-42DF-B19F-D522950734B2}" presName="parTx" presStyleLbl="alignNode1" presStyleIdx="2" presStyleCnt="3">
        <dgm:presLayoutVars>
          <dgm:chMax val="0"/>
          <dgm:chPref val="0"/>
          <dgm:bulletEnabled val="1"/>
        </dgm:presLayoutVars>
      </dgm:prSet>
      <dgm:spPr/>
    </dgm:pt>
    <dgm:pt modelId="{67DE4BD6-AAFE-4A2D-A02B-0CA2C8D040F6}" type="pres">
      <dgm:prSet presAssocID="{FA2EB051-0881-42DF-B19F-D522950734B2}" presName="desTx" presStyleLbl="alignAccFollowNode1" presStyleIdx="2" presStyleCnt="3">
        <dgm:presLayoutVars>
          <dgm:bulletEnabled val="1"/>
        </dgm:presLayoutVars>
      </dgm:prSet>
      <dgm:spPr/>
    </dgm:pt>
  </dgm:ptLst>
  <dgm:cxnLst>
    <dgm:cxn modelId="{2EECFD32-26AB-472F-9003-49E970320073}" type="presOf" srcId="{A4751C2F-50DC-42B3-BE3C-66635C62DF5B}" destId="{67DE4BD6-AAFE-4A2D-A02B-0CA2C8D040F6}" srcOrd="0" destOrd="0" presId="urn:microsoft.com/office/officeart/2005/8/layout/hList1"/>
    <dgm:cxn modelId="{8CCE0A33-9E9D-4E94-9FE9-24A56A02ADF7}" type="presOf" srcId="{581DF355-82C3-44BD-A2B0-78187E54CCC7}" destId="{F18E9830-D2CB-43E8-AB8E-05B2ABB8544E}" srcOrd="0" destOrd="0" presId="urn:microsoft.com/office/officeart/2005/8/layout/hList1"/>
    <dgm:cxn modelId="{39FFB936-7BB6-44BD-892D-D77E39C98D99}" type="presOf" srcId="{BE1042C7-8FD8-46C3-97B2-C8F6ECCAA577}" destId="{823804D2-D44E-44EA-9FF5-99F97DCCD10A}" srcOrd="0" destOrd="0" presId="urn:microsoft.com/office/officeart/2005/8/layout/hList1"/>
    <dgm:cxn modelId="{62E3F93D-8EE6-4623-B0F5-2E51672FA22E}" srcId="{59623D32-4D69-42DD-85CD-027389341071}" destId="{581DF355-82C3-44BD-A2B0-78187E54CCC7}" srcOrd="0" destOrd="0" parTransId="{2CA17078-8E69-4AD4-8CE4-9B3F8BB306DB}" sibTransId="{601EF65E-15BB-4934-8E1E-6DEFFE1702FB}"/>
    <dgm:cxn modelId="{FCA0DE3E-9DA7-403C-87B9-DD0CA0DE16FA}" srcId="{244B1B3E-83FA-4658-BAF7-A1C28950C6E7}" destId="{59623D32-4D69-42DD-85CD-027389341071}" srcOrd="1" destOrd="0" parTransId="{8C3CF477-F4C0-4176-95A0-1CEE433BD66D}" sibTransId="{FF05F8A0-05D5-4BC8-84AE-11F0CDB44B6A}"/>
    <dgm:cxn modelId="{E0D94A5F-D235-4A27-9436-6243B9CDC53C}" type="presOf" srcId="{244B1B3E-83FA-4658-BAF7-A1C28950C6E7}" destId="{CD122889-8A8D-4BB0-B01E-B98ED66A22D1}" srcOrd="0" destOrd="0" presId="urn:microsoft.com/office/officeart/2005/8/layout/hList1"/>
    <dgm:cxn modelId="{E0ABA179-2A02-4FE6-A4AB-B4F2CCB8D5D1}" srcId="{BE1042C7-8FD8-46C3-97B2-C8F6ECCAA577}" destId="{AC6663AF-9A88-490D-853C-8120C7DBDE78}" srcOrd="0" destOrd="0" parTransId="{420872E8-8AA2-45F6-A8E2-8BF205EB0960}" sibTransId="{34B7117A-1B4E-466B-8D17-59D987A33713}"/>
    <dgm:cxn modelId="{6F646E87-6752-4F31-9C64-A5227D04454B}" type="presOf" srcId="{AC6663AF-9A88-490D-853C-8120C7DBDE78}" destId="{BD2EE0C5-FA31-483E-B76D-6DC608645EA8}" srcOrd="0" destOrd="0" presId="urn:microsoft.com/office/officeart/2005/8/layout/hList1"/>
    <dgm:cxn modelId="{395ADFA3-0915-481A-A479-89176F966CC5}" srcId="{FA2EB051-0881-42DF-B19F-D522950734B2}" destId="{A4751C2F-50DC-42B3-BE3C-66635C62DF5B}" srcOrd="0" destOrd="0" parTransId="{98A445DD-232D-43B4-996A-9AAE775AAE53}" sibTransId="{61FD9762-81CA-459F-A72F-FE38E106590B}"/>
    <dgm:cxn modelId="{DC4706BC-D4DE-4DC7-BEC1-DBC559A79182}" srcId="{244B1B3E-83FA-4658-BAF7-A1C28950C6E7}" destId="{FA2EB051-0881-42DF-B19F-D522950734B2}" srcOrd="2" destOrd="0" parTransId="{603BF450-F4E0-4CEF-9C21-27FDD0CCE880}" sibTransId="{E496903B-959A-4D15-8074-58AFAB6AE879}"/>
    <dgm:cxn modelId="{4C6E36C8-BEEE-4A8F-98F1-8AA1658291ED}" srcId="{244B1B3E-83FA-4658-BAF7-A1C28950C6E7}" destId="{BE1042C7-8FD8-46C3-97B2-C8F6ECCAA577}" srcOrd="0" destOrd="0" parTransId="{621BB3EB-6CE1-4596-9775-D8E49C0230C2}" sibTransId="{45BE4B48-3412-410B-B8EF-6D39A131AE80}"/>
    <dgm:cxn modelId="{317A8FCD-3B3E-40F4-A3D5-4110421A775C}" type="presOf" srcId="{59623D32-4D69-42DD-85CD-027389341071}" destId="{C9DA09FE-968E-4451-896D-DECC9E9C2589}" srcOrd="0" destOrd="0" presId="urn:microsoft.com/office/officeart/2005/8/layout/hList1"/>
    <dgm:cxn modelId="{C1D2F2F1-402B-4DEF-815C-31E5640FB23C}" type="presOf" srcId="{FA2EB051-0881-42DF-B19F-D522950734B2}" destId="{AC12C961-00F2-45E6-B9B9-7B8C991E8799}" srcOrd="0" destOrd="0" presId="urn:microsoft.com/office/officeart/2005/8/layout/hList1"/>
    <dgm:cxn modelId="{44EC55BC-83AF-46C1-91DE-CEFE10A8BA41}" type="presParOf" srcId="{CD122889-8A8D-4BB0-B01E-B98ED66A22D1}" destId="{BC7B5AF7-D169-48C7-A14D-1E9FBD84314E}" srcOrd="0" destOrd="0" presId="urn:microsoft.com/office/officeart/2005/8/layout/hList1"/>
    <dgm:cxn modelId="{1716C085-2511-4521-80C9-9371EACFB37B}" type="presParOf" srcId="{BC7B5AF7-D169-48C7-A14D-1E9FBD84314E}" destId="{823804D2-D44E-44EA-9FF5-99F97DCCD10A}" srcOrd="0" destOrd="0" presId="urn:microsoft.com/office/officeart/2005/8/layout/hList1"/>
    <dgm:cxn modelId="{A7BFC1A6-A3DE-4154-8BF0-CBC1C0E4410F}" type="presParOf" srcId="{BC7B5AF7-D169-48C7-A14D-1E9FBD84314E}" destId="{BD2EE0C5-FA31-483E-B76D-6DC608645EA8}" srcOrd="1" destOrd="0" presId="urn:microsoft.com/office/officeart/2005/8/layout/hList1"/>
    <dgm:cxn modelId="{820E9E05-BE33-4DD0-8AB5-D3A6FF267E29}" type="presParOf" srcId="{CD122889-8A8D-4BB0-B01E-B98ED66A22D1}" destId="{855F9A90-9408-4E6B-A063-BA943B6B5E63}" srcOrd="1" destOrd="0" presId="urn:microsoft.com/office/officeart/2005/8/layout/hList1"/>
    <dgm:cxn modelId="{164F2345-BE36-4FBD-A254-5EF6031AA25F}" type="presParOf" srcId="{CD122889-8A8D-4BB0-B01E-B98ED66A22D1}" destId="{FDB0CFBF-8008-4E01-BBDE-DAFE38134065}" srcOrd="2" destOrd="0" presId="urn:microsoft.com/office/officeart/2005/8/layout/hList1"/>
    <dgm:cxn modelId="{864951CA-E36E-40D6-84B9-0865D671F083}" type="presParOf" srcId="{FDB0CFBF-8008-4E01-BBDE-DAFE38134065}" destId="{C9DA09FE-968E-4451-896D-DECC9E9C2589}" srcOrd="0" destOrd="0" presId="urn:microsoft.com/office/officeart/2005/8/layout/hList1"/>
    <dgm:cxn modelId="{16550E85-2CF7-4F1E-B867-62E1F7627439}" type="presParOf" srcId="{FDB0CFBF-8008-4E01-BBDE-DAFE38134065}" destId="{F18E9830-D2CB-43E8-AB8E-05B2ABB8544E}" srcOrd="1" destOrd="0" presId="urn:microsoft.com/office/officeart/2005/8/layout/hList1"/>
    <dgm:cxn modelId="{20F24F72-8814-4258-8F9C-B5CAAA48F33B}" type="presParOf" srcId="{CD122889-8A8D-4BB0-B01E-B98ED66A22D1}" destId="{1413BF33-3CB5-487E-8D9C-3B128FA3A8CB}" srcOrd="3" destOrd="0" presId="urn:microsoft.com/office/officeart/2005/8/layout/hList1"/>
    <dgm:cxn modelId="{7450CC3D-D7B6-4E0C-904B-3D1ABC1DB2BE}" type="presParOf" srcId="{CD122889-8A8D-4BB0-B01E-B98ED66A22D1}" destId="{49466710-EFDB-44BB-AF41-77A08201716E}" srcOrd="4" destOrd="0" presId="urn:microsoft.com/office/officeart/2005/8/layout/hList1"/>
    <dgm:cxn modelId="{FBBCF618-8C39-4503-8F43-775A470E764B}" type="presParOf" srcId="{49466710-EFDB-44BB-AF41-77A08201716E}" destId="{AC12C961-00F2-45E6-B9B9-7B8C991E8799}" srcOrd="0" destOrd="0" presId="urn:microsoft.com/office/officeart/2005/8/layout/hList1"/>
    <dgm:cxn modelId="{A56900D1-1D1B-43B9-AE8B-B2CD8A51FD84}" type="presParOf" srcId="{49466710-EFDB-44BB-AF41-77A08201716E}" destId="{67DE4BD6-AAFE-4A2D-A02B-0CA2C8D040F6}"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804D2-D44E-44EA-9FF5-99F97DCCD10A}">
      <dsp:nvSpPr>
        <dsp:cNvPr id="0" name=""/>
        <dsp:cNvSpPr/>
      </dsp:nvSpPr>
      <dsp:spPr>
        <a:xfrm>
          <a:off x="3173" y="347236"/>
          <a:ext cx="3093963" cy="1237585"/>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IN" sz="1200" kern="1200">
              <a:latin typeface="Times New Roman" panose="02020603050405020304" pitchFamily="18" charset="0"/>
              <a:cs typeface="Times New Roman" panose="02020603050405020304" pitchFamily="18" charset="0"/>
            </a:rPr>
            <a:t>1</a:t>
          </a:r>
        </a:p>
      </dsp:txBody>
      <dsp:txXfrm>
        <a:off x="3173" y="347236"/>
        <a:ext cx="3093963" cy="1237585"/>
      </dsp:txXfrm>
    </dsp:sp>
    <dsp:sp modelId="{BD2EE0C5-FA31-483E-B76D-6DC608645EA8}">
      <dsp:nvSpPr>
        <dsp:cNvPr id="0" name=""/>
        <dsp:cNvSpPr/>
      </dsp:nvSpPr>
      <dsp:spPr>
        <a:xfrm>
          <a:off x="3173" y="1584821"/>
          <a:ext cx="3093963" cy="285480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latin typeface="+mn-lt"/>
              <a:cs typeface="Times New Roman" panose="02020603050405020304" pitchFamily="18" charset="0"/>
            </a:rPr>
            <a:t>Students will learn about uncertainty principle.</a:t>
          </a:r>
        </a:p>
      </dsp:txBody>
      <dsp:txXfrm>
        <a:off x="3173" y="1584821"/>
        <a:ext cx="3093963" cy="2854800"/>
      </dsp:txXfrm>
    </dsp:sp>
    <dsp:sp modelId="{C9DA09FE-968E-4451-896D-DECC9E9C2589}">
      <dsp:nvSpPr>
        <dsp:cNvPr id="0" name=""/>
        <dsp:cNvSpPr/>
      </dsp:nvSpPr>
      <dsp:spPr>
        <a:xfrm>
          <a:off x="3530291" y="347236"/>
          <a:ext cx="3093963" cy="1237585"/>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2</a:t>
          </a:r>
        </a:p>
      </dsp:txBody>
      <dsp:txXfrm>
        <a:off x="3530291" y="347236"/>
        <a:ext cx="3093963" cy="1237585"/>
      </dsp:txXfrm>
    </dsp:sp>
    <dsp:sp modelId="{F18E9830-D2CB-43E8-AB8E-05B2ABB8544E}">
      <dsp:nvSpPr>
        <dsp:cNvPr id="0" name=""/>
        <dsp:cNvSpPr/>
      </dsp:nvSpPr>
      <dsp:spPr>
        <a:xfrm>
          <a:off x="3530291" y="1584821"/>
          <a:ext cx="3093963" cy="285480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latin typeface="+mn-lt"/>
              <a:cs typeface="Times New Roman" panose="02020603050405020304" pitchFamily="18" charset="0"/>
            </a:rPr>
            <a:t>Students will learn about different relations uncertainty principle.</a:t>
          </a:r>
        </a:p>
      </dsp:txBody>
      <dsp:txXfrm>
        <a:off x="3530291" y="1584821"/>
        <a:ext cx="3093963" cy="2854800"/>
      </dsp:txXfrm>
    </dsp:sp>
    <dsp:sp modelId="{AC12C961-00F2-45E6-B9B9-7B8C991E8799}">
      <dsp:nvSpPr>
        <dsp:cNvPr id="0" name=""/>
        <dsp:cNvSpPr/>
      </dsp:nvSpPr>
      <dsp:spPr>
        <a:xfrm>
          <a:off x="7057409" y="347236"/>
          <a:ext cx="3093963" cy="1237585"/>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3</a:t>
          </a:r>
        </a:p>
      </dsp:txBody>
      <dsp:txXfrm>
        <a:off x="7057409" y="347236"/>
        <a:ext cx="3093963" cy="1237585"/>
      </dsp:txXfrm>
    </dsp:sp>
    <dsp:sp modelId="{67DE4BD6-AAFE-4A2D-A02B-0CA2C8D040F6}">
      <dsp:nvSpPr>
        <dsp:cNvPr id="0" name=""/>
        <dsp:cNvSpPr/>
      </dsp:nvSpPr>
      <dsp:spPr>
        <a:xfrm>
          <a:off x="7057409" y="1584821"/>
          <a:ext cx="3093963" cy="285480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IN" sz="2400" kern="1200" dirty="0">
              <a:latin typeface="+mn-lt"/>
              <a:cs typeface="Times New Roman" panose="02020603050405020304" pitchFamily="18" charset="0"/>
            </a:rPr>
            <a:t>In this lecture students will learn about applications of uncertainty principle. </a:t>
          </a:r>
          <a:r>
            <a:rPr lang="en-IN" sz="1600" kern="1200" dirty="0">
              <a:latin typeface="Times New Roman" panose="02020603050405020304" pitchFamily="18" charset="0"/>
              <a:cs typeface="Times New Roman" panose="02020603050405020304" pitchFamily="18" charset="0"/>
            </a:rPr>
            <a:t>.</a:t>
          </a:r>
        </a:p>
      </dsp:txBody>
      <dsp:txXfrm>
        <a:off x="7057409" y="1584821"/>
        <a:ext cx="3093963" cy="28548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gif"/><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nptel.ac.in/courses/122/106/122106034/"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 y="4718027"/>
            <a:ext cx="1219200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7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35292" y="5741723"/>
            <a:ext cx="4912783" cy="1723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UNIT 3</a:t>
            </a:r>
          </a:p>
          <a:p>
            <a:pPr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QUANTUM MECHANICS</a:t>
            </a:r>
          </a:p>
          <a:p>
            <a:pPr lvl="0" algn="ctr" defTabSz="622300">
              <a:lnSpc>
                <a:spcPct val="90000"/>
              </a:lnSpc>
              <a:spcBef>
                <a:spcPct val="0"/>
              </a:spcBef>
              <a:spcAft>
                <a:spcPct val="35000"/>
              </a:spcAft>
            </a:pP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2658526" y="811788"/>
            <a:ext cx="8140103" cy="6915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INSTITUTE :UIE</a:t>
            </a:r>
          </a:p>
          <a:p>
            <a:pPr lvl="0" algn="ctr" defTabSz="622300">
              <a:lnSpc>
                <a:spcPct val="90000"/>
              </a:lnSpc>
              <a:spcBef>
                <a:spcPct val="0"/>
              </a:spcBef>
              <a:spcAft>
                <a:spcPct val="35000"/>
              </a:spcAft>
            </a:pPr>
            <a:r>
              <a:rPr lang="en-US" sz="3600" b="1" dirty="0">
                <a:latin typeface="Arial Black" panose="020B0A04020102020204" pitchFamily="34" charset="0"/>
                <a:ea typeface="Karla" pitchFamily="2" charset="0"/>
                <a:cs typeface="Karla" pitchFamily="2" charset="0"/>
              </a:rPr>
              <a:t>DEPARTMENT: ALL ACADEMIC UNITS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Bachelor of Engineering (All Sections)</a:t>
            </a:r>
          </a:p>
          <a:p>
            <a:pPr lvl="0" algn="ctr" defTabSz="622300">
              <a:lnSpc>
                <a:spcPct val="90000"/>
              </a:lnSpc>
              <a:spcBef>
                <a:spcPct val="0"/>
              </a:spcBef>
              <a:spcAft>
                <a:spcPct val="35000"/>
              </a:spcAft>
            </a:pPr>
            <a:r>
              <a:rPr lang="en-US" sz="3200" dirty="0">
                <a:latin typeface="Times New Roman" pitchFamily="18" charset="0"/>
                <a:ea typeface="Calibri" panose="020F0502020204030204" pitchFamily="34" charset="0"/>
                <a:cs typeface="Times New Roman" panose="02020603050405020304" pitchFamily="18" charset="0"/>
              </a:rPr>
              <a:t>Subject Name and Code:</a:t>
            </a:r>
          </a:p>
          <a:p>
            <a:pPr lvl="0" algn="ctr" defTabSz="622300">
              <a:lnSpc>
                <a:spcPct val="90000"/>
              </a:lnSpc>
              <a:spcBef>
                <a:spcPct val="0"/>
              </a:spcBef>
              <a:spcAft>
                <a:spcPct val="35000"/>
              </a:spcAft>
            </a:pPr>
            <a:r>
              <a:rPr lang="en-US" sz="3200">
                <a:latin typeface="Times New Roman" pitchFamily="18" charset="0"/>
                <a:ea typeface="Calibri" panose="020F0502020204030204" pitchFamily="34" charset="0"/>
                <a:cs typeface="Times New Roman" panose="02020603050405020304" pitchFamily="18" charset="0"/>
              </a:rPr>
              <a:t>Engineering Physics 23SPH-141</a:t>
            </a:r>
          </a:p>
          <a:p>
            <a:pPr lvl="0" algn="ctr" defTabSz="622300">
              <a:lnSpc>
                <a:spcPct val="90000"/>
              </a:lnSpc>
              <a:spcBef>
                <a:spcPct val="0"/>
              </a:spcBef>
              <a:spcAft>
                <a:spcPct val="35000"/>
              </a:spcAft>
            </a:pPr>
            <a:r>
              <a:rPr lang="en-US" sz="2800">
                <a:latin typeface="Times New Roman" pitchFamily="18" charset="0"/>
                <a:ea typeface="Calibri" panose="020F0502020204030204" pitchFamily="34" charset="0"/>
                <a:cs typeface="Times New Roman" panose="02020603050405020304" pitchFamily="18" charset="0"/>
              </a:rPr>
              <a:t>Prepared </a:t>
            </a:r>
            <a:r>
              <a:rPr lang="en-US" sz="2800" dirty="0">
                <a:latin typeface="Times New Roman" pitchFamily="18" charset="0"/>
                <a:ea typeface="Calibri" panose="020F0502020204030204" pitchFamily="34" charset="0"/>
                <a:cs typeface="Times New Roman" panose="02020603050405020304" pitchFamily="18" charset="0"/>
              </a:rPr>
              <a:t>by: Ms. </a:t>
            </a:r>
            <a:r>
              <a:rPr lang="en-US" sz="2800" dirty="0" err="1">
                <a:latin typeface="Times New Roman" pitchFamily="18" charset="0"/>
                <a:ea typeface="Calibri" panose="020F0502020204030204" pitchFamily="34" charset="0"/>
                <a:cs typeface="Times New Roman" panose="02020603050405020304" pitchFamily="18" charset="0"/>
              </a:rPr>
              <a:t>Arminder</a:t>
            </a:r>
            <a:endParaRPr lang="en-US" sz="2800" dirty="0">
              <a:latin typeface="Times New Roman"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2792608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11359166" y="6356350"/>
            <a:ext cx="223234" cy="365125"/>
          </a:xfrm>
          <a:ln>
            <a:solidFill>
              <a:schemeClr val="accent1"/>
            </a:solidFill>
          </a:ln>
        </p:spPr>
        <p:txBody>
          <a:bodyPr/>
          <a:lstStyle/>
          <a:p>
            <a:fld id="{BDCDBBEF-AA6C-4BA6-85B2-A17D7F280E38}" type="slidenum">
              <a:rPr lang="en-US" smtClean="0"/>
              <a:t>2</a:t>
            </a:fld>
            <a:endParaRPr lang="en-US" dirty="0"/>
          </a:p>
        </p:txBody>
      </p:sp>
      <p:sp>
        <p:nvSpPr>
          <p:cNvPr id="10" name="Oval 9"/>
          <p:cNvSpPr/>
          <p:nvPr/>
        </p:nvSpPr>
        <p:spPr>
          <a:xfrm>
            <a:off x="11217276" y="6324600"/>
            <a:ext cx="444500" cy="42227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96EF3AC-12D8-4376-826F-0CDE220D0DD9}"/>
              </a:ext>
            </a:extLst>
          </p:cNvPr>
          <p:cNvSpPr txBox="1"/>
          <p:nvPr/>
        </p:nvSpPr>
        <p:spPr>
          <a:xfrm>
            <a:off x="1519707" y="200819"/>
            <a:ext cx="10062693" cy="769441"/>
          </a:xfrm>
          <a:prstGeom prst="rect">
            <a:avLst/>
          </a:prstGeom>
          <a:solidFill>
            <a:schemeClr val="bg1"/>
          </a:solidFill>
          <a:ln>
            <a:solidFill>
              <a:srgbClr val="C00000"/>
            </a:solidFill>
          </a:ln>
        </p:spPr>
        <p:txBody>
          <a:bodyPr wrap="square" rtlCol="0">
            <a:spAutoFit/>
          </a:bodyPr>
          <a:lstStyle/>
          <a:p>
            <a:pPr algn="ctr"/>
            <a:r>
              <a:rPr lang="en-IN" sz="4400" b="1" dirty="0">
                <a:latin typeface="Casper Bold"/>
              </a:rPr>
              <a:t>COURSE OBJECTIVES</a:t>
            </a:r>
          </a:p>
        </p:txBody>
      </p:sp>
      <p:sp>
        <p:nvSpPr>
          <p:cNvPr id="7" name="Rectangle 6">
            <a:extLst>
              <a:ext uri="{FF2B5EF4-FFF2-40B4-BE49-F238E27FC236}">
                <a16:creationId xmlns:a16="http://schemas.microsoft.com/office/drawing/2014/main" id="{9E9E0D1A-55C5-463F-89FE-BD77E41FFD1A}"/>
              </a:ext>
            </a:extLst>
          </p:cNvPr>
          <p:cNvSpPr/>
          <p:nvPr/>
        </p:nvSpPr>
        <p:spPr>
          <a:xfrm>
            <a:off x="1222449" y="1837121"/>
            <a:ext cx="10241791" cy="4214231"/>
          </a:xfrm>
          <a:prstGeom prst="rect">
            <a:avLst/>
          </a:prstGeom>
          <a:ln>
            <a:solidFill>
              <a:schemeClr val="accent1"/>
            </a:solidFill>
          </a:ln>
        </p:spPr>
        <p:txBody>
          <a:bodyPr wrap="square">
            <a:spAutoFit/>
          </a:bodyPr>
          <a:lstStyle/>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The course is designed to make the students industry ready to contribute in the growing demand of the industry at local, national and international level.</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make the students competent to understand basic concepts and applications of advanced engineering physics and apply its principles in their respective fields at global platform.</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enhance the skill level of the students and shall make them preferred choice for getting employment in industry and research labs.</a:t>
            </a:r>
          </a:p>
          <a:p>
            <a:pPr marL="342900" marR="38100" lvl="0" indent="-342900" algn="just">
              <a:lnSpc>
                <a:spcPct val="93000"/>
              </a:lnSpc>
              <a:spcAft>
                <a:spcPts val="0"/>
              </a:spcAft>
              <a:buFont typeface="+mj-lt"/>
              <a:buAutoNum type="arabicPeriod"/>
              <a:tabLst>
                <a:tab pos="330200" algn="l"/>
              </a:tabLst>
            </a:pPr>
            <a:r>
              <a:rPr lang="en-IN" sz="2400" dirty="0">
                <a:latin typeface="Casper" panose="02000506000000020004"/>
                <a:ea typeface="Times New Roman" panose="02020603050405020304" pitchFamily="18" charset="0"/>
              </a:rPr>
              <a:t>It will give thorough knowledge of the discipline to enable students to disseminate knowledge in pursuing excellence in academic areas.</a:t>
            </a:r>
          </a:p>
          <a:p>
            <a:pPr marL="342900" marR="38100" lvl="0" indent="-342900" algn="just">
              <a:lnSpc>
                <a:spcPct val="93000"/>
              </a:lnSpc>
              <a:spcAft>
                <a:spcPts val="0"/>
              </a:spcAft>
              <a:buFont typeface="+mj-lt"/>
              <a:buAutoNum type="arabicPeriod"/>
              <a:tabLst>
                <a:tab pos="330200" algn="l"/>
              </a:tabLst>
            </a:pPr>
            <a:endParaRPr lang="en-IN" sz="2400" dirty="0">
              <a:effectLst/>
              <a:latin typeface="Casper" panose="02000506000000020004"/>
              <a:ea typeface="Times New Roman" panose="02020603050405020304" pitchFamily="18" charset="0"/>
            </a:endParaRPr>
          </a:p>
          <a:p>
            <a:pPr marR="38100" lvl="0" algn="just">
              <a:lnSpc>
                <a:spcPct val="93000"/>
              </a:lnSpc>
              <a:spcAft>
                <a:spcPts val="0"/>
              </a:spcAft>
              <a:tabLst>
                <a:tab pos="330200" algn="l"/>
              </a:tabLst>
            </a:pPr>
            <a:endParaRPr lang="en-IN" sz="2400" dirty="0">
              <a:effectLst/>
              <a:latin typeface="Casper" panose="02000506000000020004"/>
              <a:ea typeface="Times New Roman" panose="02020603050405020304" pitchFamily="18" charset="0"/>
            </a:endParaRPr>
          </a:p>
        </p:txBody>
      </p:sp>
    </p:spTree>
    <p:extLst>
      <p:ext uri="{BB962C8B-B14F-4D97-AF65-F5344CB8AC3E}">
        <p14:creationId xmlns:p14="http://schemas.microsoft.com/office/powerpoint/2010/main" val="331941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3</a:t>
            </a:fld>
            <a:endParaRPr lang="en-US" dirty="0"/>
          </a:p>
        </p:txBody>
      </p:sp>
      <p:sp>
        <p:nvSpPr>
          <p:cNvPr id="8" name="Rectangle 7"/>
          <p:cNvSpPr/>
          <p:nvPr/>
        </p:nvSpPr>
        <p:spPr>
          <a:xfrm>
            <a:off x="2932183" y="256020"/>
            <a:ext cx="7087580" cy="769441"/>
          </a:xfrm>
          <a:prstGeom prst="rect">
            <a:avLst/>
          </a:prstGeom>
        </p:spPr>
        <p:txBody>
          <a:bodyPr wrap="square">
            <a:spAutoFit/>
          </a:bodyPr>
          <a:lstStyle/>
          <a:p>
            <a:pPr algn="ctr"/>
            <a:r>
              <a:rPr lang="en-US" sz="4400" b="1" dirty="0">
                <a:cs typeface="Times New Roman" pitchFamily="18" charset="0"/>
              </a:rPr>
              <a:t>COURSE OUTCOME</a:t>
            </a:r>
            <a:endParaRPr lang="en-US" sz="4400" b="1" dirty="0"/>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pic>
        <p:nvPicPr>
          <p:cNvPr id="16" name="Picture 6" descr="Image result for quantum phys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9323" y="1992205"/>
            <a:ext cx="5164477" cy="4408595"/>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6253443" y="6495532"/>
            <a:ext cx="3206967" cy="369332"/>
          </a:xfrm>
          <a:prstGeom prst="rect">
            <a:avLst/>
          </a:prstGeom>
        </p:spPr>
        <p:txBody>
          <a:bodyPr wrap="none">
            <a:spAutoFit/>
          </a:bodyPr>
          <a:lstStyle/>
          <a:p>
            <a:pPr algn="ctr"/>
            <a:r>
              <a:rPr lang="en-US" dirty="0">
                <a:latin typeface="Casper"/>
              </a:rPr>
              <a:t>Figure 1 Quantum Theory [1]</a:t>
            </a:r>
          </a:p>
        </p:txBody>
      </p:sp>
      <p:sp>
        <p:nvSpPr>
          <p:cNvPr id="11" name="Rectangle 10"/>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210344079"/>
              </p:ext>
            </p:extLst>
          </p:nvPr>
        </p:nvGraphicFramePr>
        <p:xfrm>
          <a:off x="177421" y="2096487"/>
          <a:ext cx="5477164" cy="4637392"/>
        </p:xfrm>
        <a:graphic>
          <a:graphicData uri="http://schemas.openxmlformats.org/drawingml/2006/table">
            <a:tbl>
              <a:tblPr firstRow="1" firstCol="1" bandRow="1">
                <a:tableStyleId>{5940675A-B579-460E-94D1-54222C63F5DA}</a:tableStyleId>
              </a:tblPr>
              <a:tblGrid>
                <a:gridCol w="843045">
                  <a:extLst>
                    <a:ext uri="{9D8B030D-6E8A-4147-A177-3AD203B41FA5}">
                      <a16:colId xmlns:a16="http://schemas.microsoft.com/office/drawing/2014/main" val="20000"/>
                    </a:ext>
                  </a:extLst>
                </a:gridCol>
                <a:gridCol w="3661864">
                  <a:extLst>
                    <a:ext uri="{9D8B030D-6E8A-4147-A177-3AD203B41FA5}">
                      <a16:colId xmlns:a16="http://schemas.microsoft.com/office/drawing/2014/main" val="20001"/>
                    </a:ext>
                  </a:extLst>
                </a:gridCol>
                <a:gridCol w="972255">
                  <a:extLst>
                    <a:ext uri="{9D8B030D-6E8A-4147-A177-3AD203B41FA5}">
                      <a16:colId xmlns:a16="http://schemas.microsoft.com/office/drawing/2014/main" val="20002"/>
                    </a:ext>
                  </a:extLst>
                </a:gridCol>
              </a:tblGrid>
              <a:tr h="709941">
                <a:tc>
                  <a:txBody>
                    <a:bodyPr/>
                    <a:lstStyle/>
                    <a:p>
                      <a:pPr marL="0" marR="0">
                        <a:lnSpc>
                          <a:spcPct val="115000"/>
                        </a:lnSpc>
                        <a:spcBef>
                          <a:spcPts val="0"/>
                        </a:spcBef>
                        <a:spcAft>
                          <a:spcPts val="0"/>
                        </a:spcAft>
                      </a:pPr>
                      <a:r>
                        <a:rPr lang="en-US" sz="1200" b="0" dirty="0">
                          <a:effectLst/>
                        </a:rPr>
                        <a:t>CO Number</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Title </a:t>
                      </a:r>
                    </a:p>
                    <a:p>
                      <a:pPr marL="0" marR="0">
                        <a:lnSpc>
                          <a:spcPct val="115000"/>
                        </a:lnSpc>
                        <a:spcBef>
                          <a:spcPts val="0"/>
                        </a:spcBef>
                        <a:spcAft>
                          <a:spcPts val="0"/>
                        </a:spcAft>
                      </a:pPr>
                      <a:r>
                        <a:rPr lang="en-IN" sz="1200" kern="1200" dirty="0">
                          <a:solidFill>
                            <a:schemeClr val="tx1"/>
                          </a:solidFill>
                          <a:effectLst/>
                          <a:latin typeface="+mn-lt"/>
                          <a:ea typeface="+mn-ea"/>
                          <a:cs typeface="+mn-cs"/>
                        </a:rPr>
                        <a:t>On completion of this course, the students are expected to learn</a:t>
                      </a:r>
                      <a:endParaRPr lang="en-US" sz="12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200" b="0" dirty="0">
                          <a:effectLst/>
                        </a:rPr>
                        <a:t>Level </a:t>
                      </a:r>
                      <a:endParaRPr lang="en-US" sz="1100" b="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79638">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CO1</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Quote the basic fundamental concepts of lasers, optical </a:t>
                      </a:r>
                      <a:r>
                        <a:rPr lang="en-US" sz="1100" dirty="0" err="1">
                          <a:effectLst/>
                          <a:latin typeface="Calibri"/>
                          <a:ea typeface="Calibri"/>
                          <a:cs typeface="Calibri"/>
                        </a:rPr>
                        <a:t>fibres</a:t>
                      </a:r>
                      <a:r>
                        <a:rPr lang="en-US" sz="1100" dirty="0">
                          <a:effectLst/>
                          <a:latin typeface="Calibri"/>
                          <a:ea typeface="Calibri"/>
                          <a:cs typeface="Calibri"/>
                        </a:rPr>
                        <a:t>, crystallography, ultrasonic oscillations, semiconductor physics, quantum mechanics and nanotechnology.</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solidFill>
                            <a:schemeClr val="tx1"/>
                          </a:solidFill>
                          <a:effectLst/>
                          <a:latin typeface="+mn-lt"/>
                        </a:rPr>
                        <a:t>Remember, Understand</a:t>
                      </a:r>
                    </a:p>
                    <a:p>
                      <a:pPr marL="0" marR="0">
                        <a:lnSpc>
                          <a:spcPct val="115000"/>
                        </a:lnSpc>
                        <a:spcBef>
                          <a:spcPts val="0"/>
                        </a:spcBef>
                        <a:spcAft>
                          <a:spcPts val="0"/>
                        </a:spcAft>
                      </a:pPr>
                      <a:r>
                        <a:rPr lang="en-US" sz="1200" b="0" dirty="0">
                          <a:solidFill>
                            <a:schemeClr val="tx1"/>
                          </a:solidFill>
                          <a:effectLst/>
                          <a:latin typeface="+mn-lt"/>
                        </a:rPr>
                        <a:t> </a:t>
                      </a: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76699">
                <a:tc>
                  <a:txBody>
                    <a:bodyPr/>
                    <a:lstStyle/>
                    <a:p>
                      <a:pPr marL="0" marR="0">
                        <a:lnSpc>
                          <a:spcPct val="115000"/>
                        </a:lnSpc>
                        <a:spcBef>
                          <a:spcPts val="0"/>
                        </a:spcBef>
                        <a:spcAft>
                          <a:spcPts val="0"/>
                        </a:spcAft>
                      </a:pPr>
                      <a:r>
                        <a:rPr lang="en-US" sz="1200" b="1" dirty="0">
                          <a:solidFill>
                            <a:schemeClr val="tx1"/>
                          </a:solidFill>
                          <a:effectLst/>
                          <a:latin typeface="+mn-lt"/>
                          <a:ea typeface="Times New Roman" panose="02020603050405020304" pitchFamily="18" charset="0"/>
                          <a:cs typeface="Times New Roman" panose="02020603050405020304" pitchFamily="18" charset="0"/>
                        </a:rPr>
                        <a:t>CO2</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Demonstrate the working of various lasers, </a:t>
                      </a:r>
                      <a:r>
                        <a:rPr lang="en-US" sz="1100" dirty="0" err="1">
                          <a:effectLst/>
                          <a:latin typeface="Calibri"/>
                          <a:ea typeface="Calibri"/>
                          <a:cs typeface="Calibri"/>
                        </a:rPr>
                        <a:t>fibre</a:t>
                      </a:r>
                      <a:r>
                        <a:rPr lang="en-US" sz="1100" dirty="0">
                          <a:effectLst/>
                          <a:latin typeface="Calibri"/>
                          <a:ea typeface="Calibri"/>
                          <a:cs typeface="Calibri"/>
                        </a:rPr>
                        <a:t> components, semiconductor devices; explain the </a:t>
                      </a:r>
                      <a:r>
                        <a:rPr lang="en-US" sz="1100" dirty="0" err="1">
                          <a:effectLst/>
                          <a:latin typeface="Calibri"/>
                          <a:ea typeface="Calibri"/>
                          <a:cs typeface="Calibri"/>
                        </a:rPr>
                        <a:t>behaviour</a:t>
                      </a:r>
                      <a:r>
                        <a:rPr lang="en-US" sz="1100" dirty="0">
                          <a:effectLst/>
                          <a:latin typeface="Calibri"/>
                          <a:ea typeface="Calibri"/>
                          <a:cs typeface="Calibri"/>
                        </a:rPr>
                        <a:t> of crystalline solids, quantum and </a:t>
                      </a:r>
                      <a:r>
                        <a:rPr lang="en-US" sz="1100" dirty="0" err="1">
                          <a:effectLst/>
                          <a:latin typeface="Calibri"/>
                          <a:ea typeface="Calibri"/>
                          <a:cs typeface="Calibri"/>
                        </a:rPr>
                        <a:t>nano</a:t>
                      </a:r>
                      <a:r>
                        <a:rPr lang="en-US" sz="1100" dirty="0">
                          <a:effectLst/>
                          <a:latin typeface="Calibri"/>
                          <a:ea typeface="Calibri"/>
                          <a:cs typeface="Calibri"/>
                        </a:rPr>
                        <a:t>-scale systems.</a:t>
                      </a:r>
                      <a:endParaRPr lang="en-US" sz="1100" dirty="0">
                        <a:effectLst/>
                        <a:latin typeface="Calibri"/>
                        <a:ea typeface="Calibri"/>
                        <a:cs typeface="Times New Roman"/>
                      </a:endParaRPr>
                    </a:p>
                  </a:txBody>
                  <a:tcPr marL="68580" marR="68580" marT="0" marB="0"/>
                </a:tc>
                <a:tc>
                  <a:txBody>
                    <a:bodyPr/>
                    <a:lstStyle/>
                    <a:p>
                      <a:pPr marL="0" marR="0" algn="l">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Understand</a:t>
                      </a:r>
                    </a:p>
                  </a:txBody>
                  <a:tcPr marL="68580" marR="68580" marT="0" marB="0"/>
                </a:tc>
                <a:extLst>
                  <a:ext uri="{0D108BD9-81ED-4DB2-BD59-A6C34878D82A}">
                    <a16:rowId xmlns:a16="http://schemas.microsoft.com/office/drawing/2014/main" val="10004"/>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CO3</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Solve problems by applying principles related to lasers, </a:t>
                      </a:r>
                      <a:r>
                        <a:rPr lang="en-US" sz="1100" dirty="0" err="1">
                          <a:effectLst/>
                          <a:latin typeface="Calibri"/>
                          <a:ea typeface="Calibri"/>
                          <a:cs typeface="Calibri"/>
                        </a:rPr>
                        <a:t>fibres</a:t>
                      </a:r>
                      <a:r>
                        <a:rPr lang="en-US" sz="1100" dirty="0">
                          <a:effectLst/>
                          <a:latin typeface="Calibri"/>
                          <a:ea typeface="Calibri"/>
                          <a:cs typeface="Calibri"/>
                        </a:rPr>
                        <a:t>, semiconductors, oscillations, quantum and </a:t>
                      </a:r>
                      <a:r>
                        <a:rPr lang="en-US" sz="1100" dirty="0" err="1">
                          <a:effectLst/>
                          <a:latin typeface="Calibri"/>
                          <a:ea typeface="Calibri"/>
                          <a:cs typeface="Calibri"/>
                        </a:rPr>
                        <a:t>nanoscience</a:t>
                      </a:r>
                      <a:r>
                        <a:rPr lang="en-US" sz="1100" dirty="0">
                          <a:effectLst/>
                          <a:latin typeface="Calibri"/>
                          <a:ea typeface="Calibri"/>
                          <a:cs typeface="Calibri"/>
                        </a:rPr>
                        <a:t>.</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rPr>
                        <a:t>Applying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579638">
                <a:tc>
                  <a:txBody>
                    <a:bodyPr/>
                    <a:lstStyle/>
                    <a:p>
                      <a:pPr marL="0" marR="0">
                        <a:lnSpc>
                          <a:spcPct val="115000"/>
                        </a:lnSpc>
                        <a:spcBef>
                          <a:spcPts val="0"/>
                        </a:spcBef>
                        <a:spcAft>
                          <a:spcPts val="0"/>
                        </a:spcAft>
                      </a:pPr>
                      <a:r>
                        <a:rPr lang="en-US" sz="1200" b="0" dirty="0">
                          <a:solidFill>
                            <a:schemeClr val="tx1"/>
                          </a:solidFill>
                          <a:effectLst/>
                          <a:latin typeface="+mn-lt"/>
                          <a:ea typeface="Times New Roman" panose="02020603050405020304" pitchFamily="18" charset="0"/>
                          <a:cs typeface="Times New Roman" panose="02020603050405020304" pitchFamily="18" charset="0"/>
                        </a:rPr>
                        <a:t>CO4</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Compare various lasers and </a:t>
                      </a:r>
                      <a:r>
                        <a:rPr lang="en-US" sz="1100" dirty="0" err="1">
                          <a:effectLst/>
                          <a:latin typeface="Calibri"/>
                          <a:ea typeface="Calibri"/>
                          <a:cs typeface="Calibri"/>
                        </a:rPr>
                        <a:t>fibres</a:t>
                      </a:r>
                      <a:r>
                        <a:rPr lang="en-US" sz="1100" dirty="0">
                          <a:effectLst/>
                          <a:latin typeface="Calibri"/>
                          <a:ea typeface="Calibri"/>
                          <a:cs typeface="Calibri"/>
                        </a:rPr>
                        <a:t>, semiconducting devices, crystalline materials, structures at quantum and </a:t>
                      </a:r>
                      <a:r>
                        <a:rPr lang="en-US" sz="1100" dirty="0" err="1">
                          <a:effectLst/>
                          <a:latin typeface="Calibri"/>
                          <a:ea typeface="Calibri"/>
                          <a:cs typeface="Calibri"/>
                        </a:rPr>
                        <a:t>nanoscale</a:t>
                      </a:r>
                      <a:r>
                        <a:rPr lang="en-US" sz="1100" dirty="0">
                          <a:effectLst/>
                          <a:latin typeface="Calibri"/>
                          <a:ea typeface="Calibri"/>
                          <a:cs typeface="Calibri"/>
                        </a:rPr>
                        <a:t> on the basis of their properties for industrial applications.</a:t>
                      </a:r>
                      <a:endParaRPr lang="en-US" sz="1100" dirty="0">
                        <a:effectLst/>
                        <a:latin typeface="Calibri"/>
                        <a:ea typeface="Calibri"/>
                        <a:cs typeface="Times New Roman"/>
                      </a:endParaRPr>
                    </a:p>
                  </a:txBody>
                  <a:tcPr marL="68580" marR="6858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b="0" dirty="0">
                          <a:solidFill>
                            <a:schemeClr val="tx1"/>
                          </a:solidFill>
                          <a:effectLst/>
                          <a:latin typeface="+mn-lt"/>
                          <a:ea typeface="Times New Roman" panose="02020603050405020304" pitchFamily="18" charset="0"/>
                          <a:cs typeface="Times New Roman" panose="02020603050405020304" pitchFamily="18" charset="0"/>
                        </a:rPr>
                        <a:t>Analyze</a:t>
                      </a:r>
                    </a:p>
                  </a:txBody>
                  <a:tcPr marL="68580" marR="68580" marT="0" marB="0"/>
                </a:tc>
                <a:extLst>
                  <a:ext uri="{0D108BD9-81ED-4DB2-BD59-A6C34878D82A}">
                    <a16:rowId xmlns:a16="http://schemas.microsoft.com/office/drawing/2014/main" val="10002"/>
                  </a:ext>
                </a:extLst>
              </a:tr>
              <a:tr h="887612">
                <a:tc>
                  <a:txBody>
                    <a:bodyPr/>
                    <a:lstStyle/>
                    <a:p>
                      <a:pPr marL="0" marR="0">
                        <a:lnSpc>
                          <a:spcPct val="11500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CO5</a:t>
                      </a:r>
                    </a:p>
                  </a:txBody>
                  <a:tcPr marL="68580" marR="68580" marT="0" marB="0"/>
                </a:tc>
                <a:tc>
                  <a:txBody>
                    <a:bodyPr/>
                    <a:lstStyle/>
                    <a:p>
                      <a:pPr marL="0" marR="53975" algn="just">
                        <a:lnSpc>
                          <a:spcPct val="150000"/>
                        </a:lnSpc>
                        <a:spcBef>
                          <a:spcPts val="0"/>
                        </a:spcBef>
                        <a:spcAft>
                          <a:spcPts val="0"/>
                        </a:spcAft>
                      </a:pPr>
                      <a:r>
                        <a:rPr lang="en-US" sz="1100" dirty="0">
                          <a:effectLst/>
                          <a:latin typeface="Calibri"/>
                          <a:ea typeface="Calibri"/>
                          <a:cs typeface="Calibri"/>
                        </a:rPr>
                        <a:t>Develop various systems using lasers, </a:t>
                      </a:r>
                      <a:r>
                        <a:rPr lang="en-US" sz="1100" dirty="0" err="1">
                          <a:effectLst/>
                          <a:latin typeface="Calibri"/>
                          <a:ea typeface="Calibri"/>
                          <a:cs typeface="Calibri"/>
                        </a:rPr>
                        <a:t>fibres</a:t>
                      </a:r>
                      <a:r>
                        <a:rPr lang="en-US" sz="1100" dirty="0">
                          <a:effectLst/>
                          <a:latin typeface="Calibri"/>
                          <a:ea typeface="Calibri"/>
                          <a:cs typeface="Calibri"/>
                        </a:rPr>
                        <a:t>, semiconductors and </a:t>
                      </a:r>
                      <a:r>
                        <a:rPr lang="en-US" sz="1100" dirty="0" err="1">
                          <a:effectLst/>
                          <a:latin typeface="Calibri"/>
                          <a:ea typeface="Calibri"/>
                          <a:cs typeface="Calibri"/>
                        </a:rPr>
                        <a:t>nanomaterials</a:t>
                      </a:r>
                      <a:r>
                        <a:rPr lang="en-US" sz="1100" dirty="0">
                          <a:effectLst/>
                          <a:latin typeface="Calibri"/>
                          <a:ea typeface="Calibri"/>
                          <a:cs typeface="Calibri"/>
                        </a:rPr>
                        <a:t> for futuristic applications.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200" b="0" dirty="0">
                          <a:effectLst/>
                          <a:latin typeface="+mn-lt"/>
                        </a:rPr>
                        <a:t>Design</a:t>
                      </a:r>
                      <a:r>
                        <a:rPr lang="en-US" sz="1200" b="0" dirty="0">
                          <a:solidFill>
                            <a:schemeClr val="tx1"/>
                          </a:solidFill>
                          <a:effectLst/>
                          <a:latin typeface="+mn-lt"/>
                        </a:rPr>
                        <a:t> </a:t>
                      </a:r>
                    </a:p>
                    <a:p>
                      <a:pPr marL="0" marR="0" indent="0" algn="l" defTabSz="914400" rtl="0" eaLnBrk="1" fontAlgn="auto" latinLnBrk="0" hangingPunct="1">
                        <a:lnSpc>
                          <a:spcPct val="115000"/>
                        </a:lnSpc>
                        <a:spcBef>
                          <a:spcPts val="0"/>
                        </a:spcBef>
                        <a:spcAft>
                          <a:spcPts val="0"/>
                        </a:spcAft>
                        <a:buClrTx/>
                        <a:buSzTx/>
                        <a:buFontTx/>
                        <a:buNone/>
                        <a:tabLst/>
                        <a:defRPr/>
                      </a:pPr>
                      <a:endParaRPr lang="en-US" sz="1200" b="0" dirty="0">
                        <a:solidFill>
                          <a:schemeClr val="tx1"/>
                        </a:solidFill>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4601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DCDBBEF-AA6C-4BA6-85B2-A17D7F280E38}" type="slidenum">
              <a:rPr lang="en-US" smtClean="0"/>
              <a:pPr/>
              <a:t>4</a:t>
            </a:fld>
            <a:endParaRPr lang="en-US" dirty="0"/>
          </a:p>
        </p:txBody>
      </p:sp>
      <p:sp>
        <p:nvSpPr>
          <p:cNvPr id="8" name="Rectangle 7"/>
          <p:cNvSpPr/>
          <p:nvPr/>
        </p:nvSpPr>
        <p:spPr>
          <a:xfrm>
            <a:off x="1310184" y="256020"/>
            <a:ext cx="9485807" cy="769441"/>
          </a:xfrm>
          <a:prstGeom prst="rect">
            <a:avLst/>
          </a:prstGeom>
        </p:spPr>
        <p:txBody>
          <a:bodyPr wrap="square">
            <a:spAutoFit/>
          </a:bodyPr>
          <a:lstStyle/>
          <a:p>
            <a:pPr algn="ctr"/>
            <a:r>
              <a:rPr lang="en-US" sz="4400" b="1" dirty="0"/>
              <a:t>LECTURE OBJECTIVE</a:t>
            </a:r>
          </a:p>
        </p:txBody>
      </p:sp>
      <p:pic>
        <p:nvPicPr>
          <p:cNvPr id="9" name="Picture 2"/>
          <p:cNvPicPr>
            <a:picLocks noChangeAspect="1" noChangeArrowheads="1"/>
          </p:cNvPicPr>
          <p:nvPr/>
        </p:nvPicPr>
        <p:blipFill>
          <a:blip r:embed="rId2"/>
          <a:srcRect/>
          <a:stretch>
            <a:fillRect/>
          </a:stretch>
        </p:blipFill>
        <p:spPr bwMode="auto">
          <a:xfrm>
            <a:off x="10795992" y="75716"/>
            <a:ext cx="1115616" cy="461141"/>
          </a:xfrm>
          <a:prstGeom prst="rect">
            <a:avLst/>
          </a:prstGeom>
          <a:noFill/>
          <a:ln w="9525">
            <a:noFill/>
            <a:miter lim="800000"/>
            <a:headEnd/>
            <a:tailEnd/>
          </a:ln>
          <a:effectLst/>
        </p:spPr>
      </p:pic>
      <p:graphicFrame>
        <p:nvGraphicFramePr>
          <p:cNvPr id="7" name="Diagram 6">
            <a:extLst>
              <a:ext uri="{FF2B5EF4-FFF2-40B4-BE49-F238E27FC236}">
                <a16:creationId xmlns:a16="http://schemas.microsoft.com/office/drawing/2014/main" id="{BC5425DA-F0BA-469F-9609-1A07113E09F1}"/>
              </a:ext>
            </a:extLst>
          </p:cNvPr>
          <p:cNvGraphicFramePr/>
          <p:nvPr>
            <p:extLst>
              <p:ext uri="{D42A27DB-BD31-4B8C-83A1-F6EECF244321}">
                <p14:modId xmlns:p14="http://schemas.microsoft.com/office/powerpoint/2010/main" val="3854326930"/>
              </p:ext>
            </p:extLst>
          </p:nvPr>
        </p:nvGraphicFramePr>
        <p:xfrm>
          <a:off x="641445" y="1460310"/>
          <a:ext cx="10154546" cy="47868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637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5</a:t>
            </a:fld>
            <a:endParaRPr lang="en-US" dirty="0"/>
          </a:p>
        </p:txBody>
      </p:sp>
      <p:sp>
        <p:nvSpPr>
          <p:cNvPr id="8" name="Title 7"/>
          <p:cNvSpPr txBox="1">
            <a:spLocks noGrp="1" noChangeArrowheads="1"/>
          </p:cNvSpPr>
          <p:nvPr>
            <p:ph type="title"/>
          </p:nvPr>
        </p:nvSpPr>
        <p:spPr bwMode="auto">
          <a:xfrm>
            <a:off x="0" y="877530"/>
            <a:ext cx="11661776"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Karla" pitchFamily="2" charset="0"/>
              </a:rPr>
              <a:t>QUANTUM MECHANICS</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AutoShape 2" descr="Image result for quantu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AutoShape 4" descr="Image result for quantum phys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10246" name="Picture 6" descr="Image result for quantum phys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922" y="1596788"/>
            <a:ext cx="10947993" cy="45503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043451" y="6324600"/>
            <a:ext cx="6264322" cy="338554"/>
          </a:xfrm>
          <a:prstGeom prst="rect">
            <a:avLst/>
          </a:prstGeom>
          <a:noFill/>
        </p:spPr>
        <p:txBody>
          <a:bodyPr wrap="square" rtlCol="0">
            <a:spAutoFit/>
          </a:bodyPr>
          <a:lstStyle/>
          <a:p>
            <a:pPr algn="ctr"/>
            <a:r>
              <a:rPr lang="en-US" sz="1600" dirty="0">
                <a:latin typeface="Casper"/>
              </a:rPr>
              <a:t>Figure 4.1 Quantum Theory [1]</a:t>
            </a:r>
          </a:p>
        </p:txBody>
      </p:sp>
    </p:spTree>
    <p:extLst>
      <p:ext uri="{BB962C8B-B14F-4D97-AF65-F5344CB8AC3E}">
        <p14:creationId xmlns:p14="http://schemas.microsoft.com/office/powerpoint/2010/main" val="4018097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6</a:t>
            </a:fld>
            <a:endParaRPr lang="en-US" dirty="0"/>
          </a:p>
        </p:txBody>
      </p:sp>
      <p:sp>
        <p:nvSpPr>
          <p:cNvPr id="8" name="Title 7"/>
          <p:cNvSpPr txBox="1">
            <a:spLocks noGrp="1" noChangeArrowheads="1"/>
          </p:cNvSpPr>
          <p:nvPr>
            <p:ph type="title"/>
          </p:nvPr>
        </p:nvSpPr>
        <p:spPr bwMode="auto">
          <a:xfrm>
            <a:off x="924256" y="376675"/>
            <a:ext cx="5063320"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cs typeface="Times New Roman" pitchFamily="18" charset="0"/>
              </a:rPr>
              <a:t>NEED OF QUANTUM MECHANICS</a:t>
            </a:r>
            <a:br>
              <a:rPr lang="en-US" sz="4400" b="1" dirty="0">
                <a:latin typeface="Casper"/>
                <a:ea typeface="Karla" pitchFamily="2" charset="0"/>
                <a:cs typeface="Karla" pitchFamily="2" charset="0"/>
              </a:rPr>
            </a:b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425780" y="1729804"/>
            <a:ext cx="5561795" cy="3359061"/>
          </a:xfrm>
          <a:prstGeom prst="rect">
            <a:avLst/>
          </a:prstGeom>
          <a:ln>
            <a:solidFill>
              <a:schemeClr val="tx1"/>
            </a:solidFill>
          </a:ln>
        </p:spPr>
        <p:txBody>
          <a:bodyPr wrap="square">
            <a:spAutoFit/>
          </a:bodyPr>
          <a:lstStyle/>
          <a:p>
            <a:pPr marL="457200" indent="-457200">
              <a:lnSpc>
                <a:spcPct val="150000"/>
              </a:lnSpc>
              <a:buFont typeface="Wingdings" pitchFamily="2" charset="2"/>
              <a:buChar char="q"/>
            </a:pPr>
            <a:r>
              <a:rPr lang="en-US" sz="2400" dirty="0">
                <a:cs typeface="Times New Roman" pitchFamily="18" charset="0"/>
              </a:rPr>
              <a:t>Problems remained from classical mechanics that relativity didn’t explain</a:t>
            </a:r>
          </a:p>
          <a:p>
            <a:pPr marL="457200" indent="-457200">
              <a:lnSpc>
                <a:spcPct val="150000"/>
              </a:lnSpc>
              <a:buFont typeface="Wingdings" pitchFamily="2" charset="2"/>
              <a:buChar char="q"/>
            </a:pPr>
            <a:r>
              <a:rPr lang="en-US" sz="2400" dirty="0">
                <a:solidFill>
                  <a:srgbClr val="FF0000"/>
                </a:solidFill>
                <a:cs typeface="Times New Roman" pitchFamily="18" charset="0"/>
              </a:rPr>
              <a:t>Attempts to apply the laws of classical physics to explain the behavior of matter on the atomic scale were consistently unsuccessful.</a:t>
            </a:r>
          </a:p>
        </p:txBody>
      </p:sp>
      <p:sp>
        <p:nvSpPr>
          <p:cNvPr id="11" name="TextBox 10"/>
          <p:cNvSpPr txBox="1"/>
          <p:nvPr/>
        </p:nvSpPr>
        <p:spPr>
          <a:xfrm>
            <a:off x="6373504" y="6324600"/>
            <a:ext cx="4490113" cy="338554"/>
          </a:xfrm>
          <a:prstGeom prst="rect">
            <a:avLst/>
          </a:prstGeom>
          <a:noFill/>
        </p:spPr>
        <p:txBody>
          <a:bodyPr wrap="square" rtlCol="0">
            <a:spAutoFit/>
          </a:bodyPr>
          <a:lstStyle/>
          <a:p>
            <a:pPr algn="ctr"/>
            <a:r>
              <a:rPr lang="en-US" sz="1600" dirty="0">
                <a:latin typeface="Casper"/>
              </a:rPr>
              <a:t>Figure 4.2 Need of Quantum Theory [2]</a:t>
            </a:r>
          </a:p>
        </p:txBody>
      </p:sp>
      <p:pic>
        <p:nvPicPr>
          <p:cNvPr id="10242" name="Picture 2" descr="Image result for Use of quantum physics in other fiel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5642" y="777922"/>
            <a:ext cx="4906133" cy="5400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80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pPr marL="0" indent="0">
              <a:buNone/>
            </a:pPr>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7</a:t>
            </a:fld>
            <a:endParaRPr lang="en-US" dirty="0"/>
          </a:p>
        </p:txBody>
      </p:sp>
      <p:sp>
        <p:nvSpPr>
          <p:cNvPr id="8" name="Title 7"/>
          <p:cNvSpPr txBox="1">
            <a:spLocks noGrp="1" noChangeArrowheads="1"/>
          </p:cNvSpPr>
          <p:nvPr>
            <p:ph type="title"/>
          </p:nvPr>
        </p:nvSpPr>
        <p:spPr bwMode="auto">
          <a:xfrm>
            <a:off x="924256" y="376675"/>
            <a:ext cx="5063320"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cs typeface="Times New Roman" pitchFamily="18" charset="0"/>
              </a:rPr>
              <a:t>NEED OF QUANTUM MECHANICS</a:t>
            </a:r>
            <a:br>
              <a:rPr lang="en-US" sz="4400" b="1" dirty="0">
                <a:latin typeface="Casper"/>
                <a:ea typeface="Karla" pitchFamily="2" charset="0"/>
                <a:cs typeface="Karla" pitchFamily="2" charset="0"/>
              </a:rPr>
            </a:br>
            <a:endParaRPr lang="en-US" sz="4400" b="1" dirty="0">
              <a:latin typeface="Casper"/>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p:cNvSpPr/>
          <p:nvPr/>
        </p:nvSpPr>
        <p:spPr>
          <a:xfrm>
            <a:off x="425780" y="1729804"/>
            <a:ext cx="5561795" cy="4467057"/>
          </a:xfrm>
          <a:prstGeom prst="rect">
            <a:avLst/>
          </a:prstGeom>
          <a:ln>
            <a:solidFill>
              <a:schemeClr val="tx1"/>
            </a:solidFill>
          </a:ln>
        </p:spPr>
        <p:txBody>
          <a:bodyPr wrap="square">
            <a:spAutoFit/>
          </a:bodyPr>
          <a:lstStyle/>
          <a:p>
            <a:pPr marL="457200" indent="-457200">
              <a:lnSpc>
                <a:spcPct val="150000"/>
              </a:lnSpc>
              <a:buFont typeface="Wingdings" pitchFamily="2" charset="2"/>
              <a:buChar char="q"/>
            </a:pPr>
            <a:r>
              <a:rPr lang="en-US" sz="2400" dirty="0">
                <a:cs typeface="Times New Roman" pitchFamily="18" charset="0"/>
              </a:rPr>
              <a:t>Problems included:</a:t>
            </a:r>
          </a:p>
          <a:p>
            <a:pPr marL="914400" lvl="1" indent="-457200">
              <a:lnSpc>
                <a:spcPct val="150000"/>
              </a:lnSpc>
              <a:buFont typeface="Wingdings" pitchFamily="2" charset="2"/>
              <a:buChar char="q"/>
            </a:pPr>
            <a:r>
              <a:rPr lang="en-US" sz="2400" dirty="0">
                <a:solidFill>
                  <a:srgbClr val="FF0000"/>
                </a:solidFill>
                <a:cs typeface="Times New Roman" pitchFamily="18" charset="0"/>
              </a:rPr>
              <a:t>Blackbody radiation</a:t>
            </a:r>
          </a:p>
          <a:p>
            <a:pPr marL="914400" lvl="1" indent="-457200">
              <a:lnSpc>
                <a:spcPct val="150000"/>
              </a:lnSpc>
              <a:buFont typeface="Wingdings" pitchFamily="2" charset="2"/>
              <a:buChar char="q"/>
            </a:pPr>
            <a:r>
              <a:rPr lang="en-US" sz="2400" dirty="0">
                <a:cs typeface="Times New Roman" pitchFamily="18" charset="0"/>
              </a:rPr>
              <a:t>The electromagnetic radiation emitted by a </a:t>
            </a:r>
          </a:p>
          <a:p>
            <a:pPr marL="914400" lvl="1" indent="-457200">
              <a:lnSpc>
                <a:spcPct val="150000"/>
              </a:lnSpc>
              <a:buFont typeface="Wingdings" pitchFamily="2" charset="2"/>
              <a:buChar char="q"/>
            </a:pPr>
            <a:r>
              <a:rPr lang="en-US" sz="2400" dirty="0">
                <a:cs typeface="Times New Roman" pitchFamily="18" charset="0"/>
              </a:rPr>
              <a:t>heated object</a:t>
            </a:r>
          </a:p>
          <a:p>
            <a:pPr marL="914400" lvl="1" indent="-457200">
              <a:lnSpc>
                <a:spcPct val="150000"/>
              </a:lnSpc>
              <a:buFont typeface="Wingdings" pitchFamily="2" charset="2"/>
              <a:buChar char="q"/>
            </a:pPr>
            <a:r>
              <a:rPr lang="en-US" sz="2400" dirty="0">
                <a:solidFill>
                  <a:srgbClr val="FF0000"/>
                </a:solidFill>
                <a:cs typeface="Times New Roman" pitchFamily="18" charset="0"/>
              </a:rPr>
              <a:t>Photoelectric effect</a:t>
            </a:r>
          </a:p>
          <a:p>
            <a:pPr marL="914400" lvl="1" indent="-457200">
              <a:lnSpc>
                <a:spcPct val="150000"/>
              </a:lnSpc>
              <a:buFont typeface="Wingdings" pitchFamily="2" charset="2"/>
              <a:buChar char="q"/>
            </a:pPr>
            <a:r>
              <a:rPr lang="en-US" sz="2400" dirty="0">
                <a:cs typeface="Times New Roman" pitchFamily="18" charset="0"/>
              </a:rPr>
              <a:t>Emission of electrons by an illuminated metal</a:t>
            </a:r>
          </a:p>
        </p:txBody>
      </p:sp>
      <p:sp>
        <p:nvSpPr>
          <p:cNvPr id="11" name="TextBox 10"/>
          <p:cNvSpPr txBox="1"/>
          <p:nvPr/>
        </p:nvSpPr>
        <p:spPr>
          <a:xfrm>
            <a:off x="6373504" y="6324600"/>
            <a:ext cx="4490113" cy="338554"/>
          </a:xfrm>
          <a:prstGeom prst="rect">
            <a:avLst/>
          </a:prstGeom>
          <a:noFill/>
        </p:spPr>
        <p:txBody>
          <a:bodyPr wrap="square" rtlCol="0">
            <a:spAutoFit/>
          </a:bodyPr>
          <a:lstStyle/>
          <a:p>
            <a:pPr algn="ctr"/>
            <a:r>
              <a:rPr lang="en-US" sz="1600" dirty="0">
                <a:latin typeface="Casper"/>
              </a:rPr>
              <a:t>Figure 3.2 Need of Quantum Theory [2]</a:t>
            </a:r>
          </a:p>
        </p:txBody>
      </p:sp>
      <p:pic>
        <p:nvPicPr>
          <p:cNvPr id="10242" name="Picture 2" descr="Image result for Use of quantum physics in other fiel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5642" y="777922"/>
            <a:ext cx="4906133" cy="5400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8</a:t>
            </a:fld>
            <a:endParaRPr lang="en-US" dirty="0"/>
          </a:p>
        </p:txBody>
      </p:sp>
      <p:sp>
        <p:nvSpPr>
          <p:cNvPr id="8" name="Title 7"/>
          <p:cNvSpPr txBox="1">
            <a:spLocks noGrp="1" noChangeArrowheads="1"/>
          </p:cNvSpPr>
          <p:nvPr>
            <p:ph type="title"/>
          </p:nvPr>
        </p:nvSpPr>
        <p:spPr bwMode="auto">
          <a:xfrm>
            <a:off x="-162586" y="630789"/>
            <a:ext cx="5554639" cy="2529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a:cs typeface="Times New Roman" pitchFamily="18" charset="0"/>
              </a:rPr>
              <a:t>HEISENBERG </a:t>
            </a:r>
            <a:br>
              <a:rPr lang="en-US" sz="4400" b="1" dirty="0">
                <a:latin typeface="Casper Bold"/>
                <a:cs typeface="Times New Roman" pitchFamily="18" charset="0"/>
              </a:rPr>
            </a:br>
            <a:r>
              <a:rPr lang="en-US" sz="4400" b="1" dirty="0">
                <a:latin typeface="Casper Bold"/>
                <a:cs typeface="Times New Roman" pitchFamily="18" charset="0"/>
              </a:rPr>
              <a:t>UNCERTAINTY </a:t>
            </a:r>
            <a:br>
              <a:rPr lang="en-US" sz="4400" b="1" dirty="0">
                <a:latin typeface="Casper Bold"/>
                <a:cs typeface="Times New Roman" pitchFamily="18" charset="0"/>
              </a:rPr>
            </a:br>
            <a:r>
              <a:rPr lang="en-US" sz="4400" b="1" dirty="0">
                <a:latin typeface="Casper Bold"/>
                <a:cs typeface="Times New Roman" pitchFamily="18" charset="0"/>
              </a:rPr>
              <a:t>PRINCIPLE</a:t>
            </a: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C:\Users\SCS\Desktop\Heisenberg uncertainy princi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9955" y="832514"/>
            <a:ext cx="7011821" cy="5322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15715" y="2424140"/>
            <a:ext cx="4162567" cy="3970318"/>
          </a:xfrm>
          <a:prstGeom prst="rect">
            <a:avLst/>
          </a:prstGeom>
          <a:noFill/>
          <a:ln>
            <a:solidFill>
              <a:schemeClr val="tx1"/>
            </a:solidFill>
          </a:ln>
        </p:spPr>
        <p:txBody>
          <a:bodyPr wrap="square" rtlCol="0">
            <a:spAutoFit/>
          </a:bodyPr>
          <a:lstStyle/>
          <a:p>
            <a:pPr>
              <a:lnSpc>
                <a:spcPct val="150000"/>
              </a:lnSpc>
            </a:pPr>
            <a:r>
              <a:rPr lang="en-US" sz="2400" dirty="0"/>
              <a:t>It states that it is impossible to measure spontaneously and simultaneously both the values of members of pair which determine the behavior of atomic system</a:t>
            </a:r>
          </a:p>
          <a:p>
            <a:pPr>
              <a:lnSpc>
                <a:spcPct val="150000"/>
              </a:lnSpc>
            </a:pPr>
            <a:endParaRPr lang="en-US" sz="2400" dirty="0"/>
          </a:p>
        </p:txBody>
      </p:sp>
      <p:sp>
        <p:nvSpPr>
          <p:cNvPr id="7" name="TextBox 6"/>
          <p:cNvSpPr txBox="1"/>
          <p:nvPr/>
        </p:nvSpPr>
        <p:spPr>
          <a:xfrm>
            <a:off x="5902655" y="6309412"/>
            <a:ext cx="4490113" cy="338554"/>
          </a:xfrm>
          <a:prstGeom prst="rect">
            <a:avLst/>
          </a:prstGeom>
          <a:noFill/>
        </p:spPr>
        <p:txBody>
          <a:bodyPr wrap="square" rtlCol="0">
            <a:spAutoFit/>
          </a:bodyPr>
          <a:lstStyle/>
          <a:p>
            <a:r>
              <a:rPr lang="en-US" sz="1600" dirty="0">
                <a:latin typeface="Casper"/>
              </a:rPr>
              <a:t>Figure 4.3 Uncertainty Principle [3]</a:t>
            </a:r>
          </a:p>
        </p:txBody>
      </p:sp>
    </p:spTree>
    <p:extLst>
      <p:ext uri="{BB962C8B-B14F-4D97-AF65-F5344CB8AC3E}">
        <p14:creationId xmlns:p14="http://schemas.microsoft.com/office/powerpoint/2010/main" val="3810596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9</a:t>
            </a:fld>
            <a:endParaRPr lang="en-US" dirty="0"/>
          </a:p>
        </p:txBody>
      </p:sp>
      <p:sp>
        <p:nvSpPr>
          <p:cNvPr id="8" name="Title 7"/>
          <p:cNvSpPr txBox="1">
            <a:spLocks noGrp="1" noChangeArrowheads="1"/>
          </p:cNvSpPr>
          <p:nvPr>
            <p:ph type="title"/>
          </p:nvPr>
        </p:nvSpPr>
        <p:spPr bwMode="auto">
          <a:xfrm>
            <a:off x="1188445" y="-75998"/>
            <a:ext cx="11003555"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a:latin typeface="Casper Bold"/>
                <a:cs typeface="Times New Roman" pitchFamily="18" charset="0"/>
              </a:rPr>
              <a:t>HEISENBERG UNCERTAINTY PRINCIPLE</a:t>
            </a: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03988C4-B649-41E6-A9DB-C3FD1B949C22}"/>
              </a:ext>
            </a:extLst>
          </p:cNvPr>
          <p:cNvSpPr/>
          <p:nvPr/>
        </p:nvSpPr>
        <p:spPr>
          <a:xfrm>
            <a:off x="398059" y="1876278"/>
            <a:ext cx="11395881" cy="3939925"/>
          </a:xfrm>
          <a:prstGeom prst="rect">
            <a:avLst/>
          </a:prstGeom>
        </p:spPr>
        <p:txBody>
          <a:bodyPr wrap="square">
            <a:spAutoFit/>
          </a:bodyPr>
          <a:lstStyle/>
          <a:p>
            <a:pPr algn="just">
              <a:lnSpc>
                <a:spcPct val="107000"/>
              </a:lnSpc>
              <a:spcAft>
                <a:spcPts val="800"/>
              </a:spcAft>
            </a:pPr>
            <a:r>
              <a:rPr lang="en-US" sz="2400" dirty="0">
                <a:solidFill>
                  <a:srgbClr val="000000"/>
                </a:solidFill>
                <a:ea typeface="Calibri" panose="020F0502020204030204" pitchFamily="34" charset="0"/>
                <a:cs typeface="Raavi" panose="020B0502040204020203" pitchFamily="34" charset="0"/>
              </a:rPr>
              <a:t>In 1927 Heisenberg proposed “the uncertainty principle”. This principle is a result of the dual nature of matter.</a:t>
            </a:r>
            <a:endParaRPr lang="en-US" sz="2400" dirty="0">
              <a:ea typeface="Calibri" panose="020F0502020204030204" pitchFamily="34" charset="0"/>
              <a:cs typeface="Raavi" panose="020B0502040204020203" pitchFamily="34" charset="0"/>
            </a:endParaRPr>
          </a:p>
          <a:p>
            <a:pPr marL="342900" indent="-342900">
              <a:buFont typeface="Wingdings" panose="05000000000000000000" pitchFamily="2" charset="2"/>
              <a:buChar char="q"/>
            </a:pPr>
            <a:r>
              <a:rPr lang="en-US" sz="2400" dirty="0">
                <a:solidFill>
                  <a:srgbClr val="000000"/>
                </a:solidFill>
                <a:ea typeface="Calibri" panose="020F0502020204030204" pitchFamily="34" charset="0"/>
              </a:rPr>
              <a:t>In quantum mechanics a particle is described by a wave packet, which represents and symbolizes all about particle and moves with group velocity. According to </a:t>
            </a:r>
            <a:r>
              <a:rPr lang="en-US" sz="2400" dirty="0" err="1">
                <a:solidFill>
                  <a:srgbClr val="000000"/>
                </a:solidFill>
                <a:ea typeface="Calibri" panose="020F0502020204030204" pitchFamily="34" charset="0"/>
              </a:rPr>
              <a:t>Born’s</a:t>
            </a:r>
            <a:r>
              <a:rPr lang="en-US" sz="2400" dirty="0">
                <a:solidFill>
                  <a:srgbClr val="000000"/>
                </a:solidFill>
                <a:ea typeface="Calibri" panose="020F0502020204030204" pitchFamily="34" charset="0"/>
              </a:rPr>
              <a:t> probability interpretation “</a:t>
            </a:r>
            <a:r>
              <a:rPr lang="en-US" sz="2400" i="1" dirty="0">
                <a:solidFill>
                  <a:srgbClr val="000000"/>
                </a:solidFill>
                <a:ea typeface="Calibri" panose="020F0502020204030204" pitchFamily="34" charset="0"/>
              </a:rPr>
              <a:t>the particle may be found anywhere within the wave packet</a:t>
            </a:r>
            <a:r>
              <a:rPr lang="en-US" sz="2400" dirty="0">
                <a:solidFill>
                  <a:srgbClr val="000000"/>
                </a:solidFill>
                <a:ea typeface="Calibri" panose="020F0502020204030204" pitchFamily="34" charset="0"/>
              </a:rPr>
              <a:t>”.</a:t>
            </a:r>
          </a:p>
          <a:p>
            <a:pPr marL="342900" indent="-342900">
              <a:buFont typeface="Wingdings" panose="05000000000000000000" pitchFamily="2" charset="2"/>
              <a:buChar char="q"/>
            </a:pPr>
            <a:r>
              <a:rPr lang="en-US" sz="2400" dirty="0">
                <a:solidFill>
                  <a:srgbClr val="000000"/>
                </a:solidFill>
                <a:ea typeface="Calibri" panose="020F0502020204030204" pitchFamily="34" charset="0"/>
              </a:rPr>
              <a:t>This implies that the position of the particle is uncertain within the limits of wave packet. Moreover, the wave packet has velocity spread and hence there is uncertainty about the velocity or momentum of the particle. This means it is impossible to know where the particle is and what is its exact velocity and momentum</a:t>
            </a:r>
            <a:endParaRPr lang="en-US" sz="2400" dirty="0"/>
          </a:p>
        </p:txBody>
      </p:sp>
      <p:sp>
        <p:nvSpPr>
          <p:cNvPr id="7" name="Rectangle 6"/>
          <p:cNvSpPr/>
          <p:nvPr/>
        </p:nvSpPr>
        <p:spPr>
          <a:xfrm>
            <a:off x="838199" y="0"/>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5357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10</a:t>
            </a:fld>
            <a:endParaRPr lang="en-US" dirty="0"/>
          </a:p>
        </p:txBody>
      </p:sp>
      <p:sp>
        <p:nvSpPr>
          <p:cNvPr id="8" name="Title 7"/>
          <p:cNvSpPr txBox="1">
            <a:spLocks noGrp="1" noChangeArrowheads="1"/>
          </p:cNvSpPr>
          <p:nvPr>
            <p:ph type="title"/>
          </p:nvPr>
        </p:nvSpPr>
        <p:spPr bwMode="auto">
          <a:xfrm>
            <a:off x="969353" y="800150"/>
            <a:ext cx="10028831"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a:latin typeface="Casper Bold"/>
                <a:cs typeface="Times New Roman" pitchFamily="18" charset="0"/>
              </a:rPr>
              <a:t>HEISENBERG UNCERTAINTY PRINCIPLE</a:t>
            </a: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03988C4-B649-41E6-A9DB-C3FD1B949C22}"/>
              </a:ext>
            </a:extLst>
          </p:cNvPr>
          <p:cNvSpPr/>
          <p:nvPr/>
        </p:nvSpPr>
        <p:spPr>
          <a:xfrm>
            <a:off x="398059" y="1876278"/>
            <a:ext cx="11395881" cy="470000"/>
          </a:xfrm>
          <a:prstGeom prst="rect">
            <a:avLst/>
          </a:prstGeom>
        </p:spPr>
        <p:txBody>
          <a:bodyPr wrap="square">
            <a:spAutoFit/>
          </a:bodyPr>
          <a:lstStyle/>
          <a:p>
            <a:pPr algn="just">
              <a:lnSpc>
                <a:spcPct val="107000"/>
              </a:lnSpc>
              <a:spcAft>
                <a:spcPts val="800"/>
              </a:spcAft>
            </a:pPr>
            <a:endParaRPr lang="en-US" sz="2400" dirty="0"/>
          </a:p>
        </p:txBody>
      </p:sp>
      <p:sp>
        <p:nvSpPr>
          <p:cNvPr id="10252" name="Rectangle 10251">
            <a:extLst>
              <a:ext uri="{FF2B5EF4-FFF2-40B4-BE49-F238E27FC236}">
                <a16:creationId xmlns:a16="http://schemas.microsoft.com/office/drawing/2014/main" id="{4914F000-BFF9-4683-B753-AC37C2F7F923}"/>
              </a:ext>
            </a:extLst>
          </p:cNvPr>
          <p:cNvSpPr/>
          <p:nvPr/>
        </p:nvSpPr>
        <p:spPr>
          <a:xfrm>
            <a:off x="1298713" y="1859340"/>
            <a:ext cx="9839187" cy="4154984"/>
          </a:xfrm>
          <a:prstGeom prst="rect">
            <a:avLst/>
          </a:prstGeom>
        </p:spPr>
        <p:txBody>
          <a:bodyPr wrap="square">
            <a:spAutoFit/>
          </a:bodyPr>
          <a:lstStyle/>
          <a:p>
            <a:r>
              <a:rPr lang="en-US" sz="2400" b="1" dirty="0"/>
              <a:t>Statement of uncertainty principle</a:t>
            </a:r>
            <a:r>
              <a:rPr lang="en-US" sz="2400" dirty="0"/>
              <a:t>: “The product of uncertainties in determining the position and momentum of the particle at the same time instant is at best of the order of  ”</a:t>
            </a:r>
          </a:p>
          <a:p>
            <a:r>
              <a:rPr lang="en-US" sz="2400" dirty="0"/>
              <a:t> </a:t>
            </a:r>
          </a:p>
          <a:p>
            <a:endParaRPr lang="en-US" sz="2400" dirty="0"/>
          </a:p>
          <a:p>
            <a:r>
              <a:rPr lang="en-US" sz="2400" dirty="0"/>
              <a:t>Where,                    ∆x is uncertainty in determining position of the particle and ∆p is that in determining the momentum.</a:t>
            </a:r>
          </a:p>
          <a:p>
            <a:endParaRPr lang="en-US" sz="2400" dirty="0"/>
          </a:p>
          <a:p>
            <a:r>
              <a:rPr lang="en-US" sz="2400" dirty="0"/>
              <a:t>This relation is universal and holds for all the canonically conjugate quantities like position and momentum, energy and time, angular momentum and angle, etc. whose product has a dimension of action (joule. Sec)</a:t>
            </a:r>
          </a:p>
        </p:txBody>
      </p:sp>
      <p:pic>
        <p:nvPicPr>
          <p:cNvPr id="54" name="Picture 53">
            <a:extLst>
              <a:ext uri="{FF2B5EF4-FFF2-40B4-BE49-F238E27FC236}">
                <a16:creationId xmlns:a16="http://schemas.microsoft.com/office/drawing/2014/main" id="{D21FF0EA-881E-4A80-A718-5C96A348330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102914" y="3144565"/>
            <a:ext cx="1761711" cy="469999"/>
          </a:xfrm>
          <a:prstGeom prst="rect">
            <a:avLst/>
          </a:prstGeom>
          <a:noFill/>
          <a:ln>
            <a:noFill/>
          </a:ln>
        </p:spPr>
      </p:pic>
      <p:pic>
        <p:nvPicPr>
          <p:cNvPr id="55" name="Picture 54">
            <a:extLst>
              <a:ext uri="{FF2B5EF4-FFF2-40B4-BE49-F238E27FC236}">
                <a16:creationId xmlns:a16="http://schemas.microsoft.com/office/drawing/2014/main" id="{FD911F71-A806-4891-A2F1-E9A322BF8A2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334038" y="3647808"/>
            <a:ext cx="1230797" cy="470000"/>
          </a:xfrm>
          <a:prstGeom prst="rect">
            <a:avLst/>
          </a:prstGeom>
          <a:noFill/>
          <a:ln>
            <a:noFill/>
          </a:ln>
        </p:spPr>
      </p:pic>
      <p:sp>
        <p:nvSpPr>
          <p:cNvPr id="9" name="Rectangle 8"/>
          <p:cNvSpPr/>
          <p:nvPr/>
        </p:nvSpPr>
        <p:spPr>
          <a:xfrm>
            <a:off x="725969" y="175560"/>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2745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11</a:t>
            </a:fld>
            <a:endParaRPr lang="en-US" dirty="0"/>
          </a:p>
        </p:txBody>
      </p:sp>
      <p:sp>
        <p:nvSpPr>
          <p:cNvPr id="8" name="Title 7"/>
          <p:cNvSpPr txBox="1">
            <a:spLocks noGrp="1" noChangeArrowheads="1"/>
          </p:cNvSpPr>
          <p:nvPr>
            <p:ph type="title"/>
          </p:nvPr>
        </p:nvSpPr>
        <p:spPr bwMode="auto">
          <a:xfrm>
            <a:off x="1188445" y="533400"/>
            <a:ext cx="10028831"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b="1" dirty="0">
                <a:latin typeface="Casper Bold"/>
                <a:cs typeface="Times New Roman" pitchFamily="18" charset="0"/>
              </a:rPr>
              <a:t>HEISENBERG UNCERTAINTY PRINCIPLE</a:t>
            </a:r>
            <a:br>
              <a:rPr lang="en-US" sz="4400" b="1" dirty="0">
                <a:latin typeface="Casper Bold"/>
                <a:ea typeface="Karla" pitchFamily="2" charset="0"/>
                <a:cs typeface="Karla" pitchFamily="2" charset="0"/>
              </a:rPr>
            </a:br>
            <a:endParaRPr lang="en-US" sz="4400" dirty="0">
              <a:latin typeface="Casper Bold"/>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03988C4-B649-41E6-A9DB-C3FD1B949C22}"/>
              </a:ext>
            </a:extLst>
          </p:cNvPr>
          <p:cNvSpPr/>
          <p:nvPr/>
        </p:nvSpPr>
        <p:spPr>
          <a:xfrm>
            <a:off x="398059" y="1876278"/>
            <a:ext cx="11395881" cy="470000"/>
          </a:xfrm>
          <a:prstGeom prst="rect">
            <a:avLst/>
          </a:prstGeom>
        </p:spPr>
        <p:txBody>
          <a:bodyPr wrap="square">
            <a:spAutoFit/>
          </a:bodyPr>
          <a:lstStyle/>
          <a:p>
            <a:pPr algn="just">
              <a:lnSpc>
                <a:spcPct val="107000"/>
              </a:lnSpc>
              <a:spcAft>
                <a:spcPts val="800"/>
              </a:spcAft>
            </a:pPr>
            <a:endParaRPr lang="en-US" sz="2400" dirty="0"/>
          </a:p>
        </p:txBody>
      </p:sp>
      <p:pic>
        <p:nvPicPr>
          <p:cNvPr id="13" name="Picture 12">
            <a:extLst>
              <a:ext uri="{FF2B5EF4-FFF2-40B4-BE49-F238E27FC236}">
                <a16:creationId xmlns:a16="http://schemas.microsoft.com/office/drawing/2014/main" id="{284FCB31-A928-49AF-BAAC-AA0D7713E80E}"/>
              </a:ext>
            </a:extLst>
          </p:cNvPr>
          <p:cNvPicPr>
            <a:picLocks noChangeAspect="1"/>
          </p:cNvPicPr>
          <p:nvPr/>
        </p:nvPicPr>
        <p:blipFill>
          <a:blip r:embed="rId2"/>
          <a:stretch>
            <a:fillRect/>
          </a:stretch>
        </p:blipFill>
        <p:spPr>
          <a:xfrm>
            <a:off x="1590261" y="1323594"/>
            <a:ext cx="9627015" cy="5262736"/>
          </a:xfrm>
          <a:prstGeom prst="rect">
            <a:avLst/>
          </a:prstGeom>
        </p:spPr>
      </p:pic>
      <p:sp>
        <p:nvSpPr>
          <p:cNvPr id="7" name="Rectangle 6"/>
          <p:cNvSpPr/>
          <p:nvPr/>
        </p:nvSpPr>
        <p:spPr>
          <a:xfrm>
            <a:off x="1145968" y="0"/>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7048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12</a:t>
            </a:fld>
            <a:endParaRPr lang="en-US" dirty="0"/>
          </a:p>
        </p:txBody>
      </p:sp>
      <p:sp>
        <p:nvSpPr>
          <p:cNvPr id="8" name="Title 7"/>
          <p:cNvSpPr txBox="1">
            <a:spLocks noGrp="1" noChangeArrowheads="1"/>
          </p:cNvSpPr>
          <p:nvPr>
            <p:ph type="title"/>
          </p:nvPr>
        </p:nvSpPr>
        <p:spPr bwMode="auto">
          <a:xfrm>
            <a:off x="1790131" y="478872"/>
            <a:ext cx="8611738" cy="1532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HEISENBERG UNCERTAINTY RELATIONS</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254364" y="2343150"/>
            <a:ext cx="7486650" cy="3981450"/>
          </a:xfrm>
          <a:prstGeom prst="rect">
            <a:avLst/>
          </a:prstGeom>
        </p:spPr>
      </p:pic>
      <p:sp>
        <p:nvSpPr>
          <p:cNvPr id="3" name="TextBox 2"/>
          <p:cNvSpPr txBox="1"/>
          <p:nvPr/>
        </p:nvSpPr>
        <p:spPr>
          <a:xfrm>
            <a:off x="280560" y="1857543"/>
            <a:ext cx="2497542" cy="4467057"/>
          </a:xfrm>
          <a:prstGeom prst="rect">
            <a:avLst/>
          </a:prstGeom>
          <a:noFill/>
          <a:ln>
            <a:solidFill>
              <a:schemeClr val="tx1"/>
            </a:solidFill>
          </a:ln>
        </p:spPr>
        <p:txBody>
          <a:bodyPr wrap="square" rtlCol="0">
            <a:spAutoFit/>
          </a:bodyPr>
          <a:lstStyle/>
          <a:p>
            <a:pPr algn="just">
              <a:lnSpc>
                <a:spcPct val="150000"/>
              </a:lnSpc>
            </a:pPr>
            <a:r>
              <a:rPr lang="en-US" sz="2400" dirty="0"/>
              <a:t>The product of uncertainties in the measurement of physical variables must be at least equal to Planck's constant</a:t>
            </a:r>
          </a:p>
          <a:p>
            <a:pPr algn="just">
              <a:lnSpc>
                <a:spcPct val="150000"/>
              </a:lnSpc>
            </a:pPr>
            <a:endParaRPr lang="en-US" sz="2400" dirty="0"/>
          </a:p>
        </p:txBody>
      </p:sp>
      <p:sp>
        <p:nvSpPr>
          <p:cNvPr id="9" name="Rectangle 8"/>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850943" y="6324600"/>
            <a:ext cx="4490113" cy="338554"/>
          </a:xfrm>
          <a:prstGeom prst="rect">
            <a:avLst/>
          </a:prstGeom>
          <a:noFill/>
        </p:spPr>
        <p:txBody>
          <a:bodyPr wrap="square" rtlCol="0">
            <a:spAutoFit/>
          </a:bodyPr>
          <a:lstStyle/>
          <a:p>
            <a:r>
              <a:rPr lang="en-US" sz="1600" dirty="0">
                <a:latin typeface="Casper"/>
              </a:rPr>
              <a:t>Figure 4.4 Uncertainty Relation [4]</a:t>
            </a:r>
          </a:p>
        </p:txBody>
      </p:sp>
    </p:spTree>
    <p:extLst>
      <p:ext uri="{BB962C8B-B14F-4D97-AF65-F5344CB8AC3E}">
        <p14:creationId xmlns:p14="http://schemas.microsoft.com/office/powerpoint/2010/main" val="4154919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13</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787021" y="354955"/>
            <a:ext cx="11136573" cy="1446550"/>
          </a:xfrm>
          <a:prstGeom prst="rect">
            <a:avLst/>
          </a:prstGeom>
          <a:noFill/>
          <a:ln>
            <a:solidFill>
              <a:schemeClr val="tx1"/>
            </a:solidFill>
          </a:ln>
        </p:spPr>
        <p:txBody>
          <a:bodyPr wrap="square" rtlCol="0">
            <a:spAutoFit/>
          </a:bodyPr>
          <a:lstStyle/>
          <a:p>
            <a:r>
              <a:rPr lang="en-US" sz="4400" b="1" dirty="0"/>
              <a:t>APPLICATION OF UNCERTAINITY PRINCIPLE: </a:t>
            </a:r>
          </a:p>
          <a:p>
            <a:r>
              <a:rPr lang="en-US" sz="4400" b="1" dirty="0"/>
              <a:t>Nonexistence of electron in the nucleus</a:t>
            </a:r>
            <a:endParaRPr lang="en-US" sz="4400" dirty="0"/>
          </a:p>
        </p:txBody>
      </p:sp>
      <p:pic>
        <p:nvPicPr>
          <p:cNvPr id="22" name="Picture 21">
            <a:extLst>
              <a:ext uri="{FF2B5EF4-FFF2-40B4-BE49-F238E27FC236}">
                <a16:creationId xmlns:a16="http://schemas.microsoft.com/office/drawing/2014/main" id="{0D716094-EE9E-4794-8D0C-B827126BE08A}"/>
              </a:ext>
            </a:extLst>
          </p:cNvPr>
          <p:cNvPicPr>
            <a:picLocks noChangeAspect="1"/>
          </p:cNvPicPr>
          <p:nvPr/>
        </p:nvPicPr>
        <p:blipFill>
          <a:blip r:embed="rId2"/>
          <a:stretch>
            <a:fillRect/>
          </a:stretch>
        </p:blipFill>
        <p:spPr>
          <a:xfrm>
            <a:off x="887105" y="2042159"/>
            <a:ext cx="10695296" cy="4460885"/>
          </a:xfrm>
          <a:prstGeom prst="rect">
            <a:avLst/>
          </a:prstGeom>
        </p:spPr>
      </p:pic>
    </p:spTree>
    <p:extLst>
      <p:ext uri="{BB962C8B-B14F-4D97-AF65-F5344CB8AC3E}">
        <p14:creationId xmlns:p14="http://schemas.microsoft.com/office/powerpoint/2010/main" val="623752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14</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787021" y="354955"/>
            <a:ext cx="11136573" cy="1446550"/>
          </a:xfrm>
          <a:prstGeom prst="rect">
            <a:avLst/>
          </a:prstGeom>
          <a:noFill/>
          <a:ln>
            <a:solidFill>
              <a:schemeClr val="tx1"/>
            </a:solidFill>
          </a:ln>
        </p:spPr>
        <p:txBody>
          <a:bodyPr wrap="square" rtlCol="0">
            <a:spAutoFit/>
          </a:bodyPr>
          <a:lstStyle/>
          <a:p>
            <a:r>
              <a:rPr lang="en-US" sz="4400" b="1" dirty="0"/>
              <a:t>APPLICATION OF UNCERTAINITY PRINCIPLE: </a:t>
            </a:r>
          </a:p>
          <a:p>
            <a:r>
              <a:rPr lang="en-US" sz="4400" b="1" dirty="0"/>
              <a:t>Nonexistence of electron in the nucleus</a:t>
            </a:r>
            <a:endParaRPr lang="en-US" sz="4400" dirty="0"/>
          </a:p>
        </p:txBody>
      </p:sp>
      <p:pic>
        <p:nvPicPr>
          <p:cNvPr id="8" name="Picture 7">
            <a:extLst>
              <a:ext uri="{FF2B5EF4-FFF2-40B4-BE49-F238E27FC236}">
                <a16:creationId xmlns:a16="http://schemas.microsoft.com/office/drawing/2014/main" id="{E110FF97-A619-4320-890A-035B2A818AAA}"/>
              </a:ext>
            </a:extLst>
          </p:cNvPr>
          <p:cNvPicPr>
            <a:picLocks noChangeAspect="1"/>
          </p:cNvPicPr>
          <p:nvPr/>
        </p:nvPicPr>
        <p:blipFill>
          <a:blip r:embed="rId2"/>
          <a:stretch>
            <a:fillRect/>
          </a:stretch>
        </p:blipFill>
        <p:spPr>
          <a:xfrm>
            <a:off x="1214651" y="1927859"/>
            <a:ext cx="10002625" cy="4575186"/>
          </a:xfrm>
          <a:prstGeom prst="rect">
            <a:avLst/>
          </a:prstGeom>
        </p:spPr>
      </p:pic>
    </p:spTree>
    <p:extLst>
      <p:ext uri="{BB962C8B-B14F-4D97-AF65-F5344CB8AC3E}">
        <p14:creationId xmlns:p14="http://schemas.microsoft.com/office/powerpoint/2010/main" val="3912429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15</a:t>
            </a:fld>
            <a:endParaRPr lang="en-US" dirty="0"/>
          </a:p>
        </p:txBody>
      </p:sp>
      <p:sp>
        <p:nvSpPr>
          <p:cNvPr id="8" name="Title 7"/>
          <p:cNvSpPr txBox="1">
            <a:spLocks noGrp="1" noChangeArrowheads="1"/>
          </p:cNvSpPr>
          <p:nvPr>
            <p:ph type="title"/>
          </p:nvPr>
        </p:nvSpPr>
        <p:spPr bwMode="auto">
          <a:xfrm>
            <a:off x="234051" y="300111"/>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SUMMARY</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527713" y="2254977"/>
            <a:ext cx="11136573" cy="3359061"/>
          </a:xfrm>
          <a:prstGeom prst="rect">
            <a:avLst/>
          </a:prstGeom>
          <a:noFill/>
          <a:ln>
            <a:solidFill>
              <a:schemeClr val="tx1"/>
            </a:solidFill>
          </a:ln>
        </p:spPr>
        <p:txBody>
          <a:bodyPr wrap="square" rtlCol="0">
            <a:spAutoFit/>
          </a:bodyPr>
          <a:lstStyle/>
          <a:p>
            <a:pPr marL="342900" lvl="0" indent="-342900">
              <a:lnSpc>
                <a:spcPct val="150000"/>
              </a:lnSpc>
              <a:buFont typeface="Wingdings" panose="05000000000000000000" pitchFamily="2" charset="2"/>
              <a:buChar char="v"/>
            </a:pPr>
            <a:r>
              <a:rPr lang="en-US" sz="2400" dirty="0"/>
              <a:t>Both position and momentum of particle can’t measure simultaneously.</a:t>
            </a:r>
          </a:p>
          <a:p>
            <a:pPr marL="342900" lvl="0" indent="-342900">
              <a:lnSpc>
                <a:spcPct val="150000"/>
              </a:lnSpc>
              <a:buFont typeface="Wingdings" panose="05000000000000000000" pitchFamily="2" charset="2"/>
              <a:buChar char="v"/>
            </a:pPr>
            <a:r>
              <a:rPr lang="en-US" sz="2400" dirty="0"/>
              <a:t>Heisenberg uncertainty principle directly gives that electrons can’t exist inside nucleus.</a:t>
            </a:r>
          </a:p>
          <a:p>
            <a:pPr marL="342900" lvl="0" indent="-342900">
              <a:lnSpc>
                <a:spcPct val="150000"/>
              </a:lnSpc>
              <a:buFont typeface="Wingdings" panose="05000000000000000000" pitchFamily="2" charset="2"/>
              <a:buChar char="v"/>
            </a:pPr>
            <a:r>
              <a:rPr lang="en-US" sz="2400" dirty="0"/>
              <a:t>Heisenberg uncertainty principle relates energy and time as canonical conjugate variable.</a:t>
            </a:r>
          </a:p>
          <a:p>
            <a:pPr marL="342900" lvl="0" indent="-342900">
              <a:lnSpc>
                <a:spcPct val="150000"/>
              </a:lnSpc>
              <a:buFont typeface="Wingdings" panose="05000000000000000000" pitchFamily="2" charset="2"/>
              <a:buChar char="v"/>
            </a:pPr>
            <a:endParaRPr lang="en-US" sz="2400" dirty="0"/>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5358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t>16</a:t>
            </a:fld>
            <a:endParaRPr lang="en-US" dirty="0"/>
          </a:p>
        </p:txBody>
      </p:sp>
      <p:sp>
        <p:nvSpPr>
          <p:cNvPr id="8" name="Title 7"/>
          <p:cNvSpPr txBox="1">
            <a:spLocks noGrp="1" noChangeArrowheads="1"/>
          </p:cNvSpPr>
          <p:nvPr>
            <p:ph type="title"/>
          </p:nvPr>
        </p:nvSpPr>
        <p:spPr bwMode="auto">
          <a:xfrm>
            <a:off x="382137" y="323090"/>
            <a:ext cx="11427725"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mn-lt"/>
                <a:ea typeface="Karla" pitchFamily="2" charset="0"/>
                <a:cs typeface="Times New Roman" pitchFamily="18" charset="0"/>
              </a:rPr>
              <a:t>FAQ</a:t>
            </a:r>
            <a:br>
              <a:rPr lang="en-US" sz="4400" b="1" dirty="0">
                <a:latin typeface="+mn-lt"/>
                <a:ea typeface="Karla" pitchFamily="2" charset="0"/>
                <a:cs typeface="Karla" pitchFamily="2" charset="0"/>
              </a:rPr>
            </a:br>
            <a:endParaRPr lang="en-US" sz="4400" dirty="0">
              <a:latin typeface="+mn-lt"/>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302953" y="1832212"/>
            <a:ext cx="11136573" cy="2251065"/>
          </a:xfrm>
          <a:prstGeom prst="rect">
            <a:avLst/>
          </a:prstGeom>
          <a:noFill/>
          <a:ln>
            <a:solidFill>
              <a:schemeClr val="tx1"/>
            </a:solidFill>
          </a:ln>
        </p:spPr>
        <p:txBody>
          <a:bodyPr wrap="square" rtlCol="0">
            <a:spAutoFit/>
          </a:bodyPr>
          <a:lstStyle/>
          <a:p>
            <a:pPr marL="342900" indent="-342900">
              <a:lnSpc>
                <a:spcPct val="150000"/>
              </a:lnSpc>
              <a:buFont typeface="+mj-lt"/>
              <a:buAutoNum type="arabicPeriod"/>
            </a:pPr>
            <a:r>
              <a:rPr lang="en-US" sz="2400" dirty="0"/>
              <a:t>Write three different forms of Heisenberg uncertainty principle.</a:t>
            </a:r>
          </a:p>
          <a:p>
            <a:pPr marL="342900" indent="-342900">
              <a:lnSpc>
                <a:spcPct val="150000"/>
              </a:lnSpc>
              <a:buFont typeface="+mj-lt"/>
              <a:buAutoNum type="arabicPeriod"/>
            </a:pPr>
            <a:r>
              <a:rPr lang="en-US" sz="2400" dirty="0"/>
              <a:t>Prove that electrons can’t exist inside nucleus.</a:t>
            </a:r>
          </a:p>
          <a:p>
            <a:pPr marL="342900" indent="-342900">
              <a:lnSpc>
                <a:spcPct val="150000"/>
              </a:lnSpc>
              <a:buFont typeface="+mj-lt"/>
              <a:buAutoNum type="arabicPeriod"/>
            </a:pPr>
            <a:r>
              <a:rPr lang="en-US" sz="2400" dirty="0"/>
              <a:t>Define Heisenberg uncertainty principle.</a:t>
            </a:r>
          </a:p>
          <a:p>
            <a:pPr lvl="0">
              <a:lnSpc>
                <a:spcPct val="150000"/>
              </a:lnSpc>
            </a:pPr>
            <a:endParaRPr lang="en-US" sz="2400" dirty="0"/>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5230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p:spPr>
        <p:txBody>
          <a:bodyPr>
            <a:normAutofit/>
          </a:bodyPr>
          <a:lstStyle/>
          <a:p>
            <a:pPr marL="0" indent="0">
              <a:buNone/>
            </a:pPr>
            <a:r>
              <a:rPr lang="en-US" sz="2400" dirty="0">
                <a:latin typeface="Casper"/>
              </a:rPr>
              <a:t>[1] https://stradallc.com/2016/02/12/design-like-quantum-physics/</a:t>
            </a:r>
          </a:p>
          <a:p>
            <a:pPr marL="0" indent="0">
              <a:buNone/>
            </a:pPr>
            <a:r>
              <a:rPr lang="en-US" sz="2400" dirty="0">
                <a:latin typeface="Casper"/>
              </a:rPr>
              <a:t>[2] https://en.wikipedia.org/wiki/Branches_of_physics</a:t>
            </a:r>
          </a:p>
          <a:p>
            <a:pPr marL="0" indent="0">
              <a:buNone/>
            </a:pPr>
            <a:r>
              <a:rPr lang="en-US" sz="2400" dirty="0">
                <a:latin typeface="Casper"/>
              </a:rPr>
              <a:t>[3] </a:t>
            </a:r>
            <a:r>
              <a:rPr lang="en-IN" sz="2400" dirty="0">
                <a:latin typeface="Casper"/>
              </a:rPr>
              <a:t>https://www.zmescience.com/science/physics/particle-momentum-position-measurement-54354</a:t>
            </a:r>
            <a:endParaRPr lang="en-US" sz="2400" dirty="0">
              <a:latin typeface="Casper"/>
            </a:endParaRPr>
          </a:p>
          <a:p>
            <a:pPr marL="0" indent="0">
              <a:buNone/>
            </a:pPr>
            <a:r>
              <a:rPr lang="en-US" sz="2400" dirty="0">
                <a:latin typeface="Casper"/>
              </a:rPr>
              <a:t>[4] </a:t>
            </a:r>
            <a:r>
              <a:rPr lang="en-IN" sz="2400" dirty="0">
                <a:latin typeface="Casper"/>
              </a:rPr>
              <a:t>https://english2biotech.wordpress.com/2013/01/28</a:t>
            </a:r>
            <a:endParaRPr lang="en-US" sz="2400" dirty="0">
              <a:latin typeface="Casper"/>
            </a:endParaRPr>
          </a:p>
          <a:p>
            <a:pPr marL="0" indent="0">
              <a:buNone/>
            </a:pPr>
            <a:endParaRPr lang="en-US" sz="2400" dirty="0"/>
          </a:p>
          <a:p>
            <a:pPr marL="0" indent="0">
              <a:buNone/>
            </a:pPr>
            <a:endParaRPr lang="en-US" sz="2400" dirty="0">
              <a:latin typeface="Casper"/>
            </a:endParaRPr>
          </a:p>
          <a:p>
            <a:pPr algn="just">
              <a:buNone/>
              <a:defRPr/>
            </a:pPr>
            <a:endParaRPr lang="en-IN" sz="1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17</a:t>
            </a:fld>
            <a:endParaRPr lang="en-US"/>
          </a:p>
        </p:txBody>
      </p:sp>
      <p:sp>
        <p:nvSpPr>
          <p:cNvPr id="5" name="Rectangle 4"/>
          <p:cNvSpPr/>
          <p:nvPr/>
        </p:nvSpPr>
        <p:spPr>
          <a:xfrm>
            <a:off x="838200" y="1817048"/>
            <a:ext cx="10515600" cy="261847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2800" dirty="0"/>
              <a:t>  </a:t>
            </a:r>
            <a:endParaRPr lang="en-US" dirty="0"/>
          </a:p>
        </p:txBody>
      </p:sp>
      <p:sp>
        <p:nvSpPr>
          <p:cNvPr id="3" name="Content Placeholder 2"/>
          <p:cNvSpPr>
            <a:spLocks noGrp="1"/>
          </p:cNvSpPr>
          <p:nvPr>
            <p:ph idx="1"/>
          </p:nvPr>
        </p:nvSpPr>
        <p:spPr>
          <a:xfrm>
            <a:off x="838200" y="1803400"/>
            <a:ext cx="10515600" cy="4694901"/>
          </a:xfrm>
        </p:spPr>
        <p:txBody>
          <a:bodyPr>
            <a:normAutofit/>
          </a:bodyPr>
          <a:lstStyle/>
          <a:p>
            <a:r>
              <a:rPr lang="en-IN" b="1" dirty="0"/>
              <a:t>Video link</a:t>
            </a:r>
          </a:p>
          <a:p>
            <a:pPr marL="457200" lvl="0" indent="-457200">
              <a:buFont typeface="+mj-lt"/>
              <a:buAutoNum type="arabicPeriod"/>
            </a:pPr>
            <a:r>
              <a:rPr lang="en-IN" sz="2400" u="sng" dirty="0">
                <a:hlinkClick r:id="rId2">
                  <a:extLst>
                    <a:ext uri="{A12FA001-AC4F-418D-AE19-62706E023703}">
                      <ahyp:hlinkClr xmlns:ahyp="http://schemas.microsoft.com/office/drawing/2018/hyperlinkcolor" val="tx"/>
                    </a:ext>
                  </a:extLst>
                </a:hlinkClick>
              </a:rPr>
              <a:t>https://nptel.ac.in/courses/122/106/122106034/</a:t>
            </a:r>
            <a:endParaRPr lang="en-IN" sz="2400" dirty="0"/>
          </a:p>
          <a:p>
            <a:pPr marL="457200" lvl="0" indent="-457200">
              <a:buFont typeface="+mj-lt"/>
              <a:buAutoNum type="arabicPeriod"/>
            </a:pPr>
            <a:r>
              <a:rPr lang="en-IN" sz="2400" dirty="0"/>
              <a:t>https://www.youtube.com/watch?v=a8FTr2qMutA</a:t>
            </a:r>
          </a:p>
          <a:p>
            <a:pPr marL="0" indent="0">
              <a:buNone/>
            </a:pPr>
            <a:endParaRPr lang="en-IN" b="1" dirty="0"/>
          </a:p>
          <a:p>
            <a:r>
              <a:rPr lang="en-IN" b="1" dirty="0"/>
              <a:t>Books</a:t>
            </a:r>
            <a:endParaRPr lang="en-US" dirty="0"/>
          </a:p>
          <a:p>
            <a:pPr marL="514350" lvl="0" indent="-514350">
              <a:buFont typeface="+mj-lt"/>
              <a:buAutoNum type="arabicPeriod"/>
            </a:pPr>
            <a:r>
              <a:rPr lang="en-IN" sz="2400" dirty="0"/>
              <a:t>Concepts of Modern Physics, (Fifth Edition) A </a:t>
            </a:r>
            <a:r>
              <a:rPr lang="en-IN" sz="2400" dirty="0" err="1"/>
              <a:t>Beiser</a:t>
            </a:r>
            <a:r>
              <a:rPr lang="en-IN" sz="2400" dirty="0"/>
              <a:t>, McGraw Hill International.</a:t>
            </a:r>
            <a:endParaRPr lang="en-US" sz="2400" dirty="0"/>
          </a:p>
          <a:p>
            <a:pPr marL="514350" indent="-514350">
              <a:buFont typeface="+mj-lt"/>
              <a:buAutoNum type="arabicPeriod"/>
            </a:pPr>
            <a:r>
              <a:rPr lang="en-IN" sz="2400" dirty="0"/>
              <a:t>Fundamentals of Physics, David Halliday, Robert Resnick and </a:t>
            </a:r>
            <a:r>
              <a:rPr lang="en-IN" sz="2400" dirty="0" err="1"/>
              <a:t>Jearl</a:t>
            </a:r>
            <a:r>
              <a:rPr lang="en-IN" sz="2400" dirty="0"/>
              <a:t> Walker, </a:t>
            </a:r>
            <a:r>
              <a:rPr lang="en-IN" sz="2400" dirty="0" err="1"/>
              <a:t>Wileyplus</a:t>
            </a:r>
            <a:endParaRPr lang="en-US" sz="2400" dirty="0"/>
          </a:p>
          <a:p>
            <a:pPr marL="0" indent="0">
              <a:buNone/>
            </a:pPr>
            <a:endParaRPr lang="en-US" sz="1700" dirty="0">
              <a:latin typeface="Casper"/>
            </a:endParaRPr>
          </a:p>
          <a:p>
            <a:pPr algn="just">
              <a:buNone/>
              <a:defRPr/>
            </a:pPr>
            <a:endParaRPr lang="en-IN" sz="16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t>18</a:t>
            </a:fld>
            <a:endParaRPr lang="en-US"/>
          </a:p>
        </p:txBody>
      </p:sp>
      <p:sp>
        <p:nvSpPr>
          <p:cNvPr id="5" name="Rectangle 4"/>
          <p:cNvSpPr/>
          <p:nvPr/>
        </p:nvSpPr>
        <p:spPr>
          <a:xfrm>
            <a:off x="838200" y="1803400"/>
            <a:ext cx="10515600" cy="50546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346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
                        <p:cNvPicPr>
                          <a:picLocks noChangeAspect="1" noChangeArrowheads="1"/>
                        </p:cNvPicPr>
                        <p:nvPr/>
                      </p:nvPicPr>
                      <p:blipFill>
                        <a:blip r:embed="rId3">
                          <a:lum/>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p:spPr>
                    </p:pic>
                  </p:oleObj>
                </mc:Fallback>
              </mc:AlternateContent>
            </a:graphicData>
          </a:graphic>
        </p:graphicFrame>
      </p:grpSp>
      <p:sp>
        <p:nvSpPr>
          <p:cNvPr id="15" name="TextBox 14"/>
          <p:cNvSpPr txBox="1"/>
          <p:nvPr/>
        </p:nvSpPr>
        <p:spPr>
          <a:xfrm>
            <a:off x="3452884" y="6168788"/>
            <a:ext cx="4217158" cy="338554"/>
          </a:xfrm>
          <a:prstGeom prst="rect">
            <a:avLst/>
          </a:prstGeom>
          <a:noFill/>
        </p:spPr>
        <p:txBody>
          <a:bodyPr wrap="square" rtlCol="0">
            <a:spAutoFit/>
          </a:bodyPr>
          <a:lstStyle/>
          <a:p>
            <a:r>
              <a:rPr lang="en-US" sz="1600" dirty="0">
                <a:latin typeface="Casper"/>
              </a:rPr>
              <a:t>arminder.uis@cumail.in</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11461</TotalTime>
  <Words>937</Words>
  <Application>Microsoft Office PowerPoint</Application>
  <PresentationFormat>Widescreen</PresentationFormat>
  <Paragraphs>127</Paragraphs>
  <Slides>19</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32" baseType="lpstr">
      <vt:lpstr>Arial</vt:lpstr>
      <vt:lpstr>Arial Black</vt:lpstr>
      <vt:lpstr>Calibri</vt:lpstr>
      <vt:lpstr>Calibri Light</vt:lpstr>
      <vt:lpstr>Casper</vt:lpstr>
      <vt:lpstr>Casper Bold</vt:lpstr>
      <vt:lpstr>Karla</vt:lpstr>
      <vt:lpstr>Raleway ExtraBold</vt:lpstr>
      <vt:lpstr>Times New Roman</vt:lpstr>
      <vt:lpstr>Wingdings</vt:lpstr>
      <vt:lpstr>1_Office Theme</vt:lpstr>
      <vt:lpstr>Contents Slide Master</vt:lpstr>
      <vt:lpstr>CorelDRAW</vt:lpstr>
      <vt:lpstr>PowerPoint Presentation</vt:lpstr>
      <vt:lpstr>PowerPoint Presentation</vt:lpstr>
      <vt:lpstr>PowerPoint Presentation</vt:lpstr>
      <vt:lpstr>PowerPoint Presentation</vt:lpstr>
      <vt:lpstr>QUANTUM MECHANICS </vt:lpstr>
      <vt:lpstr>NEED OF QUANTUM MECHANICS </vt:lpstr>
      <vt:lpstr>NEED OF QUANTUM MECHANICS </vt:lpstr>
      <vt:lpstr>HEISENBERG  UNCERTAINTY  PRINCIPLE </vt:lpstr>
      <vt:lpstr>HEISENBERG UNCERTAINTY PRINCIPLE </vt:lpstr>
      <vt:lpstr>HEISENBERG UNCERTAINTY PRINCIPLE </vt:lpstr>
      <vt:lpstr>HEISENBERG UNCERTAINTY PRINCIPLE </vt:lpstr>
      <vt:lpstr>HEISENBERG UNCERTAINTY RELATIONS </vt:lpstr>
      <vt:lpstr>PowerPoint Presentation</vt:lpstr>
      <vt:lpstr>PowerPoint Presentation</vt:lpstr>
      <vt:lpstr>SUMMARY </vt:lpstr>
      <vt:lpstr>FAQ </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Indu Gupta</cp:lastModifiedBy>
  <cp:revision>160</cp:revision>
  <dcterms:created xsi:type="dcterms:W3CDTF">2019-01-09T10:33:58Z</dcterms:created>
  <dcterms:modified xsi:type="dcterms:W3CDTF">2023-06-15T15:53:57Z</dcterms:modified>
</cp:coreProperties>
</file>