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5"/>
  </p:notesMasterIdLst>
  <p:handoutMasterIdLst>
    <p:handoutMasterId r:id="rId26"/>
  </p:handoutMasterIdLst>
  <p:sldIdLst>
    <p:sldId id="277" r:id="rId3"/>
    <p:sldId id="403" r:id="rId4"/>
    <p:sldId id="377" r:id="rId5"/>
    <p:sldId id="386" r:id="rId6"/>
    <p:sldId id="265" r:id="rId7"/>
    <p:sldId id="281" r:id="rId8"/>
    <p:sldId id="381" r:id="rId9"/>
    <p:sldId id="288" r:id="rId10"/>
    <p:sldId id="387" r:id="rId11"/>
    <p:sldId id="388" r:id="rId12"/>
    <p:sldId id="393" r:id="rId13"/>
    <p:sldId id="398" r:id="rId14"/>
    <p:sldId id="394" r:id="rId15"/>
    <p:sldId id="399" r:id="rId16"/>
    <p:sldId id="400" r:id="rId17"/>
    <p:sldId id="401" r:id="rId18"/>
    <p:sldId id="402" r:id="rId19"/>
    <p:sldId id="383" r:id="rId20"/>
    <p:sldId id="384" r:id="rId21"/>
    <p:sldId id="284" r:id="rId22"/>
    <p:sldId id="385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4B1B3E-83FA-4658-BAF7-A1C28950C6E7}" type="doc">
      <dgm:prSet loTypeId="urn:microsoft.com/office/officeart/2005/8/layout/h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BE1042C7-8FD8-46C3-97B2-C8F6ECCAA577}">
      <dgm:prSet phldrT="[Text]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621BB3EB-6CE1-4596-9775-D8E49C0230C2}" type="parTrans" cxnId="{4C6E36C8-BEEE-4A8F-98F1-8AA1658291ED}">
      <dgm:prSet/>
      <dgm:spPr/>
      <dgm:t>
        <a:bodyPr/>
        <a:lstStyle/>
        <a:p>
          <a:endParaRPr lang="en-IN"/>
        </a:p>
      </dgm:t>
    </dgm:pt>
    <dgm:pt modelId="{45BE4B48-3412-410B-B8EF-6D39A131AE80}" type="sibTrans" cxnId="{4C6E36C8-BEEE-4A8F-98F1-8AA1658291ED}">
      <dgm:prSet/>
      <dgm:spPr/>
      <dgm:t>
        <a:bodyPr/>
        <a:lstStyle/>
        <a:p>
          <a:endParaRPr lang="en-IN"/>
        </a:p>
      </dgm:t>
    </dgm:pt>
    <dgm:pt modelId="{AC6663AF-9A88-490D-853C-8120C7DBDE78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Students will learn about matter waves.</a:t>
          </a:r>
        </a:p>
      </dgm:t>
    </dgm:pt>
    <dgm:pt modelId="{420872E8-8AA2-45F6-A8E2-8BF205EB0960}" type="parTrans" cxnId="{E0ABA179-2A02-4FE6-A4AB-B4F2CCB8D5D1}">
      <dgm:prSet/>
      <dgm:spPr/>
      <dgm:t>
        <a:bodyPr/>
        <a:lstStyle/>
        <a:p>
          <a:endParaRPr lang="en-IN"/>
        </a:p>
      </dgm:t>
    </dgm:pt>
    <dgm:pt modelId="{34B7117A-1B4E-466B-8D17-59D987A33713}" type="sibTrans" cxnId="{E0ABA179-2A02-4FE6-A4AB-B4F2CCB8D5D1}">
      <dgm:prSet/>
      <dgm:spPr/>
      <dgm:t>
        <a:bodyPr/>
        <a:lstStyle/>
        <a:p>
          <a:endParaRPr lang="en-IN"/>
        </a:p>
      </dgm:t>
    </dgm:pt>
    <dgm:pt modelId="{59623D32-4D69-42DD-85CD-027389341071}">
      <dgm:prSet phldrT="[Text]" custT="1"/>
      <dgm:spPr/>
      <dgm:t>
        <a:bodyPr/>
        <a:lstStyle/>
        <a:p>
          <a:r>
            <a:rPr lang="en-IN" sz="160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gm:t>
    </dgm:pt>
    <dgm:pt modelId="{8C3CF477-F4C0-4176-95A0-1CEE433BD66D}" type="parTrans" cxnId="{FCA0DE3E-9DA7-403C-87B9-DD0CA0DE16FA}">
      <dgm:prSet/>
      <dgm:spPr/>
      <dgm:t>
        <a:bodyPr/>
        <a:lstStyle/>
        <a:p>
          <a:endParaRPr lang="en-IN"/>
        </a:p>
      </dgm:t>
    </dgm:pt>
    <dgm:pt modelId="{FF05F8A0-05D5-4BC8-84AE-11F0CDB44B6A}" type="sibTrans" cxnId="{FCA0DE3E-9DA7-403C-87B9-DD0CA0DE16FA}">
      <dgm:prSet/>
      <dgm:spPr/>
      <dgm:t>
        <a:bodyPr/>
        <a:lstStyle/>
        <a:p>
          <a:endParaRPr lang="en-IN"/>
        </a:p>
      </dgm:t>
    </dgm:pt>
    <dgm:pt modelId="{581DF355-82C3-44BD-A2B0-78187E54CCC7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Students will learn about different properties of matter waves.</a:t>
          </a:r>
        </a:p>
      </dgm:t>
    </dgm:pt>
    <dgm:pt modelId="{2CA17078-8E69-4AD4-8CE4-9B3F8BB306DB}" type="parTrans" cxnId="{62E3F93D-8EE6-4623-B0F5-2E51672FA22E}">
      <dgm:prSet/>
      <dgm:spPr/>
      <dgm:t>
        <a:bodyPr/>
        <a:lstStyle/>
        <a:p>
          <a:endParaRPr lang="en-IN"/>
        </a:p>
      </dgm:t>
    </dgm:pt>
    <dgm:pt modelId="{601EF65E-15BB-4934-8E1E-6DEFFE1702FB}" type="sibTrans" cxnId="{62E3F93D-8EE6-4623-B0F5-2E51672FA22E}">
      <dgm:prSet/>
      <dgm:spPr/>
      <dgm:t>
        <a:bodyPr/>
        <a:lstStyle/>
        <a:p>
          <a:endParaRPr lang="en-IN"/>
        </a:p>
      </dgm:t>
    </dgm:pt>
    <dgm:pt modelId="{FA2EB051-0881-42DF-B19F-D522950734B2}">
      <dgm:prSet phldrT="[Text]" custT="1"/>
      <dgm:spPr/>
      <dgm:t>
        <a:bodyPr/>
        <a:lstStyle/>
        <a:p>
          <a:r>
            <a:rPr lang="en-IN" sz="160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gm:t>
    </dgm:pt>
    <dgm:pt modelId="{603BF450-F4E0-4CEF-9C21-27FDD0CCE880}" type="parTrans" cxnId="{DC4706BC-D4DE-4DC7-BEC1-DBC559A79182}">
      <dgm:prSet/>
      <dgm:spPr/>
      <dgm:t>
        <a:bodyPr/>
        <a:lstStyle/>
        <a:p>
          <a:endParaRPr lang="en-IN"/>
        </a:p>
      </dgm:t>
    </dgm:pt>
    <dgm:pt modelId="{E496903B-959A-4D15-8074-58AFAB6AE879}" type="sibTrans" cxnId="{DC4706BC-D4DE-4DC7-BEC1-DBC559A79182}">
      <dgm:prSet/>
      <dgm:spPr/>
      <dgm:t>
        <a:bodyPr/>
        <a:lstStyle/>
        <a:p>
          <a:endParaRPr lang="en-IN"/>
        </a:p>
      </dgm:t>
    </dgm:pt>
    <dgm:pt modelId="{A4751C2F-50DC-42B3-BE3C-66635C62DF5B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In this lecture will derive the de Broglie wavelength in terms of energy and temperature .</a:t>
          </a:r>
        </a:p>
      </dgm:t>
    </dgm:pt>
    <dgm:pt modelId="{98A445DD-232D-43B4-996A-9AAE775AAE53}" type="parTrans" cxnId="{395ADFA3-0915-481A-A479-89176F966CC5}">
      <dgm:prSet/>
      <dgm:spPr/>
      <dgm:t>
        <a:bodyPr/>
        <a:lstStyle/>
        <a:p>
          <a:endParaRPr lang="en-IN"/>
        </a:p>
      </dgm:t>
    </dgm:pt>
    <dgm:pt modelId="{61FD9762-81CA-459F-A72F-FE38E106590B}" type="sibTrans" cxnId="{395ADFA3-0915-481A-A479-89176F966CC5}">
      <dgm:prSet/>
      <dgm:spPr/>
      <dgm:t>
        <a:bodyPr/>
        <a:lstStyle/>
        <a:p>
          <a:endParaRPr lang="en-IN"/>
        </a:p>
      </dgm:t>
    </dgm:pt>
    <dgm:pt modelId="{CD122889-8A8D-4BB0-B01E-B98ED66A22D1}" type="pres">
      <dgm:prSet presAssocID="{244B1B3E-83FA-4658-BAF7-A1C28950C6E7}" presName="Name0" presStyleCnt="0">
        <dgm:presLayoutVars>
          <dgm:dir/>
          <dgm:animLvl val="lvl"/>
          <dgm:resizeHandles val="exact"/>
        </dgm:presLayoutVars>
      </dgm:prSet>
      <dgm:spPr/>
    </dgm:pt>
    <dgm:pt modelId="{BC7B5AF7-D169-48C7-A14D-1E9FBD84314E}" type="pres">
      <dgm:prSet presAssocID="{BE1042C7-8FD8-46C3-97B2-C8F6ECCAA577}" presName="composite" presStyleCnt="0"/>
      <dgm:spPr/>
    </dgm:pt>
    <dgm:pt modelId="{823804D2-D44E-44EA-9FF5-99F97DCCD10A}" type="pres">
      <dgm:prSet presAssocID="{BE1042C7-8FD8-46C3-97B2-C8F6ECCAA577}" presName="parTx" presStyleLbl="alignNode1" presStyleIdx="0" presStyleCnt="3" custLinFactNeighborX="-4571" custLinFactNeighborY="-970">
        <dgm:presLayoutVars>
          <dgm:chMax val="0"/>
          <dgm:chPref val="0"/>
          <dgm:bulletEnabled val="1"/>
        </dgm:presLayoutVars>
      </dgm:prSet>
      <dgm:spPr/>
    </dgm:pt>
    <dgm:pt modelId="{BD2EE0C5-FA31-483E-B76D-6DC608645EA8}" type="pres">
      <dgm:prSet presAssocID="{BE1042C7-8FD8-46C3-97B2-C8F6ECCAA577}" presName="desTx" presStyleLbl="alignAccFollowNode1" presStyleIdx="0" presStyleCnt="3">
        <dgm:presLayoutVars>
          <dgm:bulletEnabled val="1"/>
        </dgm:presLayoutVars>
      </dgm:prSet>
      <dgm:spPr/>
    </dgm:pt>
    <dgm:pt modelId="{855F9A90-9408-4E6B-A063-BA943B6B5E63}" type="pres">
      <dgm:prSet presAssocID="{45BE4B48-3412-410B-B8EF-6D39A131AE80}" presName="space" presStyleCnt="0"/>
      <dgm:spPr/>
    </dgm:pt>
    <dgm:pt modelId="{FDB0CFBF-8008-4E01-BBDE-DAFE38134065}" type="pres">
      <dgm:prSet presAssocID="{59623D32-4D69-42DD-85CD-027389341071}" presName="composite" presStyleCnt="0"/>
      <dgm:spPr/>
    </dgm:pt>
    <dgm:pt modelId="{C9DA09FE-968E-4451-896D-DECC9E9C2589}" type="pres">
      <dgm:prSet presAssocID="{59623D32-4D69-42DD-85CD-02738934107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18E9830-D2CB-43E8-AB8E-05B2ABB8544E}" type="pres">
      <dgm:prSet presAssocID="{59623D32-4D69-42DD-85CD-027389341071}" presName="desTx" presStyleLbl="alignAccFollowNode1" presStyleIdx="1" presStyleCnt="3">
        <dgm:presLayoutVars>
          <dgm:bulletEnabled val="1"/>
        </dgm:presLayoutVars>
      </dgm:prSet>
      <dgm:spPr/>
    </dgm:pt>
    <dgm:pt modelId="{1413BF33-3CB5-487E-8D9C-3B128FA3A8CB}" type="pres">
      <dgm:prSet presAssocID="{FF05F8A0-05D5-4BC8-84AE-11F0CDB44B6A}" presName="space" presStyleCnt="0"/>
      <dgm:spPr/>
    </dgm:pt>
    <dgm:pt modelId="{49466710-EFDB-44BB-AF41-77A08201716E}" type="pres">
      <dgm:prSet presAssocID="{FA2EB051-0881-42DF-B19F-D522950734B2}" presName="composite" presStyleCnt="0"/>
      <dgm:spPr/>
    </dgm:pt>
    <dgm:pt modelId="{AC12C961-00F2-45E6-B9B9-7B8C991E8799}" type="pres">
      <dgm:prSet presAssocID="{FA2EB051-0881-42DF-B19F-D522950734B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7DE4BD6-AAFE-4A2D-A02B-0CA2C8D040F6}" type="pres">
      <dgm:prSet presAssocID="{FA2EB051-0881-42DF-B19F-D522950734B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EECFD32-26AB-472F-9003-49E970320073}" type="presOf" srcId="{A4751C2F-50DC-42B3-BE3C-66635C62DF5B}" destId="{67DE4BD6-AAFE-4A2D-A02B-0CA2C8D040F6}" srcOrd="0" destOrd="0" presId="urn:microsoft.com/office/officeart/2005/8/layout/hList1"/>
    <dgm:cxn modelId="{8CCE0A33-9E9D-4E94-9FE9-24A56A02ADF7}" type="presOf" srcId="{581DF355-82C3-44BD-A2B0-78187E54CCC7}" destId="{F18E9830-D2CB-43E8-AB8E-05B2ABB8544E}" srcOrd="0" destOrd="0" presId="urn:microsoft.com/office/officeart/2005/8/layout/hList1"/>
    <dgm:cxn modelId="{39FFB936-7BB6-44BD-892D-D77E39C98D99}" type="presOf" srcId="{BE1042C7-8FD8-46C3-97B2-C8F6ECCAA577}" destId="{823804D2-D44E-44EA-9FF5-99F97DCCD10A}" srcOrd="0" destOrd="0" presId="urn:microsoft.com/office/officeart/2005/8/layout/hList1"/>
    <dgm:cxn modelId="{62E3F93D-8EE6-4623-B0F5-2E51672FA22E}" srcId="{59623D32-4D69-42DD-85CD-027389341071}" destId="{581DF355-82C3-44BD-A2B0-78187E54CCC7}" srcOrd="0" destOrd="0" parTransId="{2CA17078-8E69-4AD4-8CE4-9B3F8BB306DB}" sibTransId="{601EF65E-15BB-4934-8E1E-6DEFFE1702FB}"/>
    <dgm:cxn modelId="{FCA0DE3E-9DA7-403C-87B9-DD0CA0DE16FA}" srcId="{244B1B3E-83FA-4658-BAF7-A1C28950C6E7}" destId="{59623D32-4D69-42DD-85CD-027389341071}" srcOrd="1" destOrd="0" parTransId="{8C3CF477-F4C0-4176-95A0-1CEE433BD66D}" sibTransId="{FF05F8A0-05D5-4BC8-84AE-11F0CDB44B6A}"/>
    <dgm:cxn modelId="{E0D94A5F-D235-4A27-9436-6243B9CDC53C}" type="presOf" srcId="{244B1B3E-83FA-4658-BAF7-A1C28950C6E7}" destId="{CD122889-8A8D-4BB0-B01E-B98ED66A22D1}" srcOrd="0" destOrd="0" presId="urn:microsoft.com/office/officeart/2005/8/layout/hList1"/>
    <dgm:cxn modelId="{E0ABA179-2A02-4FE6-A4AB-B4F2CCB8D5D1}" srcId="{BE1042C7-8FD8-46C3-97B2-C8F6ECCAA577}" destId="{AC6663AF-9A88-490D-853C-8120C7DBDE78}" srcOrd="0" destOrd="0" parTransId="{420872E8-8AA2-45F6-A8E2-8BF205EB0960}" sibTransId="{34B7117A-1B4E-466B-8D17-59D987A33713}"/>
    <dgm:cxn modelId="{6F646E87-6752-4F31-9C64-A5227D04454B}" type="presOf" srcId="{AC6663AF-9A88-490D-853C-8120C7DBDE78}" destId="{BD2EE0C5-FA31-483E-B76D-6DC608645EA8}" srcOrd="0" destOrd="0" presId="urn:microsoft.com/office/officeart/2005/8/layout/hList1"/>
    <dgm:cxn modelId="{395ADFA3-0915-481A-A479-89176F966CC5}" srcId="{FA2EB051-0881-42DF-B19F-D522950734B2}" destId="{A4751C2F-50DC-42B3-BE3C-66635C62DF5B}" srcOrd="0" destOrd="0" parTransId="{98A445DD-232D-43B4-996A-9AAE775AAE53}" sibTransId="{61FD9762-81CA-459F-A72F-FE38E106590B}"/>
    <dgm:cxn modelId="{DC4706BC-D4DE-4DC7-BEC1-DBC559A79182}" srcId="{244B1B3E-83FA-4658-BAF7-A1C28950C6E7}" destId="{FA2EB051-0881-42DF-B19F-D522950734B2}" srcOrd="2" destOrd="0" parTransId="{603BF450-F4E0-4CEF-9C21-27FDD0CCE880}" sibTransId="{E496903B-959A-4D15-8074-58AFAB6AE879}"/>
    <dgm:cxn modelId="{4C6E36C8-BEEE-4A8F-98F1-8AA1658291ED}" srcId="{244B1B3E-83FA-4658-BAF7-A1C28950C6E7}" destId="{BE1042C7-8FD8-46C3-97B2-C8F6ECCAA577}" srcOrd="0" destOrd="0" parTransId="{621BB3EB-6CE1-4596-9775-D8E49C0230C2}" sibTransId="{45BE4B48-3412-410B-B8EF-6D39A131AE80}"/>
    <dgm:cxn modelId="{317A8FCD-3B3E-40F4-A3D5-4110421A775C}" type="presOf" srcId="{59623D32-4D69-42DD-85CD-027389341071}" destId="{C9DA09FE-968E-4451-896D-DECC9E9C2589}" srcOrd="0" destOrd="0" presId="urn:microsoft.com/office/officeart/2005/8/layout/hList1"/>
    <dgm:cxn modelId="{C1D2F2F1-402B-4DEF-815C-31E5640FB23C}" type="presOf" srcId="{FA2EB051-0881-42DF-B19F-D522950734B2}" destId="{AC12C961-00F2-45E6-B9B9-7B8C991E8799}" srcOrd="0" destOrd="0" presId="urn:microsoft.com/office/officeart/2005/8/layout/hList1"/>
    <dgm:cxn modelId="{44EC55BC-83AF-46C1-91DE-CEFE10A8BA41}" type="presParOf" srcId="{CD122889-8A8D-4BB0-B01E-B98ED66A22D1}" destId="{BC7B5AF7-D169-48C7-A14D-1E9FBD84314E}" srcOrd="0" destOrd="0" presId="urn:microsoft.com/office/officeart/2005/8/layout/hList1"/>
    <dgm:cxn modelId="{1716C085-2511-4521-80C9-9371EACFB37B}" type="presParOf" srcId="{BC7B5AF7-D169-48C7-A14D-1E9FBD84314E}" destId="{823804D2-D44E-44EA-9FF5-99F97DCCD10A}" srcOrd="0" destOrd="0" presId="urn:microsoft.com/office/officeart/2005/8/layout/hList1"/>
    <dgm:cxn modelId="{A7BFC1A6-A3DE-4154-8BF0-CBC1C0E4410F}" type="presParOf" srcId="{BC7B5AF7-D169-48C7-A14D-1E9FBD84314E}" destId="{BD2EE0C5-FA31-483E-B76D-6DC608645EA8}" srcOrd="1" destOrd="0" presId="urn:microsoft.com/office/officeart/2005/8/layout/hList1"/>
    <dgm:cxn modelId="{820E9E05-BE33-4DD0-8AB5-D3A6FF267E29}" type="presParOf" srcId="{CD122889-8A8D-4BB0-B01E-B98ED66A22D1}" destId="{855F9A90-9408-4E6B-A063-BA943B6B5E63}" srcOrd="1" destOrd="0" presId="urn:microsoft.com/office/officeart/2005/8/layout/hList1"/>
    <dgm:cxn modelId="{164F2345-BE36-4FBD-A254-5EF6031AA25F}" type="presParOf" srcId="{CD122889-8A8D-4BB0-B01E-B98ED66A22D1}" destId="{FDB0CFBF-8008-4E01-BBDE-DAFE38134065}" srcOrd="2" destOrd="0" presId="urn:microsoft.com/office/officeart/2005/8/layout/hList1"/>
    <dgm:cxn modelId="{864951CA-E36E-40D6-84B9-0865D671F083}" type="presParOf" srcId="{FDB0CFBF-8008-4E01-BBDE-DAFE38134065}" destId="{C9DA09FE-968E-4451-896D-DECC9E9C2589}" srcOrd="0" destOrd="0" presId="urn:microsoft.com/office/officeart/2005/8/layout/hList1"/>
    <dgm:cxn modelId="{16550E85-2CF7-4F1E-B867-62E1F7627439}" type="presParOf" srcId="{FDB0CFBF-8008-4E01-BBDE-DAFE38134065}" destId="{F18E9830-D2CB-43E8-AB8E-05B2ABB8544E}" srcOrd="1" destOrd="0" presId="urn:microsoft.com/office/officeart/2005/8/layout/hList1"/>
    <dgm:cxn modelId="{20F24F72-8814-4258-8F9C-B5CAAA48F33B}" type="presParOf" srcId="{CD122889-8A8D-4BB0-B01E-B98ED66A22D1}" destId="{1413BF33-3CB5-487E-8D9C-3B128FA3A8CB}" srcOrd="3" destOrd="0" presId="urn:microsoft.com/office/officeart/2005/8/layout/hList1"/>
    <dgm:cxn modelId="{7450CC3D-D7B6-4E0C-904B-3D1ABC1DB2BE}" type="presParOf" srcId="{CD122889-8A8D-4BB0-B01E-B98ED66A22D1}" destId="{49466710-EFDB-44BB-AF41-77A08201716E}" srcOrd="4" destOrd="0" presId="urn:microsoft.com/office/officeart/2005/8/layout/hList1"/>
    <dgm:cxn modelId="{FBBCF618-8C39-4503-8F43-775A470E764B}" type="presParOf" srcId="{49466710-EFDB-44BB-AF41-77A08201716E}" destId="{AC12C961-00F2-45E6-B9B9-7B8C991E8799}" srcOrd="0" destOrd="0" presId="urn:microsoft.com/office/officeart/2005/8/layout/hList1"/>
    <dgm:cxn modelId="{A56900D1-1D1B-43B9-AE8B-B2CD8A51FD84}" type="presParOf" srcId="{49466710-EFDB-44BB-AF41-77A08201716E}" destId="{67DE4BD6-AAFE-4A2D-A02B-0CA2C8D040F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804D2-D44E-44EA-9FF5-99F97DCCD10A}">
      <dsp:nvSpPr>
        <dsp:cNvPr id="0" name=""/>
        <dsp:cNvSpPr/>
      </dsp:nvSpPr>
      <dsp:spPr>
        <a:xfrm>
          <a:off x="0" y="384608"/>
          <a:ext cx="2985660" cy="119426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>
        <a:off x="0" y="384608"/>
        <a:ext cx="2985660" cy="1194264"/>
      </dsp:txXfrm>
    </dsp:sp>
    <dsp:sp modelId="{BD2EE0C5-FA31-483E-B76D-6DC608645EA8}">
      <dsp:nvSpPr>
        <dsp:cNvPr id="0" name=""/>
        <dsp:cNvSpPr/>
      </dsp:nvSpPr>
      <dsp:spPr>
        <a:xfrm>
          <a:off x="3062" y="1590456"/>
          <a:ext cx="2985660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Students will learn about matter waves.</a:t>
          </a:r>
        </a:p>
      </dsp:txBody>
      <dsp:txXfrm>
        <a:off x="3062" y="1590456"/>
        <a:ext cx="2985660" cy="2854800"/>
      </dsp:txXfrm>
    </dsp:sp>
    <dsp:sp modelId="{C9DA09FE-968E-4451-896D-DECC9E9C2589}">
      <dsp:nvSpPr>
        <dsp:cNvPr id="0" name=""/>
        <dsp:cNvSpPr/>
      </dsp:nvSpPr>
      <dsp:spPr>
        <a:xfrm>
          <a:off x="3406715" y="396192"/>
          <a:ext cx="2985660" cy="119426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sp:txBody>
      <dsp:txXfrm>
        <a:off x="3406715" y="396192"/>
        <a:ext cx="2985660" cy="1194264"/>
      </dsp:txXfrm>
    </dsp:sp>
    <dsp:sp modelId="{F18E9830-D2CB-43E8-AB8E-05B2ABB8544E}">
      <dsp:nvSpPr>
        <dsp:cNvPr id="0" name=""/>
        <dsp:cNvSpPr/>
      </dsp:nvSpPr>
      <dsp:spPr>
        <a:xfrm>
          <a:off x="3406715" y="1590456"/>
          <a:ext cx="2985660" cy="28548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Students will learn about different properties of matter waves.</a:t>
          </a:r>
        </a:p>
      </dsp:txBody>
      <dsp:txXfrm>
        <a:off x="3406715" y="1590456"/>
        <a:ext cx="2985660" cy="2854800"/>
      </dsp:txXfrm>
    </dsp:sp>
    <dsp:sp modelId="{AC12C961-00F2-45E6-B9B9-7B8C991E8799}">
      <dsp:nvSpPr>
        <dsp:cNvPr id="0" name=""/>
        <dsp:cNvSpPr/>
      </dsp:nvSpPr>
      <dsp:spPr>
        <a:xfrm>
          <a:off x="6810368" y="396192"/>
          <a:ext cx="2985660" cy="119426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sp:txBody>
      <dsp:txXfrm>
        <a:off x="6810368" y="396192"/>
        <a:ext cx="2985660" cy="1194264"/>
      </dsp:txXfrm>
    </dsp:sp>
    <dsp:sp modelId="{67DE4BD6-AAFE-4A2D-A02B-0CA2C8D040F6}">
      <dsp:nvSpPr>
        <dsp:cNvPr id="0" name=""/>
        <dsp:cNvSpPr/>
      </dsp:nvSpPr>
      <dsp:spPr>
        <a:xfrm>
          <a:off x="6810368" y="1590456"/>
          <a:ext cx="2985660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 this lecture will derive the de Broglie wavelength in terms of energy and temperature .</a:t>
          </a:r>
        </a:p>
      </dsp:txBody>
      <dsp:txXfrm>
        <a:off x="6810368" y="1590456"/>
        <a:ext cx="2985660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IGI-eXK0t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1" y="4718027"/>
            <a:ext cx="1219200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335292" y="5741723"/>
            <a:ext cx="4912783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3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QUANTUM MECHANICS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224216" y="1092419"/>
            <a:ext cx="8374882" cy="691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by: Ms. </a:t>
            </a:r>
            <a:r>
              <a:rPr lang="en-US" sz="28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Arminder</a:t>
            </a:r>
            <a:endParaRPr lang="en-US" sz="2800" dirty="0">
              <a:latin typeface="Times New Roman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9166" y="6356350"/>
            <a:ext cx="223234" cy="365125"/>
          </a:xfrm>
          <a:ln>
            <a:solidFill>
              <a:schemeClr val="accent1"/>
            </a:solidFill>
          </a:ln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EF3AC-12D8-4376-826F-0CDE220D0DD9}"/>
              </a:ext>
            </a:extLst>
          </p:cNvPr>
          <p:cNvSpPr txBox="1"/>
          <p:nvPr/>
        </p:nvSpPr>
        <p:spPr>
          <a:xfrm>
            <a:off x="1519707" y="200819"/>
            <a:ext cx="10062693" cy="76944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sper Bold"/>
              </a:rPr>
              <a:t>COURSE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9E0D1A-55C5-463F-89FE-BD77E41FFD1A}"/>
              </a:ext>
            </a:extLst>
          </p:cNvPr>
          <p:cNvSpPr/>
          <p:nvPr/>
        </p:nvSpPr>
        <p:spPr>
          <a:xfrm>
            <a:off x="1197735" y="1837121"/>
            <a:ext cx="10241791" cy="42142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The course is designed to make the students industry ready to contribute in the growing demand of the industry at local, national and international level.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enhance the skill level of the students and shall make them preferred choice for getting employment in industry and research labs.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give thorough knowledge of the discipline to enable students to disseminate knowledge in pursuing excellence in academic areas.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  <a:p>
            <a:pPr marR="38100" lvl="0" algn="just">
              <a:lnSpc>
                <a:spcPct val="93000"/>
              </a:lnSpc>
              <a:spcAft>
                <a:spcPts val="0"/>
              </a:spcAft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986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96394" y="256020"/>
            <a:ext cx="850791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Casper" panose="02000506000000020004"/>
                <a:cs typeface="Times New Roman" pitchFamily="18" charset="0"/>
              </a:rPr>
              <a:t>COURSE OUTCOME</a:t>
            </a:r>
            <a:endParaRPr lang="en-US" sz="4400" b="1" dirty="0">
              <a:latin typeface="Casper" panose="02000506000000020004"/>
            </a:endParaRPr>
          </a:p>
          <a:p>
            <a:r>
              <a:rPr lang="en-US" sz="2400" b="1" dirty="0">
                <a:latin typeface="Casper" panose="02000506000000020004"/>
              </a:rPr>
              <a:t>      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992" y="75716"/>
            <a:ext cx="1115616" cy="46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6" descr="Image result for quantum phys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323" y="1992205"/>
            <a:ext cx="5164477" cy="440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6189323" y="6432377"/>
            <a:ext cx="3142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/>
              </a:rPr>
              <a:t>Figure 1 Quantum Theory [1]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74275"/>
              </p:ext>
            </p:extLst>
          </p:nvPr>
        </p:nvGraphicFramePr>
        <p:xfrm>
          <a:off x="177421" y="2096487"/>
          <a:ext cx="5477164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01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932183" y="256020"/>
            <a:ext cx="70875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LECTURE OBJECTIVE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992" y="75716"/>
            <a:ext cx="1115616" cy="46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452A457-23FC-444E-B11C-7F2AB2A2C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4177979"/>
              </p:ext>
            </p:extLst>
          </p:nvPr>
        </p:nvGraphicFramePr>
        <p:xfrm>
          <a:off x="477672" y="1514901"/>
          <a:ext cx="9799091" cy="4841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7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0" y="877530"/>
            <a:ext cx="11661776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  <a:t>QUANTUM MECHANICS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utoShape 2" descr="Image result for quant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AutoShape 4" descr="Image result for quantum phys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46" name="Picture 6" descr="Image result for quantum phys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22" y="1596788"/>
            <a:ext cx="10947993" cy="455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43451" y="6324600"/>
            <a:ext cx="6264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2.1 Quantum Theory [1]</a:t>
            </a:r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24256" y="376675"/>
            <a:ext cx="5063320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cs typeface="Times New Roman" pitchFamily="18" charset="0"/>
              </a:rPr>
              <a:t>NEED OF QUANTUM MECHANICS</a:t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25780" y="1729804"/>
            <a:ext cx="5561795" cy="335906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Problems remained from classical mechanics that relativity didn’t explain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Attempts to apply the laws of classical physics to explain the behavior of matter on the atomic scale were consistently unsuccessful.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504" y="6324600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2.2 Need of Quantum Theory [2]</a:t>
            </a:r>
          </a:p>
        </p:txBody>
      </p:sp>
      <p:pic>
        <p:nvPicPr>
          <p:cNvPr id="10242" name="Picture 2" descr="Image result for Use of quantum physics in other fiel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642" y="777922"/>
            <a:ext cx="4906133" cy="540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24256" y="376675"/>
            <a:ext cx="5063320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cs typeface="Times New Roman" pitchFamily="18" charset="0"/>
              </a:rPr>
              <a:t>NEED OF QUANTUM MECHANICS</a:t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25780" y="1729804"/>
            <a:ext cx="5561795" cy="4467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Problems included: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Blackbody radiation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The electromagnetic radiation emitted by a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heated object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Photoelectric effect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Emission of electrons by an illuminated metal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504" y="6324600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2.2 Need of Quantum Theory [2]</a:t>
            </a:r>
          </a:p>
        </p:txBody>
      </p:sp>
      <p:pic>
        <p:nvPicPr>
          <p:cNvPr id="10242" name="Picture 2" descr="Image result for Use of quantum physics in other fiel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642" y="777922"/>
            <a:ext cx="4906133" cy="540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6644" y="3125762"/>
            <a:ext cx="3794078" cy="3747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De-Broglie hypothesis proposed that if wave is having dual nature-particle and wave, particle should also possess  wave characteristics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9" name="Title 7"/>
          <p:cNvSpPr txBox="1">
            <a:spLocks noChangeArrowheads="1"/>
          </p:cNvSpPr>
          <p:nvPr/>
        </p:nvSpPr>
        <p:spPr bwMode="auto">
          <a:xfrm>
            <a:off x="121717" y="1695846"/>
            <a:ext cx="4463932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King" pitchFamily="2" charset="0"/>
                <a:ea typeface="+mj-ea"/>
                <a:cs typeface="+mj-cs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  <a:t>DUAL NATURE OF RADIATION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73504" y="6324600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2.3 Wave and particle nature [3]</a:t>
            </a:r>
          </a:p>
        </p:txBody>
      </p:sp>
      <p:sp>
        <p:nvSpPr>
          <p:cNvPr id="4" name="AutoShape 6" descr="Rel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Relat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0" descr="Related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2" descr="Related imag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277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546" y="777922"/>
            <a:ext cx="6196084" cy="519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174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514901" y="889498"/>
            <a:ext cx="9048466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 Bold" panose="02000806040000020004" pitchFamily="2" charset="0"/>
              </a:rPr>
              <a:t>de-BROGLIE HYPOTHESIS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1915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6AF76-108D-4193-ACCF-CA10F8A3F0DB}"/>
              </a:ext>
            </a:extLst>
          </p:cNvPr>
          <p:cNvSpPr/>
          <p:nvPr/>
        </p:nvSpPr>
        <p:spPr>
          <a:xfrm>
            <a:off x="1037229" y="2120366"/>
            <a:ext cx="10003809" cy="3986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6520" marR="571500" indent="429260" algn="just">
              <a:lnSpc>
                <a:spcPct val="153000"/>
              </a:lnSpc>
              <a:spcBef>
                <a:spcPts val="1055"/>
              </a:spcBef>
              <a:spcAft>
                <a:spcPts val="0"/>
              </a:spcAft>
            </a:pPr>
            <a:r>
              <a:rPr lang="en-US" sz="2400" dirty="0">
                <a:ea typeface="Times New Roman" panose="02020603050405020304" pitchFamily="18" charset="0"/>
                <a:cs typeface="Raavi" panose="020B0502040204020203" pitchFamily="34" charset="0"/>
              </a:rPr>
              <a:t>According to de-Broglie, in the universe, whole of energy appears in the form of radiation and matter. Since nature loves symmetry, if radiation which normally behaves as a wave can behave as a particle, then one can even expect that, entities like electrons, protons </a:t>
            </a:r>
            <a:r>
              <a:rPr lang="en-US" sz="2400" dirty="0" err="1">
                <a:ea typeface="Times New Roman" panose="02020603050405020304" pitchFamily="18" charset="0"/>
                <a:cs typeface="Raavi" panose="020B0502040204020203" pitchFamily="34" charset="0"/>
              </a:rPr>
              <a:t>etc</a:t>
            </a:r>
            <a:r>
              <a:rPr lang="en-US" sz="2400" dirty="0">
                <a:ea typeface="Times New Roman" panose="02020603050405020304" pitchFamily="18" charset="0"/>
                <a:cs typeface="Raavi" panose="020B0502040204020203" pitchFamily="34" charset="0"/>
              </a:rPr>
              <a:t>, which ordinarily behave as particle also exhibits properties of waves under appropriate circumstances.</a:t>
            </a:r>
            <a:r>
              <a:rPr lang="en-US" sz="2400" spc="45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dirty="0">
                <a:ea typeface="Times New Roman" panose="02020603050405020304" pitchFamily="18" charset="0"/>
                <a:cs typeface="Raavi" panose="020B0502040204020203" pitchFamily="34" charset="0"/>
              </a:rPr>
              <a:t>These</a:t>
            </a:r>
            <a:r>
              <a:rPr lang="en-US" sz="2400" spc="35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waves</a:t>
            </a:r>
            <a:r>
              <a:rPr lang="en-US" sz="2400" b="1" spc="40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associated</a:t>
            </a:r>
            <a:r>
              <a:rPr lang="en-US" sz="2400" b="1" spc="25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with</a:t>
            </a:r>
            <a:r>
              <a:rPr lang="en-US" sz="2400" b="1" spc="45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the</a:t>
            </a:r>
            <a:r>
              <a:rPr lang="en-US" sz="2400" b="1" spc="35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matter</a:t>
            </a:r>
            <a:r>
              <a:rPr lang="en-US" sz="2400" b="1" spc="60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are</a:t>
            </a:r>
            <a:r>
              <a:rPr lang="en-US" sz="2400" b="1" spc="45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known</a:t>
            </a:r>
            <a:r>
              <a:rPr lang="en-US" sz="2400" b="1" spc="45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as</a:t>
            </a:r>
            <a:r>
              <a:rPr lang="en-US" sz="2400" b="1" spc="35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matter</a:t>
            </a:r>
            <a:r>
              <a:rPr lang="en-US" sz="2400" b="1" spc="40" dirty="0"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sz="2400" b="1" dirty="0">
                <a:ea typeface="Times New Roman" panose="02020603050405020304" pitchFamily="18" charset="0"/>
                <a:cs typeface="Raavi" panose="020B0502040204020203" pitchFamily="34" charset="0"/>
              </a:rPr>
              <a:t>waves.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316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378129" y="889498"/>
            <a:ext cx="9185238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 Bold" panose="02000806040000020004" pitchFamily="2" charset="0"/>
              </a:rPr>
              <a:t>de-BROGLIE MATTER WAVES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Users\SCS\Desktop\slide_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1624012"/>
            <a:ext cx="8077200" cy="473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81915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657600" y="6389332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2.4 de-Broglie matter waves [4]</a:t>
            </a:r>
          </a:p>
        </p:txBody>
      </p:sp>
    </p:spTree>
    <p:extLst>
      <p:ext uri="{BB962C8B-B14F-4D97-AF65-F5344CB8AC3E}">
        <p14:creationId xmlns:p14="http://schemas.microsoft.com/office/powerpoint/2010/main" val="733366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6612" y="-28127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01B6C-8100-4BCB-A4D4-372076B6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961" y="-122012"/>
            <a:ext cx="9054839" cy="1600200"/>
          </a:xfrm>
        </p:spPr>
        <p:txBody>
          <a:bodyPr/>
          <a:lstStyle/>
          <a:p>
            <a:pPr algn="ctr"/>
            <a:r>
              <a:rPr lang="en-US" sz="4400" b="1" dirty="0">
                <a:latin typeface="+mn-lt"/>
                <a:ea typeface="Times New Roman" panose="02020603050405020304" pitchFamily="18" charset="0"/>
                <a:cs typeface="Raavi" panose="020B0502040204020203" pitchFamily="34" charset="0"/>
              </a:rPr>
              <a:t>PROPERTIES OF MATTER WAVES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Raavi" panose="020B0502040204020203" pitchFamily="34" charset="0"/>
              </a:rPr>
            </a:b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FF2E68-1C4B-45C8-856B-03F95465A855}"/>
              </a:ext>
            </a:extLst>
          </p:cNvPr>
          <p:cNvSpPr/>
          <p:nvPr/>
        </p:nvSpPr>
        <p:spPr>
          <a:xfrm>
            <a:off x="709684" y="1329409"/>
            <a:ext cx="10642528" cy="5195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6520" marR="0" algn="just">
              <a:lnSpc>
                <a:spcPct val="107000"/>
              </a:lnSpc>
              <a:spcBef>
                <a:spcPts val="835"/>
              </a:spcBef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342900" marR="903605" lvl="0" indent="-342900" algn="just">
              <a:lnSpc>
                <a:spcPct val="153000"/>
              </a:lnSpc>
              <a:spcBef>
                <a:spcPts val="2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526415" algn="l"/>
              </a:tabLst>
            </a:pP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Matter waves are the waves associated with matter in motion. Wavelength of the matter waves is given by</a:t>
            </a:r>
            <a:r>
              <a:rPr lang="en-IN" sz="2400" spc="3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λ=h/p.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Raavi" panose="020B0502040204020203" pitchFamily="34" charset="0"/>
            </a:endParaRPr>
          </a:p>
          <a:p>
            <a:pPr marL="342900" marR="0" lvl="0" indent="-342900" algn="just">
              <a:lnSpc>
                <a:spcPts val="1255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526415" algn="l"/>
              </a:tabLst>
            </a:pP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Matter</a:t>
            </a:r>
            <a:r>
              <a:rPr lang="en-IN" sz="2400" spc="6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waves</a:t>
            </a:r>
            <a:r>
              <a:rPr lang="en-IN" sz="2400" spc="55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are</a:t>
            </a:r>
            <a:r>
              <a:rPr lang="en-IN" sz="2400" spc="65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not</a:t>
            </a:r>
            <a:r>
              <a:rPr lang="en-IN" sz="2400" spc="6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progressive</a:t>
            </a:r>
            <a:r>
              <a:rPr lang="en-IN" sz="2400" spc="8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waves.</a:t>
            </a:r>
            <a:r>
              <a:rPr lang="en-IN" sz="2400" spc="65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They</a:t>
            </a:r>
            <a:r>
              <a:rPr lang="en-IN" sz="2400" spc="65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are</a:t>
            </a:r>
            <a:r>
              <a:rPr lang="en-IN" sz="2400" spc="65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localized</a:t>
            </a:r>
            <a:r>
              <a:rPr lang="en-IN" sz="2400" spc="5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waves.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Raavi" panose="020B0502040204020203" pitchFamily="34" charset="0"/>
            </a:endParaRPr>
          </a:p>
          <a:p>
            <a:pPr marL="342900" marR="683895" lvl="0" indent="-342900" algn="just">
              <a:lnSpc>
                <a:spcPct val="152000"/>
              </a:lnSpc>
              <a:spcBef>
                <a:spcPts val="69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526415" algn="l"/>
              </a:tabLst>
            </a:pP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Matter waves are not single waves. They are group of waves (wave packet) assumed formed due to the superposition of two or more progressive</a:t>
            </a:r>
            <a:r>
              <a:rPr lang="en-IN" sz="2400" spc="24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waves.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Raavi" panose="020B0502040204020203" pitchFamily="34" charset="0"/>
            </a:endParaRPr>
          </a:p>
          <a:p>
            <a:pPr marL="342900" marR="810895" lvl="0" indent="-342900" algn="just">
              <a:lnSpc>
                <a:spcPct val="153000"/>
              </a:lnSpc>
              <a:spcBef>
                <a:spcPts val="2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526415" algn="l"/>
              </a:tabLst>
            </a:pP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Matter waves called pilot waves and they represent the direction of propagation of matter.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Raavi" panose="020B0502040204020203" pitchFamily="34" charset="0"/>
            </a:endParaRPr>
          </a:p>
          <a:p>
            <a:pPr marL="342900" marR="647065" lvl="0" indent="-342900" algn="just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526415" algn="l"/>
              </a:tabLst>
            </a:pP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Unlike electromagnetic waves, matter waves will not have constant speed. The speed of matter waves depends on the mass of the</a:t>
            </a:r>
            <a:r>
              <a:rPr lang="en-IN" sz="2400" spc="16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particle.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Raav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244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12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1915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8D3EA4-6F1C-4191-9D8A-ACE66C286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30" y="2033516"/>
            <a:ext cx="10297520" cy="45022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4E4F91-58CC-4F80-AE65-AE94D957EDE4}"/>
              </a:ext>
            </a:extLst>
          </p:cNvPr>
          <p:cNvSpPr/>
          <p:nvPr/>
        </p:nvSpPr>
        <p:spPr>
          <a:xfrm>
            <a:off x="410401" y="360361"/>
            <a:ext cx="10579627" cy="1128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0515" marR="647065" algn="just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tabLst>
                <a:tab pos="526415" algn="l"/>
              </a:tabLst>
            </a:pPr>
            <a:r>
              <a:rPr lang="en-US" sz="4400" b="1" dirty="0">
                <a:ea typeface="Calibri" panose="020F0502020204030204" pitchFamily="34" charset="0"/>
                <a:cs typeface="Raavi" panose="020B0502040204020203" pitchFamily="34" charset="0"/>
              </a:rPr>
              <a:t>de-Broglie Wavelength Of Matter Waves</a:t>
            </a:r>
            <a:endParaRPr lang="en-US" sz="4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282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57250" y="280101"/>
            <a:ext cx="103600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just"/>
            <a:r>
              <a:rPr lang="en-US" sz="4400" b="1" dirty="0">
                <a:latin typeface="+mn-lt"/>
              </a:rPr>
              <a:t>de-Broglie Wavelength Associated With An Accelerated Particle</a:t>
            </a: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1915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35AF47-6186-472F-B418-73FDD0B62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11" y="1967279"/>
            <a:ext cx="10070863" cy="411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35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57250" y="280101"/>
            <a:ext cx="10477499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just"/>
            <a:r>
              <a:rPr lang="en-US" sz="4400" b="1" dirty="0">
                <a:latin typeface="+mn-lt"/>
              </a:rPr>
              <a:t>de-Broglie Wavelength Expressed In Term Of Kinetic Energy </a:t>
            </a: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1915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1E0805-E607-40EA-96E0-BF7B90742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84" y="2316479"/>
            <a:ext cx="10872716" cy="368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42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15547" y="406823"/>
            <a:ext cx="10785050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just"/>
            <a:r>
              <a:rPr lang="en-US" sz="4400" b="1" dirty="0">
                <a:latin typeface="+mn-lt"/>
              </a:rPr>
              <a:t>de-Broglie Wavelength Associated With Particle In Thermal Equilibrium</a:t>
            </a: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67265" y="436847"/>
            <a:ext cx="11138048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DBB7DA-4E69-4E2C-83B7-D20F4CCA4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87" y="1924334"/>
            <a:ext cx="10338463" cy="457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92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698571" y="584116"/>
            <a:ext cx="6756757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</a:rPr>
              <a:t>NUMERICALS</a:t>
            </a: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1915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E7EFEC-05C7-490E-B4DD-F4E8E4506FCB}"/>
              </a:ext>
            </a:extLst>
          </p:cNvPr>
          <p:cNvSpPr/>
          <p:nvPr/>
        </p:nvSpPr>
        <p:spPr>
          <a:xfrm>
            <a:off x="1009934" y="1847767"/>
            <a:ext cx="10207342" cy="893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515" marR="647065" algn="just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tabLst>
                <a:tab pos="526415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Raavi" panose="020B0502040204020203" pitchFamily="34" charset="0"/>
              </a:rPr>
              <a:t>1.     Calculate the wavelength associated with an electron with energy 2000 eV.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310515" marR="647065" algn="just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tabLst>
                <a:tab pos="526415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Raavi" panose="020B0502040204020203" pitchFamily="34" charset="0"/>
              </a:rPr>
              <a:t>Sol: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Raavi" panose="020B0502040204020203" pitchFamily="34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  <a:cs typeface="Raavi" panose="020B0502040204020203" pitchFamily="34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Raavi" panose="020B0502040204020203" pitchFamily="34" charset="0"/>
              </a:rPr>
              <a:t> = 2000 eV = 2000 × 1.6 × 10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Raavi" panose="020B0502040204020203" pitchFamily="34" charset="0"/>
              </a:rPr>
              <a:t>–19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Raavi" panose="020B0502040204020203" pitchFamily="34" charset="0"/>
              </a:rPr>
              <a:t> J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Raavi" panose="020B0502040204020203" pitchFamily="34" charset="0"/>
            </a:endParaRPr>
          </a:p>
        </p:txBody>
      </p:sp>
      <p:pic>
        <p:nvPicPr>
          <p:cNvPr id="11" name="Picture 10" descr="images">
            <a:extLst>
              <a:ext uri="{FF2B5EF4-FFF2-40B4-BE49-F238E27FC236}">
                <a16:creationId xmlns:a16="http://schemas.microsoft.com/office/drawing/2014/main" id="{41DBCE63-9B70-443E-B386-C2D9F444B8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958" y="2741281"/>
            <a:ext cx="9526138" cy="3582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5467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17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698571" y="360361"/>
            <a:ext cx="6756757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</a:rPr>
              <a:t>NUMERICALS</a:t>
            </a: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1915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D6B0D5-02ED-43F2-BCC6-AE1BF955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25" y="1734947"/>
            <a:ext cx="10270225" cy="498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66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34051" y="300111"/>
            <a:ext cx="114277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Times New Roman" pitchFamily="18" charset="0"/>
              </a:rPr>
              <a:t>SUMMARY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27796" y="1475518"/>
            <a:ext cx="11136573" cy="28050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De Broglie waves are also known as matter waves.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Every moving particle has a wave associated with it.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De Broglie waves independent of charge.</a:t>
            </a:r>
            <a:endParaRPr lang="en-US" sz="2400" dirty="0"/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Their wavelength inversely proportional to mass and velocity.</a:t>
            </a:r>
            <a:endParaRPr lang="en-US" sz="2400" dirty="0"/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Casp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88300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58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19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2137" y="323090"/>
            <a:ext cx="114277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Times New Roman" pitchFamily="18" charset="0"/>
              </a:rPr>
              <a:t>FAQ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02953" y="1832212"/>
            <a:ext cx="1113657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Calculate the wavelength associated with an electron raised to a potential 100 V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Define DE Broglie Hypothesis.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Analyze the properties of matter waves.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Define de Broglie wavelength.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30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400"/>
            <a:ext cx="10515600" cy="4694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sper"/>
              </a:rPr>
              <a:t>[1] https://stradallc.com/2016/02/12/design-like-quantum-physics/</a:t>
            </a:r>
          </a:p>
          <a:p>
            <a:pPr marL="0" indent="0">
              <a:buNone/>
            </a:pPr>
            <a:r>
              <a:rPr lang="en-US" sz="2400" dirty="0">
                <a:latin typeface="Casper"/>
              </a:rPr>
              <a:t>[2] https://en.wikipedia.org/wiki/Branches_of_physics</a:t>
            </a:r>
          </a:p>
          <a:p>
            <a:pPr marL="0" indent="0">
              <a:buNone/>
            </a:pPr>
            <a:r>
              <a:rPr lang="en-US" sz="2400" dirty="0">
                <a:latin typeface="Casper"/>
              </a:rPr>
              <a:t>[3] http://www.sciencecalculators.org/optics/light/</a:t>
            </a:r>
          </a:p>
          <a:p>
            <a:pPr marL="0" indent="0">
              <a:buNone/>
            </a:pPr>
            <a:r>
              <a:rPr lang="en-US" sz="2400" dirty="0">
                <a:latin typeface="Casper"/>
              </a:rPr>
              <a:t>[4] </a:t>
            </a:r>
            <a:r>
              <a:rPr lang="en-IN" sz="2400" dirty="0">
                <a:latin typeface="Casper"/>
              </a:rPr>
              <a:t>http://slideplayer.com/slide/7074070</a:t>
            </a:r>
            <a:endParaRPr lang="en-US" sz="2400" dirty="0">
              <a:latin typeface="Casper"/>
            </a:endParaRPr>
          </a:p>
          <a:p>
            <a:pPr algn="just">
              <a:buNone/>
              <a:defRPr/>
            </a:pP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17048"/>
            <a:ext cx="10515600" cy="261847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400"/>
            <a:ext cx="10515600" cy="4694901"/>
          </a:xfrm>
        </p:spPr>
        <p:txBody>
          <a:bodyPr>
            <a:normAutofit/>
          </a:bodyPr>
          <a:lstStyle/>
          <a:p>
            <a:r>
              <a:rPr lang="en-IN" b="1" dirty="0"/>
              <a:t>Video link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https://www.youtube.com/watch?v=JIGI-eXK0tg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https://nptel.ac.in/courses/115/102/115102023</a:t>
            </a:r>
            <a:endParaRPr lang="en-US" dirty="0"/>
          </a:p>
          <a:p>
            <a:r>
              <a:rPr lang="en-IN" b="1" dirty="0"/>
              <a:t>Books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Concepts of Modern Physics, (Fifth Edition) A </a:t>
            </a:r>
            <a:r>
              <a:rPr lang="en-IN" dirty="0" err="1"/>
              <a:t>Beiser</a:t>
            </a:r>
            <a:r>
              <a:rPr lang="en-IN" dirty="0"/>
              <a:t>, McGraw Hill International.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Fundamentals of Physics, David Halliday, Robert Resnick and </a:t>
            </a:r>
            <a:r>
              <a:rPr lang="en-IN" dirty="0" err="1"/>
              <a:t>Jearl</a:t>
            </a:r>
            <a:r>
              <a:rPr lang="en-IN" dirty="0"/>
              <a:t> Walker, </a:t>
            </a:r>
            <a:r>
              <a:rPr lang="en-IN" dirty="0" err="1"/>
              <a:t>Wileyplus</a:t>
            </a:r>
            <a:endParaRPr lang="en-US" dirty="0"/>
          </a:p>
          <a:p>
            <a:pPr marL="0" indent="0">
              <a:buNone/>
            </a:pPr>
            <a:endParaRPr lang="en-US" sz="1700" dirty="0">
              <a:latin typeface="Casper"/>
            </a:endParaRPr>
          </a:p>
          <a:p>
            <a:pPr algn="just">
              <a:buNone/>
              <a:defRPr/>
            </a:pP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5054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63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3452884" y="6168788"/>
            <a:ext cx="4217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sper"/>
              </a:rPr>
              <a:t>arminder.uis@cumail.in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1320</TotalTime>
  <Words>929</Words>
  <Application>Microsoft Office PowerPoint</Application>
  <PresentationFormat>Widescreen</PresentationFormat>
  <Paragraphs>132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Arial Black</vt:lpstr>
      <vt:lpstr>Calibri</vt:lpstr>
      <vt:lpstr>Calibri Light</vt:lpstr>
      <vt:lpstr>Casper</vt:lpstr>
      <vt:lpstr>Casper Bold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PowerPoint Presentation</vt:lpstr>
      <vt:lpstr>PowerPoint Presentation</vt:lpstr>
      <vt:lpstr>PowerPoint Presentation</vt:lpstr>
      <vt:lpstr>QUANTUM MECHANICS </vt:lpstr>
      <vt:lpstr>NEED OF QUANTUM MECHANICS </vt:lpstr>
      <vt:lpstr>NEED OF QUANTUM MECHANICS </vt:lpstr>
      <vt:lpstr>PowerPoint Presentation</vt:lpstr>
      <vt:lpstr>de-BROGLIE HYPOTHESIS</vt:lpstr>
      <vt:lpstr>de-BROGLIE MATTER WAVES</vt:lpstr>
      <vt:lpstr>PROPERTIES OF MATTER WAVES </vt:lpstr>
      <vt:lpstr>PowerPoint Presentation</vt:lpstr>
      <vt:lpstr>de-Broglie Wavelength Associated With An Accelerated Particle</vt:lpstr>
      <vt:lpstr>de-Broglie Wavelength Expressed In Term Of Kinetic Energy </vt:lpstr>
      <vt:lpstr>de-Broglie Wavelength Associated With Particle In Thermal Equilibrium</vt:lpstr>
      <vt:lpstr>NUMERICALS</vt:lpstr>
      <vt:lpstr>NUMERICALS</vt:lpstr>
      <vt:lpstr>SUMMARY </vt:lpstr>
      <vt:lpstr>FAQ </vt:lpstr>
      <vt:lpstr>REFERENCES   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154</cp:revision>
  <dcterms:created xsi:type="dcterms:W3CDTF">2019-01-09T10:33:58Z</dcterms:created>
  <dcterms:modified xsi:type="dcterms:W3CDTF">2023-06-15T15:53:37Z</dcterms:modified>
</cp:coreProperties>
</file>