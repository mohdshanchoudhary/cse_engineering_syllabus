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391" r:id="rId3"/>
    <p:sldId id="392" r:id="rId4"/>
    <p:sldId id="393" r:id="rId5"/>
    <p:sldId id="386" r:id="rId6"/>
    <p:sldId id="265" r:id="rId7"/>
    <p:sldId id="281" r:id="rId8"/>
    <p:sldId id="381" r:id="rId9"/>
    <p:sldId id="387" r:id="rId10"/>
    <p:sldId id="388" r:id="rId11"/>
    <p:sldId id="390" r:id="rId12"/>
    <p:sldId id="389" r:id="rId13"/>
    <p:sldId id="383" r:id="rId14"/>
    <p:sldId id="384" r:id="rId15"/>
    <p:sldId id="284" r:id="rId16"/>
    <p:sldId id="385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B1B3E-83FA-4658-BAF7-A1C28950C6E7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E1042C7-8FD8-46C3-97B2-C8F6ECCAA577}">
      <dgm:prSet phldrT="[Text]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621BB3EB-6CE1-4596-9775-D8E49C0230C2}" type="parTrans" cxnId="{4C6E36C8-BEEE-4A8F-98F1-8AA1658291ED}">
      <dgm:prSet/>
      <dgm:spPr/>
      <dgm:t>
        <a:bodyPr/>
        <a:lstStyle/>
        <a:p>
          <a:endParaRPr lang="en-IN"/>
        </a:p>
      </dgm:t>
    </dgm:pt>
    <dgm:pt modelId="{45BE4B48-3412-410B-B8EF-6D39A131AE80}" type="sibTrans" cxnId="{4C6E36C8-BEEE-4A8F-98F1-8AA1658291ED}">
      <dgm:prSet/>
      <dgm:spPr/>
      <dgm:t>
        <a:bodyPr/>
        <a:lstStyle/>
        <a:p>
          <a:endParaRPr lang="en-IN"/>
        </a:p>
      </dgm:t>
    </dgm:pt>
    <dgm:pt modelId="{AC6663AF-9A88-490D-853C-8120C7DBDE78}">
      <dgm:prSet phldrT="[Text]" custT="1"/>
      <dgm:spPr/>
      <dgm:t>
        <a:bodyPr/>
        <a:lstStyle/>
        <a:p>
          <a:r>
            <a:rPr lang="en-IN" sz="2400" dirty="0">
              <a:latin typeface="+mn-lt"/>
              <a:cs typeface="Times New Roman" panose="02020603050405020304" pitchFamily="18" charset="0"/>
            </a:rPr>
            <a:t>Students will learn about Phase and group velocity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20872E8-8AA2-45F6-A8E2-8BF205EB0960}" type="parTrans" cxnId="{E0ABA179-2A02-4FE6-A4AB-B4F2CCB8D5D1}">
      <dgm:prSet/>
      <dgm:spPr/>
      <dgm:t>
        <a:bodyPr/>
        <a:lstStyle/>
        <a:p>
          <a:endParaRPr lang="en-IN"/>
        </a:p>
      </dgm:t>
    </dgm:pt>
    <dgm:pt modelId="{34B7117A-1B4E-466B-8D17-59D987A33713}" type="sibTrans" cxnId="{E0ABA179-2A02-4FE6-A4AB-B4F2CCB8D5D1}">
      <dgm:prSet/>
      <dgm:spPr/>
      <dgm:t>
        <a:bodyPr/>
        <a:lstStyle/>
        <a:p>
          <a:endParaRPr lang="en-IN"/>
        </a:p>
      </dgm:t>
    </dgm:pt>
    <dgm:pt modelId="{59623D32-4D69-42DD-85CD-027389341071}">
      <dgm:prSet phldrT="[Text]" custT="1"/>
      <dgm:spPr/>
      <dgm:t>
        <a:bodyPr/>
        <a:lstStyle/>
        <a:p>
          <a:r>
            <a:rPr lang="en-IN" sz="16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8C3CF477-F4C0-4176-95A0-1CEE433BD66D}" type="parTrans" cxnId="{FCA0DE3E-9DA7-403C-87B9-DD0CA0DE16FA}">
      <dgm:prSet/>
      <dgm:spPr/>
      <dgm:t>
        <a:bodyPr/>
        <a:lstStyle/>
        <a:p>
          <a:endParaRPr lang="en-IN"/>
        </a:p>
      </dgm:t>
    </dgm:pt>
    <dgm:pt modelId="{FF05F8A0-05D5-4BC8-84AE-11F0CDB44B6A}" type="sibTrans" cxnId="{FCA0DE3E-9DA7-403C-87B9-DD0CA0DE16FA}">
      <dgm:prSet/>
      <dgm:spPr/>
      <dgm:t>
        <a:bodyPr/>
        <a:lstStyle/>
        <a:p>
          <a:endParaRPr lang="en-IN"/>
        </a:p>
      </dgm:t>
    </dgm:pt>
    <dgm:pt modelId="{581DF355-82C3-44BD-A2B0-78187E54CCC7}">
      <dgm:prSet phldrT="[Text]" custT="1"/>
      <dgm:spPr/>
      <dgm:t>
        <a:bodyPr/>
        <a:lstStyle/>
        <a:p>
          <a:r>
            <a:rPr lang="en-IN" sz="2400" dirty="0">
              <a:latin typeface="+mn-lt"/>
              <a:cs typeface="Times New Roman" panose="02020603050405020304" pitchFamily="18" charset="0"/>
            </a:rPr>
            <a:t>Students will learn about relation between Phase and group velocity</a:t>
          </a:r>
        </a:p>
      </dgm:t>
    </dgm:pt>
    <dgm:pt modelId="{2CA17078-8E69-4AD4-8CE4-9B3F8BB306DB}" type="parTrans" cxnId="{62E3F93D-8EE6-4623-B0F5-2E51672FA22E}">
      <dgm:prSet/>
      <dgm:spPr/>
      <dgm:t>
        <a:bodyPr/>
        <a:lstStyle/>
        <a:p>
          <a:endParaRPr lang="en-IN"/>
        </a:p>
      </dgm:t>
    </dgm:pt>
    <dgm:pt modelId="{601EF65E-15BB-4934-8E1E-6DEFFE1702FB}" type="sibTrans" cxnId="{62E3F93D-8EE6-4623-B0F5-2E51672FA22E}">
      <dgm:prSet/>
      <dgm:spPr/>
      <dgm:t>
        <a:bodyPr/>
        <a:lstStyle/>
        <a:p>
          <a:endParaRPr lang="en-IN"/>
        </a:p>
      </dgm:t>
    </dgm:pt>
    <dgm:pt modelId="{FA2EB051-0881-42DF-B19F-D522950734B2}">
      <dgm:prSet phldrT="[Text]" custT="1"/>
      <dgm:spPr/>
      <dgm:t>
        <a:bodyPr/>
        <a:lstStyle/>
        <a:p>
          <a:r>
            <a:rPr lang="en-IN" sz="16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603BF450-F4E0-4CEF-9C21-27FDD0CCE880}" type="parTrans" cxnId="{DC4706BC-D4DE-4DC7-BEC1-DBC559A79182}">
      <dgm:prSet/>
      <dgm:spPr/>
      <dgm:t>
        <a:bodyPr/>
        <a:lstStyle/>
        <a:p>
          <a:endParaRPr lang="en-IN"/>
        </a:p>
      </dgm:t>
    </dgm:pt>
    <dgm:pt modelId="{E496903B-959A-4D15-8074-58AFAB6AE879}" type="sibTrans" cxnId="{DC4706BC-D4DE-4DC7-BEC1-DBC559A79182}">
      <dgm:prSet/>
      <dgm:spPr/>
      <dgm:t>
        <a:bodyPr/>
        <a:lstStyle/>
        <a:p>
          <a:endParaRPr lang="en-IN"/>
        </a:p>
      </dgm:t>
    </dgm:pt>
    <dgm:pt modelId="{A4751C2F-50DC-42B3-BE3C-66635C62DF5B}">
      <dgm:prSet phldrT="[Text]" custT="1"/>
      <dgm:spPr/>
      <dgm:t>
        <a:bodyPr/>
        <a:lstStyle/>
        <a:p>
          <a:r>
            <a:rPr lang="en-IN" sz="2400" dirty="0">
              <a:latin typeface="+mn-lt"/>
              <a:cs typeface="Times New Roman" panose="02020603050405020304" pitchFamily="18" charset="0"/>
            </a:rPr>
            <a:t>In this lecture will derive relation between Phase and group velocity .</a:t>
          </a:r>
        </a:p>
      </dgm:t>
    </dgm:pt>
    <dgm:pt modelId="{98A445DD-232D-43B4-996A-9AAE775AAE53}" type="parTrans" cxnId="{395ADFA3-0915-481A-A479-89176F966CC5}">
      <dgm:prSet/>
      <dgm:spPr/>
      <dgm:t>
        <a:bodyPr/>
        <a:lstStyle/>
        <a:p>
          <a:endParaRPr lang="en-IN"/>
        </a:p>
      </dgm:t>
    </dgm:pt>
    <dgm:pt modelId="{61FD9762-81CA-459F-A72F-FE38E106590B}" type="sibTrans" cxnId="{395ADFA3-0915-481A-A479-89176F966CC5}">
      <dgm:prSet/>
      <dgm:spPr/>
      <dgm:t>
        <a:bodyPr/>
        <a:lstStyle/>
        <a:p>
          <a:endParaRPr lang="en-IN"/>
        </a:p>
      </dgm:t>
    </dgm:pt>
    <dgm:pt modelId="{CD122889-8A8D-4BB0-B01E-B98ED66A22D1}" type="pres">
      <dgm:prSet presAssocID="{244B1B3E-83FA-4658-BAF7-A1C28950C6E7}" presName="Name0" presStyleCnt="0">
        <dgm:presLayoutVars>
          <dgm:dir/>
          <dgm:animLvl val="lvl"/>
          <dgm:resizeHandles val="exact"/>
        </dgm:presLayoutVars>
      </dgm:prSet>
      <dgm:spPr/>
    </dgm:pt>
    <dgm:pt modelId="{BC7B5AF7-D169-48C7-A14D-1E9FBD84314E}" type="pres">
      <dgm:prSet presAssocID="{BE1042C7-8FD8-46C3-97B2-C8F6ECCAA577}" presName="composite" presStyleCnt="0"/>
      <dgm:spPr/>
    </dgm:pt>
    <dgm:pt modelId="{823804D2-D44E-44EA-9FF5-99F97DCCD10A}" type="pres">
      <dgm:prSet presAssocID="{BE1042C7-8FD8-46C3-97B2-C8F6ECCAA57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D2EE0C5-FA31-483E-B76D-6DC608645EA8}" type="pres">
      <dgm:prSet presAssocID="{BE1042C7-8FD8-46C3-97B2-C8F6ECCAA577}" presName="desTx" presStyleLbl="alignAccFollowNode1" presStyleIdx="0" presStyleCnt="3">
        <dgm:presLayoutVars>
          <dgm:bulletEnabled val="1"/>
        </dgm:presLayoutVars>
      </dgm:prSet>
      <dgm:spPr/>
    </dgm:pt>
    <dgm:pt modelId="{855F9A90-9408-4E6B-A063-BA943B6B5E63}" type="pres">
      <dgm:prSet presAssocID="{45BE4B48-3412-410B-B8EF-6D39A131AE80}" presName="space" presStyleCnt="0"/>
      <dgm:spPr/>
    </dgm:pt>
    <dgm:pt modelId="{FDB0CFBF-8008-4E01-BBDE-DAFE38134065}" type="pres">
      <dgm:prSet presAssocID="{59623D32-4D69-42DD-85CD-027389341071}" presName="composite" presStyleCnt="0"/>
      <dgm:spPr/>
    </dgm:pt>
    <dgm:pt modelId="{C9DA09FE-968E-4451-896D-DECC9E9C2589}" type="pres">
      <dgm:prSet presAssocID="{59623D32-4D69-42DD-85CD-0273893410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18E9830-D2CB-43E8-AB8E-05B2ABB8544E}" type="pres">
      <dgm:prSet presAssocID="{59623D32-4D69-42DD-85CD-027389341071}" presName="desTx" presStyleLbl="alignAccFollowNode1" presStyleIdx="1" presStyleCnt="3">
        <dgm:presLayoutVars>
          <dgm:bulletEnabled val="1"/>
        </dgm:presLayoutVars>
      </dgm:prSet>
      <dgm:spPr/>
    </dgm:pt>
    <dgm:pt modelId="{1413BF33-3CB5-487E-8D9C-3B128FA3A8CB}" type="pres">
      <dgm:prSet presAssocID="{FF05F8A0-05D5-4BC8-84AE-11F0CDB44B6A}" presName="space" presStyleCnt="0"/>
      <dgm:spPr/>
    </dgm:pt>
    <dgm:pt modelId="{49466710-EFDB-44BB-AF41-77A08201716E}" type="pres">
      <dgm:prSet presAssocID="{FA2EB051-0881-42DF-B19F-D522950734B2}" presName="composite" presStyleCnt="0"/>
      <dgm:spPr/>
    </dgm:pt>
    <dgm:pt modelId="{AC12C961-00F2-45E6-B9B9-7B8C991E8799}" type="pres">
      <dgm:prSet presAssocID="{FA2EB051-0881-42DF-B19F-D522950734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7DE4BD6-AAFE-4A2D-A02B-0CA2C8D040F6}" type="pres">
      <dgm:prSet presAssocID="{FA2EB051-0881-42DF-B19F-D522950734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EECFD32-26AB-472F-9003-49E970320073}" type="presOf" srcId="{A4751C2F-50DC-42B3-BE3C-66635C62DF5B}" destId="{67DE4BD6-AAFE-4A2D-A02B-0CA2C8D040F6}" srcOrd="0" destOrd="0" presId="urn:microsoft.com/office/officeart/2005/8/layout/hList1"/>
    <dgm:cxn modelId="{8CCE0A33-9E9D-4E94-9FE9-24A56A02ADF7}" type="presOf" srcId="{581DF355-82C3-44BD-A2B0-78187E54CCC7}" destId="{F18E9830-D2CB-43E8-AB8E-05B2ABB8544E}" srcOrd="0" destOrd="0" presId="urn:microsoft.com/office/officeart/2005/8/layout/hList1"/>
    <dgm:cxn modelId="{39FFB936-7BB6-44BD-892D-D77E39C98D99}" type="presOf" srcId="{BE1042C7-8FD8-46C3-97B2-C8F6ECCAA577}" destId="{823804D2-D44E-44EA-9FF5-99F97DCCD10A}" srcOrd="0" destOrd="0" presId="urn:microsoft.com/office/officeart/2005/8/layout/hList1"/>
    <dgm:cxn modelId="{62E3F93D-8EE6-4623-B0F5-2E51672FA22E}" srcId="{59623D32-4D69-42DD-85CD-027389341071}" destId="{581DF355-82C3-44BD-A2B0-78187E54CCC7}" srcOrd="0" destOrd="0" parTransId="{2CA17078-8E69-4AD4-8CE4-9B3F8BB306DB}" sibTransId="{601EF65E-15BB-4934-8E1E-6DEFFE1702FB}"/>
    <dgm:cxn modelId="{FCA0DE3E-9DA7-403C-87B9-DD0CA0DE16FA}" srcId="{244B1B3E-83FA-4658-BAF7-A1C28950C6E7}" destId="{59623D32-4D69-42DD-85CD-027389341071}" srcOrd="1" destOrd="0" parTransId="{8C3CF477-F4C0-4176-95A0-1CEE433BD66D}" sibTransId="{FF05F8A0-05D5-4BC8-84AE-11F0CDB44B6A}"/>
    <dgm:cxn modelId="{E0D94A5F-D235-4A27-9436-6243B9CDC53C}" type="presOf" srcId="{244B1B3E-83FA-4658-BAF7-A1C28950C6E7}" destId="{CD122889-8A8D-4BB0-B01E-B98ED66A22D1}" srcOrd="0" destOrd="0" presId="urn:microsoft.com/office/officeart/2005/8/layout/hList1"/>
    <dgm:cxn modelId="{E0ABA179-2A02-4FE6-A4AB-B4F2CCB8D5D1}" srcId="{BE1042C7-8FD8-46C3-97B2-C8F6ECCAA577}" destId="{AC6663AF-9A88-490D-853C-8120C7DBDE78}" srcOrd="0" destOrd="0" parTransId="{420872E8-8AA2-45F6-A8E2-8BF205EB0960}" sibTransId="{34B7117A-1B4E-466B-8D17-59D987A33713}"/>
    <dgm:cxn modelId="{6F646E87-6752-4F31-9C64-A5227D04454B}" type="presOf" srcId="{AC6663AF-9A88-490D-853C-8120C7DBDE78}" destId="{BD2EE0C5-FA31-483E-B76D-6DC608645EA8}" srcOrd="0" destOrd="0" presId="urn:microsoft.com/office/officeart/2005/8/layout/hList1"/>
    <dgm:cxn modelId="{395ADFA3-0915-481A-A479-89176F966CC5}" srcId="{FA2EB051-0881-42DF-B19F-D522950734B2}" destId="{A4751C2F-50DC-42B3-BE3C-66635C62DF5B}" srcOrd="0" destOrd="0" parTransId="{98A445DD-232D-43B4-996A-9AAE775AAE53}" sibTransId="{61FD9762-81CA-459F-A72F-FE38E106590B}"/>
    <dgm:cxn modelId="{DC4706BC-D4DE-4DC7-BEC1-DBC559A79182}" srcId="{244B1B3E-83FA-4658-BAF7-A1C28950C6E7}" destId="{FA2EB051-0881-42DF-B19F-D522950734B2}" srcOrd="2" destOrd="0" parTransId="{603BF450-F4E0-4CEF-9C21-27FDD0CCE880}" sibTransId="{E496903B-959A-4D15-8074-58AFAB6AE879}"/>
    <dgm:cxn modelId="{4C6E36C8-BEEE-4A8F-98F1-8AA1658291ED}" srcId="{244B1B3E-83FA-4658-BAF7-A1C28950C6E7}" destId="{BE1042C7-8FD8-46C3-97B2-C8F6ECCAA577}" srcOrd="0" destOrd="0" parTransId="{621BB3EB-6CE1-4596-9775-D8E49C0230C2}" sibTransId="{45BE4B48-3412-410B-B8EF-6D39A131AE80}"/>
    <dgm:cxn modelId="{317A8FCD-3B3E-40F4-A3D5-4110421A775C}" type="presOf" srcId="{59623D32-4D69-42DD-85CD-027389341071}" destId="{C9DA09FE-968E-4451-896D-DECC9E9C2589}" srcOrd="0" destOrd="0" presId="urn:microsoft.com/office/officeart/2005/8/layout/hList1"/>
    <dgm:cxn modelId="{C1D2F2F1-402B-4DEF-815C-31E5640FB23C}" type="presOf" srcId="{FA2EB051-0881-42DF-B19F-D522950734B2}" destId="{AC12C961-00F2-45E6-B9B9-7B8C991E8799}" srcOrd="0" destOrd="0" presId="urn:microsoft.com/office/officeart/2005/8/layout/hList1"/>
    <dgm:cxn modelId="{44EC55BC-83AF-46C1-91DE-CEFE10A8BA41}" type="presParOf" srcId="{CD122889-8A8D-4BB0-B01E-B98ED66A22D1}" destId="{BC7B5AF7-D169-48C7-A14D-1E9FBD84314E}" srcOrd="0" destOrd="0" presId="urn:microsoft.com/office/officeart/2005/8/layout/hList1"/>
    <dgm:cxn modelId="{1716C085-2511-4521-80C9-9371EACFB37B}" type="presParOf" srcId="{BC7B5AF7-D169-48C7-A14D-1E9FBD84314E}" destId="{823804D2-D44E-44EA-9FF5-99F97DCCD10A}" srcOrd="0" destOrd="0" presId="urn:microsoft.com/office/officeart/2005/8/layout/hList1"/>
    <dgm:cxn modelId="{A7BFC1A6-A3DE-4154-8BF0-CBC1C0E4410F}" type="presParOf" srcId="{BC7B5AF7-D169-48C7-A14D-1E9FBD84314E}" destId="{BD2EE0C5-FA31-483E-B76D-6DC608645EA8}" srcOrd="1" destOrd="0" presId="urn:microsoft.com/office/officeart/2005/8/layout/hList1"/>
    <dgm:cxn modelId="{820E9E05-BE33-4DD0-8AB5-D3A6FF267E29}" type="presParOf" srcId="{CD122889-8A8D-4BB0-B01E-B98ED66A22D1}" destId="{855F9A90-9408-4E6B-A063-BA943B6B5E63}" srcOrd="1" destOrd="0" presId="urn:microsoft.com/office/officeart/2005/8/layout/hList1"/>
    <dgm:cxn modelId="{164F2345-BE36-4FBD-A254-5EF6031AA25F}" type="presParOf" srcId="{CD122889-8A8D-4BB0-B01E-B98ED66A22D1}" destId="{FDB0CFBF-8008-4E01-BBDE-DAFE38134065}" srcOrd="2" destOrd="0" presId="urn:microsoft.com/office/officeart/2005/8/layout/hList1"/>
    <dgm:cxn modelId="{864951CA-E36E-40D6-84B9-0865D671F083}" type="presParOf" srcId="{FDB0CFBF-8008-4E01-BBDE-DAFE38134065}" destId="{C9DA09FE-968E-4451-896D-DECC9E9C2589}" srcOrd="0" destOrd="0" presId="urn:microsoft.com/office/officeart/2005/8/layout/hList1"/>
    <dgm:cxn modelId="{16550E85-2CF7-4F1E-B867-62E1F7627439}" type="presParOf" srcId="{FDB0CFBF-8008-4E01-BBDE-DAFE38134065}" destId="{F18E9830-D2CB-43E8-AB8E-05B2ABB8544E}" srcOrd="1" destOrd="0" presId="urn:microsoft.com/office/officeart/2005/8/layout/hList1"/>
    <dgm:cxn modelId="{20F24F72-8814-4258-8F9C-B5CAAA48F33B}" type="presParOf" srcId="{CD122889-8A8D-4BB0-B01E-B98ED66A22D1}" destId="{1413BF33-3CB5-487E-8D9C-3B128FA3A8CB}" srcOrd="3" destOrd="0" presId="urn:microsoft.com/office/officeart/2005/8/layout/hList1"/>
    <dgm:cxn modelId="{7450CC3D-D7B6-4E0C-904B-3D1ABC1DB2BE}" type="presParOf" srcId="{CD122889-8A8D-4BB0-B01E-B98ED66A22D1}" destId="{49466710-EFDB-44BB-AF41-77A08201716E}" srcOrd="4" destOrd="0" presId="urn:microsoft.com/office/officeart/2005/8/layout/hList1"/>
    <dgm:cxn modelId="{FBBCF618-8C39-4503-8F43-775A470E764B}" type="presParOf" srcId="{49466710-EFDB-44BB-AF41-77A08201716E}" destId="{AC12C961-00F2-45E6-B9B9-7B8C991E8799}" srcOrd="0" destOrd="0" presId="urn:microsoft.com/office/officeart/2005/8/layout/hList1"/>
    <dgm:cxn modelId="{A56900D1-1D1B-43B9-AE8B-B2CD8A51FD84}" type="presParOf" srcId="{49466710-EFDB-44BB-AF41-77A08201716E}" destId="{67DE4BD6-AAFE-4A2D-A02B-0CA2C8D040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804D2-D44E-44EA-9FF5-99F97DCCD10A}">
      <dsp:nvSpPr>
        <dsp:cNvPr id="0" name=""/>
        <dsp:cNvSpPr/>
      </dsp:nvSpPr>
      <dsp:spPr>
        <a:xfrm>
          <a:off x="2925" y="388633"/>
          <a:ext cx="2852782" cy="11411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2925" y="388633"/>
        <a:ext cx="2852782" cy="1141112"/>
      </dsp:txXfrm>
    </dsp:sp>
    <dsp:sp modelId="{BD2EE0C5-FA31-483E-B76D-6DC608645EA8}">
      <dsp:nvSpPr>
        <dsp:cNvPr id="0" name=""/>
        <dsp:cNvSpPr/>
      </dsp:nvSpPr>
      <dsp:spPr>
        <a:xfrm>
          <a:off x="2925" y="1529746"/>
          <a:ext cx="2852782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Students will learn about Phase and group velocity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925" y="1529746"/>
        <a:ext cx="2852782" cy="2854800"/>
      </dsp:txXfrm>
    </dsp:sp>
    <dsp:sp modelId="{C9DA09FE-968E-4451-896D-DECC9E9C2589}">
      <dsp:nvSpPr>
        <dsp:cNvPr id="0" name=""/>
        <dsp:cNvSpPr/>
      </dsp:nvSpPr>
      <dsp:spPr>
        <a:xfrm>
          <a:off x="3255097" y="388633"/>
          <a:ext cx="2852782" cy="11411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3255097" y="388633"/>
        <a:ext cx="2852782" cy="1141112"/>
      </dsp:txXfrm>
    </dsp:sp>
    <dsp:sp modelId="{F18E9830-D2CB-43E8-AB8E-05B2ABB8544E}">
      <dsp:nvSpPr>
        <dsp:cNvPr id="0" name=""/>
        <dsp:cNvSpPr/>
      </dsp:nvSpPr>
      <dsp:spPr>
        <a:xfrm>
          <a:off x="3255097" y="1529746"/>
          <a:ext cx="2852782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Students will learn about relation between Phase and group velocity</a:t>
          </a:r>
        </a:p>
      </dsp:txBody>
      <dsp:txXfrm>
        <a:off x="3255097" y="1529746"/>
        <a:ext cx="2852782" cy="2854800"/>
      </dsp:txXfrm>
    </dsp:sp>
    <dsp:sp modelId="{AC12C961-00F2-45E6-B9B9-7B8C991E8799}">
      <dsp:nvSpPr>
        <dsp:cNvPr id="0" name=""/>
        <dsp:cNvSpPr/>
      </dsp:nvSpPr>
      <dsp:spPr>
        <a:xfrm>
          <a:off x="6507269" y="388633"/>
          <a:ext cx="2852782" cy="11411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6507269" y="388633"/>
        <a:ext cx="2852782" cy="1141112"/>
      </dsp:txXfrm>
    </dsp:sp>
    <dsp:sp modelId="{67DE4BD6-AAFE-4A2D-A02B-0CA2C8D040F6}">
      <dsp:nvSpPr>
        <dsp:cNvPr id="0" name=""/>
        <dsp:cNvSpPr/>
      </dsp:nvSpPr>
      <dsp:spPr>
        <a:xfrm>
          <a:off x="6507269" y="1529746"/>
          <a:ext cx="2852782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In this lecture will derive relation between Phase and group velocity .</a:t>
          </a:r>
        </a:p>
      </dsp:txBody>
      <dsp:txXfrm>
        <a:off x="6507269" y="1529746"/>
        <a:ext cx="2852782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ediaa.com/wp-content/uploads/2016/04/Difference-Between-Phase-Velocity-and-Group-Velocity-image-11.p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VeTwdGZY_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335292" y="5741723"/>
            <a:ext cx="4912783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3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MECHANICS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409569" y="799432"/>
            <a:ext cx="8795010" cy="691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Ms. </a:t>
            </a:r>
            <a:r>
              <a:rPr lang="en-US" sz="28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endParaRPr lang="en-US" sz="2800" dirty="0">
              <a:latin typeface="Times New Roman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3373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519707" y="200819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210092" y="1837121"/>
            <a:ext cx="10241791" cy="42142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963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96394" y="256020"/>
            <a:ext cx="850791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Casper" panose="02000506000000020004"/>
                <a:cs typeface="Times New Roman" pitchFamily="18" charset="0"/>
              </a:rPr>
              <a:t>COURSE OUTCOME</a:t>
            </a:r>
            <a:endParaRPr lang="en-US" sz="4400" b="1" dirty="0">
              <a:latin typeface="Casper" panose="02000506000000020004"/>
            </a:endParaRPr>
          </a:p>
          <a:p>
            <a:r>
              <a:rPr lang="en-US" sz="2400" b="1" dirty="0">
                <a:latin typeface="Casper" panose="02000506000000020004"/>
              </a:rPr>
              <a:t>      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6" descr="Image result for quantum phys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323" y="1992205"/>
            <a:ext cx="5164477" cy="440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189323" y="6495532"/>
            <a:ext cx="3142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sper"/>
              </a:rPr>
              <a:t>Figure 1 Quantum Theory [1]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351740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09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10184" y="256020"/>
            <a:ext cx="948580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LECTURE OBJECTIVE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7D3280E-092F-48D2-86FB-EA772DCEF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031577"/>
              </p:ext>
            </p:extLst>
          </p:nvPr>
        </p:nvGraphicFramePr>
        <p:xfrm>
          <a:off x="1433015" y="1828800"/>
          <a:ext cx="9362977" cy="4773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7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0" y="877530"/>
            <a:ext cx="1166177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  <a:t>QUANTUM MECHANICS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utoShape 2" descr="Image result for quant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AutoShape 4" descr="Image result for quantum phys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46" name="Picture 6" descr="Image result for quantum phys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22" y="1596788"/>
            <a:ext cx="10947993" cy="45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3451" y="6324600"/>
            <a:ext cx="6264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3.1 Quantum Theory [1]</a:t>
            </a: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33590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remained from classical mechanics that relativity didn’t explain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Attempts to apply the laws of classical physics to explain the behavior of matter on the atomic scale were consistently unsuccessful.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3.2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4467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included: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Blackbody radiation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The electromagnetic radiation emitted by a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heated object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Photoelectric effect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Emission of electrons by an illuminated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3.2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4051" y="300111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GROUP VELOCITY AND PHASE VELOCITY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5081" y="1313832"/>
            <a:ext cx="11136573" cy="5539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Group velocity: </a:t>
            </a:r>
            <a:r>
              <a:rPr lang="en-US" sz="2400" dirty="0"/>
              <a:t>The velocity with which the wave packet- which is formed due to the superposition of two or more waves of slightly different wavelengths is transmitted is called as group velocity.</a:t>
            </a:r>
          </a:p>
          <a:p>
            <a:r>
              <a:rPr lang="en-US" sz="2400" dirty="0"/>
              <a:t> (OR)</a:t>
            </a:r>
          </a:p>
          <a:p>
            <a:r>
              <a:rPr lang="en-US" sz="2400" dirty="0"/>
              <a:t> It is the velocity with which resultant wave packet formed due to the superposition of two or more waves propagates.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Phase velocity: </a:t>
            </a:r>
            <a:r>
              <a:rPr lang="en-US" sz="2400" dirty="0"/>
              <a:t>If a point is imagined to marked on a traveling wave, then it becomes    a representative point for a particular phase of the wave, and the velocity with which it is transported is called phase velocity</a:t>
            </a:r>
          </a:p>
          <a:p>
            <a:r>
              <a:rPr lang="en-US" sz="2400" dirty="0"/>
              <a:t> (OR) </a:t>
            </a:r>
          </a:p>
          <a:p>
            <a:r>
              <a:rPr lang="en-US" sz="2400" dirty="0"/>
              <a:t>It is the velocity with which the individual waves forming the wave packet propagates.</a:t>
            </a:r>
          </a:p>
          <a:p>
            <a:pPr algn="ctr"/>
            <a:r>
              <a:rPr lang="en-US" sz="2400" dirty="0"/>
              <a:t>V</a:t>
            </a:r>
            <a:r>
              <a:rPr lang="en-US" sz="2400" baseline="-25000" dirty="0"/>
              <a:t>p=</a:t>
            </a:r>
            <a:r>
              <a:rPr lang="en-US" sz="2400" dirty="0"/>
              <a:t>ω/k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52BF71-3620-4116-ADB5-42F69F9FCF8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024" y="3552660"/>
            <a:ext cx="1583140" cy="6823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885568" y="0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4051" y="300111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GROUP VELOCITY AND PHASE VELOCITY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E587A-E1B5-43C6-8B81-16954336CD9D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93"/>
          <a:stretch/>
        </p:blipFill>
        <p:spPr bwMode="auto">
          <a:xfrm>
            <a:off x="1542197" y="1611239"/>
            <a:ext cx="9116704" cy="4530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473195-C3F4-4F25-ACC9-C88C812A0AEE}"/>
              </a:ext>
            </a:extLst>
          </p:cNvPr>
          <p:cNvSpPr/>
          <p:nvPr/>
        </p:nvSpPr>
        <p:spPr>
          <a:xfrm>
            <a:off x="4309368" y="6257117"/>
            <a:ext cx="2918171" cy="4643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3660" algn="ctr">
              <a:lnSpc>
                <a:spcPct val="153000"/>
              </a:lnSpc>
              <a:tabLst>
                <a:tab pos="5143500" algn="l"/>
              </a:tabLs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3.3: Wave packet[3]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2749" y="125583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42FBB-EC5F-4A90-B433-9E3081C4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54" y="392265"/>
            <a:ext cx="11047412" cy="128525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+mn-lt"/>
              </a:rPr>
              <a:t>HOW THE CONCEPT OF PHASE AND GROUP VELOCITY ARISES?</a:t>
            </a:r>
            <a:endParaRPr lang="en-US" sz="4400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C552D-E0E5-436E-9A10-9236ADDB374F}"/>
              </a:ext>
            </a:extLst>
          </p:cNvPr>
          <p:cNvSpPr/>
          <p:nvPr/>
        </p:nvSpPr>
        <p:spPr>
          <a:xfrm>
            <a:off x="839788" y="2168794"/>
            <a:ext cx="10377488" cy="3629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16560">
              <a:lnSpc>
                <a:spcPct val="107000"/>
              </a:lnSpc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According to the theory of relativity particle velocity (</a:t>
            </a:r>
            <a:r>
              <a:rPr lang="en-US" i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v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) is always less than the speed 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of light c.  As per De-Broglie concept, wave velocity must be greater than c. This is an unexpected result. According to this the de-Broglie wave associated 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with the particle would travel faster than the particle itself, thus leaving the particle far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Raavi" panose="020B0502040204020203" pitchFamily="34" charset="0"/>
              </a:rPr>
              <a:t> 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behind.</a:t>
            </a:r>
            <a:b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</a:b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The difficulty was recovered by Schrödinger by postulating that a material particle in motion is equivalent to a wave packet rather than a single wave.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41656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Wave packet comprises of a group of waves, each with slightly different velocity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457200" marR="41656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And wavelength. Such a wave packet moves with its own velocity </a:t>
            </a:r>
            <a:r>
              <a:rPr lang="en-US" i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v</a:t>
            </a:r>
            <a:r>
              <a:rPr lang="en-US" i="1" kern="18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g­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, called the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457200" marR="41656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 </a:t>
            </a:r>
            <a:r>
              <a:rPr lang="en-US" b="1" i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group velocity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41656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The individual wave forming the wave packet possesses an average velocity, </a:t>
            </a:r>
            <a:r>
              <a:rPr lang="en-US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vp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R="416560">
              <a:lnSpc>
                <a:spcPct val="107000"/>
              </a:lnSpc>
              <a:tabLst>
                <a:tab pos="6000750" algn="l"/>
              </a:tabLst>
            </a:pP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           called the </a:t>
            </a:r>
            <a:r>
              <a:rPr lang="en-US" b="1" i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phase velocity</a:t>
            </a:r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Raavi" panose="020B0502040204020203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Raavi" panose="020B0502040204020203" pitchFamily="34" charset="0"/>
            </a:endParaRPr>
          </a:p>
          <a:p>
            <a:r>
              <a:rPr lang="en-US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 </a:t>
            </a:r>
            <a:r>
              <a:rPr lang="en-US" b="1" i="1" kern="1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velocity of the material particle v is the same as group velocity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2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42FBB-EC5F-4A90-B433-9E3081C4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1125"/>
            <a:ext cx="11047412" cy="128525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+mn-lt"/>
              </a:rPr>
              <a:t>Relation Between Phase and Group velocity</a:t>
            </a:r>
            <a:br>
              <a:rPr lang="en-US" dirty="0"/>
            </a:br>
            <a:endParaRPr lang="en-US" sz="4400" dirty="0">
              <a:latin typeface="+mn-lt"/>
            </a:endParaRPr>
          </a:p>
        </p:txBody>
      </p:sp>
      <p:pic>
        <p:nvPicPr>
          <p:cNvPr id="11279" name="Picture 11278">
            <a:extLst>
              <a:ext uri="{FF2B5EF4-FFF2-40B4-BE49-F238E27FC236}">
                <a16:creationId xmlns:a16="http://schemas.microsoft.com/office/drawing/2014/main" id="{43BE0285-0005-4A3B-BECD-2570329E5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791570"/>
            <a:ext cx="10298111" cy="584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4051" y="300111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SUMMARY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27713" y="2254977"/>
            <a:ext cx="11136573" cy="2251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Group velocity corresponds to velocity of wave packet.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Wave packet consist of no. of waves.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Phase velocity corresponds to individual wave.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velocity of the material particle v is the same as group velocity.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5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2137" y="323090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FAQ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02953" y="1832212"/>
            <a:ext cx="11136573" cy="2251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Prove that </a:t>
            </a:r>
            <a:r>
              <a:rPr lang="en-US" sz="2400" dirty="0"/>
              <a:t>velocity of the material particle v is the same as group velocity.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Define phase and group velocity.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Derive relation between phase and group velocity.</a:t>
            </a:r>
            <a:endParaRPr lang="en-US" sz="2400" dirty="0"/>
          </a:p>
          <a:p>
            <a:pPr lvl="0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sper"/>
              </a:rPr>
              <a:t>[1] https://stradallc.com/2016/02/12/design-like-quantum-physics/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[2] https://en.wikipedia.org/wiki/Branches_of_physics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[3] http://www.sciencecalculators.org/optics/light/</a:t>
            </a:r>
          </a:p>
          <a:p>
            <a:pPr marL="0" indent="0">
              <a:buNone/>
            </a:pPr>
            <a:r>
              <a:rPr lang="en-US" sz="2400" dirty="0">
                <a:latin typeface="Casper"/>
              </a:rPr>
              <a:t>[4] </a:t>
            </a:r>
            <a:r>
              <a:rPr lang="en-IN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https://pediaa.com/wp-content/uploads/2016/04/Difference-Between-Phase-Velocity-and-Group-Velocity-image-11.png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latin typeface="Casper"/>
            </a:endParaRPr>
          </a:p>
          <a:p>
            <a:pPr algn="just"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17048"/>
            <a:ext cx="10515600" cy="261847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r>
              <a:rPr lang="en-IN" b="1" dirty="0"/>
              <a:t>Video link</a:t>
            </a:r>
          </a:p>
          <a:p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IN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https://www.youtube.com/watch?v=_VeTwdGZY_Y</a:t>
            </a:r>
            <a:endParaRPr lang="en-US" sz="2400" dirty="0"/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https://www.youtube.com/watch?v=tlM9vq-bepA</a:t>
            </a:r>
            <a:endParaRPr lang="en-US" sz="2400" dirty="0"/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Books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Concepts of Modern Physics, (Fifth Edition) A </a:t>
            </a:r>
            <a:r>
              <a:rPr lang="en-IN" sz="2400" dirty="0" err="1"/>
              <a:t>Beiser</a:t>
            </a:r>
            <a:r>
              <a:rPr lang="en-IN" sz="2400" dirty="0"/>
              <a:t>, McGraw Hill International.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Fundamentals of Physics, David Halliday, Robert Resnick and </a:t>
            </a:r>
            <a:r>
              <a:rPr lang="en-IN" sz="2400" dirty="0" err="1"/>
              <a:t>Jearl</a:t>
            </a:r>
            <a:r>
              <a:rPr lang="en-IN" sz="2400" dirty="0"/>
              <a:t> Walker, </a:t>
            </a:r>
            <a:r>
              <a:rPr lang="en-IN" sz="2400" dirty="0" err="1"/>
              <a:t>Wileyplus</a:t>
            </a:r>
            <a:endParaRPr lang="en-US" sz="2400" dirty="0"/>
          </a:p>
          <a:p>
            <a:pPr marL="0" indent="0">
              <a:buNone/>
            </a:pPr>
            <a:endParaRPr lang="en-US" sz="1700" dirty="0">
              <a:latin typeface="Casp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6962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6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452884" y="6168788"/>
            <a:ext cx="4217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arminder.uis@cumail.in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2611</TotalTime>
  <Words>959</Words>
  <Application>Microsoft Office PowerPoint</Application>
  <PresentationFormat>Widescreen</PresentationFormat>
  <Paragraphs>125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Casper</vt:lpstr>
      <vt:lpstr>Casper Bold</vt:lpstr>
      <vt:lpstr>Raleway ExtraBold</vt:lpstr>
      <vt:lpstr>Symbol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QUANTUM MECHANICS </vt:lpstr>
      <vt:lpstr>NEED OF QUANTUM MECHANICS </vt:lpstr>
      <vt:lpstr>NEED OF QUANTUM MECHANICS </vt:lpstr>
      <vt:lpstr>GROUP VELOCITY AND PHASE VELOCITY </vt:lpstr>
      <vt:lpstr>GROUP VELOCITY AND PHASE VELOCITY </vt:lpstr>
      <vt:lpstr>HOW THE CONCEPT OF PHASE AND GROUP VELOCITY ARISES?</vt:lpstr>
      <vt:lpstr>Relation Between Phase and Group velocity </vt:lpstr>
      <vt:lpstr>SUMMARY </vt:lpstr>
      <vt:lpstr>FAQ </vt:lpstr>
      <vt:lpstr>REFERENCES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154</cp:revision>
  <dcterms:created xsi:type="dcterms:W3CDTF">2019-01-09T10:33:58Z</dcterms:created>
  <dcterms:modified xsi:type="dcterms:W3CDTF">2023-06-15T15:53:45Z</dcterms:modified>
</cp:coreProperties>
</file>