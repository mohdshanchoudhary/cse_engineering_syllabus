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277" r:id="rId3"/>
    <p:sldId id="387" r:id="rId4"/>
    <p:sldId id="377" r:id="rId5"/>
    <p:sldId id="386" r:id="rId6"/>
    <p:sldId id="265" r:id="rId7"/>
    <p:sldId id="281" r:id="rId8"/>
    <p:sldId id="381" r:id="rId9"/>
    <p:sldId id="285" r:id="rId10"/>
    <p:sldId id="286" r:id="rId11"/>
    <p:sldId id="388" r:id="rId12"/>
    <p:sldId id="389" r:id="rId13"/>
    <p:sldId id="390" r:id="rId14"/>
    <p:sldId id="383" r:id="rId15"/>
    <p:sldId id="384" r:id="rId16"/>
    <p:sldId id="284" r:id="rId17"/>
    <p:sldId id="385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B1B3E-83FA-4658-BAF7-A1C28950C6E7}" type="doc">
      <dgm:prSet loTypeId="urn:microsoft.com/office/officeart/2005/8/layout/hList1" loCatId="list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BE1042C7-8FD8-46C3-97B2-C8F6ECCAA577}">
      <dgm:prSet phldrT="[Text]" custT="1"/>
      <dgm:spPr/>
      <dgm:t>
        <a:bodyPr/>
        <a:lstStyle/>
        <a:p>
          <a:r>
            <a:rPr lang="en-IN" sz="2400">
              <a:latin typeface="+mn-lt"/>
              <a:cs typeface="Times New Roman" panose="02020603050405020304" pitchFamily="18" charset="0"/>
            </a:rPr>
            <a:t>1</a:t>
          </a:r>
        </a:p>
      </dgm:t>
    </dgm:pt>
    <dgm:pt modelId="{621BB3EB-6CE1-4596-9775-D8E49C0230C2}" type="parTrans" cxnId="{4C6E36C8-BEEE-4A8F-98F1-8AA1658291ED}">
      <dgm:prSet/>
      <dgm:spPr/>
      <dgm:t>
        <a:bodyPr/>
        <a:lstStyle/>
        <a:p>
          <a:endParaRPr lang="en-IN"/>
        </a:p>
      </dgm:t>
    </dgm:pt>
    <dgm:pt modelId="{45BE4B48-3412-410B-B8EF-6D39A131AE80}" type="sibTrans" cxnId="{4C6E36C8-BEEE-4A8F-98F1-8AA1658291ED}">
      <dgm:prSet/>
      <dgm:spPr/>
      <dgm:t>
        <a:bodyPr/>
        <a:lstStyle/>
        <a:p>
          <a:endParaRPr lang="en-IN"/>
        </a:p>
      </dgm:t>
    </dgm:pt>
    <dgm:pt modelId="{AC6663AF-9A88-490D-853C-8120C7DBDE78}">
      <dgm:prSet phldrT="[Text]" custT="1"/>
      <dgm:spPr/>
      <dgm:t>
        <a:bodyPr/>
        <a:lstStyle/>
        <a:p>
          <a:pPr algn="just"/>
          <a:r>
            <a:rPr lang="en-IN" sz="2400" dirty="0">
              <a:latin typeface="+mn-lt"/>
              <a:cs typeface="Times New Roman" panose="02020603050405020304" pitchFamily="18" charset="0"/>
            </a:rPr>
            <a:t>Students will learn about black body radiation.</a:t>
          </a:r>
        </a:p>
      </dgm:t>
    </dgm:pt>
    <dgm:pt modelId="{420872E8-8AA2-45F6-A8E2-8BF205EB0960}" type="parTrans" cxnId="{E0ABA179-2A02-4FE6-A4AB-B4F2CCB8D5D1}">
      <dgm:prSet/>
      <dgm:spPr/>
      <dgm:t>
        <a:bodyPr/>
        <a:lstStyle/>
        <a:p>
          <a:endParaRPr lang="en-IN"/>
        </a:p>
      </dgm:t>
    </dgm:pt>
    <dgm:pt modelId="{34B7117A-1B4E-466B-8D17-59D987A33713}" type="sibTrans" cxnId="{E0ABA179-2A02-4FE6-A4AB-B4F2CCB8D5D1}">
      <dgm:prSet/>
      <dgm:spPr/>
      <dgm:t>
        <a:bodyPr/>
        <a:lstStyle/>
        <a:p>
          <a:endParaRPr lang="en-IN"/>
        </a:p>
      </dgm:t>
    </dgm:pt>
    <dgm:pt modelId="{59623D32-4D69-42DD-85CD-027389341071}">
      <dgm:prSet phldrT="[Text]" custT="1"/>
      <dgm:spPr/>
      <dgm:t>
        <a:bodyPr/>
        <a:lstStyle/>
        <a:p>
          <a:r>
            <a:rPr lang="en-IN" sz="2400" dirty="0">
              <a:latin typeface="+mn-lt"/>
              <a:cs typeface="Times New Roman" panose="02020603050405020304" pitchFamily="18" charset="0"/>
            </a:rPr>
            <a:t>2</a:t>
          </a:r>
        </a:p>
      </dgm:t>
    </dgm:pt>
    <dgm:pt modelId="{8C3CF477-F4C0-4176-95A0-1CEE433BD66D}" type="parTrans" cxnId="{FCA0DE3E-9DA7-403C-87B9-DD0CA0DE16FA}">
      <dgm:prSet/>
      <dgm:spPr/>
      <dgm:t>
        <a:bodyPr/>
        <a:lstStyle/>
        <a:p>
          <a:endParaRPr lang="en-IN"/>
        </a:p>
      </dgm:t>
    </dgm:pt>
    <dgm:pt modelId="{FF05F8A0-05D5-4BC8-84AE-11F0CDB44B6A}" type="sibTrans" cxnId="{FCA0DE3E-9DA7-403C-87B9-DD0CA0DE16FA}">
      <dgm:prSet/>
      <dgm:spPr/>
      <dgm:t>
        <a:bodyPr/>
        <a:lstStyle/>
        <a:p>
          <a:endParaRPr lang="en-IN"/>
        </a:p>
      </dgm:t>
    </dgm:pt>
    <dgm:pt modelId="{581DF355-82C3-44BD-A2B0-78187E54CCC7}">
      <dgm:prSet phldrT="[Text]" custT="1"/>
      <dgm:spPr/>
      <dgm:t>
        <a:bodyPr/>
        <a:lstStyle/>
        <a:p>
          <a:pPr algn="just"/>
          <a:r>
            <a:rPr lang="en-IN" sz="2400" dirty="0">
              <a:latin typeface="+mn-lt"/>
              <a:cs typeface="Times New Roman" panose="02020603050405020304" pitchFamily="18" charset="0"/>
            </a:rPr>
            <a:t>Students will learn about special cases with change in wavelength.</a:t>
          </a:r>
        </a:p>
      </dgm:t>
    </dgm:pt>
    <dgm:pt modelId="{2CA17078-8E69-4AD4-8CE4-9B3F8BB306DB}" type="parTrans" cxnId="{62E3F93D-8EE6-4623-B0F5-2E51672FA22E}">
      <dgm:prSet/>
      <dgm:spPr/>
      <dgm:t>
        <a:bodyPr/>
        <a:lstStyle/>
        <a:p>
          <a:endParaRPr lang="en-IN"/>
        </a:p>
      </dgm:t>
    </dgm:pt>
    <dgm:pt modelId="{601EF65E-15BB-4934-8E1E-6DEFFE1702FB}" type="sibTrans" cxnId="{62E3F93D-8EE6-4623-B0F5-2E51672FA22E}">
      <dgm:prSet/>
      <dgm:spPr/>
      <dgm:t>
        <a:bodyPr/>
        <a:lstStyle/>
        <a:p>
          <a:endParaRPr lang="en-IN"/>
        </a:p>
      </dgm:t>
    </dgm:pt>
    <dgm:pt modelId="{FA2EB051-0881-42DF-B19F-D522950734B2}">
      <dgm:prSet phldrT="[Text]" custT="1"/>
      <dgm:spPr/>
      <dgm:t>
        <a:bodyPr/>
        <a:lstStyle/>
        <a:p>
          <a:r>
            <a:rPr lang="en-IN" sz="2400" dirty="0">
              <a:latin typeface="+mn-lt"/>
              <a:cs typeface="Times New Roman" panose="02020603050405020304" pitchFamily="18" charset="0"/>
            </a:rPr>
            <a:t>3</a:t>
          </a:r>
        </a:p>
      </dgm:t>
    </dgm:pt>
    <dgm:pt modelId="{603BF450-F4E0-4CEF-9C21-27FDD0CCE880}" type="parTrans" cxnId="{DC4706BC-D4DE-4DC7-BEC1-DBC559A79182}">
      <dgm:prSet/>
      <dgm:spPr/>
      <dgm:t>
        <a:bodyPr/>
        <a:lstStyle/>
        <a:p>
          <a:endParaRPr lang="en-IN"/>
        </a:p>
      </dgm:t>
    </dgm:pt>
    <dgm:pt modelId="{E496903B-959A-4D15-8074-58AFAB6AE879}" type="sibTrans" cxnId="{DC4706BC-D4DE-4DC7-BEC1-DBC559A79182}">
      <dgm:prSet/>
      <dgm:spPr/>
      <dgm:t>
        <a:bodyPr/>
        <a:lstStyle/>
        <a:p>
          <a:endParaRPr lang="en-IN"/>
        </a:p>
      </dgm:t>
    </dgm:pt>
    <dgm:pt modelId="{A4751C2F-50DC-42B3-BE3C-66635C62DF5B}">
      <dgm:prSet phldrT="[Text]" custT="1"/>
      <dgm:spPr/>
      <dgm:t>
        <a:bodyPr/>
        <a:lstStyle/>
        <a:p>
          <a:pPr algn="just"/>
          <a:r>
            <a:rPr lang="en-IN" sz="2400" dirty="0">
              <a:latin typeface="+mn-lt"/>
              <a:cs typeface="Times New Roman" panose="02020603050405020304" pitchFamily="18" charset="0"/>
            </a:rPr>
            <a:t>In this lecture will derive the relations for Wien's law  .</a:t>
          </a:r>
        </a:p>
      </dgm:t>
    </dgm:pt>
    <dgm:pt modelId="{98A445DD-232D-43B4-996A-9AAE775AAE53}" type="parTrans" cxnId="{395ADFA3-0915-481A-A479-89176F966CC5}">
      <dgm:prSet/>
      <dgm:spPr/>
      <dgm:t>
        <a:bodyPr/>
        <a:lstStyle/>
        <a:p>
          <a:endParaRPr lang="en-IN"/>
        </a:p>
      </dgm:t>
    </dgm:pt>
    <dgm:pt modelId="{61FD9762-81CA-459F-A72F-FE38E106590B}" type="sibTrans" cxnId="{395ADFA3-0915-481A-A479-89176F966CC5}">
      <dgm:prSet/>
      <dgm:spPr/>
      <dgm:t>
        <a:bodyPr/>
        <a:lstStyle/>
        <a:p>
          <a:endParaRPr lang="en-IN"/>
        </a:p>
      </dgm:t>
    </dgm:pt>
    <dgm:pt modelId="{CD122889-8A8D-4BB0-B01E-B98ED66A22D1}" type="pres">
      <dgm:prSet presAssocID="{244B1B3E-83FA-4658-BAF7-A1C28950C6E7}" presName="Name0" presStyleCnt="0">
        <dgm:presLayoutVars>
          <dgm:dir/>
          <dgm:animLvl val="lvl"/>
          <dgm:resizeHandles val="exact"/>
        </dgm:presLayoutVars>
      </dgm:prSet>
      <dgm:spPr/>
    </dgm:pt>
    <dgm:pt modelId="{BC7B5AF7-D169-48C7-A14D-1E9FBD84314E}" type="pres">
      <dgm:prSet presAssocID="{BE1042C7-8FD8-46C3-97B2-C8F6ECCAA577}" presName="composite" presStyleCnt="0"/>
      <dgm:spPr/>
    </dgm:pt>
    <dgm:pt modelId="{823804D2-D44E-44EA-9FF5-99F97DCCD10A}" type="pres">
      <dgm:prSet presAssocID="{BE1042C7-8FD8-46C3-97B2-C8F6ECCAA57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D2EE0C5-FA31-483E-B76D-6DC608645EA8}" type="pres">
      <dgm:prSet presAssocID="{BE1042C7-8FD8-46C3-97B2-C8F6ECCAA577}" presName="desTx" presStyleLbl="alignAccFollowNode1" presStyleIdx="0" presStyleCnt="3">
        <dgm:presLayoutVars>
          <dgm:bulletEnabled val="1"/>
        </dgm:presLayoutVars>
      </dgm:prSet>
      <dgm:spPr/>
    </dgm:pt>
    <dgm:pt modelId="{855F9A90-9408-4E6B-A063-BA943B6B5E63}" type="pres">
      <dgm:prSet presAssocID="{45BE4B48-3412-410B-B8EF-6D39A131AE80}" presName="space" presStyleCnt="0"/>
      <dgm:spPr/>
    </dgm:pt>
    <dgm:pt modelId="{FDB0CFBF-8008-4E01-BBDE-DAFE38134065}" type="pres">
      <dgm:prSet presAssocID="{59623D32-4D69-42DD-85CD-027389341071}" presName="composite" presStyleCnt="0"/>
      <dgm:spPr/>
    </dgm:pt>
    <dgm:pt modelId="{C9DA09FE-968E-4451-896D-DECC9E9C2589}" type="pres">
      <dgm:prSet presAssocID="{59623D32-4D69-42DD-85CD-02738934107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F18E9830-D2CB-43E8-AB8E-05B2ABB8544E}" type="pres">
      <dgm:prSet presAssocID="{59623D32-4D69-42DD-85CD-027389341071}" presName="desTx" presStyleLbl="alignAccFollowNode1" presStyleIdx="1" presStyleCnt="3">
        <dgm:presLayoutVars>
          <dgm:bulletEnabled val="1"/>
        </dgm:presLayoutVars>
      </dgm:prSet>
      <dgm:spPr/>
    </dgm:pt>
    <dgm:pt modelId="{1413BF33-3CB5-487E-8D9C-3B128FA3A8CB}" type="pres">
      <dgm:prSet presAssocID="{FF05F8A0-05D5-4BC8-84AE-11F0CDB44B6A}" presName="space" presStyleCnt="0"/>
      <dgm:spPr/>
    </dgm:pt>
    <dgm:pt modelId="{49466710-EFDB-44BB-AF41-77A08201716E}" type="pres">
      <dgm:prSet presAssocID="{FA2EB051-0881-42DF-B19F-D522950734B2}" presName="composite" presStyleCnt="0"/>
      <dgm:spPr/>
    </dgm:pt>
    <dgm:pt modelId="{AC12C961-00F2-45E6-B9B9-7B8C991E8799}" type="pres">
      <dgm:prSet presAssocID="{FA2EB051-0881-42DF-B19F-D522950734B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7DE4BD6-AAFE-4A2D-A02B-0CA2C8D040F6}" type="pres">
      <dgm:prSet presAssocID="{FA2EB051-0881-42DF-B19F-D522950734B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EECFD32-26AB-472F-9003-49E970320073}" type="presOf" srcId="{A4751C2F-50DC-42B3-BE3C-66635C62DF5B}" destId="{67DE4BD6-AAFE-4A2D-A02B-0CA2C8D040F6}" srcOrd="0" destOrd="0" presId="urn:microsoft.com/office/officeart/2005/8/layout/hList1"/>
    <dgm:cxn modelId="{8CCE0A33-9E9D-4E94-9FE9-24A56A02ADF7}" type="presOf" srcId="{581DF355-82C3-44BD-A2B0-78187E54CCC7}" destId="{F18E9830-D2CB-43E8-AB8E-05B2ABB8544E}" srcOrd="0" destOrd="0" presId="urn:microsoft.com/office/officeart/2005/8/layout/hList1"/>
    <dgm:cxn modelId="{39FFB936-7BB6-44BD-892D-D77E39C98D99}" type="presOf" srcId="{BE1042C7-8FD8-46C3-97B2-C8F6ECCAA577}" destId="{823804D2-D44E-44EA-9FF5-99F97DCCD10A}" srcOrd="0" destOrd="0" presId="urn:microsoft.com/office/officeart/2005/8/layout/hList1"/>
    <dgm:cxn modelId="{62E3F93D-8EE6-4623-B0F5-2E51672FA22E}" srcId="{59623D32-4D69-42DD-85CD-027389341071}" destId="{581DF355-82C3-44BD-A2B0-78187E54CCC7}" srcOrd="0" destOrd="0" parTransId="{2CA17078-8E69-4AD4-8CE4-9B3F8BB306DB}" sibTransId="{601EF65E-15BB-4934-8E1E-6DEFFE1702FB}"/>
    <dgm:cxn modelId="{FCA0DE3E-9DA7-403C-87B9-DD0CA0DE16FA}" srcId="{244B1B3E-83FA-4658-BAF7-A1C28950C6E7}" destId="{59623D32-4D69-42DD-85CD-027389341071}" srcOrd="1" destOrd="0" parTransId="{8C3CF477-F4C0-4176-95A0-1CEE433BD66D}" sibTransId="{FF05F8A0-05D5-4BC8-84AE-11F0CDB44B6A}"/>
    <dgm:cxn modelId="{E0D94A5F-D235-4A27-9436-6243B9CDC53C}" type="presOf" srcId="{244B1B3E-83FA-4658-BAF7-A1C28950C6E7}" destId="{CD122889-8A8D-4BB0-B01E-B98ED66A22D1}" srcOrd="0" destOrd="0" presId="urn:microsoft.com/office/officeart/2005/8/layout/hList1"/>
    <dgm:cxn modelId="{E0ABA179-2A02-4FE6-A4AB-B4F2CCB8D5D1}" srcId="{BE1042C7-8FD8-46C3-97B2-C8F6ECCAA577}" destId="{AC6663AF-9A88-490D-853C-8120C7DBDE78}" srcOrd="0" destOrd="0" parTransId="{420872E8-8AA2-45F6-A8E2-8BF205EB0960}" sibTransId="{34B7117A-1B4E-466B-8D17-59D987A33713}"/>
    <dgm:cxn modelId="{6F646E87-6752-4F31-9C64-A5227D04454B}" type="presOf" srcId="{AC6663AF-9A88-490D-853C-8120C7DBDE78}" destId="{BD2EE0C5-FA31-483E-B76D-6DC608645EA8}" srcOrd="0" destOrd="0" presId="urn:microsoft.com/office/officeart/2005/8/layout/hList1"/>
    <dgm:cxn modelId="{395ADFA3-0915-481A-A479-89176F966CC5}" srcId="{FA2EB051-0881-42DF-B19F-D522950734B2}" destId="{A4751C2F-50DC-42B3-BE3C-66635C62DF5B}" srcOrd="0" destOrd="0" parTransId="{98A445DD-232D-43B4-996A-9AAE775AAE53}" sibTransId="{61FD9762-81CA-459F-A72F-FE38E106590B}"/>
    <dgm:cxn modelId="{DC4706BC-D4DE-4DC7-BEC1-DBC559A79182}" srcId="{244B1B3E-83FA-4658-BAF7-A1C28950C6E7}" destId="{FA2EB051-0881-42DF-B19F-D522950734B2}" srcOrd="2" destOrd="0" parTransId="{603BF450-F4E0-4CEF-9C21-27FDD0CCE880}" sibTransId="{E496903B-959A-4D15-8074-58AFAB6AE879}"/>
    <dgm:cxn modelId="{4C6E36C8-BEEE-4A8F-98F1-8AA1658291ED}" srcId="{244B1B3E-83FA-4658-BAF7-A1C28950C6E7}" destId="{BE1042C7-8FD8-46C3-97B2-C8F6ECCAA577}" srcOrd="0" destOrd="0" parTransId="{621BB3EB-6CE1-4596-9775-D8E49C0230C2}" sibTransId="{45BE4B48-3412-410B-B8EF-6D39A131AE80}"/>
    <dgm:cxn modelId="{317A8FCD-3B3E-40F4-A3D5-4110421A775C}" type="presOf" srcId="{59623D32-4D69-42DD-85CD-027389341071}" destId="{C9DA09FE-968E-4451-896D-DECC9E9C2589}" srcOrd="0" destOrd="0" presId="urn:microsoft.com/office/officeart/2005/8/layout/hList1"/>
    <dgm:cxn modelId="{C1D2F2F1-402B-4DEF-815C-31E5640FB23C}" type="presOf" srcId="{FA2EB051-0881-42DF-B19F-D522950734B2}" destId="{AC12C961-00F2-45E6-B9B9-7B8C991E8799}" srcOrd="0" destOrd="0" presId="urn:microsoft.com/office/officeart/2005/8/layout/hList1"/>
    <dgm:cxn modelId="{44EC55BC-83AF-46C1-91DE-CEFE10A8BA41}" type="presParOf" srcId="{CD122889-8A8D-4BB0-B01E-B98ED66A22D1}" destId="{BC7B5AF7-D169-48C7-A14D-1E9FBD84314E}" srcOrd="0" destOrd="0" presId="urn:microsoft.com/office/officeart/2005/8/layout/hList1"/>
    <dgm:cxn modelId="{1716C085-2511-4521-80C9-9371EACFB37B}" type="presParOf" srcId="{BC7B5AF7-D169-48C7-A14D-1E9FBD84314E}" destId="{823804D2-D44E-44EA-9FF5-99F97DCCD10A}" srcOrd="0" destOrd="0" presId="urn:microsoft.com/office/officeart/2005/8/layout/hList1"/>
    <dgm:cxn modelId="{A7BFC1A6-A3DE-4154-8BF0-CBC1C0E4410F}" type="presParOf" srcId="{BC7B5AF7-D169-48C7-A14D-1E9FBD84314E}" destId="{BD2EE0C5-FA31-483E-B76D-6DC608645EA8}" srcOrd="1" destOrd="0" presId="urn:microsoft.com/office/officeart/2005/8/layout/hList1"/>
    <dgm:cxn modelId="{820E9E05-BE33-4DD0-8AB5-D3A6FF267E29}" type="presParOf" srcId="{CD122889-8A8D-4BB0-B01E-B98ED66A22D1}" destId="{855F9A90-9408-4E6B-A063-BA943B6B5E63}" srcOrd="1" destOrd="0" presId="urn:microsoft.com/office/officeart/2005/8/layout/hList1"/>
    <dgm:cxn modelId="{164F2345-BE36-4FBD-A254-5EF6031AA25F}" type="presParOf" srcId="{CD122889-8A8D-4BB0-B01E-B98ED66A22D1}" destId="{FDB0CFBF-8008-4E01-BBDE-DAFE38134065}" srcOrd="2" destOrd="0" presId="urn:microsoft.com/office/officeart/2005/8/layout/hList1"/>
    <dgm:cxn modelId="{864951CA-E36E-40D6-84B9-0865D671F083}" type="presParOf" srcId="{FDB0CFBF-8008-4E01-BBDE-DAFE38134065}" destId="{C9DA09FE-968E-4451-896D-DECC9E9C2589}" srcOrd="0" destOrd="0" presId="urn:microsoft.com/office/officeart/2005/8/layout/hList1"/>
    <dgm:cxn modelId="{16550E85-2CF7-4F1E-B867-62E1F7627439}" type="presParOf" srcId="{FDB0CFBF-8008-4E01-BBDE-DAFE38134065}" destId="{F18E9830-D2CB-43E8-AB8E-05B2ABB8544E}" srcOrd="1" destOrd="0" presId="urn:microsoft.com/office/officeart/2005/8/layout/hList1"/>
    <dgm:cxn modelId="{20F24F72-8814-4258-8F9C-B5CAAA48F33B}" type="presParOf" srcId="{CD122889-8A8D-4BB0-B01E-B98ED66A22D1}" destId="{1413BF33-3CB5-487E-8D9C-3B128FA3A8CB}" srcOrd="3" destOrd="0" presId="urn:microsoft.com/office/officeart/2005/8/layout/hList1"/>
    <dgm:cxn modelId="{7450CC3D-D7B6-4E0C-904B-3D1ABC1DB2BE}" type="presParOf" srcId="{CD122889-8A8D-4BB0-B01E-B98ED66A22D1}" destId="{49466710-EFDB-44BB-AF41-77A08201716E}" srcOrd="4" destOrd="0" presId="urn:microsoft.com/office/officeart/2005/8/layout/hList1"/>
    <dgm:cxn modelId="{FBBCF618-8C39-4503-8F43-775A470E764B}" type="presParOf" srcId="{49466710-EFDB-44BB-AF41-77A08201716E}" destId="{AC12C961-00F2-45E6-B9B9-7B8C991E8799}" srcOrd="0" destOrd="0" presId="urn:microsoft.com/office/officeart/2005/8/layout/hList1"/>
    <dgm:cxn modelId="{A56900D1-1D1B-43B9-AE8B-B2CD8A51FD84}" type="presParOf" srcId="{49466710-EFDB-44BB-AF41-77A08201716E}" destId="{67DE4BD6-AAFE-4A2D-A02B-0CA2C8D040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3804D2-D44E-44EA-9FF5-99F97DCCD10A}">
      <dsp:nvSpPr>
        <dsp:cNvPr id="0" name=""/>
        <dsp:cNvSpPr/>
      </dsp:nvSpPr>
      <dsp:spPr>
        <a:xfrm>
          <a:off x="3015" y="248391"/>
          <a:ext cx="2939919" cy="117596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>
              <a:latin typeface="+mn-lt"/>
              <a:cs typeface="Times New Roman" panose="02020603050405020304" pitchFamily="18" charset="0"/>
            </a:rPr>
            <a:t>1</a:t>
          </a:r>
        </a:p>
      </dsp:txBody>
      <dsp:txXfrm>
        <a:off x="3015" y="248391"/>
        <a:ext cx="2939919" cy="1175967"/>
      </dsp:txXfrm>
    </dsp:sp>
    <dsp:sp modelId="{BD2EE0C5-FA31-483E-B76D-6DC608645EA8}">
      <dsp:nvSpPr>
        <dsp:cNvPr id="0" name=""/>
        <dsp:cNvSpPr/>
      </dsp:nvSpPr>
      <dsp:spPr>
        <a:xfrm>
          <a:off x="3015" y="1424358"/>
          <a:ext cx="2939919" cy="28548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Students will learn about black body radiation.</a:t>
          </a:r>
        </a:p>
      </dsp:txBody>
      <dsp:txXfrm>
        <a:off x="3015" y="1424358"/>
        <a:ext cx="2939919" cy="2854800"/>
      </dsp:txXfrm>
    </dsp:sp>
    <dsp:sp modelId="{C9DA09FE-968E-4451-896D-DECC9E9C2589}">
      <dsp:nvSpPr>
        <dsp:cNvPr id="0" name=""/>
        <dsp:cNvSpPr/>
      </dsp:nvSpPr>
      <dsp:spPr>
        <a:xfrm>
          <a:off x="3354523" y="248391"/>
          <a:ext cx="2939919" cy="1175967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2</a:t>
          </a:r>
        </a:p>
      </dsp:txBody>
      <dsp:txXfrm>
        <a:off x="3354523" y="248391"/>
        <a:ext cx="2939919" cy="1175967"/>
      </dsp:txXfrm>
    </dsp:sp>
    <dsp:sp modelId="{F18E9830-D2CB-43E8-AB8E-05B2ABB8544E}">
      <dsp:nvSpPr>
        <dsp:cNvPr id="0" name=""/>
        <dsp:cNvSpPr/>
      </dsp:nvSpPr>
      <dsp:spPr>
        <a:xfrm>
          <a:off x="3354523" y="1424358"/>
          <a:ext cx="2939919" cy="28548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Students will learn about special cases with change in wavelength.</a:t>
          </a:r>
        </a:p>
      </dsp:txBody>
      <dsp:txXfrm>
        <a:off x="3354523" y="1424358"/>
        <a:ext cx="2939919" cy="2854800"/>
      </dsp:txXfrm>
    </dsp:sp>
    <dsp:sp modelId="{AC12C961-00F2-45E6-B9B9-7B8C991E8799}">
      <dsp:nvSpPr>
        <dsp:cNvPr id="0" name=""/>
        <dsp:cNvSpPr/>
      </dsp:nvSpPr>
      <dsp:spPr>
        <a:xfrm>
          <a:off x="6706032" y="248391"/>
          <a:ext cx="2939919" cy="1175967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3</a:t>
          </a:r>
        </a:p>
      </dsp:txBody>
      <dsp:txXfrm>
        <a:off x="6706032" y="248391"/>
        <a:ext cx="2939919" cy="1175967"/>
      </dsp:txXfrm>
    </dsp:sp>
    <dsp:sp modelId="{67DE4BD6-AAFE-4A2D-A02B-0CA2C8D040F6}">
      <dsp:nvSpPr>
        <dsp:cNvPr id="0" name=""/>
        <dsp:cNvSpPr/>
      </dsp:nvSpPr>
      <dsp:spPr>
        <a:xfrm>
          <a:off x="6706032" y="1424358"/>
          <a:ext cx="2939919" cy="285480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>
              <a:latin typeface="+mn-lt"/>
              <a:cs typeface="Times New Roman" panose="02020603050405020304" pitchFamily="18" charset="0"/>
            </a:rPr>
            <a:t>In this lecture will derive the relations for Wien's law  .</a:t>
          </a:r>
        </a:p>
      </dsp:txBody>
      <dsp:txXfrm>
        <a:off x="6706032" y="1424358"/>
        <a:ext cx="2939919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-education.psu.edu/astro801/content/l3_p5.html" TargetMode="External"/><Relationship Id="rId2" Type="http://schemas.openxmlformats.org/officeDocument/2006/relationships/hyperlink" Target="https://en.wikipedia.org/wiki/Branches_of_phys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yperphysics.phyastr.gsu.edu/hbase/mod6.html" TargetMode="External"/><Relationship Id="rId4" Type="http://schemas.openxmlformats.org/officeDocument/2006/relationships/hyperlink" Target="http://hyperphysics.phy-astr.gsu.edu/hbase/wien.html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nptel.ac.in/courses/115/104/115104096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1" y="4718027"/>
            <a:ext cx="1219200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7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335292" y="5741723"/>
            <a:ext cx="4912783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3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QUANTUM MECHANICS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677949" y="1092419"/>
            <a:ext cx="8461379" cy="6915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Ms. </a:t>
            </a:r>
            <a:r>
              <a:rPr lang="en-US" sz="28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Arminder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9166" y="6356350"/>
            <a:ext cx="223234" cy="365125"/>
          </a:xfrm>
          <a:ln>
            <a:solidFill>
              <a:schemeClr val="accent1"/>
            </a:solidFill>
          </a:ln>
        </p:spPr>
        <p:txBody>
          <a:bodyPr/>
          <a:lstStyle/>
          <a:p>
            <a:fld id="{BDCDBBEF-AA6C-4BA6-85B2-A17D7F280E38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6EF3AC-12D8-4376-826F-0CDE220D0DD9}"/>
              </a:ext>
            </a:extLst>
          </p:cNvPr>
          <p:cNvSpPr txBox="1"/>
          <p:nvPr/>
        </p:nvSpPr>
        <p:spPr>
          <a:xfrm>
            <a:off x="1519707" y="200819"/>
            <a:ext cx="10062693" cy="769441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sper Bold"/>
              </a:rPr>
              <a:t>COURSE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9E0D1A-55C5-463F-89FE-BD77E41FFD1A}"/>
              </a:ext>
            </a:extLst>
          </p:cNvPr>
          <p:cNvSpPr/>
          <p:nvPr/>
        </p:nvSpPr>
        <p:spPr>
          <a:xfrm>
            <a:off x="1210092" y="1837121"/>
            <a:ext cx="10241791" cy="421423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The course is designed to make the students industry ready to contribute in the growing demand of the industry at local, national and international level.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make the students competent to understand basic concepts and applications of advanced engineering physics and apply its principles in their respective fields at global platform.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enhance the skill level of the students and shall make them preferred choice for getting employment in industry and research labs.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r>
              <a:rPr lang="en-IN" sz="2400" dirty="0">
                <a:latin typeface="Casper" panose="02000506000000020004"/>
                <a:ea typeface="Times New Roman" panose="02020603050405020304" pitchFamily="18" charset="0"/>
              </a:rPr>
              <a:t>It will give thorough knowledge of the discipline to enable students to disseminate knowledge in pursuing excellence in academic areas.</a:t>
            </a:r>
          </a:p>
          <a:p>
            <a:pPr marL="342900" marR="38100" lvl="0" indent="-342900" algn="just">
              <a:lnSpc>
                <a:spcPct val="93000"/>
              </a:lnSpc>
              <a:spcAft>
                <a:spcPts val="0"/>
              </a:spcAft>
              <a:buFont typeface="+mj-lt"/>
              <a:buAutoNum type="arabicPeriod"/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  <a:p>
            <a:pPr marR="38100" lvl="0" algn="just">
              <a:lnSpc>
                <a:spcPct val="93000"/>
              </a:lnSpc>
              <a:spcAft>
                <a:spcPts val="0"/>
              </a:spcAft>
              <a:tabLst>
                <a:tab pos="330200" algn="l"/>
              </a:tabLst>
            </a:pPr>
            <a:endParaRPr lang="en-IN" sz="2400" dirty="0">
              <a:effectLst/>
              <a:latin typeface="Casper" panose="02000506000000020004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43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96394" y="256020"/>
            <a:ext cx="850791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Casper" panose="02000506000000020004"/>
                <a:cs typeface="Times New Roman" pitchFamily="18" charset="0"/>
              </a:rPr>
              <a:t>COURSE OUTCOMES</a:t>
            </a:r>
            <a:endParaRPr lang="en-US" sz="4400" b="1" dirty="0">
              <a:latin typeface="Casper" panose="02000506000000020004"/>
            </a:endParaRPr>
          </a:p>
          <a:p>
            <a:r>
              <a:rPr lang="en-US" sz="2400" b="1" dirty="0">
                <a:latin typeface="Casper" panose="02000506000000020004"/>
              </a:rPr>
              <a:t>     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6" descr="Image result for quantum physic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323" y="1992205"/>
            <a:ext cx="5164477" cy="440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253443" y="6495532"/>
            <a:ext cx="3206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latin typeface="Casper"/>
              </a:rPr>
              <a:t>Figure 1 Quantum Theory [1]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863675"/>
              </p:ext>
            </p:extLst>
          </p:nvPr>
        </p:nvGraphicFramePr>
        <p:xfrm>
          <a:off x="177421" y="2096487"/>
          <a:ext cx="5477164" cy="4637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43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1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018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932183" y="256020"/>
            <a:ext cx="708758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/>
              <a:t>LECTURE OBJECTIVE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95992" y="75716"/>
            <a:ext cx="1115616" cy="46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7EA61EC-28E5-4DB3-AF47-2D2642F7A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8429121"/>
              </p:ext>
            </p:extLst>
          </p:nvPr>
        </p:nvGraphicFramePr>
        <p:xfrm>
          <a:off x="1310185" y="1828800"/>
          <a:ext cx="9648967" cy="4527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637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0" y="877530"/>
            <a:ext cx="1166177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  <a:t>QUANTUM MECHANICS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utoShape 2" descr="Image result for quantu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AutoShape 4" descr="Image result for quantum phys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46" name="Picture 6" descr="Image result for quantum phys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922" y="1596788"/>
            <a:ext cx="10947993" cy="455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043451" y="6324600"/>
            <a:ext cx="6264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1.1 Quantum Theory [1]</a:t>
            </a:r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33590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remained from classical mechanics that relativity didn’t explain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Attempts to apply the laws of classical physics to explain the behavior of matter on the atomic scale were consistently unsuccessful.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1.2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24256" y="376675"/>
            <a:ext cx="5063320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NEED OF QUANTUM MECHANICS</a:t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25780" y="1729804"/>
            <a:ext cx="5561795" cy="39703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Problems included: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Blackbody radiation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The electromagnetic radiation emitted by a heated object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Photoelectric effect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Emission of electrons by an illuminated metal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asper"/>
              </a:rPr>
              <a:t>Figure 1.2 Need of Quantum Theory [2]</a:t>
            </a:r>
          </a:p>
        </p:txBody>
      </p:sp>
      <p:pic>
        <p:nvPicPr>
          <p:cNvPr id="10242" name="Picture 2" descr="Image result for Use of quantum physics in other fiel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642" y="777922"/>
            <a:ext cx="4906133" cy="540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8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77339" y="305368"/>
            <a:ext cx="5432923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BLACK BODY APPROXIMATION</a:t>
            </a:r>
            <a:br>
              <a:rPr lang="en-US" sz="4400" b="1" dirty="0">
                <a:solidFill>
                  <a:srgbClr val="C00000"/>
                </a:solidFill>
                <a:latin typeface="Casper"/>
                <a:ea typeface="Karla" pitchFamily="2" charset="0"/>
                <a:cs typeface="Karla" pitchFamily="2" charset="0"/>
              </a:rPr>
            </a:b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08738" y="1146412"/>
            <a:ext cx="5253038" cy="5002615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289470" y="1836945"/>
            <a:ext cx="6096000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A good approximation of a black body is a small hole leading to the inside of hollow object.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  <a:cs typeface="Times New Roman" pitchFamily="18" charset="0"/>
              </a:rPr>
              <a:t>The hole acts as the perfect absorber</a:t>
            </a:r>
            <a:r>
              <a:rPr lang="en-US" sz="2400" dirty="0"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400" dirty="0">
                <a:cs typeface="Times New Roman" pitchFamily="18" charset="0"/>
              </a:rPr>
              <a:t>The nature of the radiation leaving the cavity through the hole depends on the temperature of the cavity walls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1.3 Blackbody radiations [3]</a:t>
            </a:r>
          </a:p>
        </p:txBody>
      </p:sp>
    </p:spTree>
    <p:extLst>
      <p:ext uri="{BB962C8B-B14F-4D97-AF65-F5344CB8AC3E}">
        <p14:creationId xmlns:p14="http://schemas.microsoft.com/office/powerpoint/2010/main" val="286174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96552" y="669483"/>
            <a:ext cx="4456567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INTENSITY OF BLACKBODY RADIATION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 descr="C:\Users\SCS\Desktop\bl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2826" y="1152492"/>
            <a:ext cx="6838950" cy="477063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5533" y="2538484"/>
            <a:ext cx="4790791" cy="33590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Blackbody radiations are explained using Planck’s Quantum theory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Intensity increases with increase in wavelength, reaches maximum value and then decreases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73504" y="6324600"/>
            <a:ext cx="44901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1.4 Black body radiations [4]</a:t>
            </a:r>
          </a:p>
        </p:txBody>
      </p:sp>
    </p:spTree>
    <p:extLst>
      <p:ext uri="{BB962C8B-B14F-4D97-AF65-F5344CB8AC3E}">
        <p14:creationId xmlns:p14="http://schemas.microsoft.com/office/powerpoint/2010/main" val="1334852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10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563717" y="-309287"/>
            <a:ext cx="7337520" cy="2529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+mn-lt"/>
                <a:cs typeface="Times New Roman" pitchFamily="18" charset="0"/>
              </a:rPr>
            </a:br>
            <a:r>
              <a:rPr lang="en-IN" sz="4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Raavi" panose="020B0502040204020203" pitchFamily="34" charset="0"/>
              </a:rPr>
              <a:t>PLANCK’S RADIATION LAW </a:t>
            </a:r>
            <a:br>
              <a:rPr lang="en-US" sz="4400" b="1" dirty="0">
                <a:solidFill>
                  <a:srgbClr val="C00000"/>
                </a:solidFill>
                <a:latin typeface="Casper"/>
                <a:ea typeface="Karla" pitchFamily="2" charset="0"/>
                <a:cs typeface="Karla" pitchFamily="2" charset="0"/>
              </a:rPr>
            </a:b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4F093-0328-45BF-8B19-901479E2A9F1}"/>
              </a:ext>
            </a:extLst>
          </p:cNvPr>
          <p:cNvSpPr txBox="1"/>
          <p:nvPr/>
        </p:nvSpPr>
        <p:spPr>
          <a:xfrm>
            <a:off x="467435" y="1037140"/>
            <a:ext cx="11530084" cy="5001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25"/>
              </a:spcBef>
              <a:spcAft>
                <a:spcPts val="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</a:rPr>
              <a:t> </a:t>
            </a:r>
          </a:p>
          <a:p>
            <a:pPr marR="570865" lvl="1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SzPts val="1100"/>
              <a:tabLst>
                <a:tab pos="525780" algn="l"/>
                <a:tab pos="526415" algn="l"/>
              </a:tabLst>
            </a:pP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The walls of the experimental black body consist of a large number of electrical oscillators and each one is vibrating with a frequency of its</a:t>
            </a:r>
            <a:r>
              <a:rPr lang="en-US" sz="2000" spc="175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own.</a:t>
            </a:r>
          </a:p>
          <a:p>
            <a:pPr marL="742950" marR="570865" lvl="1" indent="-285750" algn="just">
              <a:lnSpc>
                <a:spcPct val="150000"/>
              </a:lnSpc>
              <a:spcBef>
                <a:spcPts val="40"/>
              </a:spcBef>
              <a:spcAft>
                <a:spcPts val="0"/>
              </a:spcAft>
              <a:buSzPts val="1100"/>
              <a:buFont typeface="Symbol" panose="05050102010706020507" pitchFamily="18" charset="2"/>
              <a:buChar char=""/>
              <a:tabLst>
                <a:tab pos="525780" algn="l"/>
                <a:tab pos="526415" algn="l"/>
              </a:tabLst>
            </a:pP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An oscillator can posses only some discrete values of energy. i.e., the energy of an oscillator is an integral multiple of</a:t>
            </a:r>
            <a:r>
              <a:rPr lang="en-US" sz="2000" spc="65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hν. 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Where ‘h’ is Planck’s constant and ‘ν’ is the frequency of vibration of the oscillator.</a:t>
            </a:r>
          </a:p>
          <a:p>
            <a:pPr marL="742950" marR="579755" lvl="1" indent="-285750" algn="just">
              <a:lnSpc>
                <a:spcPct val="151000"/>
              </a:lnSpc>
              <a:spcBef>
                <a:spcPts val="25"/>
              </a:spcBef>
              <a:spcAft>
                <a:spcPts val="0"/>
              </a:spcAft>
              <a:buSzPts val="1100"/>
              <a:buFont typeface="Symbol" panose="05050102010706020507" pitchFamily="18" charset="2"/>
              <a:buChar char=""/>
              <a:tabLst>
                <a:tab pos="525780" algn="l"/>
                <a:tab pos="526415" algn="l"/>
              </a:tabLst>
            </a:pP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An oscillator may lose  or gain energy by emitting or  absorbing respectively a  radiation of frequency ‘ν’ whose value is given by  ν = ΔE/h ,  where, ΔE= (E</a:t>
            </a:r>
            <a:r>
              <a:rPr lang="en-US" sz="2000" baseline="-25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2</a:t>
            </a: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-E</a:t>
            </a:r>
            <a:r>
              <a:rPr lang="en-US" sz="2000" baseline="-25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1</a:t>
            </a: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) is  the difference in energy of the oscillator before and after the emission or absorption of the</a:t>
            </a:r>
            <a:r>
              <a:rPr lang="en-US" sz="2000" spc="15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2000" dirty="0">
                <a:effectLst/>
                <a:ea typeface="Symbol" panose="05050102010706020507" pitchFamily="18" charset="2"/>
                <a:cs typeface="Symbol" panose="05050102010706020507" pitchFamily="18" charset="2"/>
              </a:rPr>
              <a:t>radiation.</a:t>
            </a:r>
          </a:p>
          <a:p>
            <a:pPr marL="311150" marR="669925" algn="just">
              <a:lnSpc>
                <a:spcPct val="152000"/>
              </a:lnSpc>
              <a:spcBef>
                <a:spcPts val="55"/>
              </a:spcBef>
              <a:spcAft>
                <a:spcPts val="0"/>
              </a:spcAft>
            </a:pPr>
            <a:r>
              <a:rPr lang="en-US" sz="2000" dirty="0">
                <a:effectLst/>
                <a:ea typeface="Times New Roman" panose="02020603050405020304" pitchFamily="18" charset="0"/>
              </a:rPr>
              <a:t>Based on the above idea, Planck derived the  law governing the energy in entire spectrum  of the black body radiation which is given</a:t>
            </a:r>
            <a:r>
              <a:rPr lang="en-US" sz="2000" spc="115" dirty="0">
                <a:effectLst/>
                <a:ea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ea typeface="Times New Roman" panose="02020603050405020304" pitchFamily="18" charset="0"/>
              </a:rPr>
              <a:t>by,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325EB2-EF3C-4D5E-804A-54F5EE93A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619" y="5659437"/>
            <a:ext cx="3838078" cy="876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6687" y="96395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1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54531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cs typeface="Times New Roman" pitchFamily="18" charset="0"/>
              </a:rPr>
              <a:t>Wein’s Law</a:t>
            </a:r>
            <a:endParaRPr lang="en-US" sz="440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4135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2927D6-D644-4AC6-B1DA-281B02C58C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161"/>
          <a:stretch/>
        </p:blipFill>
        <p:spPr>
          <a:xfrm>
            <a:off x="1251331" y="2058750"/>
            <a:ext cx="3279726" cy="4105275"/>
          </a:xfrm>
          <a:prstGeom prst="rect">
            <a:avLst/>
          </a:prstGeom>
        </p:spPr>
      </p:pic>
      <p:pic>
        <p:nvPicPr>
          <p:cNvPr id="6" name="image33.png">
            <a:extLst>
              <a:ext uri="{FF2B5EF4-FFF2-40B4-BE49-F238E27FC236}">
                <a16:creationId xmlns:a16="http://schemas.microsoft.com/office/drawing/2014/main" id="{2030EED3-5D1F-49AD-B36B-441A688676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9785" y="1633578"/>
            <a:ext cx="5427857" cy="45304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8FC1B4-6E10-4005-802A-C0EDD5504197}"/>
              </a:ext>
            </a:extLst>
          </p:cNvPr>
          <p:cNvSpPr txBox="1"/>
          <p:nvPr/>
        </p:nvSpPr>
        <p:spPr>
          <a:xfrm>
            <a:off x="5862540" y="6155809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40"/>
              </a:spcBef>
              <a:spcAft>
                <a:spcPts val="0"/>
              </a:spcAft>
            </a:pPr>
            <a:r>
              <a:rPr lang="en-US" sz="1800" dirty="0">
                <a:effectLst/>
                <a:ea typeface="Times New Roman" panose="02020603050405020304" pitchFamily="18" charset="0"/>
              </a:rPr>
              <a:t>Figure 1.5: Variation of intensity with wavelength[5]</a:t>
            </a:r>
            <a:endParaRPr lang="en-US" sz="1600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4A722-D985-4380-97BC-522B8ED8AB4A}"/>
              </a:ext>
            </a:extLst>
          </p:cNvPr>
          <p:cNvSpPr txBox="1"/>
          <p:nvPr/>
        </p:nvSpPr>
        <p:spPr>
          <a:xfrm>
            <a:off x="864358" y="1620600"/>
            <a:ext cx="6093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For </a:t>
            </a:r>
            <a:r>
              <a:rPr lang="en-US" sz="2400" dirty="0">
                <a:ea typeface="Times New Roman" panose="02020603050405020304" pitchFamily="18" charset="0"/>
              </a:rPr>
              <a:t>Lower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Wavelength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7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366447"/>
            <a:ext cx="10515600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b="1" dirty="0">
                <a:latin typeface="+mn-lt"/>
                <a:cs typeface="Times New Roman" pitchFamily="18" charset="0"/>
              </a:rPr>
              <a:t>Rayleigh Jeans</a:t>
            </a:r>
            <a:r>
              <a:rPr lang="en-US" sz="4400" b="1" dirty="0">
                <a:latin typeface="+mn-lt"/>
                <a:cs typeface="Times New Roman" pitchFamily="18" charset="0"/>
              </a:rPr>
              <a:t> Law</a:t>
            </a:r>
            <a:endParaRPr lang="en-US" sz="440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4135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CBCEDD-2BA6-4F69-9512-7BB0F3C6BBB1}"/>
              </a:ext>
            </a:extLst>
          </p:cNvPr>
          <p:cNvSpPr txBox="1"/>
          <p:nvPr/>
        </p:nvSpPr>
        <p:spPr>
          <a:xfrm>
            <a:off x="614149" y="1204253"/>
            <a:ext cx="57993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578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For Higher Wavelength</a:t>
            </a:r>
          </a:p>
          <a:p>
            <a:pPr marL="52578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ν = c/λ is small, e</a:t>
            </a:r>
            <a:r>
              <a:rPr lang="en-US" sz="2400" baseline="30000" dirty="0">
                <a:effectLst/>
                <a:ea typeface="Times New Roman" panose="02020603050405020304" pitchFamily="18" charset="0"/>
              </a:rPr>
              <a:t>hv/kT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is also very small.</a:t>
            </a:r>
          </a:p>
          <a:p>
            <a:pPr marL="525780" marR="0" algn="just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Expanding e</a:t>
            </a:r>
            <a:r>
              <a:rPr lang="en-US" sz="2400" baseline="30000" dirty="0">
                <a:effectLst/>
                <a:ea typeface="Times New Roman" panose="02020603050405020304" pitchFamily="18" charset="0"/>
              </a:rPr>
              <a:t>hv/kT </a:t>
            </a:r>
            <a:r>
              <a:rPr lang="en-US" sz="2400" baseline="30000" dirty="0"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as power series </a:t>
            </a: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Times New Roman" panose="02020603050405020304" pitchFamily="18" charset="0"/>
            </a:endParaRP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we have,</a:t>
            </a: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e</a:t>
            </a:r>
            <a:r>
              <a:rPr lang="en-US" sz="2400" baseline="30000" dirty="0">
                <a:effectLst/>
                <a:ea typeface="Times New Roman" panose="02020603050405020304" pitchFamily="18" charset="0"/>
              </a:rPr>
              <a:t>hv/kT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=1+hv/kT</a:t>
            </a:r>
          </a:p>
          <a:p>
            <a:pPr marL="525780" marR="0" algn="just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Since 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h</a:t>
            </a:r>
            <a:r>
              <a:rPr lang="en-US" sz="24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dirty="0">
                <a:effectLst/>
                <a:ea typeface="Times New Roman" panose="02020603050405020304" pitchFamily="18" charset="0"/>
              </a:rPr>
              <a:t>/kT </a:t>
            </a:r>
            <a:r>
              <a:rPr lang="en-US" sz="2400" dirty="0">
                <a:effectLst/>
                <a:ea typeface="Times New Roman" panose="02020603050405020304" pitchFamily="18" charset="0"/>
              </a:rPr>
              <a:t>is very small we can neglect its higher power terms</a:t>
            </a: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525780" marR="0" algn="just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Times New Roman" panose="02020603050405020304" pitchFamily="18" charset="0"/>
              </a:rPr>
              <a:t>e</a:t>
            </a:r>
            <a:r>
              <a:rPr lang="en-US" sz="2400" baseline="30000" dirty="0">
                <a:effectLst/>
                <a:ea typeface="Times New Roman" panose="02020603050405020304" pitchFamily="18" charset="0"/>
              </a:rPr>
              <a:t>hv/kT</a:t>
            </a:r>
            <a:r>
              <a:rPr lang="en-US" sz="2400" dirty="0">
                <a:ea typeface="Times New Roman" panose="02020603050405020304" pitchFamily="18" charset="0"/>
              </a:rPr>
              <a:t>-1=hv/kT</a:t>
            </a:r>
            <a:endParaRPr lang="en-US" sz="2400" dirty="0">
              <a:effectLst/>
              <a:ea typeface="Times New Roman" panose="02020603050405020304" pitchFamily="18" charset="0"/>
            </a:endParaRPr>
          </a:p>
          <a:p>
            <a:pPr marL="52578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DA639-A52F-4820-BB87-0989B442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34" y="4503761"/>
            <a:ext cx="5086066" cy="204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9EC01B-B230-46B0-A091-5F565AA370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164" y="1351128"/>
            <a:ext cx="4734636" cy="46948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580C4CD-743A-4285-9908-3AFF7D722730}"/>
              </a:ext>
            </a:extLst>
          </p:cNvPr>
          <p:cNvSpPr txBox="1"/>
          <p:nvPr/>
        </p:nvSpPr>
        <p:spPr>
          <a:xfrm>
            <a:off x="6491785" y="6180967"/>
            <a:ext cx="609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Raavi" panose="020B0502040204020203" pitchFamily="34" charset="0"/>
              </a:rPr>
              <a:t>Figure 1.6: Rayleigh Jeans’ law for higher wavelength[6]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838200" y="-11377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36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34051" y="300111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SUMMARY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930558" y="2798827"/>
            <a:ext cx="11136573" cy="1260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Planck assumed energy in quantised manner.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Wein’s law is applicable for short wavelength.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"/>
            </a:pP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Rayleigh’s Jeans is applicable for higher wavelength.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5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2137" y="323090"/>
            <a:ext cx="11427725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+mn-lt"/>
                <a:ea typeface="Karla" pitchFamily="2" charset="0"/>
                <a:cs typeface="Times New Roman" pitchFamily="18" charset="0"/>
              </a:rPr>
              <a:t>FAQ</a:t>
            </a:r>
            <a:br>
              <a:rPr lang="en-US" sz="4400" b="1" dirty="0">
                <a:latin typeface="+mn-lt"/>
                <a:ea typeface="Karla" pitchFamily="2" charset="0"/>
                <a:cs typeface="Karla" pitchFamily="2" charset="0"/>
              </a:rPr>
            </a:br>
            <a:endParaRPr lang="en-US" sz="4400" dirty="0">
              <a:latin typeface="+mn-l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02953" y="1832212"/>
            <a:ext cx="11136573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400" dirty="0">
                <a:ea typeface="Calibri" panose="020F0502020204030204" pitchFamily="34" charset="0"/>
                <a:cs typeface="Raavi" panose="020B0502040204020203" pitchFamily="34" charset="0"/>
              </a:rPr>
              <a:t>Explain</a:t>
            </a: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  black body.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400" dirty="0">
                <a:ea typeface="Calibri" panose="020F0502020204030204" pitchFamily="34" charset="0"/>
                <a:cs typeface="Raavi" panose="020B0502040204020203" pitchFamily="34" charset="0"/>
              </a:rPr>
              <a:t>Tabulate</a:t>
            </a: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 the assumptions of Planck’s Law of Radiation.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0" lvl="0" indent="-34290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Draw the graph for Rayleigh’s Jeans law.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[1] https://stradallc.com/2016/02/12/design-like-quantum-physics/</a:t>
            </a:r>
          </a:p>
          <a:p>
            <a:pPr marL="0" indent="0">
              <a:buNone/>
            </a:pPr>
            <a:r>
              <a:rPr lang="en-US" sz="2400" dirty="0"/>
              <a:t>[2]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https://en.wikipedia.org/wiki/Branches_of_physics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[3] </a:t>
            </a:r>
            <a:r>
              <a:rPr lang="en-IN" sz="2400" dirty="0"/>
              <a:t>https://in.pinterest.com/pin/459085755746609196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[4] </a:t>
            </a:r>
            <a:r>
              <a:rPr lang="en-IN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https://www.e-education.psu.edu/astro801/content/l3_p5.html</a:t>
            </a:r>
            <a:endParaRPr lang="en-IN" sz="2400" dirty="0"/>
          </a:p>
          <a:p>
            <a:pPr marL="0" marR="0" lv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u="sng" dirty="0">
                <a:ea typeface="Calibri" panose="020F0502020204030204" pitchFamily="34" charset="0"/>
                <a:cs typeface="Raav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http://hyperphysics.phy-astr.gsu.edu/hbase/wien.html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0" marR="738505" lvl="0" indent="0">
              <a:lnSpc>
                <a:spcPct val="107000"/>
              </a:lnSpc>
              <a:spcBef>
                <a:spcPts val="475"/>
              </a:spcBef>
              <a:spcAft>
                <a:spcPts val="800"/>
              </a:spcAft>
              <a:buNone/>
            </a:pPr>
            <a:r>
              <a:rPr lang="en-IN" sz="2400" u="sng" dirty="0">
                <a:effectLst/>
                <a:ea typeface="Calibri" panose="020F0502020204030204" pitchFamily="34" charset="0"/>
                <a:cs typeface="Raav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http://hyperphysics.phyastr.gsu.edu/hbase/mod6.html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algn="just">
              <a:buNone/>
              <a:defRPr/>
            </a:pPr>
            <a:endParaRPr lang="en-IN" sz="2400" b="1" dirty="0"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694901"/>
          </a:xfrm>
        </p:spPr>
        <p:txBody>
          <a:bodyPr>
            <a:normAutofit/>
          </a:bodyPr>
          <a:lstStyle/>
          <a:p>
            <a:r>
              <a:rPr lang="en-IN" sz="2400" b="1" dirty="0"/>
              <a:t>Video link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400" u="sng" dirty="0">
                <a:effectLst/>
                <a:ea typeface="Calibri" panose="020F0502020204030204" pitchFamily="34" charset="0"/>
                <a:cs typeface="Raav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https://nptel.ac.in/courses/115/104/115104096/</a:t>
            </a:r>
            <a:endParaRPr lang="en-US" sz="2400" dirty="0">
              <a:effectLst/>
              <a:ea typeface="Calibri" panose="020F0502020204030204" pitchFamily="34" charset="0"/>
              <a:cs typeface="Raavi" panose="020B0502040204020203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N" sz="2400" dirty="0">
                <a:effectLst/>
                <a:ea typeface="Calibri" panose="020F0502020204030204" pitchFamily="34" charset="0"/>
                <a:cs typeface="Raavi" panose="020B0502040204020203" pitchFamily="34" charset="0"/>
              </a:rPr>
              <a:t>https://www.youtube.com/watch?v=yVN09TdSHHg</a:t>
            </a:r>
            <a:endParaRPr lang="en-IN" sz="2400" b="1" dirty="0"/>
          </a:p>
          <a:p>
            <a:r>
              <a:rPr lang="en-IN" sz="2400" b="1" dirty="0"/>
              <a:t>Books</a:t>
            </a:r>
            <a:endParaRPr lang="en-US" sz="2400" dirty="0"/>
          </a:p>
          <a:p>
            <a:pPr marL="514350" lvl="0" indent="-514350">
              <a:buFont typeface="+mj-lt"/>
              <a:buAutoNum type="arabicPeriod"/>
            </a:pPr>
            <a:r>
              <a:rPr lang="en-IN" sz="2400" dirty="0"/>
              <a:t>Concepts of Modern Physics, (Fifth Edition) A </a:t>
            </a:r>
            <a:r>
              <a:rPr lang="en-IN" sz="2400" dirty="0" err="1"/>
              <a:t>Beiser</a:t>
            </a:r>
            <a:r>
              <a:rPr lang="en-IN" sz="2400" dirty="0"/>
              <a:t>, McGraw Hill International.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Fundamentals of Physics, David Halliday, Robert Resnick and </a:t>
            </a:r>
            <a:r>
              <a:rPr lang="en-IN" sz="2400" dirty="0" err="1"/>
              <a:t>Jearl</a:t>
            </a:r>
            <a:r>
              <a:rPr lang="en-IN" sz="2400" dirty="0"/>
              <a:t> Walker, </a:t>
            </a:r>
            <a:r>
              <a:rPr lang="en-IN" sz="2400" dirty="0" err="1"/>
              <a:t>Wileyplus</a:t>
            </a:r>
            <a:endParaRPr lang="en-US" sz="2400" dirty="0"/>
          </a:p>
          <a:p>
            <a:pPr marL="0" indent="0">
              <a:buNone/>
            </a:pPr>
            <a:endParaRPr lang="en-US" sz="1700" dirty="0">
              <a:latin typeface="Casper"/>
            </a:endParaRPr>
          </a:p>
          <a:p>
            <a:pPr algn="just">
              <a:buNone/>
              <a:defRPr/>
            </a:pP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50546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6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lum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3452884" y="6168788"/>
            <a:ext cx="4217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arminder.uis@cumail.in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1460</TotalTime>
  <Words>998</Words>
  <Application>Microsoft Office PowerPoint</Application>
  <PresentationFormat>Widescreen</PresentationFormat>
  <Paragraphs>140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Casper</vt:lpstr>
      <vt:lpstr>Casper Bold</vt:lpstr>
      <vt:lpstr>Raleway ExtraBold</vt:lpstr>
      <vt:lpstr>Symbol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PowerPoint Presentation</vt:lpstr>
      <vt:lpstr>PowerPoint Presentation</vt:lpstr>
      <vt:lpstr>QUANTUM MECHANICS </vt:lpstr>
      <vt:lpstr>NEED OF QUANTUM MECHANICS </vt:lpstr>
      <vt:lpstr>NEED OF QUANTUM MECHANICS </vt:lpstr>
      <vt:lpstr>BLACK BODY APPROXIMATION  </vt:lpstr>
      <vt:lpstr>INTENSITY OF BLACKBODY RADIATION </vt:lpstr>
      <vt:lpstr> PLANCK’S RADIATION LAW   </vt:lpstr>
      <vt:lpstr>Wein’s Law</vt:lpstr>
      <vt:lpstr>Rayleigh Jeans Law</vt:lpstr>
      <vt:lpstr>SUMMARY </vt:lpstr>
      <vt:lpstr>FAQ </vt:lpstr>
      <vt:lpstr>REFERENCES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159</cp:revision>
  <dcterms:created xsi:type="dcterms:W3CDTF">2019-01-09T10:33:58Z</dcterms:created>
  <dcterms:modified xsi:type="dcterms:W3CDTF">2023-06-15T15:50:52Z</dcterms:modified>
</cp:coreProperties>
</file>