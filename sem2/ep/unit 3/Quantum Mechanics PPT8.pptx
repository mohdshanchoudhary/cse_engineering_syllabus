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4" r:id="rId1"/>
    <p:sldMasterId id="2147483686" r:id="rId2"/>
  </p:sldMasterIdLst>
  <p:notesMasterIdLst>
    <p:notesMasterId r:id="rId34"/>
  </p:notesMasterIdLst>
  <p:handoutMasterIdLst>
    <p:handoutMasterId r:id="rId35"/>
  </p:handoutMasterIdLst>
  <p:sldIdLst>
    <p:sldId id="277" r:id="rId3"/>
    <p:sldId id="496" r:id="rId4"/>
    <p:sldId id="377" r:id="rId5"/>
    <p:sldId id="259" r:id="rId6"/>
    <p:sldId id="323" r:id="rId7"/>
    <p:sldId id="280" r:id="rId8"/>
    <p:sldId id="475" r:id="rId9"/>
    <p:sldId id="476" r:id="rId10"/>
    <p:sldId id="477" r:id="rId11"/>
    <p:sldId id="478" r:id="rId12"/>
    <p:sldId id="479" r:id="rId13"/>
    <p:sldId id="480" r:id="rId14"/>
    <p:sldId id="481" r:id="rId15"/>
    <p:sldId id="482" r:id="rId16"/>
    <p:sldId id="483" r:id="rId17"/>
    <p:sldId id="484" r:id="rId18"/>
    <p:sldId id="485" r:id="rId19"/>
    <p:sldId id="486" r:id="rId20"/>
    <p:sldId id="492" r:id="rId21"/>
    <p:sldId id="489" r:id="rId22"/>
    <p:sldId id="490" r:id="rId23"/>
    <p:sldId id="491" r:id="rId24"/>
    <p:sldId id="488" r:id="rId25"/>
    <p:sldId id="493" r:id="rId26"/>
    <p:sldId id="494" r:id="rId27"/>
    <p:sldId id="300" r:id="rId28"/>
    <p:sldId id="284" r:id="rId29"/>
    <p:sldId id="322" r:id="rId30"/>
    <p:sldId id="285" r:id="rId31"/>
    <p:sldId id="495" r:id="rId32"/>
    <p:sldId id="27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minder kaur" initials="ak" lastIdx="1" clrIdx="0">
    <p:extLst>
      <p:ext uri="{19B8F6BF-5375-455C-9EA6-DF929625EA0E}">
        <p15:presenceInfo xmlns:p15="http://schemas.microsoft.com/office/powerpoint/2012/main" userId="a22e12bbabfcdae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92449" autoAdjust="0"/>
  </p:normalViewPr>
  <p:slideViewPr>
    <p:cSldViewPr snapToGrid="0">
      <p:cViewPr varScale="1">
        <p:scale>
          <a:sx n="61" d="100"/>
          <a:sy n="61" d="100"/>
        </p:scale>
        <p:origin x="864"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 Id="rId8" Type="http://schemas.openxmlformats.org/officeDocument/2006/relationships/slide" Target="slides/slide6.xml"/><Relationship Id="rId3" Type="http://schemas.openxmlformats.org/officeDocument/2006/relationships/slide" Target="slides/slide1.xml"/></Relationships>
</file>

<file path=ppt/diagrams/_rels/data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image" Target="../media/image10.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image" Target="../media/image10.jpe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1C9E00-C35F-4852-81DC-62A20454CD52}"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IN"/>
        </a:p>
      </dgm:t>
    </dgm:pt>
    <dgm:pt modelId="{3555F372-BF6E-4D70-B96A-A8F57E387DC4}">
      <dgm:prSet phldrT="[Text]" custT="1"/>
      <dgm:spPr/>
      <dgm:t>
        <a:bodyPr/>
        <a:lstStyle/>
        <a:p>
          <a:pPr algn="l"/>
          <a:r>
            <a:rPr lang="en-IN" sz="2400" b="1" dirty="0">
              <a:latin typeface="Casper" panose="02000506000000020004"/>
            </a:rPr>
            <a:t>UNIT -3</a:t>
          </a:r>
        </a:p>
      </dgm:t>
    </dgm:pt>
    <dgm:pt modelId="{87CF7B05-C9EF-4245-8587-08783C85F0D4}" type="parTrans" cxnId="{A72D103D-5B1D-47E8-AA83-427D561C0341}">
      <dgm:prSet/>
      <dgm:spPr/>
      <dgm:t>
        <a:bodyPr/>
        <a:lstStyle/>
        <a:p>
          <a:endParaRPr lang="en-IN"/>
        </a:p>
      </dgm:t>
    </dgm:pt>
    <dgm:pt modelId="{60E1D986-97C4-48A2-9E05-F970597D8BA9}" type="sibTrans" cxnId="{A72D103D-5B1D-47E8-AA83-427D561C0341}">
      <dgm:prSet/>
      <dgm:spPr/>
      <dgm:t>
        <a:bodyPr/>
        <a:lstStyle/>
        <a:p>
          <a:endParaRPr lang="en-IN"/>
        </a:p>
      </dgm:t>
    </dgm:pt>
    <dgm:pt modelId="{A5AFC7F1-8BB0-41D1-813B-609A60DF9870}">
      <dgm:prSet phldrT="[Text]" custT="1"/>
      <dgm:spPr/>
      <dgm:t>
        <a:bodyPr/>
        <a:lstStyle/>
        <a:p>
          <a:pPr algn="ctr"/>
          <a:r>
            <a:rPr lang="en-IN" sz="2400" b="1" dirty="0">
              <a:latin typeface="Casper" panose="02000506000000020004"/>
            </a:rPr>
            <a:t>QUANTUM MECHANICS</a:t>
          </a:r>
        </a:p>
      </dgm:t>
    </dgm:pt>
    <dgm:pt modelId="{F7C134EE-B2C0-4130-BA90-CDA40B415D71}" type="parTrans" cxnId="{C5BCE058-81D0-409F-8262-237B13CB9B61}">
      <dgm:prSet/>
      <dgm:spPr/>
      <dgm:t>
        <a:bodyPr/>
        <a:lstStyle/>
        <a:p>
          <a:endParaRPr lang="en-IN"/>
        </a:p>
      </dgm:t>
    </dgm:pt>
    <dgm:pt modelId="{FBD71D7E-440B-4C5E-A033-32AEEFCA543C}" type="sibTrans" cxnId="{C5BCE058-81D0-409F-8262-237B13CB9B61}">
      <dgm:prSet/>
      <dgm:spPr/>
      <dgm:t>
        <a:bodyPr/>
        <a:lstStyle/>
        <a:p>
          <a:endParaRPr lang="en-IN"/>
        </a:p>
      </dgm:t>
    </dgm:pt>
    <dgm:pt modelId="{32F0F454-A9E7-47F9-ADF2-020F37E6AB10}">
      <dgm:prSet phldrT="[Text]" custT="1"/>
      <dgm:spPr/>
      <dgm:t>
        <a:bodyPr/>
        <a:lstStyle/>
        <a:p>
          <a:r>
            <a:rPr lang="en-IN" sz="2400" b="1" dirty="0">
              <a:solidFill>
                <a:schemeClr val="bg1"/>
              </a:solidFill>
              <a:latin typeface="Casper" panose="02000506000000020004"/>
            </a:rPr>
            <a:t> FREE PARTICLE ENERGY, PARTICLE IN A BOX 1-D</a:t>
          </a:r>
        </a:p>
      </dgm:t>
    </dgm:pt>
    <dgm:pt modelId="{B409CC0C-A15A-4786-9FE9-8EBE4D57E1AB}" type="parTrans" cxnId="{9368DE8C-0351-4ACE-964E-3C5D2BE227C0}">
      <dgm:prSet/>
      <dgm:spPr/>
      <dgm:t>
        <a:bodyPr/>
        <a:lstStyle/>
        <a:p>
          <a:endParaRPr lang="en-IN"/>
        </a:p>
      </dgm:t>
    </dgm:pt>
    <dgm:pt modelId="{243E4063-E6E3-4D9A-89F4-C3F0C1DF317A}" type="sibTrans" cxnId="{9368DE8C-0351-4ACE-964E-3C5D2BE227C0}">
      <dgm:prSet/>
      <dgm:spPr/>
      <dgm:t>
        <a:bodyPr/>
        <a:lstStyle/>
        <a:p>
          <a:endParaRPr lang="en-IN"/>
        </a:p>
      </dgm:t>
    </dgm:pt>
    <dgm:pt modelId="{CBBA9C70-17D2-4EFC-B304-8779191443C8}" type="pres">
      <dgm:prSet presAssocID="{8D1C9E00-C35F-4852-81DC-62A20454CD52}" presName="outerComposite" presStyleCnt="0">
        <dgm:presLayoutVars>
          <dgm:chMax val="5"/>
          <dgm:dir/>
          <dgm:resizeHandles val="exact"/>
        </dgm:presLayoutVars>
      </dgm:prSet>
      <dgm:spPr/>
    </dgm:pt>
    <dgm:pt modelId="{A3562FE8-1956-4904-8AC6-59C167BC5837}" type="pres">
      <dgm:prSet presAssocID="{8D1C9E00-C35F-4852-81DC-62A20454CD52}" presName="dummyMaxCanvas" presStyleCnt="0">
        <dgm:presLayoutVars/>
      </dgm:prSet>
      <dgm:spPr/>
    </dgm:pt>
    <dgm:pt modelId="{6F0B5599-AB67-4D7B-810B-7A3D73FBC18E}" type="pres">
      <dgm:prSet presAssocID="{8D1C9E00-C35F-4852-81DC-62A20454CD52}" presName="ThreeNodes_1" presStyleLbl="node1" presStyleIdx="0" presStyleCnt="3" custScaleY="97577">
        <dgm:presLayoutVars>
          <dgm:bulletEnabled val="1"/>
        </dgm:presLayoutVars>
      </dgm:prSet>
      <dgm:spPr/>
    </dgm:pt>
    <dgm:pt modelId="{1391C7A5-C46A-46EF-B914-27DF644706EC}" type="pres">
      <dgm:prSet presAssocID="{8D1C9E00-C35F-4852-81DC-62A20454CD52}" presName="ThreeNodes_2" presStyleLbl="node1" presStyleIdx="1" presStyleCnt="3">
        <dgm:presLayoutVars>
          <dgm:bulletEnabled val="1"/>
        </dgm:presLayoutVars>
      </dgm:prSet>
      <dgm:spPr/>
    </dgm:pt>
    <dgm:pt modelId="{DF9F8172-1EEF-4814-96D1-8216E1DFE46F}" type="pres">
      <dgm:prSet presAssocID="{8D1C9E00-C35F-4852-81DC-62A20454CD52}" presName="ThreeNodes_3" presStyleLbl="node1" presStyleIdx="2" presStyleCnt="3">
        <dgm:presLayoutVars>
          <dgm:bulletEnabled val="1"/>
        </dgm:presLayoutVars>
      </dgm:prSet>
      <dgm:spPr/>
    </dgm:pt>
    <dgm:pt modelId="{E01B2225-1D38-4B75-AC30-F8B8E757FD86}" type="pres">
      <dgm:prSet presAssocID="{8D1C9E00-C35F-4852-81DC-62A20454CD52}" presName="ThreeConn_1-2" presStyleLbl="fgAccFollowNode1" presStyleIdx="0" presStyleCnt="2">
        <dgm:presLayoutVars>
          <dgm:bulletEnabled val="1"/>
        </dgm:presLayoutVars>
      </dgm:prSet>
      <dgm:spPr/>
    </dgm:pt>
    <dgm:pt modelId="{CE1FCC98-BB05-4596-8BA6-108808B2BF9E}" type="pres">
      <dgm:prSet presAssocID="{8D1C9E00-C35F-4852-81DC-62A20454CD52}" presName="ThreeConn_2-3" presStyleLbl="fgAccFollowNode1" presStyleIdx="1" presStyleCnt="2">
        <dgm:presLayoutVars>
          <dgm:bulletEnabled val="1"/>
        </dgm:presLayoutVars>
      </dgm:prSet>
      <dgm:spPr/>
    </dgm:pt>
    <dgm:pt modelId="{1EBCA9A3-CABD-4CF9-9888-3F4F1A072B0A}" type="pres">
      <dgm:prSet presAssocID="{8D1C9E00-C35F-4852-81DC-62A20454CD52}" presName="ThreeNodes_1_text" presStyleLbl="node1" presStyleIdx="2" presStyleCnt="3">
        <dgm:presLayoutVars>
          <dgm:bulletEnabled val="1"/>
        </dgm:presLayoutVars>
      </dgm:prSet>
      <dgm:spPr/>
    </dgm:pt>
    <dgm:pt modelId="{0CF87D2F-3834-4D7D-A636-8BEC604B80C3}" type="pres">
      <dgm:prSet presAssocID="{8D1C9E00-C35F-4852-81DC-62A20454CD52}" presName="ThreeNodes_2_text" presStyleLbl="node1" presStyleIdx="2" presStyleCnt="3">
        <dgm:presLayoutVars>
          <dgm:bulletEnabled val="1"/>
        </dgm:presLayoutVars>
      </dgm:prSet>
      <dgm:spPr/>
    </dgm:pt>
    <dgm:pt modelId="{78686C5B-42CA-4CAB-8AC3-DAAA18BE2550}" type="pres">
      <dgm:prSet presAssocID="{8D1C9E00-C35F-4852-81DC-62A20454CD52}" presName="ThreeNodes_3_text" presStyleLbl="node1" presStyleIdx="2" presStyleCnt="3">
        <dgm:presLayoutVars>
          <dgm:bulletEnabled val="1"/>
        </dgm:presLayoutVars>
      </dgm:prSet>
      <dgm:spPr/>
    </dgm:pt>
  </dgm:ptLst>
  <dgm:cxnLst>
    <dgm:cxn modelId="{5EFE4530-DFBE-4826-BA03-B5C3D49E817E}" type="presOf" srcId="{60E1D986-97C4-48A2-9E05-F970597D8BA9}" destId="{E01B2225-1D38-4B75-AC30-F8B8E757FD86}" srcOrd="0" destOrd="0" presId="urn:microsoft.com/office/officeart/2005/8/layout/vProcess5"/>
    <dgm:cxn modelId="{A72D103D-5B1D-47E8-AA83-427D561C0341}" srcId="{8D1C9E00-C35F-4852-81DC-62A20454CD52}" destId="{3555F372-BF6E-4D70-B96A-A8F57E387DC4}" srcOrd="0" destOrd="0" parTransId="{87CF7B05-C9EF-4245-8587-08783C85F0D4}" sibTransId="{60E1D986-97C4-48A2-9E05-F970597D8BA9}"/>
    <dgm:cxn modelId="{E0690F60-FC06-4F38-9B39-68A9FDC01A37}" type="presOf" srcId="{FBD71D7E-440B-4C5E-A033-32AEEFCA543C}" destId="{CE1FCC98-BB05-4596-8BA6-108808B2BF9E}" srcOrd="0" destOrd="0" presId="urn:microsoft.com/office/officeart/2005/8/layout/vProcess5"/>
    <dgm:cxn modelId="{80590B62-9BB2-4668-A964-9A9843404260}" type="presOf" srcId="{3555F372-BF6E-4D70-B96A-A8F57E387DC4}" destId="{6F0B5599-AB67-4D7B-810B-7A3D73FBC18E}" srcOrd="0" destOrd="0" presId="urn:microsoft.com/office/officeart/2005/8/layout/vProcess5"/>
    <dgm:cxn modelId="{8948D16A-390A-4B35-AB7E-5227692E1039}" type="presOf" srcId="{A5AFC7F1-8BB0-41D1-813B-609A60DF9870}" destId="{0CF87D2F-3834-4D7D-A636-8BEC604B80C3}" srcOrd="1" destOrd="0" presId="urn:microsoft.com/office/officeart/2005/8/layout/vProcess5"/>
    <dgm:cxn modelId="{C5BCE058-81D0-409F-8262-237B13CB9B61}" srcId="{8D1C9E00-C35F-4852-81DC-62A20454CD52}" destId="{A5AFC7F1-8BB0-41D1-813B-609A60DF9870}" srcOrd="1" destOrd="0" parTransId="{F7C134EE-B2C0-4130-BA90-CDA40B415D71}" sibTransId="{FBD71D7E-440B-4C5E-A033-32AEEFCA543C}"/>
    <dgm:cxn modelId="{00156680-DD5D-4115-BB33-B5BB40703751}" type="presOf" srcId="{A5AFC7F1-8BB0-41D1-813B-609A60DF9870}" destId="{1391C7A5-C46A-46EF-B914-27DF644706EC}" srcOrd="0" destOrd="0" presId="urn:microsoft.com/office/officeart/2005/8/layout/vProcess5"/>
    <dgm:cxn modelId="{9368DE8C-0351-4ACE-964E-3C5D2BE227C0}" srcId="{8D1C9E00-C35F-4852-81DC-62A20454CD52}" destId="{32F0F454-A9E7-47F9-ADF2-020F37E6AB10}" srcOrd="2" destOrd="0" parTransId="{B409CC0C-A15A-4786-9FE9-8EBE4D57E1AB}" sibTransId="{243E4063-E6E3-4D9A-89F4-C3F0C1DF317A}"/>
    <dgm:cxn modelId="{975A738F-DDC4-4EBB-BD27-2C08D86ADE8B}" type="presOf" srcId="{3555F372-BF6E-4D70-B96A-A8F57E387DC4}" destId="{1EBCA9A3-CABD-4CF9-9888-3F4F1A072B0A}" srcOrd="1" destOrd="0" presId="urn:microsoft.com/office/officeart/2005/8/layout/vProcess5"/>
    <dgm:cxn modelId="{6D27758F-C5E3-41EE-9B94-47246F6B5075}" type="presOf" srcId="{8D1C9E00-C35F-4852-81DC-62A20454CD52}" destId="{CBBA9C70-17D2-4EFC-B304-8779191443C8}" srcOrd="0" destOrd="0" presId="urn:microsoft.com/office/officeart/2005/8/layout/vProcess5"/>
    <dgm:cxn modelId="{FFAA63EC-AFBB-4A44-8764-ECE64292B7CD}" type="presOf" srcId="{32F0F454-A9E7-47F9-ADF2-020F37E6AB10}" destId="{DF9F8172-1EEF-4814-96D1-8216E1DFE46F}" srcOrd="0" destOrd="0" presId="urn:microsoft.com/office/officeart/2005/8/layout/vProcess5"/>
    <dgm:cxn modelId="{180A55F7-AF82-4A67-BBDE-AE222C167AF4}" type="presOf" srcId="{32F0F454-A9E7-47F9-ADF2-020F37E6AB10}" destId="{78686C5B-42CA-4CAB-8AC3-DAAA18BE2550}" srcOrd="1" destOrd="0" presId="urn:microsoft.com/office/officeart/2005/8/layout/vProcess5"/>
    <dgm:cxn modelId="{322FC717-B10D-4814-AE37-BD62EF6ACD2F}" type="presParOf" srcId="{CBBA9C70-17D2-4EFC-B304-8779191443C8}" destId="{A3562FE8-1956-4904-8AC6-59C167BC5837}" srcOrd="0" destOrd="0" presId="urn:microsoft.com/office/officeart/2005/8/layout/vProcess5"/>
    <dgm:cxn modelId="{309272FF-CA42-4829-A557-150AE4854BDC}" type="presParOf" srcId="{CBBA9C70-17D2-4EFC-B304-8779191443C8}" destId="{6F0B5599-AB67-4D7B-810B-7A3D73FBC18E}" srcOrd="1" destOrd="0" presId="urn:microsoft.com/office/officeart/2005/8/layout/vProcess5"/>
    <dgm:cxn modelId="{F40A3C29-8B85-46A4-A236-B9FA460B0CC4}" type="presParOf" srcId="{CBBA9C70-17D2-4EFC-B304-8779191443C8}" destId="{1391C7A5-C46A-46EF-B914-27DF644706EC}" srcOrd="2" destOrd="0" presId="urn:microsoft.com/office/officeart/2005/8/layout/vProcess5"/>
    <dgm:cxn modelId="{553A314B-734E-45A7-AA34-DF9EE4519373}" type="presParOf" srcId="{CBBA9C70-17D2-4EFC-B304-8779191443C8}" destId="{DF9F8172-1EEF-4814-96D1-8216E1DFE46F}" srcOrd="3" destOrd="0" presId="urn:microsoft.com/office/officeart/2005/8/layout/vProcess5"/>
    <dgm:cxn modelId="{D0B00776-35E5-4F5C-B301-E39E383374D9}" type="presParOf" srcId="{CBBA9C70-17D2-4EFC-B304-8779191443C8}" destId="{E01B2225-1D38-4B75-AC30-F8B8E757FD86}" srcOrd="4" destOrd="0" presId="urn:microsoft.com/office/officeart/2005/8/layout/vProcess5"/>
    <dgm:cxn modelId="{8910FDF8-A658-4BDB-81D1-0531376B258A}" type="presParOf" srcId="{CBBA9C70-17D2-4EFC-B304-8779191443C8}" destId="{CE1FCC98-BB05-4596-8BA6-108808B2BF9E}" srcOrd="5" destOrd="0" presId="urn:microsoft.com/office/officeart/2005/8/layout/vProcess5"/>
    <dgm:cxn modelId="{9AB79A12-90AD-4E2B-A057-D7A592B304D1}" type="presParOf" srcId="{CBBA9C70-17D2-4EFC-B304-8779191443C8}" destId="{1EBCA9A3-CABD-4CF9-9888-3F4F1A072B0A}" srcOrd="6" destOrd="0" presId="urn:microsoft.com/office/officeart/2005/8/layout/vProcess5"/>
    <dgm:cxn modelId="{1B38ED3A-5905-4133-B740-37512D5BEBC8}" type="presParOf" srcId="{CBBA9C70-17D2-4EFC-B304-8779191443C8}" destId="{0CF87D2F-3834-4D7D-A636-8BEC604B80C3}" srcOrd="7" destOrd="0" presId="urn:microsoft.com/office/officeart/2005/8/layout/vProcess5"/>
    <dgm:cxn modelId="{FA48B947-79E5-462C-92E1-D340D8C3E7E1}" type="presParOf" srcId="{CBBA9C70-17D2-4EFC-B304-8779191443C8}" destId="{78686C5B-42CA-4CAB-8AC3-DAAA18BE2550}"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9654A98-D1FE-4D52-AC40-FC2940D83D90}" type="doc">
      <dgm:prSet loTypeId="urn:microsoft.com/office/officeart/2005/8/layout/hList7" loCatId="list" qsTypeId="urn:microsoft.com/office/officeart/2005/8/quickstyle/simple3" qsCatId="simple" csTypeId="urn:microsoft.com/office/officeart/2005/8/colors/colorful1" csCatId="colorful" phldr="1"/>
      <dgm:spPr/>
      <dgm:t>
        <a:bodyPr/>
        <a:lstStyle/>
        <a:p>
          <a:endParaRPr lang="en-IN"/>
        </a:p>
      </dgm:t>
    </dgm:pt>
    <dgm:pt modelId="{EB8A354C-F3C7-454B-83E5-47C0AFE4BA9B}">
      <dgm:prSet phldrT="[Text]" custT="1"/>
      <dgm:spPr/>
      <dgm:t>
        <a:bodyPr/>
        <a:lstStyle/>
        <a:p>
          <a:pPr algn="ctr"/>
          <a:r>
            <a:rPr lang="en-IN" sz="2400" dirty="0">
              <a:latin typeface="Casper" panose="02000506000000020004"/>
              <a:cs typeface="Times New Roman" panose="02020603050405020304" pitchFamily="18" charset="0"/>
            </a:rPr>
            <a:t>Students will learn about energy value of free particle.</a:t>
          </a:r>
        </a:p>
      </dgm:t>
    </dgm:pt>
    <dgm:pt modelId="{855DF5E0-6DD9-47D1-85C1-71E7C93C7938}" type="parTrans" cxnId="{1F8DC843-A980-4671-A488-C56D7E2A0332}">
      <dgm:prSet/>
      <dgm:spPr/>
      <dgm:t>
        <a:bodyPr/>
        <a:lstStyle/>
        <a:p>
          <a:endParaRPr lang="en-IN"/>
        </a:p>
      </dgm:t>
    </dgm:pt>
    <dgm:pt modelId="{50DA53F4-7CD0-42FA-8C47-6937EC0C788A}" type="sibTrans" cxnId="{1F8DC843-A980-4671-A488-C56D7E2A0332}">
      <dgm:prSet/>
      <dgm:spPr/>
      <dgm:t>
        <a:bodyPr/>
        <a:lstStyle/>
        <a:p>
          <a:endParaRPr lang="en-IN"/>
        </a:p>
      </dgm:t>
    </dgm:pt>
    <dgm:pt modelId="{6D978731-264F-4D48-A49B-A558474EE7D8}">
      <dgm:prSet phldrT="[Text]" custT="1"/>
      <dgm:spPr/>
      <dgm:t>
        <a:bodyPr/>
        <a:lstStyle/>
        <a:p>
          <a:pPr algn="ctr"/>
          <a:r>
            <a:rPr lang="en-IN" sz="2400" dirty="0">
              <a:latin typeface="Casper" panose="02000506000000020004"/>
              <a:cs typeface="Times New Roman" panose="02020603050405020304" pitchFamily="18" charset="0"/>
            </a:rPr>
            <a:t>Students will derive condition of particle box.</a:t>
          </a:r>
        </a:p>
      </dgm:t>
    </dgm:pt>
    <dgm:pt modelId="{1303F81F-D0B2-40BD-8EE0-E03135E9309A}" type="parTrans" cxnId="{9F5C091B-72EC-40AD-8C58-AB1B32E39C39}">
      <dgm:prSet/>
      <dgm:spPr/>
      <dgm:t>
        <a:bodyPr/>
        <a:lstStyle/>
        <a:p>
          <a:endParaRPr lang="en-IN"/>
        </a:p>
      </dgm:t>
    </dgm:pt>
    <dgm:pt modelId="{E615A6AB-D553-414A-AF92-F290BC3F199A}" type="sibTrans" cxnId="{9F5C091B-72EC-40AD-8C58-AB1B32E39C39}">
      <dgm:prSet/>
      <dgm:spPr/>
      <dgm:t>
        <a:bodyPr/>
        <a:lstStyle/>
        <a:p>
          <a:endParaRPr lang="en-IN"/>
        </a:p>
      </dgm:t>
    </dgm:pt>
    <dgm:pt modelId="{FF9B39E7-F148-497F-8E27-B07B0EA561CD}">
      <dgm:prSet phldrT="[Text]" custT="1"/>
      <dgm:spPr/>
      <dgm:t>
        <a:bodyPr/>
        <a:lstStyle/>
        <a:p>
          <a:pPr algn="ctr"/>
          <a:r>
            <a:rPr lang="en-IN" sz="2400" dirty="0">
              <a:latin typeface="Casper" panose="02000506000000020004"/>
              <a:cs typeface="Times New Roman" panose="02020603050405020304" pitchFamily="18" charset="0"/>
            </a:rPr>
            <a:t>Students will learn quantisation of energy in confined state.</a:t>
          </a:r>
        </a:p>
      </dgm:t>
    </dgm:pt>
    <dgm:pt modelId="{F606E620-6C7D-4583-BC51-2DA4AAB6BBC6}" type="parTrans" cxnId="{783D770D-A246-4A80-B5AA-3B108B54D3CD}">
      <dgm:prSet/>
      <dgm:spPr/>
      <dgm:t>
        <a:bodyPr/>
        <a:lstStyle/>
        <a:p>
          <a:endParaRPr lang="en-IN"/>
        </a:p>
      </dgm:t>
    </dgm:pt>
    <dgm:pt modelId="{93D5ABFB-C6E8-4E92-BE50-246FE07E8EE5}" type="sibTrans" cxnId="{783D770D-A246-4A80-B5AA-3B108B54D3CD}">
      <dgm:prSet/>
      <dgm:spPr/>
      <dgm:t>
        <a:bodyPr/>
        <a:lstStyle/>
        <a:p>
          <a:endParaRPr lang="en-IN"/>
        </a:p>
      </dgm:t>
    </dgm:pt>
    <dgm:pt modelId="{E28E89FF-891B-4BC0-AF5B-351B44FE9A5A}" type="pres">
      <dgm:prSet presAssocID="{39654A98-D1FE-4D52-AC40-FC2940D83D90}" presName="Name0" presStyleCnt="0">
        <dgm:presLayoutVars>
          <dgm:dir/>
          <dgm:resizeHandles val="exact"/>
        </dgm:presLayoutVars>
      </dgm:prSet>
      <dgm:spPr/>
    </dgm:pt>
    <dgm:pt modelId="{323C8708-EBC8-4346-B9D7-F4F4FED58C31}" type="pres">
      <dgm:prSet presAssocID="{39654A98-D1FE-4D52-AC40-FC2940D83D90}" presName="fgShape" presStyleLbl="fgShp" presStyleIdx="0" presStyleCnt="1"/>
      <dgm:spPr/>
    </dgm:pt>
    <dgm:pt modelId="{068BF970-D871-4BF1-97F3-0BE30617AC82}" type="pres">
      <dgm:prSet presAssocID="{39654A98-D1FE-4D52-AC40-FC2940D83D90}" presName="linComp" presStyleCnt="0"/>
      <dgm:spPr/>
    </dgm:pt>
    <dgm:pt modelId="{E30EBF77-120B-4CD3-A033-94649BE40A66}" type="pres">
      <dgm:prSet presAssocID="{EB8A354C-F3C7-454B-83E5-47C0AFE4BA9B}" presName="compNode" presStyleCnt="0"/>
      <dgm:spPr/>
    </dgm:pt>
    <dgm:pt modelId="{B0625DDC-302A-456C-8B12-57155170D50A}" type="pres">
      <dgm:prSet presAssocID="{EB8A354C-F3C7-454B-83E5-47C0AFE4BA9B}" presName="bkgdShape" presStyleLbl="node1" presStyleIdx="0" presStyleCnt="3"/>
      <dgm:spPr/>
    </dgm:pt>
    <dgm:pt modelId="{AE6D4CE1-C252-41FF-A301-5445162591BD}" type="pres">
      <dgm:prSet presAssocID="{EB8A354C-F3C7-454B-83E5-47C0AFE4BA9B}" presName="nodeTx" presStyleLbl="node1" presStyleIdx="0" presStyleCnt="3">
        <dgm:presLayoutVars>
          <dgm:bulletEnabled val="1"/>
        </dgm:presLayoutVars>
      </dgm:prSet>
      <dgm:spPr/>
    </dgm:pt>
    <dgm:pt modelId="{BE5B8B0C-3C04-4580-B087-168909CA886E}" type="pres">
      <dgm:prSet presAssocID="{EB8A354C-F3C7-454B-83E5-47C0AFE4BA9B}" presName="invisiNode" presStyleLbl="node1" presStyleIdx="0" presStyleCnt="3"/>
      <dgm:spPr/>
    </dgm:pt>
    <dgm:pt modelId="{B103F8D8-76B4-4272-BA94-128B4C2C71A0}" type="pres">
      <dgm:prSet presAssocID="{EB8A354C-F3C7-454B-83E5-47C0AFE4BA9B}" presName="imagNode" presStyleLbl="fgImgPlace1" presStyleIdx="0" presStyleCnt="3" custLinFactNeighborX="-8628" custLinFactNeighborY="-1536"/>
      <dgm:spPr>
        <a:blipFill rotWithShape="1">
          <a:blip xmlns:r="http://schemas.openxmlformats.org/officeDocument/2006/relationships" r:embed="rId1"/>
          <a:srcRect/>
          <a:stretch>
            <a:fillRect l="-125000" r="-125000"/>
          </a:stretch>
        </a:blipFill>
      </dgm:spPr>
    </dgm:pt>
    <dgm:pt modelId="{485E51A4-F0D1-4786-A30C-7A22C6116916}" type="pres">
      <dgm:prSet presAssocID="{50DA53F4-7CD0-42FA-8C47-6937EC0C788A}" presName="sibTrans" presStyleLbl="sibTrans2D1" presStyleIdx="0" presStyleCnt="0"/>
      <dgm:spPr/>
    </dgm:pt>
    <dgm:pt modelId="{365E3586-FE2C-46EC-A4DB-F75C9DC9BE12}" type="pres">
      <dgm:prSet presAssocID="{6D978731-264F-4D48-A49B-A558474EE7D8}" presName="compNode" presStyleCnt="0"/>
      <dgm:spPr/>
    </dgm:pt>
    <dgm:pt modelId="{59466344-34F2-47FE-BE5B-DE4D2D0D235D}" type="pres">
      <dgm:prSet presAssocID="{6D978731-264F-4D48-A49B-A558474EE7D8}" presName="bkgdShape" presStyleLbl="node1" presStyleIdx="1" presStyleCnt="3" custLinFactNeighborX="-1471"/>
      <dgm:spPr/>
    </dgm:pt>
    <dgm:pt modelId="{266A0E14-40CF-4920-A67F-1CCB058A7470}" type="pres">
      <dgm:prSet presAssocID="{6D978731-264F-4D48-A49B-A558474EE7D8}" presName="nodeTx" presStyleLbl="node1" presStyleIdx="1" presStyleCnt="3">
        <dgm:presLayoutVars>
          <dgm:bulletEnabled val="1"/>
        </dgm:presLayoutVars>
      </dgm:prSet>
      <dgm:spPr/>
    </dgm:pt>
    <dgm:pt modelId="{97682022-119D-48E1-AF8F-5229A0350892}" type="pres">
      <dgm:prSet presAssocID="{6D978731-264F-4D48-A49B-A558474EE7D8}" presName="invisiNode" presStyleLbl="node1" presStyleIdx="1" presStyleCnt="3"/>
      <dgm:spPr/>
    </dgm:pt>
    <dgm:pt modelId="{50C2274F-4F2F-4CCF-A2D0-F4FCD0746BCB}" type="pres">
      <dgm:prSet presAssocID="{6D978731-264F-4D48-A49B-A558474EE7D8}" presName="imagNode" presStyleLbl="fgImgPlace1" presStyleIdx="1" presStyleCnt="3" custLinFactNeighborX="-811" custLinFactNeighborY="-1621"/>
      <dgm:spPr>
        <a:blipFill rotWithShape="1">
          <a:blip xmlns:r="http://schemas.openxmlformats.org/officeDocument/2006/relationships" r:embed="rId2"/>
          <a:srcRect/>
          <a:stretch>
            <a:fillRect l="-52000" r="-52000"/>
          </a:stretch>
        </a:blipFill>
      </dgm:spPr>
    </dgm:pt>
    <dgm:pt modelId="{AB002910-53CC-4237-BE47-F9C520C00106}" type="pres">
      <dgm:prSet presAssocID="{E615A6AB-D553-414A-AF92-F290BC3F199A}" presName="sibTrans" presStyleLbl="sibTrans2D1" presStyleIdx="0" presStyleCnt="0"/>
      <dgm:spPr/>
    </dgm:pt>
    <dgm:pt modelId="{BACE84A8-E6D3-41DC-8EAF-DEDCC00F43B5}" type="pres">
      <dgm:prSet presAssocID="{FF9B39E7-F148-497F-8E27-B07B0EA561CD}" presName="compNode" presStyleCnt="0"/>
      <dgm:spPr/>
    </dgm:pt>
    <dgm:pt modelId="{B2B10F68-512F-4683-BEE4-9F8C729BF5C7}" type="pres">
      <dgm:prSet presAssocID="{FF9B39E7-F148-497F-8E27-B07B0EA561CD}" presName="bkgdShape" presStyleLbl="node1" presStyleIdx="2" presStyleCnt="3"/>
      <dgm:spPr/>
    </dgm:pt>
    <dgm:pt modelId="{70C2D766-8FE4-4831-8DBD-FA88F235FC1A}" type="pres">
      <dgm:prSet presAssocID="{FF9B39E7-F148-497F-8E27-B07B0EA561CD}" presName="nodeTx" presStyleLbl="node1" presStyleIdx="2" presStyleCnt="3">
        <dgm:presLayoutVars>
          <dgm:bulletEnabled val="1"/>
        </dgm:presLayoutVars>
      </dgm:prSet>
      <dgm:spPr/>
    </dgm:pt>
    <dgm:pt modelId="{F1727CDB-073A-47B7-B6A4-49E5643CBEF8}" type="pres">
      <dgm:prSet presAssocID="{FF9B39E7-F148-497F-8E27-B07B0EA561CD}" presName="invisiNode" presStyleLbl="node1" presStyleIdx="2" presStyleCnt="3"/>
      <dgm:spPr/>
    </dgm:pt>
    <dgm:pt modelId="{248B46C9-1690-4475-9D9E-0B3167A7796B}" type="pres">
      <dgm:prSet presAssocID="{FF9B39E7-F148-497F-8E27-B07B0EA561CD}" presName="imagNode" presStyleLbl="fgImgPlace1" presStyleIdx="2" presStyleCnt="3"/>
      <dgm:spPr>
        <a:blipFill rotWithShape="1">
          <a:blip xmlns:r="http://schemas.openxmlformats.org/officeDocument/2006/relationships" r:embed="rId3"/>
          <a:srcRect/>
          <a:stretch>
            <a:fillRect l="-112000" r="-112000"/>
          </a:stretch>
        </a:blipFill>
      </dgm:spPr>
    </dgm:pt>
  </dgm:ptLst>
  <dgm:cxnLst>
    <dgm:cxn modelId="{DE73E20C-5717-44E6-992D-C0510FCBD0E6}" type="presOf" srcId="{FF9B39E7-F148-497F-8E27-B07B0EA561CD}" destId="{B2B10F68-512F-4683-BEE4-9F8C729BF5C7}" srcOrd="0" destOrd="0" presId="urn:microsoft.com/office/officeart/2005/8/layout/hList7"/>
    <dgm:cxn modelId="{783D770D-A246-4A80-B5AA-3B108B54D3CD}" srcId="{39654A98-D1FE-4D52-AC40-FC2940D83D90}" destId="{FF9B39E7-F148-497F-8E27-B07B0EA561CD}" srcOrd="2" destOrd="0" parTransId="{F606E620-6C7D-4583-BC51-2DA4AAB6BBC6}" sibTransId="{93D5ABFB-C6E8-4E92-BE50-246FE07E8EE5}"/>
    <dgm:cxn modelId="{E48C9D19-B22D-493F-BFF0-F531F73A9C79}" type="presOf" srcId="{E615A6AB-D553-414A-AF92-F290BC3F199A}" destId="{AB002910-53CC-4237-BE47-F9C520C00106}" srcOrd="0" destOrd="0" presId="urn:microsoft.com/office/officeart/2005/8/layout/hList7"/>
    <dgm:cxn modelId="{9F5C091B-72EC-40AD-8C58-AB1B32E39C39}" srcId="{39654A98-D1FE-4D52-AC40-FC2940D83D90}" destId="{6D978731-264F-4D48-A49B-A558474EE7D8}" srcOrd="1" destOrd="0" parTransId="{1303F81F-D0B2-40BD-8EE0-E03135E9309A}" sibTransId="{E615A6AB-D553-414A-AF92-F290BC3F199A}"/>
    <dgm:cxn modelId="{2BC2482C-E41C-48D8-8EE1-65F2B17BC8D2}" type="presOf" srcId="{EB8A354C-F3C7-454B-83E5-47C0AFE4BA9B}" destId="{B0625DDC-302A-456C-8B12-57155170D50A}" srcOrd="0" destOrd="0" presId="urn:microsoft.com/office/officeart/2005/8/layout/hList7"/>
    <dgm:cxn modelId="{1F8DC843-A980-4671-A488-C56D7E2A0332}" srcId="{39654A98-D1FE-4D52-AC40-FC2940D83D90}" destId="{EB8A354C-F3C7-454B-83E5-47C0AFE4BA9B}" srcOrd="0" destOrd="0" parTransId="{855DF5E0-6DD9-47D1-85C1-71E7C93C7938}" sibTransId="{50DA53F4-7CD0-42FA-8C47-6937EC0C788A}"/>
    <dgm:cxn modelId="{0F815C45-79BD-4C33-A044-990A498C8101}" type="presOf" srcId="{39654A98-D1FE-4D52-AC40-FC2940D83D90}" destId="{E28E89FF-891B-4BC0-AF5B-351B44FE9A5A}" srcOrd="0" destOrd="0" presId="urn:microsoft.com/office/officeart/2005/8/layout/hList7"/>
    <dgm:cxn modelId="{BB57B1A6-C7BF-4B73-9E9A-07A9A7CAD7C7}" type="presOf" srcId="{50DA53F4-7CD0-42FA-8C47-6937EC0C788A}" destId="{485E51A4-F0D1-4786-A30C-7A22C6116916}" srcOrd="0" destOrd="0" presId="urn:microsoft.com/office/officeart/2005/8/layout/hList7"/>
    <dgm:cxn modelId="{E2E5A6A8-7193-4731-AD9C-755A0977BB7C}" type="presOf" srcId="{EB8A354C-F3C7-454B-83E5-47C0AFE4BA9B}" destId="{AE6D4CE1-C252-41FF-A301-5445162591BD}" srcOrd="1" destOrd="0" presId="urn:microsoft.com/office/officeart/2005/8/layout/hList7"/>
    <dgm:cxn modelId="{3BCF00C3-8E60-4591-A85E-900640FA81D7}" type="presOf" srcId="{6D978731-264F-4D48-A49B-A558474EE7D8}" destId="{59466344-34F2-47FE-BE5B-DE4D2D0D235D}" srcOrd="0" destOrd="0" presId="urn:microsoft.com/office/officeart/2005/8/layout/hList7"/>
    <dgm:cxn modelId="{4A4CC3DF-3995-40FC-9BE0-AAE36A37095C}" type="presOf" srcId="{6D978731-264F-4D48-A49B-A558474EE7D8}" destId="{266A0E14-40CF-4920-A67F-1CCB058A7470}" srcOrd="1" destOrd="0" presId="urn:microsoft.com/office/officeart/2005/8/layout/hList7"/>
    <dgm:cxn modelId="{165587EA-BDB9-41E9-BC3E-F451BF8B049C}" type="presOf" srcId="{FF9B39E7-F148-497F-8E27-B07B0EA561CD}" destId="{70C2D766-8FE4-4831-8DBD-FA88F235FC1A}" srcOrd="1" destOrd="0" presId="urn:microsoft.com/office/officeart/2005/8/layout/hList7"/>
    <dgm:cxn modelId="{67477FD3-D294-4FB0-897E-212966FE5875}" type="presParOf" srcId="{E28E89FF-891B-4BC0-AF5B-351B44FE9A5A}" destId="{323C8708-EBC8-4346-B9D7-F4F4FED58C31}" srcOrd="0" destOrd="0" presId="urn:microsoft.com/office/officeart/2005/8/layout/hList7"/>
    <dgm:cxn modelId="{2717FB1C-E02D-4A02-BADB-7257E06315DA}" type="presParOf" srcId="{E28E89FF-891B-4BC0-AF5B-351B44FE9A5A}" destId="{068BF970-D871-4BF1-97F3-0BE30617AC82}" srcOrd="1" destOrd="0" presId="urn:microsoft.com/office/officeart/2005/8/layout/hList7"/>
    <dgm:cxn modelId="{D9D5E752-39CE-406D-969E-4EBFCD065CC4}" type="presParOf" srcId="{068BF970-D871-4BF1-97F3-0BE30617AC82}" destId="{E30EBF77-120B-4CD3-A033-94649BE40A66}" srcOrd="0" destOrd="0" presId="urn:microsoft.com/office/officeart/2005/8/layout/hList7"/>
    <dgm:cxn modelId="{BFD9AA05-3D8B-4B9B-B4C8-4A90041B7CB2}" type="presParOf" srcId="{E30EBF77-120B-4CD3-A033-94649BE40A66}" destId="{B0625DDC-302A-456C-8B12-57155170D50A}" srcOrd="0" destOrd="0" presId="urn:microsoft.com/office/officeart/2005/8/layout/hList7"/>
    <dgm:cxn modelId="{D45F93B7-0BEB-4D39-8248-3E22A17C536C}" type="presParOf" srcId="{E30EBF77-120B-4CD3-A033-94649BE40A66}" destId="{AE6D4CE1-C252-41FF-A301-5445162591BD}" srcOrd="1" destOrd="0" presId="urn:microsoft.com/office/officeart/2005/8/layout/hList7"/>
    <dgm:cxn modelId="{09686947-27E9-467B-8777-D428A6390A48}" type="presParOf" srcId="{E30EBF77-120B-4CD3-A033-94649BE40A66}" destId="{BE5B8B0C-3C04-4580-B087-168909CA886E}" srcOrd="2" destOrd="0" presId="urn:microsoft.com/office/officeart/2005/8/layout/hList7"/>
    <dgm:cxn modelId="{9B3970F4-676F-4283-B9CD-424E6253C12B}" type="presParOf" srcId="{E30EBF77-120B-4CD3-A033-94649BE40A66}" destId="{B103F8D8-76B4-4272-BA94-128B4C2C71A0}" srcOrd="3" destOrd="0" presId="urn:microsoft.com/office/officeart/2005/8/layout/hList7"/>
    <dgm:cxn modelId="{B637A60B-A4A1-40E8-B7D3-FEB757DB510B}" type="presParOf" srcId="{068BF970-D871-4BF1-97F3-0BE30617AC82}" destId="{485E51A4-F0D1-4786-A30C-7A22C6116916}" srcOrd="1" destOrd="0" presId="urn:microsoft.com/office/officeart/2005/8/layout/hList7"/>
    <dgm:cxn modelId="{18AC45AB-E494-42A0-9E99-559E885FFB72}" type="presParOf" srcId="{068BF970-D871-4BF1-97F3-0BE30617AC82}" destId="{365E3586-FE2C-46EC-A4DB-F75C9DC9BE12}" srcOrd="2" destOrd="0" presId="urn:microsoft.com/office/officeart/2005/8/layout/hList7"/>
    <dgm:cxn modelId="{4904A346-4C63-4389-B751-A13629DDAD04}" type="presParOf" srcId="{365E3586-FE2C-46EC-A4DB-F75C9DC9BE12}" destId="{59466344-34F2-47FE-BE5B-DE4D2D0D235D}" srcOrd="0" destOrd="0" presId="urn:microsoft.com/office/officeart/2005/8/layout/hList7"/>
    <dgm:cxn modelId="{9FFE1498-93E0-4D1A-8C89-04DB22675A8A}" type="presParOf" srcId="{365E3586-FE2C-46EC-A4DB-F75C9DC9BE12}" destId="{266A0E14-40CF-4920-A67F-1CCB058A7470}" srcOrd="1" destOrd="0" presId="urn:microsoft.com/office/officeart/2005/8/layout/hList7"/>
    <dgm:cxn modelId="{6C73281C-CAEB-41E8-8E57-15330238A5B2}" type="presParOf" srcId="{365E3586-FE2C-46EC-A4DB-F75C9DC9BE12}" destId="{97682022-119D-48E1-AF8F-5229A0350892}" srcOrd="2" destOrd="0" presId="urn:microsoft.com/office/officeart/2005/8/layout/hList7"/>
    <dgm:cxn modelId="{6AD04249-2B27-4AE2-8D83-4F66EBB2D964}" type="presParOf" srcId="{365E3586-FE2C-46EC-A4DB-F75C9DC9BE12}" destId="{50C2274F-4F2F-4CCF-A2D0-F4FCD0746BCB}" srcOrd="3" destOrd="0" presId="urn:microsoft.com/office/officeart/2005/8/layout/hList7"/>
    <dgm:cxn modelId="{B8A656EE-474D-4474-9DEC-3D6887BACF2F}" type="presParOf" srcId="{068BF970-D871-4BF1-97F3-0BE30617AC82}" destId="{AB002910-53CC-4237-BE47-F9C520C00106}" srcOrd="3" destOrd="0" presId="urn:microsoft.com/office/officeart/2005/8/layout/hList7"/>
    <dgm:cxn modelId="{8FF8CB7C-BF18-4390-9287-78081FB0981C}" type="presParOf" srcId="{068BF970-D871-4BF1-97F3-0BE30617AC82}" destId="{BACE84A8-E6D3-41DC-8EAF-DEDCC00F43B5}" srcOrd="4" destOrd="0" presId="urn:microsoft.com/office/officeart/2005/8/layout/hList7"/>
    <dgm:cxn modelId="{6F05BC51-1074-47C0-ACAF-75C98FCCB673}" type="presParOf" srcId="{BACE84A8-E6D3-41DC-8EAF-DEDCC00F43B5}" destId="{B2B10F68-512F-4683-BEE4-9F8C729BF5C7}" srcOrd="0" destOrd="0" presId="urn:microsoft.com/office/officeart/2005/8/layout/hList7"/>
    <dgm:cxn modelId="{5A61C906-A570-498D-A74D-045EC46A4A64}" type="presParOf" srcId="{BACE84A8-E6D3-41DC-8EAF-DEDCC00F43B5}" destId="{70C2D766-8FE4-4831-8DBD-FA88F235FC1A}" srcOrd="1" destOrd="0" presId="urn:microsoft.com/office/officeart/2005/8/layout/hList7"/>
    <dgm:cxn modelId="{6FCB74B2-4A64-4494-8D1B-F9CACF3143A4}" type="presParOf" srcId="{BACE84A8-E6D3-41DC-8EAF-DEDCC00F43B5}" destId="{F1727CDB-073A-47B7-B6A4-49E5643CBEF8}" srcOrd="2" destOrd="0" presId="urn:microsoft.com/office/officeart/2005/8/layout/hList7"/>
    <dgm:cxn modelId="{F246C2F4-10E7-4635-AFD6-0947843F9FEB}" type="presParOf" srcId="{BACE84A8-E6D3-41DC-8EAF-DEDCC00F43B5}" destId="{248B46C9-1690-4475-9D9E-0B3167A7796B}" srcOrd="3" destOrd="0" presId="urn:microsoft.com/office/officeart/2005/8/layout/hList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3720F04-4F70-4D64-A29D-B342FC1719D9}"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IN"/>
        </a:p>
      </dgm:t>
    </dgm:pt>
    <dgm:pt modelId="{78C2C310-6D00-42F5-BD96-86F886AF2859}">
      <dgm:prSet custT="1"/>
      <dgm:spPr/>
      <dgm:t>
        <a:bodyPr/>
        <a:lstStyle/>
        <a:p>
          <a:r>
            <a:rPr lang="en-IN" sz="2400" dirty="0">
              <a:latin typeface="Casper"/>
            </a:rPr>
            <a:t>FREE- PARTICLE</a:t>
          </a:r>
        </a:p>
      </dgm:t>
    </dgm:pt>
    <dgm:pt modelId="{4A8149D1-3236-4850-A0D4-7F0DC0A74381}" type="parTrans" cxnId="{624FBA61-2E1E-4E96-AE3D-B7A559C08B9F}">
      <dgm:prSet/>
      <dgm:spPr/>
      <dgm:t>
        <a:bodyPr/>
        <a:lstStyle/>
        <a:p>
          <a:endParaRPr lang="en-IN"/>
        </a:p>
      </dgm:t>
    </dgm:pt>
    <dgm:pt modelId="{D41B046A-39EB-471A-9419-32CA90055E30}" type="sibTrans" cxnId="{624FBA61-2E1E-4E96-AE3D-B7A559C08B9F}">
      <dgm:prSet/>
      <dgm:spPr/>
      <dgm:t>
        <a:bodyPr/>
        <a:lstStyle/>
        <a:p>
          <a:endParaRPr lang="en-IN"/>
        </a:p>
      </dgm:t>
    </dgm:pt>
    <dgm:pt modelId="{6AE72F79-9B2C-418C-8931-47980205E39C}">
      <dgm:prSet custT="1"/>
      <dgm:spPr/>
      <dgm:t>
        <a:bodyPr/>
        <a:lstStyle/>
        <a:p>
          <a:r>
            <a:rPr lang="en-IN" sz="2400" dirty="0">
              <a:latin typeface="Casper"/>
            </a:rPr>
            <a:t> POTENTIAL WELL</a:t>
          </a:r>
        </a:p>
      </dgm:t>
    </dgm:pt>
    <dgm:pt modelId="{0F3B83AF-7673-416C-B661-F79AB5A3B7D5}" type="parTrans" cxnId="{5A90B24E-B05A-40A3-A347-EE71804EFA80}">
      <dgm:prSet/>
      <dgm:spPr/>
      <dgm:t>
        <a:bodyPr/>
        <a:lstStyle/>
        <a:p>
          <a:endParaRPr lang="en-IN"/>
        </a:p>
      </dgm:t>
    </dgm:pt>
    <dgm:pt modelId="{BA3463F2-F25B-4788-8224-D4929A4446CF}" type="sibTrans" cxnId="{5A90B24E-B05A-40A3-A347-EE71804EFA80}">
      <dgm:prSet/>
      <dgm:spPr/>
      <dgm:t>
        <a:bodyPr/>
        <a:lstStyle/>
        <a:p>
          <a:endParaRPr lang="en-IN"/>
        </a:p>
      </dgm:t>
    </dgm:pt>
    <dgm:pt modelId="{527E673E-A0A5-45D0-BC3C-DE0DEE525BF2}">
      <dgm:prSet custT="1"/>
      <dgm:spPr/>
      <dgm:t>
        <a:bodyPr/>
        <a:lstStyle/>
        <a:p>
          <a:r>
            <a:rPr lang="en-IN" sz="2400" dirty="0">
              <a:latin typeface="Casper"/>
            </a:rPr>
            <a:t>PARTICLE IN A BOX</a:t>
          </a:r>
        </a:p>
      </dgm:t>
    </dgm:pt>
    <dgm:pt modelId="{8E777649-E85C-43E8-AEC8-111E2B125ABB}" type="parTrans" cxnId="{83B6BB86-23F9-4587-BE73-B11CF78F5524}">
      <dgm:prSet/>
      <dgm:spPr/>
      <dgm:t>
        <a:bodyPr/>
        <a:lstStyle/>
        <a:p>
          <a:endParaRPr lang="en-IN"/>
        </a:p>
      </dgm:t>
    </dgm:pt>
    <dgm:pt modelId="{859CB368-A51B-4E26-A560-C7DD193A30A5}" type="sibTrans" cxnId="{83B6BB86-23F9-4587-BE73-B11CF78F5524}">
      <dgm:prSet/>
      <dgm:spPr/>
      <dgm:t>
        <a:bodyPr/>
        <a:lstStyle/>
        <a:p>
          <a:endParaRPr lang="en-IN"/>
        </a:p>
      </dgm:t>
    </dgm:pt>
    <dgm:pt modelId="{6CC9197F-0EDE-47AC-846F-54406B624218}" type="pres">
      <dgm:prSet presAssocID="{43720F04-4F70-4D64-A29D-B342FC1719D9}" presName="linear" presStyleCnt="0">
        <dgm:presLayoutVars>
          <dgm:animLvl val="lvl"/>
          <dgm:resizeHandles val="exact"/>
        </dgm:presLayoutVars>
      </dgm:prSet>
      <dgm:spPr/>
    </dgm:pt>
    <dgm:pt modelId="{FA068D47-9128-40CC-9FDB-255F7888DD74}" type="pres">
      <dgm:prSet presAssocID="{78C2C310-6D00-42F5-BD96-86F886AF2859}" presName="parentText" presStyleLbl="node1" presStyleIdx="0" presStyleCnt="3">
        <dgm:presLayoutVars>
          <dgm:chMax val="0"/>
          <dgm:bulletEnabled val="1"/>
        </dgm:presLayoutVars>
      </dgm:prSet>
      <dgm:spPr/>
    </dgm:pt>
    <dgm:pt modelId="{6C92B666-ED60-4876-A196-98F67D7F1F86}" type="pres">
      <dgm:prSet presAssocID="{D41B046A-39EB-471A-9419-32CA90055E30}" presName="spacer" presStyleCnt="0"/>
      <dgm:spPr/>
    </dgm:pt>
    <dgm:pt modelId="{95EE82A3-9D85-4348-BDCF-41A34F9FDCD9}" type="pres">
      <dgm:prSet presAssocID="{6AE72F79-9B2C-418C-8931-47980205E39C}" presName="parentText" presStyleLbl="node1" presStyleIdx="1" presStyleCnt="3">
        <dgm:presLayoutVars>
          <dgm:chMax val="0"/>
          <dgm:bulletEnabled val="1"/>
        </dgm:presLayoutVars>
      </dgm:prSet>
      <dgm:spPr/>
    </dgm:pt>
    <dgm:pt modelId="{C3F56188-1496-4285-9BA9-D6EE1B76986A}" type="pres">
      <dgm:prSet presAssocID="{BA3463F2-F25B-4788-8224-D4929A4446CF}" presName="spacer" presStyleCnt="0"/>
      <dgm:spPr/>
    </dgm:pt>
    <dgm:pt modelId="{39DC17CC-CDC2-40D3-BAA9-46197E8D6CA7}" type="pres">
      <dgm:prSet presAssocID="{527E673E-A0A5-45D0-BC3C-DE0DEE525BF2}" presName="parentText" presStyleLbl="node1" presStyleIdx="2" presStyleCnt="3" custLinFactNeighborX="-4212" custLinFactNeighborY="-57242">
        <dgm:presLayoutVars>
          <dgm:chMax val="0"/>
          <dgm:bulletEnabled val="1"/>
        </dgm:presLayoutVars>
      </dgm:prSet>
      <dgm:spPr/>
    </dgm:pt>
  </dgm:ptLst>
  <dgm:cxnLst>
    <dgm:cxn modelId="{624FBA61-2E1E-4E96-AE3D-B7A559C08B9F}" srcId="{43720F04-4F70-4D64-A29D-B342FC1719D9}" destId="{78C2C310-6D00-42F5-BD96-86F886AF2859}" srcOrd="0" destOrd="0" parTransId="{4A8149D1-3236-4850-A0D4-7F0DC0A74381}" sibTransId="{D41B046A-39EB-471A-9419-32CA90055E30}"/>
    <dgm:cxn modelId="{641B5464-44DF-4FF9-A6F2-D72DC0659D5E}" type="presOf" srcId="{43720F04-4F70-4D64-A29D-B342FC1719D9}" destId="{6CC9197F-0EDE-47AC-846F-54406B624218}" srcOrd="0" destOrd="0" presId="urn:microsoft.com/office/officeart/2005/8/layout/vList2"/>
    <dgm:cxn modelId="{5A90B24E-B05A-40A3-A347-EE71804EFA80}" srcId="{43720F04-4F70-4D64-A29D-B342FC1719D9}" destId="{6AE72F79-9B2C-418C-8931-47980205E39C}" srcOrd="1" destOrd="0" parTransId="{0F3B83AF-7673-416C-B661-F79AB5A3B7D5}" sibTransId="{BA3463F2-F25B-4788-8224-D4929A4446CF}"/>
    <dgm:cxn modelId="{83B6BB86-23F9-4587-BE73-B11CF78F5524}" srcId="{43720F04-4F70-4D64-A29D-B342FC1719D9}" destId="{527E673E-A0A5-45D0-BC3C-DE0DEE525BF2}" srcOrd="2" destOrd="0" parTransId="{8E777649-E85C-43E8-AEC8-111E2B125ABB}" sibTransId="{859CB368-A51B-4E26-A560-C7DD193A30A5}"/>
    <dgm:cxn modelId="{5FF27F8E-77C7-4CCE-AB7A-2E2C7B1C287B}" type="presOf" srcId="{78C2C310-6D00-42F5-BD96-86F886AF2859}" destId="{FA068D47-9128-40CC-9FDB-255F7888DD74}" srcOrd="0" destOrd="0" presId="urn:microsoft.com/office/officeart/2005/8/layout/vList2"/>
    <dgm:cxn modelId="{EBBF3E9C-5262-483E-80B9-B7CC0F9ADE24}" type="presOf" srcId="{527E673E-A0A5-45D0-BC3C-DE0DEE525BF2}" destId="{39DC17CC-CDC2-40D3-BAA9-46197E8D6CA7}" srcOrd="0" destOrd="0" presId="urn:microsoft.com/office/officeart/2005/8/layout/vList2"/>
    <dgm:cxn modelId="{0225C2A0-C9DB-4A86-A14C-8E91E0F59C73}" type="presOf" srcId="{6AE72F79-9B2C-418C-8931-47980205E39C}" destId="{95EE82A3-9D85-4348-BDCF-41A34F9FDCD9}" srcOrd="0" destOrd="0" presId="urn:microsoft.com/office/officeart/2005/8/layout/vList2"/>
    <dgm:cxn modelId="{1A644FC0-8FDE-4A1A-8E66-F52F2CD17617}" type="presParOf" srcId="{6CC9197F-0EDE-47AC-846F-54406B624218}" destId="{FA068D47-9128-40CC-9FDB-255F7888DD74}" srcOrd="0" destOrd="0" presId="urn:microsoft.com/office/officeart/2005/8/layout/vList2"/>
    <dgm:cxn modelId="{4B6AB386-1488-4E03-BFCB-5C534E63BBF4}" type="presParOf" srcId="{6CC9197F-0EDE-47AC-846F-54406B624218}" destId="{6C92B666-ED60-4876-A196-98F67D7F1F86}" srcOrd="1" destOrd="0" presId="urn:microsoft.com/office/officeart/2005/8/layout/vList2"/>
    <dgm:cxn modelId="{50063B9A-E013-4265-ABD3-8BCD1068D31C}" type="presParOf" srcId="{6CC9197F-0EDE-47AC-846F-54406B624218}" destId="{95EE82A3-9D85-4348-BDCF-41A34F9FDCD9}" srcOrd="2" destOrd="0" presId="urn:microsoft.com/office/officeart/2005/8/layout/vList2"/>
    <dgm:cxn modelId="{734E7FCE-064C-47BA-9995-FD4F3A0E77C7}" type="presParOf" srcId="{6CC9197F-0EDE-47AC-846F-54406B624218}" destId="{C3F56188-1496-4285-9BA9-D6EE1B76986A}" srcOrd="3" destOrd="0" presId="urn:microsoft.com/office/officeart/2005/8/layout/vList2"/>
    <dgm:cxn modelId="{B6A6519A-77B7-4500-BE70-1774D0E4D33C}" type="presParOf" srcId="{6CC9197F-0EDE-47AC-846F-54406B624218}" destId="{39DC17CC-CDC2-40D3-BAA9-46197E8D6CA7}"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0B5599-AB67-4D7B-810B-7A3D73FBC18E}">
      <dsp:nvSpPr>
        <dsp:cNvPr id="0" name=""/>
        <dsp:cNvSpPr/>
      </dsp:nvSpPr>
      <dsp:spPr>
        <a:xfrm>
          <a:off x="0" y="18232"/>
          <a:ext cx="6908800" cy="1468486"/>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kern="1200" dirty="0">
              <a:latin typeface="Casper" panose="02000506000000020004"/>
            </a:rPr>
            <a:t>UNIT -3</a:t>
          </a:r>
        </a:p>
      </dsp:txBody>
      <dsp:txXfrm>
        <a:off x="43010" y="61242"/>
        <a:ext cx="5286976" cy="1382466"/>
      </dsp:txXfrm>
    </dsp:sp>
    <dsp:sp modelId="{1391C7A5-C46A-46EF-B914-27DF644706EC}">
      <dsp:nvSpPr>
        <dsp:cNvPr id="0" name=""/>
        <dsp:cNvSpPr/>
      </dsp:nvSpPr>
      <dsp:spPr>
        <a:xfrm>
          <a:off x="609599" y="1755777"/>
          <a:ext cx="6908800" cy="1504951"/>
        </a:xfrm>
        <a:prstGeom prst="roundRect">
          <a:avLst>
            <a:gd name="adj" fmla="val 10000"/>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dirty="0">
              <a:latin typeface="Casper" panose="02000506000000020004"/>
            </a:rPr>
            <a:t>QUANTUM MECHANICS</a:t>
          </a:r>
        </a:p>
      </dsp:txBody>
      <dsp:txXfrm>
        <a:off x="653678" y="1799856"/>
        <a:ext cx="5232823" cy="1416793"/>
      </dsp:txXfrm>
    </dsp:sp>
    <dsp:sp modelId="{DF9F8172-1EEF-4814-96D1-8216E1DFE46F}">
      <dsp:nvSpPr>
        <dsp:cNvPr id="0" name=""/>
        <dsp:cNvSpPr/>
      </dsp:nvSpPr>
      <dsp:spPr>
        <a:xfrm>
          <a:off x="1219199" y="3511554"/>
          <a:ext cx="6908800" cy="1504951"/>
        </a:xfrm>
        <a:prstGeom prst="roundRect">
          <a:avLst>
            <a:gd name="adj" fmla="val 10000"/>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kern="1200" dirty="0">
              <a:solidFill>
                <a:schemeClr val="bg1"/>
              </a:solidFill>
              <a:latin typeface="Casper" panose="02000506000000020004"/>
            </a:rPr>
            <a:t> FREE PARTICLE ENERGY, PARTICLE IN A BOX 1-D</a:t>
          </a:r>
        </a:p>
      </dsp:txBody>
      <dsp:txXfrm>
        <a:off x="1263278" y="3555633"/>
        <a:ext cx="5232823" cy="1416793"/>
      </dsp:txXfrm>
    </dsp:sp>
    <dsp:sp modelId="{E01B2225-1D38-4B75-AC30-F8B8E757FD86}">
      <dsp:nvSpPr>
        <dsp:cNvPr id="0" name=""/>
        <dsp:cNvSpPr/>
      </dsp:nvSpPr>
      <dsp:spPr>
        <a:xfrm>
          <a:off x="5930581" y="1141255"/>
          <a:ext cx="978218" cy="978218"/>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IN" sz="3600" kern="1200"/>
        </a:p>
      </dsp:txBody>
      <dsp:txXfrm>
        <a:off x="6150680" y="1141255"/>
        <a:ext cx="538020" cy="736109"/>
      </dsp:txXfrm>
    </dsp:sp>
    <dsp:sp modelId="{CE1FCC98-BB05-4596-8BA6-108808B2BF9E}">
      <dsp:nvSpPr>
        <dsp:cNvPr id="0" name=""/>
        <dsp:cNvSpPr/>
      </dsp:nvSpPr>
      <dsp:spPr>
        <a:xfrm>
          <a:off x="6540181" y="2886999"/>
          <a:ext cx="978218" cy="978218"/>
        </a:xfrm>
        <a:prstGeom prst="downArrow">
          <a:avLst>
            <a:gd name="adj1" fmla="val 55000"/>
            <a:gd name="adj2" fmla="val 45000"/>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IN" sz="3600" kern="1200"/>
        </a:p>
      </dsp:txBody>
      <dsp:txXfrm>
        <a:off x="6760280" y="2886999"/>
        <a:ext cx="538020" cy="7361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625DDC-302A-456C-8B12-57155170D50A}">
      <dsp:nvSpPr>
        <dsp:cNvPr id="0" name=""/>
        <dsp:cNvSpPr/>
      </dsp:nvSpPr>
      <dsp:spPr>
        <a:xfrm>
          <a:off x="2137" y="0"/>
          <a:ext cx="3326126" cy="4319588"/>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IN" sz="2400" kern="1200" dirty="0">
              <a:latin typeface="Casper" panose="02000506000000020004"/>
              <a:cs typeface="Times New Roman" panose="02020603050405020304" pitchFamily="18" charset="0"/>
            </a:rPr>
            <a:t>Students will learn about energy value of free particle.</a:t>
          </a:r>
        </a:p>
      </dsp:txBody>
      <dsp:txXfrm>
        <a:off x="2137" y="1727835"/>
        <a:ext cx="3326126" cy="1727835"/>
      </dsp:txXfrm>
    </dsp:sp>
    <dsp:sp modelId="{B103F8D8-76B4-4272-BA94-128B4C2C71A0}">
      <dsp:nvSpPr>
        <dsp:cNvPr id="0" name=""/>
        <dsp:cNvSpPr/>
      </dsp:nvSpPr>
      <dsp:spPr>
        <a:xfrm>
          <a:off x="821882" y="237081"/>
          <a:ext cx="1438422" cy="1438422"/>
        </a:xfrm>
        <a:prstGeom prst="ellipse">
          <a:avLst/>
        </a:prstGeom>
        <a:blipFill rotWithShape="1">
          <a:blip xmlns:r="http://schemas.openxmlformats.org/officeDocument/2006/relationships" r:embed="rId1"/>
          <a:srcRect/>
          <a:stretch>
            <a:fillRect l="-125000" r="-125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59466344-34F2-47FE-BE5B-DE4D2D0D235D}">
      <dsp:nvSpPr>
        <dsp:cNvPr id="0" name=""/>
        <dsp:cNvSpPr/>
      </dsp:nvSpPr>
      <dsp:spPr>
        <a:xfrm>
          <a:off x="3379121" y="0"/>
          <a:ext cx="3326126" cy="4319588"/>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IN" sz="2400" kern="1200" dirty="0">
              <a:latin typeface="Casper" panose="02000506000000020004"/>
              <a:cs typeface="Times New Roman" panose="02020603050405020304" pitchFamily="18" charset="0"/>
            </a:rPr>
            <a:t>Students will derive condition of particle box.</a:t>
          </a:r>
        </a:p>
      </dsp:txBody>
      <dsp:txXfrm>
        <a:off x="3379121" y="1727835"/>
        <a:ext cx="3326126" cy="1727835"/>
      </dsp:txXfrm>
    </dsp:sp>
    <dsp:sp modelId="{50C2274F-4F2F-4CCF-A2D0-F4FCD0746BCB}">
      <dsp:nvSpPr>
        <dsp:cNvPr id="0" name=""/>
        <dsp:cNvSpPr/>
      </dsp:nvSpPr>
      <dsp:spPr>
        <a:xfrm>
          <a:off x="4360234" y="235858"/>
          <a:ext cx="1438422" cy="1438422"/>
        </a:xfrm>
        <a:prstGeom prst="ellipse">
          <a:avLst/>
        </a:prstGeom>
        <a:blipFill rotWithShape="1">
          <a:blip xmlns:r="http://schemas.openxmlformats.org/officeDocument/2006/relationships" r:embed="rId2"/>
          <a:srcRect/>
          <a:stretch>
            <a:fillRect l="-52000" r="-52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B2B10F68-512F-4683-BEE4-9F8C729BF5C7}">
      <dsp:nvSpPr>
        <dsp:cNvPr id="0" name=""/>
        <dsp:cNvSpPr/>
      </dsp:nvSpPr>
      <dsp:spPr>
        <a:xfrm>
          <a:off x="6853959" y="0"/>
          <a:ext cx="3326126" cy="4319588"/>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IN" sz="2400" kern="1200" dirty="0">
              <a:latin typeface="Casper" panose="02000506000000020004"/>
              <a:cs typeface="Times New Roman" panose="02020603050405020304" pitchFamily="18" charset="0"/>
            </a:rPr>
            <a:t>Students will learn quantisation of energy in confined state.</a:t>
          </a:r>
        </a:p>
      </dsp:txBody>
      <dsp:txXfrm>
        <a:off x="6853959" y="1727835"/>
        <a:ext cx="3326126" cy="1727835"/>
      </dsp:txXfrm>
    </dsp:sp>
    <dsp:sp modelId="{248B46C9-1690-4475-9D9E-0B3167A7796B}">
      <dsp:nvSpPr>
        <dsp:cNvPr id="0" name=""/>
        <dsp:cNvSpPr/>
      </dsp:nvSpPr>
      <dsp:spPr>
        <a:xfrm>
          <a:off x="7797811" y="259175"/>
          <a:ext cx="1438422" cy="1438422"/>
        </a:xfrm>
        <a:prstGeom prst="ellipse">
          <a:avLst/>
        </a:prstGeom>
        <a:blipFill rotWithShape="1">
          <a:blip xmlns:r="http://schemas.openxmlformats.org/officeDocument/2006/relationships" r:embed="rId3"/>
          <a:srcRect/>
          <a:stretch>
            <a:fillRect l="-112000" r="-112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323C8708-EBC8-4346-B9D7-F4F4FED58C31}">
      <dsp:nvSpPr>
        <dsp:cNvPr id="0" name=""/>
        <dsp:cNvSpPr/>
      </dsp:nvSpPr>
      <dsp:spPr>
        <a:xfrm>
          <a:off x="407288" y="3455670"/>
          <a:ext cx="9367646" cy="647938"/>
        </a:xfrm>
        <a:prstGeom prst="leftRightArrow">
          <a:avLst/>
        </a:prstGeom>
        <a:gradFill rotWithShape="0">
          <a:gsLst>
            <a:gs pos="0">
              <a:schemeClr val="accent2">
                <a:tint val="40000"/>
                <a:hueOff val="0"/>
                <a:satOff val="0"/>
                <a:lumOff val="0"/>
                <a:alphaOff val="0"/>
                <a:lumMod val="110000"/>
                <a:satMod val="105000"/>
                <a:tint val="67000"/>
              </a:schemeClr>
            </a:gs>
            <a:gs pos="50000">
              <a:schemeClr val="accent2">
                <a:tint val="40000"/>
                <a:hueOff val="0"/>
                <a:satOff val="0"/>
                <a:lumOff val="0"/>
                <a:alphaOff val="0"/>
                <a:lumMod val="105000"/>
                <a:satMod val="103000"/>
                <a:tint val="73000"/>
              </a:schemeClr>
            </a:gs>
            <a:gs pos="100000">
              <a:schemeClr val="accent2">
                <a:tint val="40000"/>
                <a:hueOff val="0"/>
                <a:satOff val="0"/>
                <a:lumOff val="0"/>
                <a:alphaOff val="0"/>
                <a:lumMod val="105000"/>
                <a:satMod val="109000"/>
                <a:tint val="81000"/>
              </a:schemeClr>
            </a:gs>
          </a:gsLst>
          <a:lin ang="5400000" scaled="0"/>
        </a:gradFill>
        <a:ln w="6350" cap="flat" cmpd="sng" algn="ctr">
          <a:solidFill>
            <a:schemeClr val="lt1">
              <a:hueOff val="0"/>
              <a:satOff val="0"/>
              <a:lumOff val="0"/>
              <a:alphaOff val="0"/>
            </a:schemeClr>
          </a:solidFill>
          <a:prstDash val="solid"/>
          <a:miter lim="800000"/>
        </a:ln>
        <a:effectLst/>
        <a:scene3d>
          <a:camera prst="orthographicFront"/>
          <a:lightRig rig="flat" dir="t"/>
        </a:scene3d>
        <a:sp3d prstMaterial="dkEdge">
          <a:bevelT w="8200" h="38100"/>
        </a:sp3d>
      </dsp:spPr>
      <dsp:style>
        <a:lnRef idx="1">
          <a:scrgbClr r="0" g="0" b="0"/>
        </a:lnRef>
        <a:fillRef idx="2">
          <a:scrgbClr r="0" g="0" b="0"/>
        </a:fillRef>
        <a:effectRef idx="1">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068D47-9128-40CC-9FDB-255F7888DD74}">
      <dsp:nvSpPr>
        <dsp:cNvPr id="0" name=""/>
        <dsp:cNvSpPr/>
      </dsp:nvSpPr>
      <dsp:spPr>
        <a:xfrm>
          <a:off x="0" y="163268"/>
          <a:ext cx="10515600" cy="12168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latin typeface="Casper"/>
            </a:rPr>
            <a:t>FREE- PARTICLE</a:t>
          </a:r>
        </a:p>
      </dsp:txBody>
      <dsp:txXfrm>
        <a:off x="59399" y="222667"/>
        <a:ext cx="10396802" cy="1098002"/>
      </dsp:txXfrm>
    </dsp:sp>
    <dsp:sp modelId="{95EE82A3-9D85-4348-BDCF-41A34F9FDCD9}">
      <dsp:nvSpPr>
        <dsp:cNvPr id="0" name=""/>
        <dsp:cNvSpPr/>
      </dsp:nvSpPr>
      <dsp:spPr>
        <a:xfrm>
          <a:off x="0" y="1567269"/>
          <a:ext cx="10515600" cy="12168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latin typeface="Casper"/>
            </a:rPr>
            <a:t> POTENTIAL WELL</a:t>
          </a:r>
        </a:p>
      </dsp:txBody>
      <dsp:txXfrm>
        <a:off x="59399" y="1626668"/>
        <a:ext cx="10396802" cy="1098002"/>
      </dsp:txXfrm>
    </dsp:sp>
    <dsp:sp modelId="{39DC17CC-CDC2-40D3-BAA9-46197E8D6CA7}">
      <dsp:nvSpPr>
        <dsp:cNvPr id="0" name=""/>
        <dsp:cNvSpPr/>
      </dsp:nvSpPr>
      <dsp:spPr>
        <a:xfrm>
          <a:off x="0" y="2864111"/>
          <a:ext cx="10515600" cy="12168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latin typeface="Casper"/>
            </a:rPr>
            <a:t>PARTICLE IN A BOX</a:t>
          </a:r>
        </a:p>
      </dsp:txBody>
      <dsp:txXfrm>
        <a:off x="59399" y="2923510"/>
        <a:ext cx="10396802" cy="1098002"/>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t>6/15/2023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sites.google.com/site/puenggphysics/home/unit-iv/a-free-particle/Picture4.jpg?attredirects=0" TargetMode="External"/><Relationship Id="rId2" Type="http://schemas.openxmlformats.org/officeDocument/2006/relationships/image" Target="../media/image18.gif"/><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seekpng.com/ipng/u2q8u2y3w7q8i1o0_particle-in-one-dimensional-box/" TargetMode="External"/><Relationship Id="rId2" Type="http://schemas.openxmlformats.org/officeDocument/2006/relationships/hyperlink" Target="https://sites.google.com/site/puenggphysics/home/unit-iv/a-free-particle" TargetMode="External"/><Relationship Id="rId1" Type="http://schemas.openxmlformats.org/officeDocument/2006/relationships/slideLayout" Target="../slideLayouts/slideLayout2.xml"/><Relationship Id="rId4" Type="http://schemas.openxmlformats.org/officeDocument/2006/relationships/hyperlink" Target="https://chem.libretexts.org/Bookshelves/Physical_and_Theoretical_Chemistry_Textbook_Maps/Map:_Physical_Chemistry_for_the_Biosciences_(Chang)/11:_Quantum_Mechanics_and_Atomic_Structure/11.08:_Particle_in_a_One-Dimensional_Box#:~:text=A%20particle%20in%20a%201,from%20which%20it%20cannot%20escape."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iopscience.iop.org/book/978-0-7503-1206-6/chapter/bk978-0-7503-1206-6ch2" TargetMode="External"/><Relationship Id="rId2" Type="http://schemas.openxmlformats.org/officeDocument/2006/relationships/hyperlink" Target="http://www.physics.umd.edu/courses/Phys270/Jenkins/LectureChapters41v3.pdf" TargetMode="External"/><Relationship Id="rId1" Type="http://schemas.openxmlformats.org/officeDocument/2006/relationships/slideLayout" Target="../slideLayouts/slideLayout2.xml"/><Relationship Id="rId4" Type="http://schemas.openxmlformats.org/officeDocument/2006/relationships/hyperlink" Target="https://sites.google.com/site/puenggphysics/home/unit-iv/a-free-particle"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www.youtube.com/watch?v=zxn9SwYtzgw" TargetMode="External"/><Relationship Id="rId2" Type="http://schemas.openxmlformats.org/officeDocument/2006/relationships/hyperlink" Target="https://www.youtube.com/watch?v=lGKKdLmRNQw"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1" y="4718027"/>
            <a:ext cx="1219200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lum bright="77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335292" y="5741723"/>
            <a:ext cx="4912783" cy="172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UNIT 3</a:t>
            </a:r>
          </a:p>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QUANTUM MECHANICS</a:t>
            </a:r>
          </a:p>
          <a:p>
            <a:pPr lvl="0" algn="ctr" defTabSz="622300">
              <a:lnSpc>
                <a:spcPct val="90000"/>
              </a:lnSpc>
              <a:spcBef>
                <a:spcPct val="0"/>
              </a:spcBef>
              <a:spcAft>
                <a:spcPct val="35000"/>
              </a:spcAft>
            </a:pPr>
            <a:endParaRPr lang="en-US" sz="24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
        <p:nvSpPr>
          <p:cNvPr id="26" name="TextBox 25"/>
          <p:cNvSpPr txBox="1">
            <a:spLocks noChangeArrowheads="1"/>
          </p:cNvSpPr>
          <p:nvPr/>
        </p:nvSpPr>
        <p:spPr bwMode="auto">
          <a:xfrm>
            <a:off x="3012141" y="1092419"/>
            <a:ext cx="8192437" cy="6915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INSTITUTE :UIE</a:t>
            </a:r>
          </a:p>
          <a:p>
            <a:pPr lvl="0"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DEPARTMENT: ALL ACADEMIC UNITS</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Bachelor of Engineering (All Sections)</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Subject Name and Code:</a:t>
            </a:r>
          </a:p>
          <a:p>
            <a:pPr lvl="0" algn="ctr" defTabSz="622300">
              <a:lnSpc>
                <a:spcPct val="90000"/>
              </a:lnSpc>
              <a:spcBef>
                <a:spcPct val="0"/>
              </a:spcBef>
              <a:spcAft>
                <a:spcPct val="35000"/>
              </a:spcAft>
            </a:pPr>
            <a:r>
              <a:rPr lang="en-US" sz="3200">
                <a:latin typeface="Times New Roman" pitchFamily="18" charset="0"/>
                <a:ea typeface="Calibri" panose="020F0502020204030204" pitchFamily="34" charset="0"/>
                <a:cs typeface="Times New Roman" panose="02020603050405020304" pitchFamily="18" charset="0"/>
              </a:rPr>
              <a:t>Engineering Physics 23SPH-141</a:t>
            </a:r>
          </a:p>
          <a:p>
            <a:pPr lvl="0" algn="ctr" defTabSz="622300">
              <a:lnSpc>
                <a:spcPct val="90000"/>
              </a:lnSpc>
              <a:spcBef>
                <a:spcPct val="0"/>
              </a:spcBef>
              <a:spcAft>
                <a:spcPct val="35000"/>
              </a:spcAft>
            </a:pPr>
            <a:r>
              <a:rPr lang="en-US" sz="2800">
                <a:latin typeface="Times New Roman" pitchFamily="18" charset="0"/>
                <a:ea typeface="Calibri" panose="020F0502020204030204" pitchFamily="34" charset="0"/>
                <a:cs typeface="Times New Roman" panose="02020603050405020304" pitchFamily="18" charset="0"/>
              </a:rPr>
              <a:t>Prepared </a:t>
            </a:r>
            <a:r>
              <a:rPr lang="en-US" sz="2800" dirty="0">
                <a:latin typeface="Times New Roman" pitchFamily="18" charset="0"/>
                <a:ea typeface="Calibri" panose="020F0502020204030204" pitchFamily="34" charset="0"/>
                <a:cs typeface="Times New Roman" panose="02020603050405020304" pitchFamily="18" charset="0"/>
              </a:rPr>
              <a:t>by: Ms. </a:t>
            </a:r>
            <a:r>
              <a:rPr lang="en-US" sz="2800" dirty="0" err="1">
                <a:latin typeface="Times New Roman" pitchFamily="18" charset="0"/>
                <a:ea typeface="Calibri" panose="020F0502020204030204" pitchFamily="34" charset="0"/>
                <a:cs typeface="Times New Roman" panose="02020603050405020304" pitchFamily="18" charset="0"/>
              </a:rPr>
              <a:t>Arminder</a:t>
            </a:r>
            <a:endParaRPr lang="en-US" sz="2800" dirty="0">
              <a:latin typeface="Times New Roman"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11359166" y="6356350"/>
            <a:ext cx="223234" cy="365125"/>
          </a:xfrm>
          <a:ln>
            <a:solidFill>
              <a:schemeClr val="accent1"/>
            </a:solidFill>
          </a:ln>
        </p:spPr>
        <p:txBody>
          <a:bodyPr/>
          <a:lstStyle/>
          <a:p>
            <a:fld id="{BDCDBBEF-AA6C-4BA6-85B2-A17D7F280E38}" type="slidenum">
              <a:rPr lang="en-US" smtClean="0"/>
              <a:t>2</a:t>
            </a:fld>
            <a:endParaRPr lang="en-US" dirty="0"/>
          </a:p>
        </p:txBody>
      </p:sp>
      <p:sp>
        <p:nvSpPr>
          <p:cNvPr id="10" name="Oval 9"/>
          <p:cNvSpPr/>
          <p:nvPr/>
        </p:nvSpPr>
        <p:spPr>
          <a:xfrm>
            <a:off x="11217276" y="6324600"/>
            <a:ext cx="444500" cy="42227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96EF3AC-12D8-4376-826F-0CDE220D0DD9}"/>
              </a:ext>
            </a:extLst>
          </p:cNvPr>
          <p:cNvSpPr txBox="1"/>
          <p:nvPr/>
        </p:nvSpPr>
        <p:spPr>
          <a:xfrm>
            <a:off x="1519707" y="200819"/>
            <a:ext cx="10062693" cy="769441"/>
          </a:xfrm>
          <a:prstGeom prst="rect">
            <a:avLst/>
          </a:prstGeom>
          <a:solidFill>
            <a:schemeClr val="bg1"/>
          </a:solidFill>
          <a:ln>
            <a:solidFill>
              <a:srgbClr val="C00000"/>
            </a:solidFill>
          </a:ln>
        </p:spPr>
        <p:txBody>
          <a:bodyPr wrap="square" rtlCol="0">
            <a:spAutoFit/>
          </a:bodyPr>
          <a:lstStyle/>
          <a:p>
            <a:pPr algn="ctr"/>
            <a:r>
              <a:rPr lang="en-IN" sz="4400" b="1" dirty="0">
                <a:latin typeface="Casper Bold"/>
              </a:rPr>
              <a:t>COURSE OBJECTIVES</a:t>
            </a:r>
          </a:p>
        </p:txBody>
      </p:sp>
      <p:sp>
        <p:nvSpPr>
          <p:cNvPr id="7" name="Rectangle 6">
            <a:extLst>
              <a:ext uri="{FF2B5EF4-FFF2-40B4-BE49-F238E27FC236}">
                <a16:creationId xmlns:a16="http://schemas.microsoft.com/office/drawing/2014/main" id="{9E9E0D1A-55C5-463F-89FE-BD77E41FFD1A}"/>
              </a:ext>
            </a:extLst>
          </p:cNvPr>
          <p:cNvSpPr/>
          <p:nvPr/>
        </p:nvSpPr>
        <p:spPr>
          <a:xfrm>
            <a:off x="1210092" y="1837121"/>
            <a:ext cx="10241791" cy="4214231"/>
          </a:xfrm>
          <a:prstGeom prst="rect">
            <a:avLst/>
          </a:prstGeom>
          <a:ln>
            <a:solidFill>
              <a:schemeClr val="accent1"/>
            </a:solidFill>
          </a:ln>
        </p:spPr>
        <p:txBody>
          <a:bodyPr wrap="square">
            <a:spAutoFit/>
          </a:bodyPr>
          <a:lstStyle/>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The course is designed to make the students industry ready to contribute in the growing demand of the industry at local, national and international level.</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make the students competent to understand basic concepts and applications of advanced engineering physics and apply its principles in their respective fields at global platform.</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enhance the skill level of the students and shall make them preferred choice for getting employment in industry and research labs.</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give thorough knowledge of the discipline to enable students to disseminate knowledge in pursuing excellence in academic areas.</a:t>
            </a:r>
          </a:p>
          <a:p>
            <a:pPr marL="342900" marR="38100" lvl="0" indent="-342900" algn="just">
              <a:lnSpc>
                <a:spcPct val="93000"/>
              </a:lnSpc>
              <a:spcAft>
                <a:spcPts val="0"/>
              </a:spcAft>
              <a:buFont typeface="+mj-lt"/>
              <a:buAutoNum type="arabicPeriod"/>
              <a:tabLst>
                <a:tab pos="330200" algn="l"/>
              </a:tabLst>
            </a:pPr>
            <a:endParaRPr lang="en-IN" sz="2400" dirty="0">
              <a:effectLst/>
              <a:latin typeface="Casper" panose="02000506000000020004"/>
              <a:ea typeface="Times New Roman" panose="02020603050405020304" pitchFamily="18" charset="0"/>
            </a:endParaRPr>
          </a:p>
          <a:p>
            <a:pPr marR="38100" lvl="0" algn="just">
              <a:lnSpc>
                <a:spcPct val="93000"/>
              </a:lnSpc>
              <a:spcAft>
                <a:spcPts val="0"/>
              </a:spcAft>
              <a:tabLst>
                <a:tab pos="330200" algn="l"/>
              </a:tabLst>
            </a:pPr>
            <a:endParaRPr lang="en-IN" sz="2400" dirty="0">
              <a:effectLst/>
              <a:latin typeface="Casper" panose="02000506000000020004"/>
              <a:ea typeface="Times New Roman" panose="02020603050405020304" pitchFamily="18" charset="0"/>
            </a:endParaRPr>
          </a:p>
        </p:txBody>
      </p:sp>
    </p:spTree>
    <p:extLst>
      <p:ext uri="{BB962C8B-B14F-4D97-AF65-F5344CB8AC3E}">
        <p14:creationId xmlns:p14="http://schemas.microsoft.com/office/powerpoint/2010/main" val="433236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3</a:t>
            </a:fld>
            <a:endParaRPr lang="en-US"/>
          </a:p>
        </p:txBody>
      </p:sp>
      <p:sp>
        <p:nvSpPr>
          <p:cNvPr id="8" name="Rectangle 7"/>
          <p:cNvSpPr/>
          <p:nvPr/>
        </p:nvSpPr>
        <p:spPr>
          <a:xfrm>
            <a:off x="2096394" y="256020"/>
            <a:ext cx="8507916" cy="1138773"/>
          </a:xfrm>
          <a:prstGeom prst="rect">
            <a:avLst/>
          </a:prstGeom>
        </p:spPr>
        <p:txBody>
          <a:bodyPr wrap="square">
            <a:spAutoFit/>
          </a:bodyPr>
          <a:lstStyle/>
          <a:p>
            <a:pPr algn="ctr"/>
            <a:r>
              <a:rPr lang="en-US" sz="4400" b="1" dirty="0">
                <a:latin typeface="Casper" panose="02000506000000020004"/>
                <a:cs typeface="Times New Roman" pitchFamily="18" charset="0"/>
              </a:rPr>
              <a:t>COURSE OUTCOME</a:t>
            </a:r>
            <a:endParaRPr lang="en-US" sz="4400" b="1" dirty="0">
              <a:latin typeface="Casper" panose="02000506000000020004"/>
            </a:endParaRPr>
          </a:p>
          <a:p>
            <a:r>
              <a:rPr lang="en-US" sz="2400" b="1" dirty="0">
                <a:latin typeface="Casper" panose="02000506000000020004"/>
              </a:rPr>
              <a:t>       </a:t>
            </a:r>
          </a:p>
        </p:txBody>
      </p:sp>
      <p:pic>
        <p:nvPicPr>
          <p:cNvPr id="9" name="Picture 2"/>
          <p:cNvPicPr>
            <a:picLocks noChangeAspect="1" noChangeArrowheads="1"/>
          </p:cNvPicPr>
          <p:nvPr/>
        </p:nvPicPr>
        <p:blipFill>
          <a:blip r:embed="rId2"/>
          <a:srcRect/>
          <a:stretch>
            <a:fillRect/>
          </a:stretch>
        </p:blipFill>
        <p:spPr bwMode="auto">
          <a:xfrm>
            <a:off x="10795992" y="75716"/>
            <a:ext cx="1115616" cy="461141"/>
          </a:xfrm>
          <a:prstGeom prst="rect">
            <a:avLst/>
          </a:prstGeom>
          <a:noFill/>
          <a:ln w="9525">
            <a:noFill/>
            <a:miter lim="800000"/>
            <a:headEnd/>
            <a:tailEnd/>
          </a:ln>
          <a:effectLst/>
        </p:spPr>
      </p:pic>
      <p:graphicFrame>
        <p:nvGraphicFramePr>
          <p:cNvPr id="6" name="Table 5"/>
          <p:cNvGraphicFramePr>
            <a:graphicFrameLocks noGrp="1"/>
          </p:cNvGraphicFramePr>
          <p:nvPr>
            <p:extLst>
              <p:ext uri="{D42A27DB-BD31-4B8C-83A1-F6EECF244321}">
                <p14:modId xmlns:p14="http://schemas.microsoft.com/office/powerpoint/2010/main" val="3612983091"/>
              </p:ext>
            </p:extLst>
          </p:nvPr>
        </p:nvGraphicFramePr>
        <p:xfrm>
          <a:off x="177421" y="2096487"/>
          <a:ext cx="5477164" cy="4637392"/>
        </p:xfrm>
        <a:graphic>
          <a:graphicData uri="http://schemas.openxmlformats.org/drawingml/2006/table">
            <a:tbl>
              <a:tblPr firstRow="1" firstCol="1" bandRow="1">
                <a:tableStyleId>{5940675A-B579-460E-94D1-54222C63F5DA}</a:tableStyleId>
              </a:tblPr>
              <a:tblGrid>
                <a:gridCol w="843045">
                  <a:extLst>
                    <a:ext uri="{9D8B030D-6E8A-4147-A177-3AD203B41FA5}">
                      <a16:colId xmlns:a16="http://schemas.microsoft.com/office/drawing/2014/main" val="20000"/>
                    </a:ext>
                  </a:extLst>
                </a:gridCol>
                <a:gridCol w="3661864">
                  <a:extLst>
                    <a:ext uri="{9D8B030D-6E8A-4147-A177-3AD203B41FA5}">
                      <a16:colId xmlns:a16="http://schemas.microsoft.com/office/drawing/2014/main" val="20001"/>
                    </a:ext>
                  </a:extLst>
                </a:gridCol>
                <a:gridCol w="972255">
                  <a:extLst>
                    <a:ext uri="{9D8B030D-6E8A-4147-A177-3AD203B41FA5}">
                      <a16:colId xmlns:a16="http://schemas.microsoft.com/office/drawing/2014/main" val="20002"/>
                    </a:ext>
                  </a:extLst>
                </a:gridCol>
              </a:tblGrid>
              <a:tr h="709941">
                <a:tc>
                  <a:txBody>
                    <a:bodyPr/>
                    <a:lstStyle/>
                    <a:p>
                      <a:pPr marL="0" marR="0">
                        <a:lnSpc>
                          <a:spcPct val="115000"/>
                        </a:lnSpc>
                        <a:spcBef>
                          <a:spcPts val="0"/>
                        </a:spcBef>
                        <a:spcAft>
                          <a:spcPts val="0"/>
                        </a:spcAft>
                      </a:pPr>
                      <a:r>
                        <a:rPr lang="en-US" sz="1200" b="0" dirty="0">
                          <a:effectLst/>
                        </a:rPr>
                        <a:t>CO Number</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Title </a:t>
                      </a:r>
                    </a:p>
                    <a:p>
                      <a:pPr marL="0" marR="0">
                        <a:lnSpc>
                          <a:spcPct val="115000"/>
                        </a:lnSpc>
                        <a:spcBef>
                          <a:spcPts val="0"/>
                        </a:spcBef>
                        <a:spcAft>
                          <a:spcPts val="0"/>
                        </a:spcAft>
                      </a:pPr>
                      <a:r>
                        <a:rPr lang="en-IN" sz="1200" kern="1200" dirty="0">
                          <a:solidFill>
                            <a:schemeClr val="tx1"/>
                          </a:solidFill>
                          <a:effectLst/>
                          <a:latin typeface="+mn-lt"/>
                          <a:ea typeface="+mn-ea"/>
                          <a:cs typeface="+mn-cs"/>
                        </a:rPr>
                        <a:t>On completion of this course, the students are expected to learn</a:t>
                      </a:r>
                      <a:endParaRPr lang="en-US"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Level </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79638">
                <a:tc>
                  <a:txBody>
                    <a:bodyPr/>
                    <a:lstStyle/>
                    <a:p>
                      <a:pPr marL="0" marR="0">
                        <a:lnSpc>
                          <a:spcPct val="115000"/>
                        </a:lnSpc>
                        <a:spcBef>
                          <a:spcPts val="0"/>
                        </a:spcBef>
                        <a:spcAft>
                          <a:spcPts val="0"/>
                        </a:spcAft>
                      </a:pPr>
                      <a:r>
                        <a:rPr lang="en-US" sz="1200" b="1" dirty="0">
                          <a:solidFill>
                            <a:schemeClr val="tx1"/>
                          </a:solidFill>
                          <a:effectLst/>
                          <a:latin typeface="+mn-lt"/>
                          <a:ea typeface="Times New Roman" panose="02020603050405020304" pitchFamily="18" charset="0"/>
                          <a:cs typeface="Times New Roman" panose="02020603050405020304" pitchFamily="18" charset="0"/>
                        </a:rPr>
                        <a:t>CO1</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Quote the basic fundamental concepts of lasers, optical </a:t>
                      </a:r>
                      <a:r>
                        <a:rPr lang="en-US" sz="1100" dirty="0" err="1">
                          <a:effectLst/>
                          <a:latin typeface="Calibri"/>
                          <a:ea typeface="Calibri"/>
                          <a:cs typeface="Calibri"/>
                        </a:rPr>
                        <a:t>fibres</a:t>
                      </a:r>
                      <a:r>
                        <a:rPr lang="en-US" sz="1100" dirty="0">
                          <a:effectLst/>
                          <a:latin typeface="Calibri"/>
                          <a:ea typeface="Calibri"/>
                          <a:cs typeface="Calibri"/>
                        </a:rPr>
                        <a:t>, crystallography, ultrasonic oscillations, semiconductor physics, quantum mechanics and nanotechnology.</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solidFill>
                            <a:schemeClr val="tx1"/>
                          </a:solidFill>
                          <a:effectLst/>
                          <a:latin typeface="+mn-lt"/>
                        </a:rPr>
                        <a:t>Remember, Understand</a:t>
                      </a:r>
                    </a:p>
                    <a:p>
                      <a:pPr marL="0" marR="0">
                        <a:lnSpc>
                          <a:spcPct val="115000"/>
                        </a:lnSpc>
                        <a:spcBef>
                          <a:spcPts val="0"/>
                        </a:spcBef>
                        <a:spcAft>
                          <a:spcPts val="0"/>
                        </a:spcAft>
                      </a:pPr>
                      <a:r>
                        <a:rPr lang="en-US" sz="1200" b="0" dirty="0">
                          <a:solidFill>
                            <a:schemeClr val="tx1"/>
                          </a:solidFill>
                          <a:effectLst/>
                          <a:latin typeface="+mn-lt"/>
                        </a:rPr>
                        <a:t> </a:t>
                      </a: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776699">
                <a:tc>
                  <a:txBody>
                    <a:bodyPr/>
                    <a:lstStyle/>
                    <a:p>
                      <a:pPr marL="0" marR="0">
                        <a:lnSpc>
                          <a:spcPct val="115000"/>
                        </a:lnSpc>
                        <a:spcBef>
                          <a:spcPts val="0"/>
                        </a:spcBef>
                        <a:spcAft>
                          <a:spcPts val="0"/>
                        </a:spcAft>
                      </a:pPr>
                      <a:r>
                        <a:rPr lang="en-US" sz="1200" b="1" dirty="0">
                          <a:solidFill>
                            <a:schemeClr val="tx1"/>
                          </a:solidFill>
                          <a:effectLst/>
                          <a:latin typeface="+mn-lt"/>
                          <a:ea typeface="Times New Roman" panose="02020603050405020304" pitchFamily="18" charset="0"/>
                          <a:cs typeface="Times New Roman" panose="02020603050405020304" pitchFamily="18" charset="0"/>
                        </a:rPr>
                        <a:t>CO2</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Demonstrate the working of various lasers, </a:t>
                      </a:r>
                      <a:r>
                        <a:rPr lang="en-US" sz="1100" dirty="0" err="1">
                          <a:effectLst/>
                          <a:latin typeface="Calibri"/>
                          <a:ea typeface="Calibri"/>
                          <a:cs typeface="Calibri"/>
                        </a:rPr>
                        <a:t>fibre</a:t>
                      </a:r>
                      <a:r>
                        <a:rPr lang="en-US" sz="1100" dirty="0">
                          <a:effectLst/>
                          <a:latin typeface="Calibri"/>
                          <a:ea typeface="Calibri"/>
                          <a:cs typeface="Calibri"/>
                        </a:rPr>
                        <a:t> components, semiconductor devices; explain the </a:t>
                      </a:r>
                      <a:r>
                        <a:rPr lang="en-US" sz="1100" dirty="0" err="1">
                          <a:effectLst/>
                          <a:latin typeface="Calibri"/>
                          <a:ea typeface="Calibri"/>
                          <a:cs typeface="Calibri"/>
                        </a:rPr>
                        <a:t>behaviour</a:t>
                      </a:r>
                      <a:r>
                        <a:rPr lang="en-US" sz="1100" dirty="0">
                          <a:effectLst/>
                          <a:latin typeface="Calibri"/>
                          <a:ea typeface="Calibri"/>
                          <a:cs typeface="Calibri"/>
                        </a:rPr>
                        <a:t> of crystalline solids, quantum and </a:t>
                      </a:r>
                      <a:r>
                        <a:rPr lang="en-US" sz="1100" dirty="0" err="1">
                          <a:effectLst/>
                          <a:latin typeface="Calibri"/>
                          <a:ea typeface="Calibri"/>
                          <a:cs typeface="Calibri"/>
                        </a:rPr>
                        <a:t>nano</a:t>
                      </a:r>
                      <a:r>
                        <a:rPr lang="en-US" sz="1100" dirty="0">
                          <a:effectLst/>
                          <a:latin typeface="Calibri"/>
                          <a:ea typeface="Calibri"/>
                          <a:cs typeface="Calibri"/>
                        </a:rPr>
                        <a:t>-scale systems.</a:t>
                      </a:r>
                      <a:endParaRPr lang="en-US" sz="1100" dirty="0">
                        <a:effectLst/>
                        <a:latin typeface="Calibri"/>
                        <a:ea typeface="Calibri"/>
                        <a:cs typeface="Times New Roman"/>
                      </a:endParaRPr>
                    </a:p>
                  </a:txBody>
                  <a:tcPr marL="68580" marR="68580" marT="0" marB="0"/>
                </a:tc>
                <a:tc>
                  <a:txBody>
                    <a:bodyPr/>
                    <a:lstStyle/>
                    <a:p>
                      <a:pPr marL="0" marR="0" algn="l">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Understand</a:t>
                      </a:r>
                    </a:p>
                  </a:txBody>
                  <a:tcPr marL="68580" marR="68580" marT="0" marB="0"/>
                </a:tc>
                <a:extLst>
                  <a:ext uri="{0D108BD9-81ED-4DB2-BD59-A6C34878D82A}">
                    <a16:rowId xmlns:a16="http://schemas.microsoft.com/office/drawing/2014/main" val="10004"/>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CO3</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Solve problems by applying principles related to lasers, </a:t>
                      </a:r>
                      <a:r>
                        <a:rPr lang="en-US" sz="1100" dirty="0" err="1">
                          <a:effectLst/>
                          <a:latin typeface="Calibri"/>
                          <a:ea typeface="Calibri"/>
                          <a:cs typeface="Calibri"/>
                        </a:rPr>
                        <a:t>fibres</a:t>
                      </a:r>
                      <a:r>
                        <a:rPr lang="en-US" sz="1100" dirty="0">
                          <a:effectLst/>
                          <a:latin typeface="Calibri"/>
                          <a:ea typeface="Calibri"/>
                          <a:cs typeface="Calibri"/>
                        </a:rPr>
                        <a:t>, semiconductors, oscillations, quantum and </a:t>
                      </a:r>
                      <a:r>
                        <a:rPr lang="en-US" sz="1100" dirty="0" err="1">
                          <a:effectLst/>
                          <a:latin typeface="Calibri"/>
                          <a:ea typeface="Calibri"/>
                          <a:cs typeface="Calibri"/>
                        </a:rPr>
                        <a:t>nanoscience</a:t>
                      </a:r>
                      <a:r>
                        <a:rPr lang="en-US" sz="1100" dirty="0">
                          <a:effectLst/>
                          <a:latin typeface="Calibri"/>
                          <a:ea typeface="Calibri"/>
                          <a:cs typeface="Calibri"/>
                        </a:rPr>
                        <a:t>.</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rPr>
                        <a:t>Applying </a:t>
                      </a:r>
                    </a:p>
                    <a:p>
                      <a:pPr marL="0" marR="0" indent="0" algn="l" defTabSz="914400" rtl="0" eaLnBrk="1" fontAlgn="auto" latinLnBrk="0" hangingPunct="1">
                        <a:lnSpc>
                          <a:spcPct val="115000"/>
                        </a:lnSpc>
                        <a:spcBef>
                          <a:spcPts val="0"/>
                        </a:spcBef>
                        <a:spcAft>
                          <a:spcPts val="0"/>
                        </a:spcAft>
                        <a:buClrTx/>
                        <a:buSzTx/>
                        <a:buFontTx/>
                        <a:buNone/>
                        <a:tabLst/>
                        <a:defRPr/>
                      </a:pP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CO4</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Compare various lasers and </a:t>
                      </a:r>
                      <a:r>
                        <a:rPr lang="en-US" sz="1100" dirty="0" err="1">
                          <a:effectLst/>
                          <a:latin typeface="Calibri"/>
                          <a:ea typeface="Calibri"/>
                          <a:cs typeface="Calibri"/>
                        </a:rPr>
                        <a:t>fibres</a:t>
                      </a:r>
                      <a:r>
                        <a:rPr lang="en-US" sz="1100" dirty="0">
                          <a:effectLst/>
                          <a:latin typeface="Calibri"/>
                          <a:ea typeface="Calibri"/>
                          <a:cs typeface="Calibri"/>
                        </a:rPr>
                        <a:t>, semiconducting devices, crystalline materials, structures at quantum and </a:t>
                      </a:r>
                      <a:r>
                        <a:rPr lang="en-US" sz="1100" dirty="0" err="1">
                          <a:effectLst/>
                          <a:latin typeface="Calibri"/>
                          <a:ea typeface="Calibri"/>
                          <a:cs typeface="Calibri"/>
                        </a:rPr>
                        <a:t>nanoscale</a:t>
                      </a:r>
                      <a:r>
                        <a:rPr lang="en-US" sz="1100" dirty="0">
                          <a:effectLst/>
                          <a:latin typeface="Calibri"/>
                          <a:ea typeface="Calibri"/>
                          <a:cs typeface="Calibri"/>
                        </a:rPr>
                        <a:t> on the basis of their properties for industrial applications.</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ea typeface="Times New Roman" panose="02020603050405020304" pitchFamily="18" charset="0"/>
                          <a:cs typeface="Times New Roman" panose="02020603050405020304" pitchFamily="18" charset="0"/>
                        </a:rPr>
                        <a:t>Analyze</a:t>
                      </a:r>
                    </a:p>
                  </a:txBody>
                  <a:tcPr marL="68580" marR="68580" marT="0" marB="0"/>
                </a:tc>
                <a:extLst>
                  <a:ext uri="{0D108BD9-81ED-4DB2-BD59-A6C34878D82A}">
                    <a16:rowId xmlns:a16="http://schemas.microsoft.com/office/drawing/2014/main" val="10002"/>
                  </a:ext>
                </a:extLst>
              </a:tr>
              <a:tr h="887612">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CO5</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Develop various systems using lasers, </a:t>
                      </a:r>
                      <a:r>
                        <a:rPr lang="en-US" sz="1100" dirty="0" err="1">
                          <a:effectLst/>
                          <a:latin typeface="Calibri"/>
                          <a:ea typeface="Calibri"/>
                          <a:cs typeface="Calibri"/>
                        </a:rPr>
                        <a:t>fibres</a:t>
                      </a:r>
                      <a:r>
                        <a:rPr lang="en-US" sz="1100" dirty="0">
                          <a:effectLst/>
                          <a:latin typeface="Calibri"/>
                          <a:ea typeface="Calibri"/>
                          <a:cs typeface="Calibri"/>
                        </a:rPr>
                        <a:t>, semiconductors and </a:t>
                      </a:r>
                      <a:r>
                        <a:rPr lang="en-US" sz="1100" dirty="0" err="1">
                          <a:effectLst/>
                          <a:latin typeface="Calibri"/>
                          <a:ea typeface="Calibri"/>
                          <a:cs typeface="Calibri"/>
                        </a:rPr>
                        <a:t>nanomaterials</a:t>
                      </a:r>
                      <a:r>
                        <a:rPr lang="en-US" sz="1100" dirty="0">
                          <a:effectLst/>
                          <a:latin typeface="Calibri"/>
                          <a:ea typeface="Calibri"/>
                          <a:cs typeface="Calibri"/>
                        </a:rPr>
                        <a:t> for futuristic applications.</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effectLst/>
                          <a:latin typeface="+mn-lt"/>
                        </a:rPr>
                        <a:t>Design</a:t>
                      </a:r>
                      <a:r>
                        <a:rPr lang="en-US" sz="1200" b="0" dirty="0">
                          <a:solidFill>
                            <a:schemeClr val="tx1"/>
                          </a:solidFill>
                          <a:effectLst/>
                          <a:latin typeface="+mn-lt"/>
                        </a:rPr>
                        <a:t> </a:t>
                      </a:r>
                    </a:p>
                    <a:p>
                      <a:pPr marL="0" marR="0" indent="0" algn="l" defTabSz="914400" rtl="0" eaLnBrk="1" fontAlgn="auto" latinLnBrk="0" hangingPunct="1">
                        <a:lnSpc>
                          <a:spcPct val="115000"/>
                        </a:lnSpc>
                        <a:spcBef>
                          <a:spcPts val="0"/>
                        </a:spcBef>
                        <a:spcAft>
                          <a:spcPts val="0"/>
                        </a:spcAft>
                        <a:buClrTx/>
                        <a:buSzTx/>
                        <a:buFontTx/>
                        <a:buNone/>
                        <a:tabLst/>
                        <a:defRPr/>
                      </a:pP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bl>
          </a:graphicData>
        </a:graphic>
      </p:graphicFrame>
      <p:pic>
        <p:nvPicPr>
          <p:cNvPr id="7" name="Picture 6" descr="Image result for quantum physi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9323" y="1992205"/>
            <a:ext cx="5164477" cy="4408595"/>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6253443" y="6495532"/>
            <a:ext cx="3206967" cy="369332"/>
          </a:xfrm>
          <a:prstGeom prst="rect">
            <a:avLst/>
          </a:prstGeom>
        </p:spPr>
        <p:txBody>
          <a:bodyPr wrap="none">
            <a:spAutoFit/>
          </a:bodyPr>
          <a:lstStyle/>
          <a:p>
            <a:pPr algn="ctr"/>
            <a:r>
              <a:rPr lang="en-US" dirty="0">
                <a:latin typeface="Casper"/>
              </a:rPr>
              <a:t>Figure 1 Quantum Theory [1]</a:t>
            </a:r>
          </a:p>
        </p:txBody>
      </p:sp>
    </p:spTree>
    <p:extLst>
      <p:ext uri="{BB962C8B-B14F-4D97-AF65-F5344CB8AC3E}">
        <p14:creationId xmlns:p14="http://schemas.microsoft.com/office/powerpoint/2010/main" val="2446018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8AC7EE2D-EA09-47AE-8E42-93B7EFA7BE8D}"/>
              </a:ext>
            </a:extLst>
          </p:cNvPr>
          <p:cNvGraphicFramePr/>
          <p:nvPr>
            <p:extLst>
              <p:ext uri="{D42A27DB-BD31-4B8C-83A1-F6EECF244321}">
                <p14:modId xmlns:p14="http://schemas.microsoft.com/office/powerpoint/2010/main" val="1199364387"/>
              </p:ext>
            </p:extLst>
          </p:nvPr>
        </p:nvGraphicFramePr>
        <p:xfrm>
          <a:off x="2250059" y="1310186"/>
          <a:ext cx="8128000" cy="50165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4DD4BA6F-458C-471C-8C28-91ED72EAB6B6}"/>
              </a:ext>
            </a:extLst>
          </p:cNvPr>
          <p:cNvSpPr txBox="1"/>
          <p:nvPr/>
        </p:nvSpPr>
        <p:spPr>
          <a:xfrm>
            <a:off x="1416676" y="259122"/>
            <a:ext cx="10045521" cy="769441"/>
          </a:xfrm>
          <a:prstGeom prst="rect">
            <a:avLst/>
          </a:prstGeom>
          <a:noFill/>
          <a:ln>
            <a:solidFill>
              <a:srgbClr val="C00000"/>
            </a:solidFill>
          </a:ln>
        </p:spPr>
        <p:txBody>
          <a:bodyPr wrap="square" rtlCol="0">
            <a:spAutoFit/>
          </a:bodyPr>
          <a:lstStyle/>
          <a:p>
            <a:pPr algn="ctr"/>
            <a:r>
              <a:rPr lang="en-IN" sz="4400" b="1" dirty="0">
                <a:latin typeface="Casper Bold" panose="02000806040000020004"/>
              </a:rPr>
              <a:t>INTRODUCTION</a:t>
            </a:r>
          </a:p>
        </p:txBody>
      </p:sp>
    </p:spTree>
    <p:extLst>
      <p:ext uri="{BB962C8B-B14F-4D97-AF65-F5344CB8AC3E}">
        <p14:creationId xmlns:p14="http://schemas.microsoft.com/office/powerpoint/2010/main" val="2261593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16B0E-1F9E-4AB3-A8DB-9B8EC1A15F10}"/>
              </a:ext>
            </a:extLst>
          </p:cNvPr>
          <p:cNvSpPr>
            <a:spLocks noGrp="1"/>
          </p:cNvSpPr>
          <p:nvPr>
            <p:ph type="title"/>
          </p:nvPr>
        </p:nvSpPr>
        <p:spPr>
          <a:xfrm>
            <a:off x="1282890" y="365125"/>
            <a:ext cx="10070910" cy="1095185"/>
          </a:xfrm>
          <a:ln>
            <a:solidFill>
              <a:srgbClr val="C00000"/>
            </a:solidFill>
          </a:ln>
        </p:spPr>
        <p:txBody>
          <a:bodyPr/>
          <a:lstStyle/>
          <a:p>
            <a:pPr algn="ctr"/>
            <a:r>
              <a:rPr lang="en-IN" b="1" dirty="0">
                <a:latin typeface="Casper" panose="02000506000000020004"/>
              </a:rPr>
              <a:t>LECTURE OBJECTIVE</a:t>
            </a:r>
          </a:p>
        </p:txBody>
      </p:sp>
      <p:sp>
        <p:nvSpPr>
          <p:cNvPr id="4" name="Slide Number Placeholder 3">
            <a:extLst>
              <a:ext uri="{FF2B5EF4-FFF2-40B4-BE49-F238E27FC236}">
                <a16:creationId xmlns:a16="http://schemas.microsoft.com/office/drawing/2014/main" id="{DB4A666C-B06C-4C5F-A5D3-460C93A567BF}"/>
              </a:ext>
            </a:extLst>
          </p:cNvPr>
          <p:cNvSpPr>
            <a:spLocks noGrp="1"/>
          </p:cNvSpPr>
          <p:nvPr>
            <p:ph type="sldNum" sz="quarter" idx="12"/>
          </p:nvPr>
        </p:nvSpPr>
        <p:spPr/>
        <p:txBody>
          <a:bodyPr/>
          <a:lstStyle/>
          <a:p>
            <a:fld id="{BDCDBBEF-AA6C-4BA6-85B2-A17D7F280E38}" type="slidenum">
              <a:rPr lang="en-US" smtClean="0"/>
              <a:t>5</a:t>
            </a:fld>
            <a:endParaRPr lang="en-US"/>
          </a:p>
        </p:txBody>
      </p:sp>
      <p:graphicFrame>
        <p:nvGraphicFramePr>
          <p:cNvPr id="6" name="Diagram 5">
            <a:extLst>
              <a:ext uri="{FF2B5EF4-FFF2-40B4-BE49-F238E27FC236}">
                <a16:creationId xmlns:a16="http://schemas.microsoft.com/office/drawing/2014/main" id="{9209D0F3-BE9E-4EAD-974F-A0A0732EE0FF}"/>
              </a:ext>
            </a:extLst>
          </p:cNvPr>
          <p:cNvGraphicFramePr/>
          <p:nvPr>
            <p:extLst>
              <p:ext uri="{D42A27DB-BD31-4B8C-83A1-F6EECF244321}">
                <p14:modId xmlns:p14="http://schemas.microsoft.com/office/powerpoint/2010/main" val="1360819738"/>
              </p:ext>
            </p:extLst>
          </p:nvPr>
        </p:nvGraphicFramePr>
        <p:xfrm>
          <a:off x="1171576" y="1638300"/>
          <a:ext cx="10182224" cy="43195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61185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4776" y="304091"/>
            <a:ext cx="9989024" cy="977120"/>
          </a:xfrm>
          <a:ln>
            <a:solidFill>
              <a:srgbClr val="C00000"/>
            </a:solidFill>
          </a:ln>
        </p:spPr>
        <p:txBody>
          <a:bodyPr>
            <a:normAutofit/>
          </a:bodyPr>
          <a:lstStyle/>
          <a:p>
            <a:pPr algn="ctr"/>
            <a:r>
              <a:rPr lang="en-US" b="1" dirty="0">
                <a:latin typeface="Casper Bold" panose="02000806040000020004" pitchFamily="2" charset="0"/>
                <a:cs typeface="Arial" panose="020B0604020202020204" pitchFamily="34" charset="0"/>
              </a:rPr>
              <a:t> CONTENT</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t>6</a:t>
            </a:fld>
            <a:endParaRPr lang="en-US"/>
          </a:p>
        </p:txBody>
      </p:sp>
      <p:graphicFrame>
        <p:nvGraphicFramePr>
          <p:cNvPr id="6" name="Content Placeholder 5">
            <a:extLst>
              <a:ext uri="{FF2B5EF4-FFF2-40B4-BE49-F238E27FC236}">
                <a16:creationId xmlns:a16="http://schemas.microsoft.com/office/drawing/2014/main" id="{D93E4609-49EF-46D7-B0B0-5484D1D96FF3}"/>
              </a:ext>
            </a:extLst>
          </p:cNvPr>
          <p:cNvGraphicFramePr>
            <a:graphicFrameLocks noGrp="1"/>
          </p:cNvGraphicFramePr>
          <p:nvPr>
            <p:ph idx="1"/>
            <p:extLst>
              <p:ext uri="{D42A27DB-BD31-4B8C-83A1-F6EECF244321}">
                <p14:modId xmlns:p14="http://schemas.microsoft.com/office/powerpoint/2010/main" val="12699437"/>
              </p:ext>
            </p:extLst>
          </p:nvPr>
        </p:nvGraphicFramePr>
        <p:xfrm>
          <a:off x="838200" y="16431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3702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0E65E-292E-4936-A41F-71DD894B5229}"/>
              </a:ext>
            </a:extLst>
          </p:cNvPr>
          <p:cNvSpPr>
            <a:spLocks noGrp="1"/>
          </p:cNvSpPr>
          <p:nvPr>
            <p:ph type="title"/>
          </p:nvPr>
        </p:nvSpPr>
        <p:spPr>
          <a:xfrm>
            <a:off x="838200" y="365125"/>
            <a:ext cx="10515600" cy="1281113"/>
          </a:xfrm>
          <a:ln>
            <a:solidFill>
              <a:srgbClr val="FF0000"/>
            </a:solidFill>
          </a:ln>
        </p:spPr>
        <p:txBody>
          <a:bodyPr>
            <a:normAutofit fontScale="90000"/>
          </a:bodyPr>
          <a:lstStyle/>
          <a:p>
            <a:pPr algn="ctr"/>
            <a:r>
              <a:rPr lang="en-IN" sz="4900" b="1" dirty="0">
                <a:latin typeface="Casper" panose="02000506000000020004"/>
              </a:rPr>
              <a:t>A FREE PARTICLE</a:t>
            </a:r>
            <a:br>
              <a:rPr lang="en-IN" b="1" dirty="0"/>
            </a:br>
            <a:endParaRPr lang="en-IN" dirty="0"/>
          </a:p>
        </p:txBody>
      </p:sp>
      <p:sp>
        <p:nvSpPr>
          <p:cNvPr id="3" name="Content Placeholder 2">
            <a:extLst>
              <a:ext uri="{FF2B5EF4-FFF2-40B4-BE49-F238E27FC236}">
                <a16:creationId xmlns:a16="http://schemas.microsoft.com/office/drawing/2014/main" id="{5FA4A7D5-B286-4237-81D3-4A0AC542FB0C}"/>
              </a:ext>
            </a:extLst>
          </p:cNvPr>
          <p:cNvSpPr>
            <a:spLocks noGrp="1"/>
          </p:cNvSpPr>
          <p:nvPr>
            <p:ph idx="1"/>
          </p:nvPr>
        </p:nvSpPr>
        <p:spPr>
          <a:xfrm>
            <a:off x="838199" y="1825625"/>
            <a:ext cx="10515599" cy="4351338"/>
          </a:xfrm>
          <a:ln>
            <a:solidFill>
              <a:schemeClr val="accent1"/>
            </a:solidFill>
          </a:ln>
        </p:spPr>
        <p:txBody>
          <a:bodyPr/>
          <a:lstStyle/>
          <a:p>
            <a:pPr marL="0" indent="0" algn="just">
              <a:buNone/>
            </a:pPr>
            <a:r>
              <a:rPr lang="en-IN" sz="2400" dirty="0">
                <a:latin typeface="Casper"/>
              </a:rPr>
              <a:t>A particle is said to be free when no external force is acting on during its </a:t>
            </a:r>
          </a:p>
          <a:p>
            <a:pPr marL="0" indent="0" algn="just">
              <a:buNone/>
            </a:pPr>
            <a:r>
              <a:rPr lang="en-IN" sz="2400" dirty="0">
                <a:latin typeface="Casper"/>
              </a:rPr>
              <a:t>motion in the given region of space, and its potential energy </a:t>
            </a:r>
            <a:r>
              <a:rPr lang="en-IN" sz="2400" i="1" dirty="0">
                <a:latin typeface="Casper"/>
              </a:rPr>
              <a:t>V</a:t>
            </a:r>
            <a:r>
              <a:rPr lang="en-IN" sz="2400" dirty="0">
                <a:latin typeface="Casper"/>
              </a:rPr>
              <a:t> is constant.</a:t>
            </a:r>
          </a:p>
          <a:p>
            <a:pPr marL="0" indent="0" algn="just">
              <a:buNone/>
            </a:pPr>
            <a:r>
              <a:rPr lang="en-IN" sz="2400" dirty="0">
                <a:latin typeface="Casper"/>
              </a:rPr>
              <a:t>Let us consider an electro is freely moving in space in positive x direction and </a:t>
            </a:r>
          </a:p>
          <a:p>
            <a:pPr marL="0" indent="0" algn="just">
              <a:buNone/>
            </a:pPr>
            <a:r>
              <a:rPr lang="en-IN" sz="2400" dirty="0">
                <a:latin typeface="Casper"/>
              </a:rPr>
              <a:t>not acted by any force, there potential will be zero.</a:t>
            </a:r>
          </a:p>
          <a:p>
            <a:pPr marL="0" indent="0" algn="just">
              <a:buNone/>
            </a:pPr>
            <a:r>
              <a:rPr lang="en-IN" sz="2400" dirty="0">
                <a:latin typeface="Casper"/>
              </a:rPr>
              <a:t> The Schrodinger wave equation reduces to</a:t>
            </a:r>
          </a:p>
          <a:p>
            <a:pPr marL="0" indent="0" algn="just">
              <a:buNone/>
            </a:pPr>
            <a:endParaRPr lang="en-IN" sz="2400" dirty="0">
              <a:latin typeface="Casper"/>
            </a:endParaRPr>
          </a:p>
          <a:p>
            <a:pPr marL="0" indent="0" algn="just">
              <a:buNone/>
            </a:pPr>
            <a:endParaRPr lang="en-IN" sz="2400" dirty="0">
              <a:latin typeface="Casper"/>
            </a:endParaRPr>
          </a:p>
          <a:p>
            <a:pPr marL="0" indent="0" algn="just">
              <a:buNone/>
            </a:pPr>
            <a:endParaRPr lang="en-IN" sz="2400" dirty="0">
              <a:latin typeface="Casper"/>
            </a:endParaRPr>
          </a:p>
          <a:p>
            <a:endParaRPr lang="en-IN" dirty="0"/>
          </a:p>
        </p:txBody>
      </p:sp>
      <p:sp>
        <p:nvSpPr>
          <p:cNvPr id="4" name="Slide Number Placeholder 3">
            <a:extLst>
              <a:ext uri="{FF2B5EF4-FFF2-40B4-BE49-F238E27FC236}">
                <a16:creationId xmlns:a16="http://schemas.microsoft.com/office/drawing/2014/main" id="{DC8616AE-3CFE-4F4D-AAA1-64AE2E1CB83A}"/>
              </a:ext>
            </a:extLst>
          </p:cNvPr>
          <p:cNvSpPr>
            <a:spLocks noGrp="1"/>
          </p:cNvSpPr>
          <p:nvPr>
            <p:ph type="sldNum" sz="quarter" idx="12"/>
          </p:nvPr>
        </p:nvSpPr>
        <p:spPr/>
        <p:txBody>
          <a:bodyPr/>
          <a:lstStyle/>
          <a:p>
            <a:fld id="{BDCDBBEF-AA6C-4BA6-85B2-A17D7F280E38}" type="slidenum">
              <a:rPr lang="en-US" smtClean="0"/>
              <a:t>7</a:t>
            </a:fld>
            <a:endParaRPr lang="en-US"/>
          </a:p>
        </p:txBody>
      </p:sp>
      <p:pic>
        <p:nvPicPr>
          <p:cNvPr id="9" name="Picture 8">
            <a:extLst>
              <a:ext uri="{FF2B5EF4-FFF2-40B4-BE49-F238E27FC236}">
                <a16:creationId xmlns:a16="http://schemas.microsoft.com/office/drawing/2014/main" id="{670B2132-658D-4A95-988E-7E50E4F79E6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485900" y="4329114"/>
            <a:ext cx="2014537" cy="857250"/>
          </a:xfrm>
          <a:prstGeom prst="rect">
            <a:avLst/>
          </a:prstGeom>
          <a:noFill/>
          <a:ln>
            <a:noFill/>
          </a:ln>
        </p:spPr>
      </p:pic>
    </p:spTree>
    <p:extLst>
      <p:ext uri="{BB962C8B-B14F-4D97-AF65-F5344CB8AC3E}">
        <p14:creationId xmlns:p14="http://schemas.microsoft.com/office/powerpoint/2010/main" val="1316866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E0ED23-12B5-4ACB-AAB1-7E6B3B4F6FE1}"/>
              </a:ext>
            </a:extLst>
          </p:cNvPr>
          <p:cNvSpPr>
            <a:spLocks noGrp="1"/>
          </p:cNvSpPr>
          <p:nvPr>
            <p:ph idx="1"/>
          </p:nvPr>
        </p:nvSpPr>
        <p:spPr>
          <a:ln>
            <a:solidFill>
              <a:schemeClr val="accent1"/>
            </a:solidFill>
          </a:ln>
        </p:spPr>
        <p:txBody>
          <a:bodyPr/>
          <a:lstStyle/>
          <a:p>
            <a:r>
              <a:rPr lang="en-IN" sz="2400" dirty="0">
                <a:latin typeface="Casper"/>
              </a:rPr>
              <a:t>Substituting, we get</a:t>
            </a:r>
          </a:p>
          <a:p>
            <a:pPr algn="just">
              <a:lnSpc>
                <a:spcPct val="150000"/>
              </a:lnSpc>
            </a:pPr>
            <a:endParaRPr lang="en-IN" sz="2400" dirty="0">
              <a:latin typeface="Casper"/>
              <a:ea typeface="Times New Roman" panose="02020603050405020304" pitchFamily="18" charset="0"/>
            </a:endParaRPr>
          </a:p>
          <a:p>
            <a:pPr algn="just">
              <a:lnSpc>
                <a:spcPct val="150000"/>
              </a:lnSpc>
            </a:pPr>
            <a:r>
              <a:rPr lang="en-IN" sz="2400" dirty="0">
                <a:latin typeface="Casper"/>
                <a:ea typeface="Times New Roman" panose="02020603050405020304" pitchFamily="18" charset="0"/>
              </a:rPr>
              <a:t>As the electron is moving in one direction (say x axis), </a:t>
            </a:r>
          </a:p>
          <a:p>
            <a:pPr algn="just">
              <a:lnSpc>
                <a:spcPct val="150000"/>
              </a:lnSpc>
            </a:pPr>
            <a:r>
              <a:rPr lang="en-IN" sz="2400" dirty="0">
                <a:latin typeface="Casper"/>
                <a:ea typeface="Times New Roman" panose="02020603050405020304" pitchFamily="18" charset="0"/>
              </a:rPr>
              <a:t>then the above equation can be written as</a:t>
            </a:r>
          </a:p>
          <a:p>
            <a:pPr algn="just">
              <a:lnSpc>
                <a:spcPct val="150000"/>
              </a:lnSpc>
            </a:pPr>
            <a:endParaRPr lang="en-IN" sz="2400" dirty="0">
              <a:latin typeface="Casper"/>
              <a:ea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C61A4DEB-CC66-45B3-8F35-67A8391B2A33}"/>
              </a:ext>
            </a:extLst>
          </p:cNvPr>
          <p:cNvSpPr>
            <a:spLocks noGrp="1"/>
          </p:cNvSpPr>
          <p:nvPr>
            <p:ph type="sldNum" sz="quarter" idx="12"/>
          </p:nvPr>
        </p:nvSpPr>
        <p:spPr/>
        <p:txBody>
          <a:bodyPr/>
          <a:lstStyle/>
          <a:p>
            <a:fld id="{BDCDBBEF-AA6C-4BA6-85B2-A17D7F280E38}" type="slidenum">
              <a:rPr lang="en-US" smtClean="0"/>
              <a:t>8</a:t>
            </a:fld>
            <a:endParaRPr lang="en-US"/>
          </a:p>
        </p:txBody>
      </p:sp>
      <p:pic>
        <p:nvPicPr>
          <p:cNvPr id="17" name="Picture 16">
            <a:extLst>
              <a:ext uri="{FF2B5EF4-FFF2-40B4-BE49-F238E27FC236}">
                <a16:creationId xmlns:a16="http://schemas.microsoft.com/office/drawing/2014/main" id="{1F03ACDE-FC2C-4014-9545-4378C579A59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142999" y="2289081"/>
            <a:ext cx="1700213" cy="752476"/>
          </a:xfrm>
          <a:prstGeom prst="rect">
            <a:avLst/>
          </a:prstGeom>
          <a:noFill/>
          <a:ln>
            <a:noFill/>
          </a:ln>
        </p:spPr>
      </p:pic>
      <p:pic>
        <p:nvPicPr>
          <p:cNvPr id="19" name="Picture 18">
            <a:extLst>
              <a:ext uri="{FF2B5EF4-FFF2-40B4-BE49-F238E27FC236}">
                <a16:creationId xmlns:a16="http://schemas.microsoft.com/office/drawing/2014/main" id="{FA8D3AC0-85C1-46E2-8EEA-540453F95F7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257299" y="5005387"/>
            <a:ext cx="2143126" cy="752476"/>
          </a:xfrm>
          <a:prstGeom prst="rect">
            <a:avLst/>
          </a:prstGeom>
          <a:noFill/>
          <a:ln>
            <a:noFill/>
          </a:ln>
        </p:spPr>
      </p:pic>
      <p:sp>
        <p:nvSpPr>
          <p:cNvPr id="20" name="Title 1">
            <a:extLst>
              <a:ext uri="{FF2B5EF4-FFF2-40B4-BE49-F238E27FC236}">
                <a16:creationId xmlns:a16="http://schemas.microsoft.com/office/drawing/2014/main" id="{3F11D5AB-DF36-4308-83F0-B2A5624D06DF}"/>
              </a:ext>
            </a:extLst>
          </p:cNvPr>
          <p:cNvSpPr>
            <a:spLocks noGrp="1"/>
          </p:cNvSpPr>
          <p:nvPr>
            <p:ph type="title"/>
          </p:nvPr>
        </p:nvSpPr>
        <p:spPr>
          <a:xfrm>
            <a:off x="838200" y="365125"/>
            <a:ext cx="10515600" cy="1281113"/>
          </a:xfrm>
          <a:ln>
            <a:solidFill>
              <a:srgbClr val="FF0000"/>
            </a:solidFill>
          </a:ln>
        </p:spPr>
        <p:txBody>
          <a:bodyPr>
            <a:noAutofit/>
          </a:bodyPr>
          <a:lstStyle/>
          <a:p>
            <a:pPr algn="ctr"/>
            <a:r>
              <a:rPr lang="en-IN" b="1" dirty="0">
                <a:latin typeface="Casper"/>
              </a:rPr>
              <a:t>A FREE PARTICLE</a:t>
            </a:r>
            <a:br>
              <a:rPr lang="en-IN" b="1" dirty="0">
                <a:latin typeface="Casper"/>
              </a:rPr>
            </a:br>
            <a:endParaRPr lang="en-IN" dirty="0">
              <a:latin typeface="Casper"/>
            </a:endParaRPr>
          </a:p>
        </p:txBody>
      </p:sp>
    </p:spTree>
    <p:extLst>
      <p:ext uri="{BB962C8B-B14F-4D97-AF65-F5344CB8AC3E}">
        <p14:creationId xmlns:p14="http://schemas.microsoft.com/office/powerpoint/2010/main" val="3099217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2B04B2-FB73-4243-BD32-962FE00A0F7B}"/>
              </a:ext>
            </a:extLst>
          </p:cNvPr>
          <p:cNvSpPr>
            <a:spLocks noGrp="1"/>
          </p:cNvSpPr>
          <p:nvPr>
            <p:ph idx="1"/>
          </p:nvPr>
        </p:nvSpPr>
        <p:spPr>
          <a:ln>
            <a:solidFill>
              <a:schemeClr val="accent1"/>
            </a:solidFill>
          </a:ln>
        </p:spPr>
        <p:txBody>
          <a:bodyPr/>
          <a:lstStyle/>
          <a:p>
            <a:r>
              <a:rPr lang="en-IN" sz="2400" dirty="0">
                <a:latin typeface="Casper"/>
              </a:rPr>
              <a:t>The general solution of the equation (2) is of the form </a:t>
            </a:r>
          </a:p>
          <a:p>
            <a:endParaRPr lang="en-IN" sz="2400" dirty="0">
              <a:latin typeface="Casper"/>
            </a:endParaRPr>
          </a:p>
          <a:p>
            <a:r>
              <a:rPr lang="en-IN" sz="2400" dirty="0">
                <a:latin typeface="Casper"/>
              </a:rPr>
              <a:t>The electron is not bounded and hence there are no restrictions on </a:t>
            </a:r>
            <a:r>
              <a:rPr lang="en-IN" sz="2400" i="1" dirty="0">
                <a:latin typeface="Casper"/>
              </a:rPr>
              <a:t>k.</a:t>
            </a:r>
            <a:r>
              <a:rPr lang="en-IN" sz="2400" dirty="0">
                <a:latin typeface="Casper"/>
              </a:rPr>
              <a:t> </a:t>
            </a:r>
          </a:p>
          <a:p>
            <a:r>
              <a:rPr lang="en-IN" sz="2400" dirty="0">
                <a:latin typeface="Casper"/>
              </a:rPr>
              <a:t>This implies that all the values of energy are allowed. </a:t>
            </a:r>
          </a:p>
          <a:p>
            <a:r>
              <a:rPr lang="en-IN" sz="2400" dirty="0">
                <a:latin typeface="Casper"/>
              </a:rPr>
              <a:t>The allowed energy values form a continuum and are given by</a:t>
            </a:r>
          </a:p>
          <a:p>
            <a:endParaRPr lang="en-IN" sz="2400" dirty="0">
              <a:latin typeface="Casper"/>
            </a:endParaRPr>
          </a:p>
          <a:p>
            <a:endParaRPr lang="en-IN" dirty="0"/>
          </a:p>
        </p:txBody>
      </p:sp>
      <p:sp>
        <p:nvSpPr>
          <p:cNvPr id="4" name="Slide Number Placeholder 3">
            <a:extLst>
              <a:ext uri="{FF2B5EF4-FFF2-40B4-BE49-F238E27FC236}">
                <a16:creationId xmlns:a16="http://schemas.microsoft.com/office/drawing/2014/main" id="{28ED727A-31B6-479D-8304-006CB51E3711}"/>
              </a:ext>
            </a:extLst>
          </p:cNvPr>
          <p:cNvSpPr>
            <a:spLocks noGrp="1"/>
          </p:cNvSpPr>
          <p:nvPr>
            <p:ph type="sldNum" sz="quarter" idx="12"/>
          </p:nvPr>
        </p:nvSpPr>
        <p:spPr/>
        <p:txBody>
          <a:bodyPr/>
          <a:lstStyle/>
          <a:p>
            <a:fld id="{BDCDBBEF-AA6C-4BA6-85B2-A17D7F280E38}" type="slidenum">
              <a:rPr lang="en-US" smtClean="0"/>
              <a:t>9</a:t>
            </a:fld>
            <a:endParaRPr lang="en-US"/>
          </a:p>
        </p:txBody>
      </p:sp>
      <p:pic>
        <p:nvPicPr>
          <p:cNvPr id="10" name="Picture 9">
            <a:extLst>
              <a:ext uri="{FF2B5EF4-FFF2-40B4-BE49-F238E27FC236}">
                <a16:creationId xmlns:a16="http://schemas.microsoft.com/office/drawing/2014/main" id="{3638A5C3-7E3B-42A5-B1A9-9253DE78D5B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871663" y="2205036"/>
            <a:ext cx="1714499" cy="538163"/>
          </a:xfrm>
          <a:prstGeom prst="rect">
            <a:avLst/>
          </a:prstGeom>
          <a:noFill/>
          <a:ln>
            <a:noFill/>
          </a:ln>
        </p:spPr>
      </p:pic>
      <p:pic>
        <p:nvPicPr>
          <p:cNvPr id="11" name="Picture 10">
            <a:extLst>
              <a:ext uri="{FF2B5EF4-FFF2-40B4-BE49-F238E27FC236}">
                <a16:creationId xmlns:a16="http://schemas.microsoft.com/office/drawing/2014/main" id="{8309B79C-7FB8-4698-949F-894E667CD96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743075" y="4500563"/>
            <a:ext cx="2128837" cy="1171575"/>
          </a:xfrm>
          <a:prstGeom prst="rect">
            <a:avLst/>
          </a:prstGeom>
          <a:noFill/>
          <a:ln>
            <a:noFill/>
          </a:ln>
        </p:spPr>
      </p:pic>
      <p:sp>
        <p:nvSpPr>
          <p:cNvPr id="12" name="Title 1">
            <a:extLst>
              <a:ext uri="{FF2B5EF4-FFF2-40B4-BE49-F238E27FC236}">
                <a16:creationId xmlns:a16="http://schemas.microsoft.com/office/drawing/2014/main" id="{ED9C9996-317B-4A82-984C-C7F550A589C0}"/>
              </a:ext>
            </a:extLst>
          </p:cNvPr>
          <p:cNvSpPr>
            <a:spLocks noGrp="1"/>
          </p:cNvSpPr>
          <p:nvPr>
            <p:ph type="title"/>
          </p:nvPr>
        </p:nvSpPr>
        <p:spPr>
          <a:xfrm>
            <a:off x="838200" y="365125"/>
            <a:ext cx="10515600" cy="1281113"/>
          </a:xfrm>
          <a:ln>
            <a:solidFill>
              <a:srgbClr val="FF0000"/>
            </a:solidFill>
          </a:ln>
        </p:spPr>
        <p:txBody>
          <a:bodyPr>
            <a:noAutofit/>
          </a:bodyPr>
          <a:lstStyle/>
          <a:p>
            <a:pPr algn="ctr"/>
            <a:r>
              <a:rPr lang="en-IN" b="1" dirty="0">
                <a:latin typeface="Casper"/>
              </a:rPr>
              <a:t>A FREE PARTICLE</a:t>
            </a:r>
            <a:br>
              <a:rPr lang="en-IN" b="1" dirty="0">
                <a:latin typeface="Casper"/>
              </a:rPr>
            </a:br>
            <a:endParaRPr lang="en-IN" dirty="0">
              <a:latin typeface="Casper"/>
            </a:endParaRPr>
          </a:p>
        </p:txBody>
      </p:sp>
    </p:spTree>
    <p:extLst>
      <p:ext uri="{BB962C8B-B14F-4D97-AF65-F5344CB8AC3E}">
        <p14:creationId xmlns:p14="http://schemas.microsoft.com/office/powerpoint/2010/main" val="1229673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9B65EB-8CD6-45AE-A0B9-DFFB8082BA03}"/>
              </a:ext>
            </a:extLst>
          </p:cNvPr>
          <p:cNvSpPr>
            <a:spLocks noGrp="1"/>
          </p:cNvSpPr>
          <p:nvPr>
            <p:ph idx="1"/>
          </p:nvPr>
        </p:nvSpPr>
        <p:spPr>
          <a:ln>
            <a:solidFill>
              <a:schemeClr val="accent1"/>
            </a:solidFill>
          </a:ln>
        </p:spPr>
        <p:txBody>
          <a:bodyPr>
            <a:normAutofit/>
          </a:bodyPr>
          <a:lstStyle/>
          <a:p>
            <a:r>
              <a:rPr lang="en-IN" sz="2400" dirty="0">
                <a:latin typeface="Casper"/>
              </a:rPr>
              <a:t>The wave vector </a:t>
            </a:r>
            <a:r>
              <a:rPr lang="en-IN" sz="2400" i="1" dirty="0">
                <a:latin typeface="Casper"/>
              </a:rPr>
              <a:t>k</a:t>
            </a:r>
            <a:r>
              <a:rPr lang="en-IN" sz="2400" dirty="0">
                <a:latin typeface="Casper"/>
              </a:rPr>
              <a:t> describes the wave properties of the electron. </a:t>
            </a:r>
          </a:p>
          <a:p>
            <a:r>
              <a:rPr lang="en-IN" sz="2400" dirty="0">
                <a:latin typeface="Casper"/>
              </a:rPr>
              <a:t>It is seen from the relation that </a:t>
            </a:r>
          </a:p>
        </p:txBody>
      </p:sp>
      <p:sp>
        <p:nvSpPr>
          <p:cNvPr id="4" name="Slide Number Placeholder 3">
            <a:extLst>
              <a:ext uri="{FF2B5EF4-FFF2-40B4-BE49-F238E27FC236}">
                <a16:creationId xmlns:a16="http://schemas.microsoft.com/office/drawing/2014/main" id="{CC455346-D9C5-4F05-9106-72C8123496C8}"/>
              </a:ext>
            </a:extLst>
          </p:cNvPr>
          <p:cNvSpPr>
            <a:spLocks noGrp="1"/>
          </p:cNvSpPr>
          <p:nvPr>
            <p:ph type="sldNum" sz="quarter" idx="12"/>
          </p:nvPr>
        </p:nvSpPr>
        <p:spPr>
          <a:xfrm>
            <a:off x="1648105" y="6338047"/>
            <a:ext cx="6429375" cy="365125"/>
          </a:xfrm>
        </p:spPr>
        <p:txBody>
          <a:bodyPr/>
          <a:lstStyle/>
          <a:p>
            <a:pPr algn="l"/>
            <a:r>
              <a:rPr lang="en-IN" sz="2400" dirty="0">
                <a:solidFill>
                  <a:schemeClr val="tx1"/>
                </a:solidFill>
                <a:latin typeface="Casper"/>
              </a:rPr>
              <a:t>Figure 2 parabola representation of energy [2]</a:t>
            </a:r>
          </a:p>
        </p:txBody>
      </p:sp>
      <p:pic>
        <p:nvPicPr>
          <p:cNvPr id="5" name="Picture 4">
            <a:extLst>
              <a:ext uri="{FF2B5EF4-FFF2-40B4-BE49-F238E27FC236}">
                <a16:creationId xmlns:a16="http://schemas.microsoft.com/office/drawing/2014/main" id="{18EBD7BA-4773-42A5-A618-3CCCBD07B08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743575" y="2366962"/>
            <a:ext cx="1585913" cy="533400"/>
          </a:xfrm>
          <a:prstGeom prst="rect">
            <a:avLst/>
          </a:prstGeom>
          <a:noFill/>
          <a:ln>
            <a:noFill/>
          </a:ln>
        </p:spPr>
      </p:pic>
      <p:pic>
        <p:nvPicPr>
          <p:cNvPr id="6" name="Picture 5">
            <a:hlinkClick r:id="rId3"/>
            <a:extLst>
              <a:ext uri="{FF2B5EF4-FFF2-40B4-BE49-F238E27FC236}">
                <a16:creationId xmlns:a16="http://schemas.microsoft.com/office/drawing/2014/main" id="{4BE4193E-11F4-4F5B-A225-D4EA90AC9AB6}"/>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276350" y="3290887"/>
            <a:ext cx="9367838" cy="2624138"/>
          </a:xfrm>
          <a:prstGeom prst="rect">
            <a:avLst/>
          </a:prstGeom>
          <a:noFill/>
          <a:ln>
            <a:noFill/>
          </a:ln>
        </p:spPr>
      </p:pic>
      <p:sp>
        <p:nvSpPr>
          <p:cNvPr id="7" name="Title 1">
            <a:extLst>
              <a:ext uri="{FF2B5EF4-FFF2-40B4-BE49-F238E27FC236}">
                <a16:creationId xmlns:a16="http://schemas.microsoft.com/office/drawing/2014/main" id="{819FE31E-7CBA-4B0C-A888-7008F7715041}"/>
              </a:ext>
            </a:extLst>
          </p:cNvPr>
          <p:cNvSpPr>
            <a:spLocks noGrp="1"/>
          </p:cNvSpPr>
          <p:nvPr>
            <p:ph type="title"/>
          </p:nvPr>
        </p:nvSpPr>
        <p:spPr>
          <a:xfrm>
            <a:off x="838200" y="365125"/>
            <a:ext cx="10515600" cy="1281113"/>
          </a:xfrm>
          <a:ln>
            <a:solidFill>
              <a:srgbClr val="FF0000"/>
            </a:solidFill>
          </a:ln>
        </p:spPr>
        <p:txBody>
          <a:bodyPr>
            <a:noAutofit/>
          </a:bodyPr>
          <a:lstStyle/>
          <a:p>
            <a:pPr algn="ctr"/>
            <a:r>
              <a:rPr lang="en-IN" b="1" dirty="0">
                <a:latin typeface="Casper"/>
              </a:rPr>
              <a:t>A FREE PARTICLE</a:t>
            </a:r>
            <a:br>
              <a:rPr lang="en-IN" b="1" dirty="0">
                <a:latin typeface="Casper"/>
              </a:rPr>
            </a:br>
            <a:endParaRPr lang="en-IN" dirty="0">
              <a:latin typeface="Casper"/>
            </a:endParaRPr>
          </a:p>
        </p:txBody>
      </p:sp>
    </p:spTree>
    <p:extLst>
      <p:ext uri="{BB962C8B-B14F-4D97-AF65-F5344CB8AC3E}">
        <p14:creationId xmlns:p14="http://schemas.microsoft.com/office/powerpoint/2010/main" val="3013253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CF07A-3FB7-425B-8E8D-AD752439848F}"/>
              </a:ext>
            </a:extLst>
          </p:cNvPr>
          <p:cNvSpPr>
            <a:spLocks noGrp="1"/>
          </p:cNvSpPr>
          <p:nvPr>
            <p:ph type="title"/>
          </p:nvPr>
        </p:nvSpPr>
        <p:spPr>
          <a:ln>
            <a:solidFill>
              <a:srgbClr val="C00000"/>
            </a:solidFill>
          </a:ln>
        </p:spPr>
        <p:txBody>
          <a:bodyPr/>
          <a:lstStyle/>
          <a:p>
            <a:pPr algn="ctr"/>
            <a:r>
              <a:rPr lang="en-IN" b="1" dirty="0">
                <a:latin typeface="Casper"/>
              </a:rPr>
              <a:t>PARTICLE IN A BOX</a:t>
            </a:r>
            <a:br>
              <a:rPr lang="en-IN" dirty="0">
                <a:latin typeface="Casper"/>
              </a:rPr>
            </a:br>
            <a:endParaRPr lang="en-IN" dirty="0">
              <a:latin typeface="Casper"/>
            </a:endParaRPr>
          </a:p>
        </p:txBody>
      </p:sp>
      <p:sp>
        <p:nvSpPr>
          <p:cNvPr id="3" name="Content Placeholder 2">
            <a:extLst>
              <a:ext uri="{FF2B5EF4-FFF2-40B4-BE49-F238E27FC236}">
                <a16:creationId xmlns:a16="http://schemas.microsoft.com/office/drawing/2014/main" id="{F135D126-E4CA-4079-BDA0-17A0215D95BE}"/>
              </a:ext>
            </a:extLst>
          </p:cNvPr>
          <p:cNvSpPr>
            <a:spLocks noGrp="1"/>
          </p:cNvSpPr>
          <p:nvPr>
            <p:ph idx="1"/>
          </p:nvPr>
        </p:nvSpPr>
        <p:spPr>
          <a:ln>
            <a:solidFill>
              <a:schemeClr val="accent1"/>
            </a:solidFill>
          </a:ln>
        </p:spPr>
        <p:txBody>
          <a:bodyPr>
            <a:normAutofit/>
          </a:bodyPr>
          <a:lstStyle/>
          <a:p>
            <a:pPr algn="just">
              <a:lnSpc>
                <a:spcPct val="150000"/>
              </a:lnSpc>
            </a:pPr>
            <a:r>
              <a:rPr lang="en-IN" sz="2400" dirty="0">
                <a:latin typeface="Casper"/>
              </a:rPr>
              <a:t>In quantum mechanics, the particle in a box model (also known as the infinite potential well or the infinite square well) describes a particle free to move in a small space surrounded by impenetrable barriers. The model is mainly used as a hypothetical example to illustrate the differences between classical and quantum systems. In classical systems, for example, a particle trapped inside a large box can move at any speed within the box and it is no more likely to be found at one position than another.</a:t>
            </a:r>
          </a:p>
        </p:txBody>
      </p:sp>
      <p:sp>
        <p:nvSpPr>
          <p:cNvPr id="4" name="Slide Number Placeholder 3">
            <a:extLst>
              <a:ext uri="{FF2B5EF4-FFF2-40B4-BE49-F238E27FC236}">
                <a16:creationId xmlns:a16="http://schemas.microsoft.com/office/drawing/2014/main" id="{57E75D17-11EE-4088-8077-90F2119244E7}"/>
              </a:ext>
            </a:extLst>
          </p:cNvPr>
          <p:cNvSpPr>
            <a:spLocks noGrp="1"/>
          </p:cNvSpPr>
          <p:nvPr>
            <p:ph type="sldNum" sz="quarter" idx="12"/>
          </p:nvPr>
        </p:nvSpPr>
        <p:spPr/>
        <p:txBody>
          <a:bodyPr/>
          <a:lstStyle/>
          <a:p>
            <a:fld id="{BDCDBBEF-AA6C-4BA6-85B2-A17D7F280E38}" type="slidenum">
              <a:rPr lang="en-US" smtClean="0"/>
              <a:t>11</a:t>
            </a:fld>
            <a:endParaRPr lang="en-US"/>
          </a:p>
        </p:txBody>
      </p:sp>
    </p:spTree>
    <p:extLst>
      <p:ext uri="{BB962C8B-B14F-4D97-AF65-F5344CB8AC3E}">
        <p14:creationId xmlns:p14="http://schemas.microsoft.com/office/powerpoint/2010/main" val="1522832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E1C388-FDE2-468A-ABCF-CCB0EEBB826A}"/>
              </a:ext>
            </a:extLst>
          </p:cNvPr>
          <p:cNvSpPr>
            <a:spLocks noGrp="1"/>
          </p:cNvSpPr>
          <p:nvPr>
            <p:ph idx="1"/>
          </p:nvPr>
        </p:nvSpPr>
        <p:spPr>
          <a:ln>
            <a:solidFill>
              <a:schemeClr val="accent1"/>
            </a:solidFill>
          </a:ln>
        </p:spPr>
        <p:txBody>
          <a:bodyPr/>
          <a:lstStyle/>
          <a:p>
            <a:pPr algn="just">
              <a:lnSpc>
                <a:spcPct val="150000"/>
              </a:lnSpc>
            </a:pPr>
            <a:r>
              <a:rPr lang="en-IN" sz="2400" dirty="0">
                <a:latin typeface="Casper"/>
              </a:rPr>
              <a:t>However, when the well becomes very narrow, quantum effects become important. The particle may only occupy certain positive energy levels. Likewise, it can never have zero energy, meaning that the particle can never "sit still". Additionally, it is more likely to be found at certain positions than at others, depending on its energy level. The particle may never be detected at certain positions, known as spatial nodes.</a:t>
            </a:r>
          </a:p>
          <a:p>
            <a:endParaRPr lang="en-IN" dirty="0"/>
          </a:p>
        </p:txBody>
      </p:sp>
      <p:sp>
        <p:nvSpPr>
          <p:cNvPr id="4" name="Slide Number Placeholder 3">
            <a:extLst>
              <a:ext uri="{FF2B5EF4-FFF2-40B4-BE49-F238E27FC236}">
                <a16:creationId xmlns:a16="http://schemas.microsoft.com/office/drawing/2014/main" id="{C306D0AA-7A2D-44FF-8F86-413B8867C9B8}"/>
              </a:ext>
            </a:extLst>
          </p:cNvPr>
          <p:cNvSpPr>
            <a:spLocks noGrp="1"/>
          </p:cNvSpPr>
          <p:nvPr>
            <p:ph type="sldNum" sz="quarter" idx="12"/>
          </p:nvPr>
        </p:nvSpPr>
        <p:spPr/>
        <p:txBody>
          <a:bodyPr/>
          <a:lstStyle/>
          <a:p>
            <a:fld id="{BDCDBBEF-AA6C-4BA6-85B2-A17D7F280E38}" type="slidenum">
              <a:rPr lang="en-US" smtClean="0"/>
              <a:t>12</a:t>
            </a:fld>
            <a:endParaRPr lang="en-US"/>
          </a:p>
        </p:txBody>
      </p:sp>
      <p:sp>
        <p:nvSpPr>
          <p:cNvPr id="5" name="Title 1">
            <a:extLst>
              <a:ext uri="{FF2B5EF4-FFF2-40B4-BE49-F238E27FC236}">
                <a16:creationId xmlns:a16="http://schemas.microsoft.com/office/drawing/2014/main" id="{3863BFEC-F547-427F-B7FA-54C564D20D25}"/>
              </a:ext>
            </a:extLst>
          </p:cNvPr>
          <p:cNvSpPr>
            <a:spLocks noGrp="1"/>
          </p:cNvSpPr>
          <p:nvPr>
            <p:ph type="title"/>
          </p:nvPr>
        </p:nvSpPr>
        <p:spPr>
          <a:xfrm>
            <a:off x="838200" y="365125"/>
            <a:ext cx="10515600" cy="1325563"/>
          </a:xfrm>
          <a:ln>
            <a:solidFill>
              <a:srgbClr val="C00000"/>
            </a:solidFill>
          </a:ln>
        </p:spPr>
        <p:txBody>
          <a:bodyPr/>
          <a:lstStyle/>
          <a:p>
            <a:pPr algn="ctr"/>
            <a:r>
              <a:rPr lang="en-IN" b="1" dirty="0">
                <a:latin typeface="Casper"/>
              </a:rPr>
              <a:t>PARTICLE IN A BOX</a:t>
            </a:r>
            <a:br>
              <a:rPr lang="en-IN" dirty="0">
                <a:latin typeface="Casper"/>
              </a:rPr>
            </a:br>
            <a:endParaRPr lang="en-IN" dirty="0">
              <a:latin typeface="Casper"/>
            </a:endParaRPr>
          </a:p>
        </p:txBody>
      </p:sp>
    </p:spTree>
    <p:extLst>
      <p:ext uri="{BB962C8B-B14F-4D97-AF65-F5344CB8AC3E}">
        <p14:creationId xmlns:p14="http://schemas.microsoft.com/office/powerpoint/2010/main" val="2402867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918ADB-E391-4CAE-864C-24687B69141D}"/>
              </a:ext>
            </a:extLst>
          </p:cNvPr>
          <p:cNvSpPr>
            <a:spLocks noGrp="1"/>
          </p:cNvSpPr>
          <p:nvPr>
            <p:ph idx="1"/>
          </p:nvPr>
        </p:nvSpPr>
        <p:spPr>
          <a:ln>
            <a:solidFill>
              <a:schemeClr val="accent1"/>
            </a:solidFill>
          </a:ln>
        </p:spPr>
        <p:txBody>
          <a:bodyPr/>
          <a:lstStyle/>
          <a:p>
            <a:pPr algn="just">
              <a:lnSpc>
                <a:spcPct val="150000"/>
              </a:lnSpc>
            </a:pPr>
            <a:r>
              <a:rPr lang="en-IN" sz="2400" b="1" dirty="0">
                <a:latin typeface="Casper"/>
              </a:rPr>
              <a:t>Particle in a one-dimensional Box model</a:t>
            </a:r>
            <a:endParaRPr lang="en-IN" sz="2400" dirty="0">
              <a:latin typeface="Casper"/>
            </a:endParaRPr>
          </a:p>
          <a:p>
            <a:pPr algn="just">
              <a:lnSpc>
                <a:spcPct val="150000"/>
              </a:lnSpc>
            </a:pPr>
            <a:r>
              <a:rPr lang="en-IN" sz="2400" dirty="0">
                <a:latin typeface="Casper"/>
              </a:rPr>
              <a:t>Consider a particle of mass ‘m’ moving inside a one-dimensional potential well of infinite height and finite width ‘a’. Assume potential inside the well as constant. Outside this region potential energy ‘V’ is infinity. As a result, the particle has to move only inside the well like a free particle.</a:t>
            </a:r>
          </a:p>
          <a:p>
            <a:endParaRPr lang="en-IN" dirty="0"/>
          </a:p>
        </p:txBody>
      </p:sp>
      <p:sp>
        <p:nvSpPr>
          <p:cNvPr id="4" name="Slide Number Placeholder 3">
            <a:extLst>
              <a:ext uri="{FF2B5EF4-FFF2-40B4-BE49-F238E27FC236}">
                <a16:creationId xmlns:a16="http://schemas.microsoft.com/office/drawing/2014/main" id="{D9057247-9D54-4F6A-A698-B071C19BEC23}"/>
              </a:ext>
            </a:extLst>
          </p:cNvPr>
          <p:cNvSpPr>
            <a:spLocks noGrp="1"/>
          </p:cNvSpPr>
          <p:nvPr>
            <p:ph type="sldNum" sz="quarter" idx="12"/>
          </p:nvPr>
        </p:nvSpPr>
        <p:spPr/>
        <p:txBody>
          <a:bodyPr/>
          <a:lstStyle/>
          <a:p>
            <a:fld id="{BDCDBBEF-AA6C-4BA6-85B2-A17D7F280E38}" type="slidenum">
              <a:rPr lang="en-US" smtClean="0"/>
              <a:t>13</a:t>
            </a:fld>
            <a:endParaRPr lang="en-US"/>
          </a:p>
        </p:txBody>
      </p:sp>
      <p:sp>
        <p:nvSpPr>
          <p:cNvPr id="5" name="Title 1">
            <a:extLst>
              <a:ext uri="{FF2B5EF4-FFF2-40B4-BE49-F238E27FC236}">
                <a16:creationId xmlns:a16="http://schemas.microsoft.com/office/drawing/2014/main" id="{375A70A2-5A4C-46D9-8560-5BF68F052F76}"/>
              </a:ext>
            </a:extLst>
          </p:cNvPr>
          <p:cNvSpPr>
            <a:spLocks noGrp="1"/>
          </p:cNvSpPr>
          <p:nvPr>
            <p:ph type="title"/>
          </p:nvPr>
        </p:nvSpPr>
        <p:spPr>
          <a:xfrm>
            <a:off x="838200" y="365125"/>
            <a:ext cx="10515600" cy="1325563"/>
          </a:xfrm>
          <a:ln>
            <a:solidFill>
              <a:srgbClr val="C00000"/>
            </a:solidFill>
          </a:ln>
        </p:spPr>
        <p:txBody>
          <a:bodyPr/>
          <a:lstStyle/>
          <a:p>
            <a:pPr algn="ctr"/>
            <a:r>
              <a:rPr lang="en-IN" b="1" dirty="0">
                <a:latin typeface="Casper"/>
              </a:rPr>
              <a:t>PARTICLE IN A BOX</a:t>
            </a:r>
            <a:br>
              <a:rPr lang="en-IN" dirty="0">
                <a:latin typeface="Casper"/>
              </a:rPr>
            </a:br>
            <a:endParaRPr lang="en-IN" dirty="0">
              <a:latin typeface="Casper"/>
            </a:endParaRPr>
          </a:p>
        </p:txBody>
      </p:sp>
    </p:spTree>
    <p:extLst>
      <p:ext uri="{BB962C8B-B14F-4D97-AF65-F5344CB8AC3E}">
        <p14:creationId xmlns:p14="http://schemas.microsoft.com/office/powerpoint/2010/main" val="2443177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AC9C0C-6D65-4102-B598-B99A34D06E2F}"/>
              </a:ext>
            </a:extLst>
          </p:cNvPr>
          <p:cNvSpPr>
            <a:spLocks noGrp="1"/>
          </p:cNvSpPr>
          <p:nvPr>
            <p:ph type="sldNum" sz="quarter" idx="12"/>
          </p:nvPr>
        </p:nvSpPr>
        <p:spPr/>
        <p:txBody>
          <a:bodyPr/>
          <a:lstStyle/>
          <a:p>
            <a:fld id="{BDCDBBEF-AA6C-4BA6-85B2-A17D7F280E38}" type="slidenum">
              <a:rPr lang="en-US" smtClean="0"/>
              <a:t>14</a:t>
            </a:fld>
            <a:endParaRPr lang="en-US"/>
          </a:p>
        </p:txBody>
      </p:sp>
      <p:sp>
        <p:nvSpPr>
          <p:cNvPr id="6" name="Title 1">
            <a:extLst>
              <a:ext uri="{FF2B5EF4-FFF2-40B4-BE49-F238E27FC236}">
                <a16:creationId xmlns:a16="http://schemas.microsoft.com/office/drawing/2014/main" id="{D9DD1834-15E0-4CB5-A381-DB03D8A6FE08}"/>
              </a:ext>
            </a:extLst>
          </p:cNvPr>
          <p:cNvSpPr>
            <a:spLocks noGrp="1"/>
          </p:cNvSpPr>
          <p:nvPr>
            <p:ph type="title"/>
          </p:nvPr>
        </p:nvSpPr>
        <p:spPr>
          <a:xfrm>
            <a:off x="838200" y="365125"/>
            <a:ext cx="10515600" cy="1325563"/>
          </a:xfrm>
          <a:ln>
            <a:solidFill>
              <a:srgbClr val="C00000"/>
            </a:solidFill>
          </a:ln>
        </p:spPr>
        <p:txBody>
          <a:bodyPr/>
          <a:lstStyle/>
          <a:p>
            <a:pPr algn="ctr"/>
            <a:r>
              <a:rPr lang="en-IN" b="1" dirty="0">
                <a:latin typeface="Casper"/>
              </a:rPr>
              <a:t>PARTICLE IN A BOX</a:t>
            </a:r>
            <a:br>
              <a:rPr lang="en-IN" dirty="0">
                <a:latin typeface="Casper"/>
              </a:rPr>
            </a:br>
            <a:endParaRPr lang="en-IN" dirty="0">
              <a:latin typeface="Casper"/>
            </a:endParaRPr>
          </a:p>
        </p:txBody>
      </p:sp>
      <p:pic>
        <p:nvPicPr>
          <p:cNvPr id="15362" name="Picture 2" descr="3.5: The Energy of a Particle in a Box is Quantized - Chemistry ...">
            <a:extLst>
              <a:ext uri="{FF2B5EF4-FFF2-40B4-BE49-F238E27FC236}">
                <a16:creationId xmlns:a16="http://schemas.microsoft.com/office/drawing/2014/main" id="{2BA9BCCB-9727-4C79-AF95-F79024F178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6312" y="1924051"/>
            <a:ext cx="10239375" cy="3833812"/>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80AFCCC-F698-485F-B5E4-F12F0DA10B32}"/>
              </a:ext>
            </a:extLst>
          </p:cNvPr>
          <p:cNvSpPr/>
          <p:nvPr/>
        </p:nvSpPr>
        <p:spPr>
          <a:xfrm>
            <a:off x="3581401" y="5995989"/>
            <a:ext cx="4480714" cy="369332"/>
          </a:xfrm>
          <a:prstGeom prst="rect">
            <a:avLst/>
          </a:prstGeom>
        </p:spPr>
        <p:txBody>
          <a:bodyPr wrap="none">
            <a:spAutoFit/>
          </a:bodyPr>
          <a:lstStyle/>
          <a:p>
            <a:r>
              <a:rPr lang="en-IN" dirty="0">
                <a:latin typeface="Casper"/>
                <a:ea typeface="Calibri" panose="020F0502020204030204" pitchFamily="34" charset="0"/>
                <a:cs typeface="Georgia" panose="02040502050405020303" pitchFamily="18" charset="0"/>
              </a:rPr>
              <a:t> Fig 3 : Particle in a one dimension box [2]</a:t>
            </a:r>
            <a:endParaRPr lang="en-IN" dirty="0">
              <a:latin typeface="Casper"/>
            </a:endParaRPr>
          </a:p>
        </p:txBody>
      </p:sp>
    </p:spTree>
    <p:extLst>
      <p:ext uri="{BB962C8B-B14F-4D97-AF65-F5344CB8AC3E}">
        <p14:creationId xmlns:p14="http://schemas.microsoft.com/office/powerpoint/2010/main" val="1929679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577170-51D2-44D6-9926-C3E52CD8BA6B}"/>
                  </a:ext>
                </a:extLst>
              </p:cNvPr>
              <p:cNvSpPr>
                <a:spLocks noGrp="1"/>
              </p:cNvSpPr>
              <p:nvPr>
                <p:ph idx="1"/>
              </p:nvPr>
            </p:nvSpPr>
            <p:spPr>
              <a:ln>
                <a:solidFill>
                  <a:schemeClr val="accent1"/>
                </a:solidFill>
              </a:ln>
            </p:spPr>
            <p:txBody>
              <a:bodyPr>
                <a:normAutofit fontScale="92500" lnSpcReduction="10000"/>
              </a:bodyPr>
              <a:lstStyle/>
              <a:p>
                <a:pPr marL="0" indent="0">
                  <a:buNone/>
                </a:pPr>
                <a:r>
                  <a:rPr lang="en-IN" dirty="0">
                    <a:latin typeface="Casper"/>
                  </a:rPr>
                  <a:t>1. The particle can move freely inside the box (0 &lt; x &lt; L)</a:t>
                </a:r>
              </a:p>
              <a:p>
                <a:pPr marL="0" indent="0">
                  <a:buNone/>
                </a:pPr>
                <a:r>
                  <a:rPr lang="en-IN" dirty="0">
                    <a:latin typeface="Casper"/>
                  </a:rPr>
                  <a:t>2. The potential energy of the electron inside the box is zero (V=0).</a:t>
                </a:r>
              </a:p>
              <a:p>
                <a:pPr marL="0" indent="0">
                  <a:buNone/>
                </a:pPr>
                <a:r>
                  <a:rPr lang="en-IN" dirty="0">
                    <a:latin typeface="Casper"/>
                  </a:rPr>
                  <a:t> </a:t>
                </a:r>
              </a:p>
              <a:p>
                <a:pPr marL="0" indent="0">
                  <a:buNone/>
                </a:pPr>
                <a:r>
                  <a:rPr lang="en-IN" dirty="0">
                    <a:latin typeface="Casper"/>
                  </a:rPr>
                  <a:t>3. The potential energy at the edges is infinite, confining the electron to the box (V= α)</a:t>
                </a:r>
              </a:p>
              <a:p>
                <a:pPr marL="0" indent="0">
                  <a:buNone/>
                </a:pPr>
                <a:r>
                  <a:rPr lang="en-IN" dirty="0">
                    <a:latin typeface="Casper"/>
                  </a:rPr>
                  <a:t> </a:t>
                </a:r>
              </a:p>
              <a:p>
                <a:pPr marL="0" indent="0">
                  <a:buNone/>
                </a:pPr>
                <a:r>
                  <a:rPr lang="en-IN" dirty="0">
                    <a:latin typeface="Casper"/>
                  </a:rPr>
                  <a:t>                                           V(x ) =  α ; x&lt;0, x&gt;L</a:t>
                </a:r>
              </a:p>
              <a:p>
                <a:pPr marL="0" indent="0">
                  <a:buNone/>
                </a:pPr>
                <a:r>
                  <a:rPr lang="en-IN" dirty="0">
                    <a:latin typeface="Casper"/>
                  </a:rPr>
                  <a:t>                                            V(x) =  0 ; x&gt;0, x&lt;L</a:t>
                </a:r>
              </a:p>
              <a:p>
                <a:pPr marL="0" indent="0">
                  <a:buNone/>
                </a:pPr>
                <a:r>
                  <a:rPr lang="en-IN" dirty="0">
                    <a:latin typeface="Casper"/>
                  </a:rPr>
                  <a:t> The Schrödinger’s equation is given by, </a:t>
                </a:r>
              </a:p>
              <a:p>
                <a:pPr marL="0" indent="0">
                  <a:buNone/>
                </a:pPr>
                <a:r>
                  <a:rPr lang="en-IN" dirty="0">
                    <a:latin typeface="Casper"/>
                  </a:rPr>
                  <a:t>                                 </a:t>
                </a:r>
                <a14:m>
                  <m:oMath xmlns:m="http://schemas.openxmlformats.org/officeDocument/2006/math">
                    <m:f>
                      <m:fPr>
                        <m:ctrlPr>
                          <a:rPr lang="en-IN" i="1">
                            <a:latin typeface="Cambria Math" panose="02040503050406030204" pitchFamily="18" charset="0"/>
                          </a:rPr>
                        </m:ctrlPr>
                      </m:fPr>
                      <m:num>
                        <m:r>
                          <a:rPr lang="en-IN">
                            <a:latin typeface="Cambria Math" panose="02040503050406030204" pitchFamily="18" charset="0"/>
                          </a:rPr>
                          <m:t> </m:t>
                        </m:r>
                        <m:r>
                          <m:rPr>
                            <m:sty m:val="p"/>
                          </m:rPr>
                          <a:rPr lang="en-IN">
                            <a:latin typeface="Cambria Math" panose="02040503050406030204" pitchFamily="18" charset="0"/>
                          </a:rPr>
                          <m:t>d</m:t>
                        </m:r>
                        <m:r>
                          <a:rPr lang="en-IN">
                            <a:latin typeface="Cambria Math" panose="02040503050406030204" pitchFamily="18" charset="0"/>
                          </a:rPr>
                          <m:t>²</m:t>
                        </m:r>
                        <m:r>
                          <m:rPr>
                            <m:sty m:val="p"/>
                          </m:rPr>
                          <a:rPr lang="en-IN">
                            <a:latin typeface="Cambria Math" panose="02040503050406030204" pitchFamily="18" charset="0"/>
                          </a:rPr>
                          <m:t>Ψ</m:t>
                        </m:r>
                      </m:num>
                      <m:den>
                        <m:r>
                          <m:rPr>
                            <m:sty m:val="p"/>
                          </m:rPr>
                          <a:rPr lang="en-IN">
                            <a:latin typeface="Cambria Math" panose="02040503050406030204" pitchFamily="18" charset="0"/>
                          </a:rPr>
                          <m:t>dx</m:t>
                        </m:r>
                        <m:r>
                          <a:rPr lang="en-IN">
                            <a:latin typeface="Cambria Math" panose="02040503050406030204" pitchFamily="18" charset="0"/>
                          </a:rPr>
                          <m:t>²</m:t>
                        </m:r>
                      </m:den>
                    </m:f>
                  </m:oMath>
                </a14:m>
                <a:r>
                  <a:rPr lang="en-IN" dirty="0">
                    <a:latin typeface="Casper"/>
                  </a:rPr>
                  <a:t>  +   </a:t>
                </a:r>
                <a14:m>
                  <m:oMath xmlns:m="http://schemas.openxmlformats.org/officeDocument/2006/math">
                    <m:f>
                      <m:fPr>
                        <m:ctrlPr>
                          <a:rPr lang="en-IN" i="1">
                            <a:latin typeface="Cambria Math" panose="02040503050406030204" pitchFamily="18" charset="0"/>
                          </a:rPr>
                        </m:ctrlPr>
                      </m:fPr>
                      <m:num>
                        <m:r>
                          <a:rPr lang="en-IN">
                            <a:latin typeface="Cambria Math" panose="02040503050406030204" pitchFamily="18" charset="0"/>
                          </a:rPr>
                          <m:t>8</m:t>
                        </m:r>
                        <m:r>
                          <a:rPr lang="en-IN" i="1">
                            <a:latin typeface="Cambria Math" panose="02040503050406030204" pitchFamily="18" charset="0"/>
                          </a:rPr>
                          <m:t>𝜋</m:t>
                        </m:r>
                        <m:r>
                          <a:rPr lang="en-IN" baseline="30000">
                            <a:latin typeface="Cambria Math" panose="02040503050406030204" pitchFamily="18" charset="0"/>
                          </a:rPr>
                          <m:t>² ­ ­</m:t>
                        </m:r>
                        <m:r>
                          <m:rPr>
                            <m:sty m:val="p"/>
                          </m:rPr>
                          <a:rPr lang="en-IN">
                            <a:latin typeface="Cambria Math" panose="02040503050406030204" pitchFamily="18" charset="0"/>
                          </a:rPr>
                          <m:t>m</m:t>
                        </m:r>
                      </m:num>
                      <m:den>
                        <m:r>
                          <a:rPr lang="en-IN" i="1">
                            <a:latin typeface="Cambria Math" panose="02040503050406030204" pitchFamily="18" charset="0"/>
                          </a:rPr>
                          <m:t>h</m:t>
                        </m:r>
                        <m:r>
                          <a:rPr lang="en-IN" i="1">
                            <a:latin typeface="Cambria Math" panose="02040503050406030204" pitchFamily="18" charset="0"/>
                          </a:rPr>
                          <m:t>²</m:t>
                        </m:r>
                      </m:den>
                    </m:f>
                  </m:oMath>
                </a14:m>
                <a:r>
                  <a:rPr lang="en-IN" dirty="0">
                    <a:latin typeface="Casper"/>
                  </a:rPr>
                  <a:t> (E-V) Ψ =0                                           (1)</a:t>
                </a:r>
              </a:p>
              <a:p>
                <a:pPr marL="0" indent="0">
                  <a:buNone/>
                </a:pPr>
                <a:endParaRPr lang="en-IN" dirty="0">
                  <a:latin typeface="Casper"/>
                </a:endParaRPr>
              </a:p>
              <a:p>
                <a:endParaRPr lang="en-IN" dirty="0"/>
              </a:p>
            </p:txBody>
          </p:sp>
        </mc:Choice>
        <mc:Fallback xmlns="">
          <p:sp>
            <p:nvSpPr>
              <p:cNvPr id="3" name="Content Placeholder 2">
                <a:extLst>
                  <a:ext uri="{FF2B5EF4-FFF2-40B4-BE49-F238E27FC236}">
                    <a16:creationId xmlns:a16="http://schemas.microsoft.com/office/drawing/2014/main" xmlns="" xmlns:a14="http://schemas.microsoft.com/office/drawing/2010/main" id="{9A577170-51D2-44D6-9926-C3E52CD8BA6B}"/>
                  </a:ext>
                </a:extLst>
              </p:cNvPr>
              <p:cNvSpPr>
                <a:spLocks noGrp="1" noRot="1" noChangeAspect="1" noMove="1" noResize="1" noEditPoints="1" noAdjustHandles="1" noChangeArrowheads="1" noChangeShapeType="1" noTextEdit="1"/>
              </p:cNvSpPr>
              <p:nvPr>
                <p:ph idx="1"/>
              </p:nvPr>
            </p:nvSpPr>
            <p:spPr>
              <a:blipFill rotWithShape="0">
                <a:blip r:embed="rId2"/>
                <a:stretch>
                  <a:fillRect l="-984" t="-2793" r="-290"/>
                </a:stretch>
              </a:blipFill>
              <a:ln>
                <a:solidFill>
                  <a:schemeClr val="accent1"/>
                </a:solidFill>
              </a:ln>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89685C94-0713-47F4-87D4-67D6965ED6F5}"/>
              </a:ext>
            </a:extLst>
          </p:cNvPr>
          <p:cNvSpPr>
            <a:spLocks noGrp="1"/>
          </p:cNvSpPr>
          <p:nvPr>
            <p:ph type="sldNum" sz="quarter" idx="12"/>
          </p:nvPr>
        </p:nvSpPr>
        <p:spPr/>
        <p:txBody>
          <a:bodyPr/>
          <a:lstStyle/>
          <a:p>
            <a:fld id="{BDCDBBEF-AA6C-4BA6-85B2-A17D7F280E38}" type="slidenum">
              <a:rPr lang="en-US" smtClean="0"/>
              <a:t>15</a:t>
            </a:fld>
            <a:endParaRPr lang="en-US"/>
          </a:p>
        </p:txBody>
      </p:sp>
      <p:sp>
        <p:nvSpPr>
          <p:cNvPr id="6" name="Title 1">
            <a:extLst>
              <a:ext uri="{FF2B5EF4-FFF2-40B4-BE49-F238E27FC236}">
                <a16:creationId xmlns:a16="http://schemas.microsoft.com/office/drawing/2014/main" id="{5C7C9EF1-69B8-46E8-91C1-5F861037CA83}"/>
              </a:ext>
            </a:extLst>
          </p:cNvPr>
          <p:cNvSpPr>
            <a:spLocks noGrp="1"/>
          </p:cNvSpPr>
          <p:nvPr>
            <p:ph type="title"/>
          </p:nvPr>
        </p:nvSpPr>
        <p:spPr>
          <a:xfrm>
            <a:off x="838200" y="365125"/>
            <a:ext cx="10515600" cy="1325563"/>
          </a:xfrm>
          <a:ln>
            <a:solidFill>
              <a:srgbClr val="C00000"/>
            </a:solidFill>
          </a:ln>
        </p:spPr>
        <p:txBody>
          <a:bodyPr/>
          <a:lstStyle/>
          <a:p>
            <a:pPr algn="ctr"/>
            <a:r>
              <a:rPr lang="en-IN" b="1" dirty="0">
                <a:latin typeface="Casper"/>
              </a:rPr>
              <a:t>PARTICLE IN A BOX</a:t>
            </a:r>
            <a:br>
              <a:rPr lang="en-IN" dirty="0">
                <a:latin typeface="Casper"/>
              </a:rPr>
            </a:br>
            <a:endParaRPr lang="en-IN" dirty="0">
              <a:latin typeface="Casper"/>
            </a:endParaRPr>
          </a:p>
        </p:txBody>
      </p:sp>
    </p:spTree>
    <p:extLst>
      <p:ext uri="{BB962C8B-B14F-4D97-AF65-F5344CB8AC3E}">
        <p14:creationId xmlns:p14="http://schemas.microsoft.com/office/powerpoint/2010/main" val="3712970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8CE8CE6-0D54-41F1-8B50-E60E43E02E6C}"/>
                  </a:ext>
                </a:extLst>
              </p:cNvPr>
              <p:cNvSpPr>
                <a:spLocks noGrp="1"/>
              </p:cNvSpPr>
              <p:nvPr>
                <p:ph idx="1"/>
              </p:nvPr>
            </p:nvSpPr>
            <p:spPr>
              <a:ln>
                <a:solidFill>
                  <a:schemeClr val="accent1"/>
                </a:solidFill>
              </a:ln>
            </p:spPr>
            <p:txBody>
              <a:bodyPr>
                <a:normAutofit lnSpcReduction="10000"/>
              </a:bodyPr>
              <a:lstStyle/>
              <a:p>
                <a:pPr marL="0" indent="0">
                  <a:lnSpc>
                    <a:spcPct val="170000"/>
                  </a:lnSpc>
                  <a:buNone/>
                </a:pPr>
                <a:r>
                  <a:rPr lang="en-IN" dirty="0"/>
                  <a:t> </a:t>
                </a:r>
                <a:r>
                  <a:rPr lang="en-IN" dirty="0">
                    <a:latin typeface="Casper"/>
                  </a:rPr>
                  <a:t>By taking potential V= 0 (which is constant), we can write equation   (1) as</a:t>
                </a:r>
              </a:p>
              <a:p>
                <a:pPr marL="0" indent="0">
                  <a:lnSpc>
                    <a:spcPct val="170000"/>
                  </a:lnSpc>
                  <a:buNone/>
                </a:pPr>
                <a:r>
                  <a:rPr lang="en-IN" baseline="30000" dirty="0">
                    <a:latin typeface="Casper"/>
                  </a:rPr>
                  <a:t>                                                         </a:t>
                </a:r>
                <a14:m>
                  <m:oMath xmlns:m="http://schemas.openxmlformats.org/officeDocument/2006/math">
                    <m:f>
                      <m:fPr>
                        <m:ctrlPr>
                          <a:rPr lang="en-IN" i="1">
                            <a:latin typeface="Cambria Math" panose="02040503050406030204" pitchFamily="18" charset="0"/>
                          </a:rPr>
                        </m:ctrlPr>
                      </m:fPr>
                      <m:num>
                        <m:r>
                          <m:rPr>
                            <m:sty m:val="p"/>
                          </m:rPr>
                          <a:rPr lang="en-IN">
                            <a:latin typeface="Cambria Math" panose="02040503050406030204" pitchFamily="18" charset="0"/>
                          </a:rPr>
                          <m:t>d</m:t>
                        </m:r>
                        <m:r>
                          <a:rPr lang="en-IN">
                            <a:latin typeface="Cambria Math" panose="02040503050406030204" pitchFamily="18" charset="0"/>
                          </a:rPr>
                          <m:t>²</m:t>
                        </m:r>
                        <m:r>
                          <m:rPr>
                            <m:sty m:val="p"/>
                          </m:rPr>
                          <a:rPr lang="en-IN">
                            <a:latin typeface="Cambria Math" panose="02040503050406030204" pitchFamily="18" charset="0"/>
                          </a:rPr>
                          <m:t>Ψ</m:t>
                        </m:r>
                      </m:num>
                      <m:den>
                        <m:r>
                          <m:rPr>
                            <m:sty m:val="p"/>
                          </m:rPr>
                          <a:rPr lang="en-IN">
                            <a:latin typeface="Cambria Math" panose="02040503050406030204" pitchFamily="18" charset="0"/>
                          </a:rPr>
                          <m:t>dx</m:t>
                        </m:r>
                        <m:r>
                          <a:rPr lang="en-IN">
                            <a:latin typeface="Cambria Math" panose="02040503050406030204" pitchFamily="18" charset="0"/>
                          </a:rPr>
                          <m:t>²</m:t>
                        </m:r>
                      </m:den>
                    </m:f>
                  </m:oMath>
                </a14:m>
                <a:r>
                  <a:rPr lang="en-IN" dirty="0">
                    <a:latin typeface="Casper"/>
                  </a:rPr>
                  <a:t>  + </a:t>
                </a:r>
                <a14:m>
                  <m:oMath xmlns:m="http://schemas.openxmlformats.org/officeDocument/2006/math">
                    <m:f>
                      <m:fPr>
                        <m:ctrlPr>
                          <a:rPr lang="en-IN" i="1">
                            <a:latin typeface="Cambria Math" panose="02040503050406030204" pitchFamily="18" charset="0"/>
                          </a:rPr>
                        </m:ctrlPr>
                      </m:fPr>
                      <m:num>
                        <m:r>
                          <a:rPr lang="en-IN">
                            <a:latin typeface="Cambria Math" panose="02040503050406030204" pitchFamily="18" charset="0"/>
                          </a:rPr>
                          <m:t>8</m:t>
                        </m:r>
                        <m:r>
                          <a:rPr lang="en-IN" i="1">
                            <a:latin typeface="Cambria Math" panose="02040503050406030204" pitchFamily="18" charset="0"/>
                          </a:rPr>
                          <m:t>𝜋</m:t>
                        </m:r>
                        <m:r>
                          <a:rPr lang="en-IN" baseline="30000">
                            <a:latin typeface="Cambria Math" panose="02040503050406030204" pitchFamily="18" charset="0"/>
                          </a:rPr>
                          <m:t>² ­ ­</m:t>
                        </m:r>
                        <m:r>
                          <m:rPr>
                            <m:sty m:val="p"/>
                          </m:rPr>
                          <a:rPr lang="en-IN">
                            <a:latin typeface="Cambria Math" panose="02040503050406030204" pitchFamily="18" charset="0"/>
                          </a:rPr>
                          <m:t>m</m:t>
                        </m:r>
                      </m:num>
                      <m:den>
                        <m:r>
                          <a:rPr lang="en-IN" i="1">
                            <a:latin typeface="Cambria Math" panose="02040503050406030204" pitchFamily="18" charset="0"/>
                          </a:rPr>
                          <m:t>h</m:t>
                        </m:r>
                        <m:r>
                          <a:rPr lang="en-IN" i="1">
                            <a:latin typeface="Cambria Math" panose="02040503050406030204" pitchFamily="18" charset="0"/>
                          </a:rPr>
                          <m:t>²</m:t>
                        </m:r>
                      </m:den>
                    </m:f>
                  </m:oMath>
                </a14:m>
                <a:r>
                  <a:rPr lang="en-IN" dirty="0">
                    <a:latin typeface="Casper"/>
                  </a:rPr>
                  <a:t>  E Ψ  = 0</a:t>
                </a:r>
              </a:p>
              <a:p>
                <a:pPr marL="0" indent="0">
                  <a:lnSpc>
                    <a:spcPct val="170000"/>
                  </a:lnSpc>
                  <a:buNone/>
                </a:pPr>
                <a:r>
                  <a:rPr lang="en-IN" baseline="30000" dirty="0">
                    <a:latin typeface="Casper"/>
                  </a:rPr>
                  <a:t>                                                              </a:t>
                </a:r>
                <a14:m>
                  <m:oMath xmlns:m="http://schemas.openxmlformats.org/officeDocument/2006/math">
                    <m:f>
                      <m:fPr>
                        <m:ctrlPr>
                          <a:rPr lang="en-IN" i="1">
                            <a:latin typeface="Cambria Math" panose="02040503050406030204" pitchFamily="18" charset="0"/>
                          </a:rPr>
                        </m:ctrlPr>
                      </m:fPr>
                      <m:num>
                        <m:r>
                          <m:rPr>
                            <m:sty m:val="p"/>
                          </m:rPr>
                          <a:rPr lang="en-IN">
                            <a:latin typeface="Cambria Math" panose="02040503050406030204" pitchFamily="18" charset="0"/>
                          </a:rPr>
                          <m:t>d</m:t>
                        </m:r>
                        <m:r>
                          <a:rPr lang="en-IN">
                            <a:latin typeface="Cambria Math" panose="02040503050406030204" pitchFamily="18" charset="0"/>
                          </a:rPr>
                          <m:t>²</m:t>
                        </m:r>
                        <m:r>
                          <m:rPr>
                            <m:sty m:val="p"/>
                          </m:rPr>
                          <a:rPr lang="en-IN">
                            <a:latin typeface="Cambria Math" panose="02040503050406030204" pitchFamily="18" charset="0"/>
                          </a:rPr>
                          <m:t>Ψ</m:t>
                        </m:r>
                      </m:num>
                      <m:den>
                        <m:r>
                          <m:rPr>
                            <m:sty m:val="p"/>
                          </m:rPr>
                          <a:rPr lang="en-IN">
                            <a:latin typeface="Cambria Math" panose="02040503050406030204" pitchFamily="18" charset="0"/>
                          </a:rPr>
                          <m:t>dx</m:t>
                        </m:r>
                        <m:r>
                          <a:rPr lang="en-IN">
                            <a:latin typeface="Cambria Math" panose="02040503050406030204" pitchFamily="18" charset="0"/>
                          </a:rPr>
                          <m:t>²</m:t>
                        </m:r>
                      </m:den>
                    </m:f>
                  </m:oMath>
                </a14:m>
                <a:r>
                  <a:rPr lang="en-IN" dirty="0">
                    <a:latin typeface="Casper"/>
                  </a:rPr>
                  <a:t>  + k</a:t>
                </a:r>
                <a:r>
                  <a:rPr lang="en-IN" baseline="30000" dirty="0">
                    <a:latin typeface="Casper"/>
                  </a:rPr>
                  <a:t>2­   </a:t>
                </a:r>
                <a:r>
                  <a:rPr lang="en-IN" dirty="0">
                    <a:latin typeface="Casper"/>
                  </a:rPr>
                  <a:t>Ψ</a:t>
                </a:r>
                <a:r>
                  <a:rPr lang="en-IN" baseline="30000" dirty="0">
                    <a:latin typeface="Casper"/>
                  </a:rPr>
                  <a:t>  </a:t>
                </a:r>
                <a:r>
                  <a:rPr lang="en-IN" dirty="0">
                    <a:latin typeface="Casper"/>
                  </a:rPr>
                  <a:t>= 0</a:t>
                </a:r>
                <a:r>
                  <a:rPr lang="en-IN" baseline="30000" dirty="0">
                    <a:latin typeface="Casper"/>
                  </a:rPr>
                  <a:t>                                (2)           </a:t>
                </a:r>
                <a:r>
                  <a:rPr lang="en-IN" sz="2900" baseline="30000" dirty="0">
                    <a:latin typeface="Casper"/>
                  </a:rPr>
                  <a:t>   </a:t>
                </a:r>
                <a:r>
                  <a:rPr lang="en-IN" sz="2900" dirty="0">
                    <a:latin typeface="Casper"/>
                  </a:rPr>
                  <a:t>  </a:t>
                </a:r>
              </a:p>
              <a:p>
                <a:pPr marL="0" indent="0">
                  <a:lnSpc>
                    <a:spcPct val="170000"/>
                  </a:lnSpc>
                  <a:buNone/>
                </a:pPr>
                <a:r>
                  <a:rPr lang="en-IN" dirty="0">
                    <a:latin typeface="Casper"/>
                  </a:rPr>
                  <a:t>                                          Where k</a:t>
                </a:r>
                <a:r>
                  <a:rPr lang="en-IN" baseline="30000" dirty="0">
                    <a:latin typeface="Casper"/>
                  </a:rPr>
                  <a:t>2 = </a:t>
                </a:r>
                <a14:m>
                  <m:oMath xmlns:m="http://schemas.openxmlformats.org/officeDocument/2006/math">
                    <m:f>
                      <m:fPr>
                        <m:ctrlPr>
                          <a:rPr lang="en-IN" i="1">
                            <a:latin typeface="Cambria Math" panose="02040503050406030204" pitchFamily="18" charset="0"/>
                          </a:rPr>
                        </m:ctrlPr>
                      </m:fPr>
                      <m:num>
                        <m:r>
                          <a:rPr lang="en-IN">
                            <a:latin typeface="Cambria Math" panose="02040503050406030204" pitchFamily="18" charset="0"/>
                          </a:rPr>
                          <m:t>8</m:t>
                        </m:r>
                        <m:r>
                          <a:rPr lang="en-IN" i="1">
                            <a:latin typeface="Cambria Math" panose="02040503050406030204" pitchFamily="18" charset="0"/>
                          </a:rPr>
                          <m:t>𝜋</m:t>
                        </m:r>
                        <m:r>
                          <a:rPr lang="en-IN" baseline="30000">
                            <a:latin typeface="Cambria Math" panose="02040503050406030204" pitchFamily="18" charset="0"/>
                          </a:rPr>
                          <m:t>² ­ ­</m:t>
                        </m:r>
                        <m:r>
                          <m:rPr>
                            <m:sty m:val="p"/>
                          </m:rPr>
                          <a:rPr lang="en-IN">
                            <a:latin typeface="Cambria Math" panose="02040503050406030204" pitchFamily="18" charset="0"/>
                          </a:rPr>
                          <m:t>m</m:t>
                        </m:r>
                      </m:num>
                      <m:den>
                        <m:r>
                          <a:rPr lang="en-IN" i="1">
                            <a:latin typeface="Cambria Math" panose="02040503050406030204" pitchFamily="18" charset="0"/>
                          </a:rPr>
                          <m:t>h</m:t>
                        </m:r>
                        <m:r>
                          <a:rPr lang="en-IN" i="1">
                            <a:latin typeface="Cambria Math" panose="02040503050406030204" pitchFamily="18" charset="0"/>
                          </a:rPr>
                          <m:t>²</m:t>
                        </m:r>
                      </m:den>
                    </m:f>
                  </m:oMath>
                </a14:m>
                <a:r>
                  <a:rPr lang="en-IN" dirty="0">
                    <a:latin typeface="Casper"/>
                  </a:rPr>
                  <a:t>                                                  </a:t>
                </a:r>
                <a:endParaRPr lang="en-IN" dirty="0"/>
              </a:p>
              <a:p>
                <a:pPr marL="0" indent="0">
                  <a:lnSpc>
                    <a:spcPct val="170000"/>
                  </a:lnSpc>
                  <a:buNone/>
                </a:pPr>
                <a:endParaRPr lang="en-IN" dirty="0"/>
              </a:p>
            </p:txBody>
          </p:sp>
        </mc:Choice>
        <mc:Fallback xmlns="">
          <p:sp>
            <p:nvSpPr>
              <p:cNvPr id="3" name="Content Placeholder 2">
                <a:extLst>
                  <a:ext uri="{FF2B5EF4-FFF2-40B4-BE49-F238E27FC236}">
                    <a16:creationId xmlns:a16="http://schemas.microsoft.com/office/drawing/2014/main" xmlns="" xmlns:a14="http://schemas.microsoft.com/office/drawing/2010/main" id="{08CE8CE6-0D54-41F1-8B50-E60E43E02E6C}"/>
                  </a:ext>
                </a:extLst>
              </p:cNvPr>
              <p:cNvSpPr>
                <a:spLocks noGrp="1" noRot="1" noChangeAspect="1" noMove="1" noResize="1" noEditPoints="1" noAdjustHandles="1" noChangeArrowheads="1" noChangeShapeType="1" noTextEdit="1"/>
              </p:cNvSpPr>
              <p:nvPr>
                <p:ph idx="1"/>
              </p:nvPr>
            </p:nvSpPr>
            <p:spPr>
              <a:blipFill rotWithShape="0">
                <a:blip r:embed="rId2"/>
                <a:stretch>
                  <a:fillRect l="-405"/>
                </a:stretch>
              </a:blipFill>
              <a:ln>
                <a:solidFill>
                  <a:schemeClr val="accent1"/>
                </a:solidFill>
              </a:ln>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DAF69548-FA0E-45C1-BB7C-CE115CD4998D}"/>
              </a:ext>
            </a:extLst>
          </p:cNvPr>
          <p:cNvSpPr>
            <a:spLocks noGrp="1"/>
          </p:cNvSpPr>
          <p:nvPr>
            <p:ph type="sldNum" sz="quarter" idx="12"/>
          </p:nvPr>
        </p:nvSpPr>
        <p:spPr/>
        <p:txBody>
          <a:bodyPr/>
          <a:lstStyle/>
          <a:p>
            <a:fld id="{BDCDBBEF-AA6C-4BA6-85B2-A17D7F280E38}" type="slidenum">
              <a:rPr lang="en-US" smtClean="0"/>
              <a:t>16</a:t>
            </a:fld>
            <a:endParaRPr lang="en-US"/>
          </a:p>
        </p:txBody>
      </p:sp>
      <p:sp>
        <p:nvSpPr>
          <p:cNvPr id="5" name="Title 1">
            <a:extLst>
              <a:ext uri="{FF2B5EF4-FFF2-40B4-BE49-F238E27FC236}">
                <a16:creationId xmlns:a16="http://schemas.microsoft.com/office/drawing/2014/main" id="{CA5E63C5-AA64-4962-B06C-0E543961F01E}"/>
              </a:ext>
            </a:extLst>
          </p:cNvPr>
          <p:cNvSpPr>
            <a:spLocks noGrp="1"/>
          </p:cNvSpPr>
          <p:nvPr>
            <p:ph type="title"/>
          </p:nvPr>
        </p:nvSpPr>
        <p:spPr>
          <a:xfrm>
            <a:off x="838200" y="365125"/>
            <a:ext cx="10515600" cy="1325563"/>
          </a:xfrm>
          <a:ln>
            <a:solidFill>
              <a:srgbClr val="C00000"/>
            </a:solidFill>
          </a:ln>
        </p:spPr>
        <p:txBody>
          <a:bodyPr/>
          <a:lstStyle/>
          <a:p>
            <a:pPr algn="ctr"/>
            <a:r>
              <a:rPr lang="en-IN" b="1" dirty="0">
                <a:latin typeface="Casper"/>
              </a:rPr>
              <a:t>PARTICLE IN A BOX</a:t>
            </a:r>
            <a:br>
              <a:rPr lang="en-IN" dirty="0">
                <a:latin typeface="Casper"/>
              </a:rPr>
            </a:br>
            <a:endParaRPr lang="en-IN" dirty="0">
              <a:latin typeface="Casper"/>
            </a:endParaRPr>
          </a:p>
        </p:txBody>
      </p:sp>
    </p:spTree>
    <p:extLst>
      <p:ext uri="{BB962C8B-B14F-4D97-AF65-F5344CB8AC3E}">
        <p14:creationId xmlns:p14="http://schemas.microsoft.com/office/powerpoint/2010/main" val="515641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72B733-0121-43D3-89A5-CF3FDE892089}"/>
              </a:ext>
            </a:extLst>
          </p:cNvPr>
          <p:cNvSpPr>
            <a:spLocks noGrp="1"/>
          </p:cNvSpPr>
          <p:nvPr>
            <p:ph idx="1"/>
          </p:nvPr>
        </p:nvSpPr>
        <p:spPr>
          <a:ln>
            <a:solidFill>
              <a:schemeClr val="accent1"/>
            </a:solidFill>
          </a:ln>
        </p:spPr>
        <p:txBody>
          <a:bodyPr/>
          <a:lstStyle/>
          <a:p>
            <a:pPr marL="0" indent="0">
              <a:lnSpc>
                <a:spcPct val="150000"/>
              </a:lnSpc>
              <a:buNone/>
            </a:pPr>
            <a:r>
              <a:rPr lang="en-IN" sz="2400" dirty="0">
                <a:latin typeface="Casper"/>
              </a:rPr>
              <a:t>Discussion of the solution:</a:t>
            </a:r>
          </a:p>
          <a:p>
            <a:pPr marL="0" indent="0">
              <a:lnSpc>
                <a:spcPct val="150000"/>
              </a:lnSpc>
              <a:buNone/>
            </a:pPr>
            <a:r>
              <a:rPr lang="en-IN" sz="2400" dirty="0">
                <a:latin typeface="Casper"/>
              </a:rPr>
              <a:t> The solution of the above equation (2) is given by</a:t>
            </a:r>
          </a:p>
          <a:p>
            <a:pPr marL="0" indent="0">
              <a:lnSpc>
                <a:spcPct val="150000"/>
              </a:lnSpc>
              <a:buNone/>
            </a:pPr>
            <a:r>
              <a:rPr lang="en-IN" sz="2400" dirty="0">
                <a:latin typeface="Casper"/>
              </a:rPr>
              <a:t>                                             Ψ = A cos k x + B sin k x                       ( 3)</a:t>
            </a:r>
          </a:p>
          <a:p>
            <a:pPr marL="0" indent="0">
              <a:lnSpc>
                <a:spcPct val="150000"/>
              </a:lnSpc>
              <a:buNone/>
            </a:pPr>
            <a:r>
              <a:rPr lang="en-IN" sz="2400" dirty="0">
                <a:latin typeface="Casper"/>
              </a:rPr>
              <a:t> Where A &amp; B  are  constants  depending on the boundary condition.                                                                       </a:t>
            </a:r>
          </a:p>
          <a:p>
            <a:pPr marL="0" indent="0">
              <a:lnSpc>
                <a:spcPct val="150000"/>
              </a:lnSpc>
              <a:buNone/>
            </a:pPr>
            <a:r>
              <a:rPr lang="en-IN" sz="2400" dirty="0">
                <a:latin typeface="Casper"/>
              </a:rPr>
              <a:t> Now apply boundary conditions for this,</a:t>
            </a:r>
          </a:p>
          <a:p>
            <a:pPr marL="0" indent="0">
              <a:lnSpc>
                <a:spcPct val="150000"/>
              </a:lnSpc>
              <a:buNone/>
            </a:pPr>
            <a:r>
              <a:rPr lang="en-IN" sz="2400" dirty="0">
                <a:latin typeface="Casper"/>
              </a:rPr>
              <a:t>Condition: I                              At  x = 0, ψ = 0. </a:t>
            </a:r>
          </a:p>
          <a:p>
            <a:endParaRPr lang="en-IN" dirty="0"/>
          </a:p>
        </p:txBody>
      </p:sp>
      <p:sp>
        <p:nvSpPr>
          <p:cNvPr id="4" name="Slide Number Placeholder 3">
            <a:extLst>
              <a:ext uri="{FF2B5EF4-FFF2-40B4-BE49-F238E27FC236}">
                <a16:creationId xmlns:a16="http://schemas.microsoft.com/office/drawing/2014/main" id="{77B27E99-2670-4249-B9FC-A0277797AE16}"/>
              </a:ext>
            </a:extLst>
          </p:cNvPr>
          <p:cNvSpPr>
            <a:spLocks noGrp="1"/>
          </p:cNvSpPr>
          <p:nvPr>
            <p:ph type="sldNum" sz="quarter" idx="12"/>
          </p:nvPr>
        </p:nvSpPr>
        <p:spPr/>
        <p:txBody>
          <a:bodyPr/>
          <a:lstStyle/>
          <a:p>
            <a:fld id="{BDCDBBEF-AA6C-4BA6-85B2-A17D7F280E38}" type="slidenum">
              <a:rPr lang="en-US" smtClean="0"/>
              <a:t>17</a:t>
            </a:fld>
            <a:endParaRPr lang="en-US"/>
          </a:p>
        </p:txBody>
      </p:sp>
      <p:sp>
        <p:nvSpPr>
          <p:cNvPr id="5" name="Title 1">
            <a:extLst>
              <a:ext uri="{FF2B5EF4-FFF2-40B4-BE49-F238E27FC236}">
                <a16:creationId xmlns:a16="http://schemas.microsoft.com/office/drawing/2014/main" id="{478E681F-C703-4912-B17C-33A29DAB2B74}"/>
              </a:ext>
            </a:extLst>
          </p:cNvPr>
          <p:cNvSpPr>
            <a:spLocks noGrp="1"/>
          </p:cNvSpPr>
          <p:nvPr>
            <p:ph type="title"/>
          </p:nvPr>
        </p:nvSpPr>
        <p:spPr>
          <a:xfrm>
            <a:off x="838200" y="365125"/>
            <a:ext cx="10515600" cy="1325563"/>
          </a:xfrm>
          <a:ln>
            <a:solidFill>
              <a:srgbClr val="C00000"/>
            </a:solidFill>
          </a:ln>
        </p:spPr>
        <p:txBody>
          <a:bodyPr/>
          <a:lstStyle/>
          <a:p>
            <a:pPr algn="ctr"/>
            <a:r>
              <a:rPr lang="en-IN" b="1" dirty="0">
                <a:latin typeface="Casper"/>
              </a:rPr>
              <a:t>PARTICLE IN A BOX</a:t>
            </a:r>
            <a:br>
              <a:rPr lang="en-IN" dirty="0">
                <a:latin typeface="Casper"/>
              </a:rPr>
            </a:br>
            <a:endParaRPr lang="en-IN" dirty="0">
              <a:latin typeface="Casper"/>
            </a:endParaRPr>
          </a:p>
        </p:txBody>
      </p:sp>
    </p:spTree>
    <p:extLst>
      <p:ext uri="{BB962C8B-B14F-4D97-AF65-F5344CB8AC3E}">
        <p14:creationId xmlns:p14="http://schemas.microsoft.com/office/powerpoint/2010/main" val="25366423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BCA064-05EE-46E3-86EE-7C6558265D1C}"/>
                  </a:ext>
                </a:extLst>
              </p:cNvPr>
              <p:cNvSpPr>
                <a:spLocks noGrp="1"/>
              </p:cNvSpPr>
              <p:nvPr>
                <p:ph idx="1"/>
              </p:nvPr>
            </p:nvSpPr>
            <p:spPr>
              <a:xfrm>
                <a:off x="838200" y="1825624"/>
                <a:ext cx="10515600" cy="4530725"/>
              </a:xfrm>
              <a:ln>
                <a:solidFill>
                  <a:schemeClr val="accent1"/>
                </a:solidFill>
              </a:ln>
            </p:spPr>
            <p:txBody>
              <a:bodyPr>
                <a:normAutofit fontScale="47500" lnSpcReduction="20000"/>
              </a:bodyPr>
              <a:lstStyle/>
              <a:p>
                <a:pPr marL="0" indent="0">
                  <a:lnSpc>
                    <a:spcPct val="170000"/>
                  </a:lnSpc>
                  <a:buNone/>
                </a:pPr>
                <a:r>
                  <a:rPr lang="en-IN" sz="3800" dirty="0">
                    <a:latin typeface="Casper"/>
                  </a:rPr>
                  <a:t>From equation (3) we get A = 0.</a:t>
                </a:r>
              </a:p>
              <a:p>
                <a:pPr marL="0" indent="0">
                  <a:lnSpc>
                    <a:spcPct val="170000"/>
                  </a:lnSpc>
                  <a:buNone/>
                </a:pPr>
                <a:r>
                  <a:rPr lang="en-IN" sz="3800" dirty="0">
                    <a:latin typeface="Casper"/>
                  </a:rPr>
                  <a:t>Condition: II                            At x = a, ψ = 0</a:t>
                </a:r>
              </a:p>
              <a:p>
                <a:pPr marL="0" indent="0">
                  <a:lnSpc>
                    <a:spcPct val="170000"/>
                  </a:lnSpc>
                  <a:buNone/>
                </a:pPr>
                <a:r>
                  <a:rPr lang="en-IN" sz="3800" dirty="0">
                    <a:latin typeface="Casper"/>
                  </a:rPr>
                  <a:t> From equation (3) we get,   B sin (ka) =0</a:t>
                </a:r>
              </a:p>
              <a:p>
                <a:pPr marL="0" indent="0">
                  <a:lnSpc>
                    <a:spcPct val="170000"/>
                  </a:lnSpc>
                  <a:buNone/>
                </a:pPr>
                <a:r>
                  <a:rPr lang="en-IN" sz="3800" dirty="0">
                    <a:latin typeface="Casper"/>
                  </a:rPr>
                  <a:t> Since B ≠ 0                                Sin ka = 0</a:t>
                </a:r>
              </a:p>
              <a:p>
                <a:pPr marL="0" indent="0">
                  <a:lnSpc>
                    <a:spcPct val="170000"/>
                  </a:lnSpc>
                  <a:buNone/>
                </a:pPr>
                <a:r>
                  <a:rPr lang="en-IN" sz="3800" dirty="0">
                    <a:latin typeface="Casper"/>
                  </a:rPr>
                  <a:t>                                                   K a = n</a:t>
                </a:r>
                <a14:m>
                  <m:oMath xmlns:m="http://schemas.openxmlformats.org/officeDocument/2006/math">
                    <m:r>
                      <a:rPr lang="en-IN" sz="3800" i="1">
                        <a:latin typeface="Cambria Math" panose="02040503050406030204" pitchFamily="18" charset="0"/>
                      </a:rPr>
                      <m:t> </m:t>
                    </m:r>
                    <m:r>
                      <a:rPr lang="en-IN" sz="3800" i="1">
                        <a:latin typeface="Cambria Math" panose="02040503050406030204" pitchFamily="18" charset="0"/>
                      </a:rPr>
                      <m:t>𝜋</m:t>
                    </m:r>
                  </m:oMath>
                </a14:m>
                <a:endParaRPr lang="en-IN" sz="3800" dirty="0">
                  <a:latin typeface="Casper"/>
                </a:endParaRPr>
              </a:p>
              <a:p>
                <a:pPr marL="0" indent="0">
                  <a:lnSpc>
                    <a:spcPct val="170000"/>
                  </a:lnSpc>
                  <a:buNone/>
                </a:pPr>
                <a:r>
                  <a:rPr lang="en-IN" sz="3800" dirty="0">
                    <a:latin typeface="Casper"/>
                  </a:rPr>
                  <a:t>                                                       K =</a:t>
                </a:r>
                <a14:m>
                  <m:oMath xmlns:m="http://schemas.openxmlformats.org/officeDocument/2006/math">
                    <m:r>
                      <a:rPr lang="en-IN" sz="3800" i="1">
                        <a:latin typeface="Cambria Math" panose="02040503050406030204" pitchFamily="18" charset="0"/>
                      </a:rPr>
                      <m:t> </m:t>
                    </m:r>
                    <m:f>
                      <m:fPr>
                        <m:ctrlPr>
                          <a:rPr lang="en-IN" sz="3800" i="1">
                            <a:latin typeface="Cambria Math" panose="02040503050406030204" pitchFamily="18" charset="0"/>
                          </a:rPr>
                        </m:ctrlPr>
                      </m:fPr>
                      <m:num>
                        <m:r>
                          <m:rPr>
                            <m:sty m:val="p"/>
                          </m:rPr>
                          <a:rPr lang="en-IN" sz="3800">
                            <a:latin typeface="Cambria Math" panose="02040503050406030204" pitchFamily="18" charset="0"/>
                          </a:rPr>
                          <m:t>n</m:t>
                        </m:r>
                        <m:r>
                          <a:rPr lang="en-IN" sz="3800" i="1">
                            <a:latin typeface="Cambria Math" panose="02040503050406030204" pitchFamily="18" charset="0"/>
                          </a:rPr>
                          <m:t>𝜋</m:t>
                        </m:r>
                      </m:num>
                      <m:den>
                        <m:r>
                          <a:rPr lang="en-IN" sz="3800" i="1">
                            <a:latin typeface="Cambria Math" panose="02040503050406030204" pitchFamily="18" charset="0"/>
                          </a:rPr>
                          <m:t>𝑎</m:t>
                        </m:r>
                      </m:den>
                    </m:f>
                  </m:oMath>
                </a14:m>
                <a:r>
                  <a:rPr lang="en-IN" sz="3800" dirty="0">
                    <a:latin typeface="Casper"/>
                  </a:rPr>
                  <a:t>  </a:t>
                </a:r>
              </a:p>
              <a:p>
                <a:pPr marL="0" indent="0">
                  <a:lnSpc>
                    <a:spcPct val="170000"/>
                  </a:lnSpc>
                  <a:buNone/>
                </a:pPr>
                <a:r>
                  <a:rPr lang="en-IN" sz="3800" baseline="30000" dirty="0">
                    <a:latin typeface="Casper"/>
                  </a:rPr>
                  <a:t>                                                                             </a:t>
                </a:r>
                <a:r>
                  <a:rPr lang="en-IN" sz="3800" dirty="0">
                    <a:latin typeface="Casper"/>
                  </a:rPr>
                  <a:t>k</a:t>
                </a:r>
                <a:r>
                  <a:rPr lang="en-IN" sz="3800" baseline="30000" dirty="0">
                    <a:latin typeface="Casper"/>
                  </a:rPr>
                  <a:t>2   =      </a:t>
                </a:r>
                <a14:m>
                  <m:oMath xmlns:m="http://schemas.openxmlformats.org/officeDocument/2006/math">
                    <m:f>
                      <m:fPr>
                        <m:ctrlPr>
                          <a:rPr lang="en-IN" sz="3800" i="1">
                            <a:latin typeface="Cambria Math" panose="02040503050406030204" pitchFamily="18" charset="0"/>
                          </a:rPr>
                        </m:ctrlPr>
                      </m:fPr>
                      <m:num>
                        <m:r>
                          <m:rPr>
                            <m:sty m:val="p"/>
                          </m:rPr>
                          <a:rPr lang="en-IN" sz="3800">
                            <a:latin typeface="Cambria Math" panose="02040503050406030204" pitchFamily="18" charset="0"/>
                          </a:rPr>
                          <m:t>n</m:t>
                        </m:r>
                        <m:r>
                          <a:rPr lang="en-IN" sz="3800">
                            <a:latin typeface="Cambria Math" panose="02040503050406030204" pitchFamily="18" charset="0"/>
                          </a:rPr>
                          <m:t>²</m:t>
                        </m:r>
                        <m:r>
                          <a:rPr lang="en-IN" sz="3800" i="1">
                            <a:latin typeface="Cambria Math" panose="02040503050406030204" pitchFamily="18" charset="0"/>
                          </a:rPr>
                          <m:t>𝜋</m:t>
                        </m:r>
                        <m:r>
                          <a:rPr lang="en-IN" sz="3800" i="1">
                            <a:latin typeface="Cambria Math" panose="02040503050406030204" pitchFamily="18" charset="0"/>
                          </a:rPr>
                          <m:t>²</m:t>
                        </m:r>
                      </m:num>
                      <m:den>
                        <m:r>
                          <a:rPr lang="en-IN" sz="3800" i="1">
                            <a:latin typeface="Cambria Math" panose="02040503050406030204" pitchFamily="18" charset="0"/>
                          </a:rPr>
                          <m:t>𝑎</m:t>
                        </m:r>
                        <m:r>
                          <a:rPr lang="en-IN" sz="3800" i="1">
                            <a:latin typeface="Cambria Math" panose="02040503050406030204" pitchFamily="18" charset="0"/>
                          </a:rPr>
                          <m:t>²</m:t>
                        </m:r>
                      </m:den>
                    </m:f>
                  </m:oMath>
                </a14:m>
                <a:r>
                  <a:rPr lang="en-IN" sz="3800" dirty="0">
                    <a:latin typeface="Casper"/>
                  </a:rPr>
                  <a:t> </a:t>
                </a:r>
                <a:r>
                  <a:rPr lang="en-IN" sz="3100" dirty="0">
                    <a:latin typeface="Casper"/>
                  </a:rPr>
                  <a:t> </a:t>
                </a:r>
              </a:p>
              <a:p>
                <a:endParaRPr lang="en-IN" dirty="0"/>
              </a:p>
            </p:txBody>
          </p:sp>
        </mc:Choice>
        <mc:Fallback xmlns="">
          <p:sp>
            <p:nvSpPr>
              <p:cNvPr id="3" name="Content Placeholder 2">
                <a:extLst>
                  <a:ext uri="{FF2B5EF4-FFF2-40B4-BE49-F238E27FC236}">
                    <a16:creationId xmlns:a16="http://schemas.microsoft.com/office/drawing/2014/main" id="{84BCA064-05EE-46E3-86EE-7C6558265D1C}"/>
                  </a:ext>
                </a:extLst>
              </p:cNvPr>
              <p:cNvSpPr>
                <a:spLocks noGrp="1" noRot="1" noChangeAspect="1" noMove="1" noResize="1" noEditPoints="1" noAdjustHandles="1" noChangeArrowheads="1" noChangeShapeType="1" noTextEdit="1"/>
              </p:cNvSpPr>
              <p:nvPr>
                <p:ph idx="1"/>
              </p:nvPr>
            </p:nvSpPr>
            <p:spPr>
              <a:xfrm>
                <a:off x="838200" y="1825624"/>
                <a:ext cx="10515600" cy="4530725"/>
              </a:xfrm>
              <a:blipFill>
                <a:blip r:embed="rId2"/>
                <a:stretch>
                  <a:fillRect l="-463"/>
                </a:stretch>
              </a:blipFill>
              <a:ln>
                <a:solidFill>
                  <a:schemeClr val="accent1"/>
                </a:solidFill>
              </a:ln>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EF9FA7AE-3F5C-4D1F-837F-0529F96A11C2}"/>
              </a:ext>
            </a:extLst>
          </p:cNvPr>
          <p:cNvSpPr>
            <a:spLocks noGrp="1"/>
          </p:cNvSpPr>
          <p:nvPr>
            <p:ph type="sldNum" sz="quarter" idx="12"/>
          </p:nvPr>
        </p:nvSpPr>
        <p:spPr/>
        <p:txBody>
          <a:bodyPr/>
          <a:lstStyle/>
          <a:p>
            <a:fld id="{BDCDBBEF-AA6C-4BA6-85B2-A17D7F280E38}" type="slidenum">
              <a:rPr lang="en-US" smtClean="0"/>
              <a:t>18</a:t>
            </a:fld>
            <a:endParaRPr lang="en-US"/>
          </a:p>
        </p:txBody>
      </p:sp>
      <p:sp>
        <p:nvSpPr>
          <p:cNvPr id="5" name="Title 1">
            <a:extLst>
              <a:ext uri="{FF2B5EF4-FFF2-40B4-BE49-F238E27FC236}">
                <a16:creationId xmlns:a16="http://schemas.microsoft.com/office/drawing/2014/main" id="{FA1CBBFF-4757-4679-9C0D-4B8F3F4FEA98}"/>
              </a:ext>
            </a:extLst>
          </p:cNvPr>
          <p:cNvSpPr>
            <a:spLocks noGrp="1"/>
          </p:cNvSpPr>
          <p:nvPr>
            <p:ph type="title"/>
          </p:nvPr>
        </p:nvSpPr>
        <p:spPr>
          <a:xfrm>
            <a:off x="838200" y="365125"/>
            <a:ext cx="10515600" cy="1325563"/>
          </a:xfrm>
          <a:ln>
            <a:solidFill>
              <a:srgbClr val="C00000"/>
            </a:solidFill>
          </a:ln>
        </p:spPr>
        <p:txBody>
          <a:bodyPr/>
          <a:lstStyle/>
          <a:p>
            <a:pPr algn="ctr"/>
            <a:r>
              <a:rPr lang="en-IN" b="1" dirty="0">
                <a:latin typeface="Casper"/>
              </a:rPr>
              <a:t>PARTICLE IN A BOX</a:t>
            </a:r>
            <a:br>
              <a:rPr lang="en-IN" dirty="0">
                <a:latin typeface="Casper"/>
              </a:rPr>
            </a:br>
            <a:endParaRPr lang="en-IN" dirty="0">
              <a:latin typeface="Casper"/>
            </a:endParaRPr>
          </a:p>
        </p:txBody>
      </p:sp>
    </p:spTree>
    <p:extLst>
      <p:ext uri="{BB962C8B-B14F-4D97-AF65-F5344CB8AC3E}">
        <p14:creationId xmlns:p14="http://schemas.microsoft.com/office/powerpoint/2010/main" val="342909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BCA064-05EE-46E3-86EE-7C6558265D1C}"/>
                  </a:ext>
                </a:extLst>
              </p:cNvPr>
              <p:cNvSpPr>
                <a:spLocks noGrp="1"/>
              </p:cNvSpPr>
              <p:nvPr>
                <p:ph idx="1"/>
              </p:nvPr>
            </p:nvSpPr>
            <p:spPr>
              <a:ln>
                <a:solidFill>
                  <a:schemeClr val="accent1"/>
                </a:solidFill>
              </a:ln>
            </p:spPr>
            <p:txBody>
              <a:bodyPr>
                <a:normAutofit/>
              </a:bodyPr>
              <a:lstStyle/>
              <a:p>
                <a:pPr marL="0" indent="0">
                  <a:lnSpc>
                    <a:spcPct val="150000"/>
                  </a:lnSpc>
                  <a:buNone/>
                </a:pPr>
                <a:r>
                  <a:rPr lang="en-IN" sz="2400" dirty="0">
                    <a:latin typeface="Casper"/>
                  </a:rPr>
                  <a:t>Therefore wavefunction Ψ becomes</a:t>
                </a:r>
              </a:p>
              <a:p>
                <a:pPr marL="0" indent="0">
                  <a:lnSpc>
                    <a:spcPct val="150000"/>
                  </a:lnSpc>
                  <a:buNone/>
                </a:pPr>
                <a:r>
                  <a:rPr lang="en-IN" sz="2400" dirty="0">
                    <a:latin typeface="Casper"/>
                  </a:rPr>
                  <a:t>      Ψ= B sin </a:t>
                </a:r>
                <a:r>
                  <a:rPr lang="en-IN" sz="2400" baseline="30000" dirty="0">
                    <a:latin typeface="Casper"/>
                  </a:rPr>
                  <a:t> </a:t>
                </a:r>
                <a:r>
                  <a:rPr lang="en-IN" sz="2400" dirty="0">
                    <a:latin typeface="Casper"/>
                  </a:rPr>
                  <a:t>(</a:t>
                </a:r>
                <a:r>
                  <a:rPr lang="en-IN" sz="2400" baseline="30000" dirty="0">
                    <a:latin typeface="Casper"/>
                  </a:rPr>
                  <a:t> </a:t>
                </a:r>
                <a14:m>
                  <m:oMath xmlns:m="http://schemas.openxmlformats.org/officeDocument/2006/math">
                    <m:f>
                      <m:fPr>
                        <m:ctrlPr>
                          <a:rPr lang="en-IN" sz="2400" i="1">
                            <a:latin typeface="Cambria Math" panose="02040503050406030204" pitchFamily="18" charset="0"/>
                          </a:rPr>
                        </m:ctrlPr>
                      </m:fPr>
                      <m:num>
                        <m:r>
                          <m:rPr>
                            <m:sty m:val="p"/>
                          </m:rPr>
                          <a:rPr lang="en-IN" sz="2400">
                            <a:latin typeface="Cambria Math" panose="02040503050406030204" pitchFamily="18" charset="0"/>
                          </a:rPr>
                          <m:t>n</m:t>
                        </m:r>
                        <m:r>
                          <a:rPr lang="en-IN" sz="2400" i="1">
                            <a:latin typeface="Cambria Math" panose="02040503050406030204" pitchFamily="18" charset="0"/>
                          </a:rPr>
                          <m:t>𝜋</m:t>
                        </m:r>
                      </m:num>
                      <m:den>
                        <m:r>
                          <a:rPr lang="en-IN" sz="2400" i="1">
                            <a:latin typeface="Cambria Math" panose="02040503050406030204" pitchFamily="18" charset="0"/>
                          </a:rPr>
                          <m:t>𝑎</m:t>
                        </m:r>
                      </m:den>
                    </m:f>
                  </m:oMath>
                </a14:m>
                <a:r>
                  <a:rPr lang="en-IN" sz="2400" dirty="0">
                    <a:latin typeface="Casper"/>
                  </a:rPr>
                  <a:t>) x                           (3a) </a:t>
                </a:r>
              </a:p>
              <a:p>
                <a:pPr marL="0" indent="0">
                  <a:lnSpc>
                    <a:spcPct val="150000"/>
                  </a:lnSpc>
                  <a:buNone/>
                </a:pPr>
                <a:r>
                  <a:rPr lang="en-IN" sz="2400" dirty="0">
                    <a:latin typeface="Casper"/>
                  </a:rPr>
                  <a:t>Substitute the value of k</a:t>
                </a:r>
                <a:r>
                  <a:rPr lang="en-IN" sz="2400" baseline="30000" dirty="0">
                    <a:latin typeface="Casper"/>
                  </a:rPr>
                  <a:t>2</a:t>
                </a:r>
                <a:r>
                  <a:rPr lang="en-IN" sz="2400" dirty="0">
                    <a:latin typeface="Casper"/>
                  </a:rPr>
                  <a:t> in equation 2a, we get</a:t>
                </a:r>
              </a:p>
              <a:p>
                <a:pPr marL="0" indent="0">
                  <a:lnSpc>
                    <a:spcPct val="150000"/>
                  </a:lnSpc>
                  <a:buNone/>
                </a:pPr>
                <a:r>
                  <a:rPr lang="en-IN" sz="2400" dirty="0">
                    <a:latin typeface="Casper"/>
                  </a:rPr>
                  <a:t>                                       </a:t>
                </a:r>
                <a14:m>
                  <m:oMath xmlns:m="http://schemas.openxmlformats.org/officeDocument/2006/math">
                    <m:f>
                      <m:fPr>
                        <m:ctrlPr>
                          <a:rPr lang="en-IN" sz="2400" i="1">
                            <a:latin typeface="Cambria Math" panose="02040503050406030204" pitchFamily="18" charset="0"/>
                          </a:rPr>
                        </m:ctrlPr>
                      </m:fPr>
                      <m:num>
                        <m:r>
                          <a:rPr lang="en-IN" sz="2400">
                            <a:latin typeface="Cambria Math" panose="02040503050406030204" pitchFamily="18" charset="0"/>
                          </a:rPr>
                          <m:t>8</m:t>
                        </m:r>
                        <m:r>
                          <a:rPr lang="en-IN" sz="2400" i="1">
                            <a:latin typeface="Cambria Math" panose="02040503050406030204" pitchFamily="18" charset="0"/>
                          </a:rPr>
                          <m:t>𝜋</m:t>
                        </m:r>
                        <m:r>
                          <a:rPr lang="en-IN" sz="2400" baseline="30000">
                            <a:latin typeface="Cambria Math" panose="02040503050406030204" pitchFamily="18" charset="0"/>
                          </a:rPr>
                          <m:t>² ­ ­</m:t>
                        </m:r>
                        <m:r>
                          <m:rPr>
                            <m:sty m:val="p"/>
                          </m:rPr>
                          <a:rPr lang="en-IN" sz="2400">
                            <a:latin typeface="Cambria Math" panose="02040503050406030204" pitchFamily="18" charset="0"/>
                          </a:rPr>
                          <m:t>m</m:t>
                        </m:r>
                      </m:num>
                      <m:den>
                        <m:r>
                          <a:rPr lang="en-IN" sz="2400" i="1">
                            <a:latin typeface="Cambria Math" panose="02040503050406030204" pitchFamily="18" charset="0"/>
                          </a:rPr>
                          <m:t>h</m:t>
                        </m:r>
                        <m:r>
                          <a:rPr lang="en-IN" sz="2400" i="1">
                            <a:latin typeface="Cambria Math" panose="02040503050406030204" pitchFamily="18" charset="0"/>
                          </a:rPr>
                          <m:t>²</m:t>
                        </m:r>
                      </m:den>
                    </m:f>
                  </m:oMath>
                </a14:m>
                <a:r>
                  <a:rPr lang="en-IN" sz="2400" dirty="0">
                    <a:latin typeface="Casper"/>
                  </a:rPr>
                  <a:t>  =  </a:t>
                </a:r>
                <a14:m>
                  <m:oMath xmlns:m="http://schemas.openxmlformats.org/officeDocument/2006/math">
                    <m:f>
                      <m:fPr>
                        <m:ctrlPr>
                          <a:rPr lang="en-IN" sz="2400" i="1">
                            <a:latin typeface="Cambria Math" panose="02040503050406030204" pitchFamily="18" charset="0"/>
                          </a:rPr>
                        </m:ctrlPr>
                      </m:fPr>
                      <m:num>
                        <m:r>
                          <m:rPr>
                            <m:sty m:val="p"/>
                          </m:rPr>
                          <a:rPr lang="en-IN" sz="2400">
                            <a:latin typeface="Cambria Math" panose="02040503050406030204" pitchFamily="18" charset="0"/>
                          </a:rPr>
                          <m:t>n</m:t>
                        </m:r>
                        <m:r>
                          <a:rPr lang="en-IN" sz="2400">
                            <a:latin typeface="Cambria Math" panose="02040503050406030204" pitchFamily="18" charset="0"/>
                          </a:rPr>
                          <m:t>²</m:t>
                        </m:r>
                        <m:r>
                          <a:rPr lang="en-IN" sz="2400" i="1">
                            <a:latin typeface="Cambria Math" panose="02040503050406030204" pitchFamily="18" charset="0"/>
                          </a:rPr>
                          <m:t>𝜋</m:t>
                        </m:r>
                        <m:r>
                          <a:rPr lang="en-IN" sz="2400" i="1">
                            <a:latin typeface="Cambria Math" panose="02040503050406030204" pitchFamily="18" charset="0"/>
                          </a:rPr>
                          <m:t>²</m:t>
                        </m:r>
                      </m:num>
                      <m:den>
                        <m:r>
                          <a:rPr lang="en-IN" sz="2400" i="1">
                            <a:latin typeface="Cambria Math" panose="02040503050406030204" pitchFamily="18" charset="0"/>
                          </a:rPr>
                          <m:t>𝑎</m:t>
                        </m:r>
                        <m:r>
                          <a:rPr lang="en-IN" sz="2400" i="1">
                            <a:latin typeface="Cambria Math" panose="02040503050406030204" pitchFamily="18" charset="0"/>
                          </a:rPr>
                          <m:t>²</m:t>
                        </m:r>
                      </m:den>
                    </m:f>
                  </m:oMath>
                </a14:m>
                <a:r>
                  <a:rPr lang="en-IN" sz="2400" dirty="0">
                    <a:latin typeface="Casper"/>
                  </a:rPr>
                  <a:t>  </a:t>
                </a:r>
              </a:p>
              <a:p>
                <a:pPr marL="0" indent="0">
                  <a:lnSpc>
                    <a:spcPct val="150000"/>
                  </a:lnSpc>
                  <a:buNone/>
                </a:pPr>
                <a:r>
                  <a:rPr lang="en-IN" sz="2400" dirty="0">
                    <a:latin typeface="Casper"/>
                  </a:rPr>
                  <a:t>                                          E = </a:t>
                </a:r>
                <a14:m>
                  <m:oMath xmlns:m="http://schemas.openxmlformats.org/officeDocument/2006/math">
                    <m:f>
                      <m:fPr>
                        <m:ctrlPr>
                          <a:rPr lang="en-IN" sz="2400" i="1">
                            <a:latin typeface="Cambria Math" panose="02040503050406030204" pitchFamily="18" charset="0"/>
                          </a:rPr>
                        </m:ctrlPr>
                      </m:fPr>
                      <m:num>
                        <m:r>
                          <a:rPr lang="en-IN" sz="2400" i="1">
                            <a:latin typeface="Cambria Math" panose="02040503050406030204" pitchFamily="18" charset="0"/>
                          </a:rPr>
                          <m:t>𝑛</m:t>
                        </m:r>
                        <m:r>
                          <a:rPr lang="en-IN" sz="2400" i="1" baseline="30000">
                            <a:latin typeface="Cambria Math" panose="02040503050406030204" pitchFamily="18" charset="0"/>
                          </a:rPr>
                          <m:t>² </m:t>
                        </m:r>
                        <m:r>
                          <a:rPr lang="en-IN" sz="2400" i="1">
                            <a:latin typeface="Cambria Math" panose="02040503050406030204" pitchFamily="18" charset="0"/>
                          </a:rPr>
                          <m:t>h</m:t>
                        </m:r>
                        <m:r>
                          <a:rPr lang="en-IN" sz="2400" i="1" baseline="30000">
                            <a:latin typeface="Cambria Math" panose="02040503050406030204" pitchFamily="18" charset="0"/>
                          </a:rPr>
                          <m:t>²</m:t>
                        </m:r>
                      </m:num>
                      <m:den>
                        <m:r>
                          <a:rPr lang="en-IN" sz="2400" i="1">
                            <a:latin typeface="Cambria Math" panose="02040503050406030204" pitchFamily="18" charset="0"/>
                          </a:rPr>
                          <m:t>8 </m:t>
                        </m:r>
                        <m:r>
                          <a:rPr lang="en-IN" sz="2400" i="1">
                            <a:latin typeface="Cambria Math" panose="02040503050406030204" pitchFamily="18" charset="0"/>
                          </a:rPr>
                          <m:t>𝑚</m:t>
                        </m:r>
                        <m:r>
                          <a:rPr lang="en-IN" sz="2400" i="1">
                            <a:latin typeface="Cambria Math" panose="02040503050406030204" pitchFamily="18" charset="0"/>
                          </a:rPr>
                          <m:t> </m:t>
                        </m:r>
                        <m:r>
                          <a:rPr lang="en-IN" sz="2400" i="1">
                            <a:latin typeface="Cambria Math" panose="02040503050406030204" pitchFamily="18" charset="0"/>
                          </a:rPr>
                          <m:t>𝑎</m:t>
                        </m:r>
                        <m:r>
                          <a:rPr lang="en-IN" sz="2400" i="1">
                            <a:latin typeface="Cambria Math" panose="02040503050406030204" pitchFamily="18" charset="0"/>
                          </a:rPr>
                          <m:t>²</m:t>
                        </m:r>
                      </m:den>
                    </m:f>
                  </m:oMath>
                </a14:m>
                <a:r>
                  <a:rPr lang="en-IN" sz="2400" b="1" baseline="30000" dirty="0">
                    <a:latin typeface="Casper"/>
                  </a:rPr>
                  <a:t> </a:t>
                </a:r>
                <a:endParaRPr lang="en-IN" sz="2400" dirty="0">
                  <a:latin typeface="Casper"/>
                </a:endParaRPr>
              </a:p>
            </p:txBody>
          </p:sp>
        </mc:Choice>
        <mc:Fallback xmlns="">
          <p:sp>
            <p:nvSpPr>
              <p:cNvPr id="3" name="Content Placeholder 2">
                <a:extLst>
                  <a:ext uri="{FF2B5EF4-FFF2-40B4-BE49-F238E27FC236}">
                    <a16:creationId xmlns:a16="http://schemas.microsoft.com/office/drawing/2014/main" id="{84BCA064-05EE-46E3-86EE-7C6558265D1C}"/>
                  </a:ext>
                </a:extLst>
              </p:cNvPr>
              <p:cNvSpPr>
                <a:spLocks noGrp="1" noRot="1" noChangeAspect="1" noMove="1" noResize="1" noEditPoints="1" noAdjustHandles="1" noChangeArrowheads="1" noChangeShapeType="1" noTextEdit="1"/>
              </p:cNvSpPr>
              <p:nvPr>
                <p:ph idx="1"/>
              </p:nvPr>
            </p:nvSpPr>
            <p:spPr>
              <a:blipFill>
                <a:blip r:embed="rId2"/>
                <a:stretch>
                  <a:fillRect l="-869"/>
                </a:stretch>
              </a:blipFill>
              <a:ln>
                <a:solidFill>
                  <a:schemeClr val="accent1"/>
                </a:solidFill>
              </a:ln>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EF9FA7AE-3F5C-4D1F-837F-0529F96A11C2}"/>
              </a:ext>
            </a:extLst>
          </p:cNvPr>
          <p:cNvSpPr>
            <a:spLocks noGrp="1"/>
          </p:cNvSpPr>
          <p:nvPr>
            <p:ph type="sldNum" sz="quarter" idx="12"/>
          </p:nvPr>
        </p:nvSpPr>
        <p:spPr/>
        <p:txBody>
          <a:bodyPr/>
          <a:lstStyle/>
          <a:p>
            <a:fld id="{BDCDBBEF-AA6C-4BA6-85B2-A17D7F280E38}" type="slidenum">
              <a:rPr lang="en-US" smtClean="0"/>
              <a:t>19</a:t>
            </a:fld>
            <a:endParaRPr lang="en-US"/>
          </a:p>
        </p:txBody>
      </p:sp>
      <p:sp>
        <p:nvSpPr>
          <p:cNvPr id="5" name="Title 1">
            <a:extLst>
              <a:ext uri="{FF2B5EF4-FFF2-40B4-BE49-F238E27FC236}">
                <a16:creationId xmlns:a16="http://schemas.microsoft.com/office/drawing/2014/main" id="{FA1CBBFF-4757-4679-9C0D-4B8F3F4FEA98}"/>
              </a:ext>
            </a:extLst>
          </p:cNvPr>
          <p:cNvSpPr>
            <a:spLocks noGrp="1"/>
          </p:cNvSpPr>
          <p:nvPr>
            <p:ph type="title"/>
          </p:nvPr>
        </p:nvSpPr>
        <p:spPr>
          <a:xfrm>
            <a:off x="838200" y="365125"/>
            <a:ext cx="10515600" cy="1325563"/>
          </a:xfrm>
          <a:ln>
            <a:solidFill>
              <a:srgbClr val="C00000"/>
            </a:solidFill>
          </a:ln>
        </p:spPr>
        <p:txBody>
          <a:bodyPr/>
          <a:lstStyle/>
          <a:p>
            <a:pPr algn="ctr"/>
            <a:r>
              <a:rPr lang="en-IN" b="1" dirty="0">
                <a:latin typeface="Casper"/>
              </a:rPr>
              <a:t>PARTICLE IN A BOX</a:t>
            </a:r>
            <a:br>
              <a:rPr lang="en-IN" dirty="0">
                <a:latin typeface="Casper"/>
              </a:rPr>
            </a:br>
            <a:endParaRPr lang="en-IN" dirty="0">
              <a:latin typeface="Casper"/>
            </a:endParaRPr>
          </a:p>
        </p:txBody>
      </p:sp>
    </p:spTree>
    <p:extLst>
      <p:ext uri="{BB962C8B-B14F-4D97-AF65-F5344CB8AC3E}">
        <p14:creationId xmlns:p14="http://schemas.microsoft.com/office/powerpoint/2010/main" val="10974561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BCA064-05EE-46E3-86EE-7C6558265D1C}"/>
                  </a:ext>
                </a:extLst>
              </p:cNvPr>
              <p:cNvSpPr>
                <a:spLocks noGrp="1"/>
              </p:cNvSpPr>
              <p:nvPr>
                <p:ph idx="1"/>
              </p:nvPr>
            </p:nvSpPr>
            <p:spPr>
              <a:ln>
                <a:solidFill>
                  <a:schemeClr val="accent1"/>
                </a:solidFill>
              </a:ln>
            </p:spPr>
            <p:txBody>
              <a:bodyPr>
                <a:normAutofit/>
              </a:bodyPr>
              <a:lstStyle/>
              <a:p>
                <a:pPr marL="0" indent="0">
                  <a:lnSpc>
                    <a:spcPct val="150000"/>
                  </a:lnSpc>
                  <a:buNone/>
                </a:pPr>
                <a:r>
                  <a:rPr lang="en-IN" sz="2400" dirty="0">
                    <a:latin typeface="Casper"/>
                  </a:rPr>
                  <a:t>When, n = 0, </a:t>
                </a:r>
                <a:r>
                  <a:rPr lang="en-IN" sz="2400" dirty="0" err="1">
                    <a:latin typeface="Casper"/>
                  </a:rPr>
                  <a:t>ψn</a:t>
                </a:r>
                <a:r>
                  <a:rPr lang="en-IN" sz="2400" dirty="0">
                    <a:latin typeface="Casper"/>
                  </a:rPr>
                  <a:t> = 0. This means to say that the electron is not present inside the box which is not true. Hence the lowest value of ‘n’ is 1.The lowest energy corresponds to ‘n’ which is acceptable is for n =1 and the corresponding energy is called the zero-point energy or ground state energy and all the other states which corresponds to n &gt;1 are called excited states</a:t>
                </a:r>
              </a:p>
              <a:p>
                <a:pPr>
                  <a:lnSpc>
                    <a:spcPct val="150000"/>
                  </a:lnSpc>
                </a:pPr>
                <a:r>
                  <a:rPr lang="en-IN" sz="2400" dirty="0">
                    <a:latin typeface="Casper"/>
                  </a:rPr>
                  <a:t>                                      </a:t>
                </a:r>
                <a:r>
                  <a:rPr lang="en-IN" sz="2400" dirty="0" err="1">
                    <a:latin typeface="Casper"/>
                  </a:rPr>
                  <a:t>E</a:t>
                </a:r>
                <a:r>
                  <a:rPr lang="en-IN" sz="2400" baseline="-25000" dirty="0" err="1">
                    <a:latin typeface="Casper"/>
                  </a:rPr>
                  <a:t>zero</a:t>
                </a:r>
                <a:r>
                  <a:rPr lang="en-IN" sz="2400" baseline="-25000" dirty="0">
                    <a:latin typeface="Casper"/>
                  </a:rPr>
                  <a:t>-point </a:t>
                </a:r>
                <a:r>
                  <a:rPr lang="en-IN" sz="2400" dirty="0">
                    <a:latin typeface="Casper"/>
                  </a:rPr>
                  <a:t> = E</a:t>
                </a:r>
                <a:r>
                  <a:rPr lang="en-IN" sz="2400" baseline="-25000" dirty="0">
                    <a:latin typeface="Casper"/>
                  </a:rPr>
                  <a:t>0   </a:t>
                </a:r>
                <a:r>
                  <a:rPr lang="en-IN" sz="2400" dirty="0">
                    <a:latin typeface="Casper"/>
                  </a:rPr>
                  <a:t>=  </a:t>
                </a:r>
                <a14:m>
                  <m:oMath xmlns:m="http://schemas.openxmlformats.org/officeDocument/2006/math">
                    <m:f>
                      <m:fPr>
                        <m:ctrlPr>
                          <a:rPr lang="en-IN" sz="2400" i="1">
                            <a:latin typeface="Cambria Math" panose="02040503050406030204" pitchFamily="18" charset="0"/>
                          </a:rPr>
                        </m:ctrlPr>
                      </m:fPr>
                      <m:num>
                        <m:r>
                          <a:rPr lang="en-IN" sz="2400" i="1">
                            <a:latin typeface="Cambria Math" panose="02040503050406030204" pitchFamily="18" charset="0"/>
                          </a:rPr>
                          <m:t>h</m:t>
                        </m:r>
                        <m:r>
                          <a:rPr lang="en-IN" sz="2400" i="1" baseline="30000">
                            <a:latin typeface="Cambria Math" panose="02040503050406030204" pitchFamily="18" charset="0"/>
                          </a:rPr>
                          <m:t>²</m:t>
                        </m:r>
                      </m:num>
                      <m:den>
                        <m:r>
                          <a:rPr lang="en-IN" sz="2400" i="1">
                            <a:latin typeface="Cambria Math" panose="02040503050406030204" pitchFamily="18" charset="0"/>
                          </a:rPr>
                          <m:t>8 </m:t>
                        </m:r>
                        <m:r>
                          <a:rPr lang="en-IN" sz="2400" i="1">
                            <a:latin typeface="Cambria Math" panose="02040503050406030204" pitchFamily="18" charset="0"/>
                          </a:rPr>
                          <m:t>𝑚</m:t>
                        </m:r>
                        <m:r>
                          <a:rPr lang="en-IN" sz="2400" i="1">
                            <a:latin typeface="Cambria Math" panose="02040503050406030204" pitchFamily="18" charset="0"/>
                          </a:rPr>
                          <m:t> </m:t>
                        </m:r>
                        <m:r>
                          <a:rPr lang="en-IN" sz="2400" i="1">
                            <a:latin typeface="Cambria Math" panose="02040503050406030204" pitchFamily="18" charset="0"/>
                          </a:rPr>
                          <m:t>𝑎</m:t>
                        </m:r>
                        <m:r>
                          <a:rPr lang="en-IN" sz="2400" i="1">
                            <a:latin typeface="Cambria Math" panose="02040503050406030204" pitchFamily="18" charset="0"/>
                          </a:rPr>
                          <m:t>²</m:t>
                        </m:r>
                      </m:den>
                    </m:f>
                  </m:oMath>
                </a14:m>
                <a:r>
                  <a:rPr lang="en-IN" sz="2400" dirty="0">
                    <a:latin typeface="Casper"/>
                  </a:rPr>
                  <a:t> </a:t>
                </a:r>
              </a:p>
            </p:txBody>
          </p:sp>
        </mc:Choice>
        <mc:Fallback xmlns="">
          <p:sp>
            <p:nvSpPr>
              <p:cNvPr id="3" name="Content Placeholder 2">
                <a:extLst>
                  <a:ext uri="{FF2B5EF4-FFF2-40B4-BE49-F238E27FC236}">
                    <a16:creationId xmlns:a16="http://schemas.microsoft.com/office/drawing/2014/main" id="{84BCA064-05EE-46E3-86EE-7C6558265D1C}"/>
                  </a:ext>
                </a:extLst>
              </p:cNvPr>
              <p:cNvSpPr>
                <a:spLocks noGrp="1" noRot="1" noChangeAspect="1" noMove="1" noResize="1" noEditPoints="1" noAdjustHandles="1" noChangeArrowheads="1" noChangeShapeType="1" noTextEdit="1"/>
              </p:cNvSpPr>
              <p:nvPr>
                <p:ph idx="1"/>
              </p:nvPr>
            </p:nvSpPr>
            <p:spPr>
              <a:blipFill>
                <a:blip r:embed="rId2"/>
                <a:stretch>
                  <a:fillRect l="-869"/>
                </a:stretch>
              </a:blipFill>
              <a:ln>
                <a:solidFill>
                  <a:schemeClr val="accent1"/>
                </a:solidFill>
              </a:ln>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EF9FA7AE-3F5C-4D1F-837F-0529F96A11C2}"/>
              </a:ext>
            </a:extLst>
          </p:cNvPr>
          <p:cNvSpPr>
            <a:spLocks noGrp="1"/>
          </p:cNvSpPr>
          <p:nvPr>
            <p:ph type="sldNum" sz="quarter" idx="12"/>
          </p:nvPr>
        </p:nvSpPr>
        <p:spPr/>
        <p:txBody>
          <a:bodyPr/>
          <a:lstStyle/>
          <a:p>
            <a:fld id="{BDCDBBEF-AA6C-4BA6-85B2-A17D7F280E38}" type="slidenum">
              <a:rPr lang="en-US" smtClean="0"/>
              <a:t>20</a:t>
            </a:fld>
            <a:endParaRPr lang="en-US"/>
          </a:p>
        </p:txBody>
      </p:sp>
      <p:sp>
        <p:nvSpPr>
          <p:cNvPr id="5" name="Title 1">
            <a:extLst>
              <a:ext uri="{FF2B5EF4-FFF2-40B4-BE49-F238E27FC236}">
                <a16:creationId xmlns:a16="http://schemas.microsoft.com/office/drawing/2014/main" id="{FA1CBBFF-4757-4679-9C0D-4B8F3F4FEA98}"/>
              </a:ext>
            </a:extLst>
          </p:cNvPr>
          <p:cNvSpPr>
            <a:spLocks noGrp="1"/>
          </p:cNvSpPr>
          <p:nvPr>
            <p:ph type="title"/>
          </p:nvPr>
        </p:nvSpPr>
        <p:spPr>
          <a:xfrm>
            <a:off x="838200" y="365125"/>
            <a:ext cx="10515600" cy="1325563"/>
          </a:xfrm>
          <a:ln>
            <a:solidFill>
              <a:srgbClr val="C00000"/>
            </a:solidFill>
          </a:ln>
        </p:spPr>
        <p:txBody>
          <a:bodyPr/>
          <a:lstStyle/>
          <a:p>
            <a:pPr algn="ctr"/>
            <a:r>
              <a:rPr lang="en-IN" b="1" dirty="0">
                <a:latin typeface="Casper"/>
              </a:rPr>
              <a:t>PARTICLE IN A BOX</a:t>
            </a:r>
            <a:br>
              <a:rPr lang="en-IN" dirty="0">
                <a:latin typeface="Casper"/>
              </a:rPr>
            </a:br>
            <a:endParaRPr lang="en-IN" dirty="0">
              <a:latin typeface="Casper"/>
            </a:endParaRPr>
          </a:p>
        </p:txBody>
      </p:sp>
    </p:spTree>
    <p:extLst>
      <p:ext uri="{BB962C8B-B14F-4D97-AF65-F5344CB8AC3E}">
        <p14:creationId xmlns:p14="http://schemas.microsoft.com/office/powerpoint/2010/main" val="42889923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BCA064-05EE-46E3-86EE-7C6558265D1C}"/>
                  </a:ext>
                </a:extLst>
              </p:cNvPr>
              <p:cNvSpPr>
                <a:spLocks noGrp="1"/>
              </p:cNvSpPr>
              <p:nvPr>
                <p:ph idx="1"/>
              </p:nvPr>
            </p:nvSpPr>
            <p:spPr>
              <a:ln>
                <a:solidFill>
                  <a:schemeClr val="accent1"/>
                </a:solidFill>
              </a:ln>
            </p:spPr>
            <p:txBody>
              <a:bodyPr/>
              <a:lstStyle/>
              <a:p>
                <a:pPr marL="0" indent="0">
                  <a:buNone/>
                </a:pPr>
                <a:r>
                  <a:rPr lang="en-IN" sz="2400" dirty="0">
                    <a:latin typeface="Casper"/>
                  </a:rPr>
                  <a:t>Energy in the first excited state is given by (n=2)</a:t>
                </a:r>
              </a:p>
              <a:p>
                <a:pPr marL="0" indent="0">
                  <a:buNone/>
                </a:pPr>
                <a:r>
                  <a:rPr lang="en-IN" sz="2400" dirty="0">
                    <a:latin typeface="Casper"/>
                  </a:rPr>
                  <a:t>                E</a:t>
                </a:r>
                <a:r>
                  <a:rPr lang="en-IN" sz="2400" baseline="-25000" dirty="0">
                    <a:latin typeface="Casper"/>
                  </a:rPr>
                  <a:t>1 </a:t>
                </a:r>
                <a:r>
                  <a:rPr lang="en-IN" sz="2400" dirty="0">
                    <a:latin typeface="Casper"/>
                  </a:rPr>
                  <a:t>=  </a:t>
                </a:r>
                <a14:m>
                  <m:oMath xmlns:m="http://schemas.openxmlformats.org/officeDocument/2006/math">
                    <m:f>
                      <m:fPr>
                        <m:ctrlPr>
                          <a:rPr lang="en-IN" sz="2400" i="1">
                            <a:latin typeface="Cambria Math" panose="02040503050406030204" pitchFamily="18" charset="0"/>
                          </a:rPr>
                        </m:ctrlPr>
                      </m:fPr>
                      <m:num>
                        <m:r>
                          <a:rPr lang="en-IN" sz="2400" i="1">
                            <a:latin typeface="Cambria Math" panose="02040503050406030204" pitchFamily="18" charset="0"/>
                          </a:rPr>
                          <m:t>4 </m:t>
                        </m:r>
                        <m:r>
                          <a:rPr lang="en-IN" sz="2400" i="1">
                            <a:latin typeface="Cambria Math" panose="02040503050406030204" pitchFamily="18" charset="0"/>
                          </a:rPr>
                          <m:t>h</m:t>
                        </m:r>
                        <m:r>
                          <a:rPr lang="en-IN" sz="2400" i="1" baseline="30000">
                            <a:latin typeface="Cambria Math" panose="02040503050406030204" pitchFamily="18" charset="0"/>
                          </a:rPr>
                          <m:t>²</m:t>
                        </m:r>
                      </m:num>
                      <m:den>
                        <m:r>
                          <a:rPr lang="en-IN" sz="2400" i="1">
                            <a:latin typeface="Cambria Math" panose="02040503050406030204" pitchFamily="18" charset="0"/>
                          </a:rPr>
                          <m:t>8 </m:t>
                        </m:r>
                        <m:r>
                          <a:rPr lang="en-IN" sz="2400" i="1">
                            <a:latin typeface="Cambria Math" panose="02040503050406030204" pitchFamily="18" charset="0"/>
                          </a:rPr>
                          <m:t>𝑚</m:t>
                        </m:r>
                        <m:r>
                          <a:rPr lang="en-IN" sz="2400" i="1">
                            <a:latin typeface="Cambria Math" panose="02040503050406030204" pitchFamily="18" charset="0"/>
                          </a:rPr>
                          <m:t> </m:t>
                        </m:r>
                        <m:r>
                          <a:rPr lang="en-IN" sz="2400" i="1">
                            <a:latin typeface="Cambria Math" panose="02040503050406030204" pitchFamily="18" charset="0"/>
                          </a:rPr>
                          <m:t>𝑎</m:t>
                        </m:r>
                        <m:r>
                          <a:rPr lang="en-IN" sz="2400" i="1">
                            <a:latin typeface="Cambria Math" panose="02040503050406030204" pitchFamily="18" charset="0"/>
                          </a:rPr>
                          <m:t>²</m:t>
                        </m:r>
                      </m:den>
                    </m:f>
                  </m:oMath>
                </a14:m>
                <a:r>
                  <a:rPr lang="en-IN" sz="2400" dirty="0">
                    <a:latin typeface="Casper"/>
                  </a:rPr>
                  <a:t>                                                         </a:t>
                </a:r>
              </a:p>
              <a:p>
                <a:pPr marL="0" indent="0">
                  <a:buNone/>
                </a:pPr>
                <a:r>
                  <a:rPr lang="en-IN" sz="2400" dirty="0">
                    <a:latin typeface="Casper"/>
                  </a:rPr>
                  <a:t>Energy in the second excited state is given by (n=3)</a:t>
                </a:r>
              </a:p>
              <a:p>
                <a:pPr marL="0" indent="0">
                  <a:buNone/>
                </a:pPr>
                <a:r>
                  <a:rPr lang="en-IN" sz="2400" dirty="0">
                    <a:latin typeface="Casper"/>
                  </a:rPr>
                  <a:t> E</a:t>
                </a:r>
                <a:r>
                  <a:rPr lang="en-IN" sz="2400" baseline="-25000" dirty="0">
                    <a:latin typeface="Casper"/>
                  </a:rPr>
                  <a:t>2 </a:t>
                </a:r>
                <a:r>
                  <a:rPr lang="en-IN" sz="2400" dirty="0">
                    <a:latin typeface="Casper"/>
                  </a:rPr>
                  <a:t>=    </a:t>
                </a:r>
                <a14:m>
                  <m:oMath xmlns:m="http://schemas.openxmlformats.org/officeDocument/2006/math">
                    <m:f>
                      <m:fPr>
                        <m:ctrlPr>
                          <a:rPr lang="en-IN" sz="2400" i="1">
                            <a:latin typeface="Cambria Math" panose="02040503050406030204" pitchFamily="18" charset="0"/>
                          </a:rPr>
                        </m:ctrlPr>
                      </m:fPr>
                      <m:num>
                        <m:r>
                          <a:rPr lang="en-IN" sz="2400" i="1">
                            <a:latin typeface="Cambria Math" panose="02040503050406030204" pitchFamily="18" charset="0"/>
                          </a:rPr>
                          <m:t>9 </m:t>
                        </m:r>
                        <m:r>
                          <a:rPr lang="en-IN" sz="2400" i="1">
                            <a:latin typeface="Cambria Math" panose="02040503050406030204" pitchFamily="18" charset="0"/>
                          </a:rPr>
                          <m:t>h</m:t>
                        </m:r>
                        <m:r>
                          <a:rPr lang="en-IN" sz="2400" i="1" baseline="30000">
                            <a:latin typeface="Cambria Math" panose="02040503050406030204" pitchFamily="18" charset="0"/>
                          </a:rPr>
                          <m:t>²</m:t>
                        </m:r>
                      </m:num>
                      <m:den>
                        <m:r>
                          <a:rPr lang="en-IN" sz="2400" i="1">
                            <a:latin typeface="Cambria Math" panose="02040503050406030204" pitchFamily="18" charset="0"/>
                          </a:rPr>
                          <m:t>  8 </m:t>
                        </m:r>
                        <m:r>
                          <a:rPr lang="en-IN" sz="2400" i="1">
                            <a:latin typeface="Cambria Math" panose="02040503050406030204" pitchFamily="18" charset="0"/>
                          </a:rPr>
                          <m:t>𝑚</m:t>
                        </m:r>
                        <m:r>
                          <a:rPr lang="en-IN" sz="2400" i="1">
                            <a:latin typeface="Cambria Math" panose="02040503050406030204" pitchFamily="18" charset="0"/>
                          </a:rPr>
                          <m:t> </m:t>
                        </m:r>
                        <m:r>
                          <a:rPr lang="en-IN" sz="2400" i="1">
                            <a:latin typeface="Cambria Math" panose="02040503050406030204" pitchFamily="18" charset="0"/>
                          </a:rPr>
                          <m:t>𝑎</m:t>
                        </m:r>
                        <m:r>
                          <a:rPr lang="en-IN" sz="2400" i="1">
                            <a:latin typeface="Cambria Math" panose="02040503050406030204" pitchFamily="18" charset="0"/>
                          </a:rPr>
                          <m:t>²</m:t>
                        </m:r>
                      </m:den>
                    </m:f>
                  </m:oMath>
                </a14:m>
                <a:endParaRPr lang="en-IN" sz="2400" dirty="0">
                  <a:latin typeface="Casper"/>
                </a:endParaRPr>
              </a:p>
              <a:p>
                <a:pPr marL="0" indent="0">
                  <a:buNone/>
                </a:pPr>
                <a:endParaRPr lang="en-IN" sz="2400" dirty="0">
                  <a:latin typeface="Casper"/>
                </a:endParaRPr>
              </a:p>
              <a:p>
                <a:endParaRPr lang="en-IN" dirty="0"/>
              </a:p>
            </p:txBody>
          </p:sp>
        </mc:Choice>
        <mc:Fallback xmlns="">
          <p:sp>
            <p:nvSpPr>
              <p:cNvPr id="3" name="Content Placeholder 2">
                <a:extLst>
                  <a:ext uri="{FF2B5EF4-FFF2-40B4-BE49-F238E27FC236}">
                    <a16:creationId xmlns="" xmlns:a16="http://schemas.microsoft.com/office/drawing/2014/main" xmlns:a14="http://schemas.microsoft.com/office/drawing/2010/main" id="{84BCA064-05EE-46E3-86EE-7C6558265D1C}"/>
                  </a:ext>
                </a:extLst>
              </p:cNvPr>
              <p:cNvSpPr>
                <a:spLocks noGrp="1" noRot="1" noChangeAspect="1" noMove="1" noResize="1" noEditPoints="1" noAdjustHandles="1" noChangeArrowheads="1" noChangeShapeType="1" noTextEdit="1"/>
              </p:cNvSpPr>
              <p:nvPr>
                <p:ph idx="1"/>
              </p:nvPr>
            </p:nvSpPr>
            <p:spPr>
              <a:blipFill rotWithShape="1">
                <a:blip r:embed="rId2"/>
                <a:stretch>
                  <a:fillRect l="-869" t="-1676"/>
                </a:stretch>
              </a:blipFill>
              <a:ln>
                <a:solidFill>
                  <a:schemeClr val="accent1"/>
                </a:solidFill>
              </a:ln>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F9FA7AE-3F5C-4D1F-837F-0529F96A11C2}"/>
              </a:ext>
            </a:extLst>
          </p:cNvPr>
          <p:cNvSpPr>
            <a:spLocks noGrp="1"/>
          </p:cNvSpPr>
          <p:nvPr>
            <p:ph type="sldNum" sz="quarter" idx="12"/>
          </p:nvPr>
        </p:nvSpPr>
        <p:spPr/>
        <p:txBody>
          <a:bodyPr/>
          <a:lstStyle/>
          <a:p>
            <a:fld id="{BDCDBBEF-AA6C-4BA6-85B2-A17D7F280E38}" type="slidenum">
              <a:rPr lang="en-US" smtClean="0"/>
              <a:t>21</a:t>
            </a:fld>
            <a:endParaRPr lang="en-US"/>
          </a:p>
        </p:txBody>
      </p:sp>
      <p:sp>
        <p:nvSpPr>
          <p:cNvPr id="5" name="Title 1">
            <a:extLst>
              <a:ext uri="{FF2B5EF4-FFF2-40B4-BE49-F238E27FC236}">
                <a16:creationId xmlns:a16="http://schemas.microsoft.com/office/drawing/2014/main" id="{FA1CBBFF-4757-4679-9C0D-4B8F3F4FEA98}"/>
              </a:ext>
            </a:extLst>
          </p:cNvPr>
          <p:cNvSpPr>
            <a:spLocks noGrp="1"/>
          </p:cNvSpPr>
          <p:nvPr>
            <p:ph type="title"/>
          </p:nvPr>
        </p:nvSpPr>
        <p:spPr>
          <a:xfrm>
            <a:off x="838200" y="365125"/>
            <a:ext cx="10515600" cy="1325563"/>
          </a:xfrm>
          <a:ln>
            <a:solidFill>
              <a:srgbClr val="C00000"/>
            </a:solidFill>
          </a:ln>
        </p:spPr>
        <p:txBody>
          <a:bodyPr/>
          <a:lstStyle/>
          <a:p>
            <a:pPr algn="ctr"/>
            <a:r>
              <a:rPr lang="en-IN" b="1" dirty="0">
                <a:latin typeface="Casper"/>
              </a:rPr>
              <a:t>PARTICLE IN A BOX</a:t>
            </a:r>
            <a:br>
              <a:rPr lang="en-IN" dirty="0">
                <a:latin typeface="Casper"/>
              </a:rPr>
            </a:br>
            <a:endParaRPr lang="en-IN" dirty="0">
              <a:latin typeface="Casper"/>
            </a:endParaRPr>
          </a:p>
        </p:txBody>
      </p:sp>
      <mc:AlternateContent xmlns:mc="http://schemas.openxmlformats.org/markup-compatibility/2006" xmlns:a14="http://schemas.microsoft.com/office/drawing/2010/main">
        <mc:Choice Requires="a14">
          <p:sp>
            <p:nvSpPr>
              <p:cNvPr id="8" name="Text Box 12">
                <a:extLst>
                  <a:ext uri="{FF2B5EF4-FFF2-40B4-BE49-F238E27FC236}">
                    <a16:creationId xmlns:a16="http://schemas.microsoft.com/office/drawing/2014/main" id="{606A6706-D120-4727-AC91-596638975F58}"/>
                  </a:ext>
                </a:extLst>
              </p:cNvPr>
              <p:cNvSpPr txBox="1">
                <a:spLocks noChangeArrowheads="1"/>
              </p:cNvSpPr>
              <p:nvPr/>
            </p:nvSpPr>
            <p:spPr bwMode="auto">
              <a:xfrm>
                <a:off x="1655127" y="4375786"/>
                <a:ext cx="2159636" cy="101060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just">
                  <a:lnSpc>
                    <a:spcPct val="150000"/>
                  </a:lnSpc>
                  <a:spcAft>
                    <a:spcPts val="800"/>
                  </a:spcAft>
                </a:pPr>
                <a:r>
                  <a:rPr lang="en-IN" sz="1400" b="1">
                    <a:effectLst/>
                    <a:latin typeface="Calibri" panose="020F0502020204030204" pitchFamily="34" charset="0"/>
                    <a:ea typeface="Times New Roman" panose="02020603050405020304" pitchFamily="18" charset="0"/>
                    <a:cs typeface="Segoe UI" panose="020B0502040204020203" pitchFamily="34" charset="0"/>
                  </a:rPr>
                  <a:t>    </a:t>
                </a:r>
                <a:r>
                  <a:rPr lang="en-IN" sz="1800" b="1">
                    <a:effectLst/>
                    <a:latin typeface="Calibri" panose="020F0502020204030204" pitchFamily="34" charset="0"/>
                    <a:ea typeface="Times New Roman" panose="02020603050405020304" pitchFamily="18" charset="0"/>
                    <a:cs typeface="Segoe UI" panose="020B0502040204020203" pitchFamily="34" charset="0"/>
                  </a:rPr>
                  <a:t>E</a:t>
                </a:r>
                <a:r>
                  <a:rPr lang="en-IN" sz="1800" b="1" baseline="-25000">
                    <a:effectLst/>
                    <a:latin typeface="Calibri" panose="020F0502020204030204" pitchFamily="34" charset="0"/>
                    <a:ea typeface="Times New Roman" panose="02020603050405020304" pitchFamily="18" charset="0"/>
                    <a:cs typeface="Segoe UI" panose="020B0502040204020203" pitchFamily="34" charset="0"/>
                  </a:rPr>
                  <a:t>n </a:t>
                </a:r>
                <a:r>
                  <a:rPr lang="en-IN" sz="1800" b="1">
                    <a:effectLst/>
                    <a:latin typeface="Calibri" panose="020F0502020204030204" pitchFamily="34" charset="0"/>
                    <a:ea typeface="Times New Roman" panose="02020603050405020304" pitchFamily="18" charset="0"/>
                    <a:cs typeface="Segoe UI" panose="020B0502040204020203" pitchFamily="34" charset="0"/>
                  </a:rPr>
                  <a:t>= </a:t>
                </a:r>
                <a14:m>
                  <m:oMath xmlns:m="http://schemas.openxmlformats.org/officeDocument/2006/math">
                    <m:f>
                      <m:fPr>
                        <m:ctrlPr>
                          <a:rPr lang="en-IN" sz="1800" b="1" i="1">
                            <a:effectLst/>
                            <a:latin typeface="Cambria Math" panose="02040503050406030204" pitchFamily="18" charset="0"/>
                            <a:ea typeface="Times New Roman" panose="02020603050405020304" pitchFamily="18" charset="0"/>
                            <a:cs typeface="Segoe UI" panose="020B0502040204020203" pitchFamily="34" charset="0"/>
                          </a:rPr>
                        </m:ctrlPr>
                      </m:fPr>
                      <m:num>
                        <m:r>
                          <a:rPr lang="en-IN" sz="1800" b="1" i="1">
                            <a:effectLst/>
                            <a:latin typeface="Cambria Math" panose="02040503050406030204" pitchFamily="18" charset="0"/>
                            <a:ea typeface="Times New Roman" panose="02020603050405020304" pitchFamily="18" charset="0"/>
                            <a:cs typeface="Segoe UI" panose="020B0502040204020203" pitchFamily="34" charset="0"/>
                          </a:rPr>
                          <m:t>𝐧</m:t>
                        </m:r>
                        <m:r>
                          <a:rPr lang="en-IN" sz="1800" b="1">
                            <a:effectLst/>
                            <a:latin typeface="Cambria Math" panose="02040503050406030204" pitchFamily="18" charset="0"/>
                            <a:ea typeface="Times New Roman" panose="02020603050405020304" pitchFamily="18" charset="0"/>
                            <a:cs typeface="Segoe UI" panose="020B0502040204020203" pitchFamily="34" charset="0"/>
                          </a:rPr>
                          <m:t>²</m:t>
                        </m:r>
                        <m:r>
                          <a:rPr lang="en-IN" sz="1800" b="1" i="1">
                            <a:effectLst/>
                            <a:latin typeface="Cambria Math" panose="02040503050406030204" pitchFamily="18" charset="0"/>
                            <a:ea typeface="Times New Roman" panose="02020603050405020304" pitchFamily="18" charset="0"/>
                            <a:cs typeface="Segoe UI" panose="020B0502040204020203" pitchFamily="34" charset="0"/>
                          </a:rPr>
                          <m:t> </m:t>
                        </m:r>
                        <m:r>
                          <a:rPr lang="en-IN" sz="1800" b="1" i="1">
                            <a:effectLst/>
                            <a:latin typeface="Cambria Math" panose="02040503050406030204" pitchFamily="18" charset="0"/>
                            <a:ea typeface="Times New Roman" panose="02020603050405020304" pitchFamily="18" charset="0"/>
                            <a:cs typeface="Segoe UI" panose="020B0502040204020203" pitchFamily="34" charset="0"/>
                          </a:rPr>
                          <m:t>𝒉</m:t>
                        </m:r>
                        <m:r>
                          <a:rPr lang="en-IN" sz="1800" b="1" i="1" baseline="30000">
                            <a:effectLst/>
                            <a:latin typeface="Cambria Math" panose="02040503050406030204" pitchFamily="18" charset="0"/>
                            <a:ea typeface="Times New Roman" panose="02020603050405020304" pitchFamily="18" charset="0"/>
                            <a:cs typeface="Segoe UI" panose="020B0502040204020203" pitchFamily="34" charset="0"/>
                          </a:rPr>
                          <m:t>²</m:t>
                        </m:r>
                      </m:num>
                      <m:den>
                        <m:r>
                          <a:rPr lang="en-IN" sz="1800" b="1" i="1">
                            <a:effectLst/>
                            <a:latin typeface="Cambria Math" panose="02040503050406030204" pitchFamily="18" charset="0"/>
                            <a:ea typeface="Times New Roman" panose="02020603050405020304" pitchFamily="18" charset="0"/>
                            <a:cs typeface="Segoe UI" panose="020B0502040204020203" pitchFamily="34" charset="0"/>
                          </a:rPr>
                          <m:t>  </m:t>
                        </m:r>
                        <m:r>
                          <a:rPr lang="en-IN" sz="1800" b="1" i="1">
                            <a:effectLst/>
                            <a:latin typeface="Cambria Math" panose="02040503050406030204" pitchFamily="18" charset="0"/>
                            <a:ea typeface="Times New Roman" panose="02020603050405020304" pitchFamily="18" charset="0"/>
                            <a:cs typeface="Segoe UI" panose="020B0502040204020203" pitchFamily="34" charset="0"/>
                          </a:rPr>
                          <m:t>𝟖</m:t>
                        </m:r>
                        <m:r>
                          <a:rPr lang="en-IN" sz="1800" b="1" i="1">
                            <a:effectLst/>
                            <a:latin typeface="Cambria Math" panose="02040503050406030204" pitchFamily="18" charset="0"/>
                            <a:ea typeface="Times New Roman" panose="02020603050405020304" pitchFamily="18" charset="0"/>
                            <a:cs typeface="Segoe UI" panose="020B0502040204020203" pitchFamily="34" charset="0"/>
                          </a:rPr>
                          <m:t> </m:t>
                        </m:r>
                        <m:r>
                          <a:rPr lang="en-IN" sz="1800" b="1" i="1">
                            <a:effectLst/>
                            <a:latin typeface="Cambria Math" panose="02040503050406030204" pitchFamily="18" charset="0"/>
                            <a:ea typeface="Times New Roman" panose="02020603050405020304" pitchFamily="18" charset="0"/>
                            <a:cs typeface="Segoe UI" panose="020B0502040204020203" pitchFamily="34" charset="0"/>
                          </a:rPr>
                          <m:t>𝒎</m:t>
                        </m:r>
                        <m:r>
                          <a:rPr lang="en-IN" sz="1800" b="1" i="1">
                            <a:effectLst/>
                            <a:latin typeface="Cambria Math" panose="02040503050406030204" pitchFamily="18" charset="0"/>
                            <a:ea typeface="Times New Roman" panose="02020603050405020304" pitchFamily="18" charset="0"/>
                            <a:cs typeface="Segoe UI" panose="020B0502040204020203" pitchFamily="34" charset="0"/>
                          </a:rPr>
                          <m:t> </m:t>
                        </m:r>
                        <m:r>
                          <a:rPr lang="en-IN" sz="1800" b="1" i="1">
                            <a:effectLst/>
                            <a:latin typeface="Cambria Math" panose="02040503050406030204" pitchFamily="18" charset="0"/>
                            <a:ea typeface="Times New Roman" panose="02020603050405020304" pitchFamily="18" charset="0"/>
                            <a:cs typeface="Segoe UI" panose="020B0502040204020203" pitchFamily="34" charset="0"/>
                          </a:rPr>
                          <m:t>𝒂</m:t>
                        </m:r>
                        <m:r>
                          <a:rPr lang="en-IN" sz="1800" b="1" i="1">
                            <a:effectLst/>
                            <a:latin typeface="Cambria Math" panose="02040503050406030204" pitchFamily="18" charset="0"/>
                            <a:ea typeface="Times New Roman" panose="02020603050405020304" pitchFamily="18" charset="0"/>
                            <a:cs typeface="Segoe UI" panose="020B0502040204020203" pitchFamily="34" charset="0"/>
                          </a:rPr>
                          <m:t>²</m:t>
                        </m:r>
                      </m:den>
                    </m:f>
                  </m:oMath>
                </a14:m>
                <a:r>
                  <a:rPr lang="en-IN" sz="1800" b="1">
                    <a:effectLst/>
                    <a:latin typeface="Calibri" panose="020F0502020204030204" pitchFamily="34" charset="0"/>
                    <a:ea typeface="Times New Roman" panose="02020603050405020304" pitchFamily="18" charset="0"/>
                    <a:cs typeface="Segoe UI" panose="020B0502040204020203" pitchFamily="34" charset="0"/>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10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n-IN" sz="1100">
                    <a:effectLst/>
                    <a:latin typeface="Calibri" panose="020F0502020204030204" pitchFamily="34" charset="0"/>
                    <a:ea typeface="Calibri" panose="020F0502020204030204" pitchFamily="34" charset="0"/>
                    <a:cs typeface="Times New Roman" panose="02020603050405020304" pitchFamily="18" charset="0"/>
                  </a:rPr>
                  <a:t> </a:t>
                </a:r>
              </a:p>
            </p:txBody>
          </p:sp>
        </mc:Choice>
        <mc:Fallback xmlns="">
          <p:sp>
            <p:nvSpPr>
              <p:cNvPr id="8" name="Text Box 12">
                <a:extLst>
                  <a:ext uri="{FF2B5EF4-FFF2-40B4-BE49-F238E27FC236}">
                    <a16:creationId xmlns:a16="http://schemas.microsoft.com/office/drawing/2014/main" id="{606A6706-D120-4727-AC91-596638975F58}"/>
                  </a:ext>
                </a:extLst>
              </p:cNvPr>
              <p:cNvSpPr txBox="1">
                <a:spLocks noRot="1" noChangeAspect="1" noMove="1" noResize="1" noEditPoints="1" noAdjustHandles="1" noChangeArrowheads="1" noChangeShapeType="1" noTextEdit="1"/>
              </p:cNvSpPr>
              <p:nvPr/>
            </p:nvSpPr>
            <p:spPr bwMode="auto">
              <a:xfrm>
                <a:off x="1655127" y="4375786"/>
                <a:ext cx="2159636" cy="1010602"/>
              </a:xfrm>
              <a:prstGeom prst="rect">
                <a:avLst/>
              </a:prstGeom>
              <a:blipFill>
                <a:blip r:embed="rId3"/>
                <a:stretch>
                  <a:fillRect/>
                </a:stretch>
              </a:blipFill>
              <a:ln w="9525">
                <a:solidFill>
                  <a:srgbClr val="000000"/>
                </a:solidFill>
                <a:miter lim="800000"/>
                <a:headEnd/>
                <a:tailEnd/>
              </a:ln>
            </p:spPr>
            <p:txBody>
              <a:bodyPr/>
              <a:lstStyle/>
              <a:p>
                <a:r>
                  <a:rPr lang="en-IN">
                    <a:noFill/>
                  </a:rPr>
                  <a:t> </a:t>
                </a:r>
              </a:p>
            </p:txBody>
          </p:sp>
        </mc:Fallback>
      </mc:AlternateContent>
    </p:spTree>
    <p:extLst>
      <p:ext uri="{BB962C8B-B14F-4D97-AF65-F5344CB8AC3E}">
        <p14:creationId xmlns:p14="http://schemas.microsoft.com/office/powerpoint/2010/main" val="3218458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BCA064-05EE-46E3-86EE-7C6558265D1C}"/>
                  </a:ext>
                </a:extLst>
              </p:cNvPr>
              <p:cNvSpPr>
                <a:spLocks noGrp="1"/>
              </p:cNvSpPr>
              <p:nvPr>
                <p:ph idx="1"/>
              </p:nvPr>
            </p:nvSpPr>
            <p:spPr>
              <a:ln>
                <a:solidFill>
                  <a:schemeClr val="accent1"/>
                </a:solidFill>
              </a:ln>
            </p:spPr>
            <p:txBody>
              <a:bodyPr>
                <a:normAutofit lnSpcReduction="10000"/>
              </a:bodyPr>
              <a:lstStyle/>
              <a:p>
                <a:pPr marL="0" indent="0">
                  <a:buNone/>
                </a:pPr>
                <a:r>
                  <a:rPr lang="en-IN" sz="2600" dirty="0">
                    <a:latin typeface="Casper"/>
                  </a:rPr>
                  <a:t>Born Interpretation:</a:t>
                </a:r>
              </a:p>
              <a:p>
                <a:pPr marL="0" indent="0">
                  <a:buNone/>
                </a:pPr>
                <a:r>
                  <a:rPr lang="en-IN" sz="2600" dirty="0">
                    <a:latin typeface="Casper"/>
                  </a:rPr>
                  <a:t>                                              |Ψ(x)|² dx</a:t>
                </a:r>
              </a:p>
              <a:p>
                <a:pPr marL="0" indent="0">
                  <a:buNone/>
                </a:pPr>
                <a:r>
                  <a:rPr lang="en-IN" sz="2600" dirty="0">
                    <a:latin typeface="Casper"/>
                  </a:rPr>
                  <a:t>Probability of finding the particle in the interval between </a:t>
                </a:r>
                <a:r>
                  <a:rPr lang="en-IN" sz="2600" i="1" dirty="0">
                    <a:latin typeface="Casper"/>
                  </a:rPr>
                  <a:t>x </a:t>
                </a:r>
                <a:r>
                  <a:rPr lang="en-IN" sz="2600" dirty="0">
                    <a:latin typeface="Casper"/>
                  </a:rPr>
                  <a:t>to </a:t>
                </a:r>
                <a:r>
                  <a:rPr lang="en-IN" sz="2600" i="1" dirty="0" err="1">
                    <a:latin typeface="Casper"/>
                  </a:rPr>
                  <a:t>x+dx</a:t>
                </a:r>
                <a:r>
                  <a:rPr lang="en-IN" sz="2600" dirty="0">
                    <a:latin typeface="Casper"/>
                  </a:rPr>
                  <a:t>        </a:t>
                </a:r>
              </a:p>
              <a:p>
                <a:pPr marL="0" indent="0">
                  <a:buNone/>
                </a:pPr>
                <a:r>
                  <a:rPr lang="en-IN" sz="2600" dirty="0">
                    <a:latin typeface="Casper"/>
                  </a:rPr>
                  <a:t>                                            </a:t>
                </a:r>
                <a14:m>
                  <m:oMath xmlns:m="http://schemas.openxmlformats.org/officeDocument/2006/math">
                    <m:nary>
                      <m:naryPr>
                        <m:limLoc m:val="undOvr"/>
                        <m:ctrlPr>
                          <a:rPr lang="en-IN" sz="2600" i="1">
                            <a:latin typeface="Cambria Math" panose="02040503050406030204" pitchFamily="18" charset="0"/>
                          </a:rPr>
                        </m:ctrlPr>
                      </m:naryPr>
                      <m:sub>
                        <m:r>
                          <a:rPr lang="en-IN" sz="2600" i="1">
                            <a:latin typeface="Cambria Math" panose="02040503050406030204" pitchFamily="18" charset="0"/>
                          </a:rPr>
                          <m:t>𝑥</m:t>
                        </m:r>
                        <m:r>
                          <a:rPr lang="en-IN" sz="2600" i="1">
                            <a:latin typeface="Cambria Math" panose="02040503050406030204" pitchFamily="18" charset="0"/>
                          </a:rPr>
                          <m:t>1</m:t>
                        </m:r>
                      </m:sub>
                      <m:sup>
                        <m:r>
                          <a:rPr lang="en-IN" sz="2600" i="1">
                            <a:latin typeface="Cambria Math" panose="02040503050406030204" pitchFamily="18" charset="0"/>
                          </a:rPr>
                          <m:t>𝑥</m:t>
                        </m:r>
                        <m:r>
                          <a:rPr lang="en-IN" sz="2600" i="1">
                            <a:latin typeface="Cambria Math" panose="02040503050406030204" pitchFamily="18" charset="0"/>
                          </a:rPr>
                          <m:t>2</m:t>
                        </m:r>
                      </m:sup>
                      <m:e>
                        <m:sSup>
                          <m:sSupPr>
                            <m:ctrlPr>
                              <a:rPr lang="en-IN" sz="2600" i="1">
                                <a:latin typeface="Cambria Math" panose="02040503050406030204" pitchFamily="18" charset="0"/>
                              </a:rPr>
                            </m:ctrlPr>
                          </m:sSupPr>
                          <m:e>
                            <m:d>
                              <m:dPr>
                                <m:begChr m:val="|"/>
                                <m:endChr m:val="|"/>
                                <m:ctrlPr>
                                  <a:rPr lang="en-IN" sz="2600" i="1">
                                    <a:latin typeface="Cambria Math" panose="02040503050406030204" pitchFamily="18" charset="0"/>
                                  </a:rPr>
                                </m:ctrlPr>
                              </m:dPr>
                              <m:e>
                                <m:r>
                                  <a:rPr lang="en-IN" sz="2600" i="1">
                                    <a:latin typeface="Cambria Math" panose="02040503050406030204" pitchFamily="18" charset="0"/>
                                  </a:rPr>
                                  <m:t>𝛹</m:t>
                                </m:r>
                              </m:e>
                            </m:d>
                          </m:e>
                          <m:sup>
                            <m:r>
                              <a:rPr lang="en-IN" sz="2600" i="1">
                                <a:latin typeface="Cambria Math" panose="02040503050406030204" pitchFamily="18" charset="0"/>
                              </a:rPr>
                              <m:t>2</m:t>
                            </m:r>
                          </m:sup>
                        </m:sSup>
                        <m:r>
                          <a:rPr lang="en-IN" sz="2600" i="1">
                            <a:latin typeface="Cambria Math" panose="02040503050406030204" pitchFamily="18" charset="0"/>
                          </a:rPr>
                          <m:t>𝑑𝑥</m:t>
                        </m:r>
                      </m:e>
                    </m:nary>
                  </m:oMath>
                </a14:m>
                <a:r>
                  <a:rPr lang="en-IN" sz="2600" dirty="0">
                    <a:latin typeface="Casper"/>
                  </a:rPr>
                  <a:t>   </a:t>
                </a:r>
              </a:p>
              <a:p>
                <a:pPr marL="0" indent="0">
                  <a:buNone/>
                </a:pPr>
                <a:r>
                  <a:rPr lang="en-IN" sz="2600" dirty="0">
                    <a:latin typeface="Casper"/>
                  </a:rPr>
                  <a:t>The total probability of finding the particle somewhere within the box must be 1.</a:t>
                </a:r>
              </a:p>
              <a:p>
                <a:pPr marL="0" indent="0">
                  <a:buNone/>
                </a:pPr>
                <a:r>
                  <a:rPr lang="en-IN" sz="2600" dirty="0">
                    <a:latin typeface="Casper"/>
                  </a:rPr>
                  <a:t> </a:t>
                </a:r>
              </a:p>
              <a:p>
                <a:pPr marL="0" indent="0">
                  <a:buNone/>
                </a:pPr>
                <a:r>
                  <a:rPr lang="en-IN" sz="2600" dirty="0">
                    <a:latin typeface="Casper"/>
                  </a:rPr>
                  <a:t>Therefore</a:t>
                </a:r>
              </a:p>
              <a:p>
                <a:pPr marL="0" indent="0">
                  <a:buNone/>
                </a:pPr>
                <a:r>
                  <a:rPr lang="en-IN" sz="2600" dirty="0">
                    <a:latin typeface="Casper"/>
                  </a:rPr>
                  <a:t>                                           </a:t>
                </a:r>
                <a14:m>
                  <m:oMath xmlns:m="http://schemas.openxmlformats.org/officeDocument/2006/math">
                    <m:nary>
                      <m:naryPr>
                        <m:limLoc m:val="undOvr"/>
                        <m:ctrlPr>
                          <a:rPr lang="en-IN" sz="2600" i="1">
                            <a:latin typeface="Cambria Math" panose="02040503050406030204" pitchFamily="18" charset="0"/>
                          </a:rPr>
                        </m:ctrlPr>
                      </m:naryPr>
                      <m:sub>
                        <m:r>
                          <a:rPr lang="en-IN" sz="2600" i="1">
                            <a:latin typeface="Cambria Math" panose="02040503050406030204" pitchFamily="18" charset="0"/>
                          </a:rPr>
                          <m:t>0</m:t>
                        </m:r>
                      </m:sub>
                      <m:sup>
                        <m:r>
                          <a:rPr lang="en-IN" sz="2600" i="1">
                            <a:latin typeface="Cambria Math" panose="02040503050406030204" pitchFamily="18" charset="0"/>
                          </a:rPr>
                          <m:t>𝐿</m:t>
                        </m:r>
                      </m:sup>
                      <m:e>
                        <m:sSup>
                          <m:sSupPr>
                            <m:ctrlPr>
                              <a:rPr lang="en-IN" sz="2600" i="1">
                                <a:latin typeface="Cambria Math" panose="02040503050406030204" pitchFamily="18" charset="0"/>
                              </a:rPr>
                            </m:ctrlPr>
                          </m:sSupPr>
                          <m:e>
                            <m:d>
                              <m:dPr>
                                <m:begChr m:val="|"/>
                                <m:endChr m:val="|"/>
                                <m:ctrlPr>
                                  <a:rPr lang="en-IN" sz="2600" i="1">
                                    <a:latin typeface="Cambria Math" panose="02040503050406030204" pitchFamily="18" charset="0"/>
                                  </a:rPr>
                                </m:ctrlPr>
                              </m:dPr>
                              <m:e>
                                <m:r>
                                  <a:rPr lang="en-IN" sz="2600" i="1">
                                    <a:latin typeface="Cambria Math" panose="02040503050406030204" pitchFamily="18" charset="0"/>
                                  </a:rPr>
                                  <m:t>𝛹</m:t>
                                </m:r>
                              </m:e>
                            </m:d>
                          </m:e>
                          <m:sup>
                            <m:r>
                              <a:rPr lang="en-IN" sz="2600" i="1">
                                <a:latin typeface="Cambria Math" panose="02040503050406030204" pitchFamily="18" charset="0"/>
                              </a:rPr>
                              <m:t>2</m:t>
                            </m:r>
                          </m:sup>
                        </m:sSup>
                        <m:r>
                          <a:rPr lang="en-IN" sz="2600" i="1">
                            <a:latin typeface="Cambria Math" panose="02040503050406030204" pitchFamily="18" charset="0"/>
                          </a:rPr>
                          <m:t>𝑑𝑥</m:t>
                        </m:r>
                      </m:e>
                    </m:nary>
                  </m:oMath>
                </a14:m>
                <a:r>
                  <a:rPr lang="en-IN" sz="2600" dirty="0">
                    <a:latin typeface="Casper"/>
                  </a:rPr>
                  <a:t>    = 1</a:t>
                </a:r>
              </a:p>
              <a:p>
                <a:pPr marL="0" indent="0">
                  <a:buNone/>
                </a:pPr>
                <a:r>
                  <a:rPr lang="en-IN" sz="2600" dirty="0">
                    <a:latin typeface="Casper"/>
                  </a:rPr>
                  <a:t>                        </a:t>
                </a:r>
              </a:p>
              <a:p>
                <a:endParaRPr lang="en-IN" dirty="0"/>
              </a:p>
            </p:txBody>
          </p:sp>
        </mc:Choice>
        <mc:Fallback xmlns="">
          <p:sp>
            <p:nvSpPr>
              <p:cNvPr id="3" name="Content Placeholder 2">
                <a:extLst>
                  <a:ext uri="{FF2B5EF4-FFF2-40B4-BE49-F238E27FC236}">
                    <a16:creationId xmlns:a16="http://schemas.microsoft.com/office/drawing/2014/main" xmlns="" xmlns:a14="http://schemas.microsoft.com/office/drawing/2010/main" id="{84BCA064-05EE-46E3-86EE-7C6558265D1C}"/>
                  </a:ext>
                </a:extLst>
              </p:cNvPr>
              <p:cNvSpPr>
                <a:spLocks noGrp="1" noRot="1" noChangeAspect="1" noMove="1" noResize="1" noEditPoints="1" noAdjustHandles="1" noChangeArrowheads="1" noChangeShapeType="1" noTextEdit="1"/>
              </p:cNvSpPr>
              <p:nvPr>
                <p:ph idx="1"/>
              </p:nvPr>
            </p:nvSpPr>
            <p:spPr>
              <a:blipFill rotWithShape="0">
                <a:blip r:embed="rId2"/>
                <a:stretch>
                  <a:fillRect l="-984" t="-2793"/>
                </a:stretch>
              </a:blipFill>
              <a:ln>
                <a:solidFill>
                  <a:schemeClr val="accent1"/>
                </a:solidFill>
              </a:ln>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EF9FA7AE-3F5C-4D1F-837F-0529F96A11C2}"/>
              </a:ext>
            </a:extLst>
          </p:cNvPr>
          <p:cNvSpPr>
            <a:spLocks noGrp="1"/>
          </p:cNvSpPr>
          <p:nvPr>
            <p:ph type="sldNum" sz="quarter" idx="12"/>
          </p:nvPr>
        </p:nvSpPr>
        <p:spPr/>
        <p:txBody>
          <a:bodyPr/>
          <a:lstStyle/>
          <a:p>
            <a:fld id="{BDCDBBEF-AA6C-4BA6-85B2-A17D7F280E38}" type="slidenum">
              <a:rPr lang="en-US" smtClean="0"/>
              <a:t>22</a:t>
            </a:fld>
            <a:endParaRPr lang="en-US"/>
          </a:p>
        </p:txBody>
      </p:sp>
      <p:sp>
        <p:nvSpPr>
          <p:cNvPr id="5" name="Title 1">
            <a:extLst>
              <a:ext uri="{FF2B5EF4-FFF2-40B4-BE49-F238E27FC236}">
                <a16:creationId xmlns:a16="http://schemas.microsoft.com/office/drawing/2014/main" id="{FA1CBBFF-4757-4679-9C0D-4B8F3F4FEA98}"/>
              </a:ext>
            </a:extLst>
          </p:cNvPr>
          <p:cNvSpPr>
            <a:spLocks noGrp="1"/>
          </p:cNvSpPr>
          <p:nvPr>
            <p:ph type="title"/>
          </p:nvPr>
        </p:nvSpPr>
        <p:spPr>
          <a:xfrm>
            <a:off x="838200" y="365125"/>
            <a:ext cx="10515600" cy="1325563"/>
          </a:xfrm>
          <a:ln>
            <a:solidFill>
              <a:srgbClr val="C00000"/>
            </a:solidFill>
          </a:ln>
        </p:spPr>
        <p:txBody>
          <a:bodyPr/>
          <a:lstStyle/>
          <a:p>
            <a:pPr algn="ctr"/>
            <a:r>
              <a:rPr lang="en-IN" b="1" dirty="0">
                <a:latin typeface="Casper"/>
              </a:rPr>
              <a:t>PARTICLE IN A BOX</a:t>
            </a:r>
            <a:br>
              <a:rPr lang="en-IN" dirty="0">
                <a:latin typeface="Casper"/>
              </a:rPr>
            </a:br>
            <a:endParaRPr lang="en-IN" dirty="0">
              <a:latin typeface="Casper"/>
            </a:endParaRPr>
          </a:p>
        </p:txBody>
      </p:sp>
    </p:spTree>
    <p:extLst>
      <p:ext uri="{BB962C8B-B14F-4D97-AF65-F5344CB8AC3E}">
        <p14:creationId xmlns:p14="http://schemas.microsoft.com/office/powerpoint/2010/main" val="36003860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BCA064-05EE-46E3-86EE-7C6558265D1C}"/>
                  </a:ext>
                </a:extLst>
              </p:cNvPr>
              <p:cNvSpPr>
                <a:spLocks noGrp="1"/>
              </p:cNvSpPr>
              <p:nvPr>
                <p:ph idx="1"/>
              </p:nvPr>
            </p:nvSpPr>
            <p:spPr/>
            <p:txBody>
              <a:bodyPr>
                <a:normAutofit/>
              </a:bodyPr>
              <a:lstStyle/>
              <a:p>
                <a:pPr marL="0" indent="0">
                  <a:buNone/>
                </a:pPr>
                <a:r>
                  <a:rPr lang="en-IN" dirty="0"/>
                  <a:t> </a:t>
                </a:r>
                <a:r>
                  <a:rPr lang="en-IN" sz="2400" dirty="0">
                    <a:latin typeface="Casper"/>
                  </a:rPr>
                  <a:t>The integral we need to calculate is:</a:t>
                </a:r>
              </a:p>
              <a:p>
                <a:pPr marL="0" indent="0">
                  <a:buNone/>
                </a:pPr>
                <a:endParaRPr lang="en-IN" sz="2400" dirty="0">
                  <a:latin typeface="Casper"/>
                </a:endParaRPr>
              </a:p>
              <a:p>
                <a:pPr marL="0" indent="0">
                  <a:buNone/>
                </a:pPr>
                <a:r>
                  <a:rPr lang="en-IN" sz="2400" dirty="0">
                    <a:latin typeface="Casper"/>
                  </a:rPr>
                  <a:t>                                          </a:t>
                </a:r>
                <a14:m>
                  <m:oMath xmlns:m="http://schemas.openxmlformats.org/officeDocument/2006/math">
                    <m:nary>
                      <m:naryPr>
                        <m:limLoc m:val="undOvr"/>
                        <m:ctrlPr>
                          <a:rPr lang="en-IN" sz="2400" i="1">
                            <a:latin typeface="Cambria Math" panose="02040503050406030204" pitchFamily="18" charset="0"/>
                          </a:rPr>
                        </m:ctrlPr>
                      </m:naryPr>
                      <m:sub>
                        <m:r>
                          <a:rPr lang="en-IN" sz="2400" i="1">
                            <a:latin typeface="Cambria Math" panose="02040503050406030204" pitchFamily="18" charset="0"/>
                          </a:rPr>
                          <m:t>0</m:t>
                        </m:r>
                      </m:sub>
                      <m:sup>
                        <m:r>
                          <a:rPr lang="en-IN" sz="2400" i="1">
                            <a:latin typeface="Cambria Math" panose="02040503050406030204" pitchFamily="18" charset="0"/>
                          </a:rPr>
                          <m:t>𝐿</m:t>
                        </m:r>
                      </m:sup>
                      <m:e>
                        <m:r>
                          <m:rPr>
                            <m:sty m:val="p"/>
                          </m:rPr>
                          <a:rPr lang="en-IN" sz="2400">
                            <a:latin typeface="Cambria Math" panose="02040503050406030204" pitchFamily="18" charset="0"/>
                          </a:rPr>
                          <m:t>B</m:t>
                        </m:r>
                        <m:r>
                          <a:rPr lang="en-IN" sz="2400">
                            <a:latin typeface="Cambria Math" panose="02040503050406030204" pitchFamily="18" charset="0"/>
                          </a:rPr>
                          <m:t>² </m:t>
                        </m:r>
                        <m:r>
                          <m:rPr>
                            <m:sty m:val="p"/>
                          </m:rPr>
                          <a:rPr lang="en-IN" sz="2400">
                            <a:latin typeface="Cambria Math" panose="02040503050406030204" pitchFamily="18" charset="0"/>
                          </a:rPr>
                          <m:t>sin</m:t>
                        </m:r>
                        <m:r>
                          <a:rPr lang="en-IN" sz="2400">
                            <a:latin typeface="Cambria Math" panose="02040503050406030204" pitchFamily="18" charset="0"/>
                          </a:rPr>
                          <m:t> ² ( </m:t>
                        </m:r>
                        <m:f>
                          <m:fPr>
                            <m:ctrlPr>
                              <a:rPr lang="en-IN" sz="2400" i="1">
                                <a:latin typeface="Cambria Math" panose="02040503050406030204" pitchFamily="18" charset="0"/>
                              </a:rPr>
                            </m:ctrlPr>
                          </m:fPr>
                          <m:num>
                            <m:r>
                              <m:rPr>
                                <m:sty m:val="p"/>
                              </m:rPr>
                              <a:rPr lang="en-IN" sz="2400">
                                <a:latin typeface="Cambria Math" panose="02040503050406030204" pitchFamily="18" charset="0"/>
                              </a:rPr>
                              <m:t>n</m:t>
                            </m:r>
                            <m:r>
                              <a:rPr lang="en-IN" sz="2400" i="1">
                                <a:latin typeface="Cambria Math" panose="02040503050406030204" pitchFamily="18" charset="0"/>
                              </a:rPr>
                              <m:t>𝜋</m:t>
                            </m:r>
                          </m:num>
                          <m:den>
                            <m:r>
                              <a:rPr lang="en-IN" sz="2400" i="1">
                                <a:latin typeface="Cambria Math" panose="02040503050406030204" pitchFamily="18" charset="0"/>
                              </a:rPr>
                              <m:t>𝑎</m:t>
                            </m:r>
                          </m:den>
                        </m:f>
                        <m:r>
                          <a:rPr lang="en-IN" sz="2400">
                            <a:latin typeface="Cambria Math" panose="02040503050406030204" pitchFamily="18" charset="0"/>
                          </a:rPr>
                          <m:t>) </m:t>
                        </m:r>
                        <m:r>
                          <m:rPr>
                            <m:sty m:val="p"/>
                          </m:rPr>
                          <a:rPr lang="en-IN" sz="2400">
                            <a:latin typeface="Cambria Math" panose="02040503050406030204" pitchFamily="18" charset="0"/>
                          </a:rPr>
                          <m:t>x</m:t>
                        </m:r>
                        <m:r>
                          <a:rPr lang="en-IN" sz="2400">
                            <a:latin typeface="Cambria Math" panose="02040503050406030204" pitchFamily="18" charset="0"/>
                          </a:rPr>
                          <m:t>  </m:t>
                        </m:r>
                        <m:r>
                          <a:rPr lang="en-IN" sz="2400" i="1">
                            <a:latin typeface="Cambria Math" panose="02040503050406030204" pitchFamily="18" charset="0"/>
                          </a:rPr>
                          <m:t>𝑑𝑥</m:t>
                        </m:r>
                      </m:e>
                    </m:nary>
                  </m:oMath>
                </a14:m>
                <a:r>
                  <a:rPr lang="en-IN" sz="2400" dirty="0">
                    <a:latin typeface="Casper"/>
                  </a:rPr>
                  <a:t>   =1</a:t>
                </a:r>
              </a:p>
              <a:p>
                <a:pPr marL="0" indent="0">
                  <a:buNone/>
                </a:pPr>
                <a:r>
                  <a:rPr lang="en-IN" sz="2400" dirty="0">
                    <a:latin typeface="Casper"/>
                  </a:rPr>
                  <a:t> </a:t>
                </a:r>
              </a:p>
              <a:p>
                <a:pPr marL="0" indent="0">
                  <a:buNone/>
                </a:pPr>
                <a:r>
                  <a:rPr lang="en-IN" sz="2400" dirty="0">
                    <a:latin typeface="Casper"/>
                  </a:rPr>
                  <a:t>                We get                 B =  ( </a:t>
                </a:r>
                <a14:m>
                  <m:oMath xmlns:m="http://schemas.openxmlformats.org/officeDocument/2006/math">
                    <m:f>
                      <m:fPr>
                        <m:ctrlPr>
                          <a:rPr lang="en-IN" sz="2400" i="1">
                            <a:latin typeface="Cambria Math" panose="02040503050406030204" pitchFamily="18" charset="0"/>
                          </a:rPr>
                        </m:ctrlPr>
                      </m:fPr>
                      <m:num>
                        <m:r>
                          <a:rPr lang="en-IN" sz="2400" i="1">
                            <a:latin typeface="Cambria Math" panose="02040503050406030204" pitchFamily="18" charset="0"/>
                          </a:rPr>
                          <m:t>2 </m:t>
                        </m:r>
                      </m:num>
                      <m:den>
                        <m:r>
                          <a:rPr lang="en-IN" sz="2400" i="1">
                            <a:latin typeface="Cambria Math" panose="02040503050406030204" pitchFamily="18" charset="0"/>
                          </a:rPr>
                          <m:t>𝐿</m:t>
                        </m:r>
                      </m:den>
                    </m:f>
                    <m:r>
                      <a:rPr lang="en-US" sz="2400" i="1">
                        <a:latin typeface="Cambria Math" panose="02040503050406030204" pitchFamily="18" charset="0"/>
                      </a:rPr>
                      <m:t> </m:t>
                    </m:r>
                  </m:oMath>
                </a14:m>
                <a:r>
                  <a:rPr lang="en-IN" sz="2400" dirty="0">
                    <a:latin typeface="Casper"/>
                  </a:rPr>
                  <a:t>)</a:t>
                </a:r>
                <a:r>
                  <a:rPr lang="en-IN" sz="2400" baseline="30000" dirty="0">
                    <a:latin typeface="Casper"/>
                  </a:rPr>
                  <a:t>½            </a:t>
                </a:r>
                <a:endParaRPr lang="en-IN" sz="2400" dirty="0">
                  <a:latin typeface="Casper"/>
                </a:endParaRPr>
              </a:p>
              <a:p>
                <a:pPr marL="0" indent="0">
                  <a:buNone/>
                </a:pPr>
                <a:r>
                  <a:rPr lang="en-IN" sz="2400" dirty="0">
                    <a:latin typeface="Casper"/>
                  </a:rPr>
                  <a:t>                         </a:t>
                </a:r>
              </a:p>
              <a:p>
                <a:pPr marL="0" indent="0">
                  <a:buNone/>
                </a:pPr>
                <a:r>
                  <a:rPr lang="en-IN" sz="2400" dirty="0">
                    <a:latin typeface="Casper"/>
                  </a:rPr>
                  <a:t>Therefore Normalised Wavefunction becomes</a:t>
                </a:r>
              </a:p>
              <a:p>
                <a:pPr marL="0" indent="0">
                  <a:buNone/>
                </a:pPr>
                <a:r>
                  <a:rPr lang="en-IN" sz="2400" dirty="0">
                    <a:latin typeface="Casper"/>
                  </a:rPr>
                  <a:t>                                        </a:t>
                </a:r>
                <a:r>
                  <a:rPr lang="en-IN" sz="2400" b="1" dirty="0" err="1">
                    <a:latin typeface="Casper"/>
                  </a:rPr>
                  <a:t>Ψ</a:t>
                </a:r>
                <a:r>
                  <a:rPr lang="en-IN" sz="2400" b="1" baseline="-25000" dirty="0" err="1">
                    <a:latin typeface="Casper"/>
                  </a:rPr>
                  <a:t>n</a:t>
                </a:r>
                <a:r>
                  <a:rPr lang="en-IN" sz="2400" b="1" baseline="-25000" dirty="0">
                    <a:latin typeface="Casper"/>
                  </a:rPr>
                  <a:t> </a:t>
                </a:r>
                <a:r>
                  <a:rPr lang="en-IN" sz="2400" b="1" dirty="0">
                    <a:latin typeface="Casper"/>
                  </a:rPr>
                  <a:t>=   ( </a:t>
                </a:r>
                <a14:m>
                  <m:oMath xmlns:m="http://schemas.openxmlformats.org/officeDocument/2006/math">
                    <m:f>
                      <m:fPr>
                        <m:ctrlPr>
                          <a:rPr lang="en-IN" sz="2400" b="1" i="1">
                            <a:latin typeface="Cambria Math" panose="02040503050406030204" pitchFamily="18" charset="0"/>
                          </a:rPr>
                        </m:ctrlPr>
                      </m:fPr>
                      <m:num>
                        <m:r>
                          <a:rPr lang="en-IN" sz="2400" b="1" i="1">
                            <a:latin typeface="Cambria Math" panose="02040503050406030204" pitchFamily="18" charset="0"/>
                          </a:rPr>
                          <m:t>𝟐</m:t>
                        </m:r>
                        <m:r>
                          <a:rPr lang="en-IN" sz="2400" b="1" i="1">
                            <a:latin typeface="Cambria Math" panose="02040503050406030204" pitchFamily="18" charset="0"/>
                          </a:rPr>
                          <m:t> </m:t>
                        </m:r>
                      </m:num>
                      <m:den>
                        <m:r>
                          <a:rPr lang="en-IN" sz="2400" b="1" i="1">
                            <a:latin typeface="Cambria Math" panose="02040503050406030204" pitchFamily="18" charset="0"/>
                          </a:rPr>
                          <m:t>𝑳</m:t>
                        </m:r>
                      </m:den>
                    </m:f>
                    <m:r>
                      <a:rPr lang="en-US" sz="2400" b="1" i="1">
                        <a:latin typeface="Cambria Math" panose="02040503050406030204" pitchFamily="18" charset="0"/>
                      </a:rPr>
                      <m:t> </m:t>
                    </m:r>
                  </m:oMath>
                </a14:m>
                <a:r>
                  <a:rPr lang="en-IN" sz="2400" b="1" dirty="0">
                    <a:latin typeface="Casper"/>
                  </a:rPr>
                  <a:t>)</a:t>
                </a:r>
                <a:r>
                  <a:rPr lang="en-IN" sz="2400" b="1" baseline="30000" dirty="0">
                    <a:latin typeface="Casper"/>
                  </a:rPr>
                  <a:t>½  </a:t>
                </a:r>
                <a:r>
                  <a:rPr lang="en-IN" sz="2400" b="1" dirty="0">
                    <a:latin typeface="Casper"/>
                  </a:rPr>
                  <a:t> sin </a:t>
                </a:r>
                <a:r>
                  <a:rPr lang="en-IN" sz="2400" b="1" baseline="30000" dirty="0">
                    <a:latin typeface="Casper"/>
                  </a:rPr>
                  <a:t> </a:t>
                </a:r>
                <a:r>
                  <a:rPr lang="en-IN" sz="2400" b="1" dirty="0">
                    <a:latin typeface="Casper"/>
                  </a:rPr>
                  <a:t>(</a:t>
                </a:r>
                <a:r>
                  <a:rPr lang="en-IN" sz="2400" b="1" baseline="30000" dirty="0">
                    <a:latin typeface="Casper"/>
                  </a:rPr>
                  <a:t> </a:t>
                </a:r>
                <a14:m>
                  <m:oMath xmlns:m="http://schemas.openxmlformats.org/officeDocument/2006/math">
                    <m:f>
                      <m:fPr>
                        <m:ctrlPr>
                          <a:rPr lang="en-IN" sz="2400" b="1" i="1">
                            <a:latin typeface="Cambria Math" panose="02040503050406030204" pitchFamily="18" charset="0"/>
                          </a:rPr>
                        </m:ctrlPr>
                      </m:fPr>
                      <m:num>
                        <m:r>
                          <a:rPr lang="en-IN" sz="2400" b="1" i="1">
                            <a:latin typeface="Cambria Math" panose="02040503050406030204" pitchFamily="18" charset="0"/>
                          </a:rPr>
                          <m:t>𝐧</m:t>
                        </m:r>
                        <m:r>
                          <a:rPr lang="en-IN" sz="2400" b="1" i="1">
                            <a:latin typeface="Cambria Math" panose="02040503050406030204" pitchFamily="18" charset="0"/>
                          </a:rPr>
                          <m:t>𝝅</m:t>
                        </m:r>
                      </m:num>
                      <m:den>
                        <m:r>
                          <a:rPr lang="en-IN" sz="2400" b="1" i="1">
                            <a:latin typeface="Cambria Math" panose="02040503050406030204" pitchFamily="18" charset="0"/>
                          </a:rPr>
                          <m:t>𝒂</m:t>
                        </m:r>
                      </m:den>
                    </m:f>
                  </m:oMath>
                </a14:m>
                <a:r>
                  <a:rPr lang="en-IN" sz="2400" b="1" dirty="0">
                    <a:latin typeface="Casper"/>
                  </a:rPr>
                  <a:t>) x                 </a:t>
                </a:r>
                <a:endParaRPr lang="en-IN" sz="2400" dirty="0">
                  <a:latin typeface="Casper"/>
                </a:endParaRPr>
              </a:p>
            </p:txBody>
          </p:sp>
        </mc:Choice>
        <mc:Fallback xmlns="">
          <p:sp>
            <p:nvSpPr>
              <p:cNvPr id="3" name="Content Placeholder 2">
                <a:extLst>
                  <a:ext uri="{FF2B5EF4-FFF2-40B4-BE49-F238E27FC236}">
                    <a16:creationId xmlns:a16="http://schemas.microsoft.com/office/drawing/2014/main" id="{84BCA064-05EE-46E3-86EE-7C6558265D1C}"/>
                  </a:ext>
                </a:extLst>
              </p:cNvPr>
              <p:cNvSpPr>
                <a:spLocks noGrp="1" noRot="1" noChangeAspect="1" noMove="1" noResize="1" noEditPoints="1" noAdjustHandles="1" noChangeArrowheads="1" noChangeShapeType="1" noTextEdit="1"/>
              </p:cNvSpPr>
              <p:nvPr>
                <p:ph idx="1"/>
              </p:nvPr>
            </p:nvSpPr>
            <p:spPr>
              <a:blipFill>
                <a:blip r:embed="rId2"/>
                <a:stretch>
                  <a:fillRect l="-928" t="-980"/>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EF9FA7AE-3F5C-4D1F-837F-0529F96A11C2}"/>
              </a:ext>
            </a:extLst>
          </p:cNvPr>
          <p:cNvSpPr>
            <a:spLocks noGrp="1"/>
          </p:cNvSpPr>
          <p:nvPr>
            <p:ph type="sldNum" sz="quarter" idx="12"/>
          </p:nvPr>
        </p:nvSpPr>
        <p:spPr/>
        <p:txBody>
          <a:bodyPr/>
          <a:lstStyle/>
          <a:p>
            <a:fld id="{BDCDBBEF-AA6C-4BA6-85B2-A17D7F280E38}" type="slidenum">
              <a:rPr lang="en-US" smtClean="0"/>
              <a:t>23</a:t>
            </a:fld>
            <a:endParaRPr lang="en-US"/>
          </a:p>
        </p:txBody>
      </p:sp>
      <p:sp>
        <p:nvSpPr>
          <p:cNvPr id="5" name="Title 1">
            <a:extLst>
              <a:ext uri="{FF2B5EF4-FFF2-40B4-BE49-F238E27FC236}">
                <a16:creationId xmlns:a16="http://schemas.microsoft.com/office/drawing/2014/main" id="{FA1CBBFF-4757-4679-9C0D-4B8F3F4FEA98}"/>
              </a:ext>
            </a:extLst>
          </p:cNvPr>
          <p:cNvSpPr>
            <a:spLocks noGrp="1"/>
          </p:cNvSpPr>
          <p:nvPr>
            <p:ph type="title"/>
          </p:nvPr>
        </p:nvSpPr>
        <p:spPr>
          <a:xfrm>
            <a:off x="838200" y="365125"/>
            <a:ext cx="10515600" cy="1325563"/>
          </a:xfrm>
          <a:ln>
            <a:solidFill>
              <a:srgbClr val="C00000"/>
            </a:solidFill>
          </a:ln>
        </p:spPr>
        <p:txBody>
          <a:bodyPr/>
          <a:lstStyle/>
          <a:p>
            <a:pPr algn="ctr"/>
            <a:r>
              <a:rPr lang="en-IN" b="1" dirty="0">
                <a:latin typeface="Casper"/>
              </a:rPr>
              <a:t>PARTICLE IN A BOX</a:t>
            </a:r>
            <a:br>
              <a:rPr lang="en-IN" dirty="0">
                <a:latin typeface="Casper"/>
              </a:rPr>
            </a:br>
            <a:endParaRPr lang="en-IN" dirty="0">
              <a:latin typeface="Casper"/>
            </a:endParaRPr>
          </a:p>
        </p:txBody>
      </p:sp>
    </p:spTree>
    <p:extLst>
      <p:ext uri="{BB962C8B-B14F-4D97-AF65-F5344CB8AC3E}">
        <p14:creationId xmlns:p14="http://schemas.microsoft.com/office/powerpoint/2010/main" val="3900655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FE31435-99DD-4F74-95A2-254ED6A9BF07}"/>
              </a:ext>
            </a:extLst>
          </p:cNvPr>
          <p:cNvSpPr>
            <a:spLocks noGrp="1"/>
          </p:cNvSpPr>
          <p:nvPr>
            <p:ph type="sldNum" sz="quarter" idx="12"/>
          </p:nvPr>
        </p:nvSpPr>
        <p:spPr/>
        <p:txBody>
          <a:bodyPr/>
          <a:lstStyle/>
          <a:p>
            <a:fld id="{BDCDBBEF-AA6C-4BA6-85B2-A17D7F280E38}" type="slidenum">
              <a:rPr lang="en-US" smtClean="0"/>
              <a:t>24</a:t>
            </a:fld>
            <a:endParaRPr lang="en-US"/>
          </a:p>
        </p:txBody>
      </p:sp>
      <p:sp>
        <p:nvSpPr>
          <p:cNvPr id="5" name="Title 1">
            <a:extLst>
              <a:ext uri="{FF2B5EF4-FFF2-40B4-BE49-F238E27FC236}">
                <a16:creationId xmlns:a16="http://schemas.microsoft.com/office/drawing/2014/main" id="{8CA9F5EF-8A73-4439-9B90-9397EF51700A}"/>
              </a:ext>
            </a:extLst>
          </p:cNvPr>
          <p:cNvSpPr txBox="1">
            <a:spLocks/>
          </p:cNvSpPr>
          <p:nvPr/>
        </p:nvSpPr>
        <p:spPr>
          <a:xfrm>
            <a:off x="962025" y="500062"/>
            <a:ext cx="10515600" cy="1325563"/>
          </a:xfrm>
          <a:prstGeom prst="rect">
            <a:avLst/>
          </a:prstGeom>
          <a:ln>
            <a:solidFill>
              <a:srgbClr val="C00000"/>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a:latin typeface="Casper"/>
              </a:rPr>
              <a:t>PARTICLE IN A BOX</a:t>
            </a:r>
            <a:br>
              <a:rPr lang="en-IN">
                <a:latin typeface="Casper"/>
              </a:rPr>
            </a:br>
            <a:endParaRPr lang="en-IN" dirty="0">
              <a:latin typeface="Casper"/>
            </a:endParaRPr>
          </a:p>
        </p:txBody>
      </p:sp>
      <p:pic>
        <p:nvPicPr>
          <p:cNvPr id="6" name="Content Placeholder 5">
            <a:extLst>
              <a:ext uri="{FF2B5EF4-FFF2-40B4-BE49-F238E27FC236}">
                <a16:creationId xmlns:a16="http://schemas.microsoft.com/office/drawing/2014/main" id="{48BB6FE6-8C0F-46C0-AD7E-481422D8FD45}"/>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62025" y="2772569"/>
            <a:ext cx="4229102" cy="2000250"/>
          </a:xfrm>
          <a:prstGeom prst="rect">
            <a:avLst/>
          </a:prstGeom>
          <a:noFill/>
          <a:ln>
            <a:noFill/>
          </a:ln>
        </p:spPr>
      </p:pic>
      <p:pic>
        <p:nvPicPr>
          <p:cNvPr id="7" name="Picture 6">
            <a:extLst>
              <a:ext uri="{FF2B5EF4-FFF2-40B4-BE49-F238E27FC236}">
                <a16:creationId xmlns:a16="http://schemas.microsoft.com/office/drawing/2014/main" id="{34833035-2C5B-479A-9D87-A24DBAB3C00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415088" y="2772569"/>
            <a:ext cx="4024311" cy="2000250"/>
          </a:xfrm>
          <a:prstGeom prst="rect">
            <a:avLst/>
          </a:prstGeom>
          <a:noFill/>
          <a:ln>
            <a:noFill/>
          </a:ln>
        </p:spPr>
      </p:pic>
      <p:sp>
        <p:nvSpPr>
          <p:cNvPr id="8" name="Rectangle 7">
            <a:extLst>
              <a:ext uri="{FF2B5EF4-FFF2-40B4-BE49-F238E27FC236}">
                <a16:creationId xmlns:a16="http://schemas.microsoft.com/office/drawing/2014/main" id="{E7E59A10-4DA9-4B12-89AC-C7145987DD7D}"/>
              </a:ext>
            </a:extLst>
          </p:cNvPr>
          <p:cNvSpPr/>
          <p:nvPr/>
        </p:nvSpPr>
        <p:spPr>
          <a:xfrm>
            <a:off x="1085850" y="4931561"/>
            <a:ext cx="10101263" cy="1277850"/>
          </a:xfrm>
          <a:prstGeom prst="rect">
            <a:avLst/>
          </a:prstGeom>
        </p:spPr>
        <p:txBody>
          <a:bodyPr wrap="square">
            <a:spAutoFit/>
          </a:bodyPr>
          <a:lstStyle/>
          <a:p>
            <a:pPr>
              <a:lnSpc>
                <a:spcPct val="107000"/>
              </a:lnSpc>
              <a:spcAft>
                <a:spcPts val="0"/>
              </a:spcAft>
            </a:pPr>
            <a:r>
              <a:rPr lang="en-IN" sz="2400" dirty="0">
                <a:solidFill>
                  <a:srgbClr val="000000"/>
                </a:solidFill>
                <a:latin typeface="Casper"/>
                <a:ea typeface="Calibri" panose="020F0502020204030204" pitchFamily="34" charset="0"/>
                <a:cs typeface="Times New Roman" panose="02020603050405020304" pitchFamily="18" charset="0"/>
              </a:rPr>
              <a:t> Fig 4a : Wavefunction of a particle                     Fig 4b : Probability of  Particle [3]</a:t>
            </a:r>
            <a:endParaRPr lang="en-IN" sz="2400" dirty="0">
              <a:latin typeface="Casper"/>
              <a:ea typeface="Calibri" panose="020F0502020204030204" pitchFamily="34" charset="0"/>
              <a:cs typeface="Times New Roman" panose="02020603050405020304" pitchFamily="18" charset="0"/>
            </a:endParaRPr>
          </a:p>
          <a:p>
            <a:pPr>
              <a:lnSpc>
                <a:spcPct val="107000"/>
              </a:lnSpc>
              <a:spcAft>
                <a:spcPts val="0"/>
              </a:spcAft>
            </a:pPr>
            <a:r>
              <a:rPr lang="en-IN" sz="2400" dirty="0">
                <a:latin typeface="Casper"/>
                <a:ea typeface="Calibri" panose="020F0502020204030204" pitchFamily="34" charset="0"/>
                <a:cs typeface="Times New Roman" panose="02020603050405020304" pitchFamily="18" charset="0"/>
              </a:rPr>
              <a:t> </a:t>
            </a:r>
            <a:endParaRPr lang="en-IN" sz="2400" dirty="0">
              <a:latin typeface="Casper"/>
            </a:endParaRPr>
          </a:p>
        </p:txBody>
      </p:sp>
    </p:spTree>
    <p:extLst>
      <p:ext uri="{BB962C8B-B14F-4D97-AF65-F5344CB8AC3E}">
        <p14:creationId xmlns:p14="http://schemas.microsoft.com/office/powerpoint/2010/main" val="19680143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29D844-316C-47A5-98D6-B9E8B2732079}"/>
              </a:ext>
            </a:extLst>
          </p:cNvPr>
          <p:cNvSpPr>
            <a:spLocks noGrp="1"/>
          </p:cNvSpPr>
          <p:nvPr>
            <p:ph idx="1"/>
          </p:nvPr>
        </p:nvSpPr>
        <p:spPr>
          <a:ln>
            <a:solidFill>
              <a:schemeClr val="accent1"/>
            </a:solidFill>
          </a:ln>
        </p:spPr>
        <p:txBody>
          <a:bodyPr>
            <a:normAutofit/>
          </a:bodyPr>
          <a:lstStyle/>
          <a:p>
            <a:pPr lvl="0">
              <a:buFont typeface="Wingdings" panose="05000000000000000000" pitchFamily="2" charset="2"/>
              <a:buChar char="v"/>
            </a:pPr>
            <a:r>
              <a:rPr lang="en-IN" sz="2600" dirty="0">
                <a:latin typeface="Casper"/>
              </a:rPr>
              <a:t>The energy of a particle is quantized. This means it can only take on discrete energy values.</a:t>
            </a:r>
          </a:p>
          <a:p>
            <a:pPr lvl="0">
              <a:buFont typeface="Wingdings" panose="05000000000000000000" pitchFamily="2" charset="2"/>
              <a:buChar char="v"/>
            </a:pPr>
            <a:r>
              <a:rPr lang="en-IN" sz="2600" dirty="0">
                <a:latin typeface="Casper"/>
              </a:rPr>
              <a:t>The lowest possible energy for a particle is not zero (even at 0 K). This means the particle </a:t>
            </a:r>
            <a:r>
              <a:rPr lang="en-IN" sz="2600" i="1" dirty="0">
                <a:latin typeface="Casper"/>
              </a:rPr>
              <a:t>always</a:t>
            </a:r>
            <a:r>
              <a:rPr lang="en-IN" sz="2600" dirty="0">
                <a:latin typeface="Casper"/>
              </a:rPr>
              <a:t> has some kinetic energy.</a:t>
            </a:r>
          </a:p>
          <a:p>
            <a:pPr lvl="0">
              <a:buFont typeface="Wingdings" panose="05000000000000000000" pitchFamily="2" charset="2"/>
              <a:buChar char="v"/>
            </a:pPr>
            <a:r>
              <a:rPr lang="en-IN" sz="2600" dirty="0">
                <a:latin typeface="Casper"/>
              </a:rPr>
              <a:t>The square of the wavefunction is related to the probability of finding the particle in a specific position for a given energy level.</a:t>
            </a:r>
          </a:p>
          <a:p>
            <a:pPr lvl="0">
              <a:buFont typeface="Wingdings" panose="05000000000000000000" pitchFamily="2" charset="2"/>
              <a:buChar char="v"/>
            </a:pPr>
            <a:r>
              <a:rPr lang="en-IN" sz="2600" dirty="0">
                <a:latin typeface="Casper"/>
              </a:rPr>
              <a:t>The probability changes with increasing energy of the particle and depends on the position in the box you are attempting to define the energy for   </a:t>
            </a:r>
          </a:p>
          <a:p>
            <a:pPr lvl="0">
              <a:buFont typeface="Wingdings" panose="05000000000000000000" pitchFamily="2" charset="2"/>
              <a:buChar char="v"/>
            </a:pPr>
            <a:r>
              <a:rPr lang="en-IN" sz="2600" dirty="0">
                <a:latin typeface="Casper"/>
              </a:rPr>
              <a:t>In classical physics, the probability of finding the particle is independent of the energy and the same at all points in the box.</a:t>
            </a:r>
          </a:p>
          <a:p>
            <a:endParaRPr lang="en-IN" dirty="0"/>
          </a:p>
        </p:txBody>
      </p:sp>
      <p:sp>
        <p:nvSpPr>
          <p:cNvPr id="4" name="Slide Number Placeholder 3">
            <a:extLst>
              <a:ext uri="{FF2B5EF4-FFF2-40B4-BE49-F238E27FC236}">
                <a16:creationId xmlns:a16="http://schemas.microsoft.com/office/drawing/2014/main" id="{8F97FD45-0D51-4674-AB7C-34DE3014C854}"/>
              </a:ext>
            </a:extLst>
          </p:cNvPr>
          <p:cNvSpPr>
            <a:spLocks noGrp="1"/>
          </p:cNvSpPr>
          <p:nvPr>
            <p:ph type="sldNum" sz="quarter" idx="12"/>
          </p:nvPr>
        </p:nvSpPr>
        <p:spPr/>
        <p:txBody>
          <a:bodyPr/>
          <a:lstStyle/>
          <a:p>
            <a:fld id="{BDCDBBEF-AA6C-4BA6-85B2-A17D7F280E38}" type="slidenum">
              <a:rPr lang="en-US" smtClean="0"/>
              <a:t>25</a:t>
            </a:fld>
            <a:endParaRPr lang="en-US"/>
          </a:p>
        </p:txBody>
      </p:sp>
      <p:sp>
        <p:nvSpPr>
          <p:cNvPr id="5" name="Title 1">
            <a:extLst>
              <a:ext uri="{FF2B5EF4-FFF2-40B4-BE49-F238E27FC236}">
                <a16:creationId xmlns:a16="http://schemas.microsoft.com/office/drawing/2014/main" id="{602A3265-CB89-4B79-8AE2-CC512D147A42}"/>
              </a:ext>
            </a:extLst>
          </p:cNvPr>
          <p:cNvSpPr>
            <a:spLocks noGrp="1"/>
          </p:cNvSpPr>
          <p:nvPr>
            <p:ph type="title"/>
          </p:nvPr>
        </p:nvSpPr>
        <p:spPr>
          <a:xfrm>
            <a:off x="838200" y="365125"/>
            <a:ext cx="10515600" cy="1325563"/>
          </a:xfrm>
          <a:ln>
            <a:solidFill>
              <a:srgbClr val="C00000"/>
            </a:solidFill>
          </a:ln>
        </p:spPr>
        <p:txBody>
          <a:bodyPr/>
          <a:lstStyle/>
          <a:p>
            <a:pPr algn="ctr"/>
            <a:r>
              <a:rPr lang="en-IN" b="1" dirty="0">
                <a:latin typeface="Casper"/>
              </a:rPr>
              <a:t>SUMMARY</a:t>
            </a:r>
            <a:br>
              <a:rPr lang="en-IN" dirty="0">
                <a:latin typeface="Casper"/>
              </a:rPr>
            </a:br>
            <a:endParaRPr lang="en-IN" dirty="0">
              <a:latin typeface="Casper"/>
            </a:endParaRPr>
          </a:p>
        </p:txBody>
      </p:sp>
    </p:spTree>
    <p:extLst>
      <p:ext uri="{BB962C8B-B14F-4D97-AF65-F5344CB8AC3E}">
        <p14:creationId xmlns:p14="http://schemas.microsoft.com/office/powerpoint/2010/main" val="15797449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97D8E-8C48-4057-BB98-FF57A21F57FE}"/>
              </a:ext>
            </a:extLst>
          </p:cNvPr>
          <p:cNvSpPr>
            <a:spLocks noGrp="1"/>
          </p:cNvSpPr>
          <p:nvPr>
            <p:ph type="title"/>
          </p:nvPr>
        </p:nvSpPr>
        <p:spPr>
          <a:xfrm>
            <a:off x="1337480" y="365126"/>
            <a:ext cx="10016319" cy="958708"/>
          </a:xfrm>
          <a:ln>
            <a:solidFill>
              <a:srgbClr val="C00000"/>
            </a:solidFill>
          </a:ln>
        </p:spPr>
        <p:txBody>
          <a:bodyPr>
            <a:normAutofit fontScale="90000"/>
          </a:bodyPr>
          <a:lstStyle/>
          <a:p>
            <a:pPr algn="ctr"/>
            <a:r>
              <a:rPr lang="en-IN" dirty="0"/>
              <a:t>	</a:t>
            </a:r>
            <a:r>
              <a:rPr lang="en-IN" b="1" dirty="0">
                <a:latin typeface="Casper Bold" panose="02000806040000020004"/>
              </a:rPr>
              <a:t>FREQUENTLY ASKED QUESTIONS</a:t>
            </a:r>
          </a:p>
        </p:txBody>
      </p:sp>
      <p:sp>
        <p:nvSpPr>
          <p:cNvPr id="3" name="Content Placeholder 2">
            <a:extLst>
              <a:ext uri="{FF2B5EF4-FFF2-40B4-BE49-F238E27FC236}">
                <a16:creationId xmlns:a16="http://schemas.microsoft.com/office/drawing/2014/main" id="{BE7F128C-CEF3-4F3A-9DD2-A021EC8C00C0}"/>
              </a:ext>
            </a:extLst>
          </p:cNvPr>
          <p:cNvSpPr>
            <a:spLocks noGrp="1"/>
          </p:cNvSpPr>
          <p:nvPr>
            <p:ph idx="1"/>
          </p:nvPr>
        </p:nvSpPr>
        <p:spPr>
          <a:xfrm>
            <a:off x="838200" y="1690688"/>
            <a:ext cx="10515600" cy="4000428"/>
          </a:xfrm>
          <a:ln>
            <a:solidFill>
              <a:schemeClr val="accent1"/>
            </a:solidFill>
          </a:ln>
        </p:spPr>
        <p:txBody>
          <a:bodyPr/>
          <a:lstStyle/>
          <a:p>
            <a:pPr lvl="0">
              <a:buFont typeface="Wingdings" panose="05000000000000000000" pitchFamily="2" charset="2"/>
              <a:buChar char="v"/>
            </a:pPr>
            <a:r>
              <a:rPr lang="en-IN" sz="2400" dirty="0">
                <a:latin typeface="Casper"/>
              </a:rPr>
              <a:t>Is energy continuous in case of free particle?</a:t>
            </a:r>
          </a:p>
          <a:p>
            <a:pPr lvl="0">
              <a:buFont typeface="Wingdings" panose="05000000000000000000" pitchFamily="2" charset="2"/>
              <a:buChar char="v"/>
            </a:pPr>
            <a:r>
              <a:rPr lang="en-IN" sz="2400" dirty="0">
                <a:latin typeface="Casper"/>
              </a:rPr>
              <a:t>How can we normalised wave function?</a:t>
            </a:r>
          </a:p>
          <a:p>
            <a:pPr lvl="0">
              <a:buFont typeface="Wingdings" panose="05000000000000000000" pitchFamily="2" charset="2"/>
              <a:buChar char="v"/>
            </a:pPr>
            <a:r>
              <a:rPr lang="en-IN" sz="2400" dirty="0">
                <a:latin typeface="Casper"/>
              </a:rPr>
              <a:t>Derive wave function for one-dimensional particle in a box.</a:t>
            </a:r>
          </a:p>
          <a:p>
            <a:pPr marL="0" indent="0">
              <a:buNone/>
            </a:pPr>
            <a:endParaRPr lang="en-IN" sz="2400" dirty="0">
              <a:latin typeface="Casper"/>
            </a:endParaRPr>
          </a:p>
          <a:p>
            <a:endParaRPr lang="en-IN" dirty="0"/>
          </a:p>
        </p:txBody>
      </p:sp>
      <p:sp>
        <p:nvSpPr>
          <p:cNvPr id="4" name="Slide Number Placeholder 3">
            <a:extLst>
              <a:ext uri="{FF2B5EF4-FFF2-40B4-BE49-F238E27FC236}">
                <a16:creationId xmlns:a16="http://schemas.microsoft.com/office/drawing/2014/main" id="{562ECA2E-87EA-4CA3-8F71-C3B203EC9EB3}"/>
              </a:ext>
            </a:extLst>
          </p:cNvPr>
          <p:cNvSpPr>
            <a:spLocks noGrp="1"/>
          </p:cNvSpPr>
          <p:nvPr>
            <p:ph type="sldNum" sz="quarter" idx="12"/>
          </p:nvPr>
        </p:nvSpPr>
        <p:spPr/>
        <p:txBody>
          <a:bodyPr/>
          <a:lstStyle/>
          <a:p>
            <a:fld id="{BDCDBBEF-AA6C-4BA6-85B2-A17D7F280E38}" type="slidenum">
              <a:rPr lang="en-US" smtClean="0"/>
              <a:t>26</a:t>
            </a:fld>
            <a:endParaRPr lang="en-US"/>
          </a:p>
        </p:txBody>
      </p:sp>
    </p:spTree>
    <p:extLst>
      <p:ext uri="{BB962C8B-B14F-4D97-AF65-F5344CB8AC3E}">
        <p14:creationId xmlns:p14="http://schemas.microsoft.com/office/powerpoint/2010/main" val="2287860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2196" y="360362"/>
            <a:ext cx="9811603" cy="1045358"/>
          </a:xfrm>
          <a:ln>
            <a:solidFill>
              <a:srgbClr val="C00000"/>
            </a:solidFill>
          </a:ln>
        </p:spPr>
        <p:txBody>
          <a:bodyPr/>
          <a:lstStyle/>
          <a:p>
            <a:pPr algn="ctr"/>
            <a:r>
              <a:rPr lang="en-US" b="1" dirty="0">
                <a:latin typeface="Casper Bold" panose="02000806040000020004" pitchFamily="2" charset="0"/>
                <a:cs typeface="Arial" panose="020B0604020202020204" pitchFamily="34" charset="0"/>
              </a:rPr>
              <a:t>REFERENCE-BOOKS</a:t>
            </a:r>
            <a:r>
              <a:rPr lang="en-US" sz="2800" b="1" dirty="0">
                <a:latin typeface="Casper Bold" panose="02000806040000020004" pitchFamily="2" charset="0"/>
                <a:cs typeface="Arial" panose="020B0604020202020204" pitchFamily="34" charset="0"/>
              </a:rPr>
              <a:t> </a:t>
            </a:r>
            <a:r>
              <a:rPr lang="en-US" sz="2800" b="1" dirty="0"/>
              <a:t>  </a:t>
            </a:r>
            <a:endParaRPr lang="en-US" b="1" dirty="0"/>
          </a:p>
        </p:txBody>
      </p:sp>
      <p:sp>
        <p:nvSpPr>
          <p:cNvPr id="3" name="Content Placeholder 2"/>
          <p:cNvSpPr>
            <a:spLocks noGrp="1"/>
          </p:cNvSpPr>
          <p:nvPr>
            <p:ph idx="1"/>
          </p:nvPr>
        </p:nvSpPr>
        <p:spPr>
          <a:xfrm>
            <a:off x="838200" y="1825625"/>
            <a:ext cx="10515600" cy="3397728"/>
          </a:xfrm>
          <a:ln>
            <a:solidFill>
              <a:schemeClr val="accent1"/>
            </a:solidFill>
          </a:ln>
        </p:spPr>
        <p:txBody>
          <a:bodyPr>
            <a:normAutofit/>
          </a:bodyPr>
          <a:lstStyle/>
          <a:p>
            <a:endParaRPr lang="en-IN" sz="1600" dirty="0"/>
          </a:p>
          <a:p>
            <a:pPr lvl="0">
              <a:buFont typeface="Wingdings" panose="05000000000000000000" pitchFamily="2" charset="2"/>
              <a:buChar char="v"/>
            </a:pPr>
            <a:r>
              <a:rPr lang="en-IN" sz="2400" dirty="0"/>
              <a:t>Concepts of Modern Physics, (Fifth Edition) A </a:t>
            </a:r>
            <a:r>
              <a:rPr lang="en-IN" sz="2400" dirty="0" err="1"/>
              <a:t>Beiser</a:t>
            </a:r>
            <a:r>
              <a:rPr lang="en-IN" sz="2400" dirty="0"/>
              <a:t>, McGraw Hill International.</a:t>
            </a:r>
          </a:p>
          <a:p>
            <a:pPr lvl="0">
              <a:buFont typeface="Wingdings" panose="05000000000000000000" pitchFamily="2" charset="2"/>
              <a:buChar char="v"/>
            </a:pPr>
            <a:r>
              <a:rPr lang="en-IN" sz="2400" dirty="0"/>
              <a:t>Fundamentals of Physics, David Halliday, Robert Resnick and </a:t>
            </a:r>
            <a:r>
              <a:rPr lang="en-IN" sz="2400" dirty="0" err="1"/>
              <a:t>Jearl</a:t>
            </a:r>
            <a:r>
              <a:rPr lang="en-IN" sz="2400" dirty="0"/>
              <a:t> Walker, </a:t>
            </a:r>
            <a:r>
              <a:rPr lang="en-IN" sz="2400" dirty="0" err="1"/>
              <a:t>Wileyplus</a:t>
            </a:r>
            <a:r>
              <a:rPr lang="en-IN" sz="2400" dirty="0"/>
              <a:t>.</a:t>
            </a:r>
          </a:p>
          <a:p>
            <a:pPr marL="0" indent="0">
              <a:buNone/>
            </a:pPr>
            <a:endParaRPr lang="en-IN" dirty="0"/>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27</a:t>
            </a:fld>
            <a:endParaRPr lang="en-US"/>
          </a:p>
        </p:txBody>
      </p:sp>
    </p:spTree>
    <p:extLst>
      <p:ext uri="{BB962C8B-B14F-4D97-AF65-F5344CB8AC3E}">
        <p14:creationId xmlns:p14="http://schemas.microsoft.com/office/powerpoint/2010/main" val="33619184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827E1B-FA72-46A2-BDE3-AD692BA7B1E1}"/>
              </a:ext>
            </a:extLst>
          </p:cNvPr>
          <p:cNvSpPr>
            <a:spLocks noGrp="1"/>
          </p:cNvSpPr>
          <p:nvPr>
            <p:ph idx="1"/>
          </p:nvPr>
        </p:nvSpPr>
        <p:spPr>
          <a:xfrm>
            <a:off x="838200" y="1705366"/>
            <a:ext cx="10515600" cy="4351338"/>
          </a:xfrm>
          <a:ln>
            <a:solidFill>
              <a:schemeClr val="accent1"/>
            </a:solidFill>
          </a:ln>
        </p:spPr>
        <p:txBody>
          <a:bodyPr>
            <a:normAutofit/>
          </a:bodyPr>
          <a:lstStyle/>
          <a:p>
            <a:r>
              <a:rPr lang="en-IN" u="sng" dirty="0">
                <a:hlinkClick r:id="rId2"/>
              </a:rPr>
              <a:t>[1] https://sites.google.com/site/puenggphysics/home/unit-iv/a-free-particle</a:t>
            </a:r>
            <a:endParaRPr lang="en-IN" dirty="0"/>
          </a:p>
          <a:p>
            <a:r>
              <a:rPr lang="en-IN" dirty="0"/>
              <a:t>[2] </a:t>
            </a:r>
            <a:r>
              <a:rPr lang="en-IN" u="sng" dirty="0">
                <a:hlinkClick r:id="rId3"/>
              </a:rPr>
              <a:t>https://www.seekpng.com/ipng/u2q8u2y3w7q8i1o0_particle-in-one-dimensional-box/</a:t>
            </a:r>
            <a:endParaRPr lang="en-IN" dirty="0"/>
          </a:p>
          <a:p>
            <a:r>
              <a:rPr lang="en-IN" dirty="0"/>
              <a:t>[3]</a:t>
            </a:r>
            <a:r>
              <a:rPr lang="en-IN" u="sng" dirty="0">
                <a:hlinkClick r:id="rId4"/>
              </a:rPr>
              <a:t>https://chem.libretexts.org/Bookshelves/Physical_and_Theoretical_Chemistry_Textbook_Maps/Map%3A_Physical_Chemistry_for_the_Biosciences_(Chang)/11%3A_Quantum_Mechanics_and_Atomic_Structure/11.08%3A_Particle_in_a_One-Dimensional_Box#:~:text=A%20particle%20in%20a%201,from%20which%20it%20cannot%20escape.</a:t>
            </a:r>
            <a:endParaRPr lang="en-IN" dirty="0"/>
          </a:p>
          <a:p>
            <a:pPr lvl="0">
              <a:lnSpc>
                <a:spcPct val="150000"/>
              </a:lnSpc>
            </a:pPr>
            <a:endParaRPr lang="en-IN" sz="2400" dirty="0">
              <a:latin typeface="Casper"/>
            </a:endParaRPr>
          </a:p>
        </p:txBody>
      </p:sp>
      <p:sp>
        <p:nvSpPr>
          <p:cNvPr id="4" name="Slide Number Placeholder 3">
            <a:extLst>
              <a:ext uri="{FF2B5EF4-FFF2-40B4-BE49-F238E27FC236}">
                <a16:creationId xmlns:a16="http://schemas.microsoft.com/office/drawing/2014/main" id="{66357D08-C8DF-492D-B091-92F7A1070ABD}"/>
              </a:ext>
            </a:extLst>
          </p:cNvPr>
          <p:cNvSpPr>
            <a:spLocks noGrp="1"/>
          </p:cNvSpPr>
          <p:nvPr>
            <p:ph type="sldNum" sz="quarter" idx="12"/>
          </p:nvPr>
        </p:nvSpPr>
        <p:spPr/>
        <p:txBody>
          <a:bodyPr/>
          <a:lstStyle/>
          <a:p>
            <a:fld id="{BDCDBBEF-AA6C-4BA6-85B2-A17D7F280E38}" type="slidenum">
              <a:rPr lang="en-US" smtClean="0"/>
              <a:t>28</a:t>
            </a:fld>
            <a:endParaRPr lang="en-US"/>
          </a:p>
        </p:txBody>
      </p:sp>
      <p:sp>
        <p:nvSpPr>
          <p:cNvPr id="5" name="Title 1">
            <a:extLst>
              <a:ext uri="{FF2B5EF4-FFF2-40B4-BE49-F238E27FC236}">
                <a16:creationId xmlns:a16="http://schemas.microsoft.com/office/drawing/2014/main" id="{0911A6BF-63EE-4BCE-8A53-0B0D2D5CC541}"/>
              </a:ext>
            </a:extLst>
          </p:cNvPr>
          <p:cNvSpPr>
            <a:spLocks noGrp="1"/>
          </p:cNvSpPr>
          <p:nvPr>
            <p:ph type="title"/>
          </p:nvPr>
        </p:nvSpPr>
        <p:spPr>
          <a:xfrm>
            <a:off x="1542196" y="360362"/>
            <a:ext cx="9811603" cy="1045358"/>
          </a:xfrm>
          <a:ln>
            <a:solidFill>
              <a:srgbClr val="C00000"/>
            </a:solidFill>
          </a:ln>
        </p:spPr>
        <p:txBody>
          <a:bodyPr>
            <a:normAutofit fontScale="90000"/>
          </a:bodyPr>
          <a:lstStyle/>
          <a:p>
            <a:pPr algn="ctr"/>
            <a:r>
              <a:rPr lang="en-IN" b="1" dirty="0">
                <a:latin typeface="Casper"/>
              </a:rPr>
              <a:t>IMAGE REFERENCE</a:t>
            </a:r>
            <a:br>
              <a:rPr lang="en-IN" b="1" dirty="0">
                <a:latin typeface="Casper"/>
              </a:rPr>
            </a:br>
            <a:endParaRPr lang="en-US" b="1" dirty="0">
              <a:latin typeface="Casper"/>
            </a:endParaRPr>
          </a:p>
        </p:txBody>
      </p:sp>
    </p:spTree>
    <p:extLst>
      <p:ext uri="{BB962C8B-B14F-4D97-AF65-F5344CB8AC3E}">
        <p14:creationId xmlns:p14="http://schemas.microsoft.com/office/powerpoint/2010/main" val="23241154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36E0C7-352C-473F-9256-1F1E018B260A}"/>
              </a:ext>
            </a:extLst>
          </p:cNvPr>
          <p:cNvSpPr>
            <a:spLocks noGrp="1"/>
          </p:cNvSpPr>
          <p:nvPr>
            <p:ph idx="1"/>
          </p:nvPr>
        </p:nvSpPr>
        <p:spPr>
          <a:xfrm>
            <a:off x="838200" y="1825625"/>
            <a:ext cx="10515600" cy="2773671"/>
          </a:xfrm>
          <a:ln>
            <a:solidFill>
              <a:schemeClr val="accent1"/>
            </a:solidFill>
          </a:ln>
        </p:spPr>
        <p:txBody>
          <a:bodyPr>
            <a:normAutofit/>
          </a:bodyPr>
          <a:lstStyle/>
          <a:p>
            <a:pPr lvl="0">
              <a:lnSpc>
                <a:spcPct val="150000"/>
              </a:lnSpc>
              <a:buFont typeface="Wingdings" panose="05000000000000000000" pitchFamily="2" charset="2"/>
              <a:buChar char="v"/>
            </a:pPr>
            <a:r>
              <a:rPr lang="en-IN" sz="2400" u="sng" dirty="0">
                <a:latin typeface="Casper"/>
                <a:hlinkClick r:id="rId2"/>
              </a:rPr>
              <a:t>http://www.physics.umd.edu/courses/Phys270/Jenkins/LectureChapters41v3.pdf</a:t>
            </a:r>
            <a:endParaRPr lang="en-IN" sz="2400" dirty="0">
              <a:latin typeface="Casper"/>
            </a:endParaRPr>
          </a:p>
          <a:p>
            <a:pPr lvl="0">
              <a:lnSpc>
                <a:spcPct val="150000"/>
              </a:lnSpc>
              <a:buFont typeface="Wingdings" panose="05000000000000000000" pitchFamily="2" charset="2"/>
              <a:buChar char="v"/>
            </a:pPr>
            <a:r>
              <a:rPr lang="en-IN" sz="2400" u="sng" dirty="0">
                <a:latin typeface="Casper"/>
                <a:hlinkClick r:id="rId3"/>
              </a:rPr>
              <a:t>https://iopscience.iop.org/book/978-0-7503-1206-6/chapter/bk978-0-7503-1206-6ch2</a:t>
            </a:r>
            <a:endParaRPr lang="en-IN" sz="2400" dirty="0">
              <a:latin typeface="Casper"/>
            </a:endParaRPr>
          </a:p>
          <a:p>
            <a:pPr lvl="0">
              <a:lnSpc>
                <a:spcPct val="150000"/>
              </a:lnSpc>
              <a:buFont typeface="Wingdings" panose="05000000000000000000" pitchFamily="2" charset="2"/>
              <a:buChar char="v"/>
            </a:pPr>
            <a:r>
              <a:rPr lang="en-IN" sz="2400" u="sng" dirty="0">
                <a:latin typeface="Casper"/>
                <a:hlinkClick r:id="rId4"/>
              </a:rPr>
              <a:t>https://sites.google.com/site/puenggphysics/home/unit-iv/a-free-particle</a:t>
            </a:r>
            <a:endParaRPr lang="en-IN" sz="2400" dirty="0">
              <a:latin typeface="Casper"/>
            </a:endParaRPr>
          </a:p>
          <a:p>
            <a:pPr marL="0" indent="0">
              <a:buNone/>
            </a:pPr>
            <a:endParaRPr lang="en-IN" dirty="0"/>
          </a:p>
          <a:p>
            <a:endParaRPr lang="en-US" dirty="0"/>
          </a:p>
        </p:txBody>
      </p:sp>
      <p:sp>
        <p:nvSpPr>
          <p:cNvPr id="4" name="Slide Number Placeholder 3">
            <a:extLst>
              <a:ext uri="{FF2B5EF4-FFF2-40B4-BE49-F238E27FC236}">
                <a16:creationId xmlns:a16="http://schemas.microsoft.com/office/drawing/2014/main" id="{2BAE05B9-2025-41E4-A18B-080BEAAFED43}"/>
              </a:ext>
            </a:extLst>
          </p:cNvPr>
          <p:cNvSpPr>
            <a:spLocks noGrp="1"/>
          </p:cNvSpPr>
          <p:nvPr>
            <p:ph type="sldNum" sz="quarter" idx="12"/>
          </p:nvPr>
        </p:nvSpPr>
        <p:spPr/>
        <p:txBody>
          <a:bodyPr/>
          <a:lstStyle/>
          <a:p>
            <a:fld id="{BDCDBBEF-AA6C-4BA6-85B2-A17D7F280E38}" type="slidenum">
              <a:rPr lang="en-US" smtClean="0"/>
              <a:t>29</a:t>
            </a:fld>
            <a:endParaRPr lang="en-US"/>
          </a:p>
        </p:txBody>
      </p:sp>
      <p:sp>
        <p:nvSpPr>
          <p:cNvPr id="5" name="Title 1">
            <a:extLst>
              <a:ext uri="{FF2B5EF4-FFF2-40B4-BE49-F238E27FC236}">
                <a16:creationId xmlns:a16="http://schemas.microsoft.com/office/drawing/2014/main" id="{B1EFFB61-AD56-4A45-8303-70CEBA364E29}"/>
              </a:ext>
            </a:extLst>
          </p:cNvPr>
          <p:cNvSpPr>
            <a:spLocks noGrp="1"/>
          </p:cNvSpPr>
          <p:nvPr>
            <p:ph type="title"/>
          </p:nvPr>
        </p:nvSpPr>
        <p:spPr>
          <a:xfrm>
            <a:off x="1542196" y="360362"/>
            <a:ext cx="9811603" cy="1045358"/>
          </a:xfrm>
          <a:ln>
            <a:solidFill>
              <a:srgbClr val="C00000"/>
            </a:solidFill>
          </a:ln>
        </p:spPr>
        <p:txBody>
          <a:bodyPr/>
          <a:lstStyle/>
          <a:p>
            <a:pPr algn="ctr"/>
            <a:r>
              <a:rPr lang="en-US" b="1" dirty="0">
                <a:latin typeface="Casper Bold" panose="02000806040000020004" pitchFamily="2" charset="0"/>
                <a:cs typeface="Arial" panose="020B0604020202020204" pitchFamily="34" charset="0"/>
              </a:rPr>
              <a:t>REFERENCE-WEBSITE</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Tree>
    <p:extLst>
      <p:ext uri="{BB962C8B-B14F-4D97-AF65-F5344CB8AC3E}">
        <p14:creationId xmlns:p14="http://schemas.microsoft.com/office/powerpoint/2010/main" val="37161117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3259-9CC5-4353-ADB5-092F85B61C3A}"/>
              </a:ext>
            </a:extLst>
          </p:cNvPr>
          <p:cNvSpPr>
            <a:spLocks noGrp="1"/>
          </p:cNvSpPr>
          <p:nvPr>
            <p:ph type="title"/>
          </p:nvPr>
        </p:nvSpPr>
        <p:spPr>
          <a:ln>
            <a:solidFill>
              <a:srgbClr val="FF0000"/>
            </a:solidFill>
          </a:ln>
        </p:spPr>
        <p:txBody>
          <a:bodyPr/>
          <a:lstStyle/>
          <a:p>
            <a:pPr algn="ctr"/>
            <a:r>
              <a:rPr lang="en-IN" b="1" dirty="0">
                <a:latin typeface="Casper"/>
              </a:rPr>
              <a:t>Video link </a:t>
            </a:r>
            <a:br>
              <a:rPr lang="en-IN" dirty="0"/>
            </a:br>
            <a:endParaRPr lang="en-IN" dirty="0"/>
          </a:p>
        </p:txBody>
      </p:sp>
      <p:sp>
        <p:nvSpPr>
          <p:cNvPr id="3" name="Content Placeholder 2">
            <a:extLst>
              <a:ext uri="{FF2B5EF4-FFF2-40B4-BE49-F238E27FC236}">
                <a16:creationId xmlns:a16="http://schemas.microsoft.com/office/drawing/2014/main" id="{040F3A31-4AA6-48C6-853D-16E57D15407D}"/>
              </a:ext>
            </a:extLst>
          </p:cNvPr>
          <p:cNvSpPr>
            <a:spLocks noGrp="1"/>
          </p:cNvSpPr>
          <p:nvPr>
            <p:ph idx="1"/>
          </p:nvPr>
        </p:nvSpPr>
        <p:spPr>
          <a:ln>
            <a:solidFill>
              <a:schemeClr val="accent1"/>
            </a:solidFill>
          </a:ln>
        </p:spPr>
        <p:txBody>
          <a:bodyPr/>
          <a:lstStyle/>
          <a:p>
            <a:pPr lvl="0">
              <a:lnSpc>
                <a:spcPct val="150000"/>
              </a:lnSpc>
              <a:buFont typeface="Wingdings" panose="05000000000000000000" pitchFamily="2" charset="2"/>
              <a:buChar char="v"/>
            </a:pPr>
            <a:r>
              <a:rPr lang="en-IN" sz="2400" u="sng" dirty="0">
                <a:latin typeface="Casper"/>
                <a:hlinkClick r:id="rId2"/>
              </a:rPr>
              <a:t>https://www.youtube.com/watch?v=lGKKdLmRNQw</a:t>
            </a:r>
            <a:endParaRPr lang="en-IN" sz="2400" dirty="0">
              <a:latin typeface="Casper"/>
            </a:endParaRPr>
          </a:p>
          <a:p>
            <a:pPr lvl="0">
              <a:lnSpc>
                <a:spcPct val="150000"/>
              </a:lnSpc>
              <a:buFont typeface="Wingdings" panose="05000000000000000000" pitchFamily="2" charset="2"/>
              <a:buChar char="v"/>
            </a:pPr>
            <a:r>
              <a:rPr lang="en-IN" sz="2400" u="sng" dirty="0">
                <a:latin typeface="Casper"/>
                <a:hlinkClick r:id="rId3"/>
              </a:rPr>
              <a:t>https://www.youtube.com/watch?v=zxn9SwYtzgw</a:t>
            </a:r>
            <a:endParaRPr lang="en-IN" sz="2400" dirty="0">
              <a:latin typeface="Casper"/>
            </a:endParaRPr>
          </a:p>
          <a:p>
            <a:endParaRPr lang="en-IN" dirty="0"/>
          </a:p>
        </p:txBody>
      </p:sp>
      <p:sp>
        <p:nvSpPr>
          <p:cNvPr id="4" name="Slide Number Placeholder 3">
            <a:extLst>
              <a:ext uri="{FF2B5EF4-FFF2-40B4-BE49-F238E27FC236}">
                <a16:creationId xmlns:a16="http://schemas.microsoft.com/office/drawing/2014/main" id="{4F6A2851-2667-4682-84B3-973D47B39286}"/>
              </a:ext>
            </a:extLst>
          </p:cNvPr>
          <p:cNvSpPr>
            <a:spLocks noGrp="1"/>
          </p:cNvSpPr>
          <p:nvPr>
            <p:ph type="sldNum" sz="quarter" idx="12"/>
          </p:nvPr>
        </p:nvSpPr>
        <p:spPr/>
        <p:txBody>
          <a:bodyPr/>
          <a:lstStyle/>
          <a:p>
            <a:fld id="{BDCDBBEF-AA6C-4BA6-85B2-A17D7F280E38}" type="slidenum">
              <a:rPr lang="en-US" smtClean="0"/>
              <a:t>30</a:t>
            </a:fld>
            <a:endParaRPr lang="en-US"/>
          </a:p>
        </p:txBody>
      </p:sp>
    </p:spTree>
    <p:extLst>
      <p:ext uri="{BB962C8B-B14F-4D97-AF65-F5344CB8AC3E}">
        <p14:creationId xmlns:p14="http://schemas.microsoft.com/office/powerpoint/2010/main" val="687935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
                        <p:cNvPicPr>
                          <a:picLocks noChangeAspect="1" noChangeArrowheads="1"/>
                        </p:cNvPicPr>
                        <p:nvPr/>
                      </p:nvPicPr>
                      <p:blipFill>
                        <a:blip r:embed="rId3">
                          <a:lum/>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p:spPr>
                    </p:pic>
                  </p:oleObj>
                </mc:Fallback>
              </mc:AlternateContent>
            </a:graphicData>
          </a:graphic>
        </p:graphicFrame>
      </p:grpSp>
      <p:sp>
        <p:nvSpPr>
          <p:cNvPr id="2" name="Rectangle 1"/>
          <p:cNvSpPr/>
          <p:nvPr/>
        </p:nvSpPr>
        <p:spPr>
          <a:xfrm>
            <a:off x="4114005" y="5394447"/>
            <a:ext cx="3291350" cy="646331"/>
          </a:xfrm>
          <a:prstGeom prst="rect">
            <a:avLst/>
          </a:prstGeom>
        </p:spPr>
        <p:txBody>
          <a:bodyPr wrap="non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 </a:t>
            </a:r>
            <a:r>
              <a:rPr lang="en-US">
                <a:latin typeface="Casper" panose="02000506000000020004" pitchFamily="2" charset="0"/>
                <a:cs typeface="Segoe UI" panose="020B0502040204020203" pitchFamily="34" charset="0"/>
              </a:rPr>
              <a:t>arminder,uis@cumail.in</a:t>
            </a:r>
            <a:endParaRPr lang="en-US" dirty="0"/>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1728</TotalTime>
  <Words>1839</Words>
  <Application>Microsoft Office PowerPoint</Application>
  <PresentationFormat>Widescreen</PresentationFormat>
  <Paragraphs>210</Paragraphs>
  <Slides>31</Slides>
  <Notes>0</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31</vt:i4>
      </vt:variant>
    </vt:vector>
  </HeadingPairs>
  <TitlesOfParts>
    <vt:vector size="44" baseType="lpstr">
      <vt:lpstr>Arial</vt:lpstr>
      <vt:lpstr>Arial Black</vt:lpstr>
      <vt:lpstr>Calibri</vt:lpstr>
      <vt:lpstr>Calibri Light</vt:lpstr>
      <vt:lpstr>Cambria Math</vt:lpstr>
      <vt:lpstr>Casper</vt:lpstr>
      <vt:lpstr>Casper Bold</vt:lpstr>
      <vt:lpstr>Raleway ExtraBold</vt:lpstr>
      <vt:lpstr>Times New Roman</vt:lpstr>
      <vt:lpstr>Wingdings</vt:lpstr>
      <vt:lpstr>1_Office Theme</vt:lpstr>
      <vt:lpstr>Contents Slide Master</vt:lpstr>
      <vt:lpstr>CorelDRAW</vt:lpstr>
      <vt:lpstr>PowerPoint Presentation</vt:lpstr>
      <vt:lpstr>PowerPoint Presentation</vt:lpstr>
      <vt:lpstr>PowerPoint Presentation</vt:lpstr>
      <vt:lpstr>PowerPoint Presentation</vt:lpstr>
      <vt:lpstr>LECTURE OBJECTIVE</vt:lpstr>
      <vt:lpstr> CONTENT</vt:lpstr>
      <vt:lpstr>A FREE PARTICLE </vt:lpstr>
      <vt:lpstr>A FREE PARTICLE </vt:lpstr>
      <vt:lpstr>A FREE PARTICLE </vt:lpstr>
      <vt:lpstr>A FREE PARTICLE </vt:lpstr>
      <vt:lpstr>PARTICLE IN A BOX </vt:lpstr>
      <vt:lpstr>PARTICLE IN A BOX </vt:lpstr>
      <vt:lpstr>PARTICLE IN A BOX </vt:lpstr>
      <vt:lpstr>PARTICLE IN A BOX </vt:lpstr>
      <vt:lpstr>PARTICLE IN A BOX </vt:lpstr>
      <vt:lpstr>PARTICLE IN A BOX </vt:lpstr>
      <vt:lpstr>PARTICLE IN A BOX </vt:lpstr>
      <vt:lpstr>PARTICLE IN A BOX </vt:lpstr>
      <vt:lpstr>PARTICLE IN A BOX </vt:lpstr>
      <vt:lpstr>PARTICLE IN A BOX </vt:lpstr>
      <vt:lpstr>PARTICLE IN A BOX </vt:lpstr>
      <vt:lpstr>PARTICLE IN A BOX </vt:lpstr>
      <vt:lpstr>PARTICLE IN A BOX </vt:lpstr>
      <vt:lpstr>PowerPoint Presentation</vt:lpstr>
      <vt:lpstr>SUMMARY </vt:lpstr>
      <vt:lpstr> FREQUENTLY ASKED QUESTIONS</vt:lpstr>
      <vt:lpstr>REFERENCE-BOOKS   </vt:lpstr>
      <vt:lpstr>IMAGE REFERENCE </vt:lpstr>
      <vt:lpstr>REFERENCE-WEBSITE   </vt:lpstr>
      <vt:lpstr>Video link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Indu Gupta</cp:lastModifiedBy>
  <cp:revision>123</cp:revision>
  <dcterms:created xsi:type="dcterms:W3CDTF">2019-01-09T10:33:58Z</dcterms:created>
  <dcterms:modified xsi:type="dcterms:W3CDTF">2023-06-15T15:54:35Z</dcterms:modified>
</cp:coreProperties>
</file>