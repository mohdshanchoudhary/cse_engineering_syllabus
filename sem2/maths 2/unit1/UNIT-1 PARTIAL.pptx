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4"/>
  </p:notesMasterIdLst>
  <p:handoutMasterIdLst>
    <p:handoutMasterId r:id="rId35"/>
  </p:handoutMasterIdLst>
  <p:sldIdLst>
    <p:sldId id="457" r:id="rId3"/>
    <p:sldId id="458" r:id="rId4"/>
    <p:sldId id="408" r:id="rId5"/>
    <p:sldId id="411" r:id="rId6"/>
    <p:sldId id="413" r:id="rId7"/>
    <p:sldId id="414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7" r:id="rId19"/>
    <p:sldId id="459" r:id="rId20"/>
    <p:sldId id="460" r:id="rId21"/>
    <p:sldId id="461" r:id="rId22"/>
    <p:sldId id="462" r:id="rId23"/>
    <p:sldId id="463" r:id="rId24"/>
    <p:sldId id="464" r:id="rId25"/>
    <p:sldId id="465" r:id="rId26"/>
    <p:sldId id="466" r:id="rId27"/>
    <p:sldId id="467" r:id="rId28"/>
    <p:sldId id="468" r:id="rId29"/>
    <p:sldId id="469" r:id="rId30"/>
    <p:sldId id="470" r:id="rId31"/>
    <p:sldId id="456" r:id="rId32"/>
    <p:sldId id="455" r:id="rId3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C043CD2-AAF6-43FE-BD3F-12EAEFDA5070}" type="datetimeFigureOut">
              <a:rPr lang="en-US"/>
              <a:pPr>
                <a:defRPr/>
              </a:pPr>
              <a:t>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DCD64EE-3879-4ED8-93DE-CEE8D6C7CE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154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5510AF1-A445-4F2C-A95A-D649080A5736}" type="datetimeFigureOut">
              <a:rPr lang="en-US"/>
              <a:pPr>
                <a:defRPr/>
              </a:pPr>
              <a:t>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7BF87F5-5A0D-4CF6-B65E-0E0E3A951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52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31FB1-C9E8-433C-81B3-DE7517E40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90786-F88B-40EB-B365-500B2C117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28724-C6A8-462C-934B-CC8E963FFA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27A5E-1F5B-4A03-BAD0-B2F7C76ABA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A46DD-1D0F-40CE-BD24-B8FA6ADC4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0482F-66CA-485A-A82B-7654DA6C60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3C4F2-926F-4D17-96C2-BA073F2790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CC5DC-1E38-49B8-838D-72D5944846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0423B-2930-40CE-9382-425A78325B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1DECE-002D-4BB0-9C4B-CB788565B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27E3F-B9CA-4F1E-BE88-B09725D9C2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543175" cy="686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276475"/>
            <a:ext cx="12192000" cy="24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 userDrawn="1"/>
        </p:nvSpPr>
        <p:spPr>
          <a:xfrm rot="10800000">
            <a:off x="1582738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4050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3775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5088" y="4676775"/>
            <a:ext cx="382587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232400" y="2276475"/>
            <a:ext cx="5711825" cy="393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95313" y="4102100"/>
            <a:ext cx="2400300" cy="23034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196388" y="1700213"/>
            <a:ext cx="2400300" cy="2305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546600" y="2276475"/>
            <a:ext cx="7239000" cy="396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D:\Fullppt\005-PNG이미지\모니터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76288" y="1816100"/>
            <a:ext cx="3360737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406900" y="1816100"/>
            <a:ext cx="3360738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37513" y="1816100"/>
            <a:ext cx="3360737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 smtClean="0"/>
              <a:t>Click icon to add picture</a:t>
            </a:r>
            <a:endParaRPr lang="ko-KR" altLang="en-US" noProof="0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 userDrawn="1"/>
        </p:nvGrpSpPr>
        <p:grpSpPr bwMode="auto">
          <a:xfrm>
            <a:off x="471488" y="1508125"/>
            <a:ext cx="3800475" cy="4865688"/>
            <a:chOff x="354008" y="1131589"/>
            <a:chExt cx="2849840" cy="3649171"/>
          </a:xfrm>
        </p:grpSpPr>
        <p:sp>
          <p:nvSpPr>
            <p:cNvPr id="4" name="Rounded Rectangle 3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31379" y="1347087"/>
              <a:ext cx="109518" cy="32407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" name="Half Frame 5"/>
            <p:cNvSpPr/>
            <p:nvPr/>
          </p:nvSpPr>
          <p:spPr>
            <a:xfrm rot="5400000">
              <a:off x="2593724" y="1238186"/>
              <a:ext cx="501240" cy="50235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F191742-7BB9-48EC-BB87-F6122AD1BE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8" r:id="rId12"/>
    <p:sldLayoutId id="2147483781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64" r:id="rId7"/>
    <p:sldLayoutId id="2147483765" r:id="rId8"/>
    <p:sldLayoutId id="2147483776" r:id="rId9"/>
    <p:sldLayoutId id="2147483766" r:id="rId10"/>
    <p:sldLayoutId id="2147483777" r:id="rId11"/>
    <p:sldLayoutId id="2147483778" r:id="rId12"/>
    <p:sldLayoutId id="2147483767" r:id="rId13"/>
    <p:sldLayoutId id="2147483779" r:id="rId14"/>
  </p:sldLayoutIdLst>
  <p:txStyles>
    <p:titleStyle>
      <a:lvl1pPr algn="ctr" defTabSz="1217613" rtl="0" eaLnBrk="0" fontAlgn="base" latinLnBrk="1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2pPr>
      <a:lvl3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3pPr>
      <a:lvl4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4pPr>
      <a:lvl5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5pPr>
      <a:lvl6pPr marL="4572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6pPr>
      <a:lvl7pPr marL="9144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7pPr>
      <a:lvl8pPr marL="13716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8pPr>
      <a:lvl9pPr marL="18288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455613" indent="-4556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989013" indent="-3794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2pPr>
      <a:lvl3pPr marL="15224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3pPr>
      <a:lvl4pPr marL="21320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4pPr>
      <a:lvl5pPr marL="27416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search?q=1.+E.+Kreyszig,+Advanced+Engineering+Mathematics,+John+Wiley,10th+Ed.2011.,+New+Delhi&amp;cvid=7c2b1beb1c2c432b8b22eb9c5b32a4b9&amp;aqs=edge..69i57.1007j0j1&amp;pglt=43&amp;FORM=ANNTA1&amp;PC=U531" TargetMode="External"/><Relationship Id="rId2" Type="http://schemas.openxmlformats.org/officeDocument/2006/relationships/hyperlink" Target="file:///C:\Users\hp\Downloads\A%20Textbook%20Of%20Engineering%20Mathematics%20(PTU,%20Jalandhar)%20Sem-II%20by%20Usha%20Paul%20N.%20P.%20Bali%20(z-lib.org)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ng.com/search?q=B.+Thomas+and,+R.L.,+Finney,+Calculus+and+Analytic+Geometry,+Pearson+Education,+11th+Edition&amp;qs=n&amp;form=QBRE&amp;sp=-1&amp;pq=2.+b.+thomas+and,+r.l.,+finney,+calculus+and+analytic+geometry,+pearson+education,+11th+edition&amp;sc=0-95&amp;sk=&amp;cvid=9FFD21C9621C4FC8898A420C028C4CAE" TargetMode="External"/><Relationship Id="rId5" Type="http://schemas.openxmlformats.org/officeDocument/2006/relationships/hyperlink" Target="https://www.bing.com/search?q=1.+B.V.+Ramana+Advanced+Engineering+Mathematics,+McGraw+Hill,+July+2006,+New+Delhi.&amp;cvid=7694cbbfc1fb45a6aa286f6bee8b8c1f&amp;aqs=edge..69i57.952j0j1&amp;pglt=43&amp;FORM=ANNTA1&amp;PC=U531" TargetMode="External"/><Relationship Id="rId4" Type="http://schemas.openxmlformats.org/officeDocument/2006/relationships/hyperlink" Target="https://www.bing.com/search?q=R.K.+Jain,+and+S.R.K.+Iyengar,+Advanced+Engineering+Mathematics,+3rd+Edition,+Narosa+Publishing+House,+2004,+New+Delhi&amp;cvid=896b4862849e40c9b79a4940474a4418&amp;aqs=edge..69i57.5086j0j1&amp;pglt=43&amp;FORM=ANNTA1&amp;PC=U531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3980678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xmlns="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67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</a:t>
            </a:r>
            <a:r>
              <a:rPr lang="en-US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39412" y="1825853"/>
            <a:ext cx="8649583" cy="326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– AU1- AU5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Mathematics-II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23SMT-125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99638" y="827441"/>
            <a:ext cx="7097949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IN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COURSE</a:t>
            </a:r>
            <a:r>
              <a:rPr lang="en-IN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79721"/>
              </p:ext>
            </p:extLst>
          </p:nvPr>
        </p:nvGraphicFramePr>
        <p:xfrm>
          <a:off x="395793" y="1526200"/>
          <a:ext cx="9812732" cy="30514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9386"/>
                <a:gridCol w="6531827"/>
                <a:gridCol w="1801519"/>
              </a:tblGrid>
              <a:tr h="786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CO Number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Title 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Level 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762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CO1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Remember the concepts based upon partial differentiation, multiple integrals and vector calculus.</a:t>
                      </a:r>
                      <a:endParaRPr lang="en-US" sz="2000" dirty="0" smtClean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Remember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775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CO2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 the concepts of the partial differentiation, multiple integrals and vector calculus.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Understand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6966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CO3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concepts of partial differentiation, multiple integrals and vector calculus and to use in practical problems.</a:t>
                      </a:r>
                      <a:endParaRPr lang="en-GB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0933" y="1446665"/>
            <a:ext cx="2305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 smtClean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9744502" y="2415653"/>
            <a:ext cx="1091821" cy="45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795379" y="1282890"/>
            <a:ext cx="1160060" cy="2088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Will be covered in this lecture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4269" y="4517409"/>
          <a:ext cx="9812732" cy="17755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9386"/>
                <a:gridCol w="6531827"/>
                <a:gridCol w="1801519"/>
              </a:tblGrid>
              <a:tr h="1058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CO4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Analyze concepts of partial differentiation, multiple integrals and vector calculus and its application of analysis to Engineering problems.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Analyze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17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CO5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the solution for real problems based upon partial differentiation, multiple integrals and vector calculus.</a:t>
                      </a:r>
                      <a:endParaRPr lang="en-GB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06400" y="152400"/>
            <a:ext cx="10972800" cy="685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   Introduction </a:t>
            </a:r>
          </a:p>
        </p:txBody>
      </p:sp>
      <p:sp>
        <p:nvSpPr>
          <p:cNvPr id="16387" name="Rectangle 3"/>
          <p:cNvSpPr txBox="1">
            <a:spLocks noRot="1" noChangeArrowheads="1"/>
          </p:cNvSpPr>
          <p:nvPr/>
        </p:nvSpPr>
        <p:spPr bwMode="auto">
          <a:xfrm>
            <a:off x="609600" y="914401"/>
            <a:ext cx="10972800" cy="495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is a function of two variables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suppose we let only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vary while keeping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fixed, say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where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is a constant.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Then we are really considering a function of a single variable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namely,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has a derivative at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then we call it the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partial derivative of f with respect to x at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 and denote it by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800" i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u="sng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</p:txBody>
      </p:sp>
      <p:sp>
        <p:nvSpPr>
          <p:cNvPr id="19459" name="Rectangle 3"/>
          <p:cNvSpPr txBox="1">
            <a:spLocks noRot="1" noChangeArrowheads="1"/>
          </p:cNvSpPr>
          <p:nvPr/>
        </p:nvSpPr>
        <p:spPr bwMode="auto">
          <a:xfrm>
            <a:off x="609600" y="1600200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If we now let the point 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vary,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and 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become functions of two variables:</a:t>
            </a:r>
            <a:endParaRPr lang="en-US" sz="3200" i="1" baseline="-25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6918" y="3192464"/>
            <a:ext cx="11578167" cy="2751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u="sng" smtClean="0">
                <a:latin typeface="Times New Roman" pitchFamily="18" charset="0"/>
                <a:cs typeface="Times New Roman" pitchFamily="18" charset="0"/>
              </a:rPr>
              <a:t>Finding Partial Derivatives</a:t>
            </a:r>
          </a:p>
        </p:txBody>
      </p:sp>
      <p:sp>
        <p:nvSpPr>
          <p:cNvPr id="21507" name="Rectangle 3"/>
          <p:cNvSpPr txBox="1">
            <a:spLocks noRot="1" noChangeArrowheads="1"/>
          </p:cNvSpPr>
          <p:nvPr/>
        </p:nvSpPr>
        <p:spPr bwMode="auto">
          <a:xfrm>
            <a:off x="609600" y="1600200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partial derivative with respect to 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is just the </a:t>
            </a:r>
            <a:r>
              <a:rPr lang="en-US" sz="2400" u="sng">
                <a:latin typeface="Times New Roman" pitchFamily="18" charset="0"/>
                <a:cs typeface="Times New Roman" pitchFamily="18" charset="0"/>
              </a:rPr>
              <a:t>ordinary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derivative of the function 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of a </a:t>
            </a:r>
            <a:r>
              <a:rPr lang="en-US" sz="2400" u="sng">
                <a:latin typeface="Times New Roman" pitchFamily="18" charset="0"/>
                <a:cs typeface="Times New Roman" pitchFamily="18" charset="0"/>
              </a:rPr>
              <a:t>single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variable that we get by keeping 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fixed: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6918" y="4267200"/>
            <a:ext cx="11578167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3200" b="1" u="sng" smtClean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22531" name="Rectangle 3"/>
          <p:cNvSpPr txBox="1">
            <a:spLocks noRot="1" noChangeArrowheads="1"/>
          </p:cNvSpPr>
          <p:nvPr/>
        </p:nvSpPr>
        <p:spPr bwMode="auto">
          <a:xfrm>
            <a:off x="609600" y="1600200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– 2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find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(2, 1) and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(2, 1).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 u="sng"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Holding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constant and differentiating with respect to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we get</a:t>
            </a:r>
          </a:p>
          <a:p>
            <a:pPr marL="342900" indent="-3429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 = 3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+ 2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	and so</a:t>
            </a:r>
          </a:p>
          <a:p>
            <a:pPr marL="342900" indent="-342900"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(2, 1) = 3 · 2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+ 2 · 2 · 1</a:t>
            </a:r>
            <a:r>
              <a:rPr lang="en-US" sz="28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= 16</a:t>
            </a:r>
            <a:endParaRPr lang="en-US" sz="2800" baseline="30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u="sng" smtClean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028" name="Rectangle 3"/>
          <p:cNvSpPr txBox="1">
            <a:spLocks noRot="1" noChangeArrowheads="1"/>
          </p:cNvSpPr>
          <p:nvPr/>
        </p:nvSpPr>
        <p:spPr bwMode="auto">
          <a:xfrm>
            <a:off x="609600" y="1600200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If</a:t>
            </a:r>
          </a:p>
          <a:p>
            <a:pPr marL="342900" indent="-342900" eaLnBrk="1" hangingPunct="1">
              <a:spcBef>
                <a:spcPct val="75000"/>
              </a:spcBef>
              <a:buFont typeface="Arial" charset="0"/>
              <a:buChar char="•"/>
            </a:pPr>
            <a:endParaRPr lang="en-US" sz="2800" u="sng">
              <a:latin typeface="Times New Roman" pitchFamily="18" charset="0"/>
              <a:cs typeface="Times New Roman" pitchFamily="18" charset="0"/>
            </a:endParaRPr>
          </a:p>
          <a:p>
            <a:pPr marL="342900" indent="-342900" eaLnBrk="1" hangingPunct="1">
              <a:spcBef>
                <a:spcPct val="75000"/>
              </a:spcBef>
              <a:buFont typeface="Arial" charset="0"/>
              <a:buChar char="•"/>
            </a:pPr>
            <a:r>
              <a:rPr lang="en-US" sz="2800" u="sng"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Using the Chain Rule for functions of one variable, we have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697568" y="1371601"/>
          <a:ext cx="805603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79" name="Equation" r:id="rId3" imgW="6554520" imgH="1067400" progId="Equation.3">
                  <p:embed/>
                </p:oleObj>
              </mc:Choice>
              <mc:Fallback>
                <p:oleObj name="Equation" r:id="rId3" imgW="6554520" imgH="1067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568" y="1371601"/>
                        <a:ext cx="8056033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1717" y="4089400"/>
            <a:ext cx="10767483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u="sng" smtClean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24579" name="Rectangle 3"/>
          <p:cNvSpPr txBox="1">
            <a:spLocks noRot="1" noChangeArrowheads="1"/>
          </p:cNvSpPr>
          <p:nvPr/>
        </p:nvSpPr>
        <p:spPr bwMode="auto">
          <a:xfrm>
            <a:off x="609600" y="1295401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Find 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/∂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and 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/∂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is defined implicitly as a function of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by</a:t>
            </a:r>
          </a:p>
          <a:p>
            <a:pPr marL="342900" indent="-3429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+ 6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xyz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= 1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 u="sng"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To find 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/∂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we differentiate implicitly with respect to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being careful to treat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as a constant:</a:t>
            </a: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1" y="5105400"/>
            <a:ext cx="8532284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u="sng" smtClean="0">
                <a:latin typeface="Times New Roman" pitchFamily="18" charset="0"/>
                <a:cs typeface="Times New Roman" pitchFamily="18" charset="0"/>
              </a:rPr>
              <a:t>Solution (cont’d)</a:t>
            </a:r>
          </a:p>
        </p:txBody>
      </p:sp>
      <p:sp>
        <p:nvSpPr>
          <p:cNvPr id="25603" name="Rectangle 3"/>
          <p:cNvSpPr txBox="1">
            <a:spLocks noRot="1" noChangeArrowheads="1"/>
          </p:cNvSpPr>
          <p:nvPr/>
        </p:nvSpPr>
        <p:spPr bwMode="auto">
          <a:xfrm>
            <a:off x="609600" y="1368426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Solving this equation for 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/∂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we obtain</a:t>
            </a:r>
          </a:p>
          <a:p>
            <a:pPr marL="342900" indent="-342900" eaLnBrk="1" hangingPunct="1">
              <a:spcBef>
                <a:spcPct val="30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Similarly, implicit differentiation with respect to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gives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1" y="2133600"/>
            <a:ext cx="4874684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1" y="4781550"/>
            <a:ext cx="4874684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u="sng" smtClean="0">
                <a:latin typeface="Times New Roman" pitchFamily="18" charset="0"/>
                <a:cs typeface="Times New Roman" pitchFamily="18" charset="0"/>
              </a:rPr>
              <a:t>More Than Two Variables</a:t>
            </a:r>
          </a:p>
        </p:txBody>
      </p:sp>
      <p:sp>
        <p:nvSpPr>
          <p:cNvPr id="26627" name="Rectangle 3"/>
          <p:cNvSpPr txBox="1">
            <a:spLocks noRot="1" noChangeArrowheads="1"/>
          </p:cNvSpPr>
          <p:nvPr/>
        </p:nvSpPr>
        <p:spPr bwMode="auto">
          <a:xfrm>
            <a:off x="609600" y="1295400"/>
            <a:ext cx="10972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Partial derivatives can also be defined for functions of three or more variables, for example</a:t>
            </a:r>
          </a:p>
          <a:p>
            <a:pPr marL="342900" indent="-342900" eaLnBrk="1" hangingPunct="1">
              <a:spcBef>
                <a:spcPct val="35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), then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= 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/∂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is the rate of change of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with respect to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when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are held fixed.</a:t>
            </a:r>
            <a:endParaRPr lang="en-US" sz="3200" i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1" y="3130550"/>
            <a:ext cx="9345084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 txBox="1">
            <a:spLocks noRot="1" noChangeArrowheads="1"/>
          </p:cNvSpPr>
          <p:nvPr/>
        </p:nvSpPr>
        <p:spPr bwMode="auto">
          <a:xfrm>
            <a:off x="609600" y="1219201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But we can’t interpret 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geometrically because the graph of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lies in four-dimensional space.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general, if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,…,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), then</a:t>
            </a:r>
          </a:p>
          <a:p>
            <a:pPr marL="342900" indent="-342900" eaLnBrk="1" hangingPunct="1">
              <a:spcBef>
                <a:spcPct val="225000"/>
              </a:spcBef>
              <a:buFont typeface="Wingdings" pitchFamily="2" charset="2"/>
              <a:buNone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	and we also write</a:t>
            </a:r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917" y="3505200"/>
            <a:ext cx="10767483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1600" y="5257800"/>
            <a:ext cx="6299200" cy="107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u="sng" smtClean="0">
                <a:latin typeface="Times New Roman" pitchFamily="18" charset="0"/>
                <a:cs typeface="Times New Roman" pitchFamily="18" charset="0"/>
              </a:rPr>
              <a:t>More Than Two Variables (cont’d)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u="sng" smtClean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28675" name="Rectangle 3"/>
          <p:cNvSpPr txBox="1">
            <a:spLocks noRot="1" noChangeArrowheads="1"/>
          </p:cNvSpPr>
          <p:nvPr/>
        </p:nvSpPr>
        <p:spPr bwMode="auto">
          <a:xfrm>
            <a:off x="609600" y="1600200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i="1" baseline="3000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ln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 u="sng"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Holding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constant and differentiating with respect to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we have</a:t>
            </a:r>
          </a:p>
          <a:p>
            <a:pPr marL="342900" indent="-3429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ye</a:t>
            </a:r>
            <a:r>
              <a:rPr lang="en-US" sz="3200" i="1" baseline="3000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ln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Similarly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342900" indent="-3429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xe</a:t>
            </a:r>
            <a:r>
              <a:rPr lang="en-US" sz="3200" i="1" baseline="3000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ln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    and     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i="1" baseline="3000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Higher Derivatives</a:t>
            </a:r>
          </a:p>
        </p:txBody>
      </p:sp>
      <p:sp>
        <p:nvSpPr>
          <p:cNvPr id="29699" name="Rectangle 3"/>
          <p:cNvSpPr txBox="1">
            <a:spLocks noRot="1" noChangeArrowheads="1"/>
          </p:cNvSpPr>
          <p:nvPr/>
        </p:nvSpPr>
        <p:spPr bwMode="auto">
          <a:xfrm>
            <a:off x="609600" y="1600200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is a function of two variables, then its partial derivatives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are also functions of two variables, so we can consider their partial derivatives</a:t>
            </a:r>
          </a:p>
          <a:p>
            <a:pPr marL="342900" indent="-3429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and 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342900" indent="-342900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	which are called the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second partial derivatives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i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Higher Derivatives (cont’d)</a:t>
            </a:r>
          </a:p>
        </p:txBody>
      </p:sp>
      <p:sp>
        <p:nvSpPr>
          <p:cNvPr id="30723" name="Rectangle 3"/>
          <p:cNvSpPr txBox="1">
            <a:spLocks noRot="1" noChangeArrowheads="1"/>
          </p:cNvSpPr>
          <p:nvPr/>
        </p:nvSpPr>
        <p:spPr bwMode="auto">
          <a:xfrm>
            <a:off x="609600" y="1143001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), we use the following notation: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1" y="2057400"/>
            <a:ext cx="8532284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1747" name="Rectangle 3"/>
          <p:cNvSpPr txBox="1">
            <a:spLocks noRot="1" noChangeArrowheads="1"/>
          </p:cNvSpPr>
          <p:nvPr/>
        </p:nvSpPr>
        <p:spPr bwMode="auto">
          <a:xfrm>
            <a:off x="609600" y="1219201"/>
            <a:ext cx="10972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Find the second partial derivatives of</a:t>
            </a:r>
          </a:p>
          <a:p>
            <a:pPr marL="342900" indent="-3429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– 2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 u="sng"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Earlier we found that</a:t>
            </a:r>
          </a:p>
          <a:p>
            <a:pPr marL="342900" indent="-3429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= 3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+ 2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3    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= 3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– 4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marL="342900" indent="-342900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Therefore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6918" y="4787900"/>
            <a:ext cx="11578167" cy="1689100"/>
            <a:chOff x="145" y="3016"/>
            <a:chExt cx="5470" cy="1064"/>
          </a:xfrm>
        </p:grpSpPr>
        <p:pic>
          <p:nvPicPr>
            <p:cNvPr id="31749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5" y="3016"/>
              <a:ext cx="5470" cy="1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0" name="Rectangle 5"/>
            <p:cNvSpPr>
              <a:spLocks noChangeArrowheads="1"/>
            </p:cNvSpPr>
            <p:nvPr/>
          </p:nvSpPr>
          <p:spPr bwMode="auto">
            <a:xfrm>
              <a:off x="5514" y="3978"/>
              <a:ext cx="96" cy="9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320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10363200" cy="914400"/>
          </a:xfrm>
        </p:spPr>
        <p:txBody>
          <a:bodyPr/>
          <a:lstStyle/>
          <a:p>
            <a:r>
              <a:rPr lang="en-US" sz="3600" b="1" u="sng" smtClean="0">
                <a:latin typeface="Times New Roman" pitchFamily="18" charset="0"/>
                <a:cs typeface="Times New Roman" pitchFamily="18" charset="0"/>
              </a:rPr>
              <a:t>Homogeneous Function</a:t>
            </a:r>
          </a:p>
        </p:txBody>
      </p:sp>
      <p:sp>
        <p:nvSpPr>
          <p:cNvPr id="32771" name="Rectangle 3"/>
          <p:cNvSpPr txBox="1">
            <a:spLocks noChangeArrowheads="1"/>
          </p:cNvSpPr>
          <p:nvPr/>
        </p:nvSpPr>
        <p:spPr bwMode="auto">
          <a:xfrm>
            <a:off x="914400" y="1447800"/>
            <a:ext cx="10566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A function 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,…</a:t>
            </a:r>
            <a:r>
              <a:rPr lang="en-US" sz="32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3200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is said to be </a:t>
            </a:r>
            <a:r>
              <a:rPr lang="en-US" sz="3200" u="sng">
                <a:latin typeface="Times New Roman" pitchFamily="18" charset="0"/>
                <a:cs typeface="Times New Roman" pitchFamily="18" charset="0"/>
              </a:rPr>
              <a:t>homogeneous of degree </a:t>
            </a:r>
            <a:r>
              <a:rPr lang="en-US" sz="3200" i="1" u="sng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if</a:t>
            </a:r>
          </a:p>
          <a:p>
            <a:pPr marL="342900" indent="-342900" algn="ctr">
              <a:lnSpc>
                <a:spcPct val="120000"/>
              </a:lnSpc>
              <a:spcBef>
                <a:spcPct val="20000"/>
              </a:spcBef>
            </a:pP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tx</a:t>
            </a:r>
            <a:r>
              <a:rPr lang="en-US" sz="2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tx</a:t>
            </a:r>
            <a:r>
              <a:rPr lang="en-US" sz="2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,…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tx</a:t>
            </a:r>
            <a:r>
              <a:rPr lang="en-US" sz="2800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i="1" baseline="3000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,…</a:t>
            </a:r>
            <a:r>
              <a:rPr lang="en-US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when a function is homogeneous of degree one, a doubling of all of its arguments doubles the value of the function itself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when a function is homogeneous of degree zero, a doubling of all of its arguments leaves the value of the function unchanged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61" y="585390"/>
            <a:ext cx="9869277" cy="56872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390786-F88B-40EB-B365-500B2C1170F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39" y="502526"/>
            <a:ext cx="10381917" cy="531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57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05" y="217256"/>
            <a:ext cx="8729056" cy="632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52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84" y="615152"/>
            <a:ext cx="9789754" cy="460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71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15" y="716333"/>
            <a:ext cx="10944150" cy="483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294837"/>
            <a:ext cx="949775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21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50" y="1438279"/>
            <a:ext cx="10802858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58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00" y="437289"/>
            <a:ext cx="9026503" cy="610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99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1009312"/>
            <a:ext cx="10707594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08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18" y="673301"/>
            <a:ext cx="10047061" cy="446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85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42" y="353683"/>
            <a:ext cx="9293647" cy="636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9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294837"/>
            <a:ext cx="9440592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86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3C4F2-926F-4D17-96C2-BA073F2790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404390"/>
            <a:ext cx="8840434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87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0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323833"/>
            <a:ext cx="10515600" cy="4917310"/>
          </a:xfrm>
        </p:spPr>
        <p:txBody>
          <a:bodyPr>
            <a:normAutofit fontScale="25000" lnSpcReduction="20000"/>
          </a:bodyPr>
          <a:lstStyle/>
          <a:p>
            <a:endParaRPr lang="en-US" b="1" dirty="0" smtClean="0"/>
          </a:p>
          <a:p>
            <a:pPr>
              <a:buNone/>
            </a:pPr>
            <a:r>
              <a:rPr lang="en-US" sz="5600" b="1" dirty="0" smtClean="0"/>
              <a:t>TEXTBOOKS: </a:t>
            </a:r>
          </a:p>
          <a:p>
            <a:r>
              <a:rPr lang="en-US" sz="5600" dirty="0" smtClean="0"/>
              <a:t>1.     E. </a:t>
            </a:r>
            <a:r>
              <a:rPr lang="en-US" sz="5600" dirty="0" err="1" smtClean="0"/>
              <a:t>Kreyszig</a:t>
            </a:r>
            <a:r>
              <a:rPr lang="en-US" sz="5600" dirty="0" smtClean="0"/>
              <a:t>, Advanced Engineering Mathematics, John Wiley,10th Ed.2011., New Delhi</a:t>
            </a:r>
          </a:p>
          <a:p>
            <a:r>
              <a:rPr lang="en-US" sz="5600" dirty="0" smtClean="0"/>
              <a:t>2.     H.K. </a:t>
            </a:r>
            <a:r>
              <a:rPr lang="en-US" sz="5600" dirty="0" err="1" smtClean="0"/>
              <a:t>Dass</a:t>
            </a:r>
            <a:r>
              <a:rPr lang="en-US" sz="5600" dirty="0" smtClean="0"/>
              <a:t>, Higher Engineering Mathematics, S </a:t>
            </a:r>
            <a:r>
              <a:rPr lang="en-US" sz="5600" dirty="0" err="1" smtClean="0"/>
              <a:t>Chand</a:t>
            </a:r>
            <a:r>
              <a:rPr lang="en-US" sz="5600" dirty="0" smtClean="0"/>
              <a:t> Publishers, 3rd revised edition, 2014.</a:t>
            </a:r>
          </a:p>
          <a:p>
            <a:r>
              <a:rPr lang="en-US" sz="5600" dirty="0" smtClean="0"/>
              <a:t>3.     R.K. Jain, and S.R.K. </a:t>
            </a:r>
            <a:r>
              <a:rPr lang="en-US" sz="5600" dirty="0" err="1" smtClean="0"/>
              <a:t>Iyengar</a:t>
            </a:r>
            <a:r>
              <a:rPr lang="en-US" sz="5600" dirty="0" smtClean="0"/>
              <a:t>, Advanced Engineering Mathematics, 3rd Edition, </a:t>
            </a:r>
            <a:r>
              <a:rPr lang="en-US" sz="5600" dirty="0" err="1" smtClean="0"/>
              <a:t>Narosa</a:t>
            </a:r>
            <a:r>
              <a:rPr lang="en-US" sz="5600" dirty="0" smtClean="0"/>
              <a:t> Publishing House, 2004, New Delhi.</a:t>
            </a:r>
          </a:p>
          <a:p>
            <a:pPr>
              <a:buNone/>
            </a:pPr>
            <a:endParaRPr lang="en-US" sz="5600" dirty="0" smtClean="0"/>
          </a:p>
          <a:p>
            <a:pPr>
              <a:buNone/>
            </a:pPr>
            <a:r>
              <a:rPr lang="en-US" sz="5600" b="1" dirty="0" smtClean="0"/>
              <a:t>Reference Material:</a:t>
            </a:r>
          </a:p>
          <a:p>
            <a:r>
              <a:rPr lang="en-US" sz="5600" dirty="0" smtClean="0"/>
              <a:t>1. B.V. </a:t>
            </a:r>
            <a:r>
              <a:rPr lang="en-US" sz="5600" dirty="0" err="1" smtClean="0"/>
              <a:t>Ramana</a:t>
            </a:r>
            <a:r>
              <a:rPr lang="en-US" sz="5600" dirty="0" smtClean="0"/>
              <a:t> Advanced Engineering Mathematics, McGraw Hill</a:t>
            </a:r>
            <a:r>
              <a:rPr lang="en-US" sz="5600" b="1" dirty="0" smtClean="0"/>
              <a:t>, </a:t>
            </a:r>
            <a:r>
              <a:rPr lang="en-US" sz="5600" dirty="0" smtClean="0"/>
              <a:t>July 2006, New Delhi.</a:t>
            </a:r>
          </a:p>
          <a:p>
            <a:r>
              <a:rPr lang="en-US" sz="5600" dirty="0" smtClean="0"/>
              <a:t>2. B. Thomas and, R.L., Finney, Calculus and Analytic Geometry, Pearson Education, 11thEdition.</a:t>
            </a:r>
          </a:p>
          <a:p>
            <a:r>
              <a:rPr lang="en-US" sz="5600" dirty="0" smtClean="0"/>
              <a:t>3. N.P. Bali and Manish </a:t>
            </a:r>
            <a:r>
              <a:rPr lang="en-US" sz="5600" dirty="0" err="1" smtClean="0"/>
              <a:t>Goyal</a:t>
            </a:r>
            <a:r>
              <a:rPr lang="en-US" sz="5600" dirty="0" smtClean="0"/>
              <a:t>, </a:t>
            </a:r>
            <a:r>
              <a:rPr lang="en-US" sz="5600" dirty="0" err="1" smtClean="0"/>
              <a:t>Atextbook</a:t>
            </a:r>
            <a:r>
              <a:rPr lang="en-US" sz="5600" dirty="0" smtClean="0"/>
              <a:t> of Engineering Mathematics, </a:t>
            </a:r>
            <a:r>
              <a:rPr lang="en-US" sz="5600" dirty="0" err="1" smtClean="0"/>
              <a:t>Laxmi</a:t>
            </a:r>
            <a:r>
              <a:rPr lang="en-US" sz="5600" dirty="0" smtClean="0"/>
              <a:t> Publications, Reprint, 2008</a:t>
            </a:r>
          </a:p>
          <a:p>
            <a:pPr>
              <a:buNone/>
            </a:pPr>
            <a:endParaRPr lang="en-US" sz="5600" dirty="0" smtClean="0"/>
          </a:p>
          <a:p>
            <a:pPr>
              <a:buNone/>
            </a:pPr>
            <a:r>
              <a:rPr lang="en-US" sz="5600" b="1" dirty="0" smtClean="0"/>
              <a:t>Suggestive Readings :</a:t>
            </a:r>
          </a:p>
          <a:p>
            <a:r>
              <a:rPr lang="en-US" sz="5600" u="sng" dirty="0" smtClean="0">
                <a:hlinkClick r:id="rId2"/>
              </a:rPr>
              <a:t>A Textbook Of Engineering Mathematics (PTU, </a:t>
            </a:r>
            <a:r>
              <a:rPr lang="en-US" sz="5600" u="sng" dirty="0" err="1" smtClean="0">
                <a:hlinkClick r:id="rId2"/>
              </a:rPr>
              <a:t>Jalandhar</a:t>
            </a:r>
            <a:r>
              <a:rPr lang="en-US" sz="5600" u="sng" dirty="0" smtClean="0">
                <a:hlinkClick r:id="rId2"/>
              </a:rPr>
              <a:t>) </a:t>
            </a:r>
            <a:r>
              <a:rPr lang="en-US" sz="5600" u="sng" dirty="0" err="1" smtClean="0">
                <a:hlinkClick r:id="rId2"/>
              </a:rPr>
              <a:t>Sem</a:t>
            </a:r>
            <a:r>
              <a:rPr lang="en-US" sz="5600" u="sng" dirty="0" smtClean="0">
                <a:hlinkClick r:id="rId2"/>
              </a:rPr>
              <a:t>-II by </a:t>
            </a:r>
            <a:r>
              <a:rPr lang="en-US" sz="5600" u="sng" dirty="0" err="1" smtClean="0">
                <a:hlinkClick r:id="rId2"/>
              </a:rPr>
              <a:t>Usha</a:t>
            </a:r>
            <a:r>
              <a:rPr lang="en-US" sz="5600" u="sng" dirty="0" smtClean="0">
                <a:hlinkClick r:id="rId2"/>
              </a:rPr>
              <a:t> Paul N. P. Bali (z-lib.org).</a:t>
            </a:r>
            <a:r>
              <a:rPr lang="en-US" sz="5600" u="sng" dirty="0" err="1" smtClean="0">
                <a:hlinkClick r:id="rId2"/>
              </a:rPr>
              <a:t>pdf</a:t>
            </a:r>
            <a:endParaRPr lang="en-US" sz="5600" dirty="0" smtClean="0"/>
          </a:p>
          <a:p>
            <a:r>
              <a:rPr lang="en-US" sz="5600" u="sng" dirty="0" smtClean="0">
                <a:hlinkClick r:id="rId3"/>
              </a:rPr>
              <a:t>E. </a:t>
            </a:r>
            <a:r>
              <a:rPr lang="en-US" sz="5600" u="sng" dirty="0" err="1" smtClean="0">
                <a:hlinkClick r:id="rId3"/>
              </a:rPr>
              <a:t>Kreyszig</a:t>
            </a:r>
            <a:r>
              <a:rPr lang="en-US" sz="5600" u="sng" dirty="0" smtClean="0">
                <a:hlinkClick r:id="rId3"/>
              </a:rPr>
              <a:t>, Advanced Engineering Mathematics, John Wiley,10th Ed.2011., New Delhi - Bing</a:t>
            </a:r>
            <a:endParaRPr lang="en-US" sz="5600" dirty="0" smtClean="0"/>
          </a:p>
          <a:p>
            <a:r>
              <a:rPr lang="en-US" sz="5600" u="sng" dirty="0" smtClean="0">
                <a:hlinkClick r:id="rId4"/>
              </a:rPr>
              <a:t>R.K. Jain, and S.R.K. </a:t>
            </a:r>
            <a:r>
              <a:rPr lang="en-US" sz="5600" u="sng" dirty="0" err="1" smtClean="0">
                <a:hlinkClick r:id="rId4"/>
              </a:rPr>
              <a:t>Iyengar</a:t>
            </a:r>
            <a:r>
              <a:rPr lang="en-US" sz="5600" u="sng" dirty="0" smtClean="0">
                <a:hlinkClick r:id="rId4"/>
              </a:rPr>
              <a:t>, Advanced Engineering Mathematics, 3rd Edition, </a:t>
            </a:r>
            <a:r>
              <a:rPr lang="en-US" sz="5600" u="sng" dirty="0" err="1" smtClean="0">
                <a:hlinkClick r:id="rId4"/>
              </a:rPr>
              <a:t>Narosa</a:t>
            </a:r>
            <a:r>
              <a:rPr lang="en-US" sz="5600" u="sng" dirty="0" smtClean="0">
                <a:hlinkClick r:id="rId4"/>
              </a:rPr>
              <a:t> Publishing House, 2004, New Delhi - Bing</a:t>
            </a:r>
            <a:endParaRPr lang="en-US" sz="5600" dirty="0" smtClean="0"/>
          </a:p>
          <a:p>
            <a:r>
              <a:rPr lang="en-US" sz="5600" u="sng" dirty="0" smtClean="0">
                <a:hlinkClick r:id="rId5"/>
              </a:rPr>
              <a:t>B.V. </a:t>
            </a:r>
            <a:r>
              <a:rPr lang="en-US" sz="5600" u="sng" dirty="0" err="1" smtClean="0">
                <a:hlinkClick r:id="rId5"/>
              </a:rPr>
              <a:t>Ramana</a:t>
            </a:r>
            <a:r>
              <a:rPr lang="en-US" sz="5600" u="sng" dirty="0" smtClean="0">
                <a:hlinkClick r:id="rId5"/>
              </a:rPr>
              <a:t> Advanced Engineering Mathematics, McGraw Hill, July 2006, New Delhi. - Bing</a:t>
            </a:r>
            <a:endParaRPr lang="en-US" sz="5600" dirty="0" smtClean="0"/>
          </a:p>
          <a:p>
            <a:r>
              <a:rPr lang="en-US" sz="5600" u="sng" dirty="0" smtClean="0"/>
              <a:t>A Textbook Of Engineering Mathematics (PTU, </a:t>
            </a:r>
            <a:r>
              <a:rPr lang="en-US" sz="5600" u="sng" dirty="0" err="1" smtClean="0"/>
              <a:t>Jalandhar</a:t>
            </a:r>
            <a:r>
              <a:rPr lang="en-US" sz="5600" u="sng" dirty="0" smtClean="0"/>
              <a:t>) </a:t>
            </a:r>
            <a:r>
              <a:rPr lang="en-US" sz="5600" u="sng" dirty="0" err="1" smtClean="0"/>
              <a:t>Sem</a:t>
            </a:r>
            <a:r>
              <a:rPr lang="en-US" sz="5600" u="sng" dirty="0" smtClean="0"/>
              <a:t>-II by </a:t>
            </a:r>
            <a:r>
              <a:rPr lang="en-US" sz="5600" u="sng" dirty="0" err="1" smtClean="0"/>
              <a:t>Usha</a:t>
            </a:r>
            <a:r>
              <a:rPr lang="en-US" sz="5600" u="sng" dirty="0" smtClean="0"/>
              <a:t> Paul N. P. Bali (z-lib.org).</a:t>
            </a:r>
            <a:r>
              <a:rPr lang="en-US" sz="5600" u="sng" dirty="0" err="1" smtClean="0"/>
              <a:t>pdf</a:t>
            </a:r>
            <a:endParaRPr lang="en-US" sz="5600" dirty="0" smtClean="0"/>
          </a:p>
          <a:p>
            <a:r>
              <a:rPr lang="en-US" sz="5600" u="sng" dirty="0" smtClean="0">
                <a:hlinkClick r:id="rId6"/>
              </a:rPr>
              <a:t>B. Thomas and, R.L., Finney, Calculus and Analytic Geometry, Pearson Education, 11th Edition - Bing</a:t>
            </a:r>
            <a:endParaRPr lang="en-US" sz="5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xmlns="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xmlns="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xmlns="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43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919</TotalTime>
  <Words>761</Words>
  <Application>Microsoft Office PowerPoint</Application>
  <PresentationFormat>Widescreen</PresentationFormat>
  <Paragraphs>120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Arial Unicode MS</vt:lpstr>
      <vt:lpstr>Arial</vt:lpstr>
      <vt:lpstr>Arial Black</vt:lpstr>
      <vt:lpstr>Calibri</vt:lpstr>
      <vt:lpstr>Calibri Light</vt:lpstr>
      <vt:lpstr>Casper</vt:lpstr>
      <vt:lpstr>Karla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Equation</vt:lpstr>
      <vt:lpstr>PowerPoint Presentation</vt:lpstr>
      <vt:lpstr>COURSE OUTCOMES</vt:lpstr>
      <vt:lpstr>   Introduction </vt:lpstr>
      <vt:lpstr>Definition</vt:lpstr>
      <vt:lpstr>Finding Partial Derivatives</vt:lpstr>
      <vt:lpstr>Example</vt:lpstr>
      <vt:lpstr>Example</vt:lpstr>
      <vt:lpstr>Example</vt:lpstr>
      <vt:lpstr>Solution (cont’d)</vt:lpstr>
      <vt:lpstr>More Than Two Variables</vt:lpstr>
      <vt:lpstr>More Than Two Variables (cont’d)</vt:lpstr>
      <vt:lpstr>Example</vt:lpstr>
      <vt:lpstr>Higher Derivatives</vt:lpstr>
      <vt:lpstr>Higher Derivatives (cont’d)</vt:lpstr>
      <vt:lpstr>Example</vt:lpstr>
      <vt:lpstr>Homogeneous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Rabdeep</cp:lastModifiedBy>
  <cp:revision>136</cp:revision>
  <dcterms:created xsi:type="dcterms:W3CDTF">2019-01-09T10:33:58Z</dcterms:created>
  <dcterms:modified xsi:type="dcterms:W3CDTF">2024-01-07T08:43:18Z</dcterms:modified>
</cp:coreProperties>
</file>