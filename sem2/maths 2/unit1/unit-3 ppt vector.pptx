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4"/>
  </p:notesMasterIdLst>
  <p:handoutMasterIdLst>
    <p:handoutMasterId r:id="rId35"/>
  </p:handoutMasterIdLst>
  <p:sldIdLst>
    <p:sldId id="506" r:id="rId3"/>
    <p:sldId id="458" r:id="rId4"/>
    <p:sldId id="459" r:id="rId5"/>
    <p:sldId id="492" r:id="rId6"/>
    <p:sldId id="493" r:id="rId7"/>
    <p:sldId id="494" r:id="rId8"/>
    <p:sldId id="495" r:id="rId9"/>
    <p:sldId id="496" r:id="rId10"/>
    <p:sldId id="497" r:id="rId11"/>
    <p:sldId id="487" r:id="rId12"/>
    <p:sldId id="488" r:id="rId13"/>
    <p:sldId id="489" r:id="rId14"/>
    <p:sldId id="490" r:id="rId15"/>
    <p:sldId id="491" r:id="rId16"/>
    <p:sldId id="467" r:id="rId17"/>
    <p:sldId id="468" r:id="rId18"/>
    <p:sldId id="470" r:id="rId19"/>
    <p:sldId id="473" r:id="rId20"/>
    <p:sldId id="475" r:id="rId21"/>
    <p:sldId id="476" r:id="rId22"/>
    <p:sldId id="480" r:id="rId23"/>
    <p:sldId id="498" r:id="rId24"/>
    <p:sldId id="499" r:id="rId25"/>
    <p:sldId id="500" r:id="rId26"/>
    <p:sldId id="501" r:id="rId27"/>
    <p:sldId id="502" r:id="rId28"/>
    <p:sldId id="503" r:id="rId29"/>
    <p:sldId id="504" r:id="rId30"/>
    <p:sldId id="505" r:id="rId31"/>
    <p:sldId id="456" r:id="rId32"/>
    <p:sldId id="455" r:id="rId3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C043CD2-AAF6-43FE-BD3F-12EAEFDA5070}" type="datetimeFigureOut">
              <a:rPr lang="en-US"/>
              <a:pPr>
                <a:defRPr/>
              </a:pPr>
              <a:t>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DCD64EE-3879-4ED8-93DE-CEE8D6C7CE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70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5510AF1-A445-4F2C-A95A-D649080A5736}" type="datetimeFigureOut">
              <a:rPr lang="en-US"/>
              <a:pPr>
                <a:defRPr/>
              </a:pPr>
              <a:t>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7BF87F5-5A0D-4CF6-B65E-0E0E3A951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16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D1367-4762-45B3-9007-EA9B3A379DB9}" type="slidenum">
              <a:rPr lang="en-US"/>
              <a:pPr/>
              <a:t>3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0915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745F5-4E65-4EC9-A0C7-0C904A5B9FD9}" type="slidenum">
              <a:rPr lang="en-US"/>
              <a:pPr/>
              <a:t>10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18950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B9DA44-D8A0-44EA-9DAF-106B5929B000}" type="slidenum">
              <a:rPr lang="en-US"/>
              <a:pPr/>
              <a:t>11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26643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4DCBFB-06E6-4288-8A07-E03354C5616C}" type="slidenum">
              <a:rPr lang="en-US"/>
              <a:pPr/>
              <a:t>12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31590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E426B2-F23B-416A-88E3-F617959C6050}" type="slidenum">
              <a:rPr lang="en-US"/>
              <a:pPr/>
              <a:t>13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5905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4397FB-2D9A-4A4D-AF54-A3748ECB534F}" type="slidenum">
              <a:rPr lang="en-US"/>
              <a:pPr/>
              <a:t>14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78891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C64C10-36ED-4D10-862D-6BF9ACA40FA5}" type="slidenum">
              <a:rPr lang="en-US"/>
              <a:pPr/>
              <a:t>15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02482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00A3B7-9A81-4381-BD37-F14119F5A4A4}" type="slidenum">
              <a:rPr lang="en-US"/>
              <a:pPr/>
              <a:t>16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06133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535A2B-FD30-4E0A-B112-689267C6D3A0}" type="slidenum">
              <a:rPr lang="en-US"/>
              <a:pPr/>
              <a:t>17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33733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A69110-4EFC-4B24-80D1-48045E3592BE}" type="slidenum">
              <a:rPr lang="en-US"/>
              <a:pPr/>
              <a:t>18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00169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21FFC-A10B-4455-9A49-69D05E91B098}" type="slidenum">
              <a:rPr lang="en-US"/>
              <a:pPr/>
              <a:t>19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63092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A42523-0F02-4A40-93C6-3E35287BDC95}" type="slidenum">
              <a:rPr lang="en-US"/>
              <a:pPr/>
              <a:t>20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8545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6D88B-2E39-4646-9342-2EE20B6DDD6B}" type="slidenum">
              <a:rPr lang="en-US"/>
              <a:pPr/>
              <a:t>21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9989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31FB1-C9E8-433C-81B3-DE7517E40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90786-F88B-40EB-B365-500B2C117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28724-C6A8-462C-934B-CC8E963FFA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27A5E-1F5B-4A03-BAD0-B2F7C76ABA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A46DD-1D0F-40CE-BD24-B8FA6ADC4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0482F-66CA-485A-A82B-7654DA6C60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3C4F2-926F-4D17-96C2-BA073F2790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CC5DC-1E38-49B8-838D-72D5944846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0423B-2930-40CE-9382-425A78325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1DECE-002D-4BB0-9C4B-CB788565B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27E3F-B9CA-4F1E-BE88-B09725D9C2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543175" cy="686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76475"/>
            <a:ext cx="12192000" cy="24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 userDrawn="1"/>
        </p:nvSpPr>
        <p:spPr>
          <a:xfrm rot="10800000">
            <a:off x="1582738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4050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3775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5088" y="4676775"/>
            <a:ext cx="382587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232400" y="2276475"/>
            <a:ext cx="5711825" cy="393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95313" y="4102100"/>
            <a:ext cx="2400300" cy="23034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196388" y="1700213"/>
            <a:ext cx="2400300" cy="2305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546600" y="2276475"/>
            <a:ext cx="7239000" cy="396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D:\Fullppt\005-PNG이미지\모니터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76288" y="1816100"/>
            <a:ext cx="3360737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406900" y="1816100"/>
            <a:ext cx="3360738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37513" y="1816100"/>
            <a:ext cx="3360737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 userDrawn="1"/>
        </p:nvGrpSpPr>
        <p:grpSpPr bwMode="auto">
          <a:xfrm>
            <a:off x="471488" y="1508125"/>
            <a:ext cx="3800475" cy="4865688"/>
            <a:chOff x="354008" y="1131589"/>
            <a:chExt cx="2849840" cy="3649171"/>
          </a:xfrm>
        </p:grpSpPr>
        <p:sp>
          <p:nvSpPr>
            <p:cNvPr id="4" name="Rounded Rectangle 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1379" y="1347087"/>
              <a:ext cx="109518" cy="32407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rot="5400000">
              <a:off x="2593724" y="1238186"/>
              <a:ext cx="501240" cy="50235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F191742-7BB9-48EC-BB87-F6122AD1BE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8" r:id="rId12"/>
    <p:sldLayoutId id="2147483781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64" r:id="rId7"/>
    <p:sldLayoutId id="2147483765" r:id="rId8"/>
    <p:sldLayoutId id="2147483776" r:id="rId9"/>
    <p:sldLayoutId id="2147483766" r:id="rId10"/>
    <p:sldLayoutId id="2147483777" r:id="rId11"/>
    <p:sldLayoutId id="2147483778" r:id="rId12"/>
    <p:sldLayoutId id="2147483767" r:id="rId13"/>
    <p:sldLayoutId id="2147483779" r:id="rId14"/>
  </p:sldLayoutIdLst>
  <p:txStyles>
    <p:titleStyle>
      <a:lvl1pPr algn="ctr" defTabSz="1217613" rtl="0" eaLnBrk="0" fontAlgn="base" latinLnBrk="1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2pPr>
      <a:lvl3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3pPr>
      <a:lvl4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4pPr>
      <a:lvl5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5pPr>
      <a:lvl6pPr marL="4572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6pPr>
      <a:lvl7pPr marL="9144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7pPr>
      <a:lvl8pPr marL="13716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8pPr>
      <a:lvl9pPr marL="18288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455613" indent="-4556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989013" indent="-3794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2pPr>
      <a:lvl3pPr marL="15224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3pPr>
      <a:lvl4pPr marL="21320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4pPr>
      <a:lvl5pPr marL="27416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search?q=1.+E.+Kreyszig,+Advanced+Engineering+Mathematics,+John+Wiley,10th+Ed.2011.,+New+Delhi&amp;cvid=7c2b1beb1c2c432b8b22eb9c5b32a4b9&amp;aqs=edge..69i57.1007j0j1&amp;pglt=43&amp;FORM=ANNTA1&amp;PC=U531" TargetMode="External"/><Relationship Id="rId2" Type="http://schemas.openxmlformats.org/officeDocument/2006/relationships/hyperlink" Target="file:///C:\Users\hp\Downloads\A%20Textbook%20Of%20Engineering%20Mathematics%20(PTU,%20Jalandhar)%20Sem-II%20by%20Usha%20Paul%20N.%20P.%20Bali%20(z-lib.org)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ng.com/search?q=B.+Thomas+and,+R.L.,+Finney,+Calculus+and+Analytic+Geometry,+Pearson+Education,+11th+Edition&amp;qs=n&amp;form=QBRE&amp;sp=-1&amp;pq=2.+b.+thomas+and,+r.l.,+finney,+calculus+and+analytic+geometry,+pearson+education,+11th+edition&amp;sc=0-95&amp;sk=&amp;cvid=9FFD21C9621C4FC8898A420C028C4CAE" TargetMode="External"/><Relationship Id="rId5" Type="http://schemas.openxmlformats.org/officeDocument/2006/relationships/hyperlink" Target="https://www.bing.com/search?q=1.+B.V.+Ramana+Advanced+Engineering+Mathematics,+McGraw+Hill,+July+2006,+New+Delhi.&amp;cvid=7694cbbfc1fb45a6aa286f6bee8b8c1f&amp;aqs=edge..69i57.952j0j1&amp;pglt=43&amp;FORM=ANNTA1&amp;PC=U531" TargetMode="External"/><Relationship Id="rId4" Type="http://schemas.openxmlformats.org/officeDocument/2006/relationships/hyperlink" Target="https://www.bing.com/search?q=R.K.+Jain,+and+S.R.K.+Iyengar,+Advanced+Engineering+Mathematics,+3rd+Edition,+Narosa+Publishing+House,+2004,+New+Delhi&amp;cvid=896b4862849e40c9b79a4940474a4418&amp;aqs=edge..69i57.5086j0j1&amp;pglt=43&amp;FORM=ANNTA1&amp;PC=U53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3980678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xmlns="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34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</a:t>
            </a:r>
            <a:r>
              <a:rPr lang="en-US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39412" y="1825853"/>
            <a:ext cx="8649583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– AU1- AU5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Mathematics-II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23SMT-125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2134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99638" y="827441"/>
            <a:ext cx="7097949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IN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COURSE</a:t>
            </a:r>
            <a:r>
              <a:rPr lang="en-IN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79721"/>
              </p:ext>
            </p:extLst>
          </p:nvPr>
        </p:nvGraphicFramePr>
        <p:xfrm>
          <a:off x="395793" y="1526200"/>
          <a:ext cx="9812732" cy="30514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9386"/>
                <a:gridCol w="6531827"/>
                <a:gridCol w="1801519"/>
              </a:tblGrid>
              <a:tr h="786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CO Number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Title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Level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762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CO1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Remember the concepts based upon partial differentiation, multiple integrals and vector calculus.</a:t>
                      </a:r>
                      <a:endParaRPr lang="en-US" sz="20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Remember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775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CO2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 the concepts of the partial differentiation, multiple integrals and vector calculus.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Understand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6966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concepts of partial differentiation, multiple integrals and vector calculus and to use in practical problems.</a:t>
                      </a:r>
                      <a:endParaRPr lang="en-GB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0933" y="1446665"/>
            <a:ext cx="2305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730855" y="4449170"/>
            <a:ext cx="1091821" cy="45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781732" y="2579427"/>
            <a:ext cx="1160060" cy="2088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Will be covered in this lecture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4269" y="4517409"/>
          <a:ext cx="9812732" cy="17755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9386"/>
                <a:gridCol w="6531827"/>
                <a:gridCol w="1801519"/>
              </a:tblGrid>
              <a:tr h="1058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CO4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Analyze concepts of partial differentiation, multiple integrals and vector calculus and its application of analysis to Engineering problems.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Analyze</a:t>
                      </a:r>
                      <a:r>
                        <a:rPr lang="en-US" sz="2400" b="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b="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17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CO5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the solution for real problems based upon partial differentiation, multiple integrals and vector calculus.</a:t>
                      </a:r>
                      <a:endParaRPr lang="en-GB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VECTOR CALCULUS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817563"/>
            <a:ext cx="11430000" cy="5865812"/>
          </a:xfrm>
        </p:spPr>
        <p:txBody>
          <a:bodyPr/>
          <a:lstStyle/>
          <a:p>
            <a:pPr marL="0" indent="3175" eaLnBrk="1" hangingPunct="1">
              <a:buFontTx/>
              <a:buNone/>
            </a:pPr>
            <a:endParaRPr lang="en-US" sz="4000" dirty="0" smtClean="0"/>
          </a:p>
          <a:p>
            <a:pPr marL="0" indent="3175" eaLnBrk="1" hangingPunct="1">
              <a:buFontTx/>
              <a:buNone/>
            </a:pPr>
            <a:endParaRPr lang="en-US" sz="2400" dirty="0" smtClean="0"/>
          </a:p>
          <a:p>
            <a:pPr marL="0" indent="3175" eaLnBrk="1" hangingPunct="1">
              <a:buFontTx/>
              <a:buNone/>
            </a:pPr>
            <a:r>
              <a:rPr lang="en-US" sz="2400" dirty="0" smtClean="0"/>
              <a:t>Here</a:t>
            </a:r>
            <a:r>
              <a:rPr lang="en-US" sz="2400" dirty="0" smtClean="0"/>
              <a:t>, we define two operations </a:t>
            </a:r>
            <a:r>
              <a:rPr lang="en-US" sz="2400" dirty="0" smtClean="0"/>
              <a:t>that</a:t>
            </a:r>
            <a:r>
              <a:rPr lang="en-US" sz="2400" dirty="0" smtClean="0"/>
              <a:t>:</a:t>
            </a:r>
          </a:p>
          <a:p>
            <a:pPr lvl="1" eaLnBrk="1" hangingPunct="1"/>
            <a:endParaRPr lang="en-US" sz="3000" dirty="0" smtClean="0"/>
          </a:p>
          <a:p>
            <a:pPr lvl="1" eaLnBrk="1" hangingPunct="1"/>
            <a:r>
              <a:rPr lang="en-US" dirty="0" smtClean="0"/>
              <a:t>Can be performed on vector fields.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r>
              <a:rPr lang="en-US" dirty="0" smtClean="0"/>
              <a:t>Play a basic role in the applications of vector calculus to fluid flow, electricity, and </a:t>
            </a:r>
            <a:r>
              <a:rPr lang="en-US" dirty="0" smtClean="0"/>
              <a:t>magnetism.</a:t>
            </a:r>
            <a:endParaRPr lang="en-US" dirty="0"/>
          </a:p>
          <a:p>
            <a:pPr lvl="1" eaLnBrk="1" hangingPunct="1"/>
            <a:endParaRPr lang="en-US" dirty="0" smtClean="0"/>
          </a:p>
          <a:p>
            <a:pPr lvl="1" eaLnBrk="1" hangingPunct="1"/>
            <a:r>
              <a:rPr lang="en-GB" dirty="0"/>
              <a:t>Each operation resembles differentiation.</a:t>
            </a:r>
          </a:p>
          <a:p>
            <a:pPr lvl="1" eaLnBrk="1" hangingPunct="1"/>
            <a:endParaRPr lang="en-GB" dirty="0"/>
          </a:p>
          <a:p>
            <a:pPr lvl="1" eaLnBrk="1" hangingPunct="1"/>
            <a:r>
              <a:rPr lang="en-GB" dirty="0"/>
              <a:t>However, one produces a vector field whereas the other produces a scalar field.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390786-F88B-40EB-B365-500B2C1170F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51" y="743739"/>
            <a:ext cx="9729102" cy="491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4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19" y="578764"/>
            <a:ext cx="8750981" cy="548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9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67" y="301924"/>
            <a:ext cx="9804963" cy="632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60" y="334770"/>
            <a:ext cx="9861229" cy="62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1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94" y="277134"/>
            <a:ext cx="7961275" cy="607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8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247206"/>
            <a:ext cx="7678222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9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DIVERGENCE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3175" eaLnBrk="1" hangingPunct="1">
              <a:buFontTx/>
              <a:buNone/>
            </a:pPr>
            <a:r>
              <a:rPr lang="en-US" smtClean="0"/>
              <a:t>If </a:t>
            </a:r>
            <a:r>
              <a:rPr lang="en-US" b="1" smtClean="0"/>
              <a:t>F</a:t>
            </a:r>
            <a:r>
              <a:rPr lang="en-US" smtClean="0"/>
              <a:t> = </a:t>
            </a:r>
            <a:r>
              <a:rPr lang="en-US" i="1" smtClean="0"/>
              <a:t>P</a:t>
            </a:r>
            <a:r>
              <a:rPr lang="en-US" smtClean="0"/>
              <a:t> </a:t>
            </a:r>
            <a:r>
              <a:rPr lang="en-US" b="1" smtClean="0"/>
              <a:t>i</a:t>
            </a:r>
            <a:r>
              <a:rPr lang="en-US" smtClean="0"/>
              <a:t> + </a:t>
            </a:r>
            <a:r>
              <a:rPr lang="en-US" i="1" smtClean="0"/>
              <a:t>Q</a:t>
            </a:r>
            <a:r>
              <a:rPr lang="en-US" smtClean="0"/>
              <a:t> </a:t>
            </a:r>
            <a:r>
              <a:rPr lang="en-US" b="1" smtClean="0"/>
              <a:t>j</a:t>
            </a:r>
            <a:r>
              <a:rPr lang="en-US" smtClean="0"/>
              <a:t> + </a:t>
            </a:r>
            <a:r>
              <a:rPr lang="en-US" i="1" smtClean="0"/>
              <a:t>R</a:t>
            </a:r>
            <a:r>
              <a:rPr lang="en-US" smtClean="0"/>
              <a:t> </a:t>
            </a:r>
            <a:r>
              <a:rPr lang="en-US" b="1" smtClean="0"/>
              <a:t>k</a:t>
            </a:r>
            <a:r>
              <a:rPr lang="en-US" smtClean="0"/>
              <a:t> is a vector field on </a:t>
            </a:r>
            <a:br>
              <a:rPr lang="en-US" smtClean="0"/>
            </a:br>
            <a:r>
              <a:rPr lang="en-US" smtClean="0"/>
              <a:t>and </a:t>
            </a:r>
            <a:r>
              <a:rPr lang="en-US" smtClean="0">
                <a:cs typeface="Arial" charset="0"/>
              </a:rPr>
              <a:t>∂</a:t>
            </a:r>
            <a:r>
              <a:rPr lang="en-US" i="1" smtClean="0">
                <a:cs typeface="Arial" charset="0"/>
              </a:rPr>
              <a:t>P</a:t>
            </a:r>
            <a:r>
              <a:rPr lang="en-US" smtClean="0">
                <a:cs typeface="Arial" charset="0"/>
              </a:rPr>
              <a:t>/∂</a:t>
            </a:r>
            <a:r>
              <a:rPr lang="en-US" i="1" smtClean="0">
                <a:cs typeface="Arial" charset="0"/>
              </a:rPr>
              <a:t>x</a:t>
            </a:r>
            <a:r>
              <a:rPr lang="en-US" smtClean="0"/>
              <a:t>, </a:t>
            </a:r>
            <a:r>
              <a:rPr lang="en-US" smtClean="0">
                <a:cs typeface="Arial" charset="0"/>
              </a:rPr>
              <a:t>∂</a:t>
            </a:r>
            <a:r>
              <a:rPr lang="en-US" i="1" smtClean="0">
                <a:cs typeface="Arial" charset="0"/>
              </a:rPr>
              <a:t>Q</a:t>
            </a:r>
            <a:r>
              <a:rPr lang="en-US" smtClean="0">
                <a:cs typeface="Arial" charset="0"/>
              </a:rPr>
              <a:t>/∂</a:t>
            </a:r>
            <a:r>
              <a:rPr lang="en-US" i="1" smtClean="0">
                <a:cs typeface="Arial" charset="0"/>
              </a:rPr>
              <a:t>y</a:t>
            </a:r>
            <a:r>
              <a:rPr lang="en-US" smtClean="0"/>
              <a:t>, and </a:t>
            </a:r>
            <a:r>
              <a:rPr lang="en-US" smtClean="0">
                <a:cs typeface="Arial" charset="0"/>
              </a:rPr>
              <a:t>∂</a:t>
            </a:r>
            <a:r>
              <a:rPr lang="en-US" i="1" smtClean="0">
                <a:cs typeface="Arial" charset="0"/>
              </a:rPr>
              <a:t>R</a:t>
            </a:r>
            <a:r>
              <a:rPr lang="en-US" smtClean="0">
                <a:cs typeface="Arial" charset="0"/>
              </a:rPr>
              <a:t>/∂</a:t>
            </a:r>
            <a:r>
              <a:rPr lang="en-US" i="1" smtClean="0">
                <a:cs typeface="Arial" charset="0"/>
              </a:rPr>
              <a:t>z</a:t>
            </a:r>
            <a:r>
              <a:rPr lang="en-US" smtClean="0">
                <a:cs typeface="Arial" charset="0"/>
              </a:rPr>
              <a:t> </a:t>
            </a:r>
            <a:r>
              <a:rPr lang="en-US" smtClean="0"/>
              <a:t>exist, </a:t>
            </a:r>
            <a:br>
              <a:rPr lang="en-US" smtClean="0"/>
            </a:br>
            <a:r>
              <a:rPr lang="en-US" smtClean="0"/>
              <a:t>the divergence of </a:t>
            </a:r>
            <a:r>
              <a:rPr lang="en-US" b="1" smtClean="0"/>
              <a:t>F</a:t>
            </a:r>
            <a:r>
              <a:rPr lang="en-US" smtClean="0"/>
              <a:t> is the function of three variables defined by:</a:t>
            </a:r>
          </a:p>
        </p:txBody>
      </p:sp>
      <p:graphicFrame>
        <p:nvGraphicFramePr>
          <p:cNvPr id="16386" name="Object 6"/>
          <p:cNvGraphicFramePr>
            <a:graphicFrameLocks noChangeAspect="1"/>
          </p:cNvGraphicFramePr>
          <p:nvPr/>
        </p:nvGraphicFramePr>
        <p:xfrm>
          <a:off x="3759200" y="4191001"/>
          <a:ext cx="54864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41" name="Equation" r:id="rId4" imgW="1396800" imgH="419040" progId="Equation.DSMT4">
                  <p:embed/>
                </p:oleObj>
              </mc:Choice>
              <mc:Fallback>
                <p:oleObj name="Equation" r:id="rId4" imgW="1396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4191001"/>
                        <a:ext cx="5486400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246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DIVERGENCE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idx="1"/>
          </p:nvPr>
        </p:nvSpPr>
        <p:spPr>
          <a:xfrm>
            <a:off x="781051" y="874713"/>
            <a:ext cx="11430000" cy="5865812"/>
          </a:xfrm>
        </p:spPr>
        <p:txBody>
          <a:bodyPr/>
          <a:lstStyle/>
          <a:p>
            <a:pPr marL="0" indent="3175" eaLnBrk="1" hangingPunct="1">
              <a:buFontTx/>
              <a:buNone/>
            </a:pPr>
            <a:endParaRPr lang="en-US" dirty="0" smtClean="0"/>
          </a:p>
          <a:p>
            <a:pPr marL="0" indent="3175" eaLnBrk="1" hangingPunct="1">
              <a:buFontTx/>
              <a:buNone/>
            </a:pPr>
            <a:r>
              <a:rPr lang="en-US" dirty="0" smtClean="0"/>
              <a:t>In terms of the gradient operator  </a:t>
            </a:r>
          </a:p>
          <a:p>
            <a:pPr marL="0" indent="3175" eaLnBrk="1" hangingPunct="1">
              <a:buFontTx/>
              <a:buNone/>
            </a:pPr>
            <a:endParaRPr lang="en-US" dirty="0" smtClean="0"/>
          </a:p>
          <a:p>
            <a:pPr marL="0" indent="3175" eaLnBrk="1" hangingPunct="1">
              <a:buFontTx/>
              <a:buNone/>
            </a:pPr>
            <a:endParaRPr lang="en-US" dirty="0" smtClean="0"/>
          </a:p>
          <a:p>
            <a:pPr marL="0" indent="3175" eaLnBrk="1" hangingPunct="1">
              <a:buFontTx/>
              <a:buNone/>
            </a:pPr>
            <a:r>
              <a:rPr lang="en-US" dirty="0" smtClean="0"/>
              <a:t>the divergence of </a:t>
            </a:r>
            <a:r>
              <a:rPr lang="en-US" b="1" dirty="0" smtClean="0"/>
              <a:t>F</a:t>
            </a:r>
            <a:r>
              <a:rPr lang="en-US" dirty="0" smtClean="0"/>
              <a:t> can be written symbolically as the dot product of    and </a:t>
            </a:r>
            <a:r>
              <a:rPr lang="en-US" b="1" dirty="0" smtClean="0"/>
              <a:t>F</a:t>
            </a:r>
            <a:r>
              <a:rPr lang="en-US" dirty="0" smtClean="0"/>
              <a:t>:</a:t>
            </a: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8966201" y="3902076"/>
          <a:ext cx="55456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1" name="Equation" r:id="rId4" imgW="152280" imgH="177480" progId="Equation.DSMT4">
                  <p:embed/>
                </p:oleObj>
              </mc:Choice>
              <mc:Fallback>
                <p:oleObj name="Equation" r:id="rId4" imgW="152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6201" y="3902076"/>
                        <a:ext cx="554567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/>
        </p:nvGraphicFramePr>
        <p:xfrm>
          <a:off x="3162300" y="1719263"/>
          <a:ext cx="66040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2" name="Equation" r:id="rId6" imgW="1765080" imgH="431640" progId="Equation.DSMT4">
                  <p:embed/>
                </p:oleObj>
              </mc:Choice>
              <mc:Fallback>
                <p:oleObj name="Equation" r:id="rId6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1719263"/>
                        <a:ext cx="6604000" cy="121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6"/>
          <p:cNvGraphicFramePr>
            <a:graphicFrameLocks noChangeAspect="1"/>
          </p:cNvGraphicFramePr>
          <p:nvPr/>
        </p:nvGraphicFramePr>
        <p:xfrm>
          <a:off x="4572000" y="4991100"/>
          <a:ext cx="32512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3" name="Equation" r:id="rId8" imgW="799920" imgH="177480" progId="Equation.DSMT4">
                  <p:embed/>
                </p:oleObj>
              </mc:Choice>
              <mc:Fallback>
                <p:oleObj name="Equation" r:id="rId8" imgW="799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991100"/>
                        <a:ext cx="325120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971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DIVERGENCE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846138"/>
            <a:ext cx="11430000" cy="5865812"/>
          </a:xfrm>
        </p:spPr>
        <p:txBody>
          <a:bodyPr/>
          <a:lstStyle/>
          <a:p>
            <a:pPr marL="0" indent="3175" eaLnBrk="1" hangingPunct="1">
              <a:buFontTx/>
              <a:buNone/>
            </a:pPr>
            <a:endParaRPr lang="en-US" sz="3600" dirty="0" smtClean="0"/>
          </a:p>
          <a:p>
            <a:pPr marL="0" indent="3175" eaLnBrk="1" hangingPunct="1">
              <a:buFontTx/>
              <a:buNone/>
            </a:pPr>
            <a:r>
              <a:rPr lang="en-US" sz="3600" dirty="0" smtClean="0"/>
              <a:t>If 	</a:t>
            </a:r>
            <a:r>
              <a:rPr lang="en-US" sz="3600" b="1" dirty="0" smtClean="0"/>
              <a:t>F</a:t>
            </a:r>
            <a:r>
              <a:rPr lang="en-US" sz="3600" dirty="0" smtClean="0"/>
              <a:t>(</a:t>
            </a:r>
            <a:r>
              <a:rPr lang="en-US" sz="3600" i="1" dirty="0" smtClean="0"/>
              <a:t>x</a:t>
            </a:r>
            <a:r>
              <a:rPr lang="en-US" sz="3600" dirty="0" smtClean="0"/>
              <a:t>, </a:t>
            </a:r>
            <a:r>
              <a:rPr lang="en-US" sz="3600" i="1" dirty="0" smtClean="0"/>
              <a:t>y</a:t>
            </a:r>
            <a:r>
              <a:rPr lang="en-US" sz="3600" dirty="0" smtClean="0"/>
              <a:t>, </a:t>
            </a:r>
            <a:r>
              <a:rPr lang="en-US" sz="3600" i="1" dirty="0" smtClean="0"/>
              <a:t>z</a:t>
            </a:r>
            <a:r>
              <a:rPr lang="en-US" sz="3600" dirty="0" smtClean="0"/>
              <a:t>) = </a:t>
            </a:r>
            <a:r>
              <a:rPr lang="en-US" sz="3600" i="1" dirty="0" err="1" smtClean="0"/>
              <a:t>xz</a:t>
            </a:r>
            <a:r>
              <a:rPr lang="en-US" sz="3600" dirty="0" smtClean="0"/>
              <a:t> </a:t>
            </a:r>
            <a:r>
              <a:rPr lang="en-US" sz="3600" b="1" dirty="0" err="1" smtClean="0"/>
              <a:t>i</a:t>
            </a:r>
            <a:r>
              <a:rPr lang="en-US" sz="3600" dirty="0" smtClean="0"/>
              <a:t> + </a:t>
            </a:r>
            <a:r>
              <a:rPr lang="en-US" sz="3600" i="1" dirty="0" smtClean="0"/>
              <a:t>xyz</a:t>
            </a:r>
            <a:r>
              <a:rPr lang="en-US" sz="3600" dirty="0" smtClean="0"/>
              <a:t> </a:t>
            </a:r>
            <a:r>
              <a:rPr lang="en-US" sz="3600" b="1" dirty="0" smtClean="0"/>
              <a:t>j</a:t>
            </a:r>
            <a:r>
              <a:rPr lang="en-US" sz="3600" dirty="0" smtClean="0"/>
              <a:t> – </a:t>
            </a:r>
            <a:r>
              <a:rPr lang="en-US" sz="3600" i="1" dirty="0" smtClean="0"/>
              <a:t>y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 </a:t>
            </a:r>
            <a:r>
              <a:rPr lang="en-US" sz="3600" b="1" dirty="0" smtClean="0"/>
              <a:t>k </a:t>
            </a:r>
            <a:br>
              <a:rPr lang="en-US" sz="3600" b="1" dirty="0" smtClean="0"/>
            </a:br>
            <a:r>
              <a:rPr lang="en-US" sz="3600" dirty="0" smtClean="0"/>
              <a:t>find div </a:t>
            </a:r>
            <a:r>
              <a:rPr lang="en-US" sz="3600" b="1" dirty="0" smtClean="0"/>
              <a:t>F</a:t>
            </a:r>
            <a:r>
              <a:rPr lang="en-US" sz="3600" dirty="0" smtClean="0"/>
              <a:t>.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r>
              <a:rPr lang="en-US" dirty="0" smtClean="0"/>
              <a:t>By the definition of divergence (Equation 9 or 10) we have: 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2546351" y="3843338"/>
          <a:ext cx="8195733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89" name="Equation" r:id="rId4" imgW="2273040" imgH="863280" progId="Equation.DSMT4">
                  <p:embed/>
                </p:oleObj>
              </mc:Choice>
              <mc:Fallback>
                <p:oleObj name="Equation" r:id="rId4" imgW="227304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1" y="3843338"/>
                        <a:ext cx="8195733" cy="233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344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DIVERGENCE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3175" eaLnBrk="1" hangingPunct="1">
              <a:buFontTx/>
              <a:buNone/>
            </a:pPr>
            <a:r>
              <a:rPr lang="en-US" smtClean="0"/>
              <a:t>Again, the reason for the name divergence can be understood in the context of fluid flow.  </a:t>
            </a:r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r>
              <a:rPr lang="en-US" smtClean="0"/>
              <a:t>If </a:t>
            </a:r>
            <a:r>
              <a:rPr lang="en-US" b="1" smtClean="0"/>
              <a:t>F</a:t>
            </a:r>
            <a:r>
              <a:rPr lang="en-US" smtClean="0"/>
              <a:t>(</a:t>
            </a:r>
            <a:r>
              <a:rPr lang="en-US" i="1" smtClean="0"/>
              <a:t>x</a:t>
            </a:r>
            <a:r>
              <a:rPr lang="en-US" smtClean="0"/>
              <a:t>, </a:t>
            </a:r>
            <a:r>
              <a:rPr lang="en-US" i="1" smtClean="0"/>
              <a:t>y</a:t>
            </a:r>
            <a:r>
              <a:rPr lang="en-US" smtClean="0"/>
              <a:t>, </a:t>
            </a:r>
            <a:r>
              <a:rPr lang="en-US" i="1" smtClean="0"/>
              <a:t>z</a:t>
            </a:r>
            <a:r>
              <a:rPr lang="en-US" smtClean="0"/>
              <a:t>) is the velocity of a fluid (or gas), </a:t>
            </a:r>
            <a:br>
              <a:rPr lang="en-US" smtClean="0"/>
            </a:br>
            <a:r>
              <a:rPr lang="en-US" smtClean="0"/>
              <a:t>div </a:t>
            </a:r>
            <a:r>
              <a:rPr lang="en-US" b="1" smtClean="0"/>
              <a:t>F</a:t>
            </a:r>
            <a:r>
              <a:rPr lang="en-US" smtClean="0"/>
              <a:t>(</a:t>
            </a:r>
            <a:r>
              <a:rPr lang="en-US" i="1" smtClean="0"/>
              <a:t>x</a:t>
            </a:r>
            <a:r>
              <a:rPr lang="en-US" smtClean="0"/>
              <a:t>, </a:t>
            </a:r>
            <a:r>
              <a:rPr lang="en-US" i="1" smtClean="0"/>
              <a:t>y</a:t>
            </a:r>
            <a:r>
              <a:rPr lang="en-US" smtClean="0"/>
              <a:t>, </a:t>
            </a:r>
            <a:r>
              <a:rPr lang="en-US" i="1" smtClean="0"/>
              <a:t>z</a:t>
            </a:r>
            <a:r>
              <a:rPr lang="en-US" smtClean="0"/>
              <a:t>) represents the net rate of change </a:t>
            </a:r>
            <a:br>
              <a:rPr lang="en-US" smtClean="0"/>
            </a:br>
            <a:r>
              <a:rPr lang="en-US" smtClean="0"/>
              <a:t>(with respect to time) of the mass of fluid (or gas) flowing from the point (</a:t>
            </a:r>
            <a:r>
              <a:rPr lang="en-US" i="1" smtClean="0"/>
              <a:t>x</a:t>
            </a:r>
            <a:r>
              <a:rPr lang="en-US" smtClean="0"/>
              <a:t>, </a:t>
            </a:r>
            <a:r>
              <a:rPr lang="en-US" i="1" smtClean="0"/>
              <a:t>y</a:t>
            </a:r>
            <a:r>
              <a:rPr lang="en-US" smtClean="0"/>
              <a:t>, </a:t>
            </a:r>
            <a:r>
              <a:rPr lang="en-US" i="1" smtClean="0"/>
              <a:t>z</a:t>
            </a:r>
            <a:r>
              <a:rPr lang="en-US" smtClean="0"/>
              <a:t>) per unit volume.</a:t>
            </a:r>
          </a:p>
        </p:txBody>
      </p:sp>
    </p:spTree>
    <p:extLst>
      <p:ext uri="{BB962C8B-B14F-4D97-AF65-F5344CB8AC3E}">
        <p14:creationId xmlns:p14="http://schemas.microsoft.com/office/powerpoint/2010/main" val="90908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GRADIENT VECTOR FIELDS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781051" y="874713"/>
            <a:ext cx="11430000" cy="5865812"/>
          </a:xfrm>
        </p:spPr>
        <p:txBody>
          <a:bodyPr/>
          <a:lstStyle/>
          <a:p>
            <a:pPr marL="0" indent="3175" eaLnBrk="1" hangingPunct="1">
              <a:buFontTx/>
              <a:buNone/>
            </a:pPr>
            <a:endParaRPr lang="en-US" dirty="0" smtClean="0"/>
          </a:p>
          <a:p>
            <a:pPr marL="0" indent="3175" eaLnBrk="1" hangingPunct="1">
              <a:buFontTx/>
              <a:buNone/>
            </a:pPr>
            <a:r>
              <a:rPr lang="en-US" dirty="0" smtClean="0"/>
              <a:t>Another differential operator occurs when </a:t>
            </a:r>
            <a:br>
              <a:rPr lang="en-US" dirty="0" smtClean="0"/>
            </a:br>
            <a:r>
              <a:rPr lang="en-US" dirty="0" smtClean="0"/>
              <a:t>we compute the divergence of a gradient vector field     . 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r>
              <a:rPr lang="en-US" dirty="0" smtClean="0"/>
              <a:t>If </a:t>
            </a:r>
            <a:r>
              <a:rPr lang="en-US" i="1" dirty="0" smtClean="0"/>
              <a:t>f</a:t>
            </a:r>
            <a:r>
              <a:rPr lang="en-US" dirty="0" smtClean="0"/>
              <a:t> is a function of three variables, </a:t>
            </a:r>
            <a:br>
              <a:rPr lang="en-US" dirty="0" smtClean="0"/>
            </a:br>
            <a:r>
              <a:rPr lang="en-US" dirty="0" smtClean="0"/>
              <a:t>we have:</a:t>
            </a:r>
          </a:p>
        </p:txBody>
      </p:sp>
      <p:graphicFrame>
        <p:nvGraphicFramePr>
          <p:cNvPr id="22531" name="Object 5"/>
          <p:cNvGraphicFramePr>
            <a:graphicFrameLocks noChangeAspect="1"/>
          </p:cNvGraphicFramePr>
          <p:nvPr/>
        </p:nvGraphicFramePr>
        <p:xfrm>
          <a:off x="3924301" y="4038601"/>
          <a:ext cx="6650567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13" name="Equation" r:id="rId4" imgW="1777680" imgH="685800" progId="Equation.DSMT4">
                  <p:embed/>
                </p:oleObj>
              </mc:Choice>
              <mc:Fallback>
                <p:oleObj name="Equation" r:id="rId4" imgW="17776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1" y="4038601"/>
                        <a:ext cx="6650567" cy="192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08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CURL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793245" y="1424485"/>
          <a:ext cx="10107083" cy="496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54" name="Equation" r:id="rId4" imgW="2717640" imgH="1777680" progId="Equation.DSMT4">
                  <p:embed/>
                </p:oleObj>
              </mc:Choice>
              <mc:Fallback>
                <p:oleObj name="Equation" r:id="rId4" imgW="2717640" imgH="1777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245" y="1424485"/>
                        <a:ext cx="10107083" cy="496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CURL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3175" eaLnBrk="1" hangingPunct="1">
              <a:buFontTx/>
              <a:buNone/>
            </a:pPr>
            <a:r>
              <a:rPr lang="en-US" sz="3400" smtClean="0"/>
              <a:t>Thus, the easiest way to remember Definition 1 is by means of the symbolic expression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5251452" y="3187700"/>
          <a:ext cx="4362449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678" name="Equation" r:id="rId4" imgW="888840" imgH="177480" progId="Equation.DSMT4">
                  <p:embed/>
                </p:oleObj>
              </mc:Choice>
              <mc:Fallback>
                <p:oleObj name="Equation" r:id="rId4" imgW="888840" imgH="177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2" y="3187700"/>
                        <a:ext cx="4362449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CURL</a:t>
            </a:r>
          </a:p>
        </p:txBody>
      </p:sp>
      <p:graphicFrame>
        <p:nvGraphicFramePr>
          <p:cNvPr id="8194" name="Object 6"/>
          <p:cNvGraphicFramePr>
            <a:graphicFrameLocks noChangeAspect="1"/>
          </p:cNvGraphicFramePr>
          <p:nvPr/>
        </p:nvGraphicFramePr>
        <p:xfrm>
          <a:off x="842434" y="1014413"/>
          <a:ext cx="11332633" cy="492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02" name="Equation" r:id="rId4" imgW="3924000" imgH="2273040" progId="Equation.DSMT4">
                  <p:embed/>
                </p:oleObj>
              </mc:Choice>
              <mc:Fallback>
                <p:oleObj name="Equation" r:id="rId4" imgW="3924000" imgH="227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434" y="1014413"/>
                        <a:ext cx="11332633" cy="492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GRADIENT VECTOR FIELDS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742951" y="874713"/>
            <a:ext cx="11430000" cy="5865812"/>
          </a:xfrm>
        </p:spPr>
        <p:txBody>
          <a:bodyPr/>
          <a:lstStyle/>
          <a:p>
            <a:pPr marL="0" indent="3175" eaLnBrk="1" hangingPunct="1">
              <a:buFontTx/>
              <a:buNone/>
            </a:pPr>
            <a:endParaRPr lang="en-US" dirty="0" smtClean="0"/>
          </a:p>
          <a:p>
            <a:pPr marL="0" indent="3175" eaLnBrk="1" hangingPunct="1">
              <a:buFontTx/>
              <a:buNone/>
            </a:pPr>
            <a:r>
              <a:rPr lang="en-US" dirty="0" smtClean="0"/>
              <a:t>By </a:t>
            </a:r>
            <a:r>
              <a:rPr lang="en-US" dirty="0" err="1" smtClean="0"/>
              <a:t>Clairaut’s</a:t>
            </a:r>
            <a:r>
              <a:rPr lang="en-US" dirty="0" smtClean="0"/>
              <a:t> Theorem,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829733" y="1543051"/>
          <a:ext cx="10955867" cy="500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0" name="Equation" r:id="rId4" imgW="3670200" imgH="2234880" progId="Equation.DSMT4">
                  <p:embed/>
                </p:oleObj>
              </mc:Choice>
              <mc:Fallback>
                <p:oleObj name="Equation" r:id="rId4" imgW="3670200" imgH="2234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733" y="1543051"/>
                        <a:ext cx="10955867" cy="5008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71475"/>
            <a:ext cx="9042400" cy="5857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CONSERVATIVE VECTOR FIELDS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3175" eaLnBrk="1" hangingPunct="1">
              <a:buFontTx/>
              <a:buNone/>
            </a:pPr>
            <a:r>
              <a:rPr lang="en-US" smtClean="0"/>
              <a:t>A conservative vector field is one for which             </a:t>
            </a:r>
          </a:p>
          <a:p>
            <a:pPr marL="0" indent="3175" eaLnBrk="1" hangingPunct="1">
              <a:buFontTx/>
              <a:buNone/>
            </a:pPr>
            <a:endParaRPr lang="en-US" smtClean="0"/>
          </a:p>
          <a:p>
            <a:pPr marL="0" indent="3175" eaLnBrk="1" hangingPunct="1">
              <a:buFontTx/>
              <a:buNone/>
            </a:pPr>
            <a:r>
              <a:rPr lang="en-US" smtClean="0"/>
              <a:t>So, Theorem 3 can be rephrased as:</a:t>
            </a:r>
            <a:br>
              <a:rPr lang="en-US" smtClean="0"/>
            </a:br>
            <a:r>
              <a:rPr lang="en-US" smtClean="0"/>
              <a:t>	</a:t>
            </a:r>
            <a:br>
              <a:rPr lang="en-US" smtClean="0"/>
            </a:br>
            <a:r>
              <a:rPr lang="en-US" smtClean="0"/>
              <a:t>If </a:t>
            </a:r>
            <a:r>
              <a:rPr lang="en-US" b="1" smtClean="0"/>
              <a:t>F</a:t>
            </a:r>
            <a:r>
              <a:rPr lang="en-US" smtClean="0"/>
              <a:t> is conservative, then curl </a:t>
            </a:r>
            <a:r>
              <a:rPr lang="en-US" b="1" smtClean="0"/>
              <a:t>F</a:t>
            </a:r>
            <a:r>
              <a:rPr lang="en-US" smtClean="0"/>
              <a:t> = </a:t>
            </a:r>
            <a:r>
              <a:rPr lang="en-US" b="1" smtClean="0"/>
              <a:t>0</a:t>
            </a:r>
            <a:r>
              <a:rPr lang="en-US" smtClean="0"/>
              <a:t>.</a:t>
            </a:r>
          </a:p>
          <a:p>
            <a:pPr lvl="1" eaLnBrk="1" hangingPunct="1"/>
            <a:endParaRPr lang="en-US" smtClean="0"/>
          </a:p>
          <a:p>
            <a:pPr lvl="1" eaLnBrk="1" hangingPunct="1"/>
            <a:r>
              <a:rPr lang="en-US" smtClean="0"/>
              <a:t>This gives us a way of verifying that </a:t>
            </a:r>
            <a:br>
              <a:rPr lang="en-US" smtClean="0"/>
            </a:br>
            <a:r>
              <a:rPr lang="en-US" smtClean="0"/>
              <a:t>a vector field is not conservative.</a:t>
            </a: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9677400" y="1695450"/>
          <a:ext cx="192193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4" name="Equation" r:id="rId4" imgW="482400" imgH="203040" progId="Equation.DSMT4">
                  <p:embed/>
                </p:oleObj>
              </mc:Choice>
              <mc:Fallback>
                <p:oleObj name="Equation" r:id="rId4" imgW="48240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7400" y="1695450"/>
                        <a:ext cx="192193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CONSERVATIVE VECTOR FIELDS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28737"/>
            <a:ext cx="10972800" cy="4697427"/>
          </a:xfrm>
        </p:spPr>
        <p:txBody>
          <a:bodyPr>
            <a:normAutofit/>
          </a:bodyPr>
          <a:lstStyle/>
          <a:p>
            <a:pPr marL="0" indent="3175">
              <a:buNone/>
            </a:pPr>
            <a:r>
              <a:rPr lang="en-US" dirty="0" smtClean="0">
                <a:solidFill>
                  <a:srgbClr val="800000"/>
                </a:solidFill>
              </a:rPr>
              <a:t>Example </a:t>
            </a:r>
            <a:endParaRPr lang="en-US" dirty="0" smtClean="0"/>
          </a:p>
          <a:p>
            <a:pPr marL="0" indent="3175" eaLnBrk="1" hangingPunct="1">
              <a:buFontTx/>
              <a:buNone/>
            </a:pPr>
            <a:r>
              <a:rPr lang="en-US" dirty="0" smtClean="0"/>
              <a:t>Show that the vector field 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b="1" dirty="0" smtClean="0"/>
              <a:t>F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, </a:t>
            </a:r>
            <a:r>
              <a:rPr lang="en-US" i="1" dirty="0" smtClean="0"/>
              <a:t>y</a:t>
            </a:r>
            <a:r>
              <a:rPr lang="en-US" dirty="0" smtClean="0"/>
              <a:t>, </a:t>
            </a:r>
            <a:r>
              <a:rPr lang="en-US" i="1" dirty="0" smtClean="0"/>
              <a:t>z</a:t>
            </a:r>
            <a:r>
              <a:rPr lang="en-US" dirty="0" smtClean="0"/>
              <a:t>) = </a:t>
            </a:r>
            <a:r>
              <a:rPr lang="en-US" i="1" dirty="0" err="1" smtClean="0"/>
              <a:t>xz</a:t>
            </a:r>
            <a:r>
              <a:rPr lang="en-US" dirty="0" smtClean="0"/>
              <a:t> </a:t>
            </a:r>
            <a:r>
              <a:rPr lang="en-US" b="1" dirty="0" err="1" smtClean="0"/>
              <a:t>i</a:t>
            </a:r>
            <a:r>
              <a:rPr lang="en-US" dirty="0" smtClean="0"/>
              <a:t> + </a:t>
            </a:r>
            <a:r>
              <a:rPr lang="en-US" i="1" dirty="0" smtClean="0"/>
              <a:t>xyz</a:t>
            </a:r>
            <a:r>
              <a:rPr lang="en-US" dirty="0" smtClean="0"/>
              <a:t> </a:t>
            </a:r>
            <a:r>
              <a:rPr lang="en-US" b="1" dirty="0" smtClean="0"/>
              <a:t>j</a:t>
            </a:r>
            <a:r>
              <a:rPr lang="en-US" dirty="0" smtClean="0"/>
              <a:t> – </a:t>
            </a:r>
            <a:r>
              <a:rPr lang="en-US" i="1" dirty="0" smtClean="0"/>
              <a:t>y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b="1" dirty="0" smtClean="0"/>
              <a:t>k </a:t>
            </a:r>
            <a:br>
              <a:rPr lang="en-US" b="1" dirty="0" smtClean="0"/>
            </a:br>
            <a:r>
              <a:rPr lang="en-US" dirty="0" smtClean="0"/>
              <a:t>is not conservative.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r>
              <a:rPr lang="en-US" sz="2400" dirty="0" smtClean="0"/>
              <a:t>In Example 1, we showed that: </a:t>
            </a:r>
            <a:br>
              <a:rPr lang="en-US" sz="2400" dirty="0" smtClean="0"/>
            </a:br>
            <a:r>
              <a:rPr lang="en-US" sz="2400" dirty="0" smtClean="0"/>
              <a:t>				curl </a:t>
            </a:r>
            <a:r>
              <a:rPr lang="en-US" sz="2400" b="1" dirty="0" smtClean="0"/>
              <a:t>F</a:t>
            </a:r>
            <a:r>
              <a:rPr lang="en-US" sz="2400" dirty="0" smtClean="0"/>
              <a:t> = –</a:t>
            </a:r>
            <a:r>
              <a:rPr lang="en-US" sz="2400" i="1" dirty="0" smtClean="0"/>
              <a:t>y</a:t>
            </a:r>
            <a:r>
              <a:rPr lang="en-US" sz="2400" dirty="0" smtClean="0"/>
              <a:t>(2 + 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</a:t>
            </a:r>
            <a:r>
              <a:rPr lang="en-US" sz="2400" dirty="0" smtClean="0"/>
              <a:t>+ </a:t>
            </a:r>
            <a:r>
              <a:rPr lang="en-US" sz="2400" i="1" dirty="0" smtClean="0"/>
              <a:t>x </a:t>
            </a:r>
            <a:r>
              <a:rPr lang="en-US" sz="2400" b="1" dirty="0" smtClean="0"/>
              <a:t>j </a:t>
            </a:r>
            <a:r>
              <a:rPr lang="en-US" sz="2400" dirty="0" smtClean="0"/>
              <a:t>+ </a:t>
            </a:r>
            <a:r>
              <a:rPr lang="en-US" sz="2400" i="1" dirty="0" err="1" smtClean="0"/>
              <a:t>yz</a:t>
            </a:r>
            <a:r>
              <a:rPr lang="en-US" sz="2400" i="1" dirty="0" smtClean="0"/>
              <a:t> </a:t>
            </a:r>
            <a:r>
              <a:rPr lang="en-US" sz="2400" b="1" dirty="0" smtClean="0"/>
              <a:t>k</a:t>
            </a:r>
          </a:p>
          <a:p>
            <a:pPr lvl="1" eaLnBrk="1" hangingPunct="1"/>
            <a:endParaRPr lang="en-US" sz="2400" dirty="0" smtClean="0"/>
          </a:p>
          <a:p>
            <a:pPr lvl="1" eaLnBrk="1" hangingPunct="1"/>
            <a:r>
              <a:rPr lang="en-US" sz="2400" dirty="0" smtClean="0"/>
              <a:t>This shows that curl </a:t>
            </a:r>
            <a:r>
              <a:rPr lang="en-US" sz="2400" b="1" dirty="0" smtClean="0"/>
              <a:t>F</a:t>
            </a:r>
            <a:r>
              <a:rPr lang="en-US" sz="2400" dirty="0" smtClean="0"/>
              <a:t> </a:t>
            </a:r>
            <a:r>
              <a:rPr lang="en-US" sz="2400" dirty="0" smtClean="0">
                <a:cs typeface="Arial" charset="0"/>
              </a:rPr>
              <a:t>≠ 0.</a:t>
            </a:r>
          </a:p>
          <a:p>
            <a:pPr lvl="1" eaLnBrk="1" hangingPunct="1"/>
            <a:endParaRPr lang="en-US" sz="2400" dirty="0" smtClean="0">
              <a:cs typeface="Arial" charset="0"/>
            </a:endParaRPr>
          </a:p>
          <a:p>
            <a:pPr lvl="1" eaLnBrk="1" hangingPunct="1"/>
            <a:r>
              <a:rPr lang="en-US" sz="2400" dirty="0" smtClean="0">
                <a:cs typeface="Arial" charset="0"/>
              </a:rPr>
              <a:t>So, by Theorem 3, </a:t>
            </a:r>
            <a:r>
              <a:rPr lang="en-US" sz="2400" b="1" dirty="0" smtClean="0">
                <a:cs typeface="Arial" charset="0"/>
              </a:rPr>
              <a:t>F</a:t>
            </a:r>
            <a:r>
              <a:rPr lang="en-US" sz="2400" dirty="0" smtClean="0">
                <a:cs typeface="Arial" charset="0"/>
              </a:rPr>
              <a:t> is not conservative.</a:t>
            </a:r>
            <a:r>
              <a:rPr lang="en-US" sz="24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 = 0 (IRROTATIONAL CURL)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3175" eaLnBrk="1" hangingPunct="1">
              <a:buFontTx/>
              <a:buNone/>
            </a:pPr>
            <a:r>
              <a:rPr lang="en-US" smtClean="0"/>
              <a:t>If curl </a:t>
            </a:r>
            <a:r>
              <a:rPr lang="en-US" b="1" smtClean="0"/>
              <a:t>F</a:t>
            </a:r>
            <a:r>
              <a:rPr lang="en-US" smtClean="0"/>
              <a:t> = </a:t>
            </a:r>
            <a:r>
              <a:rPr lang="en-US" b="1" smtClean="0"/>
              <a:t>0</a:t>
            </a:r>
            <a:r>
              <a:rPr lang="en-US" smtClean="0"/>
              <a:t> at a point </a:t>
            </a:r>
            <a:r>
              <a:rPr lang="en-US" i="1" smtClean="0"/>
              <a:t>P</a:t>
            </a:r>
            <a:r>
              <a:rPr lang="en-US" smtClean="0"/>
              <a:t>, the fluid is free </a:t>
            </a:r>
            <a:br>
              <a:rPr lang="en-US" smtClean="0"/>
            </a:br>
            <a:r>
              <a:rPr lang="en-US" smtClean="0"/>
              <a:t>from rotations at </a:t>
            </a:r>
            <a:r>
              <a:rPr lang="en-US" i="1" smtClean="0"/>
              <a:t>P.</a:t>
            </a:r>
          </a:p>
          <a:p>
            <a:pPr marL="0" indent="3175" eaLnBrk="1" hangingPunct="1">
              <a:buFontTx/>
              <a:buNone/>
            </a:pPr>
            <a:endParaRPr lang="en-US" b="1" smtClean="0"/>
          </a:p>
          <a:p>
            <a:pPr marL="0" indent="3175" eaLnBrk="1" hangingPunct="1">
              <a:buFontTx/>
              <a:buNone/>
            </a:pPr>
            <a:r>
              <a:rPr lang="en-US" b="1" smtClean="0"/>
              <a:t>F</a:t>
            </a:r>
            <a:r>
              <a:rPr lang="en-US" smtClean="0"/>
              <a:t> is called irrotational at </a:t>
            </a:r>
            <a:r>
              <a:rPr lang="en-US" i="1" smtClean="0"/>
              <a:t>P</a:t>
            </a:r>
            <a:r>
              <a:rPr lang="en-US" smtClean="0"/>
              <a:t>. </a:t>
            </a:r>
          </a:p>
          <a:p>
            <a:pPr lvl="1" eaLnBrk="1" hangingPunct="1"/>
            <a:endParaRPr lang="en-US" sz="3200" smtClean="0"/>
          </a:p>
          <a:p>
            <a:pPr lvl="1" eaLnBrk="1" hangingPunct="1"/>
            <a:r>
              <a:rPr lang="en-US" smtClean="0"/>
              <a:t>That is, there is no whirlpool or eddy at </a:t>
            </a:r>
            <a:r>
              <a:rPr lang="en-US" i="1" smtClean="0"/>
              <a:t>P</a:t>
            </a:r>
            <a:r>
              <a:rPr lang="en-US" smtClean="0"/>
              <a:t>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10" y="1616607"/>
            <a:ext cx="8192643" cy="440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54680" y="465826"/>
            <a:ext cx="3610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+mn-lt"/>
              </a:rPr>
              <a:t>LINE INTEGRAL</a:t>
            </a:r>
            <a:endParaRPr lang="en-GB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524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875943"/>
            <a:ext cx="9669224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73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7" y="499653"/>
            <a:ext cx="10183646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7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961680"/>
            <a:ext cx="1003122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37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1095049"/>
            <a:ext cx="10259857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87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718759"/>
            <a:ext cx="10031225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85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590154"/>
            <a:ext cx="1027890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52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11" y="231762"/>
            <a:ext cx="10023100" cy="9931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11" y="1398909"/>
            <a:ext cx="10023100" cy="513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14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0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323833"/>
            <a:ext cx="10515600" cy="4917310"/>
          </a:xfrm>
        </p:spPr>
        <p:txBody>
          <a:bodyPr>
            <a:normAutofit fontScale="25000" lnSpcReduction="20000"/>
          </a:bodyPr>
          <a:lstStyle/>
          <a:p>
            <a:endParaRPr lang="en-US" b="1" dirty="0" smtClean="0"/>
          </a:p>
          <a:p>
            <a:pPr>
              <a:buNone/>
            </a:pPr>
            <a:r>
              <a:rPr lang="en-US" sz="5600" b="1" dirty="0" smtClean="0"/>
              <a:t>TEXTBOOKS: </a:t>
            </a:r>
          </a:p>
          <a:p>
            <a:r>
              <a:rPr lang="en-US" sz="5600" dirty="0" smtClean="0"/>
              <a:t>1.     E. </a:t>
            </a:r>
            <a:r>
              <a:rPr lang="en-US" sz="5600" dirty="0" err="1" smtClean="0"/>
              <a:t>Kreyszig</a:t>
            </a:r>
            <a:r>
              <a:rPr lang="en-US" sz="5600" dirty="0" smtClean="0"/>
              <a:t>, Advanced Engineering Mathematics, John Wiley,10th Ed.2011., New Delhi</a:t>
            </a:r>
          </a:p>
          <a:p>
            <a:r>
              <a:rPr lang="en-US" sz="5600" dirty="0" smtClean="0"/>
              <a:t>2.     H.K. </a:t>
            </a:r>
            <a:r>
              <a:rPr lang="en-US" sz="5600" dirty="0" err="1" smtClean="0"/>
              <a:t>Dass</a:t>
            </a:r>
            <a:r>
              <a:rPr lang="en-US" sz="5600" dirty="0" smtClean="0"/>
              <a:t>, Higher Engineering Mathematics, S </a:t>
            </a:r>
            <a:r>
              <a:rPr lang="en-US" sz="5600" dirty="0" err="1" smtClean="0"/>
              <a:t>Chand</a:t>
            </a:r>
            <a:r>
              <a:rPr lang="en-US" sz="5600" dirty="0" smtClean="0"/>
              <a:t> Publishers, 3rd revised edition, 2014.</a:t>
            </a:r>
          </a:p>
          <a:p>
            <a:r>
              <a:rPr lang="en-US" sz="5600" dirty="0" smtClean="0"/>
              <a:t>3.     R.K. Jain, and S.R.K. </a:t>
            </a:r>
            <a:r>
              <a:rPr lang="en-US" sz="5600" dirty="0" err="1" smtClean="0"/>
              <a:t>Iyengar</a:t>
            </a:r>
            <a:r>
              <a:rPr lang="en-US" sz="5600" dirty="0" smtClean="0"/>
              <a:t>, Advanced Engineering Mathematics, 3rd Edition, </a:t>
            </a:r>
            <a:r>
              <a:rPr lang="en-US" sz="5600" dirty="0" err="1" smtClean="0"/>
              <a:t>Narosa</a:t>
            </a:r>
            <a:r>
              <a:rPr lang="en-US" sz="5600" dirty="0" smtClean="0"/>
              <a:t> Publishing House, 2004, New Delhi.</a:t>
            </a:r>
          </a:p>
          <a:p>
            <a:pPr>
              <a:buNone/>
            </a:pPr>
            <a:endParaRPr lang="en-US" sz="5600" dirty="0" smtClean="0"/>
          </a:p>
          <a:p>
            <a:pPr>
              <a:buNone/>
            </a:pPr>
            <a:r>
              <a:rPr lang="en-US" sz="5600" b="1" dirty="0" smtClean="0"/>
              <a:t>Reference Material:</a:t>
            </a:r>
          </a:p>
          <a:p>
            <a:r>
              <a:rPr lang="en-US" sz="5600" dirty="0" smtClean="0"/>
              <a:t>1. B.V. </a:t>
            </a:r>
            <a:r>
              <a:rPr lang="en-US" sz="5600" dirty="0" err="1" smtClean="0"/>
              <a:t>Ramana</a:t>
            </a:r>
            <a:r>
              <a:rPr lang="en-US" sz="5600" dirty="0" smtClean="0"/>
              <a:t> Advanced Engineering Mathematics, McGraw Hill</a:t>
            </a:r>
            <a:r>
              <a:rPr lang="en-US" sz="5600" b="1" dirty="0" smtClean="0"/>
              <a:t>, </a:t>
            </a:r>
            <a:r>
              <a:rPr lang="en-US" sz="5600" dirty="0" smtClean="0"/>
              <a:t>July 2006, New Delhi.</a:t>
            </a:r>
          </a:p>
          <a:p>
            <a:r>
              <a:rPr lang="en-US" sz="5600" dirty="0" smtClean="0"/>
              <a:t>2. B. Thomas and, R.L., Finney, Calculus and Analytic Geometry, Pearson Education, 11thEdition.</a:t>
            </a:r>
          </a:p>
          <a:p>
            <a:r>
              <a:rPr lang="en-US" sz="5600" dirty="0" smtClean="0"/>
              <a:t>3. N.P. Bali and Manish </a:t>
            </a:r>
            <a:r>
              <a:rPr lang="en-US" sz="5600" dirty="0" err="1" smtClean="0"/>
              <a:t>Goyal</a:t>
            </a:r>
            <a:r>
              <a:rPr lang="en-US" sz="5600" dirty="0" smtClean="0"/>
              <a:t>, </a:t>
            </a:r>
            <a:r>
              <a:rPr lang="en-US" sz="5600" dirty="0" err="1" smtClean="0"/>
              <a:t>Atextbook</a:t>
            </a:r>
            <a:r>
              <a:rPr lang="en-US" sz="5600" dirty="0" smtClean="0"/>
              <a:t> of Engineering Mathematics, </a:t>
            </a:r>
            <a:r>
              <a:rPr lang="en-US" sz="5600" dirty="0" err="1" smtClean="0"/>
              <a:t>Laxmi</a:t>
            </a:r>
            <a:r>
              <a:rPr lang="en-US" sz="5600" dirty="0" smtClean="0"/>
              <a:t> Publications, Reprint, 2008</a:t>
            </a:r>
          </a:p>
          <a:p>
            <a:pPr>
              <a:buNone/>
            </a:pPr>
            <a:endParaRPr lang="en-US" sz="5600" dirty="0" smtClean="0"/>
          </a:p>
          <a:p>
            <a:pPr>
              <a:buNone/>
            </a:pPr>
            <a:r>
              <a:rPr lang="en-US" sz="5600" b="1" dirty="0" smtClean="0"/>
              <a:t>Suggestive Readings :</a:t>
            </a:r>
          </a:p>
          <a:p>
            <a:r>
              <a:rPr lang="en-US" sz="5600" u="sng" dirty="0" smtClean="0">
                <a:hlinkClick r:id="rId2"/>
              </a:rPr>
              <a:t>A Textbook Of Engineering Mathematics (PTU, </a:t>
            </a:r>
            <a:r>
              <a:rPr lang="en-US" sz="5600" u="sng" dirty="0" err="1" smtClean="0">
                <a:hlinkClick r:id="rId2"/>
              </a:rPr>
              <a:t>Jalandhar</a:t>
            </a:r>
            <a:r>
              <a:rPr lang="en-US" sz="5600" u="sng" dirty="0" smtClean="0">
                <a:hlinkClick r:id="rId2"/>
              </a:rPr>
              <a:t>) </a:t>
            </a:r>
            <a:r>
              <a:rPr lang="en-US" sz="5600" u="sng" dirty="0" err="1" smtClean="0">
                <a:hlinkClick r:id="rId2"/>
              </a:rPr>
              <a:t>Sem</a:t>
            </a:r>
            <a:r>
              <a:rPr lang="en-US" sz="5600" u="sng" dirty="0" smtClean="0">
                <a:hlinkClick r:id="rId2"/>
              </a:rPr>
              <a:t>-II by </a:t>
            </a:r>
            <a:r>
              <a:rPr lang="en-US" sz="5600" u="sng" dirty="0" err="1" smtClean="0">
                <a:hlinkClick r:id="rId2"/>
              </a:rPr>
              <a:t>Usha</a:t>
            </a:r>
            <a:r>
              <a:rPr lang="en-US" sz="5600" u="sng" dirty="0" smtClean="0">
                <a:hlinkClick r:id="rId2"/>
              </a:rPr>
              <a:t> Paul N. P. Bali (z-lib.org).</a:t>
            </a:r>
            <a:r>
              <a:rPr lang="en-US" sz="5600" u="sng" dirty="0" err="1" smtClean="0">
                <a:hlinkClick r:id="rId2"/>
              </a:rPr>
              <a:t>pdf</a:t>
            </a:r>
            <a:endParaRPr lang="en-US" sz="5600" dirty="0" smtClean="0"/>
          </a:p>
          <a:p>
            <a:r>
              <a:rPr lang="en-US" sz="5600" u="sng" dirty="0" smtClean="0">
                <a:hlinkClick r:id="rId3"/>
              </a:rPr>
              <a:t>E. </a:t>
            </a:r>
            <a:r>
              <a:rPr lang="en-US" sz="5600" u="sng" dirty="0" err="1" smtClean="0">
                <a:hlinkClick r:id="rId3"/>
              </a:rPr>
              <a:t>Kreyszig</a:t>
            </a:r>
            <a:r>
              <a:rPr lang="en-US" sz="5600" u="sng" dirty="0" smtClean="0">
                <a:hlinkClick r:id="rId3"/>
              </a:rPr>
              <a:t>, Advanced Engineering Mathematics, John Wiley,10th Ed.2011., New Delhi - Bing</a:t>
            </a:r>
            <a:endParaRPr lang="en-US" sz="5600" dirty="0" smtClean="0"/>
          </a:p>
          <a:p>
            <a:r>
              <a:rPr lang="en-US" sz="5600" u="sng" dirty="0" smtClean="0">
                <a:hlinkClick r:id="rId4"/>
              </a:rPr>
              <a:t>R.K. Jain, and S.R.K. </a:t>
            </a:r>
            <a:r>
              <a:rPr lang="en-US" sz="5600" u="sng" dirty="0" err="1" smtClean="0">
                <a:hlinkClick r:id="rId4"/>
              </a:rPr>
              <a:t>Iyengar</a:t>
            </a:r>
            <a:r>
              <a:rPr lang="en-US" sz="5600" u="sng" dirty="0" smtClean="0">
                <a:hlinkClick r:id="rId4"/>
              </a:rPr>
              <a:t>, Advanced Engineering Mathematics, 3rd Edition, </a:t>
            </a:r>
            <a:r>
              <a:rPr lang="en-US" sz="5600" u="sng" dirty="0" err="1" smtClean="0">
                <a:hlinkClick r:id="rId4"/>
              </a:rPr>
              <a:t>Narosa</a:t>
            </a:r>
            <a:r>
              <a:rPr lang="en-US" sz="5600" u="sng" dirty="0" smtClean="0">
                <a:hlinkClick r:id="rId4"/>
              </a:rPr>
              <a:t> Publishing House, 2004, New Delhi - Bing</a:t>
            </a:r>
            <a:endParaRPr lang="en-US" sz="5600" dirty="0" smtClean="0"/>
          </a:p>
          <a:p>
            <a:r>
              <a:rPr lang="en-US" sz="5600" u="sng" dirty="0" smtClean="0">
                <a:hlinkClick r:id="rId5"/>
              </a:rPr>
              <a:t>B.V. </a:t>
            </a:r>
            <a:r>
              <a:rPr lang="en-US" sz="5600" u="sng" dirty="0" err="1" smtClean="0">
                <a:hlinkClick r:id="rId5"/>
              </a:rPr>
              <a:t>Ramana</a:t>
            </a:r>
            <a:r>
              <a:rPr lang="en-US" sz="5600" u="sng" dirty="0" smtClean="0">
                <a:hlinkClick r:id="rId5"/>
              </a:rPr>
              <a:t> Advanced Engineering Mathematics, McGraw Hill, July 2006, New Delhi. - Bing</a:t>
            </a:r>
            <a:endParaRPr lang="en-US" sz="5600" dirty="0" smtClean="0"/>
          </a:p>
          <a:p>
            <a:r>
              <a:rPr lang="en-US" sz="5600" u="sng" dirty="0" smtClean="0"/>
              <a:t>A Textbook Of Engineering Mathematics (PTU, </a:t>
            </a:r>
            <a:r>
              <a:rPr lang="en-US" sz="5600" u="sng" dirty="0" err="1" smtClean="0"/>
              <a:t>Jalandhar</a:t>
            </a:r>
            <a:r>
              <a:rPr lang="en-US" sz="5600" u="sng" dirty="0" smtClean="0"/>
              <a:t>) </a:t>
            </a:r>
            <a:r>
              <a:rPr lang="en-US" sz="5600" u="sng" dirty="0" err="1" smtClean="0"/>
              <a:t>Sem</a:t>
            </a:r>
            <a:r>
              <a:rPr lang="en-US" sz="5600" u="sng" dirty="0" smtClean="0"/>
              <a:t>-II by </a:t>
            </a:r>
            <a:r>
              <a:rPr lang="en-US" sz="5600" u="sng" dirty="0" err="1" smtClean="0"/>
              <a:t>Usha</a:t>
            </a:r>
            <a:r>
              <a:rPr lang="en-US" sz="5600" u="sng" dirty="0" smtClean="0"/>
              <a:t> Paul N. P. Bali (z-lib.org).</a:t>
            </a:r>
            <a:r>
              <a:rPr lang="en-US" sz="5600" u="sng" dirty="0" err="1" smtClean="0"/>
              <a:t>pdf</a:t>
            </a:r>
            <a:endParaRPr lang="en-US" sz="5600" dirty="0" smtClean="0"/>
          </a:p>
          <a:p>
            <a:r>
              <a:rPr lang="en-US" sz="5600" u="sng" dirty="0" smtClean="0">
                <a:hlinkClick r:id="rId6"/>
              </a:rPr>
              <a:t>B. Thomas and, R.L., Finney, Calculus and Analytic Geometry, Pearson Education, 11th Edition - Bing</a:t>
            </a:r>
            <a:endParaRPr lang="en-US" sz="5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=""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=""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=""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42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962</TotalTime>
  <Words>385</Words>
  <Application>Microsoft Office PowerPoint</Application>
  <PresentationFormat>Widescreen</PresentationFormat>
  <Paragraphs>143</Paragraphs>
  <Slides>31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Arial Unicode MS</vt:lpstr>
      <vt:lpstr>Arial</vt:lpstr>
      <vt:lpstr>Arial Black</vt:lpstr>
      <vt:lpstr>Calibri</vt:lpstr>
      <vt:lpstr>Calibri Light</vt:lpstr>
      <vt:lpstr>Casper</vt:lpstr>
      <vt:lpstr>Karla</vt:lpstr>
      <vt:lpstr>Raleway ExtraBold</vt:lpstr>
      <vt:lpstr>Segoe UI</vt:lpstr>
      <vt:lpstr>Times New Roman</vt:lpstr>
      <vt:lpstr>1_Office Theme</vt:lpstr>
      <vt:lpstr>Contents Slide Master</vt:lpstr>
      <vt:lpstr>Equation</vt:lpstr>
      <vt:lpstr>CorelDRAW</vt:lpstr>
      <vt:lpstr>PowerPoint Presentation</vt:lpstr>
      <vt:lpstr>COURSE OUTCOMES</vt:lpstr>
      <vt:lpstr>VECTOR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DIVERGENCE</vt:lpstr>
      <vt:lpstr>DIVERGENCE</vt:lpstr>
      <vt:lpstr>DIVERGENCE</vt:lpstr>
      <vt:lpstr>DIVERGENCE</vt:lpstr>
      <vt:lpstr>GRADIENT VECTOR FIELDS</vt:lpstr>
      <vt:lpstr>CURL</vt:lpstr>
      <vt:lpstr>CURL</vt:lpstr>
      <vt:lpstr>CURL</vt:lpstr>
      <vt:lpstr>GRADIENT VECTOR FIELDS</vt:lpstr>
      <vt:lpstr>CONSERVATIVE VECTOR FIELDS</vt:lpstr>
      <vt:lpstr>CONSERVATIVE VECTOR FIELDS</vt:lpstr>
      <vt:lpstr>F = 0 (IRROTATIONAL CURL)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Rabdeep</cp:lastModifiedBy>
  <cp:revision>139</cp:revision>
  <dcterms:created xsi:type="dcterms:W3CDTF">2019-01-09T10:33:58Z</dcterms:created>
  <dcterms:modified xsi:type="dcterms:W3CDTF">2024-01-07T08:11:15Z</dcterms:modified>
</cp:coreProperties>
</file>