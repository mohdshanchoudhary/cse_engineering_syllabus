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42"/>
  </p:notesMasterIdLst>
  <p:handoutMasterIdLst>
    <p:handoutMasterId r:id="rId43"/>
  </p:handoutMasterIdLst>
  <p:sldIdLst>
    <p:sldId id="401" r:id="rId3"/>
    <p:sldId id="400" r:id="rId4"/>
    <p:sldId id="402" r:id="rId5"/>
    <p:sldId id="409" r:id="rId6"/>
    <p:sldId id="403" r:id="rId7"/>
    <p:sldId id="410" r:id="rId8"/>
    <p:sldId id="404" r:id="rId9"/>
    <p:sldId id="411" r:id="rId10"/>
    <p:sldId id="405" r:id="rId11"/>
    <p:sldId id="394" r:id="rId12"/>
    <p:sldId id="395" r:id="rId13"/>
    <p:sldId id="396" r:id="rId14"/>
    <p:sldId id="397" r:id="rId15"/>
    <p:sldId id="398" r:id="rId16"/>
    <p:sldId id="352" r:id="rId17"/>
    <p:sldId id="353" r:id="rId18"/>
    <p:sldId id="354" r:id="rId19"/>
    <p:sldId id="355" r:id="rId20"/>
    <p:sldId id="356" r:id="rId21"/>
    <p:sldId id="357" r:id="rId22"/>
    <p:sldId id="358" r:id="rId23"/>
    <p:sldId id="359" r:id="rId24"/>
    <p:sldId id="360" r:id="rId25"/>
    <p:sldId id="361" r:id="rId26"/>
    <p:sldId id="363" r:id="rId27"/>
    <p:sldId id="364" r:id="rId28"/>
    <p:sldId id="365" r:id="rId29"/>
    <p:sldId id="379" r:id="rId30"/>
    <p:sldId id="385" r:id="rId31"/>
    <p:sldId id="386" r:id="rId32"/>
    <p:sldId id="387" r:id="rId33"/>
    <p:sldId id="388" r:id="rId34"/>
    <p:sldId id="389" r:id="rId35"/>
    <p:sldId id="390" r:id="rId36"/>
    <p:sldId id="391" r:id="rId37"/>
    <p:sldId id="392" r:id="rId38"/>
    <p:sldId id="393" r:id="rId39"/>
    <p:sldId id="350" r:id="rId40"/>
    <p:sldId id="279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60000"/>
    <a:srgbClr val="1B3F5B"/>
    <a:srgbClr val="ED8137"/>
    <a:srgbClr val="BC8F00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17" autoAdjust="0"/>
    <p:restoredTop sz="94660" autoAdjust="0"/>
  </p:normalViewPr>
  <p:slideViewPr>
    <p:cSldViewPr snapToGrid="0">
      <p:cViewPr varScale="1">
        <p:scale>
          <a:sx n="89" d="100"/>
          <a:sy n="89" d="100"/>
        </p:scale>
        <p:origin x="442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368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1/7/2024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1/7/2024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1/7/2024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jpeg"/><Relationship Id="rId4" Type="http://schemas.openxmlformats.org/officeDocument/2006/relationships/image" Target="../media/image5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Evolute" TargetMode="External"/><Relationship Id="rId7" Type="http://schemas.openxmlformats.org/officeDocument/2006/relationships/image" Target="../media/image61.jpeg"/><Relationship Id="rId2" Type="http://schemas.openxmlformats.org/officeDocument/2006/relationships/hyperlink" Target="https://www.scribd.com/document/323240170/Higher-Engineering-Mathematics-Dr-B-S-Grewal-Khanna-Publishers-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youtu.be/WmhOVyQVveQ" TargetMode="External"/><Relationship Id="rId5" Type="http://schemas.openxmlformats.org/officeDocument/2006/relationships/hyperlink" Target="https://youtu.be/H9xxLXYSrCw" TargetMode="External"/><Relationship Id="rId4" Type="http://schemas.openxmlformats.org/officeDocument/2006/relationships/hyperlink" Target="http://www.sakshieducation.com/Engg/EnggAcademia/CommonSubjects/M1-CurvatureEvolutes&amp;EnvelopesCurveTracing.pdf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0" y="3980678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xmlns="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xmlns="" id="{CAD0D7B8-E462-453C-B296-CA0154FA54A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966" name="CorelDRAW" r:id="rId3" imgW="2169000" imgH="2169360" progId="">
                  <p:embed/>
                </p:oleObj>
              </mc:Choice>
              <mc:Fallback>
                <p:oleObj name="CorelDRAW" r:id="rId3" imgW="2169000" imgH="216936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xmlns="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</a:t>
            </a:r>
            <a:r>
              <a:rPr lang="en-US" sz="20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871857" y="6296559"/>
            <a:ext cx="1830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839412" y="1825853"/>
            <a:ext cx="8649583" cy="3262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 smtClean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University Institute of Engineering</a:t>
            </a:r>
            <a:endParaRPr lang="en-US" sz="3200" b="1" dirty="0">
              <a:latin typeface="Arial Black" panose="020B0A04020102020204" pitchFamily="34" charset="0"/>
              <a:ea typeface="Karla" pitchFamily="2" charset="0"/>
              <a:cs typeface="Karla" pitchFamily="2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 </a:t>
            </a:r>
            <a:r>
              <a:rPr lang="en-US" sz="3200" b="1" dirty="0" smtClean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– AU1- AU5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of Engineering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Name: </a:t>
            </a:r>
            <a:r>
              <a:rPr lang="en-US" sz="28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Mathematics-II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Code: </a:t>
            </a:r>
            <a:r>
              <a:rPr lang="en-US" sz="28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23SMT-125</a:t>
            </a: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894560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899638" y="827441"/>
            <a:ext cx="7097949" cy="70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r>
              <a:rPr lang="en-IN" sz="4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COURSE</a:t>
            </a:r>
            <a:r>
              <a:rPr lang="en-IN" sz="4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4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OUTCOMES</a:t>
            </a:r>
            <a:endParaRPr lang="en-US" sz="4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7279721"/>
              </p:ext>
            </p:extLst>
          </p:nvPr>
        </p:nvGraphicFramePr>
        <p:xfrm>
          <a:off x="395793" y="1526200"/>
          <a:ext cx="9812732" cy="305149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479386"/>
                <a:gridCol w="6531827"/>
                <a:gridCol w="1801519"/>
              </a:tblGrid>
              <a:tr h="78619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</a:rPr>
                        <a:t>CO Number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</a:rPr>
                        <a:t>Title 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</a:rPr>
                        <a:t>Level 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67626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CO1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anose="02020603050405020304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Remember the concepts based upon partial differentiation, multiple integrals and vector calculus.</a:t>
                      </a:r>
                      <a:endParaRPr lang="en-US" sz="2000" dirty="0" smtClean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Remember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anose="02020603050405020304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77751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CO2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anose="02020603050405020304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Understand the concepts of the partial differentiation, multiple integrals and vector calculus.</a:t>
                      </a:r>
                      <a:endParaRPr lang="en-US" sz="20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Understand 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anose="02020603050405020304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69664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 smtClean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CO3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anose="02020603050405020304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Apply concepts of partial differentiation, multiple integrals and vector calculus and to use in practical problems.</a:t>
                      </a:r>
                      <a:endParaRPr lang="en-GB" sz="20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Apply</a:t>
                      </a: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380933" y="1446665"/>
            <a:ext cx="23057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b="1" dirty="0" smtClean="0"/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9758150" y="2756848"/>
            <a:ext cx="1091821" cy="4503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795379" y="1282890"/>
            <a:ext cx="1160060" cy="20881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Will be covered in this lecture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94269" y="4517409"/>
          <a:ext cx="9812732" cy="177557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479386"/>
                <a:gridCol w="6531827"/>
                <a:gridCol w="1801519"/>
              </a:tblGrid>
              <a:tr h="10583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 smtClean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CO4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anose="02020603050405020304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Analyze concepts of partial differentiation, multiple integrals and vector calculus and its application of analysis to Engineering problems.</a:t>
                      </a:r>
                      <a:endParaRPr lang="en-US" sz="2000" dirty="0">
                        <a:latin typeface="Times New Roman"/>
                        <a:ea typeface="Times New Roman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Analyze</a:t>
                      </a:r>
                      <a:r>
                        <a:rPr lang="en-US" sz="2400" b="0" dirty="0" smtClean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anose="02020603050405020304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71721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 smtClean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CO5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 panose="02020603050405020304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Create the solution for real problems based upon partial differentiation, multiple integrals and vector calculus.</a:t>
                      </a:r>
                      <a:endParaRPr lang="en-GB" sz="20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50800" marR="50800" marT="50800" marB="508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Applications</a:t>
                      </a: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299" y="1583919"/>
            <a:ext cx="7764923" cy="3534957"/>
          </a:xfrm>
          <a:prstGeom prst="rect">
            <a:avLst/>
          </a:prstGeom>
        </p:spPr>
      </p:pic>
      <p:sp>
        <p:nvSpPr>
          <p:cNvPr id="7" name="object 2"/>
          <p:cNvSpPr txBox="1">
            <a:spLocks/>
          </p:cNvSpPr>
          <p:nvPr/>
        </p:nvSpPr>
        <p:spPr>
          <a:xfrm>
            <a:off x="3866840" y="501649"/>
            <a:ext cx="3909291" cy="55399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GB" sz="3500" b="1" spc="5" dirty="0" smtClean="0">
                <a:solidFill>
                  <a:srgbClr val="0065FF"/>
                </a:solidFill>
                <a:latin typeface="Arial"/>
                <a:cs typeface="Arial"/>
              </a:rPr>
              <a:t>Double</a:t>
            </a:r>
            <a:r>
              <a:rPr lang="en-GB" sz="3500" b="1" spc="-90" dirty="0" smtClean="0">
                <a:solidFill>
                  <a:srgbClr val="0065FF"/>
                </a:solidFill>
                <a:latin typeface="Arial"/>
                <a:cs typeface="Arial"/>
              </a:rPr>
              <a:t> </a:t>
            </a:r>
            <a:r>
              <a:rPr lang="en-GB" sz="3500" b="1" spc="5" dirty="0" smtClean="0">
                <a:solidFill>
                  <a:srgbClr val="0065FF"/>
                </a:solidFill>
                <a:latin typeface="Arial"/>
                <a:cs typeface="Arial"/>
              </a:rPr>
              <a:t>Integrals</a:t>
            </a:r>
            <a:endParaRPr lang="en-GB" sz="35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95923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206" y="333706"/>
            <a:ext cx="10775401" cy="5523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120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914" y="947391"/>
            <a:ext cx="8926171" cy="496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578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778" y="211868"/>
            <a:ext cx="7649643" cy="614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904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152" y="447259"/>
            <a:ext cx="8573696" cy="596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021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068" y="391019"/>
            <a:ext cx="8821319" cy="5965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553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079" y="360785"/>
            <a:ext cx="9202147" cy="6221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050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0474" y="453643"/>
            <a:ext cx="451358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Triple</a:t>
            </a:r>
            <a:r>
              <a:rPr spc="-70" dirty="0"/>
              <a:t> </a:t>
            </a:r>
            <a:r>
              <a:rPr spc="-5" dirty="0"/>
              <a:t>Integrals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0720" y="3522979"/>
            <a:ext cx="1074504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Again, the triple integral always exists </a:t>
            </a:r>
            <a:r>
              <a:rPr sz="2400" dirty="0">
                <a:latin typeface="Arial"/>
                <a:cs typeface="Arial"/>
              </a:rPr>
              <a:t>if </a:t>
            </a:r>
            <a:r>
              <a:rPr sz="2400" i="1" dirty="0">
                <a:latin typeface="Arial"/>
                <a:cs typeface="Arial"/>
              </a:rPr>
              <a:t>f </a:t>
            </a:r>
            <a:r>
              <a:rPr sz="2400" dirty="0">
                <a:latin typeface="Arial"/>
                <a:cs typeface="Arial"/>
              </a:rPr>
              <a:t>is </a:t>
            </a:r>
            <a:r>
              <a:rPr sz="2400" spc="-5" dirty="0">
                <a:latin typeface="Arial"/>
                <a:cs typeface="Arial"/>
              </a:rPr>
              <a:t>continuous. We  </a:t>
            </a:r>
            <a:r>
              <a:rPr sz="2400" dirty="0">
                <a:latin typeface="Arial"/>
                <a:cs typeface="Arial"/>
              </a:rPr>
              <a:t>can </a:t>
            </a:r>
            <a:r>
              <a:rPr sz="2400" spc="-5" dirty="0">
                <a:latin typeface="Arial"/>
                <a:cs typeface="Arial"/>
              </a:rPr>
              <a:t>choose the </a:t>
            </a:r>
            <a:r>
              <a:rPr sz="2400" dirty="0">
                <a:latin typeface="Arial"/>
                <a:cs typeface="Arial"/>
              </a:rPr>
              <a:t>sample </a:t>
            </a:r>
            <a:r>
              <a:rPr sz="2400" spc="-5" dirty="0">
                <a:latin typeface="Arial"/>
                <a:cs typeface="Arial"/>
              </a:rPr>
              <a:t>point to be any point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the</a:t>
            </a:r>
            <a:endParaRPr sz="2400">
              <a:latin typeface="Arial"/>
              <a:cs typeface="Arial"/>
            </a:endParaRPr>
          </a:p>
          <a:p>
            <a:pPr marL="38100" marR="3175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sub-box, but </a:t>
            </a:r>
            <a:r>
              <a:rPr sz="2400" dirty="0">
                <a:latin typeface="Arial"/>
                <a:cs typeface="Arial"/>
              </a:rPr>
              <a:t>if we </a:t>
            </a:r>
            <a:r>
              <a:rPr sz="2400" spc="-5" dirty="0">
                <a:latin typeface="Arial"/>
                <a:cs typeface="Arial"/>
              </a:rPr>
              <a:t>choose </a:t>
            </a:r>
            <a:r>
              <a:rPr sz="2400" dirty="0">
                <a:latin typeface="Arial"/>
                <a:cs typeface="Arial"/>
              </a:rPr>
              <a:t>it </a:t>
            </a:r>
            <a:r>
              <a:rPr sz="2400" spc="-5" dirty="0">
                <a:latin typeface="Arial"/>
                <a:cs typeface="Arial"/>
              </a:rPr>
              <a:t>to be the point 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i="1" spc="-7" baseline="-20833" dirty="0">
                <a:latin typeface="Arial"/>
                <a:cs typeface="Arial"/>
              </a:rPr>
              <a:t>i</a:t>
            </a:r>
            <a:r>
              <a:rPr sz="2400" spc="-5" dirty="0">
                <a:latin typeface="Arial"/>
                <a:cs typeface="Arial"/>
              </a:rPr>
              <a:t>, </a:t>
            </a:r>
            <a:r>
              <a:rPr sz="2400" i="1" spc="15" dirty="0">
                <a:latin typeface="Arial"/>
                <a:cs typeface="Arial"/>
              </a:rPr>
              <a:t>y</a:t>
            </a:r>
            <a:r>
              <a:rPr sz="2400" i="1" spc="22" baseline="-20833" dirty="0">
                <a:latin typeface="Arial"/>
                <a:cs typeface="Arial"/>
              </a:rPr>
              <a:t>j</a:t>
            </a:r>
            <a:r>
              <a:rPr sz="2400" spc="15" dirty="0">
                <a:latin typeface="Arial"/>
                <a:cs typeface="Arial"/>
              </a:rPr>
              <a:t>, </a:t>
            </a:r>
            <a:r>
              <a:rPr sz="2400" i="1" dirty="0">
                <a:latin typeface="Arial"/>
                <a:cs typeface="Arial"/>
              </a:rPr>
              <a:t>z</a:t>
            </a:r>
            <a:r>
              <a:rPr sz="2400" i="1" baseline="-20833" dirty="0">
                <a:latin typeface="Arial"/>
                <a:cs typeface="Arial"/>
              </a:rPr>
              <a:t>k</a:t>
            </a:r>
            <a:r>
              <a:rPr sz="2400" dirty="0">
                <a:latin typeface="Arial"/>
                <a:cs typeface="Arial"/>
              </a:rPr>
              <a:t>) we get  a </a:t>
            </a:r>
            <a:r>
              <a:rPr sz="2400" spc="-5" dirty="0">
                <a:latin typeface="Arial"/>
                <a:cs typeface="Arial"/>
              </a:rPr>
              <a:t>simpler-looking expression for the triple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integral: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55321" y="1490453"/>
            <a:ext cx="10901679" cy="19042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76119" y="5302787"/>
            <a:ext cx="8351520" cy="10675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418486" y="6431091"/>
            <a:ext cx="237913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2090"/>
              </a:lnSpc>
            </a:pPr>
            <a:fld id="{81D60167-4931-47E6-BA6A-407CBD079E47}" type="slidenum">
              <a:rPr sz="1800" dirty="0">
                <a:latin typeface="Arial"/>
                <a:cs typeface="Arial"/>
              </a:rPr>
              <a:pPr marL="25400">
                <a:lnSpc>
                  <a:spcPts val="2090"/>
                </a:lnSpc>
              </a:pPr>
              <a:t>10</a:t>
            </a:fld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0474" y="453643"/>
            <a:ext cx="451358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Triple</a:t>
            </a:r>
            <a:r>
              <a:rPr spc="-70" dirty="0"/>
              <a:t> </a:t>
            </a:r>
            <a:r>
              <a:rPr spc="-5" dirty="0"/>
              <a:t>Integrals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4588" y="1477772"/>
            <a:ext cx="9950873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Just </a:t>
            </a:r>
            <a:r>
              <a:rPr sz="2400" spc="-5" dirty="0">
                <a:latin typeface="Arial"/>
                <a:cs typeface="Arial"/>
              </a:rPr>
              <a:t>as for double integrals, the practical method for  evaluating triple integrals </a:t>
            </a:r>
            <a:r>
              <a:rPr sz="2400" dirty="0">
                <a:latin typeface="Arial"/>
                <a:cs typeface="Arial"/>
              </a:rPr>
              <a:t>is </a:t>
            </a:r>
            <a:r>
              <a:rPr sz="2400" spc="-5" dirty="0">
                <a:latin typeface="Arial"/>
                <a:cs typeface="Arial"/>
              </a:rPr>
              <a:t>to express them as iterated  integrals as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follows.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4587" y="4705604"/>
            <a:ext cx="10528300" cy="148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2715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The iterated integral on the right side of Fubini’s Theorem  means that </a:t>
            </a:r>
            <a:r>
              <a:rPr sz="2400" dirty="0">
                <a:latin typeface="Arial"/>
                <a:cs typeface="Arial"/>
              </a:rPr>
              <a:t>we </a:t>
            </a:r>
            <a:r>
              <a:rPr sz="2400" spc="-5" dirty="0">
                <a:latin typeface="Arial"/>
                <a:cs typeface="Arial"/>
              </a:rPr>
              <a:t>integrate first with respect to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i="1" spc="2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(keeping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870"/>
              </a:lnSpc>
            </a:pPr>
            <a:r>
              <a:rPr sz="2400" i="1" dirty="0">
                <a:latin typeface="Arial"/>
                <a:cs typeface="Arial"/>
              </a:rPr>
              <a:t>y </a:t>
            </a:r>
            <a:r>
              <a:rPr sz="2400" dirty="0">
                <a:latin typeface="Arial"/>
                <a:cs typeface="Arial"/>
              </a:rPr>
              <a:t>and </a:t>
            </a:r>
            <a:r>
              <a:rPr sz="2400" i="1" dirty="0">
                <a:latin typeface="Arial"/>
                <a:cs typeface="Arial"/>
              </a:rPr>
              <a:t>z </a:t>
            </a:r>
            <a:r>
              <a:rPr sz="2400" spc="-5" dirty="0">
                <a:latin typeface="Arial"/>
                <a:cs typeface="Arial"/>
              </a:rPr>
              <a:t>fixed), then </a:t>
            </a:r>
            <a:r>
              <a:rPr sz="2400" dirty="0">
                <a:latin typeface="Arial"/>
                <a:cs typeface="Arial"/>
              </a:rPr>
              <a:t>we </a:t>
            </a:r>
            <a:r>
              <a:rPr sz="2400" spc="-5" dirty="0">
                <a:latin typeface="Arial"/>
                <a:cs typeface="Arial"/>
              </a:rPr>
              <a:t>integrate with respect to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i="1" spc="7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(keeping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870"/>
              </a:lnSpc>
            </a:pPr>
            <a:r>
              <a:rPr sz="2400" i="1" dirty="0">
                <a:latin typeface="Arial"/>
                <a:cs typeface="Arial"/>
              </a:rPr>
              <a:t>z </a:t>
            </a:r>
            <a:r>
              <a:rPr sz="2400" dirty="0">
                <a:latin typeface="Arial"/>
                <a:cs typeface="Arial"/>
              </a:rPr>
              <a:t>fixed), </a:t>
            </a:r>
            <a:r>
              <a:rPr sz="2400" spc="-5" dirty="0">
                <a:latin typeface="Arial"/>
                <a:cs typeface="Arial"/>
              </a:rPr>
              <a:t>and finally </a:t>
            </a:r>
            <a:r>
              <a:rPr sz="2400" dirty="0">
                <a:latin typeface="Arial"/>
                <a:cs typeface="Arial"/>
              </a:rPr>
              <a:t>we </a:t>
            </a:r>
            <a:r>
              <a:rPr sz="2400" spc="-5" dirty="0">
                <a:latin typeface="Arial"/>
                <a:cs typeface="Arial"/>
              </a:rPr>
              <a:t>integrate with respect to </a:t>
            </a:r>
            <a:r>
              <a:rPr sz="2400" i="1" dirty="0">
                <a:latin typeface="Arial"/>
                <a:cs typeface="Arial"/>
              </a:rPr>
              <a:t>z</a:t>
            </a:r>
            <a:r>
              <a:rPr sz="2400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53295" y="2808010"/>
            <a:ext cx="10902680" cy="17731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418486" y="6431091"/>
            <a:ext cx="237913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2090"/>
              </a:lnSpc>
            </a:pPr>
            <a:fld id="{81D60167-4931-47E6-BA6A-407CBD079E47}" type="slidenum">
              <a:rPr sz="1800" dirty="0">
                <a:latin typeface="Arial"/>
                <a:cs typeface="Arial"/>
              </a:rPr>
              <a:pPr marL="25400">
                <a:lnSpc>
                  <a:spcPts val="2090"/>
                </a:lnSpc>
              </a:pPr>
              <a:t>11</a:t>
            </a:fld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0474" y="453643"/>
            <a:ext cx="451358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Triple</a:t>
            </a:r>
            <a:r>
              <a:rPr spc="-70" dirty="0"/>
              <a:t> </a:t>
            </a:r>
            <a:r>
              <a:rPr spc="-5" dirty="0"/>
              <a:t>Integrals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4587" y="1477772"/>
            <a:ext cx="10328487" cy="16517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77545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There are five other possible orders </a:t>
            </a:r>
            <a:r>
              <a:rPr sz="2400" dirty="0">
                <a:latin typeface="Arial"/>
                <a:cs typeface="Arial"/>
              </a:rPr>
              <a:t>in </a:t>
            </a:r>
            <a:r>
              <a:rPr sz="2400" spc="-5" dirty="0">
                <a:latin typeface="Arial"/>
                <a:cs typeface="Arial"/>
              </a:rPr>
              <a:t>which </a:t>
            </a:r>
            <a:r>
              <a:rPr sz="2400" dirty="0">
                <a:latin typeface="Arial"/>
                <a:cs typeface="Arial"/>
              </a:rPr>
              <a:t>we can  </a:t>
            </a:r>
            <a:r>
              <a:rPr sz="2400" spc="-5" dirty="0">
                <a:latin typeface="Arial"/>
                <a:cs typeface="Arial"/>
              </a:rPr>
              <a:t>integrate, all of which give the </a:t>
            </a:r>
            <a:r>
              <a:rPr sz="2400" dirty="0">
                <a:latin typeface="Arial"/>
                <a:cs typeface="Arial"/>
              </a:rPr>
              <a:t>same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value.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45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For instance, </a:t>
            </a:r>
            <a:r>
              <a:rPr sz="2400" dirty="0">
                <a:latin typeface="Arial"/>
                <a:cs typeface="Arial"/>
              </a:rPr>
              <a:t>if we </a:t>
            </a:r>
            <a:r>
              <a:rPr sz="2400" spc="-5" dirty="0">
                <a:latin typeface="Arial"/>
                <a:cs typeface="Arial"/>
              </a:rPr>
              <a:t>integrate with respect to </a:t>
            </a:r>
            <a:r>
              <a:rPr sz="2400" i="1" spc="10" dirty="0">
                <a:latin typeface="Arial"/>
                <a:cs typeface="Arial"/>
              </a:rPr>
              <a:t>y</a:t>
            </a:r>
            <a:r>
              <a:rPr sz="2400" spc="10" dirty="0">
                <a:latin typeface="Arial"/>
                <a:cs typeface="Arial"/>
              </a:rPr>
              <a:t>, </a:t>
            </a:r>
            <a:r>
              <a:rPr sz="2400" spc="-5" dirty="0">
                <a:latin typeface="Arial"/>
                <a:cs typeface="Arial"/>
              </a:rPr>
              <a:t>then </a:t>
            </a:r>
            <a:r>
              <a:rPr sz="2400" i="1" spc="10" dirty="0">
                <a:latin typeface="Arial"/>
                <a:cs typeface="Arial"/>
              </a:rPr>
              <a:t>z</a:t>
            </a:r>
            <a:r>
              <a:rPr sz="2400" spc="10" dirty="0">
                <a:latin typeface="Arial"/>
                <a:cs typeface="Arial"/>
              </a:rPr>
              <a:t>, </a:t>
            </a:r>
            <a:r>
              <a:rPr sz="2400" spc="-5" dirty="0">
                <a:latin typeface="Arial"/>
                <a:cs typeface="Arial"/>
              </a:rPr>
              <a:t>and  </a:t>
            </a:r>
            <a:r>
              <a:rPr sz="2400" dirty="0">
                <a:latin typeface="Arial"/>
                <a:cs typeface="Arial"/>
              </a:rPr>
              <a:t>then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"/>
                <a:cs typeface="Arial"/>
              </a:rPr>
              <a:t>, we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have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32973" y="4093920"/>
            <a:ext cx="7463393" cy="6990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418486" y="6431091"/>
            <a:ext cx="237913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2090"/>
              </a:lnSpc>
            </a:pPr>
            <a:fld id="{81D60167-4931-47E6-BA6A-407CBD079E47}" type="slidenum">
              <a:rPr sz="1800" dirty="0">
                <a:latin typeface="Arial"/>
                <a:cs typeface="Arial"/>
              </a:rPr>
              <a:pPr marL="25400">
                <a:lnSpc>
                  <a:spcPts val="2090"/>
                </a:lnSpc>
              </a:pPr>
              <a:t>12</a:t>
            </a:fld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0474" y="453643"/>
            <a:ext cx="3235113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5" dirty="0" smtClean="0"/>
              <a:t>  </a:t>
            </a:r>
            <a:r>
              <a:rPr spc="-5" smtClean="0"/>
              <a:t>Example</a:t>
            </a:r>
            <a:r>
              <a:rPr spc="-85" smtClean="0"/>
              <a:t> </a:t>
            </a:r>
            <a:r>
              <a:rPr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6853" y="1413057"/>
            <a:ext cx="10549467" cy="3642216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63500" marR="584835">
              <a:lnSpc>
                <a:spcPct val="106900"/>
              </a:lnSpc>
              <a:spcBef>
                <a:spcPts val="145"/>
              </a:spcBef>
            </a:pPr>
            <a:r>
              <a:rPr sz="2400" spc="-5" dirty="0">
                <a:latin typeface="Arial"/>
                <a:cs typeface="Arial"/>
              </a:rPr>
              <a:t>Evaluate the triple integral </a:t>
            </a:r>
            <a:r>
              <a:rPr sz="2800" b="1" spc="-5" dirty="0">
                <a:latin typeface="Symbol"/>
                <a:cs typeface="Symbol"/>
              </a:rPr>
              <a:t></a:t>
            </a:r>
            <a:r>
              <a:rPr sz="2400" i="1" spc="-7" baseline="-20833" dirty="0">
                <a:latin typeface="Arial"/>
                <a:cs typeface="Arial"/>
              </a:rPr>
              <a:t>B </a:t>
            </a:r>
            <a:r>
              <a:rPr sz="2400" i="1" spc="-5" dirty="0">
                <a:latin typeface="Arial"/>
                <a:cs typeface="Arial"/>
              </a:rPr>
              <a:t>xyz</a:t>
            </a:r>
            <a:r>
              <a:rPr sz="2400" spc="-7" baseline="24305" dirty="0">
                <a:latin typeface="Arial"/>
                <a:cs typeface="Arial"/>
              </a:rPr>
              <a:t>2 </a:t>
            </a:r>
            <a:r>
              <a:rPr sz="2400" i="1" spc="-5" dirty="0">
                <a:latin typeface="Arial"/>
                <a:cs typeface="Arial"/>
              </a:rPr>
              <a:t>dV</a:t>
            </a:r>
            <a:r>
              <a:rPr sz="2400" spc="-5" dirty="0">
                <a:latin typeface="Arial"/>
                <a:cs typeface="Arial"/>
              </a:rPr>
              <a:t>, where </a:t>
            </a:r>
            <a:r>
              <a:rPr sz="2400" i="1" dirty="0">
                <a:latin typeface="Arial"/>
                <a:cs typeface="Arial"/>
              </a:rPr>
              <a:t>B </a:t>
            </a:r>
            <a:r>
              <a:rPr sz="2400" dirty="0">
                <a:latin typeface="Arial"/>
                <a:cs typeface="Arial"/>
              </a:rPr>
              <a:t>is </a:t>
            </a:r>
            <a:r>
              <a:rPr sz="2400" spc="-5" dirty="0">
                <a:latin typeface="Arial"/>
                <a:cs typeface="Arial"/>
              </a:rPr>
              <a:t>the  rectangular box given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by</a:t>
            </a:r>
            <a:endParaRPr sz="2400">
              <a:latin typeface="Arial"/>
              <a:cs typeface="Arial"/>
            </a:endParaRPr>
          </a:p>
          <a:p>
            <a:pPr marL="87630" algn="ctr">
              <a:lnSpc>
                <a:spcPct val="100000"/>
              </a:lnSpc>
              <a:spcBef>
                <a:spcPts val="2205"/>
              </a:spcBef>
            </a:pPr>
            <a:r>
              <a:rPr sz="2400" i="1" dirty="0">
                <a:latin typeface="Arial"/>
                <a:cs typeface="Arial"/>
              </a:rPr>
              <a:t>B </a:t>
            </a:r>
            <a:r>
              <a:rPr sz="2400" dirty="0">
                <a:latin typeface="Arial"/>
                <a:cs typeface="Arial"/>
              </a:rPr>
              <a:t>= </a:t>
            </a:r>
            <a:r>
              <a:rPr sz="2400" spc="-5" dirty="0">
                <a:latin typeface="Arial"/>
                <a:cs typeface="Arial"/>
              </a:rPr>
              <a:t>{(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"/>
                <a:cs typeface="Arial"/>
              </a:rPr>
              <a:t>, </a:t>
            </a:r>
            <a:r>
              <a:rPr sz="2400" i="1" spc="10" dirty="0">
                <a:latin typeface="Arial"/>
                <a:cs typeface="Arial"/>
              </a:rPr>
              <a:t>y</a:t>
            </a:r>
            <a:r>
              <a:rPr sz="2400" spc="10" dirty="0">
                <a:latin typeface="Arial"/>
                <a:cs typeface="Arial"/>
              </a:rPr>
              <a:t>, </a:t>
            </a:r>
            <a:r>
              <a:rPr sz="2400" i="1" dirty="0">
                <a:latin typeface="Arial"/>
                <a:cs typeface="Arial"/>
              </a:rPr>
              <a:t>z</a:t>
            </a:r>
            <a:r>
              <a:rPr sz="2400" dirty="0">
                <a:latin typeface="Arial"/>
                <a:cs typeface="Arial"/>
              </a:rPr>
              <a:t>) | 0 </a:t>
            </a:r>
            <a:r>
              <a:rPr sz="2400" b="1" spc="-5" dirty="0">
                <a:latin typeface="Symbol"/>
                <a:cs typeface="Symbol"/>
              </a:rPr>
              <a:t>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Arial"/>
                <a:cs typeface="Arial"/>
              </a:rPr>
              <a:t>x </a:t>
            </a:r>
            <a:r>
              <a:rPr sz="2400" b="1" spc="-5" dirty="0">
                <a:latin typeface="Symbol"/>
                <a:cs typeface="Symbol"/>
              </a:rPr>
              <a:t>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1, –1 </a:t>
            </a:r>
            <a:r>
              <a:rPr sz="2400" b="1" spc="-5" dirty="0">
                <a:latin typeface="Symbol"/>
                <a:cs typeface="Symbol"/>
              </a:rPr>
              <a:t>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Arial"/>
                <a:cs typeface="Arial"/>
              </a:rPr>
              <a:t>y </a:t>
            </a:r>
            <a:r>
              <a:rPr sz="2400" b="1" spc="-5" dirty="0">
                <a:latin typeface="Symbol"/>
                <a:cs typeface="Symbol"/>
              </a:rPr>
              <a:t>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2, 0 </a:t>
            </a:r>
            <a:r>
              <a:rPr sz="2400" b="1" spc="-5" dirty="0">
                <a:latin typeface="Symbol"/>
                <a:cs typeface="Symbol"/>
              </a:rPr>
              <a:t>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Arial"/>
                <a:cs typeface="Arial"/>
              </a:rPr>
              <a:t>z </a:t>
            </a:r>
            <a:r>
              <a:rPr sz="2400" b="1" spc="-5" dirty="0">
                <a:latin typeface="Symbol"/>
                <a:cs typeface="Symbol"/>
              </a:rPr>
              <a:t></a:t>
            </a:r>
            <a:r>
              <a:rPr sz="2400" b="1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3}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55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</a:pPr>
            <a:r>
              <a:rPr sz="2400" spc="-5" dirty="0">
                <a:solidFill>
                  <a:srgbClr val="CC007A"/>
                </a:solidFill>
                <a:latin typeface="Arial"/>
                <a:cs typeface="Arial"/>
              </a:rPr>
              <a:t>Solution:</a:t>
            </a:r>
            <a:endParaRPr sz="240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575"/>
              </a:spcBef>
            </a:pPr>
            <a:r>
              <a:rPr sz="2400" spc="-5" dirty="0">
                <a:latin typeface="Arial"/>
                <a:cs typeface="Arial"/>
              </a:rPr>
              <a:t>We could use any of the </a:t>
            </a:r>
            <a:r>
              <a:rPr sz="2400" dirty="0">
                <a:latin typeface="Arial"/>
                <a:cs typeface="Arial"/>
              </a:rPr>
              <a:t>six </a:t>
            </a:r>
            <a:r>
              <a:rPr sz="2400" spc="-5" dirty="0">
                <a:latin typeface="Arial"/>
                <a:cs typeface="Arial"/>
              </a:rPr>
              <a:t>possible orders of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integration.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63500" marR="542925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If </a:t>
            </a:r>
            <a:r>
              <a:rPr sz="2400" dirty="0">
                <a:latin typeface="Arial"/>
                <a:cs typeface="Arial"/>
              </a:rPr>
              <a:t>we </a:t>
            </a:r>
            <a:r>
              <a:rPr sz="2400" spc="-5" dirty="0">
                <a:latin typeface="Arial"/>
                <a:cs typeface="Arial"/>
              </a:rPr>
              <a:t>choose to integrate with respect to </a:t>
            </a:r>
            <a:r>
              <a:rPr sz="2400" i="1" spc="10" dirty="0">
                <a:latin typeface="Arial"/>
                <a:cs typeface="Arial"/>
              </a:rPr>
              <a:t>x</a:t>
            </a:r>
            <a:r>
              <a:rPr sz="2400" spc="10" dirty="0">
                <a:latin typeface="Arial"/>
                <a:cs typeface="Arial"/>
              </a:rPr>
              <a:t>, </a:t>
            </a:r>
            <a:r>
              <a:rPr sz="2400" spc="-5" dirty="0">
                <a:latin typeface="Arial"/>
                <a:cs typeface="Arial"/>
              </a:rPr>
              <a:t>then </a:t>
            </a:r>
            <a:r>
              <a:rPr sz="2400" i="1" spc="10" dirty="0">
                <a:latin typeface="Arial"/>
                <a:cs typeface="Arial"/>
              </a:rPr>
              <a:t>y</a:t>
            </a:r>
            <a:r>
              <a:rPr sz="2400" spc="10" dirty="0">
                <a:latin typeface="Arial"/>
                <a:cs typeface="Arial"/>
              </a:rPr>
              <a:t>, </a:t>
            </a:r>
            <a:r>
              <a:rPr sz="2400" spc="-5" dirty="0">
                <a:latin typeface="Arial"/>
                <a:cs typeface="Arial"/>
              </a:rPr>
              <a:t>and  </a:t>
            </a:r>
            <a:r>
              <a:rPr sz="2400" dirty="0">
                <a:latin typeface="Arial"/>
                <a:cs typeface="Arial"/>
              </a:rPr>
              <a:t>then </a:t>
            </a:r>
            <a:r>
              <a:rPr sz="2400" i="1" dirty="0">
                <a:latin typeface="Arial"/>
                <a:cs typeface="Arial"/>
              </a:rPr>
              <a:t>z</a:t>
            </a:r>
            <a:r>
              <a:rPr sz="2400" dirty="0">
                <a:latin typeface="Arial"/>
                <a:cs typeface="Arial"/>
              </a:rPr>
              <a:t>, </a:t>
            </a:r>
            <a:r>
              <a:rPr sz="2400" spc="-5" dirty="0">
                <a:latin typeface="Arial"/>
                <a:cs typeface="Arial"/>
              </a:rPr>
              <a:t>we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obtain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3695" y="5682432"/>
            <a:ext cx="6080104" cy="7032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418486" y="6431091"/>
            <a:ext cx="237913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2090"/>
              </a:lnSpc>
            </a:pPr>
            <a:fld id="{81D60167-4931-47E6-BA6A-407CBD079E47}" type="slidenum">
              <a:rPr sz="1800" dirty="0">
                <a:latin typeface="Arial"/>
                <a:cs typeface="Arial"/>
              </a:rPr>
              <a:pPr marL="25400">
                <a:lnSpc>
                  <a:spcPts val="2090"/>
                </a:lnSpc>
              </a:pPr>
              <a:t>13</a:t>
            </a:fld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0474" y="453643"/>
            <a:ext cx="644398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5" dirty="0" smtClean="0"/>
              <a:t>  </a:t>
            </a:r>
            <a:r>
              <a:rPr spc="-5" smtClean="0"/>
              <a:t>Example </a:t>
            </a:r>
            <a:r>
              <a:rPr dirty="0"/>
              <a:t>1 –</a:t>
            </a:r>
            <a:r>
              <a:rPr spc="-55" dirty="0"/>
              <a:t> </a:t>
            </a:r>
            <a:r>
              <a:rPr i="1" dirty="0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16826" y="859028"/>
            <a:ext cx="850053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co</a:t>
            </a:r>
            <a:r>
              <a:rPr sz="1800" spc="-5" dirty="0">
                <a:latin typeface="Arial"/>
                <a:cs typeface="Arial"/>
              </a:rPr>
              <a:t>n</a:t>
            </a:r>
            <a:r>
              <a:rPr sz="1800" spc="5" dirty="0">
                <a:latin typeface="Arial"/>
                <a:cs typeface="Arial"/>
              </a:rPr>
              <a:t>t’</a:t>
            </a:r>
            <a:r>
              <a:rPr sz="1800" dirty="0">
                <a:latin typeface="Arial"/>
                <a:cs typeface="Arial"/>
              </a:rPr>
              <a:t>d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083855" y="1430692"/>
            <a:ext cx="4552608" cy="8710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116781" y="2661130"/>
            <a:ext cx="3084729" cy="6781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080233" y="3706876"/>
            <a:ext cx="3595320" cy="91112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107388" y="4853025"/>
            <a:ext cx="2020016" cy="69318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733365" y="5861982"/>
            <a:ext cx="992552" cy="63951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41826" y="5712905"/>
            <a:ext cx="1317284" cy="90106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418486" y="6431091"/>
            <a:ext cx="237913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2090"/>
              </a:lnSpc>
            </a:pPr>
            <a:fld id="{81D60167-4931-47E6-BA6A-407CBD079E47}" type="slidenum">
              <a:rPr sz="1800" dirty="0">
                <a:latin typeface="Arial"/>
                <a:cs typeface="Arial"/>
              </a:rPr>
              <a:pPr marL="25400">
                <a:lnSpc>
                  <a:spcPts val="2090"/>
                </a:lnSpc>
              </a:pPr>
              <a:t>14</a:t>
            </a:fld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3500" y="1601769"/>
            <a:ext cx="1140460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187450" algn="l"/>
                <a:tab pos="5650865" algn="l"/>
              </a:tabLst>
            </a:pPr>
            <a:r>
              <a:rPr sz="10500" spc="-15" baseline="-13095" dirty="0">
                <a:latin typeface="Symbol"/>
                <a:cs typeface="Symbol"/>
              </a:rPr>
              <a:t></a:t>
            </a:r>
            <a:r>
              <a:rPr sz="10500" spc="-337" baseline="-13095" dirty="0">
                <a:latin typeface="Symbol"/>
                <a:cs typeface="Symbol"/>
              </a:rPr>
              <a:t></a:t>
            </a:r>
            <a:r>
              <a:rPr sz="4050" i="1" spc="22" baseline="-53497" dirty="0">
                <a:latin typeface="Times New Roman"/>
                <a:cs typeface="Times New Roman"/>
              </a:rPr>
              <a:t>D</a:t>
            </a:r>
            <a:r>
              <a:rPr sz="4050" i="1" baseline="-53497" dirty="0">
                <a:latin typeface="Times New Roman"/>
                <a:cs typeface="Times New Roman"/>
              </a:rPr>
              <a:t>	</a:t>
            </a:r>
            <a:r>
              <a:rPr sz="4650" i="1" spc="5" dirty="0">
                <a:latin typeface="Times New Roman"/>
                <a:cs typeface="Times New Roman"/>
              </a:rPr>
              <a:t>f</a:t>
            </a:r>
            <a:r>
              <a:rPr sz="4650" i="1" spc="-100" dirty="0">
                <a:latin typeface="Times New Roman"/>
                <a:cs typeface="Times New Roman"/>
              </a:rPr>
              <a:t> </a:t>
            </a:r>
            <a:r>
              <a:rPr sz="4650" spc="5" dirty="0">
                <a:latin typeface="Times New Roman"/>
                <a:cs typeface="Times New Roman"/>
              </a:rPr>
              <a:t>(</a:t>
            </a:r>
            <a:r>
              <a:rPr sz="4650" spc="-750" dirty="0">
                <a:latin typeface="Times New Roman"/>
                <a:cs typeface="Times New Roman"/>
              </a:rPr>
              <a:t> </a:t>
            </a:r>
            <a:r>
              <a:rPr sz="4650" i="1" spc="105" dirty="0">
                <a:latin typeface="Times New Roman"/>
                <a:cs typeface="Times New Roman"/>
              </a:rPr>
              <a:t>x</a:t>
            </a:r>
            <a:r>
              <a:rPr sz="4650" dirty="0">
                <a:latin typeface="Times New Roman"/>
                <a:cs typeface="Times New Roman"/>
              </a:rPr>
              <a:t>,</a:t>
            </a:r>
            <a:r>
              <a:rPr sz="4650" spc="-240" dirty="0">
                <a:latin typeface="Times New Roman"/>
                <a:cs typeface="Times New Roman"/>
              </a:rPr>
              <a:t> </a:t>
            </a:r>
            <a:r>
              <a:rPr sz="4650" i="1" spc="150" dirty="0">
                <a:latin typeface="Times New Roman"/>
                <a:cs typeface="Times New Roman"/>
              </a:rPr>
              <a:t>y</a:t>
            </a:r>
            <a:r>
              <a:rPr sz="4650" dirty="0">
                <a:latin typeface="Times New Roman"/>
                <a:cs typeface="Times New Roman"/>
              </a:rPr>
              <a:t>,</a:t>
            </a:r>
            <a:r>
              <a:rPr sz="4650" spc="-530" dirty="0">
                <a:latin typeface="Times New Roman"/>
                <a:cs typeface="Times New Roman"/>
              </a:rPr>
              <a:t> </a:t>
            </a:r>
            <a:r>
              <a:rPr sz="4650" i="1" spc="254" dirty="0">
                <a:latin typeface="Times New Roman"/>
                <a:cs typeface="Times New Roman"/>
              </a:rPr>
              <a:t>z</a:t>
            </a:r>
            <a:r>
              <a:rPr sz="4650" spc="80" dirty="0">
                <a:latin typeface="Times New Roman"/>
                <a:cs typeface="Times New Roman"/>
              </a:rPr>
              <a:t>)</a:t>
            </a:r>
            <a:r>
              <a:rPr sz="4650" i="1" spc="5" dirty="0">
                <a:latin typeface="Times New Roman"/>
                <a:cs typeface="Times New Roman"/>
              </a:rPr>
              <a:t>dV</a:t>
            </a:r>
            <a:r>
              <a:rPr sz="4650" i="1" spc="525" dirty="0">
                <a:latin typeface="Times New Roman"/>
                <a:cs typeface="Times New Roman"/>
              </a:rPr>
              <a:t> </a:t>
            </a:r>
            <a:r>
              <a:rPr sz="4650" spc="340" dirty="0">
                <a:latin typeface="Symbol"/>
                <a:cs typeface="Symbol"/>
              </a:rPr>
              <a:t></a:t>
            </a:r>
            <a:r>
              <a:rPr sz="10500" spc="-15" baseline="-13095" dirty="0">
                <a:latin typeface="Symbol"/>
                <a:cs typeface="Symbol"/>
              </a:rPr>
              <a:t></a:t>
            </a:r>
            <a:r>
              <a:rPr sz="10500" spc="-337" baseline="-13095" dirty="0">
                <a:latin typeface="Symbol"/>
                <a:cs typeface="Symbol"/>
              </a:rPr>
              <a:t></a:t>
            </a:r>
            <a:r>
              <a:rPr sz="4050" i="1" spc="22" baseline="-53497" dirty="0">
                <a:latin typeface="Times New Roman"/>
                <a:cs typeface="Times New Roman"/>
              </a:rPr>
              <a:t>D</a:t>
            </a:r>
            <a:r>
              <a:rPr sz="4050" i="1" baseline="-53497" dirty="0">
                <a:latin typeface="Times New Roman"/>
                <a:cs typeface="Times New Roman"/>
              </a:rPr>
              <a:t>	</a:t>
            </a:r>
            <a:r>
              <a:rPr sz="4650" i="1" spc="5" dirty="0">
                <a:latin typeface="Times New Roman"/>
                <a:cs typeface="Times New Roman"/>
              </a:rPr>
              <a:t>f</a:t>
            </a:r>
            <a:r>
              <a:rPr sz="4650" i="1" spc="-100" dirty="0">
                <a:latin typeface="Times New Roman"/>
                <a:cs typeface="Times New Roman"/>
              </a:rPr>
              <a:t> </a:t>
            </a:r>
            <a:r>
              <a:rPr sz="4650" spc="5" dirty="0">
                <a:latin typeface="Times New Roman"/>
                <a:cs typeface="Times New Roman"/>
              </a:rPr>
              <a:t>(</a:t>
            </a:r>
            <a:r>
              <a:rPr sz="4650" spc="-745" dirty="0">
                <a:latin typeface="Times New Roman"/>
                <a:cs typeface="Times New Roman"/>
              </a:rPr>
              <a:t> </a:t>
            </a:r>
            <a:r>
              <a:rPr sz="4650" i="1" spc="105" dirty="0">
                <a:latin typeface="Times New Roman"/>
                <a:cs typeface="Times New Roman"/>
              </a:rPr>
              <a:t>x</a:t>
            </a:r>
            <a:r>
              <a:rPr sz="4650" dirty="0">
                <a:latin typeface="Times New Roman"/>
                <a:cs typeface="Times New Roman"/>
              </a:rPr>
              <a:t>,</a:t>
            </a:r>
            <a:r>
              <a:rPr sz="4650" spc="-240" dirty="0">
                <a:latin typeface="Times New Roman"/>
                <a:cs typeface="Times New Roman"/>
              </a:rPr>
              <a:t> </a:t>
            </a:r>
            <a:r>
              <a:rPr sz="4650" i="1" spc="145" dirty="0">
                <a:latin typeface="Times New Roman"/>
                <a:cs typeface="Times New Roman"/>
              </a:rPr>
              <a:t>y</a:t>
            </a:r>
            <a:r>
              <a:rPr sz="4650" dirty="0">
                <a:latin typeface="Times New Roman"/>
                <a:cs typeface="Times New Roman"/>
              </a:rPr>
              <a:t>,</a:t>
            </a:r>
            <a:r>
              <a:rPr sz="4650" spc="-525" dirty="0">
                <a:latin typeface="Times New Roman"/>
                <a:cs typeface="Times New Roman"/>
              </a:rPr>
              <a:t> </a:t>
            </a:r>
            <a:r>
              <a:rPr sz="4650" i="1" spc="254" dirty="0">
                <a:latin typeface="Times New Roman"/>
                <a:cs typeface="Times New Roman"/>
              </a:rPr>
              <a:t>z</a:t>
            </a:r>
            <a:r>
              <a:rPr sz="4650" spc="80" dirty="0">
                <a:latin typeface="Times New Roman"/>
                <a:cs typeface="Times New Roman"/>
              </a:rPr>
              <a:t>)</a:t>
            </a:r>
            <a:r>
              <a:rPr sz="4650" i="1" spc="5" dirty="0">
                <a:latin typeface="Times New Roman"/>
                <a:cs typeface="Times New Roman"/>
              </a:rPr>
              <a:t>dxdydz</a:t>
            </a:r>
            <a:endParaRPr sz="46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39828" y="228152"/>
            <a:ext cx="9712036" cy="55399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500" u="heavy" dirty="0">
                <a:solidFill>
                  <a:srgbClr val="0065FF"/>
                </a:solidFill>
                <a:uFill>
                  <a:solidFill>
                    <a:srgbClr val="0065FF"/>
                  </a:solidFill>
                </a:uFill>
                <a:latin typeface="Arial"/>
                <a:cs typeface="Arial"/>
              </a:rPr>
              <a:t>Triple Integrals </a:t>
            </a:r>
            <a:r>
              <a:rPr sz="3500" u="heavy" spc="5" dirty="0">
                <a:solidFill>
                  <a:srgbClr val="0065FF"/>
                </a:solidFill>
                <a:uFill>
                  <a:solidFill>
                    <a:srgbClr val="0065FF"/>
                  </a:solidFill>
                </a:uFill>
                <a:latin typeface="Arial"/>
                <a:cs typeface="Arial"/>
              </a:rPr>
              <a:t>in Cartesian</a:t>
            </a:r>
            <a:r>
              <a:rPr sz="3500" u="heavy" spc="-25" dirty="0">
                <a:solidFill>
                  <a:srgbClr val="0065FF"/>
                </a:solidFill>
                <a:uFill>
                  <a:solidFill>
                    <a:srgbClr val="0065FF"/>
                  </a:solidFill>
                </a:uFill>
                <a:latin typeface="Arial"/>
                <a:cs typeface="Arial"/>
              </a:rPr>
              <a:t> </a:t>
            </a:r>
            <a:r>
              <a:rPr sz="3500" u="heavy" spc="5" dirty="0">
                <a:solidFill>
                  <a:srgbClr val="0065FF"/>
                </a:solidFill>
                <a:uFill>
                  <a:solidFill>
                    <a:srgbClr val="0065FF"/>
                  </a:solidFill>
                </a:uFill>
                <a:latin typeface="Arial"/>
                <a:cs typeface="Arial"/>
              </a:rPr>
              <a:t>Coordinates</a:t>
            </a:r>
            <a:endParaRPr sz="3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3208" y="963033"/>
            <a:ext cx="11018982" cy="41806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40"/>
              </a:spcBef>
              <a:buClr>
                <a:srgbClr val="0065FF"/>
              </a:buClr>
              <a:buFont typeface="Wingdings"/>
              <a:buChar char=""/>
              <a:tabLst>
                <a:tab pos="389255" algn="l"/>
                <a:tab pos="389890" algn="l"/>
              </a:tabLst>
            </a:pPr>
            <a:r>
              <a:rPr sz="2600" spc="15" dirty="0">
                <a:latin typeface="Times New Roman"/>
                <a:cs typeface="Times New Roman"/>
              </a:rPr>
              <a:t>The </a:t>
            </a:r>
            <a:r>
              <a:rPr sz="2600" spc="10" dirty="0">
                <a:latin typeface="Times New Roman"/>
                <a:cs typeface="Times New Roman"/>
              </a:rPr>
              <a:t>integral of </a:t>
            </a:r>
            <a:r>
              <a:rPr sz="2600" spc="15" dirty="0">
                <a:latin typeface="Times New Roman"/>
                <a:cs typeface="Times New Roman"/>
              </a:rPr>
              <a:t>a </a:t>
            </a:r>
            <a:r>
              <a:rPr sz="2600" spc="10" dirty="0">
                <a:latin typeface="Times New Roman"/>
                <a:cs typeface="Times New Roman"/>
              </a:rPr>
              <a:t>function </a:t>
            </a:r>
            <a:r>
              <a:rPr sz="2600" i="1" spc="5" dirty="0">
                <a:latin typeface="Times New Roman"/>
                <a:cs typeface="Times New Roman"/>
              </a:rPr>
              <a:t>f(x,y,z) </a:t>
            </a:r>
            <a:r>
              <a:rPr sz="2600" spc="10" dirty="0">
                <a:latin typeface="Times New Roman"/>
                <a:cs typeface="Times New Roman"/>
              </a:rPr>
              <a:t>over </a:t>
            </a:r>
            <a:r>
              <a:rPr sz="2600" spc="15" dirty="0">
                <a:latin typeface="Times New Roman"/>
                <a:cs typeface="Times New Roman"/>
              </a:rPr>
              <a:t>a </a:t>
            </a:r>
            <a:r>
              <a:rPr sz="2600" spc="20" dirty="0">
                <a:latin typeface="Times New Roman"/>
                <a:cs typeface="Times New Roman"/>
              </a:rPr>
              <a:t>3D </a:t>
            </a:r>
            <a:r>
              <a:rPr sz="2600" spc="10" dirty="0">
                <a:latin typeface="Times New Roman"/>
                <a:cs typeface="Times New Roman"/>
              </a:rPr>
              <a:t>object </a:t>
            </a:r>
            <a:r>
              <a:rPr sz="2600" spc="15" dirty="0">
                <a:latin typeface="Times New Roman"/>
                <a:cs typeface="Times New Roman"/>
              </a:rPr>
              <a:t>D, </a:t>
            </a:r>
            <a:r>
              <a:rPr sz="2600" spc="10" dirty="0">
                <a:latin typeface="Times New Roman"/>
                <a:cs typeface="Times New Roman"/>
              </a:rPr>
              <a:t>is given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by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2250" y="4915807"/>
            <a:ext cx="4028594" cy="122636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9890" marR="5080" indent="-377190">
              <a:lnSpc>
                <a:spcPct val="100899"/>
              </a:lnSpc>
              <a:spcBef>
                <a:spcPts val="110"/>
              </a:spcBef>
              <a:buClr>
                <a:srgbClr val="0065FF"/>
              </a:buClr>
              <a:buFont typeface="Wingdings"/>
              <a:buChar char=""/>
              <a:tabLst>
                <a:tab pos="389255" algn="l"/>
                <a:tab pos="389890" algn="l"/>
              </a:tabLst>
            </a:pPr>
            <a:r>
              <a:rPr sz="2600" spc="15" dirty="0">
                <a:latin typeface="Times New Roman"/>
                <a:cs typeface="Times New Roman"/>
              </a:rPr>
              <a:t>The </a:t>
            </a:r>
            <a:r>
              <a:rPr sz="2600" spc="10" dirty="0">
                <a:latin typeface="Times New Roman"/>
                <a:cs typeface="Times New Roman"/>
              </a:rPr>
              <a:t>limits </a:t>
            </a:r>
            <a:r>
              <a:rPr sz="2600" spc="15" dirty="0">
                <a:latin typeface="Times New Roman"/>
                <a:cs typeface="Times New Roman"/>
              </a:rPr>
              <a:t>on </a:t>
            </a:r>
            <a:r>
              <a:rPr sz="2600" spc="10" dirty="0">
                <a:latin typeface="Times New Roman"/>
                <a:cs typeface="Times New Roman"/>
              </a:rPr>
              <a:t>the  integration </a:t>
            </a:r>
            <a:r>
              <a:rPr sz="2600" spc="15" dirty="0">
                <a:latin typeface="Times New Roman"/>
                <a:cs typeface="Times New Roman"/>
              </a:rPr>
              <a:t>depend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on  </a:t>
            </a:r>
            <a:r>
              <a:rPr sz="2600" spc="10" dirty="0">
                <a:latin typeface="Times New Roman"/>
                <a:cs typeface="Times New Roman"/>
              </a:rPr>
              <a:t>the shape of the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body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177370" y="3406140"/>
            <a:ext cx="5650716" cy="29966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791200" y="4968688"/>
            <a:ext cx="2004290" cy="1656229"/>
          </a:xfrm>
          <a:custGeom>
            <a:avLst/>
            <a:gdLst/>
            <a:ahLst/>
            <a:cxnLst/>
            <a:rect l="l" t="t" r="r" b="b"/>
            <a:pathLst>
              <a:path w="1653539" h="1877059">
                <a:moveTo>
                  <a:pt x="67242" y="1768034"/>
                </a:moveTo>
                <a:lnTo>
                  <a:pt x="35813" y="1740408"/>
                </a:lnTo>
                <a:lnTo>
                  <a:pt x="0" y="1876806"/>
                </a:lnTo>
                <a:lnTo>
                  <a:pt x="53339" y="1854970"/>
                </a:lnTo>
                <a:lnTo>
                  <a:pt x="53339" y="1783842"/>
                </a:lnTo>
                <a:lnTo>
                  <a:pt x="67242" y="1768034"/>
                </a:lnTo>
                <a:close/>
              </a:path>
              <a:path w="1653539" h="1877059">
                <a:moveTo>
                  <a:pt x="98844" y="1795813"/>
                </a:moveTo>
                <a:lnTo>
                  <a:pt x="67242" y="1768034"/>
                </a:lnTo>
                <a:lnTo>
                  <a:pt x="53339" y="1783842"/>
                </a:lnTo>
                <a:lnTo>
                  <a:pt x="84582" y="1812036"/>
                </a:lnTo>
                <a:lnTo>
                  <a:pt x="98844" y="1795813"/>
                </a:lnTo>
                <a:close/>
              </a:path>
              <a:path w="1653539" h="1877059">
                <a:moveTo>
                  <a:pt x="130301" y="1823466"/>
                </a:moveTo>
                <a:lnTo>
                  <a:pt x="98844" y="1795813"/>
                </a:lnTo>
                <a:lnTo>
                  <a:pt x="84582" y="1812036"/>
                </a:lnTo>
                <a:lnTo>
                  <a:pt x="53339" y="1783842"/>
                </a:lnTo>
                <a:lnTo>
                  <a:pt x="53339" y="1854970"/>
                </a:lnTo>
                <a:lnTo>
                  <a:pt x="130301" y="1823466"/>
                </a:lnTo>
                <a:close/>
              </a:path>
              <a:path w="1653539" h="1877059">
                <a:moveTo>
                  <a:pt x="1653539" y="27432"/>
                </a:moveTo>
                <a:lnTo>
                  <a:pt x="1622297" y="0"/>
                </a:lnTo>
                <a:lnTo>
                  <a:pt x="67242" y="1768034"/>
                </a:lnTo>
                <a:lnTo>
                  <a:pt x="98844" y="1795813"/>
                </a:lnTo>
                <a:lnTo>
                  <a:pt x="1653539" y="27432"/>
                </a:lnTo>
                <a:close/>
              </a:path>
            </a:pathLst>
          </a:custGeom>
          <a:solidFill>
            <a:srgbClr val="FF34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00356" y="2720339"/>
            <a:ext cx="152400" cy="2260787"/>
          </a:xfrm>
          <a:custGeom>
            <a:avLst/>
            <a:gdLst/>
            <a:ahLst/>
            <a:cxnLst/>
            <a:rect l="l" t="t" r="r" b="b"/>
            <a:pathLst>
              <a:path w="125729" h="2562225">
                <a:moveTo>
                  <a:pt x="125729" y="125729"/>
                </a:moveTo>
                <a:lnTo>
                  <a:pt x="63245" y="0"/>
                </a:lnTo>
                <a:lnTo>
                  <a:pt x="0" y="125729"/>
                </a:lnTo>
                <a:lnTo>
                  <a:pt x="41909" y="125729"/>
                </a:lnTo>
                <a:lnTo>
                  <a:pt x="41909" y="104393"/>
                </a:lnTo>
                <a:lnTo>
                  <a:pt x="83819" y="104393"/>
                </a:lnTo>
                <a:lnTo>
                  <a:pt x="83819" y="125729"/>
                </a:lnTo>
                <a:lnTo>
                  <a:pt x="125729" y="125729"/>
                </a:lnTo>
                <a:close/>
              </a:path>
              <a:path w="125729" h="2562225">
                <a:moveTo>
                  <a:pt x="83819" y="125729"/>
                </a:moveTo>
                <a:lnTo>
                  <a:pt x="83819" y="104393"/>
                </a:lnTo>
                <a:lnTo>
                  <a:pt x="41909" y="104393"/>
                </a:lnTo>
                <a:lnTo>
                  <a:pt x="41909" y="125729"/>
                </a:lnTo>
                <a:lnTo>
                  <a:pt x="83819" y="125729"/>
                </a:lnTo>
                <a:close/>
              </a:path>
              <a:path w="125729" h="2562225">
                <a:moveTo>
                  <a:pt x="83819" y="2561843"/>
                </a:moveTo>
                <a:lnTo>
                  <a:pt x="83819" y="125729"/>
                </a:lnTo>
                <a:lnTo>
                  <a:pt x="41909" y="125729"/>
                </a:lnTo>
                <a:lnTo>
                  <a:pt x="41909" y="2561843"/>
                </a:lnTo>
                <a:lnTo>
                  <a:pt x="83819" y="2561843"/>
                </a:lnTo>
                <a:close/>
              </a:path>
            </a:pathLst>
          </a:custGeom>
          <a:solidFill>
            <a:srgbClr val="FF34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777018" y="4924985"/>
            <a:ext cx="4414982" cy="110938"/>
          </a:xfrm>
          <a:custGeom>
            <a:avLst/>
            <a:gdLst/>
            <a:ahLst/>
            <a:cxnLst/>
            <a:rect l="l" t="t" r="r" b="b"/>
            <a:pathLst>
              <a:path w="3642359" h="125729">
                <a:moveTo>
                  <a:pt x="3537204" y="83820"/>
                </a:moveTo>
                <a:lnTo>
                  <a:pt x="3537204" y="41910"/>
                </a:lnTo>
                <a:lnTo>
                  <a:pt x="0" y="41910"/>
                </a:lnTo>
                <a:lnTo>
                  <a:pt x="0" y="83820"/>
                </a:lnTo>
                <a:lnTo>
                  <a:pt x="3537204" y="83820"/>
                </a:lnTo>
                <a:close/>
              </a:path>
              <a:path w="3642359" h="125729">
                <a:moveTo>
                  <a:pt x="3642360" y="63246"/>
                </a:moveTo>
                <a:lnTo>
                  <a:pt x="3516630" y="0"/>
                </a:lnTo>
                <a:lnTo>
                  <a:pt x="3516630" y="41910"/>
                </a:lnTo>
                <a:lnTo>
                  <a:pt x="3537204" y="41910"/>
                </a:lnTo>
                <a:lnTo>
                  <a:pt x="3537204" y="115505"/>
                </a:lnTo>
                <a:lnTo>
                  <a:pt x="3642360" y="63246"/>
                </a:lnTo>
                <a:close/>
              </a:path>
              <a:path w="3642359" h="125729">
                <a:moveTo>
                  <a:pt x="3537204" y="115505"/>
                </a:moveTo>
                <a:lnTo>
                  <a:pt x="3537204" y="83820"/>
                </a:lnTo>
                <a:lnTo>
                  <a:pt x="3516630" y="83820"/>
                </a:lnTo>
                <a:lnTo>
                  <a:pt x="3516630" y="125729"/>
                </a:lnTo>
                <a:lnTo>
                  <a:pt x="3537204" y="115505"/>
                </a:lnTo>
                <a:close/>
              </a:path>
            </a:pathLst>
          </a:custGeom>
          <a:solidFill>
            <a:srgbClr val="FF34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665565" y="5753548"/>
            <a:ext cx="324812" cy="41806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b="1" spc="25" dirty="0">
                <a:latin typeface="Arial"/>
                <a:cs typeface="Arial"/>
              </a:rPr>
              <a:t>D</a:t>
            </a:r>
            <a:endParaRPr sz="2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906286" y="6429495"/>
            <a:ext cx="193964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805"/>
              </a:lnSpc>
            </a:pPr>
            <a:fld id="{81D60167-4931-47E6-BA6A-407CBD079E47}" type="slidenum">
              <a:rPr sz="1550" spc="-5" dirty="0">
                <a:latin typeface="Arial"/>
                <a:cs typeface="Arial"/>
              </a:rPr>
              <a:pPr marL="25400">
                <a:lnSpc>
                  <a:spcPts val="1805"/>
                </a:lnSpc>
              </a:pPr>
              <a:t>15</a:t>
            </a:fld>
            <a:endParaRPr sz="15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5167" y="3274596"/>
            <a:ext cx="2088188" cy="41806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i="1" spc="15" dirty="0">
                <a:latin typeface="Times New Roman"/>
                <a:cs typeface="Times New Roman"/>
              </a:rPr>
              <a:t>dV </a:t>
            </a:r>
            <a:r>
              <a:rPr sz="2600" i="1" spc="25" dirty="0">
                <a:latin typeface="Times New Roman"/>
                <a:cs typeface="Times New Roman"/>
              </a:rPr>
              <a:t>=</a:t>
            </a:r>
            <a:r>
              <a:rPr sz="2600" i="1" spc="-60" dirty="0">
                <a:latin typeface="Times New Roman"/>
                <a:cs typeface="Times New Roman"/>
              </a:rPr>
              <a:t> </a:t>
            </a:r>
            <a:r>
              <a:rPr sz="2600" i="1" spc="10" dirty="0">
                <a:latin typeface="Times New Roman"/>
                <a:cs typeface="Times New Roman"/>
              </a:rPr>
              <a:t>dxdydz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16919" y="3274596"/>
            <a:ext cx="3149600" cy="81624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5565" marR="5080" indent="-63500">
              <a:lnSpc>
                <a:spcPct val="100400"/>
              </a:lnSpc>
              <a:spcBef>
                <a:spcPts val="125"/>
              </a:spcBef>
            </a:pPr>
            <a:r>
              <a:rPr sz="2600" spc="15" dirty="0">
                <a:latin typeface="Times New Roman"/>
                <a:cs typeface="Times New Roman"/>
              </a:rPr>
              <a:t>represents an  </a:t>
            </a:r>
            <a:r>
              <a:rPr sz="2600" spc="10" dirty="0">
                <a:latin typeface="Times New Roman"/>
                <a:cs typeface="Times New Roman"/>
              </a:rPr>
              <a:t>element of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volume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921680" y="6413126"/>
            <a:ext cx="163176" cy="25006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50" spc="-5" dirty="0">
                <a:latin typeface="Arial"/>
                <a:cs typeface="Arial"/>
              </a:rPr>
              <a:t>3</a:t>
            </a:r>
            <a:endParaRPr sz="15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072284" y="983652"/>
            <a:ext cx="4899482" cy="33772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255414" y="1698363"/>
            <a:ext cx="1857279" cy="756957"/>
          </a:xfrm>
          <a:custGeom>
            <a:avLst/>
            <a:gdLst/>
            <a:ahLst/>
            <a:cxnLst/>
            <a:rect l="l" t="t" r="r" b="b"/>
            <a:pathLst>
              <a:path w="1532254" h="857885">
                <a:moveTo>
                  <a:pt x="9429" y="0"/>
                </a:moveTo>
                <a:lnTo>
                  <a:pt x="3321" y="53506"/>
                </a:lnTo>
                <a:lnTo>
                  <a:pt x="0" y="105727"/>
                </a:lnTo>
                <a:lnTo>
                  <a:pt x="1393" y="155376"/>
                </a:lnTo>
                <a:lnTo>
                  <a:pt x="9429" y="201168"/>
                </a:lnTo>
                <a:lnTo>
                  <a:pt x="28241" y="241982"/>
                </a:lnTo>
                <a:lnTo>
                  <a:pt x="55911" y="279082"/>
                </a:lnTo>
                <a:lnTo>
                  <a:pt x="85296" y="314753"/>
                </a:lnTo>
                <a:lnTo>
                  <a:pt x="109251" y="351282"/>
                </a:lnTo>
                <a:lnTo>
                  <a:pt x="121503" y="390620"/>
                </a:lnTo>
                <a:lnTo>
                  <a:pt x="127825" y="430530"/>
                </a:lnTo>
                <a:lnTo>
                  <a:pt x="137433" y="468725"/>
                </a:lnTo>
                <a:lnTo>
                  <a:pt x="159543" y="502920"/>
                </a:lnTo>
                <a:lnTo>
                  <a:pt x="190121" y="526249"/>
                </a:lnTo>
                <a:lnTo>
                  <a:pt x="229147" y="546725"/>
                </a:lnTo>
                <a:lnTo>
                  <a:pt x="273002" y="565519"/>
                </a:lnTo>
                <a:lnTo>
                  <a:pt x="318064" y="583801"/>
                </a:lnTo>
                <a:lnTo>
                  <a:pt x="360711" y="602742"/>
                </a:lnTo>
                <a:lnTo>
                  <a:pt x="410670" y="630257"/>
                </a:lnTo>
                <a:lnTo>
                  <a:pt x="460914" y="659415"/>
                </a:lnTo>
                <a:lnTo>
                  <a:pt x="511159" y="685573"/>
                </a:lnTo>
                <a:lnTo>
                  <a:pt x="561117" y="704088"/>
                </a:lnTo>
                <a:lnTo>
                  <a:pt x="611433" y="709017"/>
                </a:lnTo>
                <a:lnTo>
                  <a:pt x="662463" y="704088"/>
                </a:lnTo>
                <a:lnTo>
                  <a:pt x="713493" y="699158"/>
                </a:lnTo>
                <a:lnTo>
                  <a:pt x="763809" y="704088"/>
                </a:lnTo>
                <a:lnTo>
                  <a:pt x="803744" y="719017"/>
                </a:lnTo>
                <a:lnTo>
                  <a:pt x="843898" y="740310"/>
                </a:lnTo>
                <a:lnTo>
                  <a:pt x="884126" y="764273"/>
                </a:lnTo>
                <a:lnTo>
                  <a:pt x="924280" y="787213"/>
                </a:lnTo>
                <a:lnTo>
                  <a:pt x="964215" y="805434"/>
                </a:lnTo>
                <a:lnTo>
                  <a:pt x="1014614" y="825805"/>
                </a:lnTo>
                <a:lnTo>
                  <a:pt x="1065085" y="845534"/>
                </a:lnTo>
                <a:lnTo>
                  <a:pt x="1115413" y="857404"/>
                </a:lnTo>
                <a:lnTo>
                  <a:pt x="1165383" y="854202"/>
                </a:lnTo>
                <a:lnTo>
                  <a:pt x="1206056" y="839102"/>
                </a:lnTo>
                <a:lnTo>
                  <a:pt x="1247716" y="815516"/>
                </a:lnTo>
                <a:lnTo>
                  <a:pt x="1289156" y="784469"/>
                </a:lnTo>
                <a:lnTo>
                  <a:pt x="1329171" y="746985"/>
                </a:lnTo>
                <a:lnTo>
                  <a:pt x="1366551" y="704088"/>
                </a:lnTo>
                <a:lnTo>
                  <a:pt x="1392146" y="668818"/>
                </a:lnTo>
                <a:lnTo>
                  <a:pt x="1418007" y="628603"/>
                </a:lnTo>
                <a:lnTo>
                  <a:pt x="1443189" y="584842"/>
                </a:lnTo>
                <a:lnTo>
                  <a:pt x="1466744" y="538936"/>
                </a:lnTo>
                <a:lnTo>
                  <a:pt x="1487727" y="492283"/>
                </a:lnTo>
                <a:lnTo>
                  <a:pt x="1505191" y="446283"/>
                </a:lnTo>
                <a:lnTo>
                  <a:pt x="1518189" y="402336"/>
                </a:lnTo>
                <a:lnTo>
                  <a:pt x="1527503" y="352305"/>
                </a:lnTo>
                <a:lnTo>
                  <a:pt x="1531736" y="302062"/>
                </a:lnTo>
                <a:lnTo>
                  <a:pt x="1531905" y="251650"/>
                </a:lnTo>
                <a:lnTo>
                  <a:pt x="1529027" y="201111"/>
                </a:lnTo>
                <a:lnTo>
                  <a:pt x="1524116" y="150487"/>
                </a:lnTo>
                <a:lnTo>
                  <a:pt x="1518189" y="99821"/>
                </a:lnTo>
              </a:path>
            </a:pathLst>
          </a:custGeom>
          <a:ln w="62865">
            <a:solidFill>
              <a:srgbClr val="FF34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266843" y="1066163"/>
            <a:ext cx="1841115" cy="720538"/>
          </a:xfrm>
          <a:custGeom>
            <a:avLst/>
            <a:gdLst/>
            <a:ahLst/>
            <a:cxnLst/>
            <a:rect l="l" t="t" r="r" b="b"/>
            <a:pathLst>
              <a:path w="1518920" h="816610">
                <a:moveTo>
                  <a:pt x="0" y="666201"/>
                </a:moveTo>
                <a:lnTo>
                  <a:pt x="2218" y="613056"/>
                </a:lnTo>
                <a:lnTo>
                  <a:pt x="6412" y="560899"/>
                </a:lnTo>
                <a:lnTo>
                  <a:pt x="14374" y="510168"/>
                </a:lnTo>
                <a:lnTo>
                  <a:pt x="27895" y="461302"/>
                </a:lnTo>
                <a:lnTo>
                  <a:pt x="48768" y="414741"/>
                </a:lnTo>
                <a:lnTo>
                  <a:pt x="73730" y="377773"/>
                </a:lnTo>
                <a:lnTo>
                  <a:pt x="105212" y="342266"/>
                </a:lnTo>
                <a:lnTo>
                  <a:pt x="140969" y="308156"/>
                </a:lnTo>
                <a:lnTo>
                  <a:pt x="178759" y="275380"/>
                </a:lnTo>
                <a:lnTo>
                  <a:pt x="216337" y="243873"/>
                </a:lnTo>
                <a:lnTo>
                  <a:pt x="251459" y="213573"/>
                </a:lnTo>
                <a:lnTo>
                  <a:pt x="289712" y="178490"/>
                </a:lnTo>
                <a:lnTo>
                  <a:pt x="326501" y="144505"/>
                </a:lnTo>
                <a:lnTo>
                  <a:pt x="364205" y="112897"/>
                </a:lnTo>
                <a:lnTo>
                  <a:pt x="405201" y="84947"/>
                </a:lnTo>
                <a:lnTo>
                  <a:pt x="451865" y="61935"/>
                </a:lnTo>
                <a:lnTo>
                  <a:pt x="496922" y="47527"/>
                </a:lnTo>
                <a:lnTo>
                  <a:pt x="546890" y="36591"/>
                </a:lnTo>
                <a:lnTo>
                  <a:pt x="599694" y="28407"/>
                </a:lnTo>
                <a:lnTo>
                  <a:pt x="653259" y="22254"/>
                </a:lnTo>
                <a:lnTo>
                  <a:pt x="705513" y="17414"/>
                </a:lnTo>
                <a:lnTo>
                  <a:pt x="754379" y="13167"/>
                </a:lnTo>
                <a:lnTo>
                  <a:pt x="807890" y="7315"/>
                </a:lnTo>
                <a:lnTo>
                  <a:pt x="858585" y="2194"/>
                </a:lnTo>
                <a:lnTo>
                  <a:pt x="907670" y="0"/>
                </a:lnTo>
                <a:lnTo>
                  <a:pt x="956352" y="2926"/>
                </a:lnTo>
                <a:lnTo>
                  <a:pt x="1005839" y="13167"/>
                </a:lnTo>
                <a:lnTo>
                  <a:pt x="1048967" y="29843"/>
                </a:lnTo>
                <a:lnTo>
                  <a:pt x="1093554" y="53609"/>
                </a:lnTo>
                <a:lnTo>
                  <a:pt x="1138142" y="81652"/>
                </a:lnTo>
                <a:lnTo>
                  <a:pt x="1181269" y="111154"/>
                </a:lnTo>
                <a:lnTo>
                  <a:pt x="1221475" y="139303"/>
                </a:lnTo>
                <a:lnTo>
                  <a:pt x="1257300" y="163281"/>
                </a:lnTo>
                <a:lnTo>
                  <a:pt x="1302829" y="188439"/>
                </a:lnTo>
                <a:lnTo>
                  <a:pt x="1341501" y="207382"/>
                </a:lnTo>
                <a:lnTo>
                  <a:pt x="1375600" y="229611"/>
                </a:lnTo>
                <a:lnTo>
                  <a:pt x="1407413" y="264627"/>
                </a:lnTo>
                <a:lnTo>
                  <a:pt x="1432364" y="304678"/>
                </a:lnTo>
                <a:lnTo>
                  <a:pt x="1456145" y="352043"/>
                </a:lnTo>
                <a:lnTo>
                  <a:pt x="1477585" y="404530"/>
                </a:lnTo>
                <a:lnTo>
                  <a:pt x="1495513" y="459943"/>
                </a:lnTo>
                <a:lnTo>
                  <a:pt x="1508759" y="516087"/>
                </a:lnTo>
                <a:lnTo>
                  <a:pt x="1515427" y="563091"/>
                </a:lnTo>
                <a:lnTo>
                  <a:pt x="1518411" y="611704"/>
                </a:lnTo>
                <a:lnTo>
                  <a:pt x="1518475" y="661629"/>
                </a:lnTo>
                <a:lnTo>
                  <a:pt x="1516379" y="712570"/>
                </a:lnTo>
                <a:lnTo>
                  <a:pt x="1512887" y="764231"/>
                </a:lnTo>
                <a:lnTo>
                  <a:pt x="1508759" y="816315"/>
                </a:lnTo>
              </a:path>
            </a:pathLst>
          </a:custGeom>
          <a:ln w="62865">
            <a:solidFill>
              <a:srgbClr val="6734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069550" y="4925426"/>
            <a:ext cx="254000" cy="827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300" spc="-5" dirty="0">
                <a:latin typeface="Symbol"/>
                <a:cs typeface="Symbol"/>
              </a:rPr>
              <a:t></a:t>
            </a:r>
            <a:endParaRPr sz="530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6555" y="4925426"/>
            <a:ext cx="2072024" cy="827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511935" algn="l"/>
              </a:tabLst>
            </a:pPr>
            <a:r>
              <a:rPr sz="5300" spc="-5" dirty="0">
                <a:latin typeface="Symbol"/>
                <a:cs typeface="Symbol"/>
              </a:rPr>
              <a:t></a:t>
            </a:r>
            <a:r>
              <a:rPr sz="5300" spc="-5" dirty="0">
                <a:latin typeface="Times New Roman"/>
                <a:cs typeface="Times New Roman"/>
              </a:rPr>
              <a:t>	</a:t>
            </a:r>
            <a:r>
              <a:rPr sz="5300" spc="-5" dirty="0">
                <a:latin typeface="Symbol"/>
                <a:cs typeface="Symbol"/>
              </a:rPr>
              <a:t></a:t>
            </a:r>
            <a:endParaRPr sz="530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900756" y="5190932"/>
            <a:ext cx="300952" cy="55463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3500" spc="-2600" dirty="0">
                <a:latin typeface="Symbol"/>
                <a:cs typeface="Symbol"/>
              </a:rPr>
              <a:t>⎥</a:t>
            </a:r>
            <a:r>
              <a:rPr sz="5250" spc="-1867" baseline="-15079" dirty="0">
                <a:latin typeface="Symbol"/>
                <a:cs typeface="Symbol"/>
              </a:rPr>
              <a:t>⎦</a:t>
            </a:r>
            <a:endParaRPr sz="5250" baseline="-15079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931544" y="4808379"/>
            <a:ext cx="239376" cy="55463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0" spc="-1245" dirty="0">
                <a:latin typeface="Symbol"/>
                <a:cs typeface="Symbol"/>
              </a:rPr>
              <a:t>⎤</a:t>
            </a:r>
            <a:endParaRPr sz="35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92525" y="4808379"/>
            <a:ext cx="239376" cy="55463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0" spc="-1245" dirty="0">
                <a:latin typeface="Symbol"/>
                <a:cs typeface="Symbol"/>
              </a:rPr>
              <a:t>⎡</a:t>
            </a:r>
            <a:endParaRPr sz="35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159377" y="5006730"/>
            <a:ext cx="239376" cy="55463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0" spc="-1245" dirty="0">
                <a:latin typeface="Symbol"/>
                <a:cs typeface="Symbol"/>
              </a:rPr>
              <a:t>⎟</a:t>
            </a:r>
            <a:endParaRPr sz="35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159377" y="4841340"/>
            <a:ext cx="223982" cy="55463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0" spc="-2600" dirty="0">
                <a:latin typeface="Symbol"/>
                <a:cs typeface="Symbol"/>
              </a:rPr>
              <a:t>⎞</a:t>
            </a:r>
            <a:endParaRPr sz="350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54777" y="5006730"/>
            <a:ext cx="239376" cy="55463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0" spc="-1245" dirty="0">
                <a:latin typeface="Symbol"/>
                <a:cs typeface="Symbol"/>
              </a:rPr>
              <a:t>⎜</a:t>
            </a:r>
            <a:endParaRPr sz="350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54777" y="4841340"/>
            <a:ext cx="223982" cy="55463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0" spc="-2600" dirty="0">
                <a:latin typeface="Symbol"/>
                <a:cs typeface="Symbol"/>
              </a:rPr>
              <a:t>⎛</a:t>
            </a:r>
            <a:endParaRPr sz="350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26157" y="4984560"/>
            <a:ext cx="329430" cy="55463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00" spc="10" dirty="0">
                <a:latin typeface="Symbol"/>
                <a:cs typeface="Symbol"/>
              </a:rPr>
              <a:t></a:t>
            </a:r>
            <a:endParaRPr sz="350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60494" y="4847300"/>
            <a:ext cx="552642" cy="32893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50" i="1" spc="170" dirty="0">
                <a:latin typeface="Times New Roman"/>
                <a:cs typeface="Times New Roman"/>
              </a:rPr>
              <a:t>x</a:t>
            </a:r>
            <a:r>
              <a:rPr sz="2050" spc="140" dirty="0">
                <a:latin typeface="Symbol"/>
                <a:cs typeface="Symbol"/>
              </a:rPr>
              <a:t></a:t>
            </a:r>
            <a:r>
              <a:rPr sz="2050" i="1" dirty="0">
                <a:latin typeface="Times New Roman"/>
                <a:cs typeface="Times New Roman"/>
              </a:rPr>
              <a:t>b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34680" y="4847300"/>
            <a:ext cx="1196109" cy="32893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15950" algn="l"/>
              </a:tabLst>
            </a:pPr>
            <a:r>
              <a:rPr sz="2050" i="1" dirty="0">
                <a:latin typeface="Times New Roman"/>
                <a:cs typeface="Times New Roman"/>
              </a:rPr>
              <a:t>y</a:t>
            </a:r>
            <a:r>
              <a:rPr sz="2050" i="1" spc="-32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Symbol"/>
                <a:cs typeface="Symbol"/>
              </a:rPr>
              <a:t></a:t>
            </a:r>
            <a:r>
              <a:rPr sz="2050" spc="-270" dirty="0">
                <a:latin typeface="Times New Roman"/>
                <a:cs typeface="Times New Roman"/>
              </a:rPr>
              <a:t> </a:t>
            </a:r>
            <a:r>
              <a:rPr sz="2050" i="1" dirty="0">
                <a:latin typeface="Times New Roman"/>
                <a:cs typeface="Times New Roman"/>
              </a:rPr>
              <a:t>g	</a:t>
            </a:r>
            <a:r>
              <a:rPr sz="2050" dirty="0">
                <a:latin typeface="Times New Roman"/>
                <a:cs typeface="Times New Roman"/>
              </a:rPr>
              <a:t>(</a:t>
            </a:r>
            <a:r>
              <a:rPr sz="2050" spc="-254" dirty="0">
                <a:latin typeface="Times New Roman"/>
                <a:cs typeface="Times New Roman"/>
              </a:rPr>
              <a:t> </a:t>
            </a:r>
            <a:r>
              <a:rPr sz="2050" i="1" dirty="0">
                <a:latin typeface="Times New Roman"/>
                <a:cs typeface="Times New Roman"/>
              </a:rPr>
              <a:t>x</a:t>
            </a:r>
            <a:r>
              <a:rPr sz="2050" i="1" spc="-32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)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33965" y="4847300"/>
            <a:ext cx="1447030" cy="32893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82930" algn="l"/>
              </a:tabLst>
            </a:pPr>
            <a:r>
              <a:rPr sz="2050" i="1" spc="85" dirty="0">
                <a:latin typeface="Times New Roman"/>
                <a:cs typeface="Times New Roman"/>
              </a:rPr>
              <a:t>z</a:t>
            </a:r>
            <a:r>
              <a:rPr sz="2050" spc="85" dirty="0">
                <a:latin typeface="Symbol"/>
                <a:cs typeface="Symbol"/>
              </a:rPr>
              <a:t></a:t>
            </a:r>
            <a:r>
              <a:rPr sz="2050" spc="55" dirty="0">
                <a:latin typeface="Times New Roman"/>
                <a:cs typeface="Times New Roman"/>
              </a:rPr>
              <a:t> </a:t>
            </a:r>
            <a:r>
              <a:rPr sz="2050" i="1" dirty="0">
                <a:latin typeface="Times New Roman"/>
                <a:cs typeface="Times New Roman"/>
              </a:rPr>
              <a:t>f	</a:t>
            </a:r>
            <a:r>
              <a:rPr sz="2050" dirty="0">
                <a:latin typeface="Times New Roman"/>
                <a:cs typeface="Times New Roman"/>
              </a:rPr>
              <a:t>(</a:t>
            </a:r>
            <a:r>
              <a:rPr sz="2050" spc="-240" dirty="0">
                <a:latin typeface="Times New Roman"/>
                <a:cs typeface="Times New Roman"/>
              </a:rPr>
              <a:t> </a:t>
            </a:r>
            <a:r>
              <a:rPr sz="2050" i="1" spc="80" dirty="0">
                <a:latin typeface="Times New Roman"/>
                <a:cs typeface="Times New Roman"/>
              </a:rPr>
              <a:t>x</a:t>
            </a:r>
            <a:r>
              <a:rPr sz="2050" spc="80" dirty="0">
                <a:latin typeface="Times New Roman"/>
                <a:cs typeface="Times New Roman"/>
              </a:rPr>
              <a:t>,</a:t>
            </a:r>
            <a:r>
              <a:rPr sz="2050" spc="-260" dirty="0">
                <a:latin typeface="Times New Roman"/>
                <a:cs typeface="Times New Roman"/>
              </a:rPr>
              <a:t> </a:t>
            </a:r>
            <a:r>
              <a:rPr sz="2050" i="1" dirty="0">
                <a:latin typeface="Times New Roman"/>
                <a:cs typeface="Times New Roman"/>
              </a:rPr>
              <a:t>y</a:t>
            </a:r>
            <a:r>
              <a:rPr sz="2050" i="1" spc="-28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)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99027" y="4970989"/>
            <a:ext cx="143933" cy="23852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50" spc="5" dirty="0"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758562" y="4970989"/>
            <a:ext cx="143933" cy="23852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50" spc="5" dirty="0"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233017" y="5203709"/>
            <a:ext cx="4373418" cy="55463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  <a:tabLst>
                <a:tab pos="936625" algn="l"/>
                <a:tab pos="2010410" algn="l"/>
                <a:tab pos="2421255" algn="l"/>
              </a:tabLst>
            </a:pPr>
            <a:r>
              <a:rPr sz="2050" i="1" spc="114" dirty="0">
                <a:latin typeface="Times New Roman"/>
                <a:cs typeface="Times New Roman"/>
              </a:rPr>
              <a:t>x</a:t>
            </a:r>
            <a:r>
              <a:rPr sz="2050" spc="114" dirty="0">
                <a:latin typeface="Symbol"/>
                <a:cs typeface="Symbol"/>
              </a:rPr>
              <a:t></a:t>
            </a:r>
            <a:r>
              <a:rPr sz="2050" i="1" spc="114" dirty="0">
                <a:latin typeface="Times New Roman"/>
                <a:cs typeface="Times New Roman"/>
              </a:rPr>
              <a:t>a</a:t>
            </a:r>
            <a:r>
              <a:rPr sz="2050" i="1" spc="55" dirty="0">
                <a:latin typeface="Times New Roman"/>
                <a:cs typeface="Times New Roman"/>
              </a:rPr>
              <a:t> </a:t>
            </a:r>
            <a:r>
              <a:rPr sz="5250" spc="-2887" baseline="1587" dirty="0">
                <a:latin typeface="Symbol"/>
                <a:cs typeface="Symbol"/>
              </a:rPr>
              <a:t>⎢</a:t>
            </a:r>
            <a:r>
              <a:rPr sz="5250" spc="-2887" baseline="-12698" dirty="0">
                <a:latin typeface="Symbol"/>
                <a:cs typeface="Symbol"/>
              </a:rPr>
              <a:t>⎣</a:t>
            </a:r>
            <a:r>
              <a:rPr sz="5250" spc="-2887" baseline="-12698" dirty="0">
                <a:latin typeface="Times New Roman"/>
                <a:cs typeface="Times New Roman"/>
              </a:rPr>
              <a:t>	</a:t>
            </a:r>
            <a:r>
              <a:rPr sz="2050" i="1" dirty="0">
                <a:latin typeface="Times New Roman"/>
                <a:cs typeface="Times New Roman"/>
              </a:rPr>
              <a:t>y</a:t>
            </a:r>
            <a:r>
              <a:rPr sz="2050" i="1" spc="-320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Symbol"/>
                <a:cs typeface="Symbol"/>
              </a:rPr>
              <a:t></a:t>
            </a:r>
            <a:r>
              <a:rPr sz="2050" spc="-270" dirty="0">
                <a:latin typeface="Times New Roman"/>
                <a:cs typeface="Times New Roman"/>
              </a:rPr>
              <a:t> </a:t>
            </a:r>
            <a:r>
              <a:rPr sz="2050" i="1" spc="15" dirty="0">
                <a:latin typeface="Times New Roman"/>
                <a:cs typeface="Times New Roman"/>
              </a:rPr>
              <a:t>g</a:t>
            </a:r>
            <a:r>
              <a:rPr sz="2175" spc="22" baseline="-19157" dirty="0">
                <a:latin typeface="Times New Roman"/>
                <a:cs typeface="Times New Roman"/>
              </a:rPr>
              <a:t>1</a:t>
            </a:r>
            <a:r>
              <a:rPr sz="2175" spc="-187" baseline="-19157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(</a:t>
            </a:r>
            <a:r>
              <a:rPr sz="2050" spc="-210" dirty="0">
                <a:latin typeface="Times New Roman"/>
                <a:cs typeface="Times New Roman"/>
              </a:rPr>
              <a:t> </a:t>
            </a:r>
            <a:r>
              <a:rPr sz="2050" i="1" dirty="0">
                <a:latin typeface="Times New Roman"/>
                <a:cs typeface="Times New Roman"/>
              </a:rPr>
              <a:t>x</a:t>
            </a:r>
            <a:r>
              <a:rPr sz="2050" i="1" spc="-27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)	</a:t>
            </a:r>
            <a:r>
              <a:rPr sz="5250" spc="-1867" baseline="-8730" dirty="0">
                <a:latin typeface="Symbol"/>
                <a:cs typeface="Symbol"/>
              </a:rPr>
              <a:t>⎝</a:t>
            </a:r>
            <a:r>
              <a:rPr sz="5250" spc="-1867" baseline="-8730" dirty="0">
                <a:latin typeface="Times New Roman"/>
                <a:cs typeface="Times New Roman"/>
              </a:rPr>
              <a:t>	</a:t>
            </a:r>
            <a:r>
              <a:rPr sz="2050" i="1" dirty="0">
                <a:latin typeface="Times New Roman"/>
                <a:cs typeface="Times New Roman"/>
              </a:rPr>
              <a:t>z</a:t>
            </a:r>
            <a:r>
              <a:rPr sz="2050" i="1" spc="-34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Symbol"/>
                <a:cs typeface="Symbol"/>
              </a:rPr>
              <a:t></a:t>
            </a:r>
            <a:r>
              <a:rPr sz="2050" spc="45" dirty="0">
                <a:latin typeface="Times New Roman"/>
                <a:cs typeface="Times New Roman"/>
              </a:rPr>
              <a:t> </a:t>
            </a:r>
            <a:r>
              <a:rPr sz="2050" i="1" spc="15" dirty="0">
                <a:latin typeface="Times New Roman"/>
                <a:cs typeface="Times New Roman"/>
              </a:rPr>
              <a:t>f</a:t>
            </a:r>
            <a:r>
              <a:rPr sz="2175" spc="22" baseline="-19157" dirty="0">
                <a:latin typeface="Times New Roman"/>
                <a:cs typeface="Times New Roman"/>
              </a:rPr>
              <a:t>1</a:t>
            </a:r>
            <a:r>
              <a:rPr sz="2175" spc="-202" baseline="-19157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(</a:t>
            </a:r>
            <a:r>
              <a:rPr sz="2050" spc="-220" dirty="0">
                <a:latin typeface="Times New Roman"/>
                <a:cs typeface="Times New Roman"/>
              </a:rPr>
              <a:t> </a:t>
            </a:r>
            <a:r>
              <a:rPr sz="2050" i="1" spc="85" dirty="0">
                <a:latin typeface="Times New Roman"/>
                <a:cs typeface="Times New Roman"/>
              </a:rPr>
              <a:t>x</a:t>
            </a:r>
            <a:r>
              <a:rPr sz="2050" spc="85" dirty="0">
                <a:latin typeface="Times New Roman"/>
                <a:cs typeface="Times New Roman"/>
              </a:rPr>
              <a:t>,</a:t>
            </a:r>
            <a:r>
              <a:rPr sz="2050" spc="-240" dirty="0">
                <a:latin typeface="Times New Roman"/>
                <a:cs typeface="Times New Roman"/>
              </a:rPr>
              <a:t> </a:t>
            </a:r>
            <a:r>
              <a:rPr sz="2050" i="1" dirty="0">
                <a:latin typeface="Times New Roman"/>
                <a:cs typeface="Times New Roman"/>
              </a:rPr>
              <a:t>y</a:t>
            </a:r>
            <a:r>
              <a:rPr sz="2050" i="1" spc="-275" dirty="0">
                <a:latin typeface="Times New Roman"/>
                <a:cs typeface="Times New Roman"/>
              </a:rPr>
              <a:t> </a:t>
            </a:r>
            <a:r>
              <a:rPr sz="2050" dirty="0">
                <a:latin typeface="Times New Roman"/>
                <a:cs typeface="Times New Roman"/>
              </a:rPr>
              <a:t>)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705272" y="4984521"/>
            <a:ext cx="4005503" cy="55463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221865" algn="l"/>
                <a:tab pos="2868295" algn="l"/>
              </a:tabLst>
            </a:pPr>
            <a:r>
              <a:rPr sz="3500" i="1" spc="105" dirty="0">
                <a:latin typeface="Times New Roman"/>
                <a:cs typeface="Times New Roman"/>
              </a:rPr>
              <a:t>u</a:t>
            </a:r>
            <a:r>
              <a:rPr sz="3500" spc="5" dirty="0">
                <a:latin typeface="Times New Roman"/>
                <a:cs typeface="Times New Roman"/>
              </a:rPr>
              <a:t>(</a:t>
            </a:r>
            <a:r>
              <a:rPr sz="3500" spc="-560" dirty="0">
                <a:latin typeface="Times New Roman"/>
                <a:cs typeface="Times New Roman"/>
              </a:rPr>
              <a:t> </a:t>
            </a:r>
            <a:r>
              <a:rPr sz="3500" i="1" spc="80" dirty="0">
                <a:latin typeface="Times New Roman"/>
                <a:cs typeface="Times New Roman"/>
              </a:rPr>
              <a:t>x</a:t>
            </a:r>
            <a:r>
              <a:rPr sz="3500" spc="5" dirty="0">
                <a:latin typeface="Times New Roman"/>
                <a:cs typeface="Times New Roman"/>
              </a:rPr>
              <a:t>,</a:t>
            </a:r>
            <a:r>
              <a:rPr sz="3500" spc="-170" dirty="0">
                <a:latin typeface="Times New Roman"/>
                <a:cs typeface="Times New Roman"/>
              </a:rPr>
              <a:t> </a:t>
            </a:r>
            <a:r>
              <a:rPr sz="3500" i="1" spc="114" dirty="0">
                <a:latin typeface="Times New Roman"/>
                <a:cs typeface="Times New Roman"/>
              </a:rPr>
              <a:t>y</a:t>
            </a:r>
            <a:r>
              <a:rPr sz="3500" spc="5" dirty="0">
                <a:latin typeface="Times New Roman"/>
                <a:cs typeface="Times New Roman"/>
              </a:rPr>
              <a:t>,</a:t>
            </a:r>
            <a:r>
              <a:rPr sz="3500" spc="-395" dirty="0">
                <a:latin typeface="Times New Roman"/>
                <a:cs typeface="Times New Roman"/>
              </a:rPr>
              <a:t> </a:t>
            </a:r>
            <a:r>
              <a:rPr sz="3500" i="1" spc="204" dirty="0">
                <a:latin typeface="Times New Roman"/>
                <a:cs typeface="Times New Roman"/>
              </a:rPr>
              <a:t>z</a:t>
            </a:r>
            <a:r>
              <a:rPr sz="3500" spc="65" dirty="0">
                <a:latin typeface="Times New Roman"/>
                <a:cs typeface="Times New Roman"/>
              </a:rPr>
              <a:t>)</a:t>
            </a:r>
            <a:r>
              <a:rPr sz="3500" i="1" spc="10" dirty="0">
                <a:latin typeface="Times New Roman"/>
                <a:cs typeface="Times New Roman"/>
              </a:rPr>
              <a:t>dz</a:t>
            </a:r>
            <a:r>
              <a:rPr sz="3500" i="1" dirty="0">
                <a:latin typeface="Times New Roman"/>
                <a:cs typeface="Times New Roman"/>
              </a:rPr>
              <a:t>	</a:t>
            </a:r>
            <a:r>
              <a:rPr sz="3500" i="1" spc="10" dirty="0">
                <a:latin typeface="Times New Roman"/>
                <a:cs typeface="Times New Roman"/>
              </a:rPr>
              <a:t>dy</a:t>
            </a:r>
            <a:r>
              <a:rPr sz="3500" i="1" dirty="0">
                <a:latin typeface="Times New Roman"/>
                <a:cs typeface="Times New Roman"/>
              </a:rPr>
              <a:t>	</a:t>
            </a:r>
            <a:r>
              <a:rPr sz="3500" i="1" spc="10" dirty="0">
                <a:latin typeface="Times New Roman"/>
                <a:cs typeface="Times New Roman"/>
              </a:rPr>
              <a:t>dx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3053" y="146798"/>
            <a:ext cx="7830127" cy="462626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</a:pPr>
            <a:r>
              <a:rPr lang="en-US" sz="3500" dirty="0" smtClean="0">
                <a:solidFill>
                  <a:srgbClr val="0065FF"/>
                </a:solidFill>
                <a:uFill>
                  <a:solidFill>
                    <a:srgbClr val="0065FF"/>
                  </a:solidFill>
                </a:uFill>
                <a:latin typeface="Arial"/>
                <a:cs typeface="Arial"/>
              </a:rPr>
              <a:t>        </a:t>
            </a:r>
            <a:r>
              <a:rPr sz="3500" smtClean="0">
                <a:solidFill>
                  <a:srgbClr val="0065FF"/>
                </a:solidFill>
                <a:uFill>
                  <a:solidFill>
                    <a:srgbClr val="0065FF"/>
                  </a:solidFill>
                </a:uFill>
                <a:latin typeface="Arial"/>
                <a:cs typeface="Arial"/>
              </a:rPr>
              <a:t>Triple </a:t>
            </a:r>
            <a:r>
              <a:rPr sz="3500" dirty="0">
                <a:solidFill>
                  <a:srgbClr val="0065FF"/>
                </a:solidFill>
                <a:uFill>
                  <a:solidFill>
                    <a:srgbClr val="0065FF"/>
                  </a:solidFill>
                </a:uFill>
                <a:latin typeface="Arial"/>
                <a:cs typeface="Arial"/>
              </a:rPr>
              <a:t>integrals</a:t>
            </a:r>
            <a:r>
              <a:rPr sz="3050" dirty="0">
                <a:solidFill>
                  <a:srgbClr val="0065FF"/>
                </a:solidFill>
                <a:latin typeface="Arial"/>
                <a:cs typeface="Arial"/>
              </a:rPr>
              <a:t>: </a:t>
            </a:r>
            <a:r>
              <a:rPr sz="3050" spc="10" dirty="0">
                <a:solidFill>
                  <a:srgbClr val="0065FF"/>
                </a:solidFill>
                <a:latin typeface="Arial"/>
                <a:cs typeface="Arial"/>
              </a:rPr>
              <a:t>limits of</a:t>
            </a:r>
            <a:r>
              <a:rPr sz="3050" spc="15" dirty="0">
                <a:solidFill>
                  <a:srgbClr val="0065FF"/>
                </a:solidFill>
                <a:latin typeface="Arial"/>
                <a:cs typeface="Arial"/>
              </a:rPr>
              <a:t> </a:t>
            </a:r>
            <a:r>
              <a:rPr sz="3050" spc="10" dirty="0">
                <a:solidFill>
                  <a:srgbClr val="0065FF"/>
                </a:solidFill>
                <a:latin typeface="Arial"/>
                <a:cs typeface="Arial"/>
              </a:rPr>
              <a:t>integration</a:t>
            </a:r>
            <a:endParaRPr sz="3050">
              <a:latin typeface="Arial"/>
              <a:cs typeface="Arial"/>
            </a:endParaRPr>
          </a:p>
          <a:p>
            <a:pPr marL="452755" marR="590550" indent="-377190" algn="just">
              <a:lnSpc>
                <a:spcPct val="101200"/>
              </a:lnSpc>
              <a:spcBef>
                <a:spcPts val="2310"/>
              </a:spcBef>
              <a:buClr>
                <a:srgbClr val="0065FF"/>
              </a:buClr>
              <a:buFont typeface="Wingdings"/>
              <a:buChar char=""/>
              <a:tabLst>
                <a:tab pos="453390" algn="l"/>
              </a:tabLst>
            </a:pPr>
            <a:r>
              <a:rPr sz="2600" spc="15" dirty="0">
                <a:latin typeface="Times New Roman"/>
                <a:cs typeface="Times New Roman"/>
              </a:rPr>
              <a:t>Assuming </a:t>
            </a:r>
            <a:r>
              <a:rPr sz="2600" spc="20" dirty="0">
                <a:latin typeface="Times New Roman"/>
                <a:cs typeface="Times New Roman"/>
              </a:rPr>
              <a:t>we </a:t>
            </a:r>
            <a:r>
              <a:rPr sz="2600" spc="10" dirty="0">
                <a:latin typeface="Times New Roman"/>
                <a:cs typeface="Times New Roman"/>
              </a:rPr>
              <a:t>integrate with respect to  z, then y, then x, the innermost limits  </a:t>
            </a:r>
            <a:r>
              <a:rPr sz="2600" spc="15" dirty="0">
                <a:latin typeface="Times New Roman"/>
                <a:cs typeface="Times New Roman"/>
              </a:rPr>
              <a:t>may depend on </a:t>
            </a:r>
            <a:r>
              <a:rPr sz="2600" spc="10" dirty="0">
                <a:latin typeface="Times New Roman"/>
                <a:cs typeface="Times New Roman"/>
              </a:rPr>
              <a:t>the other </a:t>
            </a:r>
            <a:r>
              <a:rPr sz="2600" spc="15" dirty="0">
                <a:latin typeface="Times New Roman"/>
                <a:cs typeface="Times New Roman"/>
              </a:rPr>
              <a:t>two </a:t>
            </a:r>
            <a:r>
              <a:rPr sz="2600" spc="10" dirty="0">
                <a:latin typeface="Times New Roman"/>
                <a:cs typeface="Times New Roman"/>
              </a:rPr>
              <a:t>variables </a:t>
            </a:r>
            <a:r>
              <a:rPr sz="2600" spc="67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(x </a:t>
            </a:r>
            <a:r>
              <a:rPr sz="2600" spc="15" dirty="0">
                <a:latin typeface="Times New Roman"/>
                <a:cs typeface="Times New Roman"/>
              </a:rPr>
              <a:t>and </a:t>
            </a:r>
            <a:r>
              <a:rPr sz="2600" spc="10" dirty="0">
                <a:latin typeface="Times New Roman"/>
                <a:cs typeface="Times New Roman"/>
              </a:rPr>
              <a:t>y), the middle limits </a:t>
            </a:r>
            <a:r>
              <a:rPr sz="2600" spc="15" dirty="0">
                <a:latin typeface="Times New Roman"/>
                <a:cs typeface="Times New Roman"/>
              </a:rPr>
              <a:t>may </a:t>
            </a:r>
            <a:r>
              <a:rPr sz="2600" spc="10" dirty="0">
                <a:latin typeface="Times New Roman"/>
                <a:cs typeface="Times New Roman"/>
              </a:rPr>
              <a:t>depend  </a:t>
            </a:r>
            <a:r>
              <a:rPr sz="2600" spc="15" dirty="0">
                <a:latin typeface="Times New Roman"/>
                <a:cs typeface="Times New Roman"/>
              </a:rPr>
              <a:t>on </a:t>
            </a:r>
            <a:r>
              <a:rPr sz="2600" spc="10" dirty="0">
                <a:latin typeface="Times New Roman"/>
                <a:cs typeface="Times New Roman"/>
              </a:rPr>
              <a:t>the outer variable </a:t>
            </a:r>
            <a:r>
              <a:rPr sz="2600" spc="5" dirty="0">
                <a:latin typeface="Times New Roman"/>
                <a:cs typeface="Times New Roman"/>
              </a:rPr>
              <a:t>(z), </a:t>
            </a:r>
            <a:r>
              <a:rPr sz="2600" spc="10" dirty="0">
                <a:latin typeface="Times New Roman"/>
                <a:cs typeface="Times New Roman"/>
              </a:rPr>
              <a:t>whereas the  outer limits are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constants.</a:t>
            </a:r>
            <a:endParaRPr sz="2600">
              <a:latin typeface="Times New Roman"/>
              <a:cs typeface="Times New Roman"/>
            </a:endParaRPr>
          </a:p>
          <a:p>
            <a:pPr marL="452755" marR="1535430" indent="-377190" algn="just">
              <a:lnSpc>
                <a:spcPct val="100400"/>
              </a:lnSpc>
              <a:spcBef>
                <a:spcPts val="60"/>
              </a:spcBef>
              <a:buClr>
                <a:srgbClr val="0065FF"/>
              </a:buClr>
              <a:buFont typeface="Wingdings"/>
              <a:buChar char=""/>
              <a:tabLst>
                <a:tab pos="453390" algn="l"/>
              </a:tabLst>
            </a:pPr>
            <a:r>
              <a:rPr sz="2600" spc="15" dirty="0">
                <a:latin typeface="Times New Roman"/>
                <a:cs typeface="Times New Roman"/>
              </a:rPr>
              <a:t>The main </a:t>
            </a:r>
            <a:r>
              <a:rPr sz="2600" spc="10" dirty="0">
                <a:latin typeface="Times New Roman"/>
                <a:cs typeface="Times New Roman"/>
              </a:rPr>
              <a:t>task is to determine the  correct limits </a:t>
            </a:r>
            <a:r>
              <a:rPr sz="2600" spc="15" dirty="0">
                <a:latin typeface="Times New Roman"/>
                <a:cs typeface="Times New Roman"/>
              </a:rPr>
              <a:t>on </a:t>
            </a:r>
            <a:r>
              <a:rPr sz="2600" spc="10" dirty="0">
                <a:latin typeface="Times New Roman"/>
                <a:cs typeface="Times New Roman"/>
              </a:rPr>
              <a:t>x, y,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z:</a:t>
            </a:r>
            <a:endParaRPr sz="2600">
              <a:latin typeface="Times New Roman"/>
              <a:cs typeface="Times New Roman"/>
            </a:endParaRPr>
          </a:p>
          <a:p>
            <a:pPr marL="551815">
              <a:lnSpc>
                <a:spcPct val="100000"/>
              </a:lnSpc>
              <a:spcBef>
                <a:spcPts val="1035"/>
              </a:spcBef>
            </a:pPr>
            <a:r>
              <a:rPr sz="7950" spc="-15" baseline="-13102" dirty="0">
                <a:latin typeface="Symbol"/>
                <a:cs typeface="Symbol"/>
              </a:rPr>
              <a:t></a:t>
            </a:r>
            <a:r>
              <a:rPr sz="7950" spc="-254" baseline="-13102" dirty="0">
                <a:latin typeface="Symbol"/>
                <a:cs typeface="Symbol"/>
              </a:rPr>
              <a:t></a:t>
            </a:r>
            <a:r>
              <a:rPr sz="3075" i="1" baseline="-52845" dirty="0">
                <a:latin typeface="Times New Roman"/>
                <a:cs typeface="Times New Roman"/>
              </a:rPr>
              <a:t>D</a:t>
            </a:r>
            <a:r>
              <a:rPr sz="3075" i="1" spc="-150" baseline="-52845" dirty="0">
                <a:latin typeface="Times New Roman"/>
                <a:cs typeface="Times New Roman"/>
              </a:rPr>
              <a:t> </a:t>
            </a:r>
            <a:r>
              <a:rPr sz="3500" i="1" spc="105" dirty="0">
                <a:latin typeface="Times New Roman"/>
                <a:cs typeface="Times New Roman"/>
              </a:rPr>
              <a:t>u</a:t>
            </a:r>
            <a:r>
              <a:rPr sz="3500" spc="5" dirty="0">
                <a:latin typeface="Times New Roman"/>
                <a:cs typeface="Times New Roman"/>
              </a:rPr>
              <a:t>(</a:t>
            </a:r>
            <a:r>
              <a:rPr sz="3500" spc="-560" dirty="0">
                <a:latin typeface="Times New Roman"/>
                <a:cs typeface="Times New Roman"/>
              </a:rPr>
              <a:t> </a:t>
            </a:r>
            <a:r>
              <a:rPr sz="3500" i="1" spc="80" dirty="0">
                <a:latin typeface="Times New Roman"/>
                <a:cs typeface="Times New Roman"/>
              </a:rPr>
              <a:t>x</a:t>
            </a:r>
            <a:r>
              <a:rPr sz="3500" spc="5" dirty="0">
                <a:latin typeface="Times New Roman"/>
                <a:cs typeface="Times New Roman"/>
              </a:rPr>
              <a:t>,</a:t>
            </a:r>
            <a:r>
              <a:rPr sz="3500" spc="-170" dirty="0">
                <a:latin typeface="Times New Roman"/>
                <a:cs typeface="Times New Roman"/>
              </a:rPr>
              <a:t> </a:t>
            </a:r>
            <a:r>
              <a:rPr sz="3500" i="1" spc="114" dirty="0">
                <a:latin typeface="Times New Roman"/>
                <a:cs typeface="Times New Roman"/>
              </a:rPr>
              <a:t>y</a:t>
            </a:r>
            <a:r>
              <a:rPr sz="3500" spc="5" dirty="0">
                <a:latin typeface="Times New Roman"/>
                <a:cs typeface="Times New Roman"/>
              </a:rPr>
              <a:t>,</a:t>
            </a:r>
            <a:r>
              <a:rPr sz="3500" spc="-390" dirty="0">
                <a:latin typeface="Times New Roman"/>
                <a:cs typeface="Times New Roman"/>
              </a:rPr>
              <a:t> </a:t>
            </a:r>
            <a:r>
              <a:rPr sz="3500" i="1" spc="195" dirty="0">
                <a:latin typeface="Times New Roman"/>
                <a:cs typeface="Times New Roman"/>
              </a:rPr>
              <a:t>z</a:t>
            </a:r>
            <a:r>
              <a:rPr sz="3500" spc="65" dirty="0">
                <a:latin typeface="Times New Roman"/>
                <a:cs typeface="Times New Roman"/>
              </a:rPr>
              <a:t>)</a:t>
            </a:r>
            <a:r>
              <a:rPr sz="3500" i="1" spc="10" dirty="0">
                <a:latin typeface="Times New Roman"/>
                <a:cs typeface="Times New Roman"/>
              </a:rPr>
              <a:t>dzdydx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50367" y="5892725"/>
            <a:ext cx="2111279" cy="41806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40"/>
              </a:spcBef>
              <a:buClr>
                <a:srgbClr val="0065FF"/>
              </a:buClr>
              <a:buFont typeface="Wingdings"/>
              <a:buChar char=""/>
              <a:tabLst>
                <a:tab pos="389255" algn="l"/>
                <a:tab pos="389890" algn="l"/>
                <a:tab pos="1076960" algn="l"/>
              </a:tabLst>
            </a:pPr>
            <a:r>
              <a:rPr sz="2600" spc="15" dirty="0">
                <a:latin typeface="Times New Roman"/>
                <a:cs typeface="Times New Roman"/>
              </a:rPr>
              <a:t>Fo</a:t>
            </a:r>
            <a:r>
              <a:rPr sz="2600" spc="10" dirty="0">
                <a:latin typeface="Times New Roman"/>
                <a:cs typeface="Times New Roman"/>
              </a:rPr>
              <a:t>r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10" dirty="0">
                <a:latin typeface="Times New Roman"/>
                <a:cs typeface="Times New Roman"/>
              </a:rPr>
              <a:t>most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699820" y="5892725"/>
            <a:ext cx="9020848" cy="41806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1815464" algn="l"/>
                <a:tab pos="3656329" algn="l"/>
                <a:tab pos="4770755" algn="l"/>
                <a:tab pos="5495290" algn="l"/>
                <a:tab pos="6126480" algn="l"/>
              </a:tabLst>
            </a:pPr>
            <a:r>
              <a:rPr sz="2600" spc="10" dirty="0">
                <a:latin typeface="Times New Roman"/>
                <a:cs typeface="Times New Roman"/>
              </a:rPr>
              <a:t>engineering	applications	shapes	that	are	important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07565" y="6243704"/>
            <a:ext cx="8174950" cy="41806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spc="10" dirty="0">
                <a:latin typeface="Times New Roman"/>
                <a:cs typeface="Times New Roman"/>
              </a:rPr>
              <a:t>include: </a:t>
            </a:r>
            <a:r>
              <a:rPr sz="2600" b="1" i="1" spc="10" dirty="0">
                <a:solidFill>
                  <a:srgbClr val="0065FF"/>
                </a:solidFill>
                <a:latin typeface="Times New Roman"/>
                <a:cs typeface="Times New Roman"/>
              </a:rPr>
              <a:t>box, cylinder, cone, tetrahedron,</a:t>
            </a:r>
            <a:r>
              <a:rPr sz="2600" b="1" i="1" spc="-30" dirty="0">
                <a:solidFill>
                  <a:srgbClr val="0065FF"/>
                </a:solidFill>
                <a:latin typeface="Times New Roman"/>
                <a:cs typeface="Times New Roman"/>
              </a:rPr>
              <a:t> </a:t>
            </a:r>
            <a:r>
              <a:rPr sz="2600" b="1" i="1" spc="10" dirty="0">
                <a:solidFill>
                  <a:srgbClr val="0065FF"/>
                </a:solidFill>
                <a:latin typeface="Times New Roman"/>
                <a:cs typeface="Times New Roman"/>
              </a:rPr>
              <a:t>sphere</a:t>
            </a:r>
            <a:r>
              <a:rPr sz="2600" b="1" i="1" spc="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8409" y="191172"/>
            <a:ext cx="10779606" cy="119776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848994">
              <a:lnSpc>
                <a:spcPct val="100000"/>
              </a:lnSpc>
              <a:spcBef>
                <a:spcPts val="120"/>
              </a:spcBef>
            </a:pPr>
            <a:r>
              <a:rPr sz="3500" u="heavy" spc="5" dirty="0">
                <a:solidFill>
                  <a:srgbClr val="0065FF"/>
                </a:solidFill>
                <a:uFill>
                  <a:solidFill>
                    <a:srgbClr val="0065FF"/>
                  </a:solidFill>
                </a:uFill>
                <a:latin typeface="Times New Roman"/>
                <a:cs typeface="Times New Roman"/>
              </a:rPr>
              <a:t>Engineering </a:t>
            </a:r>
            <a:r>
              <a:rPr sz="3500" u="heavy" dirty="0">
                <a:solidFill>
                  <a:srgbClr val="0065FF"/>
                </a:solidFill>
                <a:uFill>
                  <a:solidFill>
                    <a:srgbClr val="0065FF"/>
                  </a:solidFill>
                </a:uFill>
                <a:latin typeface="Times New Roman"/>
                <a:cs typeface="Times New Roman"/>
              </a:rPr>
              <a:t>Application </a:t>
            </a:r>
            <a:r>
              <a:rPr sz="3500" u="heavy" spc="5" dirty="0">
                <a:solidFill>
                  <a:srgbClr val="0065FF"/>
                </a:solidFill>
                <a:uFill>
                  <a:solidFill>
                    <a:srgbClr val="0065FF"/>
                  </a:solidFill>
                </a:uFill>
                <a:latin typeface="Times New Roman"/>
                <a:cs typeface="Times New Roman"/>
              </a:rPr>
              <a:t>of </a:t>
            </a:r>
            <a:r>
              <a:rPr sz="3500" u="heavy" dirty="0">
                <a:solidFill>
                  <a:srgbClr val="0065FF"/>
                </a:solidFill>
                <a:uFill>
                  <a:solidFill>
                    <a:srgbClr val="0065FF"/>
                  </a:solidFill>
                </a:uFill>
                <a:latin typeface="Times New Roman"/>
                <a:cs typeface="Times New Roman"/>
              </a:rPr>
              <a:t>Triple Integrals</a:t>
            </a:r>
            <a:r>
              <a:rPr sz="3500" u="heavy" spc="10" dirty="0">
                <a:solidFill>
                  <a:srgbClr val="0065FF"/>
                </a:solidFill>
                <a:uFill>
                  <a:solidFill>
                    <a:srgbClr val="0065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500" u="heavy" spc="5" dirty="0">
                <a:solidFill>
                  <a:srgbClr val="0065FF"/>
                </a:solidFill>
                <a:uFill>
                  <a:solidFill>
                    <a:srgbClr val="0065FF"/>
                  </a:solidFill>
                </a:uFill>
                <a:latin typeface="Times New Roman"/>
                <a:cs typeface="Times New Roman"/>
              </a:rPr>
              <a:t>I</a:t>
            </a:r>
            <a:endParaRPr sz="3500">
              <a:latin typeface="Times New Roman"/>
              <a:cs typeface="Times New Roman"/>
            </a:endParaRPr>
          </a:p>
          <a:p>
            <a:pPr marL="389890" indent="-377190">
              <a:lnSpc>
                <a:spcPct val="100000"/>
              </a:lnSpc>
              <a:spcBef>
                <a:spcPts val="1920"/>
              </a:spcBef>
              <a:buClr>
                <a:srgbClr val="0065FF"/>
              </a:buClr>
              <a:buFont typeface="Wingdings"/>
              <a:buChar char=""/>
              <a:tabLst>
                <a:tab pos="389255" algn="l"/>
                <a:tab pos="389890" algn="l"/>
              </a:tabLst>
            </a:pPr>
            <a:r>
              <a:rPr sz="2600" spc="15" dirty="0">
                <a:latin typeface="Times New Roman"/>
                <a:cs typeface="Times New Roman"/>
              </a:rPr>
              <a:t>Volume </a:t>
            </a:r>
            <a:r>
              <a:rPr sz="2600" spc="25" dirty="0">
                <a:latin typeface="Times New Roman"/>
                <a:cs typeface="Times New Roman"/>
              </a:rPr>
              <a:t>V </a:t>
            </a:r>
            <a:r>
              <a:rPr sz="2600" spc="10" dirty="0">
                <a:latin typeface="Times New Roman"/>
                <a:cs typeface="Times New Roman"/>
              </a:rPr>
              <a:t>of </a:t>
            </a:r>
            <a:r>
              <a:rPr sz="2600" spc="15" dirty="0">
                <a:latin typeface="Times New Roman"/>
                <a:cs typeface="Times New Roman"/>
              </a:rPr>
              <a:t>a </a:t>
            </a:r>
            <a:r>
              <a:rPr sz="2600" spc="10" dirty="0">
                <a:latin typeface="Times New Roman"/>
                <a:cs typeface="Times New Roman"/>
              </a:rPr>
              <a:t>region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D: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908828" y="5027182"/>
            <a:ext cx="4084012" cy="0"/>
          </a:xfrm>
          <a:custGeom>
            <a:avLst/>
            <a:gdLst/>
            <a:ahLst/>
            <a:cxnLst/>
            <a:rect l="l" t="t" r="r" b="b"/>
            <a:pathLst>
              <a:path w="3369309">
                <a:moveTo>
                  <a:pt x="0" y="0"/>
                </a:moveTo>
                <a:lnTo>
                  <a:pt x="3368801" y="0"/>
                </a:lnTo>
              </a:path>
            </a:pathLst>
          </a:custGeom>
          <a:ln w="155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922684" y="6080760"/>
            <a:ext cx="4107873" cy="0"/>
          </a:xfrm>
          <a:custGeom>
            <a:avLst/>
            <a:gdLst/>
            <a:ahLst/>
            <a:cxnLst/>
            <a:rect l="l" t="t" r="r" b="b"/>
            <a:pathLst>
              <a:path w="3388995">
                <a:moveTo>
                  <a:pt x="0" y="0"/>
                </a:moveTo>
                <a:lnTo>
                  <a:pt x="3388613" y="0"/>
                </a:lnTo>
              </a:path>
            </a:pathLst>
          </a:custGeom>
          <a:ln w="155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5874" y="3645401"/>
            <a:ext cx="9451879" cy="3248966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440690" indent="-377190">
              <a:lnSpc>
                <a:spcPct val="100000"/>
              </a:lnSpc>
              <a:spcBef>
                <a:spcPts val="1155"/>
              </a:spcBef>
              <a:buClr>
                <a:srgbClr val="0065FF"/>
              </a:buClr>
              <a:buFont typeface="Wingdings"/>
              <a:buChar char=""/>
              <a:tabLst>
                <a:tab pos="440055" algn="l"/>
                <a:tab pos="440690" algn="l"/>
              </a:tabLst>
            </a:pPr>
            <a:r>
              <a:rPr sz="2600" spc="10" dirty="0">
                <a:latin typeface="Times New Roman"/>
                <a:cs typeface="Times New Roman"/>
              </a:rPr>
              <a:t>Center of </a:t>
            </a:r>
            <a:r>
              <a:rPr sz="2600" spc="15" dirty="0">
                <a:latin typeface="Times New Roman"/>
                <a:cs typeface="Times New Roman"/>
              </a:rPr>
              <a:t>mass </a:t>
            </a:r>
            <a:r>
              <a:rPr sz="2600" spc="10" dirty="0">
                <a:latin typeface="Times New Roman"/>
                <a:cs typeface="Times New Roman"/>
              </a:rPr>
              <a:t>for </a:t>
            </a:r>
            <a:r>
              <a:rPr sz="2600" spc="15" dirty="0">
                <a:latin typeface="Times New Roman"/>
                <a:cs typeface="Times New Roman"/>
              </a:rPr>
              <a:t>a body </a:t>
            </a:r>
            <a:r>
              <a:rPr sz="2600" spc="25" dirty="0">
                <a:latin typeface="Times New Roman"/>
                <a:cs typeface="Times New Roman"/>
              </a:rPr>
              <a:t>D </a:t>
            </a:r>
            <a:r>
              <a:rPr sz="2600" spc="10" dirty="0">
                <a:latin typeface="Times New Roman"/>
                <a:cs typeface="Times New Roman"/>
              </a:rPr>
              <a:t>with density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Symbol"/>
                <a:cs typeface="Symbol"/>
              </a:rPr>
              <a:t></a:t>
            </a:r>
            <a:r>
              <a:rPr sz="2600" spc="10" dirty="0">
                <a:latin typeface="Times New Roman"/>
                <a:cs typeface="Times New Roman"/>
              </a:rPr>
              <a:t>(x,y,z)</a:t>
            </a:r>
            <a:endParaRPr sz="2600">
              <a:latin typeface="Times New Roman"/>
              <a:cs typeface="Times New Roman"/>
            </a:endParaRPr>
          </a:p>
          <a:p>
            <a:pPr marL="2591435">
              <a:lnSpc>
                <a:spcPct val="100000"/>
              </a:lnSpc>
              <a:spcBef>
                <a:spcPts val="1714"/>
              </a:spcBef>
            </a:pPr>
            <a:r>
              <a:rPr sz="4350" spc="-2287" baseline="-30651" dirty="0">
                <a:latin typeface="Times New Roman"/>
                <a:cs typeface="Times New Roman"/>
              </a:rPr>
              <a:t>~</a:t>
            </a:r>
            <a:r>
              <a:rPr sz="4350" i="1" spc="22" baseline="-50766" dirty="0">
                <a:latin typeface="Times New Roman"/>
                <a:cs typeface="Times New Roman"/>
              </a:rPr>
              <a:t>x</a:t>
            </a:r>
            <a:r>
              <a:rPr sz="4350" i="1" spc="330" baseline="-50766" dirty="0">
                <a:latin typeface="Times New Roman"/>
                <a:cs typeface="Times New Roman"/>
              </a:rPr>
              <a:t> </a:t>
            </a:r>
            <a:r>
              <a:rPr sz="4350" spc="30" baseline="-50766" dirty="0">
                <a:latin typeface="Symbol"/>
                <a:cs typeface="Symbol"/>
              </a:rPr>
              <a:t></a:t>
            </a:r>
            <a:r>
              <a:rPr sz="4350" spc="442" baseline="-50766" dirty="0">
                <a:latin typeface="Times New Roman"/>
                <a:cs typeface="Times New Roman"/>
              </a:rPr>
              <a:t> </a:t>
            </a:r>
            <a:r>
              <a:rPr sz="6600" baseline="-13257" dirty="0">
                <a:latin typeface="Symbol"/>
                <a:cs typeface="Symbol"/>
              </a:rPr>
              <a:t></a:t>
            </a:r>
            <a:r>
              <a:rPr sz="6600" spc="-742" baseline="-13257" dirty="0">
                <a:latin typeface="Times New Roman"/>
                <a:cs typeface="Times New Roman"/>
              </a:rPr>
              <a:t> </a:t>
            </a:r>
            <a:r>
              <a:rPr sz="6600" spc="-7" baseline="-13257" dirty="0">
                <a:latin typeface="Symbol"/>
                <a:cs typeface="Symbol"/>
              </a:rPr>
              <a:t></a:t>
            </a:r>
            <a:r>
              <a:rPr sz="6600" spc="-195" baseline="-13257" dirty="0">
                <a:latin typeface="Symbol"/>
                <a:cs typeface="Symbol"/>
              </a:rPr>
              <a:t></a:t>
            </a:r>
            <a:r>
              <a:rPr sz="2550" i="1" spc="15" baseline="-53921" dirty="0">
                <a:latin typeface="Times New Roman"/>
                <a:cs typeface="Times New Roman"/>
              </a:rPr>
              <a:t>D</a:t>
            </a:r>
            <a:r>
              <a:rPr sz="2550" i="1" spc="187" baseline="-53921" dirty="0">
                <a:latin typeface="Times New Roman"/>
                <a:cs typeface="Times New Roman"/>
              </a:rPr>
              <a:t> </a:t>
            </a:r>
            <a:r>
              <a:rPr sz="2900" i="1" spc="30" dirty="0">
                <a:latin typeface="Times New Roman"/>
                <a:cs typeface="Times New Roman"/>
              </a:rPr>
              <a:t>x</a:t>
            </a:r>
            <a:r>
              <a:rPr sz="3100" i="1" spc="170" dirty="0">
                <a:latin typeface="Symbol"/>
                <a:cs typeface="Symbol"/>
              </a:rPr>
              <a:t></a:t>
            </a:r>
            <a:r>
              <a:rPr sz="2900" spc="10" dirty="0">
                <a:latin typeface="Times New Roman"/>
                <a:cs typeface="Times New Roman"/>
              </a:rPr>
              <a:t>(</a:t>
            </a:r>
            <a:r>
              <a:rPr sz="2900" spc="-465" dirty="0">
                <a:latin typeface="Times New Roman"/>
                <a:cs typeface="Times New Roman"/>
              </a:rPr>
              <a:t> </a:t>
            </a:r>
            <a:r>
              <a:rPr sz="2900" i="1" spc="70" dirty="0">
                <a:latin typeface="Times New Roman"/>
                <a:cs typeface="Times New Roman"/>
              </a:rPr>
              <a:t>x</a:t>
            </a:r>
            <a:r>
              <a:rPr sz="2900" spc="5" dirty="0">
                <a:latin typeface="Times New Roman"/>
                <a:cs typeface="Times New Roman"/>
              </a:rPr>
              <a:t>,</a:t>
            </a:r>
            <a:r>
              <a:rPr sz="2900" spc="-140" dirty="0">
                <a:latin typeface="Times New Roman"/>
                <a:cs typeface="Times New Roman"/>
              </a:rPr>
              <a:t> </a:t>
            </a:r>
            <a:r>
              <a:rPr sz="2900" i="1" spc="100" dirty="0">
                <a:latin typeface="Times New Roman"/>
                <a:cs typeface="Times New Roman"/>
              </a:rPr>
              <a:t>y</a:t>
            </a:r>
            <a:r>
              <a:rPr sz="2900" spc="5" dirty="0">
                <a:latin typeface="Times New Roman"/>
                <a:cs typeface="Times New Roman"/>
              </a:rPr>
              <a:t>,</a:t>
            </a:r>
            <a:r>
              <a:rPr sz="2900" spc="-330" dirty="0">
                <a:latin typeface="Times New Roman"/>
                <a:cs typeface="Times New Roman"/>
              </a:rPr>
              <a:t> </a:t>
            </a:r>
            <a:r>
              <a:rPr sz="2900" i="1" spc="170" dirty="0">
                <a:latin typeface="Times New Roman"/>
                <a:cs typeface="Times New Roman"/>
              </a:rPr>
              <a:t>z</a:t>
            </a:r>
            <a:r>
              <a:rPr sz="2900" spc="55" dirty="0">
                <a:latin typeface="Times New Roman"/>
                <a:cs typeface="Times New Roman"/>
              </a:rPr>
              <a:t>)</a:t>
            </a:r>
            <a:r>
              <a:rPr sz="2900" i="1" spc="15" dirty="0">
                <a:latin typeface="Times New Roman"/>
                <a:cs typeface="Times New Roman"/>
              </a:rPr>
              <a:t>dxdydz</a:t>
            </a:r>
            <a:r>
              <a:rPr sz="2900" i="1" spc="140" dirty="0">
                <a:latin typeface="Times New Roman"/>
                <a:cs typeface="Times New Roman"/>
              </a:rPr>
              <a:t> </a:t>
            </a:r>
            <a:r>
              <a:rPr sz="4350" b="1" spc="7" baseline="-50766" dirty="0">
                <a:latin typeface="Times New Roman"/>
                <a:cs typeface="Times New Roman"/>
              </a:rPr>
              <a:t>,</a:t>
            </a:r>
            <a:endParaRPr sz="4350" baseline="-50766">
              <a:latin typeface="Times New Roman"/>
              <a:cs typeface="Times New Roman"/>
            </a:endParaRPr>
          </a:p>
          <a:p>
            <a:pPr marL="1953260" algn="ctr">
              <a:lnSpc>
                <a:spcPts val="3220"/>
              </a:lnSpc>
              <a:spcBef>
                <a:spcPts val="1160"/>
              </a:spcBef>
            </a:pPr>
            <a:r>
              <a:rPr sz="2900" i="1" spc="25" dirty="0">
                <a:latin typeface="Times New Roman"/>
                <a:cs typeface="Times New Roman"/>
              </a:rPr>
              <a:t>m</a:t>
            </a:r>
            <a:endParaRPr sz="2900">
              <a:latin typeface="Times New Roman"/>
              <a:cs typeface="Times New Roman"/>
            </a:endParaRPr>
          </a:p>
          <a:p>
            <a:pPr marL="2603500">
              <a:lnSpc>
                <a:spcPts val="5020"/>
              </a:lnSpc>
              <a:tabLst>
                <a:tab pos="6885940" algn="l"/>
              </a:tabLst>
            </a:pPr>
            <a:r>
              <a:rPr sz="4350" spc="-2197" baseline="-30651" dirty="0">
                <a:latin typeface="Times New Roman"/>
                <a:cs typeface="Times New Roman"/>
              </a:rPr>
              <a:t>~</a:t>
            </a:r>
            <a:r>
              <a:rPr sz="4350" i="1" spc="22" baseline="-50766" dirty="0">
                <a:latin typeface="Times New Roman"/>
                <a:cs typeface="Times New Roman"/>
              </a:rPr>
              <a:t>y</a:t>
            </a:r>
            <a:r>
              <a:rPr sz="4350" i="1" spc="225" baseline="-50766" dirty="0">
                <a:latin typeface="Times New Roman"/>
                <a:cs typeface="Times New Roman"/>
              </a:rPr>
              <a:t> </a:t>
            </a:r>
            <a:r>
              <a:rPr sz="4350" spc="30" baseline="-50766" dirty="0">
                <a:latin typeface="Symbol"/>
                <a:cs typeface="Symbol"/>
              </a:rPr>
              <a:t></a:t>
            </a:r>
            <a:r>
              <a:rPr sz="4350" spc="442" baseline="-50766" dirty="0">
                <a:latin typeface="Times New Roman"/>
                <a:cs typeface="Times New Roman"/>
              </a:rPr>
              <a:t> </a:t>
            </a:r>
            <a:r>
              <a:rPr sz="6600" baseline="-13257" dirty="0">
                <a:latin typeface="Symbol"/>
                <a:cs typeface="Symbol"/>
              </a:rPr>
              <a:t></a:t>
            </a:r>
            <a:r>
              <a:rPr sz="6600" spc="-742" baseline="-13257" dirty="0">
                <a:latin typeface="Times New Roman"/>
                <a:cs typeface="Times New Roman"/>
              </a:rPr>
              <a:t> </a:t>
            </a:r>
            <a:r>
              <a:rPr sz="6600" spc="-7" baseline="-13257" dirty="0">
                <a:latin typeface="Symbol"/>
                <a:cs typeface="Symbol"/>
              </a:rPr>
              <a:t></a:t>
            </a:r>
            <a:r>
              <a:rPr sz="6600" spc="-195" baseline="-13257" dirty="0">
                <a:latin typeface="Symbol"/>
                <a:cs typeface="Symbol"/>
              </a:rPr>
              <a:t></a:t>
            </a:r>
            <a:r>
              <a:rPr sz="2550" i="1" spc="15" baseline="-53921" dirty="0">
                <a:latin typeface="Times New Roman"/>
                <a:cs typeface="Times New Roman"/>
              </a:rPr>
              <a:t>D</a:t>
            </a:r>
            <a:r>
              <a:rPr sz="2550" i="1" baseline="-53921" dirty="0">
                <a:latin typeface="Times New Roman"/>
                <a:cs typeface="Times New Roman"/>
              </a:rPr>
              <a:t> </a:t>
            </a:r>
            <a:r>
              <a:rPr sz="2550" i="1" spc="-217" baseline="-53921" dirty="0">
                <a:latin typeface="Times New Roman"/>
                <a:cs typeface="Times New Roman"/>
              </a:rPr>
              <a:t> </a:t>
            </a:r>
            <a:r>
              <a:rPr sz="2900" i="1" spc="20" dirty="0">
                <a:latin typeface="Times New Roman"/>
                <a:cs typeface="Times New Roman"/>
              </a:rPr>
              <a:t>y</a:t>
            </a:r>
            <a:r>
              <a:rPr sz="3100" i="1" spc="-90" dirty="0">
                <a:latin typeface="Symbol"/>
                <a:cs typeface="Symbol"/>
              </a:rPr>
              <a:t></a:t>
            </a:r>
            <a:r>
              <a:rPr sz="3100" spc="-505" dirty="0">
                <a:latin typeface="Times New Roman"/>
                <a:cs typeface="Times New Roman"/>
              </a:rPr>
              <a:t> </a:t>
            </a:r>
            <a:r>
              <a:rPr sz="2900" spc="10" dirty="0">
                <a:latin typeface="Times New Roman"/>
                <a:cs typeface="Times New Roman"/>
              </a:rPr>
              <a:t>(</a:t>
            </a:r>
            <a:r>
              <a:rPr sz="2900" spc="-465" dirty="0">
                <a:latin typeface="Times New Roman"/>
                <a:cs typeface="Times New Roman"/>
              </a:rPr>
              <a:t> </a:t>
            </a:r>
            <a:r>
              <a:rPr sz="2900" i="1" spc="70" dirty="0">
                <a:latin typeface="Times New Roman"/>
                <a:cs typeface="Times New Roman"/>
              </a:rPr>
              <a:t>x</a:t>
            </a:r>
            <a:r>
              <a:rPr sz="2900" spc="5" dirty="0">
                <a:latin typeface="Times New Roman"/>
                <a:cs typeface="Times New Roman"/>
              </a:rPr>
              <a:t>,</a:t>
            </a:r>
            <a:r>
              <a:rPr sz="2900" spc="-140" dirty="0">
                <a:latin typeface="Times New Roman"/>
                <a:cs typeface="Times New Roman"/>
              </a:rPr>
              <a:t> </a:t>
            </a:r>
            <a:r>
              <a:rPr sz="2900" i="1" spc="100" dirty="0">
                <a:latin typeface="Times New Roman"/>
                <a:cs typeface="Times New Roman"/>
              </a:rPr>
              <a:t>y</a:t>
            </a:r>
            <a:r>
              <a:rPr sz="2900" spc="5" dirty="0">
                <a:latin typeface="Times New Roman"/>
                <a:cs typeface="Times New Roman"/>
              </a:rPr>
              <a:t>,</a:t>
            </a:r>
            <a:r>
              <a:rPr sz="2900" spc="-330" dirty="0">
                <a:latin typeface="Times New Roman"/>
                <a:cs typeface="Times New Roman"/>
              </a:rPr>
              <a:t> </a:t>
            </a:r>
            <a:r>
              <a:rPr sz="2900" i="1" spc="170" dirty="0">
                <a:latin typeface="Times New Roman"/>
                <a:cs typeface="Times New Roman"/>
              </a:rPr>
              <a:t>z</a:t>
            </a:r>
            <a:r>
              <a:rPr sz="2900" spc="50" dirty="0">
                <a:latin typeface="Times New Roman"/>
                <a:cs typeface="Times New Roman"/>
              </a:rPr>
              <a:t>)</a:t>
            </a:r>
            <a:r>
              <a:rPr sz="2900" i="1" spc="15" dirty="0">
                <a:latin typeface="Times New Roman"/>
                <a:cs typeface="Times New Roman"/>
              </a:rPr>
              <a:t>dxdydz</a:t>
            </a:r>
            <a:r>
              <a:rPr sz="2900" i="1" spc="-130" dirty="0">
                <a:latin typeface="Times New Roman"/>
                <a:cs typeface="Times New Roman"/>
              </a:rPr>
              <a:t> </a:t>
            </a:r>
            <a:r>
              <a:rPr sz="4350" spc="7" baseline="-50766" dirty="0">
                <a:latin typeface="Times New Roman"/>
                <a:cs typeface="Times New Roman"/>
              </a:rPr>
              <a:t>,</a:t>
            </a:r>
            <a:r>
              <a:rPr sz="4350" baseline="-50766" dirty="0">
                <a:latin typeface="Times New Roman"/>
                <a:cs typeface="Times New Roman"/>
              </a:rPr>
              <a:t>	</a:t>
            </a:r>
            <a:r>
              <a:rPr sz="4350" spc="-2190" baseline="-31609" dirty="0">
                <a:latin typeface="Times New Roman"/>
                <a:cs typeface="Times New Roman"/>
              </a:rPr>
              <a:t>~</a:t>
            </a:r>
            <a:r>
              <a:rPr sz="4350" i="1" spc="22" baseline="-50766" dirty="0">
                <a:latin typeface="Times New Roman"/>
                <a:cs typeface="Times New Roman"/>
              </a:rPr>
              <a:t>z</a:t>
            </a:r>
            <a:r>
              <a:rPr sz="4350" i="1" spc="472" baseline="-50766" dirty="0">
                <a:latin typeface="Times New Roman"/>
                <a:cs typeface="Times New Roman"/>
              </a:rPr>
              <a:t> </a:t>
            </a:r>
            <a:r>
              <a:rPr sz="4350" spc="30" baseline="-50766" dirty="0">
                <a:latin typeface="Symbol"/>
                <a:cs typeface="Symbol"/>
              </a:rPr>
              <a:t></a:t>
            </a:r>
            <a:r>
              <a:rPr sz="4350" spc="-254" baseline="-50766" dirty="0">
                <a:latin typeface="Times New Roman"/>
                <a:cs typeface="Times New Roman"/>
              </a:rPr>
              <a:t> </a:t>
            </a:r>
            <a:r>
              <a:rPr sz="4350" spc="7" baseline="-50766" dirty="0">
                <a:latin typeface="Times New Roman"/>
                <a:cs typeface="Times New Roman"/>
              </a:rPr>
              <a:t>...</a:t>
            </a:r>
            <a:endParaRPr sz="4350" baseline="-50766">
              <a:latin typeface="Times New Roman"/>
              <a:cs typeface="Times New Roman"/>
            </a:endParaRPr>
          </a:p>
          <a:p>
            <a:pPr marL="1995805" algn="ctr">
              <a:lnSpc>
                <a:spcPct val="100000"/>
              </a:lnSpc>
              <a:spcBef>
                <a:spcPts val="1155"/>
              </a:spcBef>
            </a:pPr>
            <a:r>
              <a:rPr sz="2900" i="1" spc="25" dirty="0">
                <a:latin typeface="Times New Roman"/>
                <a:cs typeface="Times New Roman"/>
              </a:rPr>
              <a:t>m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98800" y="4401223"/>
            <a:ext cx="6386176" cy="2096060"/>
          </a:xfrm>
          <a:custGeom>
            <a:avLst/>
            <a:gdLst/>
            <a:ahLst/>
            <a:cxnLst/>
            <a:rect l="l" t="t" r="r" b="b"/>
            <a:pathLst>
              <a:path w="5268595" h="2375534">
                <a:moveTo>
                  <a:pt x="0" y="0"/>
                </a:moveTo>
                <a:lnTo>
                  <a:pt x="0" y="2375154"/>
                </a:lnTo>
                <a:lnTo>
                  <a:pt x="5268467" y="2375154"/>
                </a:lnTo>
                <a:lnTo>
                  <a:pt x="5268467" y="0"/>
                </a:lnTo>
                <a:lnTo>
                  <a:pt x="0" y="0"/>
                </a:lnTo>
                <a:close/>
              </a:path>
            </a:pathLst>
          </a:custGeom>
          <a:ln w="10477">
            <a:solidFill>
              <a:srgbClr val="FF34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292139" y="1301002"/>
            <a:ext cx="3726103" cy="730969"/>
          </a:xfrm>
          <a:prstGeom prst="rect">
            <a:avLst/>
          </a:prstGeom>
          <a:ln w="10477">
            <a:solidFill>
              <a:srgbClr val="0167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4130">
              <a:lnSpc>
                <a:spcPts val="5725"/>
              </a:lnSpc>
            </a:pPr>
            <a:r>
              <a:rPr sz="3650" i="1" spc="5" dirty="0">
                <a:latin typeface="Times New Roman"/>
                <a:cs typeface="Times New Roman"/>
              </a:rPr>
              <a:t>V</a:t>
            </a:r>
            <a:r>
              <a:rPr sz="3650" i="1" spc="400" dirty="0">
                <a:latin typeface="Times New Roman"/>
                <a:cs typeface="Times New Roman"/>
              </a:rPr>
              <a:t> </a:t>
            </a:r>
            <a:r>
              <a:rPr sz="3650" spc="5" dirty="0">
                <a:latin typeface="Symbol"/>
                <a:cs typeface="Symbol"/>
              </a:rPr>
              <a:t></a:t>
            </a:r>
            <a:r>
              <a:rPr sz="3650" spc="50" dirty="0"/>
              <a:t> </a:t>
            </a:r>
            <a:r>
              <a:rPr sz="8250" spc="-15" baseline="-13131" dirty="0">
                <a:latin typeface="Symbol"/>
                <a:cs typeface="Symbol"/>
              </a:rPr>
              <a:t></a:t>
            </a:r>
            <a:r>
              <a:rPr sz="8250" spc="-277" baseline="-13131" dirty="0">
                <a:latin typeface="Symbol"/>
                <a:cs typeface="Symbol"/>
              </a:rPr>
              <a:t></a:t>
            </a:r>
            <a:r>
              <a:rPr sz="3150" i="1" spc="37" baseline="-54232" dirty="0">
                <a:latin typeface="Times New Roman"/>
                <a:cs typeface="Times New Roman"/>
              </a:rPr>
              <a:t>D</a:t>
            </a:r>
            <a:r>
              <a:rPr sz="3150" i="1" spc="-44" baseline="-54232" dirty="0">
                <a:latin typeface="Times New Roman"/>
                <a:cs typeface="Times New Roman"/>
              </a:rPr>
              <a:t> </a:t>
            </a:r>
            <a:r>
              <a:rPr sz="3650" i="1" spc="5" dirty="0">
                <a:latin typeface="Times New Roman"/>
                <a:cs typeface="Times New Roman"/>
              </a:rPr>
              <a:t>dxdydz</a:t>
            </a:r>
            <a:endParaRPr sz="36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8408" y="2294292"/>
            <a:ext cx="7110461" cy="41806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40"/>
              </a:spcBef>
              <a:buClr>
                <a:srgbClr val="0065FF"/>
              </a:buClr>
              <a:buFont typeface="Wingdings"/>
              <a:buChar char=""/>
              <a:tabLst>
                <a:tab pos="389255" algn="l"/>
                <a:tab pos="389890" algn="l"/>
              </a:tabLst>
            </a:pPr>
            <a:r>
              <a:rPr sz="2600" spc="15" dirty="0">
                <a:latin typeface="Times New Roman"/>
                <a:cs typeface="Times New Roman"/>
              </a:rPr>
              <a:t>Mass </a:t>
            </a:r>
            <a:r>
              <a:rPr sz="2600" spc="10" dirty="0">
                <a:latin typeface="Times New Roman"/>
                <a:cs typeface="Times New Roman"/>
              </a:rPr>
              <a:t>for </a:t>
            </a:r>
            <a:r>
              <a:rPr sz="2600" spc="15" dirty="0">
                <a:latin typeface="Times New Roman"/>
                <a:cs typeface="Times New Roman"/>
              </a:rPr>
              <a:t>a body </a:t>
            </a:r>
            <a:r>
              <a:rPr sz="2600" spc="25" dirty="0">
                <a:latin typeface="Times New Roman"/>
                <a:cs typeface="Times New Roman"/>
              </a:rPr>
              <a:t>D </a:t>
            </a:r>
            <a:r>
              <a:rPr sz="2600" spc="10" dirty="0">
                <a:latin typeface="Times New Roman"/>
                <a:cs typeface="Times New Roman"/>
              </a:rPr>
              <a:t>with density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Symbol"/>
                <a:cs typeface="Symbol"/>
              </a:rPr>
              <a:t></a:t>
            </a:r>
            <a:r>
              <a:rPr sz="2600" spc="10" dirty="0">
                <a:latin typeface="Times New Roman"/>
                <a:cs typeface="Times New Roman"/>
              </a:rPr>
              <a:t>(x,y,z):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05448" y="2848087"/>
            <a:ext cx="4917594" cy="628377"/>
          </a:xfrm>
          <a:prstGeom prst="rect">
            <a:avLst/>
          </a:prstGeom>
          <a:ln w="10477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2865">
              <a:lnSpc>
                <a:spcPts val="4860"/>
              </a:lnSpc>
            </a:pPr>
            <a:r>
              <a:rPr sz="3100" i="1" spc="5" dirty="0">
                <a:latin typeface="Times New Roman"/>
                <a:cs typeface="Times New Roman"/>
              </a:rPr>
              <a:t>m</a:t>
            </a:r>
            <a:r>
              <a:rPr sz="3100" i="1" spc="-14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Symbol"/>
                <a:cs typeface="Symbol"/>
              </a:rPr>
              <a:t></a:t>
            </a:r>
            <a:r>
              <a:rPr sz="3100" spc="45" dirty="0">
                <a:latin typeface="Times New Roman"/>
                <a:cs typeface="Times New Roman"/>
              </a:rPr>
              <a:t> </a:t>
            </a:r>
            <a:r>
              <a:rPr sz="6975" spc="-7" baseline="-13142" dirty="0">
                <a:latin typeface="Symbol"/>
                <a:cs typeface="Symbol"/>
              </a:rPr>
              <a:t></a:t>
            </a:r>
            <a:r>
              <a:rPr sz="6975" spc="-240" baseline="-13142" dirty="0">
                <a:latin typeface="Symbol"/>
                <a:cs typeface="Symbol"/>
              </a:rPr>
              <a:t></a:t>
            </a:r>
            <a:r>
              <a:rPr sz="2700" i="1" spc="7" baseline="-52469" dirty="0">
                <a:latin typeface="Times New Roman"/>
                <a:cs typeface="Times New Roman"/>
              </a:rPr>
              <a:t>D</a:t>
            </a:r>
            <a:r>
              <a:rPr sz="2700" i="1" spc="104" baseline="-52469" dirty="0">
                <a:latin typeface="Times New Roman"/>
                <a:cs typeface="Times New Roman"/>
              </a:rPr>
              <a:t> </a:t>
            </a:r>
            <a:r>
              <a:rPr sz="3250" i="1" spc="-80" dirty="0">
                <a:latin typeface="Symbol"/>
                <a:cs typeface="Symbol"/>
              </a:rPr>
              <a:t></a:t>
            </a:r>
            <a:r>
              <a:rPr sz="3250" spc="-53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(</a:t>
            </a:r>
            <a:r>
              <a:rPr sz="3100" spc="-505" dirty="0">
                <a:latin typeface="Times New Roman"/>
                <a:cs typeface="Times New Roman"/>
              </a:rPr>
              <a:t> </a:t>
            </a:r>
            <a:r>
              <a:rPr sz="3100" i="1" spc="60" dirty="0">
                <a:latin typeface="Times New Roman"/>
                <a:cs typeface="Times New Roman"/>
              </a:rPr>
              <a:t>x</a:t>
            </a:r>
            <a:r>
              <a:rPr sz="3100" dirty="0">
                <a:latin typeface="Times New Roman"/>
                <a:cs typeface="Times New Roman"/>
              </a:rPr>
              <a:t>,</a:t>
            </a:r>
            <a:r>
              <a:rPr sz="3100" spc="-160" dirty="0">
                <a:latin typeface="Times New Roman"/>
                <a:cs typeface="Times New Roman"/>
              </a:rPr>
              <a:t> </a:t>
            </a:r>
            <a:r>
              <a:rPr sz="3100" i="1" spc="95" dirty="0">
                <a:latin typeface="Times New Roman"/>
                <a:cs typeface="Times New Roman"/>
              </a:rPr>
              <a:t>y</a:t>
            </a:r>
            <a:r>
              <a:rPr sz="3100" dirty="0">
                <a:latin typeface="Times New Roman"/>
                <a:cs typeface="Times New Roman"/>
              </a:rPr>
              <a:t>,</a:t>
            </a:r>
            <a:r>
              <a:rPr sz="3100" spc="-355" dirty="0">
                <a:latin typeface="Times New Roman"/>
                <a:cs typeface="Times New Roman"/>
              </a:rPr>
              <a:t> </a:t>
            </a:r>
            <a:r>
              <a:rPr sz="3100" i="1" spc="165" dirty="0">
                <a:latin typeface="Times New Roman"/>
                <a:cs typeface="Times New Roman"/>
              </a:rPr>
              <a:t>z</a:t>
            </a:r>
            <a:r>
              <a:rPr sz="3100" spc="50" dirty="0">
                <a:latin typeface="Times New Roman"/>
                <a:cs typeface="Times New Roman"/>
              </a:rPr>
              <a:t>)</a:t>
            </a:r>
            <a:r>
              <a:rPr sz="3100" i="1" dirty="0">
                <a:latin typeface="Times New Roman"/>
                <a:cs typeface="Times New Roman"/>
              </a:rPr>
              <a:t>dxdydz</a:t>
            </a:r>
            <a:endParaRPr sz="3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910731" y="2244856"/>
            <a:ext cx="3027988" cy="1657909"/>
          </a:xfrm>
          <a:custGeom>
            <a:avLst/>
            <a:gdLst/>
            <a:ahLst/>
            <a:cxnLst/>
            <a:rect l="l" t="t" r="r" b="b"/>
            <a:pathLst>
              <a:path w="2498090" h="1878964">
                <a:moveTo>
                  <a:pt x="1585382" y="153309"/>
                </a:moveTo>
                <a:lnTo>
                  <a:pt x="1531463" y="131152"/>
                </a:lnTo>
                <a:lnTo>
                  <a:pt x="1477500" y="110764"/>
                </a:lnTo>
                <a:lnTo>
                  <a:pt x="1423556" y="92133"/>
                </a:lnTo>
                <a:lnTo>
                  <a:pt x="1369691" y="75249"/>
                </a:lnTo>
                <a:lnTo>
                  <a:pt x="1315970" y="60100"/>
                </a:lnTo>
                <a:lnTo>
                  <a:pt x="1262454" y="46675"/>
                </a:lnTo>
                <a:lnTo>
                  <a:pt x="1209206" y="34963"/>
                </a:lnTo>
                <a:lnTo>
                  <a:pt x="1156288" y="24952"/>
                </a:lnTo>
                <a:lnTo>
                  <a:pt x="1103763" y="16633"/>
                </a:lnTo>
                <a:lnTo>
                  <a:pt x="1051694" y="9992"/>
                </a:lnTo>
                <a:lnTo>
                  <a:pt x="1000142" y="5020"/>
                </a:lnTo>
                <a:lnTo>
                  <a:pt x="949170" y="1704"/>
                </a:lnTo>
                <a:lnTo>
                  <a:pt x="898841" y="35"/>
                </a:lnTo>
                <a:lnTo>
                  <a:pt x="849218" y="0"/>
                </a:lnTo>
                <a:lnTo>
                  <a:pt x="800361" y="1588"/>
                </a:lnTo>
                <a:lnTo>
                  <a:pt x="752335" y="4788"/>
                </a:lnTo>
                <a:lnTo>
                  <a:pt x="705201" y="9589"/>
                </a:lnTo>
                <a:lnTo>
                  <a:pt x="659023" y="15980"/>
                </a:lnTo>
                <a:lnTo>
                  <a:pt x="613861" y="23950"/>
                </a:lnTo>
                <a:lnTo>
                  <a:pt x="569780" y="33487"/>
                </a:lnTo>
                <a:lnTo>
                  <a:pt x="526841" y="44580"/>
                </a:lnTo>
                <a:lnTo>
                  <a:pt x="485106" y="57218"/>
                </a:lnTo>
                <a:lnTo>
                  <a:pt x="444639" y="71391"/>
                </a:lnTo>
                <a:lnTo>
                  <a:pt x="405502" y="87085"/>
                </a:lnTo>
                <a:lnTo>
                  <a:pt x="367757" y="104291"/>
                </a:lnTo>
                <a:lnTo>
                  <a:pt x="331466" y="122998"/>
                </a:lnTo>
                <a:lnTo>
                  <a:pt x="296693" y="143193"/>
                </a:lnTo>
                <a:lnTo>
                  <a:pt x="263499" y="164866"/>
                </a:lnTo>
                <a:lnTo>
                  <a:pt x="231947" y="188006"/>
                </a:lnTo>
                <a:lnTo>
                  <a:pt x="202100" y="212601"/>
                </a:lnTo>
                <a:lnTo>
                  <a:pt x="174020" y="238641"/>
                </a:lnTo>
                <a:lnTo>
                  <a:pt x="123410" y="295008"/>
                </a:lnTo>
                <a:lnTo>
                  <a:pt x="80617" y="357018"/>
                </a:lnTo>
                <a:lnTo>
                  <a:pt x="46142" y="424581"/>
                </a:lnTo>
                <a:lnTo>
                  <a:pt x="32378" y="460113"/>
                </a:lnTo>
                <a:lnTo>
                  <a:pt x="12244" y="532909"/>
                </a:lnTo>
                <a:lnTo>
                  <a:pt x="1734" y="607663"/>
                </a:lnTo>
                <a:lnTo>
                  <a:pt x="0" y="645643"/>
                </a:lnTo>
                <a:lnTo>
                  <a:pt x="565" y="683953"/>
                </a:lnTo>
                <a:lnTo>
                  <a:pt x="3396" y="722542"/>
                </a:lnTo>
                <a:lnTo>
                  <a:pt x="8456" y="761356"/>
                </a:lnTo>
                <a:lnTo>
                  <a:pt x="15712" y="800343"/>
                </a:lnTo>
                <a:lnTo>
                  <a:pt x="25126" y="839450"/>
                </a:lnTo>
                <a:lnTo>
                  <a:pt x="36665" y="878623"/>
                </a:lnTo>
                <a:lnTo>
                  <a:pt x="50293" y="917811"/>
                </a:lnTo>
                <a:lnTo>
                  <a:pt x="65974" y="956961"/>
                </a:lnTo>
                <a:lnTo>
                  <a:pt x="83674" y="996019"/>
                </a:lnTo>
                <a:lnTo>
                  <a:pt x="103358" y="1034933"/>
                </a:lnTo>
                <a:lnTo>
                  <a:pt x="124990" y="1073650"/>
                </a:lnTo>
                <a:lnTo>
                  <a:pt x="148535" y="1112117"/>
                </a:lnTo>
                <a:lnTo>
                  <a:pt x="173957" y="1150282"/>
                </a:lnTo>
                <a:lnTo>
                  <a:pt x="201222" y="1188091"/>
                </a:lnTo>
                <a:lnTo>
                  <a:pt x="230295" y="1225493"/>
                </a:lnTo>
                <a:lnTo>
                  <a:pt x="261140" y="1262433"/>
                </a:lnTo>
                <a:lnTo>
                  <a:pt x="293721" y="1298859"/>
                </a:lnTo>
                <a:lnTo>
                  <a:pt x="328005" y="1334719"/>
                </a:lnTo>
                <a:lnTo>
                  <a:pt x="363955" y="1369960"/>
                </a:lnTo>
                <a:lnTo>
                  <a:pt x="401536" y="1404528"/>
                </a:lnTo>
                <a:lnTo>
                  <a:pt x="440714" y="1438372"/>
                </a:lnTo>
                <a:lnTo>
                  <a:pt x="481453" y="1471437"/>
                </a:lnTo>
                <a:lnTo>
                  <a:pt x="523717" y="1503672"/>
                </a:lnTo>
                <a:lnTo>
                  <a:pt x="567472" y="1535024"/>
                </a:lnTo>
                <a:lnTo>
                  <a:pt x="612682" y="1565439"/>
                </a:lnTo>
                <a:lnTo>
                  <a:pt x="659313" y="1594866"/>
                </a:lnTo>
                <a:lnTo>
                  <a:pt x="707328" y="1623250"/>
                </a:lnTo>
                <a:lnTo>
                  <a:pt x="756694" y="1650540"/>
                </a:lnTo>
                <a:lnTo>
                  <a:pt x="807373" y="1676683"/>
                </a:lnTo>
                <a:lnTo>
                  <a:pt x="859333" y="1701626"/>
                </a:lnTo>
                <a:lnTo>
                  <a:pt x="912536" y="1725315"/>
                </a:lnTo>
                <a:lnTo>
                  <a:pt x="966454" y="1747474"/>
                </a:lnTo>
                <a:lnTo>
                  <a:pt x="1020417" y="1767867"/>
                </a:lnTo>
                <a:lnTo>
                  <a:pt x="1074362" y="1786505"/>
                </a:lnTo>
                <a:lnTo>
                  <a:pt x="1128225" y="1803399"/>
                </a:lnTo>
                <a:lnTo>
                  <a:pt x="1181946" y="1818561"/>
                </a:lnTo>
                <a:lnTo>
                  <a:pt x="1235460" y="1832000"/>
                </a:lnTo>
                <a:lnTo>
                  <a:pt x="1288707" y="1843728"/>
                </a:lnTo>
                <a:lnTo>
                  <a:pt x="1341622" y="1853755"/>
                </a:lnTo>
                <a:lnTo>
                  <a:pt x="1394143" y="1862094"/>
                </a:lnTo>
                <a:lnTo>
                  <a:pt x="1446209" y="1868754"/>
                </a:lnTo>
                <a:lnTo>
                  <a:pt x="1497756" y="1873746"/>
                </a:lnTo>
                <a:lnTo>
                  <a:pt x="1548721" y="1877082"/>
                </a:lnTo>
                <a:lnTo>
                  <a:pt x="1599043" y="1878773"/>
                </a:lnTo>
                <a:lnTo>
                  <a:pt x="1648659" y="1878828"/>
                </a:lnTo>
                <a:lnTo>
                  <a:pt x="1697506" y="1877260"/>
                </a:lnTo>
                <a:lnTo>
                  <a:pt x="1745521" y="1874079"/>
                </a:lnTo>
                <a:lnTo>
                  <a:pt x="1792642" y="1869296"/>
                </a:lnTo>
                <a:lnTo>
                  <a:pt x="1838807" y="1862922"/>
                </a:lnTo>
                <a:lnTo>
                  <a:pt x="1883953" y="1854967"/>
                </a:lnTo>
                <a:lnTo>
                  <a:pt x="1928018" y="1845444"/>
                </a:lnTo>
                <a:lnTo>
                  <a:pt x="1970938" y="1834362"/>
                </a:lnTo>
                <a:lnTo>
                  <a:pt x="2012651" y="1821733"/>
                </a:lnTo>
                <a:lnTo>
                  <a:pt x="2053095" y="1807568"/>
                </a:lnTo>
                <a:lnTo>
                  <a:pt x="2092208" y="1791877"/>
                </a:lnTo>
                <a:lnTo>
                  <a:pt x="2129926" y="1774671"/>
                </a:lnTo>
                <a:lnTo>
                  <a:pt x="2166187" y="1755962"/>
                </a:lnTo>
                <a:lnTo>
                  <a:pt x="2200929" y="1735760"/>
                </a:lnTo>
                <a:lnTo>
                  <a:pt x="2234088" y="1714077"/>
                </a:lnTo>
                <a:lnTo>
                  <a:pt x="2265603" y="1690922"/>
                </a:lnTo>
                <a:lnTo>
                  <a:pt x="2295411" y="1666307"/>
                </a:lnTo>
                <a:lnTo>
                  <a:pt x="2323450" y="1640244"/>
                </a:lnTo>
                <a:lnTo>
                  <a:pt x="2373967" y="1583813"/>
                </a:lnTo>
                <a:lnTo>
                  <a:pt x="2416655" y="1521717"/>
                </a:lnTo>
                <a:lnTo>
                  <a:pt x="2451014" y="1454043"/>
                </a:lnTo>
                <a:lnTo>
                  <a:pt x="2464838" y="1418511"/>
                </a:lnTo>
                <a:lnTo>
                  <a:pt x="2485082" y="1345715"/>
                </a:lnTo>
                <a:lnTo>
                  <a:pt x="2495691" y="1270961"/>
                </a:lnTo>
                <a:lnTo>
                  <a:pt x="2497470" y="1232981"/>
                </a:lnTo>
                <a:lnTo>
                  <a:pt x="2496946" y="1194671"/>
                </a:lnTo>
                <a:lnTo>
                  <a:pt x="2494155" y="1156082"/>
                </a:lnTo>
                <a:lnTo>
                  <a:pt x="2489131" y="1117268"/>
                </a:lnTo>
                <a:lnTo>
                  <a:pt x="2481910" y="1078281"/>
                </a:lnTo>
                <a:lnTo>
                  <a:pt x="2472527" y="1039175"/>
                </a:lnTo>
                <a:lnTo>
                  <a:pt x="2461018" y="1000001"/>
                </a:lnTo>
                <a:lnTo>
                  <a:pt x="2447417" y="960813"/>
                </a:lnTo>
                <a:lnTo>
                  <a:pt x="2431760" y="921663"/>
                </a:lnTo>
                <a:lnTo>
                  <a:pt x="2414083" y="882605"/>
                </a:lnTo>
                <a:lnTo>
                  <a:pt x="2394420" y="843691"/>
                </a:lnTo>
                <a:lnTo>
                  <a:pt x="2372808" y="804974"/>
                </a:lnTo>
                <a:lnTo>
                  <a:pt x="2349280" y="766507"/>
                </a:lnTo>
                <a:lnTo>
                  <a:pt x="2323873" y="728342"/>
                </a:lnTo>
                <a:lnTo>
                  <a:pt x="2296621" y="690533"/>
                </a:lnTo>
                <a:lnTo>
                  <a:pt x="2267561" y="653131"/>
                </a:lnTo>
                <a:lnTo>
                  <a:pt x="2236727" y="616191"/>
                </a:lnTo>
                <a:lnTo>
                  <a:pt x="2204155" y="579765"/>
                </a:lnTo>
                <a:lnTo>
                  <a:pt x="2169880" y="543905"/>
                </a:lnTo>
                <a:lnTo>
                  <a:pt x="2133937" y="508664"/>
                </a:lnTo>
                <a:lnTo>
                  <a:pt x="2096361" y="474096"/>
                </a:lnTo>
                <a:lnTo>
                  <a:pt x="2057189" y="440253"/>
                </a:lnTo>
                <a:lnTo>
                  <a:pt x="2016454" y="407187"/>
                </a:lnTo>
                <a:lnTo>
                  <a:pt x="1974193" y="374952"/>
                </a:lnTo>
                <a:lnTo>
                  <a:pt x="1930441" y="343600"/>
                </a:lnTo>
                <a:lnTo>
                  <a:pt x="1885232" y="313185"/>
                </a:lnTo>
                <a:lnTo>
                  <a:pt x="1838603" y="283758"/>
                </a:lnTo>
                <a:lnTo>
                  <a:pt x="1790588" y="255374"/>
                </a:lnTo>
                <a:lnTo>
                  <a:pt x="1741224" y="228084"/>
                </a:lnTo>
                <a:lnTo>
                  <a:pt x="1690544" y="201941"/>
                </a:lnTo>
                <a:lnTo>
                  <a:pt x="1638585" y="176999"/>
                </a:lnTo>
                <a:lnTo>
                  <a:pt x="1585382" y="153309"/>
                </a:lnTo>
                <a:close/>
              </a:path>
            </a:pathLst>
          </a:custGeom>
          <a:ln w="10477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473677" y="2483241"/>
            <a:ext cx="1753184" cy="11105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473676" y="2483242"/>
            <a:ext cx="1753370" cy="1111063"/>
          </a:xfrm>
          <a:custGeom>
            <a:avLst/>
            <a:gdLst/>
            <a:ahLst/>
            <a:cxnLst/>
            <a:rect l="l" t="t" r="r" b="b"/>
            <a:pathLst>
              <a:path w="1446529" h="1259204">
                <a:moveTo>
                  <a:pt x="513638" y="377677"/>
                </a:moveTo>
                <a:lnTo>
                  <a:pt x="462526" y="421410"/>
                </a:lnTo>
                <a:lnTo>
                  <a:pt x="413575" y="465634"/>
                </a:lnTo>
                <a:lnTo>
                  <a:pt x="366878" y="510189"/>
                </a:lnTo>
                <a:lnTo>
                  <a:pt x="322528" y="554914"/>
                </a:lnTo>
                <a:lnTo>
                  <a:pt x="280618" y="599649"/>
                </a:lnTo>
                <a:lnTo>
                  <a:pt x="241240" y="644232"/>
                </a:lnTo>
                <a:lnTo>
                  <a:pt x="204488" y="688503"/>
                </a:lnTo>
                <a:lnTo>
                  <a:pt x="170453" y="732303"/>
                </a:lnTo>
                <a:lnTo>
                  <a:pt x="139230" y="775469"/>
                </a:lnTo>
                <a:lnTo>
                  <a:pt x="110909" y="817842"/>
                </a:lnTo>
                <a:lnTo>
                  <a:pt x="85585" y="859261"/>
                </a:lnTo>
                <a:lnTo>
                  <a:pt x="63350" y="899565"/>
                </a:lnTo>
                <a:lnTo>
                  <a:pt x="44296" y="938594"/>
                </a:lnTo>
                <a:lnTo>
                  <a:pt x="28517" y="976187"/>
                </a:lnTo>
                <a:lnTo>
                  <a:pt x="7153" y="1046423"/>
                </a:lnTo>
                <a:lnTo>
                  <a:pt x="0" y="1108989"/>
                </a:lnTo>
                <a:lnTo>
                  <a:pt x="1984" y="1136994"/>
                </a:lnTo>
                <a:lnTo>
                  <a:pt x="17537" y="1185645"/>
                </a:lnTo>
                <a:lnTo>
                  <a:pt x="48843" y="1223226"/>
                </a:lnTo>
                <a:lnTo>
                  <a:pt x="93957" y="1247364"/>
                </a:lnTo>
                <a:lnTo>
                  <a:pt x="151256" y="1258101"/>
                </a:lnTo>
                <a:lnTo>
                  <a:pt x="184039" y="1258604"/>
                </a:lnTo>
                <a:lnTo>
                  <a:pt x="219344" y="1255948"/>
                </a:lnTo>
                <a:lnTo>
                  <a:pt x="296820" y="1241417"/>
                </a:lnTo>
                <a:lnTo>
                  <a:pt x="338643" y="1229669"/>
                </a:lnTo>
                <a:lnTo>
                  <a:pt x="382289" y="1215019"/>
                </a:lnTo>
                <a:lnTo>
                  <a:pt x="427583" y="1197531"/>
                </a:lnTo>
                <a:lnTo>
                  <a:pt x="474351" y="1177268"/>
                </a:lnTo>
                <a:lnTo>
                  <a:pt x="522417" y="1154294"/>
                </a:lnTo>
                <a:lnTo>
                  <a:pt x="571608" y="1128673"/>
                </a:lnTo>
                <a:lnTo>
                  <a:pt x="621748" y="1100470"/>
                </a:lnTo>
                <a:lnTo>
                  <a:pt x="672663" y="1069748"/>
                </a:lnTo>
                <a:lnTo>
                  <a:pt x="724177" y="1036571"/>
                </a:lnTo>
                <a:lnTo>
                  <a:pt x="776117" y="1001004"/>
                </a:lnTo>
                <a:lnTo>
                  <a:pt x="828307" y="963110"/>
                </a:lnTo>
                <a:lnTo>
                  <a:pt x="880572" y="922953"/>
                </a:lnTo>
                <a:lnTo>
                  <a:pt x="932738" y="880597"/>
                </a:lnTo>
                <a:lnTo>
                  <a:pt x="983851" y="836864"/>
                </a:lnTo>
                <a:lnTo>
                  <a:pt x="1032802" y="792639"/>
                </a:lnTo>
                <a:lnTo>
                  <a:pt x="1079499" y="748084"/>
                </a:lnTo>
                <a:lnTo>
                  <a:pt x="1123849" y="703359"/>
                </a:lnTo>
                <a:lnTo>
                  <a:pt x="1165759" y="658625"/>
                </a:lnTo>
                <a:lnTo>
                  <a:pt x="1205137" y="614042"/>
                </a:lnTo>
                <a:lnTo>
                  <a:pt x="1241889" y="569770"/>
                </a:lnTo>
                <a:lnTo>
                  <a:pt x="1275924" y="525971"/>
                </a:lnTo>
                <a:lnTo>
                  <a:pt x="1307147" y="482804"/>
                </a:lnTo>
                <a:lnTo>
                  <a:pt x="1335468" y="440431"/>
                </a:lnTo>
                <a:lnTo>
                  <a:pt x="1360792" y="399013"/>
                </a:lnTo>
                <a:lnTo>
                  <a:pt x="1383027" y="358709"/>
                </a:lnTo>
                <a:lnTo>
                  <a:pt x="1402081" y="319680"/>
                </a:lnTo>
                <a:lnTo>
                  <a:pt x="1417860" y="282087"/>
                </a:lnTo>
                <a:lnTo>
                  <a:pt x="1439224" y="211850"/>
                </a:lnTo>
                <a:lnTo>
                  <a:pt x="1446377" y="149285"/>
                </a:lnTo>
                <a:lnTo>
                  <a:pt x="1444393" y="121279"/>
                </a:lnTo>
                <a:lnTo>
                  <a:pt x="1428840" y="72628"/>
                </a:lnTo>
                <a:lnTo>
                  <a:pt x="1397539" y="35143"/>
                </a:lnTo>
                <a:lnTo>
                  <a:pt x="1352457" y="11142"/>
                </a:lnTo>
                <a:lnTo>
                  <a:pt x="1295212" y="483"/>
                </a:lnTo>
                <a:lnTo>
                  <a:pt x="1262462" y="0"/>
                </a:lnTo>
                <a:lnTo>
                  <a:pt x="1227191" y="2664"/>
                </a:lnTo>
                <a:lnTo>
                  <a:pt x="1149783" y="17183"/>
                </a:lnTo>
                <a:lnTo>
                  <a:pt x="1107992" y="28913"/>
                </a:lnTo>
                <a:lnTo>
                  <a:pt x="1064374" y="43540"/>
                </a:lnTo>
                <a:lnTo>
                  <a:pt x="1019103" y="61000"/>
                </a:lnTo>
                <a:lnTo>
                  <a:pt x="972353" y="81232"/>
                </a:lnTo>
                <a:lnTo>
                  <a:pt x="924296" y="104172"/>
                </a:lnTo>
                <a:lnTo>
                  <a:pt x="875107" y="129758"/>
                </a:lnTo>
                <a:lnTo>
                  <a:pt x="824959" y="157927"/>
                </a:lnTo>
                <a:lnTo>
                  <a:pt x="774024" y="188617"/>
                </a:lnTo>
                <a:lnTo>
                  <a:pt x="722478" y="221764"/>
                </a:lnTo>
                <a:lnTo>
                  <a:pt x="670493" y="257306"/>
                </a:lnTo>
                <a:lnTo>
                  <a:pt x="618242" y="295181"/>
                </a:lnTo>
                <a:lnTo>
                  <a:pt x="565899" y="335325"/>
                </a:lnTo>
                <a:lnTo>
                  <a:pt x="513638" y="377677"/>
                </a:lnTo>
                <a:close/>
              </a:path>
            </a:pathLst>
          </a:custGeom>
          <a:ln w="10477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906286" y="6429495"/>
            <a:ext cx="193964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805"/>
              </a:lnSpc>
            </a:pPr>
            <a:fld id="{81D60167-4931-47E6-BA6A-407CBD079E47}" type="slidenum">
              <a:rPr sz="1550" spc="-5" dirty="0">
                <a:latin typeface="Arial"/>
                <a:cs typeface="Arial"/>
              </a:rPr>
              <a:pPr marL="25400">
                <a:lnSpc>
                  <a:spcPts val="1805"/>
                </a:lnSpc>
              </a:pPr>
              <a:t>17</a:t>
            </a:fld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8618" y="191172"/>
            <a:ext cx="10825788" cy="119776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700405">
              <a:lnSpc>
                <a:spcPct val="100000"/>
              </a:lnSpc>
              <a:spcBef>
                <a:spcPts val="120"/>
              </a:spcBef>
            </a:pPr>
            <a:r>
              <a:rPr sz="3500" spc="5" dirty="0">
                <a:solidFill>
                  <a:srgbClr val="0065FF"/>
                </a:solidFill>
                <a:latin typeface="Times New Roman"/>
                <a:cs typeface="Times New Roman"/>
              </a:rPr>
              <a:t>Engineering </a:t>
            </a:r>
            <a:r>
              <a:rPr sz="3500" dirty="0">
                <a:solidFill>
                  <a:srgbClr val="0065FF"/>
                </a:solidFill>
                <a:latin typeface="Times New Roman"/>
                <a:cs typeface="Times New Roman"/>
              </a:rPr>
              <a:t>Application </a:t>
            </a:r>
            <a:r>
              <a:rPr sz="3500" spc="5" dirty="0">
                <a:solidFill>
                  <a:srgbClr val="0065FF"/>
                </a:solidFill>
                <a:latin typeface="Times New Roman"/>
                <a:cs typeface="Times New Roman"/>
              </a:rPr>
              <a:t>of </a:t>
            </a:r>
            <a:r>
              <a:rPr sz="3500" dirty="0">
                <a:solidFill>
                  <a:srgbClr val="0065FF"/>
                </a:solidFill>
                <a:latin typeface="Times New Roman"/>
                <a:cs typeface="Times New Roman"/>
              </a:rPr>
              <a:t>Triple Integrals</a:t>
            </a:r>
            <a:r>
              <a:rPr sz="3500" spc="15" dirty="0">
                <a:solidFill>
                  <a:srgbClr val="0065FF"/>
                </a:solidFill>
                <a:latin typeface="Times New Roman"/>
                <a:cs typeface="Times New Roman"/>
              </a:rPr>
              <a:t> </a:t>
            </a:r>
            <a:r>
              <a:rPr sz="3500" dirty="0">
                <a:solidFill>
                  <a:srgbClr val="0065FF"/>
                </a:solidFill>
                <a:latin typeface="Times New Roman"/>
                <a:cs typeface="Times New Roman"/>
              </a:rPr>
              <a:t>II</a:t>
            </a:r>
            <a:endParaRPr sz="3500">
              <a:latin typeface="Times New Roman"/>
              <a:cs typeface="Times New Roman"/>
            </a:endParaRPr>
          </a:p>
          <a:p>
            <a:pPr marL="415290" indent="-377190">
              <a:lnSpc>
                <a:spcPct val="100000"/>
              </a:lnSpc>
              <a:spcBef>
                <a:spcPts val="1920"/>
              </a:spcBef>
              <a:buClr>
                <a:srgbClr val="0065FF"/>
              </a:buClr>
              <a:buFont typeface="Wingdings"/>
              <a:buChar char=""/>
              <a:tabLst>
                <a:tab pos="414655" algn="l"/>
                <a:tab pos="415290" algn="l"/>
              </a:tabLst>
            </a:pPr>
            <a:r>
              <a:rPr sz="2600" spc="15" dirty="0">
                <a:latin typeface="Times New Roman"/>
                <a:cs typeface="Times New Roman"/>
              </a:rPr>
              <a:t>Moment </a:t>
            </a:r>
            <a:r>
              <a:rPr sz="2600" spc="10" dirty="0">
                <a:latin typeface="Times New Roman"/>
                <a:cs typeface="Times New Roman"/>
              </a:rPr>
              <a:t>of inertia about the x-axis </a:t>
            </a:r>
            <a:r>
              <a:rPr sz="2600" spc="5" dirty="0">
                <a:latin typeface="Times New Roman"/>
                <a:cs typeface="Times New Roman"/>
              </a:rPr>
              <a:t>(I</a:t>
            </a:r>
            <a:r>
              <a:rPr sz="2625" spc="7" baseline="-20634" dirty="0">
                <a:latin typeface="Times New Roman"/>
                <a:cs typeface="Times New Roman"/>
              </a:rPr>
              <a:t>x</a:t>
            </a:r>
            <a:r>
              <a:rPr sz="2600" spc="5" dirty="0">
                <a:latin typeface="Times New Roman"/>
                <a:cs typeface="Times New Roman"/>
              </a:rPr>
              <a:t>) </a:t>
            </a:r>
            <a:r>
              <a:rPr sz="2600" spc="15" dirty="0">
                <a:latin typeface="Times New Roman"/>
                <a:cs typeface="Times New Roman"/>
              </a:rPr>
              <a:t>and </a:t>
            </a:r>
            <a:r>
              <a:rPr sz="2600" spc="10" dirty="0">
                <a:latin typeface="Times New Roman"/>
                <a:cs typeface="Times New Roman"/>
              </a:rPr>
              <a:t>the y-axis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(I</a:t>
            </a:r>
            <a:r>
              <a:rPr sz="2625" spc="7" baseline="-20634" dirty="0">
                <a:latin typeface="Times New Roman"/>
                <a:cs typeface="Times New Roman"/>
              </a:rPr>
              <a:t>y</a:t>
            </a:r>
            <a:r>
              <a:rPr sz="2600" spc="5" dirty="0">
                <a:latin typeface="Times New Roman"/>
                <a:cs typeface="Times New Roman"/>
              </a:rPr>
              <a:t>):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27483" y="2233670"/>
            <a:ext cx="161636" cy="3045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900" spc="-5" dirty="0">
                <a:latin typeface="Times New Roman"/>
                <a:cs typeface="Times New Roman"/>
              </a:rPr>
              <a:t>2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17695" y="2233670"/>
            <a:ext cx="161636" cy="3045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900" spc="-5" dirty="0">
                <a:latin typeface="Times New Roman"/>
                <a:cs typeface="Times New Roman"/>
              </a:rPr>
              <a:t>2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41325" y="1481989"/>
            <a:ext cx="161636" cy="3045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900" spc="-5" dirty="0">
                <a:latin typeface="Times New Roman"/>
                <a:cs typeface="Times New Roman"/>
              </a:rPr>
              <a:t>2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31537" y="1481989"/>
            <a:ext cx="161636" cy="3045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900" spc="-5" dirty="0">
                <a:latin typeface="Times New Roman"/>
                <a:cs typeface="Times New Roman"/>
              </a:rPr>
              <a:t>2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84218" y="2190751"/>
            <a:ext cx="735830" cy="76238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4850" spc="5" dirty="0">
                <a:latin typeface="Symbol"/>
                <a:cs typeface="Symbol"/>
              </a:rPr>
              <a:t></a:t>
            </a:r>
            <a:r>
              <a:rPr sz="4850" spc="-630" dirty="0">
                <a:latin typeface="Times New Roman"/>
                <a:cs typeface="Times New Roman"/>
              </a:rPr>
              <a:t> </a:t>
            </a:r>
            <a:r>
              <a:rPr sz="4850" spc="5" dirty="0">
                <a:latin typeface="Symbol"/>
                <a:cs typeface="Symbol"/>
              </a:rPr>
              <a:t></a:t>
            </a:r>
            <a:endParaRPr sz="485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67622" y="1439034"/>
            <a:ext cx="735830" cy="76238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4850" spc="5" dirty="0">
                <a:latin typeface="Symbol"/>
                <a:cs typeface="Symbol"/>
              </a:rPr>
              <a:t></a:t>
            </a:r>
            <a:r>
              <a:rPr sz="4850" spc="-630" dirty="0">
                <a:latin typeface="Times New Roman"/>
                <a:cs typeface="Times New Roman"/>
              </a:rPr>
              <a:t> </a:t>
            </a:r>
            <a:r>
              <a:rPr sz="4850" spc="5" dirty="0">
                <a:latin typeface="Symbol"/>
                <a:cs typeface="Symbol"/>
              </a:rPr>
              <a:t></a:t>
            </a:r>
            <a:endParaRPr sz="485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87476" y="2487820"/>
            <a:ext cx="129309" cy="3045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900" i="1" spc="-5" dirty="0">
                <a:latin typeface="Times New Roman"/>
                <a:cs typeface="Times New Roman"/>
              </a:rPr>
              <a:t>z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81584" y="2598761"/>
            <a:ext cx="226291" cy="3045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900" i="1" spc="-5" dirty="0">
                <a:latin typeface="Times New Roman"/>
                <a:cs typeface="Times New Roman"/>
              </a:rPr>
              <a:t>D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80443" y="2487820"/>
            <a:ext cx="145472" cy="3045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900" i="1" spc="-5" dirty="0">
                <a:latin typeface="Times New Roman"/>
                <a:cs typeface="Times New Roman"/>
              </a:rPr>
              <a:t>y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64968" y="1847741"/>
            <a:ext cx="226291" cy="3045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900" i="1" spc="-5" dirty="0">
                <a:latin typeface="Times New Roman"/>
                <a:cs typeface="Times New Roman"/>
              </a:rPr>
              <a:t>D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66572" y="1736139"/>
            <a:ext cx="145472" cy="3045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900" i="1" spc="-5" dirty="0">
                <a:latin typeface="Times New Roman"/>
                <a:cs typeface="Times New Roman"/>
              </a:rPr>
              <a:t>x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571344" y="2245210"/>
            <a:ext cx="1131455" cy="5129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408305" algn="l"/>
              </a:tabLst>
            </a:pPr>
            <a:r>
              <a:rPr sz="3250" i="1" dirty="0">
                <a:latin typeface="Times New Roman"/>
                <a:cs typeface="Times New Roman"/>
              </a:rPr>
              <a:t>I	</a:t>
            </a:r>
            <a:r>
              <a:rPr sz="3250" dirty="0">
                <a:latin typeface="Symbol"/>
                <a:cs typeface="Symbol"/>
              </a:rPr>
              <a:t></a:t>
            </a:r>
            <a:r>
              <a:rPr sz="3250" spc="-28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..</a:t>
            </a:r>
            <a:endParaRPr sz="32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45839" y="2245210"/>
            <a:ext cx="822806" cy="5129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438784" algn="l"/>
              </a:tabLst>
            </a:pPr>
            <a:r>
              <a:rPr sz="3250" i="1" dirty="0">
                <a:latin typeface="Times New Roman"/>
                <a:cs typeface="Times New Roman"/>
              </a:rPr>
              <a:t>I	</a:t>
            </a:r>
            <a:r>
              <a:rPr sz="3250" dirty="0">
                <a:latin typeface="Symbol"/>
                <a:cs typeface="Symbol"/>
              </a:rPr>
              <a:t></a:t>
            </a:r>
            <a:endParaRPr sz="325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45839" y="1493530"/>
            <a:ext cx="805873" cy="5129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424815" algn="l"/>
              </a:tabLst>
            </a:pPr>
            <a:r>
              <a:rPr sz="3250" i="1" dirty="0">
                <a:latin typeface="Times New Roman"/>
                <a:cs typeface="Times New Roman"/>
              </a:rPr>
              <a:t>I	</a:t>
            </a:r>
            <a:r>
              <a:rPr sz="3250" dirty="0">
                <a:latin typeface="Symbol"/>
                <a:cs typeface="Symbol"/>
              </a:rPr>
              <a:t></a:t>
            </a:r>
            <a:endParaRPr sz="325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50405" y="2224487"/>
            <a:ext cx="5132339" cy="540533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  <a:tabLst>
                <a:tab pos="615315" algn="l"/>
                <a:tab pos="1303655" algn="l"/>
              </a:tabLst>
            </a:pPr>
            <a:r>
              <a:rPr sz="3250" dirty="0">
                <a:latin typeface="Times New Roman"/>
                <a:cs typeface="Times New Roman"/>
              </a:rPr>
              <a:t>(</a:t>
            </a:r>
            <a:r>
              <a:rPr sz="3250" spc="-525" dirty="0">
                <a:latin typeface="Times New Roman"/>
                <a:cs typeface="Times New Roman"/>
              </a:rPr>
              <a:t> </a:t>
            </a:r>
            <a:r>
              <a:rPr sz="3250" i="1" dirty="0">
                <a:latin typeface="Times New Roman"/>
                <a:cs typeface="Times New Roman"/>
              </a:rPr>
              <a:t>x	</a:t>
            </a:r>
            <a:r>
              <a:rPr sz="3250" dirty="0">
                <a:latin typeface="Symbol"/>
                <a:cs typeface="Symbol"/>
              </a:rPr>
              <a:t></a:t>
            </a:r>
            <a:r>
              <a:rPr sz="3250" spc="5" dirty="0">
                <a:latin typeface="Times New Roman"/>
                <a:cs typeface="Times New Roman"/>
              </a:rPr>
              <a:t> </a:t>
            </a:r>
            <a:r>
              <a:rPr sz="3250" i="1" dirty="0">
                <a:latin typeface="Times New Roman"/>
                <a:cs typeface="Times New Roman"/>
              </a:rPr>
              <a:t>z	</a:t>
            </a:r>
            <a:r>
              <a:rPr sz="3250" spc="30" dirty="0">
                <a:latin typeface="Times New Roman"/>
                <a:cs typeface="Times New Roman"/>
              </a:rPr>
              <a:t>)</a:t>
            </a:r>
            <a:r>
              <a:rPr sz="3400" i="1" spc="30" dirty="0">
                <a:latin typeface="Symbol"/>
                <a:cs typeface="Symbol"/>
              </a:rPr>
              <a:t></a:t>
            </a:r>
            <a:r>
              <a:rPr sz="3400" i="1" spc="-570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(</a:t>
            </a:r>
            <a:r>
              <a:rPr sz="3250" spc="-535" dirty="0">
                <a:latin typeface="Times New Roman"/>
                <a:cs typeface="Times New Roman"/>
              </a:rPr>
              <a:t> </a:t>
            </a:r>
            <a:r>
              <a:rPr sz="3250" i="1" spc="30" dirty="0">
                <a:latin typeface="Times New Roman"/>
                <a:cs typeface="Times New Roman"/>
              </a:rPr>
              <a:t>x</a:t>
            </a:r>
            <a:r>
              <a:rPr sz="3250" spc="30" dirty="0">
                <a:latin typeface="Times New Roman"/>
                <a:cs typeface="Times New Roman"/>
              </a:rPr>
              <a:t>,</a:t>
            </a:r>
            <a:r>
              <a:rPr sz="3250" spc="-190" dirty="0">
                <a:latin typeface="Times New Roman"/>
                <a:cs typeface="Times New Roman"/>
              </a:rPr>
              <a:t> </a:t>
            </a:r>
            <a:r>
              <a:rPr sz="3250" i="1" spc="45" dirty="0">
                <a:latin typeface="Times New Roman"/>
                <a:cs typeface="Times New Roman"/>
              </a:rPr>
              <a:t>y</a:t>
            </a:r>
            <a:r>
              <a:rPr sz="3250" spc="45" dirty="0">
                <a:latin typeface="Times New Roman"/>
                <a:cs typeface="Times New Roman"/>
              </a:rPr>
              <a:t>,</a:t>
            </a:r>
            <a:r>
              <a:rPr sz="3250" spc="-395" dirty="0">
                <a:latin typeface="Times New Roman"/>
                <a:cs typeface="Times New Roman"/>
              </a:rPr>
              <a:t> </a:t>
            </a:r>
            <a:r>
              <a:rPr sz="3250" i="1" spc="35" dirty="0">
                <a:latin typeface="Times New Roman"/>
                <a:cs typeface="Times New Roman"/>
              </a:rPr>
              <a:t>z</a:t>
            </a:r>
            <a:r>
              <a:rPr sz="3250" spc="35" dirty="0">
                <a:latin typeface="Times New Roman"/>
                <a:cs typeface="Times New Roman"/>
              </a:rPr>
              <a:t>)</a:t>
            </a:r>
            <a:r>
              <a:rPr sz="3250" i="1" spc="35" dirty="0">
                <a:latin typeface="Times New Roman"/>
                <a:cs typeface="Times New Roman"/>
              </a:rPr>
              <a:t>dxdydz</a:t>
            </a:r>
            <a:r>
              <a:rPr sz="3250" spc="35" dirty="0">
                <a:latin typeface="Times New Roman"/>
                <a:cs typeface="Times New Roman"/>
              </a:rPr>
              <a:t>,</a:t>
            </a:r>
            <a:endParaRPr sz="32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833784" y="1472807"/>
            <a:ext cx="5166206" cy="540533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  <a:tabLst>
                <a:tab pos="640080" algn="l"/>
                <a:tab pos="1329055" algn="l"/>
              </a:tabLst>
            </a:pPr>
            <a:r>
              <a:rPr sz="3250" dirty="0">
                <a:latin typeface="Times New Roman"/>
                <a:cs typeface="Times New Roman"/>
              </a:rPr>
              <a:t>(</a:t>
            </a:r>
            <a:r>
              <a:rPr sz="3250" spc="-355" dirty="0">
                <a:latin typeface="Times New Roman"/>
                <a:cs typeface="Times New Roman"/>
              </a:rPr>
              <a:t> </a:t>
            </a:r>
            <a:r>
              <a:rPr sz="3250" i="1" dirty="0">
                <a:latin typeface="Times New Roman"/>
                <a:cs typeface="Times New Roman"/>
              </a:rPr>
              <a:t>y	</a:t>
            </a:r>
            <a:r>
              <a:rPr sz="3250" dirty="0">
                <a:latin typeface="Symbol"/>
                <a:cs typeface="Symbol"/>
              </a:rPr>
              <a:t></a:t>
            </a:r>
            <a:r>
              <a:rPr sz="3250" spc="10" dirty="0">
                <a:latin typeface="Times New Roman"/>
                <a:cs typeface="Times New Roman"/>
              </a:rPr>
              <a:t> </a:t>
            </a:r>
            <a:r>
              <a:rPr sz="3250" i="1" dirty="0">
                <a:latin typeface="Times New Roman"/>
                <a:cs typeface="Times New Roman"/>
              </a:rPr>
              <a:t>z	</a:t>
            </a:r>
            <a:r>
              <a:rPr sz="3250" spc="30" dirty="0">
                <a:latin typeface="Times New Roman"/>
                <a:cs typeface="Times New Roman"/>
              </a:rPr>
              <a:t>)</a:t>
            </a:r>
            <a:r>
              <a:rPr sz="3400" i="1" spc="30" dirty="0">
                <a:latin typeface="Symbol"/>
                <a:cs typeface="Symbol"/>
              </a:rPr>
              <a:t></a:t>
            </a:r>
            <a:r>
              <a:rPr sz="3400" i="1" spc="-565" dirty="0">
                <a:latin typeface="Times New Roman"/>
                <a:cs typeface="Times New Roman"/>
              </a:rPr>
              <a:t> </a:t>
            </a:r>
            <a:r>
              <a:rPr sz="3250" dirty="0">
                <a:latin typeface="Times New Roman"/>
                <a:cs typeface="Times New Roman"/>
              </a:rPr>
              <a:t>(</a:t>
            </a:r>
            <a:r>
              <a:rPr sz="3250" spc="-530" dirty="0">
                <a:latin typeface="Times New Roman"/>
                <a:cs typeface="Times New Roman"/>
              </a:rPr>
              <a:t> </a:t>
            </a:r>
            <a:r>
              <a:rPr sz="3250" i="1" spc="30" dirty="0">
                <a:latin typeface="Times New Roman"/>
                <a:cs typeface="Times New Roman"/>
              </a:rPr>
              <a:t>x</a:t>
            </a:r>
            <a:r>
              <a:rPr sz="3250" spc="30" dirty="0">
                <a:latin typeface="Times New Roman"/>
                <a:cs typeface="Times New Roman"/>
              </a:rPr>
              <a:t>,</a:t>
            </a:r>
            <a:r>
              <a:rPr sz="3250" spc="-190" dirty="0">
                <a:latin typeface="Times New Roman"/>
                <a:cs typeface="Times New Roman"/>
              </a:rPr>
              <a:t> </a:t>
            </a:r>
            <a:r>
              <a:rPr sz="3250" i="1" spc="45" dirty="0">
                <a:latin typeface="Times New Roman"/>
                <a:cs typeface="Times New Roman"/>
              </a:rPr>
              <a:t>y</a:t>
            </a:r>
            <a:r>
              <a:rPr sz="3250" spc="45" dirty="0">
                <a:latin typeface="Times New Roman"/>
                <a:cs typeface="Times New Roman"/>
              </a:rPr>
              <a:t>,</a:t>
            </a:r>
            <a:r>
              <a:rPr sz="3250" spc="-385" dirty="0">
                <a:latin typeface="Times New Roman"/>
                <a:cs typeface="Times New Roman"/>
              </a:rPr>
              <a:t> </a:t>
            </a:r>
            <a:r>
              <a:rPr sz="3250" i="1" spc="25" dirty="0">
                <a:latin typeface="Times New Roman"/>
                <a:cs typeface="Times New Roman"/>
              </a:rPr>
              <a:t>z</a:t>
            </a:r>
            <a:r>
              <a:rPr sz="3250" spc="25" dirty="0">
                <a:latin typeface="Times New Roman"/>
                <a:cs typeface="Times New Roman"/>
              </a:rPr>
              <a:t>)</a:t>
            </a:r>
            <a:r>
              <a:rPr sz="3250" i="1" spc="25" dirty="0">
                <a:latin typeface="Times New Roman"/>
                <a:cs typeface="Times New Roman"/>
              </a:rPr>
              <a:t>dxdydz</a:t>
            </a:r>
            <a:r>
              <a:rPr sz="3250" spc="25" dirty="0">
                <a:latin typeface="Times New Roman"/>
                <a:cs typeface="Times New Roman"/>
              </a:rPr>
              <a:t>;</a:t>
            </a:r>
            <a:endParaRPr sz="32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50668" y="1428750"/>
            <a:ext cx="8899236" cy="1467409"/>
          </a:xfrm>
          <a:custGeom>
            <a:avLst/>
            <a:gdLst/>
            <a:ahLst/>
            <a:cxnLst/>
            <a:rect l="l" t="t" r="r" b="b"/>
            <a:pathLst>
              <a:path w="7341870" h="1663064">
                <a:moveTo>
                  <a:pt x="0" y="0"/>
                </a:moveTo>
                <a:lnTo>
                  <a:pt x="0" y="1662684"/>
                </a:lnTo>
                <a:lnTo>
                  <a:pt x="7341870" y="1662683"/>
                </a:lnTo>
                <a:lnTo>
                  <a:pt x="7341870" y="0"/>
                </a:lnTo>
                <a:lnTo>
                  <a:pt x="0" y="0"/>
                </a:lnTo>
                <a:close/>
              </a:path>
            </a:pathLst>
          </a:custGeom>
          <a:ln w="10477">
            <a:solidFill>
              <a:srgbClr val="FF34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12250" y="3228191"/>
            <a:ext cx="9063950" cy="41806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40"/>
              </a:spcBef>
              <a:buClr>
                <a:srgbClr val="0065FF"/>
              </a:buClr>
              <a:buFont typeface="Wingdings"/>
              <a:buChar char=""/>
              <a:tabLst>
                <a:tab pos="389255" algn="l"/>
                <a:tab pos="389890" algn="l"/>
                <a:tab pos="1264285" algn="l"/>
              </a:tabLst>
            </a:pPr>
            <a:r>
              <a:rPr sz="2600" spc="10" dirty="0">
                <a:latin typeface="Times New Roman"/>
                <a:cs typeface="Times New Roman"/>
              </a:rPr>
              <a:t>Total	charge for </a:t>
            </a:r>
            <a:r>
              <a:rPr sz="2600" spc="15" dirty="0">
                <a:latin typeface="Times New Roman"/>
                <a:cs typeface="Times New Roman"/>
              </a:rPr>
              <a:t>a body </a:t>
            </a:r>
            <a:r>
              <a:rPr sz="2600" spc="10" dirty="0">
                <a:latin typeface="Times New Roman"/>
                <a:cs typeface="Times New Roman"/>
              </a:rPr>
              <a:t>with charge density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Symbol"/>
                <a:cs typeface="Symbol"/>
              </a:rPr>
              <a:t></a:t>
            </a:r>
            <a:r>
              <a:rPr sz="2600" spc="10" dirty="0">
                <a:latin typeface="Times New Roman"/>
                <a:cs typeface="Times New Roman"/>
              </a:rPr>
              <a:t>(x,y,z)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797695" y="3869391"/>
            <a:ext cx="6336145" cy="679673"/>
          </a:xfrm>
          <a:prstGeom prst="rect">
            <a:avLst/>
          </a:prstGeom>
          <a:solidFill>
            <a:srgbClr val="CCFFCC"/>
          </a:solidFill>
          <a:ln w="10477">
            <a:solidFill>
              <a:srgbClr val="FF34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4610">
              <a:lnSpc>
                <a:spcPts val="5330"/>
              </a:lnSpc>
            </a:pPr>
            <a:r>
              <a:rPr sz="3400" i="1" spc="5" dirty="0">
                <a:latin typeface="Times New Roman"/>
                <a:cs typeface="Times New Roman"/>
              </a:rPr>
              <a:t>Q </a:t>
            </a:r>
            <a:r>
              <a:rPr sz="3400" spc="5" dirty="0">
                <a:latin typeface="Symbol"/>
                <a:cs typeface="Symbol"/>
              </a:rPr>
              <a:t></a:t>
            </a:r>
            <a:r>
              <a:rPr sz="3400" spc="60" dirty="0">
                <a:latin typeface="Times New Roman"/>
                <a:cs typeface="Times New Roman"/>
              </a:rPr>
              <a:t> </a:t>
            </a:r>
            <a:r>
              <a:rPr sz="7650" baseline="-13071" dirty="0">
                <a:latin typeface="Symbol"/>
                <a:cs typeface="Symbol"/>
              </a:rPr>
              <a:t></a:t>
            </a:r>
            <a:r>
              <a:rPr sz="7650" spc="-855" baseline="-13071" dirty="0">
                <a:latin typeface="Times New Roman"/>
                <a:cs typeface="Times New Roman"/>
              </a:rPr>
              <a:t> </a:t>
            </a:r>
            <a:r>
              <a:rPr sz="7650" spc="-7" baseline="-13071" dirty="0">
                <a:latin typeface="Symbol"/>
                <a:cs typeface="Symbol"/>
              </a:rPr>
              <a:t></a:t>
            </a:r>
            <a:r>
              <a:rPr sz="7650" spc="-217" baseline="-13071" dirty="0">
                <a:latin typeface="Symbol"/>
                <a:cs typeface="Symbol"/>
              </a:rPr>
              <a:t></a:t>
            </a:r>
            <a:r>
              <a:rPr sz="2925" i="1" spc="37" baseline="-54131" dirty="0">
                <a:latin typeface="Times New Roman"/>
                <a:cs typeface="Times New Roman"/>
              </a:rPr>
              <a:t>D</a:t>
            </a:r>
            <a:r>
              <a:rPr sz="2925" i="1" spc="135" baseline="-54131" dirty="0">
                <a:latin typeface="Times New Roman"/>
                <a:cs typeface="Times New Roman"/>
              </a:rPr>
              <a:t> </a:t>
            </a:r>
            <a:r>
              <a:rPr sz="3600" i="1" spc="-105" dirty="0">
                <a:latin typeface="Symbol"/>
                <a:cs typeface="Symbol"/>
              </a:rPr>
              <a:t></a:t>
            </a:r>
            <a:r>
              <a:rPr sz="3600" spc="-580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(</a:t>
            </a:r>
            <a:r>
              <a:rPr sz="3400" spc="-550" dirty="0">
                <a:latin typeface="Times New Roman"/>
                <a:cs typeface="Times New Roman"/>
              </a:rPr>
              <a:t> </a:t>
            </a:r>
            <a:r>
              <a:rPr sz="3400" i="1" spc="75" dirty="0">
                <a:latin typeface="Times New Roman"/>
                <a:cs typeface="Times New Roman"/>
              </a:rPr>
              <a:t>x</a:t>
            </a:r>
            <a:r>
              <a:rPr sz="3400" dirty="0">
                <a:latin typeface="Times New Roman"/>
                <a:cs typeface="Times New Roman"/>
              </a:rPr>
              <a:t>,</a:t>
            </a:r>
            <a:r>
              <a:rPr sz="3400" spc="-175" dirty="0">
                <a:latin typeface="Times New Roman"/>
                <a:cs typeface="Times New Roman"/>
              </a:rPr>
              <a:t> </a:t>
            </a:r>
            <a:r>
              <a:rPr sz="3400" i="1" spc="110" dirty="0">
                <a:latin typeface="Times New Roman"/>
                <a:cs typeface="Times New Roman"/>
              </a:rPr>
              <a:t>y</a:t>
            </a:r>
            <a:r>
              <a:rPr sz="3400" dirty="0">
                <a:latin typeface="Times New Roman"/>
                <a:cs typeface="Times New Roman"/>
              </a:rPr>
              <a:t>,</a:t>
            </a:r>
            <a:r>
              <a:rPr sz="3400" spc="-385" dirty="0">
                <a:latin typeface="Times New Roman"/>
                <a:cs typeface="Times New Roman"/>
              </a:rPr>
              <a:t> </a:t>
            </a:r>
            <a:r>
              <a:rPr sz="3400" i="1" spc="180" dirty="0">
                <a:latin typeface="Times New Roman"/>
                <a:cs typeface="Times New Roman"/>
              </a:rPr>
              <a:t>z</a:t>
            </a:r>
            <a:r>
              <a:rPr sz="3400" spc="55" dirty="0">
                <a:latin typeface="Times New Roman"/>
                <a:cs typeface="Times New Roman"/>
              </a:rPr>
              <a:t>)</a:t>
            </a:r>
            <a:r>
              <a:rPr sz="3400" i="1" spc="5" dirty="0">
                <a:latin typeface="Times New Roman"/>
                <a:cs typeface="Times New Roman"/>
              </a:rPr>
              <a:t>dxdyd</a:t>
            </a:r>
            <a:r>
              <a:rPr sz="3400" i="1" spc="65" dirty="0">
                <a:latin typeface="Times New Roman"/>
                <a:cs typeface="Times New Roman"/>
              </a:rPr>
              <a:t>z</a:t>
            </a:r>
            <a:r>
              <a:rPr sz="3400" dirty="0">
                <a:latin typeface="Times New Roman"/>
                <a:cs typeface="Times New Roman"/>
              </a:rPr>
              <a:t>;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12250" y="4872093"/>
            <a:ext cx="11236036" cy="41806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40"/>
              </a:spcBef>
              <a:buClr>
                <a:srgbClr val="0065FF"/>
              </a:buClr>
              <a:buFont typeface="Wingdings"/>
              <a:buChar char=""/>
              <a:tabLst>
                <a:tab pos="389255" algn="l"/>
                <a:tab pos="389890" algn="l"/>
                <a:tab pos="1263015" algn="l"/>
              </a:tabLst>
            </a:pPr>
            <a:r>
              <a:rPr sz="2600" spc="10" dirty="0">
                <a:latin typeface="Times New Roman"/>
                <a:cs typeface="Times New Roman"/>
              </a:rPr>
              <a:t>Total	electrostatic energy </a:t>
            </a:r>
            <a:r>
              <a:rPr sz="2600" spc="20" dirty="0">
                <a:latin typeface="Times New Roman"/>
                <a:cs typeface="Times New Roman"/>
              </a:rPr>
              <a:t>(</a:t>
            </a:r>
            <a:r>
              <a:rPr sz="2600" i="1" spc="20" dirty="0">
                <a:latin typeface="Times New Roman"/>
                <a:cs typeface="Times New Roman"/>
              </a:rPr>
              <a:t>W</a:t>
            </a:r>
            <a:r>
              <a:rPr sz="2600" spc="20" dirty="0">
                <a:latin typeface="Times New Roman"/>
                <a:cs typeface="Times New Roman"/>
              </a:rPr>
              <a:t>) </a:t>
            </a:r>
            <a:r>
              <a:rPr sz="2600" spc="10" dirty="0">
                <a:latin typeface="Times New Roman"/>
                <a:cs typeface="Times New Roman"/>
              </a:rPr>
              <a:t>stored in </a:t>
            </a:r>
            <a:r>
              <a:rPr sz="2600" spc="15" dirty="0">
                <a:latin typeface="Times New Roman"/>
                <a:cs typeface="Times New Roman"/>
              </a:rPr>
              <a:t>a </a:t>
            </a:r>
            <a:r>
              <a:rPr sz="2600" spc="10" dirty="0">
                <a:latin typeface="Times New Roman"/>
                <a:cs typeface="Times New Roman"/>
              </a:rPr>
              <a:t>region with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electrostatic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69449" y="5223723"/>
            <a:ext cx="1247679" cy="41806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792480" algn="l"/>
              </a:tabLst>
            </a:pPr>
            <a:r>
              <a:rPr sz="2600" spc="5" dirty="0">
                <a:latin typeface="Times New Roman"/>
                <a:cs typeface="Times New Roman"/>
              </a:rPr>
              <a:t>file</a:t>
            </a:r>
            <a:r>
              <a:rPr sz="2600" spc="20" dirty="0">
                <a:latin typeface="Times New Roman"/>
                <a:cs typeface="Times New Roman"/>
              </a:rPr>
              <a:t>d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b="1" i="1" u="heavy" spc="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274290" y="5706259"/>
            <a:ext cx="5622636" cy="828115"/>
          </a:xfrm>
          <a:custGeom>
            <a:avLst/>
            <a:gdLst/>
            <a:ahLst/>
            <a:cxnLst/>
            <a:rect l="l" t="t" r="r" b="b"/>
            <a:pathLst>
              <a:path w="4638675" h="938529">
                <a:moveTo>
                  <a:pt x="0" y="0"/>
                </a:moveTo>
                <a:lnTo>
                  <a:pt x="0" y="938022"/>
                </a:lnTo>
                <a:lnTo>
                  <a:pt x="4638294" y="938022"/>
                </a:lnTo>
                <a:lnTo>
                  <a:pt x="463829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762566" y="5861573"/>
            <a:ext cx="0" cy="581025"/>
          </a:xfrm>
          <a:custGeom>
            <a:avLst/>
            <a:gdLst/>
            <a:ahLst/>
            <a:cxnLst/>
            <a:rect l="l" t="t" r="r" b="b"/>
            <a:pathLst>
              <a:path h="658495">
                <a:moveTo>
                  <a:pt x="0" y="0"/>
                </a:moveTo>
                <a:lnTo>
                  <a:pt x="0" y="658367"/>
                </a:lnTo>
              </a:path>
            </a:pathLst>
          </a:custGeom>
          <a:ln w="180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688676" y="5861573"/>
            <a:ext cx="0" cy="581025"/>
          </a:xfrm>
          <a:custGeom>
            <a:avLst/>
            <a:gdLst/>
            <a:ahLst/>
            <a:cxnLst/>
            <a:rect l="l" t="t" r="r" b="b"/>
            <a:pathLst>
              <a:path h="658495">
                <a:moveTo>
                  <a:pt x="0" y="0"/>
                </a:moveTo>
                <a:lnTo>
                  <a:pt x="0" y="658367"/>
                </a:lnTo>
              </a:path>
            </a:pathLst>
          </a:custGeom>
          <a:ln w="180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276109" y="5861573"/>
            <a:ext cx="0" cy="581025"/>
          </a:xfrm>
          <a:custGeom>
            <a:avLst/>
            <a:gdLst/>
            <a:ahLst/>
            <a:cxnLst/>
            <a:rect l="l" t="t" r="r" b="b"/>
            <a:pathLst>
              <a:path h="658495">
                <a:moveTo>
                  <a:pt x="0" y="0"/>
                </a:moveTo>
                <a:lnTo>
                  <a:pt x="0" y="658367"/>
                </a:lnTo>
              </a:path>
            </a:pathLst>
          </a:custGeom>
          <a:ln w="180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202217" y="5861573"/>
            <a:ext cx="0" cy="581025"/>
          </a:xfrm>
          <a:custGeom>
            <a:avLst/>
            <a:gdLst/>
            <a:ahLst/>
            <a:cxnLst/>
            <a:rect l="l" t="t" r="r" b="b"/>
            <a:pathLst>
              <a:path h="658495">
                <a:moveTo>
                  <a:pt x="0" y="0"/>
                </a:moveTo>
                <a:lnTo>
                  <a:pt x="0" y="658367"/>
                </a:lnTo>
              </a:path>
            </a:pathLst>
          </a:custGeom>
          <a:ln w="180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4623108" y="5797769"/>
            <a:ext cx="787400" cy="79893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100" dirty="0">
                <a:latin typeface="Symbol"/>
                <a:cs typeface="Symbol"/>
              </a:rPr>
              <a:t></a:t>
            </a:r>
            <a:r>
              <a:rPr sz="5100" spc="-650" dirty="0">
                <a:latin typeface="Times New Roman"/>
                <a:cs typeface="Times New Roman"/>
              </a:rPr>
              <a:t> </a:t>
            </a:r>
            <a:r>
              <a:rPr sz="5100" dirty="0">
                <a:latin typeface="Symbol"/>
                <a:cs typeface="Symbol"/>
              </a:rPr>
              <a:t></a:t>
            </a:r>
            <a:endParaRPr sz="5100"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357398" y="6225255"/>
            <a:ext cx="252459" cy="317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i="1" spc="25" dirty="0">
                <a:latin typeface="Times New Roman"/>
                <a:cs typeface="Times New Roman"/>
              </a:rPr>
              <a:t>D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799826" y="5854299"/>
            <a:ext cx="2370667" cy="5366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09600" algn="l"/>
              </a:tabLst>
            </a:pPr>
            <a:r>
              <a:rPr sz="3400" i="1" spc="5" dirty="0">
                <a:latin typeface="Times New Roman"/>
                <a:cs typeface="Times New Roman"/>
              </a:rPr>
              <a:t>E	</a:t>
            </a:r>
            <a:r>
              <a:rPr sz="3400" i="1" dirty="0">
                <a:latin typeface="Times New Roman"/>
                <a:cs typeface="Times New Roman"/>
              </a:rPr>
              <a:t>dxdyd</a:t>
            </a:r>
            <a:r>
              <a:rPr sz="3400" i="1" spc="80" dirty="0">
                <a:latin typeface="Times New Roman"/>
                <a:cs typeface="Times New Roman"/>
              </a:rPr>
              <a:t>z</a:t>
            </a:r>
            <a:r>
              <a:rPr sz="3400" dirty="0">
                <a:latin typeface="Times New Roman"/>
                <a:cs typeface="Times New Roman"/>
              </a:rPr>
              <a:t>;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286620" y="5854299"/>
            <a:ext cx="1301558" cy="5366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400" i="1" spc="5" dirty="0">
                <a:latin typeface="Times New Roman"/>
                <a:cs typeface="Times New Roman"/>
              </a:rPr>
              <a:t>W </a:t>
            </a:r>
            <a:r>
              <a:rPr sz="3400" dirty="0">
                <a:latin typeface="Symbol"/>
                <a:cs typeface="Symbol"/>
              </a:rPr>
              <a:t></a:t>
            </a:r>
            <a:r>
              <a:rPr sz="3400" spc="235" dirty="0">
                <a:latin typeface="Times New Roman"/>
                <a:cs typeface="Times New Roman"/>
              </a:rPr>
              <a:t> </a:t>
            </a:r>
            <a:r>
              <a:rPr sz="3400" i="1" dirty="0">
                <a:latin typeface="Times New Roman"/>
                <a:cs typeface="Times New Roman"/>
              </a:rPr>
              <a:t>k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870632" y="5528207"/>
            <a:ext cx="655012" cy="5366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400" spc="-114" dirty="0">
                <a:latin typeface="Arial Black"/>
                <a:cs typeface="Arial Black"/>
              </a:rPr>
              <a:t>r</a:t>
            </a:r>
            <a:r>
              <a:rPr sz="3400" spc="50" dirty="0">
                <a:latin typeface="Arial Black"/>
                <a:cs typeface="Arial Black"/>
              </a:rPr>
              <a:t> </a:t>
            </a:r>
            <a:r>
              <a:rPr sz="2925" spc="22" baseline="-8547" dirty="0">
                <a:latin typeface="Times New Roman"/>
                <a:cs typeface="Times New Roman"/>
              </a:rPr>
              <a:t>2</a:t>
            </a:r>
            <a:endParaRPr sz="2925" baseline="-8547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267824" y="5701552"/>
            <a:ext cx="5635721" cy="837079"/>
          </a:xfrm>
          <a:custGeom>
            <a:avLst/>
            <a:gdLst/>
            <a:ahLst/>
            <a:cxnLst/>
            <a:rect l="l" t="t" r="r" b="b"/>
            <a:pathLst>
              <a:path w="4649470" h="948690">
                <a:moveTo>
                  <a:pt x="0" y="0"/>
                </a:moveTo>
                <a:lnTo>
                  <a:pt x="0" y="948690"/>
                </a:lnTo>
                <a:lnTo>
                  <a:pt x="4648962" y="948690"/>
                </a:lnTo>
                <a:lnTo>
                  <a:pt x="4648962" y="0"/>
                </a:lnTo>
                <a:lnTo>
                  <a:pt x="0" y="0"/>
                </a:lnTo>
                <a:close/>
              </a:path>
            </a:pathLst>
          </a:custGeom>
          <a:ln w="10477">
            <a:solidFill>
              <a:srgbClr val="FF34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9387840" y="5825266"/>
            <a:ext cx="2133600" cy="400050"/>
          </a:xfrm>
          <a:custGeom>
            <a:avLst/>
            <a:gdLst/>
            <a:ahLst/>
            <a:cxnLst/>
            <a:rect l="l" t="t" r="r" b="b"/>
            <a:pathLst>
              <a:path w="1760220" h="453390">
                <a:moveTo>
                  <a:pt x="1760220" y="0"/>
                </a:moveTo>
                <a:lnTo>
                  <a:pt x="439674" y="0"/>
                </a:lnTo>
                <a:lnTo>
                  <a:pt x="0" y="453389"/>
                </a:lnTo>
                <a:lnTo>
                  <a:pt x="1319783" y="453389"/>
                </a:lnTo>
                <a:lnTo>
                  <a:pt x="1760220" y="0"/>
                </a:lnTo>
                <a:close/>
              </a:path>
            </a:pathLst>
          </a:custGeom>
          <a:solidFill>
            <a:srgbClr val="0167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9387840" y="5825266"/>
            <a:ext cx="2133600" cy="400050"/>
          </a:xfrm>
          <a:custGeom>
            <a:avLst/>
            <a:gdLst/>
            <a:ahLst/>
            <a:cxnLst/>
            <a:rect l="l" t="t" r="r" b="b"/>
            <a:pathLst>
              <a:path w="1760220" h="453390">
                <a:moveTo>
                  <a:pt x="439674" y="0"/>
                </a:moveTo>
                <a:lnTo>
                  <a:pt x="0" y="453389"/>
                </a:lnTo>
                <a:lnTo>
                  <a:pt x="1319783" y="453389"/>
                </a:lnTo>
                <a:lnTo>
                  <a:pt x="1760220" y="0"/>
                </a:lnTo>
                <a:lnTo>
                  <a:pt x="439674" y="0"/>
                </a:lnTo>
                <a:close/>
              </a:path>
            </a:pathLst>
          </a:custGeom>
          <a:ln w="10477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9204960" y="5425889"/>
            <a:ext cx="2133600" cy="401170"/>
          </a:xfrm>
          <a:custGeom>
            <a:avLst/>
            <a:gdLst/>
            <a:ahLst/>
            <a:cxnLst/>
            <a:rect l="l" t="t" r="r" b="b"/>
            <a:pathLst>
              <a:path w="1760220" h="454659">
                <a:moveTo>
                  <a:pt x="1760219" y="0"/>
                </a:moveTo>
                <a:lnTo>
                  <a:pt x="440435" y="0"/>
                </a:lnTo>
                <a:lnTo>
                  <a:pt x="0" y="454152"/>
                </a:lnTo>
                <a:lnTo>
                  <a:pt x="1320546" y="454152"/>
                </a:lnTo>
                <a:lnTo>
                  <a:pt x="1760219" y="0"/>
                </a:lnTo>
                <a:close/>
              </a:path>
            </a:pathLst>
          </a:custGeom>
          <a:solidFill>
            <a:srgbClr val="FF99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9204960" y="5425889"/>
            <a:ext cx="2133600" cy="401170"/>
          </a:xfrm>
          <a:custGeom>
            <a:avLst/>
            <a:gdLst/>
            <a:ahLst/>
            <a:cxnLst/>
            <a:rect l="l" t="t" r="r" b="b"/>
            <a:pathLst>
              <a:path w="1760220" h="454659">
                <a:moveTo>
                  <a:pt x="440435" y="0"/>
                </a:moveTo>
                <a:lnTo>
                  <a:pt x="0" y="454152"/>
                </a:lnTo>
                <a:lnTo>
                  <a:pt x="1320546" y="454152"/>
                </a:lnTo>
                <a:lnTo>
                  <a:pt x="1760219" y="0"/>
                </a:lnTo>
                <a:lnTo>
                  <a:pt x="440435" y="0"/>
                </a:lnTo>
                <a:close/>
              </a:path>
            </a:pathLst>
          </a:custGeom>
          <a:ln w="10477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1102110" y="5603390"/>
            <a:ext cx="228600" cy="310963"/>
          </a:xfrm>
          <a:custGeom>
            <a:avLst/>
            <a:gdLst/>
            <a:ahLst/>
            <a:cxnLst/>
            <a:rect l="l" t="t" r="r" b="b"/>
            <a:pathLst>
              <a:path w="188595" h="352425">
                <a:moveTo>
                  <a:pt x="188213" y="163830"/>
                </a:moveTo>
                <a:lnTo>
                  <a:pt x="0" y="163830"/>
                </a:lnTo>
                <a:lnTo>
                  <a:pt x="62483" y="288294"/>
                </a:lnTo>
                <a:lnTo>
                  <a:pt x="62483" y="195072"/>
                </a:lnTo>
                <a:lnTo>
                  <a:pt x="125729" y="195072"/>
                </a:lnTo>
                <a:lnTo>
                  <a:pt x="125729" y="289305"/>
                </a:lnTo>
                <a:lnTo>
                  <a:pt x="188213" y="163830"/>
                </a:lnTo>
                <a:close/>
              </a:path>
              <a:path w="188595" h="352425">
                <a:moveTo>
                  <a:pt x="125729" y="163830"/>
                </a:moveTo>
                <a:lnTo>
                  <a:pt x="125729" y="0"/>
                </a:lnTo>
                <a:lnTo>
                  <a:pt x="62483" y="0"/>
                </a:lnTo>
                <a:lnTo>
                  <a:pt x="62483" y="163830"/>
                </a:lnTo>
                <a:lnTo>
                  <a:pt x="125729" y="163830"/>
                </a:lnTo>
                <a:close/>
              </a:path>
              <a:path w="188595" h="352425">
                <a:moveTo>
                  <a:pt x="125729" y="289305"/>
                </a:moveTo>
                <a:lnTo>
                  <a:pt x="125729" y="195072"/>
                </a:lnTo>
                <a:lnTo>
                  <a:pt x="62483" y="195072"/>
                </a:lnTo>
                <a:lnTo>
                  <a:pt x="62483" y="288294"/>
                </a:lnTo>
                <a:lnTo>
                  <a:pt x="94487" y="352044"/>
                </a:lnTo>
                <a:lnTo>
                  <a:pt x="125729" y="289305"/>
                </a:lnTo>
                <a:close/>
              </a:path>
            </a:pathLst>
          </a:custGeom>
          <a:solidFill>
            <a:srgbClr val="FF34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9799166" y="5445610"/>
            <a:ext cx="268624" cy="41806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spc="20" dirty="0">
                <a:latin typeface="Arial"/>
                <a:cs typeface="Arial"/>
              </a:rPr>
              <a:t>+</a:t>
            </a:r>
            <a:endParaRPr sz="26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1906286" y="6429495"/>
            <a:ext cx="193964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805"/>
              </a:lnSpc>
            </a:pPr>
            <a:fld id="{81D60167-4931-47E6-BA6A-407CBD079E47}" type="slidenum">
              <a:rPr sz="1550" spc="-5" dirty="0">
                <a:latin typeface="Arial"/>
                <a:cs typeface="Arial"/>
              </a:rPr>
              <a:pPr marL="25400">
                <a:lnSpc>
                  <a:spcPts val="1805"/>
                </a:lnSpc>
              </a:pPr>
              <a:t>18</a:t>
            </a:fld>
            <a:endParaRPr sz="155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0043006" y="5844308"/>
            <a:ext cx="166255" cy="41806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spc="10" dirty="0">
                <a:latin typeface="Arial"/>
                <a:cs typeface="Arial"/>
              </a:rPr>
              <a:t>-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921680" y="6413126"/>
            <a:ext cx="163176" cy="25006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50" spc="-5" dirty="0">
                <a:latin typeface="Arial"/>
                <a:cs typeface="Arial"/>
              </a:rPr>
              <a:t>6</a:t>
            </a:r>
            <a:endParaRPr sz="15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8446" y="531383"/>
            <a:ext cx="7142788" cy="41806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lang="en-US" sz="2600" spc="15" dirty="0" smtClean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       </a:t>
            </a:r>
            <a:r>
              <a:rPr sz="2600" u="heavy" spc="15" smtClean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Example</a:t>
            </a:r>
            <a:r>
              <a:rPr sz="2600" spc="15" smtClean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600" spc="20" dirty="0">
                <a:solidFill>
                  <a:srgbClr val="FF3300"/>
                </a:solidFill>
                <a:latin typeface="Times New Roman"/>
                <a:cs typeface="Times New Roman"/>
              </a:rPr>
              <a:t>1 </a:t>
            </a:r>
            <a:r>
              <a:rPr sz="2600" spc="10" dirty="0">
                <a:latin typeface="Times New Roman"/>
                <a:cs typeface="Times New Roman"/>
              </a:rPr>
              <a:t>(P9-15-6): Evaluate the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integral: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89451" y="201033"/>
            <a:ext cx="4379705" cy="9648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37783" y="2541493"/>
            <a:ext cx="3062194" cy="228936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43225" y="2783093"/>
            <a:ext cx="6146030" cy="3895041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60"/>
              </a:spcBef>
            </a:pPr>
            <a:r>
              <a:rPr sz="2600" u="heavy" spc="1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Example</a:t>
            </a:r>
            <a:r>
              <a:rPr sz="2600" spc="1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600" spc="20" dirty="0">
                <a:solidFill>
                  <a:srgbClr val="FF3300"/>
                </a:solidFill>
                <a:latin typeface="Times New Roman"/>
                <a:cs typeface="Times New Roman"/>
              </a:rPr>
              <a:t>3</a:t>
            </a:r>
            <a:r>
              <a:rPr sz="2600" spc="-1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(P9-15.21)</a:t>
            </a:r>
            <a:endParaRPr sz="2600">
              <a:latin typeface="Times New Roman"/>
              <a:cs typeface="Times New Roman"/>
            </a:endParaRPr>
          </a:p>
          <a:p>
            <a:pPr marL="100965" marR="1014730">
              <a:lnSpc>
                <a:spcPct val="100400"/>
              </a:lnSpc>
              <a:spcBef>
                <a:spcPts val="860"/>
              </a:spcBef>
            </a:pPr>
            <a:r>
              <a:rPr sz="2600" spc="10" dirty="0">
                <a:latin typeface="Times New Roman"/>
                <a:cs typeface="Times New Roman"/>
              </a:rPr>
              <a:t>Find the </a:t>
            </a:r>
            <a:r>
              <a:rPr sz="2600" spc="15" dirty="0">
                <a:latin typeface="Times New Roman"/>
                <a:cs typeface="Times New Roman"/>
              </a:rPr>
              <a:t>volume bounded </a:t>
            </a:r>
            <a:r>
              <a:rPr sz="2600" spc="10" dirty="0">
                <a:latin typeface="Times New Roman"/>
                <a:cs typeface="Times New Roman"/>
              </a:rPr>
              <a:t>by:  x=y</a:t>
            </a:r>
            <a:r>
              <a:rPr sz="2625" spc="15" baseline="23809" dirty="0">
                <a:latin typeface="Times New Roman"/>
                <a:cs typeface="Times New Roman"/>
              </a:rPr>
              <a:t>2</a:t>
            </a:r>
            <a:r>
              <a:rPr sz="2600" spc="10" dirty="0">
                <a:latin typeface="Times New Roman"/>
                <a:cs typeface="Times New Roman"/>
              </a:rPr>
              <a:t>, 4- x=y</a:t>
            </a:r>
            <a:r>
              <a:rPr sz="2625" spc="15" baseline="23809" dirty="0">
                <a:latin typeface="Times New Roman"/>
                <a:cs typeface="Times New Roman"/>
              </a:rPr>
              <a:t>2</a:t>
            </a:r>
            <a:r>
              <a:rPr sz="2600" spc="10" dirty="0">
                <a:latin typeface="Times New Roman"/>
                <a:cs typeface="Times New Roman"/>
              </a:rPr>
              <a:t>, </a:t>
            </a:r>
            <a:r>
              <a:rPr sz="2600" spc="15" dirty="0">
                <a:latin typeface="Times New Roman"/>
                <a:cs typeface="Times New Roman"/>
              </a:rPr>
              <a:t>z=0 and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z=3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2110"/>
              </a:spcBef>
            </a:pPr>
            <a:r>
              <a:rPr sz="2600" u="heavy" spc="1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Example</a:t>
            </a:r>
            <a:r>
              <a:rPr sz="2600" spc="1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600" spc="20" dirty="0">
                <a:solidFill>
                  <a:srgbClr val="FF3300"/>
                </a:solidFill>
                <a:latin typeface="Times New Roman"/>
                <a:cs typeface="Times New Roman"/>
              </a:rPr>
              <a:t>4</a:t>
            </a:r>
            <a:r>
              <a:rPr sz="2600" spc="-1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(P9-15.27)</a:t>
            </a:r>
            <a:endParaRPr sz="2600">
              <a:latin typeface="Times New Roman"/>
              <a:cs typeface="Times New Roman"/>
            </a:endParaRPr>
          </a:p>
          <a:p>
            <a:pPr marL="150495" marR="43180">
              <a:lnSpc>
                <a:spcPct val="100899"/>
              </a:lnSpc>
              <a:spcBef>
                <a:spcPts val="950"/>
              </a:spcBef>
              <a:tabLst>
                <a:tab pos="1984375" algn="l"/>
              </a:tabLst>
            </a:pPr>
            <a:r>
              <a:rPr sz="2600" spc="10" dirty="0">
                <a:latin typeface="Times New Roman"/>
                <a:cs typeface="Times New Roman"/>
              </a:rPr>
              <a:t>Find the center of </a:t>
            </a:r>
            <a:r>
              <a:rPr sz="2600" spc="15" dirty="0">
                <a:latin typeface="Times New Roman"/>
                <a:cs typeface="Times New Roman"/>
              </a:rPr>
              <a:t>mass </a:t>
            </a:r>
            <a:r>
              <a:rPr sz="2600" spc="10" dirty="0">
                <a:latin typeface="Times New Roman"/>
                <a:cs typeface="Times New Roman"/>
              </a:rPr>
              <a:t>of the solid  </a:t>
            </a:r>
            <a:r>
              <a:rPr sz="2600" spc="15" dirty="0">
                <a:latin typeface="Times New Roman"/>
                <a:cs typeface="Times New Roman"/>
              </a:rPr>
              <a:t>bounded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by:	x</a:t>
            </a:r>
            <a:r>
              <a:rPr sz="2625" spc="15" baseline="23809" dirty="0">
                <a:latin typeface="Times New Roman"/>
                <a:cs typeface="Times New Roman"/>
              </a:rPr>
              <a:t>2</a:t>
            </a:r>
            <a:r>
              <a:rPr sz="2600" spc="10" dirty="0">
                <a:latin typeface="Times New Roman"/>
                <a:cs typeface="Times New Roman"/>
              </a:rPr>
              <a:t>+z</a:t>
            </a:r>
            <a:r>
              <a:rPr sz="2625" spc="15" baseline="23809" dirty="0">
                <a:latin typeface="Times New Roman"/>
                <a:cs typeface="Times New Roman"/>
              </a:rPr>
              <a:t>2</a:t>
            </a:r>
            <a:r>
              <a:rPr sz="2600" spc="10" dirty="0">
                <a:latin typeface="Times New Roman"/>
                <a:cs typeface="Times New Roman"/>
              </a:rPr>
              <a:t>=4,, </a:t>
            </a:r>
            <a:r>
              <a:rPr sz="2600" spc="15" dirty="0">
                <a:latin typeface="Times New Roman"/>
                <a:cs typeface="Times New Roman"/>
              </a:rPr>
              <a:t>y=0 and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y=3  </a:t>
            </a:r>
            <a:r>
              <a:rPr sz="2600" spc="5" dirty="0">
                <a:latin typeface="Times New Roman"/>
                <a:cs typeface="Times New Roman"/>
              </a:rPr>
              <a:t>if </a:t>
            </a:r>
            <a:r>
              <a:rPr sz="2600" spc="10" dirty="0">
                <a:latin typeface="Times New Roman"/>
                <a:cs typeface="Times New Roman"/>
              </a:rPr>
              <a:t>the density </a:t>
            </a:r>
            <a:r>
              <a:rPr sz="2600" spc="20" dirty="0">
                <a:latin typeface="Symbol"/>
                <a:cs typeface="Symbol"/>
              </a:rPr>
              <a:t></a:t>
            </a:r>
            <a:r>
              <a:rPr sz="2600" spc="20" dirty="0">
                <a:latin typeface="Times New Roman"/>
                <a:cs typeface="Times New Roman"/>
              </a:rPr>
              <a:t> = k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y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39512" y="4405928"/>
            <a:ext cx="3475642" cy="172727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523326" y="1745239"/>
            <a:ext cx="1213042" cy="80021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100" spc="5" dirty="0">
                <a:latin typeface="Symbol"/>
                <a:cs typeface="Symbol"/>
              </a:rPr>
              <a:t></a:t>
            </a:r>
            <a:r>
              <a:rPr sz="5100" spc="5" dirty="0">
                <a:latin typeface="Times New Roman"/>
                <a:cs typeface="Times New Roman"/>
              </a:rPr>
              <a:t> </a:t>
            </a:r>
            <a:r>
              <a:rPr sz="5100" spc="5" dirty="0">
                <a:latin typeface="Symbol"/>
                <a:cs typeface="Symbol"/>
              </a:rPr>
              <a:t></a:t>
            </a:r>
            <a:r>
              <a:rPr sz="5100" spc="-465" dirty="0">
                <a:latin typeface="Times New Roman"/>
                <a:cs typeface="Times New Roman"/>
              </a:rPr>
              <a:t> </a:t>
            </a:r>
            <a:r>
              <a:rPr sz="5100" spc="5" dirty="0">
                <a:latin typeface="Symbol"/>
                <a:cs typeface="Symbol"/>
              </a:rPr>
              <a:t></a:t>
            </a:r>
            <a:endParaRPr sz="510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04382" y="2173968"/>
            <a:ext cx="1152235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19734" algn="l"/>
                <a:tab pos="810895" algn="l"/>
              </a:tabLst>
            </a:pPr>
            <a:r>
              <a:rPr sz="2000" spc="-5" dirty="0">
                <a:latin typeface="Times New Roman"/>
                <a:cs typeface="Times New Roman"/>
              </a:rPr>
              <a:t>0	0	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811188" y="1802080"/>
            <a:ext cx="1481667" cy="537968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400" i="1" spc="5" dirty="0">
                <a:latin typeface="Times New Roman"/>
                <a:cs typeface="Times New Roman"/>
              </a:rPr>
              <a:t>dxd</a:t>
            </a:r>
            <a:r>
              <a:rPr sz="3400" i="1" spc="-60" dirty="0">
                <a:latin typeface="Times New Roman"/>
                <a:cs typeface="Times New Roman"/>
              </a:rPr>
              <a:t>z</a:t>
            </a:r>
            <a:r>
              <a:rPr sz="3400" i="1" spc="5" dirty="0">
                <a:latin typeface="Times New Roman"/>
                <a:cs typeface="Times New Roman"/>
              </a:rPr>
              <a:t>dy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89343" y="1669702"/>
            <a:ext cx="2001212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14020" algn="l"/>
                <a:tab pos="810895" algn="l"/>
              </a:tabLst>
            </a:pPr>
            <a:r>
              <a:rPr sz="2000" spc="-5" dirty="0">
                <a:latin typeface="Times New Roman"/>
                <a:cs typeface="Times New Roman"/>
              </a:rPr>
              <a:t>4	3	</a:t>
            </a:r>
            <a:r>
              <a:rPr sz="2000" spc="75" dirty="0">
                <a:latin typeface="Times New Roman"/>
                <a:cs typeface="Times New Roman"/>
              </a:rPr>
              <a:t>2</a:t>
            </a:r>
            <a:r>
              <a:rPr sz="2000" spc="75" dirty="0">
                <a:latin typeface="Symbol"/>
                <a:cs typeface="Symbol"/>
              </a:rPr>
              <a:t></a:t>
            </a:r>
            <a:r>
              <a:rPr sz="2000" spc="75" dirty="0">
                <a:latin typeface="Times New Roman"/>
                <a:cs typeface="Times New Roman"/>
              </a:rPr>
              <a:t>2</a:t>
            </a:r>
            <a:r>
              <a:rPr sz="2000" spc="-30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z</a:t>
            </a:r>
            <a:r>
              <a:rPr sz="2000" i="1" spc="-18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/</a:t>
            </a:r>
            <a:r>
              <a:rPr sz="2000" spc="-2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0010" y="1182221"/>
            <a:ext cx="5909733" cy="1438855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2600" u="heavy" spc="1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Example</a:t>
            </a:r>
            <a:r>
              <a:rPr sz="2600" spc="1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600" spc="20" dirty="0">
                <a:solidFill>
                  <a:srgbClr val="FF3300"/>
                </a:solidFill>
                <a:latin typeface="Times New Roman"/>
                <a:cs typeface="Times New Roman"/>
              </a:rPr>
              <a:t>2</a:t>
            </a:r>
            <a:r>
              <a:rPr sz="2600" spc="-1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(P9-6.15)</a:t>
            </a:r>
            <a:endParaRPr sz="2600">
              <a:latin typeface="Times New Roman"/>
              <a:cs typeface="Times New Roman"/>
            </a:endParaRPr>
          </a:p>
          <a:p>
            <a:pPr marL="162560" marR="5080">
              <a:lnSpc>
                <a:spcPct val="100400"/>
              </a:lnSpc>
              <a:spcBef>
                <a:spcPts val="860"/>
              </a:spcBef>
            </a:pPr>
            <a:r>
              <a:rPr sz="2600" spc="10" dirty="0">
                <a:latin typeface="Times New Roman"/>
                <a:cs typeface="Times New Roman"/>
              </a:rPr>
              <a:t>Sketch the region </a:t>
            </a:r>
            <a:r>
              <a:rPr sz="2600" spc="25" dirty="0">
                <a:latin typeface="Times New Roman"/>
                <a:cs typeface="Times New Roman"/>
              </a:rPr>
              <a:t>D </a:t>
            </a:r>
            <a:r>
              <a:rPr sz="2600" spc="15" dirty="0">
                <a:latin typeface="Times New Roman"/>
                <a:cs typeface="Times New Roman"/>
              </a:rPr>
              <a:t>whose volume  </a:t>
            </a:r>
            <a:r>
              <a:rPr sz="2600" spc="25" dirty="0">
                <a:latin typeface="Times New Roman"/>
                <a:cs typeface="Times New Roman"/>
              </a:rPr>
              <a:t>V </a:t>
            </a:r>
            <a:r>
              <a:rPr sz="2600" spc="10" dirty="0">
                <a:latin typeface="Times New Roman"/>
                <a:cs typeface="Times New Roman"/>
              </a:rPr>
              <a:t>is given </a:t>
            </a:r>
            <a:r>
              <a:rPr sz="2600" spc="15" dirty="0">
                <a:latin typeface="Times New Roman"/>
                <a:cs typeface="Times New Roman"/>
              </a:rPr>
              <a:t>by </a:t>
            </a:r>
            <a:r>
              <a:rPr sz="2600" spc="10" dirty="0">
                <a:latin typeface="Times New Roman"/>
                <a:cs typeface="Times New Roman"/>
              </a:rPr>
              <a:t>the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integral: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058729" y="6243704"/>
            <a:ext cx="4324156" cy="41806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spc="20" dirty="0">
                <a:solidFill>
                  <a:srgbClr val="FF3300"/>
                </a:solidFill>
                <a:latin typeface="Arial"/>
                <a:cs typeface="Arial"/>
              </a:rPr>
              <a:t>Give </a:t>
            </a:r>
            <a:r>
              <a:rPr sz="2600" spc="15" dirty="0">
                <a:solidFill>
                  <a:srgbClr val="FF3300"/>
                </a:solidFill>
                <a:latin typeface="Arial"/>
                <a:cs typeface="Arial"/>
              </a:rPr>
              <a:t>details of</a:t>
            </a:r>
            <a:r>
              <a:rPr sz="2600" spc="-7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srgbClr val="FF3300"/>
                </a:solidFill>
                <a:latin typeface="Arial"/>
                <a:cs typeface="Arial"/>
              </a:rPr>
              <a:t>solutions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0366" y="1806163"/>
            <a:ext cx="5962073" cy="41806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u="heavy" spc="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Naming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u="heavy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convention</a:t>
            </a:r>
            <a:r>
              <a:rPr sz="2600" spc="10" dirty="0">
                <a:latin typeface="Times New Roman"/>
                <a:cs typeface="Times New Roman"/>
              </a:rPr>
              <a:t>: </a:t>
            </a:r>
            <a:r>
              <a:rPr sz="2600" spc="15" dirty="0">
                <a:latin typeface="Times New Roman"/>
                <a:cs typeface="Times New Roman"/>
              </a:rPr>
              <a:t>a </a:t>
            </a:r>
            <a:r>
              <a:rPr sz="2600" spc="10" dirty="0">
                <a:latin typeface="Times New Roman"/>
                <a:cs typeface="Times New Roman"/>
              </a:rPr>
              <a:t>point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P(x,y,z)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83739" y="1745085"/>
            <a:ext cx="2102812" cy="545661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250" spc="30" dirty="0">
                <a:latin typeface="Symbol"/>
                <a:cs typeface="Symbol"/>
              </a:rPr>
              <a:t></a:t>
            </a:r>
            <a:r>
              <a:rPr sz="3250" spc="-140" dirty="0">
                <a:latin typeface="Times New Roman"/>
                <a:cs typeface="Times New Roman"/>
              </a:rPr>
              <a:t> </a:t>
            </a:r>
            <a:r>
              <a:rPr sz="3250" spc="40" dirty="0">
                <a:latin typeface="Times New Roman"/>
                <a:cs typeface="Times New Roman"/>
              </a:rPr>
              <a:t>(</a:t>
            </a:r>
            <a:r>
              <a:rPr sz="3250" i="1" spc="40" dirty="0">
                <a:latin typeface="Times New Roman"/>
                <a:cs typeface="Times New Roman"/>
              </a:rPr>
              <a:t>r</a:t>
            </a:r>
            <a:r>
              <a:rPr sz="3250" spc="40" dirty="0">
                <a:latin typeface="Times New Roman"/>
                <a:cs typeface="Times New Roman"/>
              </a:rPr>
              <a:t>,</a:t>
            </a:r>
            <a:r>
              <a:rPr sz="3450" i="1" spc="40" dirty="0">
                <a:latin typeface="Symbol"/>
                <a:cs typeface="Symbol"/>
              </a:rPr>
              <a:t></a:t>
            </a:r>
            <a:r>
              <a:rPr sz="3450" i="1" spc="-495" dirty="0">
                <a:latin typeface="Times New Roman"/>
                <a:cs typeface="Times New Roman"/>
              </a:rPr>
              <a:t> </a:t>
            </a:r>
            <a:r>
              <a:rPr sz="3250" spc="5" dirty="0">
                <a:latin typeface="Times New Roman"/>
                <a:cs typeface="Times New Roman"/>
              </a:rPr>
              <a:t>,</a:t>
            </a:r>
            <a:r>
              <a:rPr sz="3250" spc="-395" dirty="0">
                <a:latin typeface="Times New Roman"/>
                <a:cs typeface="Times New Roman"/>
              </a:rPr>
              <a:t> </a:t>
            </a:r>
            <a:r>
              <a:rPr sz="3250" i="1" spc="95" dirty="0">
                <a:latin typeface="Times New Roman"/>
                <a:cs typeface="Times New Roman"/>
              </a:rPr>
              <a:t>z</a:t>
            </a:r>
            <a:r>
              <a:rPr sz="3250" spc="95" dirty="0">
                <a:latin typeface="Times New Roman"/>
                <a:cs typeface="Times New Roman"/>
              </a:rPr>
              <a:t>)</a:t>
            </a:r>
            <a:endParaRPr sz="32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267210" y="168311"/>
            <a:ext cx="5595697" cy="55399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500" u="heavy" dirty="0">
                <a:solidFill>
                  <a:srgbClr val="0065FF"/>
                </a:solidFill>
                <a:uFill>
                  <a:solidFill>
                    <a:srgbClr val="0065FF"/>
                  </a:solidFill>
                </a:uFill>
                <a:latin typeface="Arial"/>
                <a:cs typeface="Arial"/>
              </a:rPr>
              <a:t>Cylindrical</a:t>
            </a:r>
            <a:r>
              <a:rPr sz="3500" u="heavy" spc="-50" dirty="0">
                <a:solidFill>
                  <a:srgbClr val="0065FF"/>
                </a:solidFill>
                <a:uFill>
                  <a:solidFill>
                    <a:srgbClr val="0065FF"/>
                  </a:solidFill>
                </a:uFill>
                <a:latin typeface="Arial"/>
                <a:cs typeface="Arial"/>
              </a:rPr>
              <a:t> </a:t>
            </a:r>
            <a:r>
              <a:rPr sz="3500" u="heavy" spc="5" dirty="0">
                <a:solidFill>
                  <a:srgbClr val="0065FF"/>
                </a:solidFill>
                <a:uFill>
                  <a:solidFill>
                    <a:srgbClr val="0065FF"/>
                  </a:solidFill>
                </a:uFill>
                <a:latin typeface="Arial"/>
                <a:cs typeface="Arial"/>
              </a:rPr>
              <a:t>Coordinates</a:t>
            </a:r>
            <a:endParaRPr sz="35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27070" y="5797027"/>
            <a:ext cx="63114" cy="26334"/>
          </a:xfrm>
          <a:custGeom>
            <a:avLst/>
            <a:gdLst/>
            <a:ahLst/>
            <a:cxnLst/>
            <a:rect l="l" t="t" r="r" b="b"/>
            <a:pathLst>
              <a:path w="52069" h="29845">
                <a:moveTo>
                  <a:pt x="0" y="29717"/>
                </a:moveTo>
                <a:lnTo>
                  <a:pt x="51816" y="0"/>
                </a:lnTo>
              </a:path>
            </a:pathLst>
          </a:custGeom>
          <a:ln w="169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589877" y="5804422"/>
            <a:ext cx="91594" cy="168088"/>
          </a:xfrm>
          <a:custGeom>
            <a:avLst/>
            <a:gdLst/>
            <a:ahLst/>
            <a:cxnLst/>
            <a:rect l="l" t="t" r="r" b="b"/>
            <a:pathLst>
              <a:path w="75564" h="190500">
                <a:moveTo>
                  <a:pt x="0" y="0"/>
                </a:moveTo>
                <a:lnTo>
                  <a:pt x="75437" y="190500"/>
                </a:lnTo>
              </a:path>
            </a:pathLst>
          </a:custGeom>
          <a:ln w="338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691475" y="5492452"/>
            <a:ext cx="1616364" cy="480172"/>
          </a:xfrm>
          <a:custGeom>
            <a:avLst/>
            <a:gdLst/>
            <a:ahLst/>
            <a:cxnLst/>
            <a:rect l="l" t="t" r="r" b="b"/>
            <a:pathLst>
              <a:path w="1333500" h="544195">
                <a:moveTo>
                  <a:pt x="0" y="544068"/>
                </a:moveTo>
                <a:lnTo>
                  <a:pt x="99059" y="0"/>
                </a:lnTo>
                <a:lnTo>
                  <a:pt x="1333500" y="0"/>
                </a:lnTo>
              </a:path>
            </a:pathLst>
          </a:custGeom>
          <a:ln w="169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819875" y="5348378"/>
            <a:ext cx="487988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800" i="1" spc="157" baseline="-25173" dirty="0">
                <a:latin typeface="Times New Roman"/>
                <a:cs typeface="Times New Roman"/>
              </a:rPr>
              <a:t>x</a:t>
            </a:r>
            <a:r>
              <a:rPr sz="1850" spc="105" dirty="0">
                <a:latin typeface="Times New Roman"/>
                <a:cs typeface="Times New Roman"/>
              </a:rPr>
              <a:t>2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36459" y="5509084"/>
            <a:ext cx="276937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373505" algn="l"/>
              </a:tabLst>
            </a:pPr>
            <a:r>
              <a:rPr sz="3200" i="1" dirty="0">
                <a:latin typeface="Times New Roman"/>
                <a:cs typeface="Times New Roman"/>
              </a:rPr>
              <a:t>r</a:t>
            </a:r>
            <a:r>
              <a:rPr sz="3200" i="1" spc="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ymbol"/>
                <a:cs typeface="Symbol"/>
              </a:rPr>
              <a:t></a:t>
            </a:r>
            <a:r>
              <a:rPr sz="3200" dirty="0">
                <a:latin typeface="Times New Roman"/>
                <a:cs typeface="Times New Roman"/>
              </a:rPr>
              <a:t>	</a:t>
            </a:r>
            <a:r>
              <a:rPr sz="3200" dirty="0">
                <a:latin typeface="Symbol"/>
                <a:cs typeface="Symbol"/>
              </a:rPr>
              <a:t>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i="1" spc="120" dirty="0">
                <a:latin typeface="Times New Roman"/>
                <a:cs typeface="Times New Roman"/>
              </a:rPr>
              <a:t>y</a:t>
            </a:r>
            <a:r>
              <a:rPr sz="2775" spc="179" baseline="43543" dirty="0">
                <a:latin typeface="Times New Roman"/>
                <a:cs typeface="Times New Roman"/>
              </a:rPr>
              <a:t>2</a:t>
            </a:r>
            <a:r>
              <a:rPr sz="2775" spc="412" baseline="43543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,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85636" y="6095802"/>
            <a:ext cx="3088024" cy="53219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3350" i="1" spc="-80" dirty="0">
                <a:latin typeface="Symbol"/>
                <a:cs typeface="Symbol"/>
              </a:rPr>
              <a:t></a:t>
            </a:r>
            <a:r>
              <a:rPr sz="3350" i="1" spc="-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Symbol"/>
                <a:cs typeface="Symbol"/>
              </a:rPr>
              <a:t></a:t>
            </a:r>
            <a:r>
              <a:rPr sz="3200" dirty="0">
                <a:latin typeface="Times New Roman"/>
                <a:cs typeface="Times New Roman"/>
              </a:rPr>
              <a:t> </a:t>
            </a:r>
            <a:r>
              <a:rPr sz="3200" b="1" spc="25" dirty="0">
                <a:latin typeface="Times New Roman"/>
                <a:cs typeface="Times New Roman"/>
              </a:rPr>
              <a:t>tan</a:t>
            </a:r>
            <a:r>
              <a:rPr sz="2775" b="1" spc="37" baseline="43543" dirty="0">
                <a:latin typeface="Times New Roman"/>
                <a:cs typeface="Times New Roman"/>
              </a:rPr>
              <a:t>-1 </a:t>
            </a:r>
            <a:r>
              <a:rPr sz="3200" dirty="0">
                <a:latin typeface="Times New Roman"/>
                <a:cs typeface="Times New Roman"/>
              </a:rPr>
              <a:t>(</a:t>
            </a:r>
            <a:r>
              <a:rPr sz="3200" spc="-660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y </a:t>
            </a:r>
            <a:r>
              <a:rPr sz="3200" dirty="0">
                <a:latin typeface="Times New Roman"/>
                <a:cs typeface="Times New Roman"/>
              </a:rPr>
              <a:t>/ </a:t>
            </a:r>
            <a:r>
              <a:rPr sz="3200" i="1" spc="80" dirty="0">
                <a:latin typeface="Times New Roman"/>
                <a:cs typeface="Times New Roman"/>
              </a:rPr>
              <a:t>x</a:t>
            </a:r>
            <a:r>
              <a:rPr sz="3200" spc="80" dirty="0"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04480" y="3344223"/>
            <a:ext cx="4164830" cy="39087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75"/>
              </a:lnSpc>
            </a:pPr>
            <a:r>
              <a:rPr sz="2600" spc="10" dirty="0">
                <a:solidFill>
                  <a:srgbClr val="FF3300"/>
                </a:solidFill>
                <a:latin typeface="Times New Roman"/>
                <a:cs typeface="Times New Roman"/>
              </a:rPr>
              <a:t>: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950">
              <a:latin typeface="Times New Roman"/>
              <a:cs typeface="Times New Roman"/>
            </a:endParaRPr>
          </a:p>
          <a:p>
            <a:pPr algn="r">
              <a:lnSpc>
                <a:spcPct val="100000"/>
              </a:lnSpc>
            </a:pPr>
            <a:r>
              <a:rPr sz="1550" spc="-5" dirty="0">
                <a:latin typeface="Arial"/>
                <a:cs typeface="Arial"/>
              </a:rPr>
              <a:t>7</a:t>
            </a:r>
            <a:endParaRPr sz="155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946043" y="2807745"/>
            <a:ext cx="4123112" cy="39043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2218428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716280" marR="5080">
              <a:lnSpc>
                <a:spcPts val="3080"/>
              </a:lnSpc>
              <a:spcBef>
                <a:spcPts val="275"/>
              </a:spcBef>
              <a:tabLst>
                <a:tab pos="3625850" algn="l"/>
              </a:tabLst>
            </a:pPr>
            <a:endParaRPr lang="en-US" spc="10" dirty="0" smtClean="0"/>
          </a:p>
          <a:p>
            <a:pPr marL="716280" marR="5080">
              <a:lnSpc>
                <a:spcPts val="3080"/>
              </a:lnSpc>
              <a:spcBef>
                <a:spcPts val="275"/>
              </a:spcBef>
              <a:tabLst>
                <a:tab pos="3625850" algn="l"/>
              </a:tabLst>
            </a:pPr>
            <a:r>
              <a:rPr spc="10" smtClean="0"/>
              <a:t>r </a:t>
            </a:r>
            <a:r>
              <a:rPr spc="10" dirty="0"/>
              <a:t>varies </a:t>
            </a:r>
            <a:r>
              <a:rPr spc="15" dirty="0"/>
              <a:t>from </a:t>
            </a:r>
            <a:r>
              <a:rPr spc="20" dirty="0"/>
              <a:t>0</a:t>
            </a:r>
            <a:r>
              <a:rPr dirty="0"/>
              <a:t> </a:t>
            </a:r>
            <a:r>
              <a:rPr spc="10" dirty="0"/>
              <a:t>to </a:t>
            </a:r>
            <a:r>
              <a:rPr spc="15" dirty="0">
                <a:latin typeface="Symbol"/>
                <a:cs typeface="Symbol"/>
              </a:rPr>
              <a:t></a:t>
            </a:r>
            <a:r>
              <a:rPr spc="15" dirty="0"/>
              <a:t>;	</a:t>
            </a:r>
            <a:r>
              <a:rPr spc="20" dirty="0">
                <a:latin typeface="Symbol"/>
                <a:cs typeface="Symbol"/>
              </a:rPr>
              <a:t></a:t>
            </a:r>
            <a:r>
              <a:rPr spc="20" dirty="0"/>
              <a:t> </a:t>
            </a:r>
            <a:r>
              <a:rPr spc="10" dirty="0"/>
              <a:t>varies </a:t>
            </a:r>
            <a:r>
              <a:rPr spc="15" dirty="0"/>
              <a:t>from </a:t>
            </a:r>
            <a:r>
              <a:rPr spc="20" dirty="0"/>
              <a:t>0 </a:t>
            </a:r>
            <a:r>
              <a:rPr spc="10" dirty="0"/>
              <a:t>to</a:t>
            </a:r>
            <a:r>
              <a:rPr spc="-105" dirty="0"/>
              <a:t> </a:t>
            </a:r>
            <a:r>
              <a:rPr spc="10" dirty="0"/>
              <a:t>2</a:t>
            </a:r>
            <a:r>
              <a:rPr spc="10" dirty="0">
                <a:latin typeface="Symbol"/>
                <a:cs typeface="Symbol"/>
              </a:rPr>
              <a:t></a:t>
            </a:r>
            <a:r>
              <a:rPr spc="10" dirty="0"/>
              <a:t>,  </a:t>
            </a:r>
            <a:r>
              <a:rPr spc="15" dirty="0"/>
              <a:t>z </a:t>
            </a:r>
            <a:r>
              <a:rPr spc="10" dirty="0"/>
              <a:t>varies </a:t>
            </a:r>
            <a:r>
              <a:rPr spc="15" dirty="0"/>
              <a:t>from </a:t>
            </a:r>
            <a:r>
              <a:rPr spc="10" dirty="0"/>
              <a:t>- </a:t>
            </a:r>
            <a:r>
              <a:rPr spc="25" dirty="0">
                <a:latin typeface="Symbol"/>
                <a:cs typeface="Symbol"/>
              </a:rPr>
              <a:t></a:t>
            </a:r>
            <a:r>
              <a:rPr spc="25" dirty="0"/>
              <a:t> </a:t>
            </a:r>
            <a:r>
              <a:rPr spc="10" dirty="0"/>
              <a:t>to</a:t>
            </a:r>
            <a:r>
              <a:rPr spc="-55" dirty="0"/>
              <a:t> </a:t>
            </a:r>
            <a:r>
              <a:rPr spc="25" dirty="0">
                <a:latin typeface="Symbol"/>
                <a:cs typeface="Symbol"/>
              </a:rPr>
              <a:t></a:t>
            </a:r>
          </a:p>
          <a:p>
            <a:pPr marL="12700">
              <a:lnSpc>
                <a:spcPct val="100000"/>
              </a:lnSpc>
              <a:spcBef>
                <a:spcPts val="2200"/>
              </a:spcBef>
            </a:pPr>
            <a:r>
              <a:rPr u="heavy" spc="1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</a:rPr>
              <a:t>Relation to Cartesian coordinates</a:t>
            </a:r>
            <a:r>
              <a:rPr u="heavy" spc="-1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</a:rPr>
              <a:t> </a:t>
            </a:r>
            <a:r>
              <a:rPr u="heavy" spc="1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</a:rPr>
              <a:t>(Switching)</a:t>
            </a:r>
          </a:p>
          <a:p>
            <a:pPr marL="1088390" marR="3620770" indent="8890">
              <a:lnSpc>
                <a:spcPct val="121300"/>
              </a:lnSpc>
              <a:spcBef>
                <a:spcPts val="50"/>
              </a:spcBef>
            </a:pPr>
            <a:r>
              <a:rPr sz="3200" i="1" dirty="0">
                <a:latin typeface="Times New Roman"/>
                <a:cs typeface="Times New Roman"/>
              </a:rPr>
              <a:t>x </a:t>
            </a:r>
            <a:r>
              <a:rPr sz="3200" dirty="0">
                <a:latin typeface="Symbol"/>
                <a:cs typeface="Symbol"/>
              </a:rPr>
              <a:t></a:t>
            </a:r>
            <a:r>
              <a:rPr sz="3200" dirty="0"/>
              <a:t> </a:t>
            </a:r>
            <a:r>
              <a:rPr sz="3200" i="1" dirty="0">
                <a:latin typeface="Times New Roman"/>
                <a:cs typeface="Times New Roman"/>
              </a:rPr>
              <a:t>r </a:t>
            </a:r>
            <a:r>
              <a:rPr sz="3200" spc="-5" dirty="0"/>
              <a:t>cos</a:t>
            </a:r>
            <a:r>
              <a:rPr sz="3350" i="1" spc="-5" dirty="0">
                <a:latin typeface="Symbol"/>
                <a:cs typeface="Symbol"/>
              </a:rPr>
              <a:t></a:t>
            </a:r>
            <a:r>
              <a:rPr sz="3350" i="1" spc="-235" dirty="0"/>
              <a:t> </a:t>
            </a:r>
            <a:r>
              <a:rPr sz="3200" b="1" dirty="0">
                <a:latin typeface="Times New Roman"/>
                <a:cs typeface="Times New Roman"/>
              </a:rPr>
              <a:t>,  y </a:t>
            </a:r>
            <a:r>
              <a:rPr sz="3200" dirty="0">
                <a:latin typeface="Symbol"/>
                <a:cs typeface="Symbol"/>
              </a:rPr>
              <a:t></a:t>
            </a:r>
            <a:r>
              <a:rPr sz="3200" dirty="0"/>
              <a:t> </a:t>
            </a:r>
            <a:r>
              <a:rPr sz="3200" i="1" dirty="0">
                <a:latin typeface="Times New Roman"/>
                <a:cs typeface="Times New Roman"/>
              </a:rPr>
              <a:t>r </a:t>
            </a:r>
            <a:r>
              <a:rPr sz="3200" spc="10" dirty="0"/>
              <a:t>sin</a:t>
            </a:r>
            <a:r>
              <a:rPr sz="3350" i="1" spc="10" dirty="0">
                <a:latin typeface="Symbol"/>
                <a:cs typeface="Symbol"/>
              </a:rPr>
              <a:t></a:t>
            </a:r>
            <a:r>
              <a:rPr sz="3350" i="1" spc="10" dirty="0"/>
              <a:t> </a:t>
            </a:r>
            <a:r>
              <a:rPr sz="3200" dirty="0"/>
              <a:t>;  </a:t>
            </a:r>
            <a:r>
              <a:rPr sz="3200" i="1" dirty="0">
                <a:latin typeface="Times New Roman"/>
                <a:cs typeface="Times New Roman"/>
              </a:rPr>
              <a:t>z </a:t>
            </a:r>
            <a:r>
              <a:rPr sz="3200" dirty="0">
                <a:latin typeface="Symbol"/>
                <a:cs typeface="Symbol"/>
              </a:rPr>
              <a:t></a:t>
            </a:r>
            <a:r>
              <a:rPr sz="3200" spc="210" dirty="0"/>
              <a:t> </a:t>
            </a:r>
            <a:r>
              <a:rPr sz="3200" i="1" dirty="0">
                <a:latin typeface="Times New Roman"/>
                <a:cs typeface="Times New Roman"/>
              </a:rPr>
              <a:t>z</a:t>
            </a:r>
            <a:r>
              <a:rPr sz="3200" dirty="0"/>
              <a:t>;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9394" y="789554"/>
            <a:ext cx="10066867" cy="81817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lang="en-US" sz="2600" spc="10" dirty="0" smtClean="0">
                <a:latin typeface="Times New Roman"/>
                <a:cs typeface="Times New Roman"/>
              </a:rPr>
              <a:t>       </a:t>
            </a:r>
            <a:r>
              <a:rPr sz="2600" spc="10" smtClean="0">
                <a:latin typeface="Times New Roman"/>
                <a:cs typeface="Times New Roman"/>
              </a:rPr>
              <a:t>Cylindrical </a:t>
            </a:r>
            <a:r>
              <a:rPr sz="2600" spc="10" dirty="0">
                <a:latin typeface="Times New Roman"/>
                <a:cs typeface="Times New Roman"/>
              </a:rPr>
              <a:t>coordinates are </a:t>
            </a:r>
            <a:r>
              <a:rPr sz="2600" spc="15" dirty="0">
                <a:latin typeface="Times New Roman"/>
                <a:cs typeface="Times New Roman"/>
              </a:rPr>
              <a:t>good </a:t>
            </a:r>
            <a:r>
              <a:rPr sz="2600" spc="10" dirty="0">
                <a:latin typeface="Times New Roman"/>
                <a:cs typeface="Times New Roman"/>
              </a:rPr>
              <a:t>for describing solids that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are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2600" b="1" i="1" spc="10" dirty="0">
                <a:latin typeface="Times New Roman"/>
                <a:cs typeface="Times New Roman"/>
              </a:rPr>
              <a:t>symmetric </a:t>
            </a:r>
            <a:r>
              <a:rPr sz="2600" b="1" i="1" spc="15" dirty="0">
                <a:latin typeface="Times New Roman"/>
                <a:cs typeface="Times New Roman"/>
              </a:rPr>
              <a:t>around an</a:t>
            </a:r>
            <a:r>
              <a:rPr sz="2600" b="1" i="1" spc="-15" dirty="0">
                <a:latin typeface="Times New Roman"/>
                <a:cs typeface="Times New Roman"/>
              </a:rPr>
              <a:t> </a:t>
            </a:r>
            <a:r>
              <a:rPr sz="2600" b="1" i="1" spc="10" dirty="0">
                <a:latin typeface="Times New Roman"/>
                <a:cs typeface="Times New Roman"/>
              </a:rPr>
              <a:t>axis.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65523" y="1299659"/>
            <a:ext cx="5203632" cy="30134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983316" y="5178651"/>
            <a:ext cx="125461" cy="2936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800" i="1" spc="10" dirty="0">
                <a:latin typeface="Times New Roman"/>
                <a:cs typeface="Times New Roman"/>
              </a:rPr>
              <a:t>z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80556" y="4114991"/>
            <a:ext cx="125461" cy="2936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800" i="1" spc="10" dirty="0">
                <a:latin typeface="Times New Roman"/>
                <a:cs typeface="Times New Roman"/>
              </a:rPr>
              <a:t>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8008" y="3775157"/>
            <a:ext cx="5768879" cy="1840889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875"/>
              </a:spcBef>
              <a:tabLst>
                <a:tab pos="2377440" algn="l"/>
                <a:tab pos="4531360" algn="l"/>
              </a:tabLst>
            </a:pPr>
            <a:r>
              <a:rPr sz="3100" i="1" spc="10" dirty="0">
                <a:latin typeface="Times New Roman"/>
                <a:cs typeface="Times New Roman"/>
              </a:rPr>
              <a:t>r </a:t>
            </a:r>
            <a:r>
              <a:rPr sz="3100" spc="20" dirty="0">
                <a:latin typeface="Symbol"/>
                <a:cs typeface="Symbol"/>
              </a:rPr>
              <a:t></a:t>
            </a:r>
            <a:r>
              <a:rPr sz="3100" spc="20" dirty="0">
                <a:latin typeface="Times New Roman"/>
                <a:cs typeface="Times New Roman"/>
              </a:rPr>
              <a:t> </a:t>
            </a:r>
            <a:r>
              <a:rPr sz="3100" i="1" spc="15" dirty="0">
                <a:latin typeface="Times New Roman"/>
                <a:cs typeface="Times New Roman"/>
              </a:rPr>
              <a:t>cons</a:t>
            </a:r>
            <a:r>
              <a:rPr sz="3100" i="1" spc="-229" dirty="0">
                <a:latin typeface="Times New Roman"/>
                <a:cs typeface="Times New Roman"/>
              </a:rPr>
              <a:t> </a:t>
            </a:r>
            <a:r>
              <a:rPr sz="3100" spc="15" dirty="0">
                <a:latin typeface="Times New Roman"/>
                <a:cs typeface="Times New Roman"/>
              </a:rPr>
              <a:t>tan</a:t>
            </a:r>
            <a:r>
              <a:rPr sz="3100" spc="-360" dirty="0">
                <a:latin typeface="Times New Roman"/>
                <a:cs typeface="Times New Roman"/>
              </a:rPr>
              <a:t> </a:t>
            </a:r>
            <a:r>
              <a:rPr sz="3100" i="1" spc="85" dirty="0">
                <a:latin typeface="Times New Roman"/>
                <a:cs typeface="Times New Roman"/>
              </a:rPr>
              <a:t>t</a:t>
            </a:r>
            <a:r>
              <a:rPr sz="3100" spc="85" dirty="0">
                <a:latin typeface="Times New Roman"/>
                <a:cs typeface="Times New Roman"/>
              </a:rPr>
              <a:t>,	</a:t>
            </a:r>
            <a:r>
              <a:rPr sz="3100" b="1" spc="-415" dirty="0">
                <a:latin typeface="Times New Roman"/>
                <a:cs typeface="Times New Roman"/>
              </a:rPr>
              <a:t>d</a:t>
            </a:r>
            <a:r>
              <a:rPr sz="4650" spc="-622" baseline="36738" dirty="0">
                <a:latin typeface="Arial Black"/>
                <a:cs typeface="Arial Black"/>
              </a:rPr>
              <a:t>r</a:t>
            </a:r>
            <a:r>
              <a:rPr sz="3100" b="1" spc="-415" dirty="0">
                <a:latin typeface="Times New Roman"/>
                <a:cs typeface="Times New Roman"/>
              </a:rPr>
              <a:t>s   </a:t>
            </a:r>
            <a:r>
              <a:rPr sz="3100" spc="20" dirty="0">
                <a:latin typeface="Symbol"/>
                <a:cs typeface="Symbol"/>
              </a:rPr>
              <a:t></a:t>
            </a:r>
            <a:r>
              <a:rPr sz="3100" spc="20" dirty="0">
                <a:latin typeface="Times New Roman"/>
                <a:cs typeface="Times New Roman"/>
              </a:rPr>
              <a:t> </a:t>
            </a:r>
            <a:r>
              <a:rPr sz="3100" i="1" spc="10" dirty="0">
                <a:latin typeface="Times New Roman"/>
                <a:cs typeface="Times New Roman"/>
              </a:rPr>
              <a:t>r</a:t>
            </a:r>
            <a:r>
              <a:rPr sz="3100" i="1" spc="-204" dirty="0">
                <a:latin typeface="Times New Roman"/>
                <a:cs typeface="Times New Roman"/>
              </a:rPr>
              <a:t> </a:t>
            </a:r>
            <a:r>
              <a:rPr sz="3100" i="1" spc="-40" dirty="0">
                <a:latin typeface="Times New Roman"/>
                <a:cs typeface="Times New Roman"/>
              </a:rPr>
              <a:t>d</a:t>
            </a:r>
            <a:r>
              <a:rPr sz="3300" i="1" spc="-40" dirty="0">
                <a:latin typeface="Symbol"/>
                <a:cs typeface="Symbol"/>
              </a:rPr>
              <a:t></a:t>
            </a:r>
            <a:r>
              <a:rPr sz="3300" i="1" spc="190" dirty="0">
                <a:latin typeface="Times New Roman"/>
                <a:cs typeface="Times New Roman"/>
              </a:rPr>
              <a:t> </a:t>
            </a:r>
            <a:r>
              <a:rPr sz="3100" i="1" spc="15" dirty="0">
                <a:latin typeface="Times New Roman"/>
                <a:cs typeface="Times New Roman"/>
              </a:rPr>
              <a:t>dz	</a:t>
            </a:r>
            <a:r>
              <a:rPr sz="3100" i="1" spc="-550" dirty="0">
                <a:latin typeface="Times New Roman"/>
                <a:cs typeface="Times New Roman"/>
              </a:rPr>
              <a:t>a</a:t>
            </a:r>
            <a:r>
              <a:rPr sz="4650" spc="-825" baseline="2688" dirty="0">
                <a:latin typeface="Times New Roman"/>
                <a:cs typeface="Times New Roman"/>
              </a:rPr>
              <a:t>ˆ</a:t>
            </a:r>
            <a:endParaRPr sz="4650" baseline="2688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780"/>
              </a:spcBef>
              <a:tabLst>
                <a:tab pos="2426970" algn="l"/>
              </a:tabLst>
            </a:pPr>
            <a:r>
              <a:rPr sz="3300" i="1" spc="-85" dirty="0">
                <a:latin typeface="Symbol"/>
                <a:cs typeface="Symbol"/>
              </a:rPr>
              <a:t></a:t>
            </a:r>
            <a:r>
              <a:rPr sz="3300" i="1" spc="-85" dirty="0">
                <a:latin typeface="Times New Roman"/>
                <a:cs typeface="Times New Roman"/>
              </a:rPr>
              <a:t>  </a:t>
            </a:r>
            <a:r>
              <a:rPr sz="3100" spc="20" dirty="0">
                <a:latin typeface="Symbol"/>
                <a:cs typeface="Symbol"/>
              </a:rPr>
              <a:t></a:t>
            </a:r>
            <a:r>
              <a:rPr sz="3100" spc="20" dirty="0">
                <a:latin typeface="Times New Roman"/>
                <a:cs typeface="Times New Roman"/>
              </a:rPr>
              <a:t> </a:t>
            </a:r>
            <a:r>
              <a:rPr sz="3100" i="1" spc="15" dirty="0">
                <a:latin typeface="Times New Roman"/>
                <a:cs typeface="Times New Roman"/>
              </a:rPr>
              <a:t>cons</a:t>
            </a:r>
            <a:r>
              <a:rPr sz="3100" i="1" spc="-620" dirty="0">
                <a:latin typeface="Times New Roman"/>
                <a:cs typeface="Times New Roman"/>
              </a:rPr>
              <a:t> </a:t>
            </a:r>
            <a:r>
              <a:rPr sz="3100" spc="15" dirty="0">
                <a:latin typeface="Times New Roman"/>
                <a:cs typeface="Times New Roman"/>
              </a:rPr>
              <a:t>tan</a:t>
            </a:r>
            <a:r>
              <a:rPr sz="3100" spc="-355" dirty="0">
                <a:latin typeface="Times New Roman"/>
                <a:cs typeface="Times New Roman"/>
              </a:rPr>
              <a:t> </a:t>
            </a:r>
            <a:r>
              <a:rPr sz="3100" i="1" spc="80" dirty="0">
                <a:latin typeface="Times New Roman"/>
                <a:cs typeface="Times New Roman"/>
              </a:rPr>
              <a:t>t</a:t>
            </a:r>
            <a:r>
              <a:rPr sz="3100" spc="80" dirty="0">
                <a:latin typeface="Times New Roman"/>
                <a:cs typeface="Times New Roman"/>
              </a:rPr>
              <a:t>,	</a:t>
            </a:r>
            <a:r>
              <a:rPr sz="3100" b="1" spc="-409" dirty="0">
                <a:latin typeface="Times New Roman"/>
                <a:cs typeface="Times New Roman"/>
              </a:rPr>
              <a:t>d</a:t>
            </a:r>
            <a:r>
              <a:rPr sz="4650" spc="-615" baseline="36738" dirty="0">
                <a:latin typeface="Arial Black"/>
                <a:cs typeface="Arial Black"/>
              </a:rPr>
              <a:t>r</a:t>
            </a:r>
            <a:r>
              <a:rPr sz="3100" b="1" spc="-409" dirty="0">
                <a:latin typeface="Times New Roman"/>
                <a:cs typeface="Times New Roman"/>
              </a:rPr>
              <a:t>s </a:t>
            </a:r>
            <a:r>
              <a:rPr sz="3100" spc="20" dirty="0">
                <a:latin typeface="Symbol"/>
                <a:cs typeface="Symbol"/>
              </a:rPr>
              <a:t></a:t>
            </a:r>
            <a:r>
              <a:rPr sz="3100" spc="20" dirty="0">
                <a:latin typeface="Times New Roman"/>
                <a:cs typeface="Times New Roman"/>
              </a:rPr>
              <a:t> </a:t>
            </a:r>
            <a:r>
              <a:rPr sz="3100" i="1" spc="15" dirty="0">
                <a:latin typeface="Times New Roman"/>
                <a:cs typeface="Times New Roman"/>
              </a:rPr>
              <a:t>dr dz</a:t>
            </a:r>
            <a:r>
              <a:rPr sz="3100" i="1" spc="-525" dirty="0">
                <a:latin typeface="Times New Roman"/>
                <a:cs typeface="Times New Roman"/>
              </a:rPr>
              <a:t> </a:t>
            </a:r>
            <a:r>
              <a:rPr sz="3100" i="1" spc="-400" dirty="0">
                <a:latin typeface="Times New Roman"/>
                <a:cs typeface="Times New Roman"/>
              </a:rPr>
              <a:t>a</a:t>
            </a:r>
            <a:r>
              <a:rPr sz="4650" spc="-600" baseline="2688" dirty="0">
                <a:latin typeface="Times New Roman"/>
                <a:cs typeface="Times New Roman"/>
              </a:rPr>
              <a:t>ˆ</a:t>
            </a:r>
            <a:r>
              <a:rPr sz="2850" i="1" spc="-600" baseline="-23391" dirty="0">
                <a:latin typeface="Symbol"/>
                <a:cs typeface="Symbol"/>
              </a:rPr>
              <a:t></a:t>
            </a:r>
            <a:endParaRPr sz="2850" baseline="-23391">
              <a:latin typeface="Symbol"/>
              <a:cs typeface="Symbol"/>
            </a:endParaRPr>
          </a:p>
          <a:p>
            <a:pPr marL="79375">
              <a:lnSpc>
                <a:spcPct val="100000"/>
              </a:lnSpc>
              <a:spcBef>
                <a:spcPts val="790"/>
              </a:spcBef>
              <a:tabLst>
                <a:tab pos="2389505" algn="l"/>
                <a:tab pos="3547745" algn="l"/>
              </a:tabLst>
            </a:pPr>
            <a:r>
              <a:rPr sz="3100" i="1" spc="10" dirty="0">
                <a:latin typeface="Times New Roman"/>
                <a:cs typeface="Times New Roman"/>
              </a:rPr>
              <a:t>z </a:t>
            </a:r>
            <a:r>
              <a:rPr sz="3100" spc="20" dirty="0">
                <a:latin typeface="Symbol"/>
                <a:cs typeface="Symbol"/>
              </a:rPr>
              <a:t></a:t>
            </a:r>
            <a:r>
              <a:rPr sz="3100" spc="20" dirty="0">
                <a:latin typeface="Times New Roman"/>
                <a:cs typeface="Times New Roman"/>
              </a:rPr>
              <a:t> </a:t>
            </a:r>
            <a:r>
              <a:rPr sz="3100" i="1" spc="15" dirty="0">
                <a:latin typeface="Times New Roman"/>
                <a:cs typeface="Times New Roman"/>
              </a:rPr>
              <a:t>cons</a:t>
            </a:r>
            <a:r>
              <a:rPr sz="3100" i="1" spc="-229" dirty="0">
                <a:latin typeface="Times New Roman"/>
                <a:cs typeface="Times New Roman"/>
              </a:rPr>
              <a:t> </a:t>
            </a:r>
            <a:r>
              <a:rPr sz="3100" spc="15" dirty="0">
                <a:latin typeface="Times New Roman"/>
                <a:cs typeface="Times New Roman"/>
              </a:rPr>
              <a:t>tan</a:t>
            </a:r>
            <a:r>
              <a:rPr sz="3100" spc="-360" dirty="0">
                <a:latin typeface="Times New Roman"/>
                <a:cs typeface="Times New Roman"/>
              </a:rPr>
              <a:t> </a:t>
            </a:r>
            <a:r>
              <a:rPr sz="3100" i="1" spc="85" dirty="0">
                <a:latin typeface="Times New Roman"/>
                <a:cs typeface="Times New Roman"/>
              </a:rPr>
              <a:t>t</a:t>
            </a:r>
            <a:r>
              <a:rPr sz="3100" spc="85" dirty="0">
                <a:latin typeface="Times New Roman"/>
                <a:cs typeface="Times New Roman"/>
              </a:rPr>
              <a:t>,	</a:t>
            </a:r>
            <a:r>
              <a:rPr sz="3100" b="1" spc="-409" dirty="0">
                <a:latin typeface="Times New Roman"/>
                <a:cs typeface="Times New Roman"/>
              </a:rPr>
              <a:t>d</a:t>
            </a:r>
            <a:r>
              <a:rPr sz="4650" spc="-615" baseline="35842" dirty="0">
                <a:latin typeface="Arial Black"/>
                <a:cs typeface="Arial Black"/>
              </a:rPr>
              <a:t>r</a:t>
            </a:r>
            <a:r>
              <a:rPr sz="3100" b="1" spc="-409" dirty="0">
                <a:latin typeface="Times New Roman"/>
                <a:cs typeface="Times New Roman"/>
              </a:rPr>
              <a:t>s </a:t>
            </a:r>
            <a:r>
              <a:rPr sz="3100" b="1" spc="-270" dirty="0">
                <a:latin typeface="Times New Roman"/>
                <a:cs typeface="Times New Roman"/>
              </a:rPr>
              <a:t> </a:t>
            </a:r>
            <a:r>
              <a:rPr sz="3100" spc="20" dirty="0">
                <a:latin typeface="Symbol"/>
                <a:cs typeface="Symbol"/>
              </a:rPr>
              <a:t></a:t>
            </a:r>
            <a:r>
              <a:rPr sz="3100" spc="-45" dirty="0">
                <a:latin typeface="Times New Roman"/>
                <a:cs typeface="Times New Roman"/>
              </a:rPr>
              <a:t> </a:t>
            </a:r>
            <a:r>
              <a:rPr sz="3100" i="1" spc="10" dirty="0">
                <a:latin typeface="Times New Roman"/>
                <a:cs typeface="Times New Roman"/>
              </a:rPr>
              <a:t>r	</a:t>
            </a:r>
            <a:r>
              <a:rPr sz="3100" i="1" spc="15" dirty="0">
                <a:latin typeface="Times New Roman"/>
                <a:cs typeface="Times New Roman"/>
              </a:rPr>
              <a:t>dr </a:t>
            </a:r>
            <a:r>
              <a:rPr sz="3100" i="1" spc="-40" dirty="0">
                <a:latin typeface="Times New Roman"/>
                <a:cs typeface="Times New Roman"/>
              </a:rPr>
              <a:t>d</a:t>
            </a:r>
            <a:r>
              <a:rPr sz="3300" i="1" spc="-40" dirty="0">
                <a:latin typeface="Symbol"/>
                <a:cs typeface="Symbol"/>
              </a:rPr>
              <a:t></a:t>
            </a:r>
            <a:r>
              <a:rPr sz="3300" i="1" spc="35" dirty="0">
                <a:latin typeface="Times New Roman"/>
                <a:cs typeface="Times New Roman"/>
              </a:rPr>
              <a:t> </a:t>
            </a:r>
            <a:r>
              <a:rPr sz="3100" i="1" spc="-550" dirty="0">
                <a:latin typeface="Times New Roman"/>
                <a:cs typeface="Times New Roman"/>
              </a:rPr>
              <a:t>a</a:t>
            </a:r>
            <a:r>
              <a:rPr sz="4650" spc="-825" baseline="2688" dirty="0">
                <a:latin typeface="Times New Roman"/>
                <a:cs typeface="Times New Roman"/>
              </a:rPr>
              <a:t>ˆ</a:t>
            </a:r>
            <a:endParaRPr sz="4650" baseline="2688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6449" y="3246792"/>
            <a:ext cx="6414655" cy="2236694"/>
          </a:xfrm>
          <a:custGeom>
            <a:avLst/>
            <a:gdLst/>
            <a:ahLst/>
            <a:cxnLst/>
            <a:rect l="l" t="t" r="r" b="b"/>
            <a:pathLst>
              <a:path w="5292090" h="2534920">
                <a:moveTo>
                  <a:pt x="0" y="0"/>
                </a:moveTo>
                <a:lnTo>
                  <a:pt x="0" y="2534412"/>
                </a:lnTo>
                <a:lnTo>
                  <a:pt x="5292090" y="2534412"/>
                </a:lnTo>
                <a:lnTo>
                  <a:pt x="5292090" y="0"/>
                </a:lnTo>
                <a:lnTo>
                  <a:pt x="0" y="0"/>
                </a:lnTo>
                <a:close/>
              </a:path>
            </a:pathLst>
          </a:custGeom>
          <a:ln w="10477">
            <a:solidFill>
              <a:srgbClr val="3434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267210" y="168311"/>
            <a:ext cx="5595697" cy="55399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500" u="heavy" dirty="0">
                <a:solidFill>
                  <a:srgbClr val="0065FF"/>
                </a:solidFill>
                <a:uFill>
                  <a:solidFill>
                    <a:srgbClr val="0065FF"/>
                  </a:solidFill>
                </a:uFill>
                <a:latin typeface="Arial"/>
                <a:cs typeface="Arial"/>
              </a:rPr>
              <a:t>Cylindrical</a:t>
            </a:r>
            <a:r>
              <a:rPr sz="3500" u="heavy" spc="-50" dirty="0">
                <a:solidFill>
                  <a:srgbClr val="0065FF"/>
                </a:solidFill>
                <a:uFill>
                  <a:solidFill>
                    <a:srgbClr val="0065FF"/>
                  </a:solidFill>
                </a:uFill>
                <a:latin typeface="Arial"/>
                <a:cs typeface="Arial"/>
              </a:rPr>
              <a:t> </a:t>
            </a:r>
            <a:r>
              <a:rPr sz="3500" u="heavy" spc="5" dirty="0">
                <a:solidFill>
                  <a:srgbClr val="0065FF"/>
                </a:solidFill>
                <a:uFill>
                  <a:solidFill>
                    <a:srgbClr val="0065FF"/>
                  </a:solidFill>
                </a:uFill>
                <a:latin typeface="Arial"/>
                <a:cs typeface="Arial"/>
              </a:rPr>
              <a:t>Coordinates</a:t>
            </a:r>
            <a:endParaRPr sz="35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14035" y="6556113"/>
            <a:ext cx="3392824" cy="0"/>
          </a:xfrm>
          <a:custGeom>
            <a:avLst/>
            <a:gdLst/>
            <a:ahLst/>
            <a:cxnLst/>
            <a:rect l="l" t="t" r="r" b="b"/>
            <a:pathLst>
              <a:path w="2799080">
                <a:moveTo>
                  <a:pt x="0" y="0"/>
                </a:moveTo>
                <a:lnTo>
                  <a:pt x="2798826" y="0"/>
                </a:lnTo>
              </a:path>
            </a:pathLst>
          </a:custGeom>
          <a:ln w="144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98677" y="6107698"/>
            <a:ext cx="6429279" cy="45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16735" algn="l"/>
                <a:tab pos="4124960" algn="l"/>
              </a:tabLst>
            </a:pPr>
            <a:r>
              <a:rPr sz="2750" i="1" dirty="0">
                <a:latin typeface="Times New Roman"/>
                <a:cs typeface="Times New Roman"/>
              </a:rPr>
              <a:t>Differential	</a:t>
            </a:r>
            <a:r>
              <a:rPr sz="2750" i="1" spc="-5" dirty="0">
                <a:latin typeface="Times New Roman"/>
                <a:cs typeface="Times New Roman"/>
              </a:rPr>
              <a:t>volume </a:t>
            </a:r>
            <a:r>
              <a:rPr sz="2750" spc="-5" dirty="0">
                <a:latin typeface="Times New Roman"/>
                <a:cs typeface="Times New Roman"/>
              </a:rPr>
              <a:t>: </a:t>
            </a:r>
            <a:r>
              <a:rPr sz="2750" i="1" spc="-5" dirty="0">
                <a:latin typeface="Times New Roman"/>
                <a:cs typeface="Times New Roman"/>
              </a:rPr>
              <a:t>dV</a:t>
            </a:r>
            <a:r>
              <a:rPr sz="2750" i="1" spc="-185" dirty="0">
                <a:latin typeface="Times New Roman"/>
                <a:cs typeface="Times New Roman"/>
              </a:rPr>
              <a:t> </a:t>
            </a:r>
            <a:r>
              <a:rPr sz="2750" spc="-5" dirty="0">
                <a:latin typeface="Symbol"/>
                <a:cs typeface="Symbol"/>
              </a:rPr>
              <a:t></a:t>
            </a:r>
            <a:r>
              <a:rPr sz="2750" spc="10" dirty="0">
                <a:latin typeface="Times New Roman"/>
                <a:cs typeface="Times New Roman"/>
              </a:rPr>
              <a:t> </a:t>
            </a:r>
            <a:r>
              <a:rPr sz="2750" i="1" spc="-5" dirty="0">
                <a:latin typeface="Times New Roman"/>
                <a:cs typeface="Times New Roman"/>
              </a:rPr>
              <a:t>r	dr </a:t>
            </a:r>
            <a:r>
              <a:rPr sz="2750" i="1" spc="-45" dirty="0">
                <a:latin typeface="Times New Roman"/>
                <a:cs typeface="Times New Roman"/>
              </a:rPr>
              <a:t>d</a:t>
            </a:r>
            <a:r>
              <a:rPr sz="2900" i="1" spc="-45" dirty="0">
                <a:latin typeface="Symbol"/>
                <a:cs typeface="Symbol"/>
              </a:rPr>
              <a:t></a:t>
            </a:r>
            <a:r>
              <a:rPr sz="2900" i="1" spc="10" dirty="0">
                <a:latin typeface="Times New Roman"/>
                <a:cs typeface="Times New Roman"/>
              </a:rPr>
              <a:t> </a:t>
            </a:r>
            <a:r>
              <a:rPr sz="2750" i="1" spc="-5" dirty="0">
                <a:latin typeface="Times New Roman"/>
                <a:cs typeface="Times New Roman"/>
              </a:rPr>
              <a:t>dz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98088" y="1608941"/>
            <a:ext cx="4280285" cy="0"/>
          </a:xfrm>
          <a:custGeom>
            <a:avLst/>
            <a:gdLst/>
            <a:ahLst/>
            <a:cxnLst/>
            <a:rect l="l" t="t" r="r" b="b"/>
            <a:pathLst>
              <a:path w="3531235">
                <a:moveTo>
                  <a:pt x="0" y="0"/>
                </a:moveTo>
                <a:lnTo>
                  <a:pt x="3531107" y="0"/>
                </a:lnTo>
              </a:path>
            </a:pathLst>
          </a:custGeom>
          <a:ln w="192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382704" y="1041247"/>
            <a:ext cx="4578156" cy="1125949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2395220" algn="l"/>
              </a:tabLst>
            </a:pPr>
            <a:r>
              <a:rPr sz="3600" i="1" spc="15" dirty="0">
                <a:latin typeface="Times New Roman"/>
                <a:cs typeface="Times New Roman"/>
              </a:rPr>
              <a:t>Differential	</a:t>
            </a:r>
            <a:r>
              <a:rPr sz="3600" i="1" spc="15">
                <a:latin typeface="Times New Roman"/>
                <a:cs typeface="Times New Roman"/>
              </a:rPr>
              <a:t>length</a:t>
            </a:r>
            <a:r>
              <a:rPr sz="3600" i="1" spc="-320">
                <a:latin typeface="Times New Roman"/>
                <a:cs typeface="Times New Roman"/>
              </a:rPr>
              <a:t> </a:t>
            </a:r>
            <a:r>
              <a:rPr lang="en-US" sz="3600" i="1" spc="-320" dirty="0" smtClean="0">
                <a:latin typeface="Times New Roman"/>
                <a:cs typeface="Times New Roman"/>
              </a:rPr>
              <a:t/>
            </a:r>
            <a:br>
              <a:rPr lang="en-US" sz="3600" i="1" spc="-320" dirty="0" smtClean="0">
                <a:latin typeface="Times New Roman"/>
                <a:cs typeface="Times New Roman"/>
              </a:rPr>
            </a:br>
            <a:r>
              <a:rPr sz="3600" spc="10" smtClean="0"/>
              <a:t>: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3592" y="1782521"/>
            <a:ext cx="6318442" cy="112787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00">
              <a:lnSpc>
                <a:spcPts val="2435"/>
              </a:lnSpc>
              <a:spcBef>
                <a:spcPts val="95"/>
              </a:spcBef>
            </a:pPr>
            <a:r>
              <a:rPr sz="3600" b="1" spc="-15" dirty="0">
                <a:latin typeface="Times New Roman"/>
                <a:cs typeface="Times New Roman"/>
              </a:rPr>
              <a:t>d</a:t>
            </a:r>
            <a:r>
              <a:rPr sz="5400" spc="-22" baseline="48611" dirty="0">
                <a:latin typeface="Arial Black"/>
                <a:cs typeface="Arial Black"/>
              </a:rPr>
              <a:t>r </a:t>
            </a:r>
            <a:r>
              <a:rPr sz="3600" spc="20" dirty="0">
                <a:latin typeface="Symbol"/>
                <a:cs typeface="Symbol"/>
              </a:rPr>
              <a:t></a:t>
            </a:r>
            <a:r>
              <a:rPr sz="3600" spc="20" dirty="0">
                <a:latin typeface="Times New Roman"/>
                <a:cs typeface="Times New Roman"/>
              </a:rPr>
              <a:t> </a:t>
            </a:r>
            <a:r>
              <a:rPr sz="3600" i="1" spc="15" dirty="0">
                <a:latin typeface="Times New Roman"/>
                <a:cs typeface="Times New Roman"/>
              </a:rPr>
              <a:t>dr </a:t>
            </a:r>
            <a:r>
              <a:rPr sz="3600" i="1" spc="-545" dirty="0">
                <a:latin typeface="Times New Roman"/>
                <a:cs typeface="Times New Roman"/>
              </a:rPr>
              <a:t>r</a:t>
            </a:r>
            <a:r>
              <a:rPr sz="5400" spc="-817" baseline="2314" dirty="0">
                <a:latin typeface="Times New Roman"/>
                <a:cs typeface="Times New Roman"/>
              </a:rPr>
              <a:t>ˆ </a:t>
            </a:r>
            <a:r>
              <a:rPr sz="3600" spc="20" dirty="0">
                <a:latin typeface="Symbol"/>
                <a:cs typeface="Symbol"/>
              </a:rPr>
              <a:t></a:t>
            </a:r>
            <a:r>
              <a:rPr sz="3600" spc="20" dirty="0">
                <a:latin typeface="Times New Roman"/>
                <a:cs typeface="Times New Roman"/>
              </a:rPr>
              <a:t> </a:t>
            </a:r>
            <a:r>
              <a:rPr sz="3600" i="1" spc="15" dirty="0">
                <a:latin typeface="Times New Roman"/>
                <a:cs typeface="Times New Roman"/>
              </a:rPr>
              <a:t>r </a:t>
            </a:r>
            <a:r>
              <a:rPr sz="3600" i="1" spc="-50" dirty="0">
                <a:latin typeface="Times New Roman"/>
                <a:cs typeface="Times New Roman"/>
              </a:rPr>
              <a:t>d</a:t>
            </a:r>
            <a:r>
              <a:rPr sz="3850" i="1" spc="-50" dirty="0">
                <a:latin typeface="Symbol"/>
                <a:cs typeface="Symbol"/>
              </a:rPr>
              <a:t></a:t>
            </a:r>
            <a:r>
              <a:rPr sz="3850" i="1" spc="-50" dirty="0">
                <a:latin typeface="Times New Roman"/>
                <a:cs typeface="Times New Roman"/>
              </a:rPr>
              <a:t> </a:t>
            </a:r>
            <a:r>
              <a:rPr sz="3850" i="1" spc="-425" dirty="0">
                <a:latin typeface="Symbol"/>
                <a:cs typeface="Symbol"/>
              </a:rPr>
              <a:t></a:t>
            </a:r>
            <a:r>
              <a:rPr sz="5400" spc="-637" baseline="16203" dirty="0">
                <a:latin typeface="Times New Roman"/>
                <a:cs typeface="Times New Roman"/>
              </a:rPr>
              <a:t>ˆ </a:t>
            </a:r>
            <a:r>
              <a:rPr sz="3600" spc="20" dirty="0">
                <a:latin typeface="Symbol"/>
                <a:cs typeface="Symbol"/>
              </a:rPr>
              <a:t></a:t>
            </a:r>
            <a:r>
              <a:rPr sz="3600" spc="20" dirty="0">
                <a:latin typeface="Times New Roman"/>
                <a:cs typeface="Times New Roman"/>
              </a:rPr>
              <a:t> </a:t>
            </a:r>
            <a:r>
              <a:rPr sz="3600" i="1" spc="10" dirty="0">
                <a:latin typeface="Times New Roman"/>
                <a:cs typeface="Times New Roman"/>
              </a:rPr>
              <a:t>d</a:t>
            </a:r>
            <a:r>
              <a:rPr sz="3600" b="1" spc="10" dirty="0">
                <a:latin typeface="Times New Roman"/>
                <a:cs typeface="Times New Roman"/>
              </a:rPr>
              <a:t>z</a:t>
            </a:r>
            <a:r>
              <a:rPr sz="3600" b="1" spc="-254" dirty="0">
                <a:latin typeface="Times New Roman"/>
                <a:cs typeface="Times New Roman"/>
              </a:rPr>
              <a:t> </a:t>
            </a:r>
            <a:r>
              <a:rPr sz="3600" i="1" spc="-580" dirty="0">
                <a:latin typeface="Times New Roman"/>
                <a:cs typeface="Times New Roman"/>
              </a:rPr>
              <a:t>z</a:t>
            </a:r>
            <a:r>
              <a:rPr sz="5400" spc="-869" baseline="1543" dirty="0">
                <a:latin typeface="Times New Roman"/>
                <a:cs typeface="Times New Roman"/>
              </a:rPr>
              <a:t>ˆ</a:t>
            </a:r>
            <a:endParaRPr sz="5400" baseline="1543">
              <a:latin typeface="Times New Roman"/>
              <a:cs typeface="Times New Roman"/>
            </a:endParaRPr>
          </a:p>
          <a:p>
            <a:pPr marL="348615">
              <a:lnSpc>
                <a:spcPts val="2135"/>
              </a:lnSpc>
            </a:pPr>
            <a:r>
              <a:rPr lang="en-US" sz="3600" spc="380" dirty="0" smtClean="0">
                <a:latin typeface="Arial Black"/>
                <a:cs typeface="Arial Black"/>
              </a:rPr>
              <a:t>L</a:t>
            </a:r>
          </a:p>
          <a:p>
            <a:pPr marL="348615">
              <a:lnSpc>
                <a:spcPts val="2135"/>
              </a:lnSpc>
            </a:pPr>
            <a:endParaRPr lang="en-US" sz="3600" i="1" spc="380" dirty="0" smtClean="0">
              <a:latin typeface="Arial Black"/>
              <a:cs typeface="Times New Roman"/>
            </a:endParaRPr>
          </a:p>
          <a:p>
            <a:pPr marL="348615">
              <a:lnSpc>
                <a:spcPts val="2135"/>
              </a:lnSpc>
            </a:pPr>
            <a:r>
              <a:rPr sz="3100" i="1" spc="15" smtClean="0">
                <a:latin typeface="Times New Roman"/>
                <a:cs typeface="Times New Roman"/>
              </a:rPr>
              <a:t>Differential </a:t>
            </a:r>
            <a:r>
              <a:rPr sz="3100" i="1" spc="25" dirty="0">
                <a:latin typeface="Times New Roman"/>
                <a:cs typeface="Times New Roman"/>
              </a:rPr>
              <a:t>surface</a:t>
            </a:r>
            <a:r>
              <a:rPr sz="3100" spc="25" dirty="0">
                <a:latin typeface="Times New Roman"/>
                <a:cs typeface="Times New Roman"/>
              </a:rPr>
              <a:t>(</a:t>
            </a:r>
            <a:r>
              <a:rPr sz="3100" i="1" spc="25" dirty="0">
                <a:latin typeface="Times New Roman"/>
                <a:cs typeface="Times New Roman"/>
              </a:rPr>
              <a:t>dS </a:t>
            </a:r>
            <a:r>
              <a:rPr sz="3100" spc="20" dirty="0">
                <a:latin typeface="Symbol"/>
                <a:cs typeface="Symbol"/>
              </a:rPr>
              <a:t></a:t>
            </a:r>
            <a:r>
              <a:rPr sz="3100" spc="20" dirty="0">
                <a:latin typeface="Times New Roman"/>
                <a:cs typeface="Times New Roman"/>
              </a:rPr>
              <a:t> </a:t>
            </a:r>
            <a:r>
              <a:rPr sz="3100" i="1" spc="15" dirty="0">
                <a:latin typeface="Times New Roman"/>
                <a:cs typeface="Times New Roman"/>
              </a:rPr>
              <a:t>dS </a:t>
            </a:r>
            <a:r>
              <a:rPr sz="3100" i="1" spc="-300" dirty="0">
                <a:latin typeface="Times New Roman"/>
                <a:cs typeface="Times New Roman"/>
              </a:rPr>
              <a:t>n</a:t>
            </a:r>
            <a:r>
              <a:rPr sz="4650" spc="-450" baseline="2688" dirty="0">
                <a:latin typeface="Times New Roman"/>
                <a:cs typeface="Times New Roman"/>
              </a:rPr>
              <a:t>ˆ</a:t>
            </a:r>
            <a:r>
              <a:rPr sz="3100" spc="-300" dirty="0">
                <a:latin typeface="Times New Roman"/>
                <a:cs typeface="Times New Roman"/>
              </a:rPr>
              <a:t>)</a:t>
            </a:r>
            <a:r>
              <a:rPr sz="3100" spc="30" dirty="0">
                <a:latin typeface="Times New Roman"/>
                <a:cs typeface="Times New Roman"/>
              </a:rPr>
              <a:t> </a:t>
            </a:r>
            <a:r>
              <a:rPr sz="3100" spc="10" dirty="0">
                <a:latin typeface="Times New Roman"/>
                <a:cs typeface="Times New Roman"/>
              </a:rPr>
              <a:t>:</a:t>
            </a:r>
            <a:endParaRPr sz="3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861069" y="4416687"/>
            <a:ext cx="3539373" cy="23404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4294967295"/>
          </p:nvPr>
        </p:nvSpPr>
        <p:spPr>
          <a:xfrm>
            <a:off x="11775131" y="6429495"/>
            <a:ext cx="324812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805"/>
              </a:lnSpc>
            </a:pPr>
            <a:fld id="{81D60167-4931-47E6-BA6A-407CBD079E47}" type="slidenum">
              <a:rPr spc="-5" dirty="0"/>
              <a:pPr marL="25400">
                <a:lnSpc>
                  <a:spcPts val="1805"/>
                </a:lnSpc>
              </a:pPr>
              <a:t>21</a:t>
            </a:fld>
            <a:endParaRPr spc="-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5361" y="933828"/>
            <a:ext cx="10363199" cy="302700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17908" y="235547"/>
            <a:ext cx="9895994" cy="55399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500" u="heavy" dirty="0">
                <a:solidFill>
                  <a:srgbClr val="0065FF"/>
                </a:solidFill>
                <a:uFill>
                  <a:solidFill>
                    <a:srgbClr val="0065FF"/>
                  </a:solidFill>
                </a:uFill>
                <a:latin typeface="Arial"/>
                <a:cs typeface="Arial"/>
              </a:rPr>
              <a:t>Triple Integrals </a:t>
            </a:r>
            <a:r>
              <a:rPr sz="3500" u="heavy" spc="5" dirty="0">
                <a:solidFill>
                  <a:srgbClr val="0065FF"/>
                </a:solidFill>
                <a:uFill>
                  <a:solidFill>
                    <a:srgbClr val="0065FF"/>
                  </a:solidFill>
                </a:uFill>
                <a:latin typeface="Arial"/>
                <a:cs typeface="Arial"/>
              </a:rPr>
              <a:t>in </a:t>
            </a:r>
            <a:r>
              <a:rPr sz="3500" u="heavy" dirty="0">
                <a:solidFill>
                  <a:srgbClr val="0065FF"/>
                </a:solidFill>
                <a:uFill>
                  <a:solidFill>
                    <a:srgbClr val="0065FF"/>
                  </a:solidFill>
                </a:uFill>
                <a:latin typeface="Arial"/>
                <a:cs typeface="Arial"/>
              </a:rPr>
              <a:t>Cylindrical</a:t>
            </a:r>
            <a:r>
              <a:rPr sz="3500" u="heavy" spc="15" dirty="0">
                <a:solidFill>
                  <a:srgbClr val="0065FF"/>
                </a:solidFill>
                <a:uFill>
                  <a:solidFill>
                    <a:srgbClr val="0065FF"/>
                  </a:solidFill>
                </a:uFill>
                <a:latin typeface="Arial"/>
                <a:cs typeface="Arial"/>
              </a:rPr>
              <a:t> </a:t>
            </a:r>
            <a:r>
              <a:rPr sz="3500" u="heavy" spc="5" dirty="0">
                <a:solidFill>
                  <a:srgbClr val="0065FF"/>
                </a:solidFill>
                <a:uFill>
                  <a:solidFill>
                    <a:srgbClr val="0065FF"/>
                  </a:solidFill>
                </a:uFill>
                <a:latin typeface="Arial"/>
                <a:cs typeface="Arial"/>
              </a:rPr>
              <a:t>Coordinates</a:t>
            </a:r>
            <a:endParaRPr sz="3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810845" y="5589721"/>
            <a:ext cx="274012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i="1" spc="-95" dirty="0">
                <a:latin typeface="Symbol"/>
                <a:cs typeface="Symbol"/>
              </a:rPr>
              <a:t></a:t>
            </a:r>
            <a:endParaRPr sz="3200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32345" y="5559239"/>
            <a:ext cx="222442" cy="7098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500" spc="5" dirty="0">
                <a:latin typeface="Symbol"/>
                <a:cs typeface="Symbol"/>
              </a:rPr>
              <a:t></a:t>
            </a:r>
            <a:endParaRPr sz="4500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71071" y="5559239"/>
            <a:ext cx="222442" cy="7098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500" spc="5" dirty="0">
                <a:latin typeface="Symbol"/>
                <a:cs typeface="Symbol"/>
              </a:rPr>
              <a:t></a:t>
            </a:r>
            <a:endParaRPr sz="450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89116" y="5559239"/>
            <a:ext cx="222442" cy="7098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500" spc="5" dirty="0">
                <a:latin typeface="Symbol"/>
                <a:cs typeface="Symbol"/>
              </a:rPr>
              <a:t></a:t>
            </a:r>
            <a:endParaRPr sz="450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42021" y="5480760"/>
            <a:ext cx="548794" cy="29944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850" i="1" spc="-45" dirty="0">
                <a:latin typeface="Symbol"/>
                <a:cs typeface="Symbol"/>
              </a:rPr>
              <a:t></a:t>
            </a:r>
            <a:r>
              <a:rPr sz="1850" i="1" spc="-200" dirty="0">
                <a:latin typeface="Times New Roman"/>
                <a:cs typeface="Times New Roman"/>
              </a:rPr>
              <a:t> </a:t>
            </a:r>
            <a:r>
              <a:rPr sz="1750" spc="5" dirty="0">
                <a:latin typeface="Symbol"/>
                <a:cs typeface="Symbol"/>
              </a:rPr>
              <a:t></a:t>
            </a:r>
            <a:r>
              <a:rPr sz="1750" spc="-280" dirty="0">
                <a:latin typeface="Times New Roman"/>
                <a:cs typeface="Times New Roman"/>
              </a:rPr>
              <a:t> </a:t>
            </a:r>
            <a:r>
              <a:rPr sz="1850" i="1" spc="-50" dirty="0">
                <a:latin typeface="Symbol"/>
                <a:cs typeface="Symbol"/>
              </a:rPr>
              <a:t></a:t>
            </a:r>
            <a:endParaRPr sz="185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12760" y="5786492"/>
            <a:ext cx="210127" cy="4770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00" spc="-1070" dirty="0">
                <a:latin typeface="Symbol"/>
                <a:cs typeface="Symbol"/>
              </a:rPr>
              <a:t>⎥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12760" y="5876597"/>
            <a:ext cx="210127" cy="4770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00" spc="-1070" dirty="0">
                <a:latin typeface="Symbol"/>
                <a:cs typeface="Symbol"/>
              </a:rPr>
              <a:t>⎦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412760" y="5458403"/>
            <a:ext cx="210127" cy="4770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00" spc="-1070" dirty="0">
                <a:latin typeface="Symbol"/>
                <a:cs typeface="Symbol"/>
              </a:rPr>
              <a:t>⎤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73664" y="5797250"/>
            <a:ext cx="907473" cy="4770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87375" algn="l"/>
              </a:tabLst>
            </a:pPr>
            <a:r>
              <a:rPr sz="1850" i="1" spc="-45" dirty="0">
                <a:latin typeface="Symbol"/>
                <a:cs typeface="Symbol"/>
              </a:rPr>
              <a:t></a:t>
            </a:r>
            <a:r>
              <a:rPr sz="1850" spc="-150" dirty="0">
                <a:latin typeface="Times New Roman"/>
                <a:cs typeface="Times New Roman"/>
              </a:rPr>
              <a:t> </a:t>
            </a:r>
            <a:r>
              <a:rPr sz="1750" spc="5" dirty="0">
                <a:latin typeface="Symbol"/>
                <a:cs typeface="Symbol"/>
              </a:rPr>
              <a:t></a:t>
            </a:r>
            <a:r>
              <a:rPr sz="1850" i="1" spc="-55" dirty="0">
                <a:latin typeface="Symbol"/>
                <a:cs typeface="Symbol"/>
              </a:rPr>
              <a:t>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4500" spc="-2685" baseline="1851" dirty="0">
                <a:latin typeface="Symbol"/>
                <a:cs typeface="Symbol"/>
              </a:rPr>
              <a:t>⎢</a:t>
            </a:r>
            <a:endParaRPr sz="4500" baseline="1851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71001" y="5876631"/>
            <a:ext cx="210127" cy="4770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00" spc="-1070" dirty="0">
                <a:latin typeface="Symbol"/>
                <a:cs typeface="Symbol"/>
              </a:rPr>
              <a:t>⎣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71001" y="5458436"/>
            <a:ext cx="210127" cy="4770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00" spc="-1070" dirty="0">
                <a:latin typeface="Symbol"/>
                <a:cs typeface="Symbol"/>
              </a:rPr>
              <a:t>⎡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598112" y="5628547"/>
            <a:ext cx="210127" cy="4770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00" spc="-1070" dirty="0">
                <a:latin typeface="Symbol"/>
                <a:cs typeface="Symbol"/>
              </a:rPr>
              <a:t>⎟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598112" y="5848403"/>
            <a:ext cx="210127" cy="4770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00" spc="-1070" dirty="0">
                <a:latin typeface="Symbol"/>
                <a:cs typeface="Symbol"/>
              </a:rPr>
              <a:t>⎠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598112" y="5486664"/>
            <a:ext cx="194733" cy="4770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00" spc="-2235" dirty="0">
                <a:latin typeface="Symbol"/>
                <a:cs typeface="Symbol"/>
              </a:rPr>
              <a:t>⎞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40772" y="5628513"/>
            <a:ext cx="210127" cy="4770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00" spc="-1070" dirty="0">
                <a:latin typeface="Symbol"/>
                <a:cs typeface="Symbol"/>
              </a:rPr>
              <a:t>⎜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840772" y="5486630"/>
            <a:ext cx="210127" cy="4770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00" spc="-1070" dirty="0">
                <a:latin typeface="Symbol"/>
                <a:cs typeface="Symbol"/>
              </a:rPr>
              <a:t>⎛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54569" y="5608995"/>
            <a:ext cx="286327" cy="4770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00" spc="10" dirty="0">
                <a:latin typeface="Symbol"/>
                <a:cs typeface="Symbol"/>
              </a:rPr>
              <a:t>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909721" y="5480760"/>
            <a:ext cx="969818" cy="29944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750" i="1" spc="5" dirty="0">
                <a:latin typeface="Times New Roman"/>
                <a:cs typeface="Times New Roman"/>
              </a:rPr>
              <a:t>r </a:t>
            </a:r>
            <a:r>
              <a:rPr sz="1750" spc="5" dirty="0">
                <a:latin typeface="Symbol"/>
                <a:cs typeface="Symbol"/>
              </a:rPr>
              <a:t></a:t>
            </a:r>
            <a:r>
              <a:rPr sz="1750" spc="5" dirty="0">
                <a:latin typeface="Times New Roman"/>
                <a:cs typeface="Times New Roman"/>
              </a:rPr>
              <a:t> </a:t>
            </a:r>
            <a:r>
              <a:rPr sz="1750" i="1" spc="5" dirty="0">
                <a:latin typeface="Times New Roman"/>
                <a:cs typeface="Times New Roman"/>
              </a:rPr>
              <a:t>g </a:t>
            </a:r>
            <a:r>
              <a:rPr sz="1750" spc="-20" dirty="0">
                <a:latin typeface="Times New Roman"/>
                <a:cs typeface="Times New Roman"/>
              </a:rPr>
              <a:t>(</a:t>
            </a:r>
            <a:r>
              <a:rPr sz="1850" i="1" spc="-20" dirty="0">
                <a:latin typeface="Symbol"/>
                <a:cs typeface="Symbol"/>
              </a:rPr>
              <a:t></a:t>
            </a:r>
            <a:r>
              <a:rPr sz="1850" i="1" spc="-315" dirty="0">
                <a:latin typeface="Times New Roman"/>
                <a:cs typeface="Times New Roman"/>
              </a:rPr>
              <a:t> </a:t>
            </a:r>
            <a:r>
              <a:rPr sz="1750" spc="-150" dirty="0">
                <a:latin typeface="Times New Roman"/>
                <a:cs typeface="Times New Roman"/>
              </a:rPr>
              <a:t>)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841373" y="5927201"/>
            <a:ext cx="984442" cy="29944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750" i="1" spc="75" dirty="0">
                <a:latin typeface="Times New Roman"/>
                <a:cs typeface="Times New Roman"/>
              </a:rPr>
              <a:t>r</a:t>
            </a:r>
            <a:r>
              <a:rPr sz="1750" spc="75" dirty="0">
                <a:latin typeface="Symbol"/>
                <a:cs typeface="Symbol"/>
              </a:rPr>
              <a:t></a:t>
            </a:r>
            <a:r>
              <a:rPr sz="1750" spc="75" dirty="0">
                <a:latin typeface="Times New Roman"/>
                <a:cs typeface="Times New Roman"/>
              </a:rPr>
              <a:t> </a:t>
            </a:r>
            <a:r>
              <a:rPr sz="1750" i="1" spc="5" dirty="0">
                <a:latin typeface="Times New Roman"/>
                <a:cs typeface="Times New Roman"/>
              </a:rPr>
              <a:t>g </a:t>
            </a:r>
            <a:r>
              <a:rPr sz="1750" spc="-25" dirty="0">
                <a:latin typeface="Times New Roman"/>
                <a:cs typeface="Times New Roman"/>
              </a:rPr>
              <a:t>(</a:t>
            </a:r>
            <a:r>
              <a:rPr sz="1850" i="1" spc="-25" dirty="0">
                <a:latin typeface="Symbol"/>
                <a:cs typeface="Symbol"/>
              </a:rPr>
              <a:t></a:t>
            </a:r>
            <a:r>
              <a:rPr sz="1850" i="1" spc="-8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)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335816" y="5480760"/>
            <a:ext cx="1208424" cy="29944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499745" algn="l"/>
              </a:tabLst>
            </a:pPr>
            <a:r>
              <a:rPr sz="1750" i="1" spc="75" dirty="0">
                <a:latin typeface="Times New Roman"/>
                <a:cs typeface="Times New Roman"/>
              </a:rPr>
              <a:t>z</a:t>
            </a:r>
            <a:r>
              <a:rPr sz="1750" spc="75" dirty="0">
                <a:latin typeface="Symbol"/>
                <a:cs typeface="Symbol"/>
              </a:rPr>
              <a:t></a:t>
            </a:r>
            <a:r>
              <a:rPr sz="1750" spc="40" dirty="0">
                <a:latin typeface="Times New Roman"/>
                <a:cs typeface="Times New Roman"/>
              </a:rPr>
              <a:t> </a:t>
            </a:r>
            <a:r>
              <a:rPr sz="1750" i="1" dirty="0">
                <a:latin typeface="Times New Roman"/>
                <a:cs typeface="Times New Roman"/>
              </a:rPr>
              <a:t>f	</a:t>
            </a:r>
            <a:r>
              <a:rPr sz="1750" dirty="0">
                <a:latin typeface="Times New Roman"/>
                <a:cs typeface="Times New Roman"/>
              </a:rPr>
              <a:t>(</a:t>
            </a:r>
            <a:r>
              <a:rPr sz="1750" spc="-275" dirty="0">
                <a:latin typeface="Times New Roman"/>
                <a:cs typeface="Times New Roman"/>
              </a:rPr>
              <a:t> </a:t>
            </a:r>
            <a:r>
              <a:rPr sz="1750" i="1" spc="-5" dirty="0">
                <a:latin typeface="Times New Roman"/>
                <a:cs typeface="Times New Roman"/>
              </a:rPr>
              <a:t>r</a:t>
            </a:r>
            <a:r>
              <a:rPr sz="1750" spc="-5" dirty="0">
                <a:latin typeface="Times New Roman"/>
                <a:cs typeface="Times New Roman"/>
              </a:rPr>
              <a:t>,</a:t>
            </a:r>
            <a:r>
              <a:rPr sz="1850" i="1" spc="-5" dirty="0">
                <a:latin typeface="Symbol"/>
                <a:cs typeface="Symbol"/>
              </a:rPr>
              <a:t></a:t>
            </a:r>
            <a:r>
              <a:rPr sz="1850" i="1" spc="-1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)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266543" y="5927201"/>
            <a:ext cx="1174558" cy="29944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750" i="1" spc="75" dirty="0">
                <a:latin typeface="Times New Roman"/>
                <a:cs typeface="Times New Roman"/>
              </a:rPr>
              <a:t>z</a:t>
            </a:r>
            <a:r>
              <a:rPr sz="1750" spc="75" dirty="0">
                <a:latin typeface="Symbol"/>
                <a:cs typeface="Symbol"/>
              </a:rPr>
              <a:t></a:t>
            </a:r>
            <a:r>
              <a:rPr sz="1750" spc="75" dirty="0">
                <a:latin typeface="Times New Roman"/>
                <a:cs typeface="Times New Roman"/>
              </a:rPr>
              <a:t> </a:t>
            </a:r>
            <a:r>
              <a:rPr sz="1750" i="1" dirty="0">
                <a:latin typeface="Times New Roman"/>
                <a:cs typeface="Times New Roman"/>
              </a:rPr>
              <a:t>f </a:t>
            </a:r>
            <a:r>
              <a:rPr sz="1750" dirty="0">
                <a:latin typeface="Times New Roman"/>
                <a:cs typeface="Times New Roman"/>
              </a:rPr>
              <a:t>( </a:t>
            </a:r>
            <a:r>
              <a:rPr sz="1750" i="1" spc="-5" dirty="0">
                <a:latin typeface="Times New Roman"/>
                <a:cs typeface="Times New Roman"/>
              </a:rPr>
              <a:t>r</a:t>
            </a:r>
            <a:r>
              <a:rPr sz="1750" spc="-5" dirty="0">
                <a:latin typeface="Times New Roman"/>
                <a:cs typeface="Times New Roman"/>
              </a:rPr>
              <a:t>,</a:t>
            </a:r>
            <a:r>
              <a:rPr sz="1850" i="1" spc="-5" dirty="0">
                <a:latin typeface="Symbol"/>
                <a:cs typeface="Symbol"/>
              </a:rPr>
              <a:t></a:t>
            </a:r>
            <a:r>
              <a:rPr sz="1850" i="1" spc="-4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)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357697" y="5597561"/>
            <a:ext cx="127770" cy="20646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5" dirty="0">
                <a:latin typeface="Times New Roman"/>
                <a:cs typeface="Times New Roman"/>
              </a:rPr>
              <a:t>1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783794" y="5597561"/>
            <a:ext cx="127770" cy="20646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5" dirty="0">
                <a:latin typeface="Times New Roman"/>
                <a:cs typeface="Times New Roman"/>
              </a:rPr>
              <a:t>2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288432" y="5848370"/>
            <a:ext cx="1536315" cy="4770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67995" algn="l"/>
                <a:tab pos="1174115" algn="l"/>
              </a:tabLst>
            </a:pPr>
            <a:r>
              <a:rPr sz="1250" spc="5" dirty="0">
                <a:latin typeface="Times New Roman"/>
                <a:cs typeface="Times New Roman"/>
              </a:rPr>
              <a:t>1	</a:t>
            </a:r>
            <a:r>
              <a:rPr sz="3000" spc="-1070" dirty="0">
                <a:latin typeface="Symbol"/>
                <a:cs typeface="Symbol"/>
              </a:rPr>
              <a:t>⎝</a:t>
            </a:r>
            <a:r>
              <a:rPr sz="3000" spc="-1070" dirty="0">
                <a:latin typeface="Times New Roman"/>
                <a:cs typeface="Times New Roman"/>
              </a:rPr>
              <a:t>	</a:t>
            </a:r>
            <a:r>
              <a:rPr sz="1250" spc="5" dirty="0">
                <a:latin typeface="Times New Roman"/>
                <a:cs typeface="Times New Roman"/>
              </a:rPr>
              <a:t>1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59658" y="5589721"/>
            <a:ext cx="3281988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856105" algn="l"/>
                <a:tab pos="2502535" algn="l"/>
              </a:tabLst>
            </a:pPr>
            <a:r>
              <a:rPr sz="3000" i="1" spc="85" dirty="0">
                <a:latin typeface="Times New Roman"/>
                <a:cs typeface="Times New Roman"/>
              </a:rPr>
              <a:t>u</a:t>
            </a:r>
            <a:r>
              <a:rPr sz="3000" spc="150" dirty="0">
                <a:latin typeface="Times New Roman"/>
                <a:cs typeface="Times New Roman"/>
              </a:rPr>
              <a:t>(</a:t>
            </a:r>
            <a:r>
              <a:rPr sz="3000" i="1" spc="70" dirty="0">
                <a:latin typeface="Times New Roman"/>
                <a:cs typeface="Times New Roman"/>
              </a:rPr>
              <a:t>r</a:t>
            </a:r>
            <a:r>
              <a:rPr sz="3000" spc="5" dirty="0">
                <a:latin typeface="Times New Roman"/>
                <a:cs typeface="Times New Roman"/>
              </a:rPr>
              <a:t>,</a:t>
            </a:r>
            <a:r>
              <a:rPr sz="3200" i="1" spc="-95" dirty="0">
                <a:latin typeface="Symbol"/>
                <a:cs typeface="Symbol"/>
              </a:rPr>
              <a:t></a:t>
            </a:r>
            <a:r>
              <a:rPr sz="3200" spc="-440" dirty="0">
                <a:latin typeface="Times New Roman"/>
                <a:cs typeface="Times New Roman"/>
              </a:rPr>
              <a:t> </a:t>
            </a:r>
            <a:r>
              <a:rPr sz="3000" spc="5" dirty="0">
                <a:latin typeface="Times New Roman"/>
                <a:cs typeface="Times New Roman"/>
              </a:rPr>
              <a:t>,</a:t>
            </a:r>
            <a:r>
              <a:rPr sz="3000" spc="-345" dirty="0">
                <a:latin typeface="Times New Roman"/>
                <a:cs typeface="Times New Roman"/>
              </a:rPr>
              <a:t> </a:t>
            </a:r>
            <a:r>
              <a:rPr sz="3000" i="1" spc="165" dirty="0">
                <a:latin typeface="Times New Roman"/>
                <a:cs typeface="Times New Roman"/>
              </a:rPr>
              <a:t>z</a:t>
            </a:r>
            <a:r>
              <a:rPr sz="3000" spc="50" dirty="0">
                <a:latin typeface="Times New Roman"/>
                <a:cs typeface="Times New Roman"/>
              </a:rPr>
              <a:t>)</a:t>
            </a:r>
            <a:r>
              <a:rPr sz="3000" i="1" spc="10" dirty="0">
                <a:latin typeface="Times New Roman"/>
                <a:cs typeface="Times New Roman"/>
              </a:rPr>
              <a:t>dz</a:t>
            </a:r>
            <a:r>
              <a:rPr sz="3000" i="1" dirty="0">
                <a:latin typeface="Times New Roman"/>
                <a:cs typeface="Times New Roman"/>
              </a:rPr>
              <a:t>	</a:t>
            </a:r>
            <a:r>
              <a:rPr sz="3000" i="1" spc="5" dirty="0">
                <a:latin typeface="Times New Roman"/>
                <a:cs typeface="Times New Roman"/>
              </a:rPr>
              <a:t>rdr</a:t>
            </a:r>
            <a:r>
              <a:rPr sz="3000" i="1" dirty="0">
                <a:latin typeface="Times New Roman"/>
                <a:cs typeface="Times New Roman"/>
              </a:rPr>
              <a:t>	</a:t>
            </a:r>
            <a:r>
              <a:rPr sz="3000" i="1" spc="10" dirty="0">
                <a:latin typeface="Times New Roman"/>
                <a:cs typeface="Times New Roman"/>
              </a:rPr>
              <a:t>d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 rot="18420000">
            <a:off x="10486109" y="4811242"/>
            <a:ext cx="1112999" cy="6668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40"/>
              </a:lnSpc>
            </a:pPr>
            <a:r>
              <a:rPr sz="2600" spc="265" dirty="0">
                <a:solidFill>
                  <a:srgbClr val="FF3300"/>
                </a:solidFill>
                <a:latin typeface="Wingdings"/>
                <a:cs typeface="Wingdings"/>
              </a:rPr>
              <a:t>€</a:t>
            </a:r>
            <a:r>
              <a:rPr sz="2600" spc="-1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3900" spc="-22" baseline="1068" dirty="0">
                <a:solidFill>
                  <a:srgbClr val="FF3300"/>
                </a:solidFill>
                <a:latin typeface="Times New Roman"/>
                <a:cs typeface="Times New Roman"/>
              </a:rPr>
              <a:t>z-f</a:t>
            </a:r>
            <a:r>
              <a:rPr sz="3900" spc="-30" baseline="1068" dirty="0">
                <a:solidFill>
                  <a:srgbClr val="FF3300"/>
                </a:solidFill>
                <a:latin typeface="Times New Roman"/>
                <a:cs typeface="Times New Roman"/>
              </a:rPr>
              <a:t>i</a:t>
            </a:r>
            <a:r>
              <a:rPr sz="3900" spc="-22" baseline="1068" dirty="0">
                <a:solidFill>
                  <a:srgbClr val="FF3300"/>
                </a:solidFill>
                <a:latin typeface="Times New Roman"/>
                <a:cs typeface="Times New Roman"/>
              </a:rPr>
              <a:t>r</a:t>
            </a:r>
            <a:r>
              <a:rPr sz="3900" spc="-15" baseline="1068" dirty="0">
                <a:solidFill>
                  <a:srgbClr val="FF3300"/>
                </a:solidFill>
                <a:latin typeface="Times New Roman"/>
                <a:cs typeface="Times New Roman"/>
              </a:rPr>
              <a:t>s</a:t>
            </a:r>
            <a:r>
              <a:rPr sz="3900" spc="15" baseline="2136" dirty="0">
                <a:solidFill>
                  <a:srgbClr val="FF3300"/>
                </a:solidFill>
                <a:latin typeface="Times New Roman"/>
                <a:cs typeface="Times New Roman"/>
              </a:rPr>
              <a:t>t</a:t>
            </a:r>
            <a:endParaRPr sz="3900" baseline="2136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 rot="19500000">
            <a:off x="10285931" y="6195764"/>
            <a:ext cx="1474138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40"/>
              </a:lnSpc>
            </a:pPr>
            <a:r>
              <a:rPr sz="2600" spc="-20" dirty="0">
                <a:solidFill>
                  <a:srgbClr val="FF3300"/>
                </a:solidFill>
                <a:latin typeface="Symbol"/>
                <a:cs typeface="Symbol"/>
              </a:rPr>
              <a:t></a:t>
            </a:r>
            <a:r>
              <a:rPr sz="2600" spc="-20" dirty="0">
                <a:solidFill>
                  <a:srgbClr val="FF3300"/>
                </a:solidFill>
                <a:latin typeface="Times New Roman"/>
                <a:cs typeface="Times New Roman"/>
              </a:rPr>
              <a:t>-</a:t>
            </a:r>
            <a:r>
              <a:rPr sz="3900" spc="-30" baseline="1068" dirty="0">
                <a:solidFill>
                  <a:srgbClr val="FF3300"/>
                </a:solidFill>
                <a:latin typeface="Times New Roman"/>
                <a:cs typeface="Times New Roman"/>
              </a:rPr>
              <a:t>last</a:t>
            </a:r>
            <a:r>
              <a:rPr sz="3900" spc="-135" baseline="1068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3900" spc="397" baseline="2136" dirty="0">
                <a:solidFill>
                  <a:srgbClr val="FF3300"/>
                </a:solidFill>
                <a:latin typeface="Wingdings"/>
                <a:cs typeface="Wingdings"/>
              </a:rPr>
              <a:t>€</a:t>
            </a:r>
            <a:endParaRPr sz="3900" baseline="2136">
              <a:latin typeface="Wingdings"/>
              <a:cs typeface="Wingdings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407294" y="3874770"/>
            <a:ext cx="5988242" cy="361949"/>
          </a:xfrm>
          <a:custGeom>
            <a:avLst/>
            <a:gdLst/>
            <a:ahLst/>
            <a:cxnLst/>
            <a:rect l="l" t="t" r="r" b="b"/>
            <a:pathLst>
              <a:path w="4940300" h="410210">
                <a:moveTo>
                  <a:pt x="76200" y="273558"/>
                </a:moveTo>
                <a:lnTo>
                  <a:pt x="76200" y="258318"/>
                </a:lnTo>
                <a:lnTo>
                  <a:pt x="63500" y="266700"/>
                </a:lnTo>
                <a:lnTo>
                  <a:pt x="50800" y="284226"/>
                </a:lnTo>
                <a:lnTo>
                  <a:pt x="38100" y="302514"/>
                </a:lnTo>
                <a:lnTo>
                  <a:pt x="25400" y="320040"/>
                </a:lnTo>
                <a:lnTo>
                  <a:pt x="12700" y="338328"/>
                </a:lnTo>
                <a:lnTo>
                  <a:pt x="0" y="355854"/>
                </a:lnTo>
                <a:lnTo>
                  <a:pt x="0" y="361950"/>
                </a:lnTo>
                <a:lnTo>
                  <a:pt x="12700" y="344424"/>
                </a:lnTo>
                <a:lnTo>
                  <a:pt x="25400" y="326136"/>
                </a:lnTo>
                <a:lnTo>
                  <a:pt x="38100" y="308610"/>
                </a:lnTo>
                <a:lnTo>
                  <a:pt x="76200" y="273558"/>
                </a:lnTo>
                <a:close/>
              </a:path>
              <a:path w="4940300" h="410210">
                <a:moveTo>
                  <a:pt x="4902200" y="246887"/>
                </a:moveTo>
                <a:lnTo>
                  <a:pt x="4902200" y="233933"/>
                </a:lnTo>
                <a:lnTo>
                  <a:pt x="4889500" y="226313"/>
                </a:lnTo>
                <a:lnTo>
                  <a:pt x="4838700" y="211073"/>
                </a:lnTo>
                <a:lnTo>
                  <a:pt x="4838700" y="207263"/>
                </a:lnTo>
                <a:lnTo>
                  <a:pt x="4826000" y="204215"/>
                </a:lnTo>
                <a:lnTo>
                  <a:pt x="4787900" y="196595"/>
                </a:lnTo>
                <a:lnTo>
                  <a:pt x="4775200" y="193547"/>
                </a:lnTo>
                <a:lnTo>
                  <a:pt x="4749800" y="185927"/>
                </a:lnTo>
                <a:lnTo>
                  <a:pt x="4724400" y="182879"/>
                </a:lnTo>
                <a:lnTo>
                  <a:pt x="4711700" y="179069"/>
                </a:lnTo>
                <a:lnTo>
                  <a:pt x="4686300" y="176021"/>
                </a:lnTo>
                <a:lnTo>
                  <a:pt x="4673600" y="172211"/>
                </a:lnTo>
                <a:lnTo>
                  <a:pt x="4622800" y="166115"/>
                </a:lnTo>
                <a:lnTo>
                  <a:pt x="4597400" y="162305"/>
                </a:lnTo>
                <a:lnTo>
                  <a:pt x="4584700" y="159257"/>
                </a:lnTo>
                <a:lnTo>
                  <a:pt x="4546600" y="156209"/>
                </a:lnTo>
                <a:lnTo>
                  <a:pt x="4470400" y="147065"/>
                </a:lnTo>
                <a:lnTo>
                  <a:pt x="4432300" y="144017"/>
                </a:lnTo>
                <a:lnTo>
                  <a:pt x="4406900" y="140207"/>
                </a:lnTo>
                <a:lnTo>
                  <a:pt x="4254500" y="128015"/>
                </a:lnTo>
                <a:lnTo>
                  <a:pt x="4203700" y="124967"/>
                </a:lnTo>
                <a:lnTo>
                  <a:pt x="4165600" y="121919"/>
                </a:lnTo>
                <a:lnTo>
                  <a:pt x="4114800" y="118109"/>
                </a:lnTo>
                <a:lnTo>
                  <a:pt x="4076700" y="115061"/>
                </a:lnTo>
                <a:lnTo>
                  <a:pt x="3771900" y="96773"/>
                </a:lnTo>
                <a:lnTo>
                  <a:pt x="3721100" y="92963"/>
                </a:lnTo>
                <a:lnTo>
                  <a:pt x="3657600" y="89915"/>
                </a:lnTo>
                <a:lnTo>
                  <a:pt x="3556000" y="83819"/>
                </a:lnTo>
                <a:lnTo>
                  <a:pt x="3441700" y="78485"/>
                </a:lnTo>
                <a:lnTo>
                  <a:pt x="3314700" y="72389"/>
                </a:lnTo>
                <a:lnTo>
                  <a:pt x="3200400" y="66293"/>
                </a:lnTo>
                <a:lnTo>
                  <a:pt x="3086100" y="60959"/>
                </a:lnTo>
                <a:lnTo>
                  <a:pt x="2959100" y="55626"/>
                </a:lnTo>
                <a:lnTo>
                  <a:pt x="2717800" y="44958"/>
                </a:lnTo>
                <a:lnTo>
                  <a:pt x="2603500" y="40386"/>
                </a:lnTo>
                <a:lnTo>
                  <a:pt x="2476500" y="35814"/>
                </a:lnTo>
                <a:lnTo>
                  <a:pt x="2247900" y="26670"/>
                </a:lnTo>
                <a:lnTo>
                  <a:pt x="2133600" y="22860"/>
                </a:lnTo>
                <a:lnTo>
                  <a:pt x="2082800" y="21336"/>
                </a:lnTo>
                <a:lnTo>
                  <a:pt x="2019300" y="19050"/>
                </a:lnTo>
                <a:lnTo>
                  <a:pt x="1663700" y="8382"/>
                </a:lnTo>
                <a:lnTo>
                  <a:pt x="1625600" y="7620"/>
                </a:lnTo>
                <a:lnTo>
                  <a:pt x="1574800" y="6096"/>
                </a:lnTo>
                <a:lnTo>
                  <a:pt x="1536700" y="5334"/>
                </a:lnTo>
                <a:lnTo>
                  <a:pt x="1485900" y="4572"/>
                </a:lnTo>
                <a:lnTo>
                  <a:pt x="1371600" y="2286"/>
                </a:lnTo>
                <a:lnTo>
                  <a:pt x="1346200" y="1524"/>
                </a:lnTo>
                <a:lnTo>
                  <a:pt x="1308100" y="1524"/>
                </a:lnTo>
                <a:lnTo>
                  <a:pt x="1270000" y="762"/>
                </a:lnTo>
                <a:lnTo>
                  <a:pt x="1244600" y="762"/>
                </a:lnTo>
                <a:lnTo>
                  <a:pt x="1219200" y="0"/>
                </a:lnTo>
                <a:lnTo>
                  <a:pt x="1130300" y="0"/>
                </a:lnTo>
                <a:lnTo>
                  <a:pt x="1104900" y="762"/>
                </a:lnTo>
                <a:lnTo>
                  <a:pt x="1054100" y="762"/>
                </a:lnTo>
                <a:lnTo>
                  <a:pt x="1028700" y="1524"/>
                </a:lnTo>
                <a:lnTo>
                  <a:pt x="1003300" y="1524"/>
                </a:lnTo>
                <a:lnTo>
                  <a:pt x="977900" y="2286"/>
                </a:lnTo>
                <a:lnTo>
                  <a:pt x="939800" y="3810"/>
                </a:lnTo>
                <a:lnTo>
                  <a:pt x="889000" y="5334"/>
                </a:lnTo>
                <a:lnTo>
                  <a:pt x="850900" y="6858"/>
                </a:lnTo>
                <a:lnTo>
                  <a:pt x="825500" y="9144"/>
                </a:lnTo>
                <a:lnTo>
                  <a:pt x="787400" y="11430"/>
                </a:lnTo>
                <a:lnTo>
                  <a:pt x="762000" y="13716"/>
                </a:lnTo>
                <a:lnTo>
                  <a:pt x="723900" y="16764"/>
                </a:lnTo>
                <a:lnTo>
                  <a:pt x="673100" y="22860"/>
                </a:lnTo>
                <a:lnTo>
                  <a:pt x="647700" y="26670"/>
                </a:lnTo>
                <a:lnTo>
                  <a:pt x="622300" y="29718"/>
                </a:lnTo>
                <a:lnTo>
                  <a:pt x="609600" y="33528"/>
                </a:lnTo>
                <a:lnTo>
                  <a:pt x="584200" y="38100"/>
                </a:lnTo>
                <a:lnTo>
                  <a:pt x="571500" y="41910"/>
                </a:lnTo>
                <a:lnTo>
                  <a:pt x="546100" y="46482"/>
                </a:lnTo>
                <a:lnTo>
                  <a:pt x="495300" y="60198"/>
                </a:lnTo>
                <a:lnTo>
                  <a:pt x="457200" y="70866"/>
                </a:lnTo>
                <a:lnTo>
                  <a:pt x="431800" y="80772"/>
                </a:lnTo>
                <a:lnTo>
                  <a:pt x="393700" y="91440"/>
                </a:lnTo>
                <a:lnTo>
                  <a:pt x="368300" y="96774"/>
                </a:lnTo>
                <a:lnTo>
                  <a:pt x="355600" y="102870"/>
                </a:lnTo>
                <a:lnTo>
                  <a:pt x="330200" y="108204"/>
                </a:lnTo>
                <a:lnTo>
                  <a:pt x="317500" y="114300"/>
                </a:lnTo>
                <a:lnTo>
                  <a:pt x="279400" y="126492"/>
                </a:lnTo>
                <a:lnTo>
                  <a:pt x="254000" y="133350"/>
                </a:lnTo>
                <a:lnTo>
                  <a:pt x="203200" y="160782"/>
                </a:lnTo>
                <a:lnTo>
                  <a:pt x="190500" y="168402"/>
                </a:lnTo>
                <a:lnTo>
                  <a:pt x="165100" y="176022"/>
                </a:lnTo>
                <a:lnTo>
                  <a:pt x="165100" y="183642"/>
                </a:lnTo>
                <a:lnTo>
                  <a:pt x="152400" y="191262"/>
                </a:lnTo>
                <a:lnTo>
                  <a:pt x="139700" y="199644"/>
                </a:lnTo>
                <a:lnTo>
                  <a:pt x="127000" y="207264"/>
                </a:lnTo>
                <a:lnTo>
                  <a:pt x="101600" y="224028"/>
                </a:lnTo>
                <a:lnTo>
                  <a:pt x="88900" y="240792"/>
                </a:lnTo>
                <a:lnTo>
                  <a:pt x="76200" y="249174"/>
                </a:lnTo>
                <a:lnTo>
                  <a:pt x="76200" y="265176"/>
                </a:lnTo>
                <a:lnTo>
                  <a:pt x="101600" y="240030"/>
                </a:lnTo>
                <a:lnTo>
                  <a:pt x="114300" y="231648"/>
                </a:lnTo>
                <a:lnTo>
                  <a:pt x="127000" y="224028"/>
                </a:lnTo>
                <a:lnTo>
                  <a:pt x="127000" y="215646"/>
                </a:lnTo>
                <a:lnTo>
                  <a:pt x="190500" y="177546"/>
                </a:lnTo>
                <a:lnTo>
                  <a:pt x="203200" y="170688"/>
                </a:lnTo>
                <a:lnTo>
                  <a:pt x="215900" y="163068"/>
                </a:lnTo>
                <a:lnTo>
                  <a:pt x="241300" y="149352"/>
                </a:lnTo>
                <a:lnTo>
                  <a:pt x="266700" y="143256"/>
                </a:lnTo>
                <a:lnTo>
                  <a:pt x="279400" y="136398"/>
                </a:lnTo>
                <a:lnTo>
                  <a:pt x="292100" y="130302"/>
                </a:lnTo>
                <a:lnTo>
                  <a:pt x="317500" y="124206"/>
                </a:lnTo>
                <a:lnTo>
                  <a:pt x="330200" y="118110"/>
                </a:lnTo>
                <a:lnTo>
                  <a:pt x="368300" y="107442"/>
                </a:lnTo>
                <a:lnTo>
                  <a:pt x="393700" y="102108"/>
                </a:lnTo>
                <a:lnTo>
                  <a:pt x="431800" y="90678"/>
                </a:lnTo>
                <a:lnTo>
                  <a:pt x="533400" y="60960"/>
                </a:lnTo>
                <a:lnTo>
                  <a:pt x="546100" y="56388"/>
                </a:lnTo>
                <a:lnTo>
                  <a:pt x="571500" y="52578"/>
                </a:lnTo>
                <a:lnTo>
                  <a:pt x="584200" y="48006"/>
                </a:lnTo>
                <a:lnTo>
                  <a:pt x="635000" y="40386"/>
                </a:lnTo>
                <a:lnTo>
                  <a:pt x="647700" y="36576"/>
                </a:lnTo>
                <a:lnTo>
                  <a:pt x="673100" y="33528"/>
                </a:lnTo>
                <a:lnTo>
                  <a:pt x="698500" y="29718"/>
                </a:lnTo>
                <a:lnTo>
                  <a:pt x="723900" y="26670"/>
                </a:lnTo>
                <a:lnTo>
                  <a:pt x="762000" y="24384"/>
                </a:lnTo>
                <a:lnTo>
                  <a:pt x="787400" y="21336"/>
                </a:lnTo>
                <a:lnTo>
                  <a:pt x="825500" y="19050"/>
                </a:lnTo>
                <a:lnTo>
                  <a:pt x="863600" y="17526"/>
                </a:lnTo>
                <a:lnTo>
                  <a:pt x="901700" y="15240"/>
                </a:lnTo>
                <a:lnTo>
                  <a:pt x="939800" y="13716"/>
                </a:lnTo>
                <a:lnTo>
                  <a:pt x="977900" y="12954"/>
                </a:lnTo>
                <a:lnTo>
                  <a:pt x="1028700" y="11430"/>
                </a:lnTo>
                <a:lnTo>
                  <a:pt x="1079500" y="11430"/>
                </a:lnTo>
                <a:lnTo>
                  <a:pt x="1104900" y="10668"/>
                </a:lnTo>
                <a:lnTo>
                  <a:pt x="1244600" y="10668"/>
                </a:lnTo>
                <a:lnTo>
                  <a:pt x="1270000" y="11430"/>
                </a:lnTo>
                <a:lnTo>
                  <a:pt x="1308100" y="11430"/>
                </a:lnTo>
                <a:lnTo>
                  <a:pt x="1346200" y="12192"/>
                </a:lnTo>
                <a:lnTo>
                  <a:pt x="1371600" y="12954"/>
                </a:lnTo>
                <a:lnTo>
                  <a:pt x="1485900" y="15240"/>
                </a:lnTo>
                <a:lnTo>
                  <a:pt x="1574800" y="16764"/>
                </a:lnTo>
                <a:lnTo>
                  <a:pt x="1625600" y="18288"/>
                </a:lnTo>
                <a:lnTo>
                  <a:pt x="1663700" y="19050"/>
                </a:lnTo>
                <a:lnTo>
                  <a:pt x="2070100" y="31242"/>
                </a:lnTo>
                <a:lnTo>
                  <a:pt x="2133600" y="33528"/>
                </a:lnTo>
                <a:lnTo>
                  <a:pt x="2247900" y="37338"/>
                </a:lnTo>
                <a:lnTo>
                  <a:pt x="2362200" y="41910"/>
                </a:lnTo>
                <a:lnTo>
                  <a:pt x="2476500" y="45720"/>
                </a:lnTo>
                <a:lnTo>
                  <a:pt x="2603500" y="51054"/>
                </a:lnTo>
                <a:lnTo>
                  <a:pt x="2717800" y="55626"/>
                </a:lnTo>
                <a:lnTo>
                  <a:pt x="3200400" y="76961"/>
                </a:lnTo>
                <a:lnTo>
                  <a:pt x="3314700" y="83057"/>
                </a:lnTo>
                <a:lnTo>
                  <a:pt x="3441700" y="88391"/>
                </a:lnTo>
                <a:lnTo>
                  <a:pt x="3556000" y="94487"/>
                </a:lnTo>
                <a:lnTo>
                  <a:pt x="3657600" y="100583"/>
                </a:lnTo>
                <a:lnTo>
                  <a:pt x="3721100" y="103631"/>
                </a:lnTo>
                <a:lnTo>
                  <a:pt x="3873500" y="112775"/>
                </a:lnTo>
                <a:lnTo>
                  <a:pt x="3924300" y="116585"/>
                </a:lnTo>
                <a:lnTo>
                  <a:pt x="4076700" y="125729"/>
                </a:lnTo>
                <a:lnTo>
                  <a:pt x="4114800" y="128777"/>
                </a:lnTo>
                <a:lnTo>
                  <a:pt x="4165600" y="131825"/>
                </a:lnTo>
                <a:lnTo>
                  <a:pt x="4203700" y="134873"/>
                </a:lnTo>
                <a:lnTo>
                  <a:pt x="4254500" y="138683"/>
                </a:lnTo>
                <a:lnTo>
                  <a:pt x="4406900" y="150875"/>
                </a:lnTo>
                <a:lnTo>
                  <a:pt x="4432300" y="153923"/>
                </a:lnTo>
                <a:lnTo>
                  <a:pt x="4470400" y="156971"/>
                </a:lnTo>
                <a:lnTo>
                  <a:pt x="4495800" y="160781"/>
                </a:lnTo>
                <a:lnTo>
                  <a:pt x="4622800" y="176021"/>
                </a:lnTo>
                <a:lnTo>
                  <a:pt x="4648200" y="179831"/>
                </a:lnTo>
                <a:lnTo>
                  <a:pt x="4673600" y="182879"/>
                </a:lnTo>
                <a:lnTo>
                  <a:pt x="4686300" y="185927"/>
                </a:lnTo>
                <a:lnTo>
                  <a:pt x="4711700" y="189737"/>
                </a:lnTo>
                <a:lnTo>
                  <a:pt x="4724400" y="192785"/>
                </a:lnTo>
                <a:lnTo>
                  <a:pt x="4749800" y="196595"/>
                </a:lnTo>
                <a:lnTo>
                  <a:pt x="4762500" y="199643"/>
                </a:lnTo>
                <a:lnTo>
                  <a:pt x="4787900" y="207263"/>
                </a:lnTo>
                <a:lnTo>
                  <a:pt x="4800600" y="210311"/>
                </a:lnTo>
                <a:lnTo>
                  <a:pt x="4826000" y="217931"/>
                </a:lnTo>
                <a:lnTo>
                  <a:pt x="4838700" y="220979"/>
                </a:lnTo>
                <a:lnTo>
                  <a:pt x="4864100" y="228599"/>
                </a:lnTo>
                <a:lnTo>
                  <a:pt x="4876800" y="236219"/>
                </a:lnTo>
                <a:lnTo>
                  <a:pt x="4889500" y="240029"/>
                </a:lnTo>
                <a:lnTo>
                  <a:pt x="4889500" y="243077"/>
                </a:lnTo>
                <a:lnTo>
                  <a:pt x="4902200" y="246887"/>
                </a:lnTo>
                <a:close/>
              </a:path>
              <a:path w="4940300" h="410210">
                <a:moveTo>
                  <a:pt x="4848746" y="363542"/>
                </a:moveTo>
                <a:lnTo>
                  <a:pt x="4826000" y="331469"/>
                </a:lnTo>
                <a:lnTo>
                  <a:pt x="4775200" y="409955"/>
                </a:lnTo>
                <a:lnTo>
                  <a:pt x="4826000" y="406526"/>
                </a:lnTo>
                <a:lnTo>
                  <a:pt x="4826000" y="374903"/>
                </a:lnTo>
                <a:lnTo>
                  <a:pt x="4838700" y="371093"/>
                </a:lnTo>
                <a:lnTo>
                  <a:pt x="4838700" y="369569"/>
                </a:lnTo>
                <a:lnTo>
                  <a:pt x="4848746" y="363542"/>
                </a:lnTo>
                <a:close/>
              </a:path>
              <a:path w="4940300" h="410210">
                <a:moveTo>
                  <a:pt x="4838700" y="379475"/>
                </a:moveTo>
                <a:lnTo>
                  <a:pt x="4838700" y="371093"/>
                </a:lnTo>
                <a:lnTo>
                  <a:pt x="4826000" y="374903"/>
                </a:lnTo>
                <a:lnTo>
                  <a:pt x="4838700" y="379475"/>
                </a:lnTo>
                <a:close/>
              </a:path>
              <a:path w="4940300" h="410210">
                <a:moveTo>
                  <a:pt x="4876800" y="403097"/>
                </a:moveTo>
                <a:lnTo>
                  <a:pt x="4853188" y="369806"/>
                </a:lnTo>
                <a:lnTo>
                  <a:pt x="4851400" y="371093"/>
                </a:lnTo>
                <a:lnTo>
                  <a:pt x="4838700" y="378713"/>
                </a:lnTo>
                <a:lnTo>
                  <a:pt x="4838700" y="379475"/>
                </a:lnTo>
                <a:lnTo>
                  <a:pt x="4826000" y="374903"/>
                </a:lnTo>
                <a:lnTo>
                  <a:pt x="4826000" y="406526"/>
                </a:lnTo>
                <a:lnTo>
                  <a:pt x="4876800" y="403097"/>
                </a:lnTo>
                <a:close/>
              </a:path>
              <a:path w="4940300" h="410210">
                <a:moveTo>
                  <a:pt x="4853188" y="369806"/>
                </a:moveTo>
                <a:lnTo>
                  <a:pt x="4848746" y="363542"/>
                </a:lnTo>
                <a:lnTo>
                  <a:pt x="4838700" y="369569"/>
                </a:lnTo>
                <a:lnTo>
                  <a:pt x="4838700" y="378713"/>
                </a:lnTo>
                <a:lnTo>
                  <a:pt x="4851400" y="371093"/>
                </a:lnTo>
                <a:lnTo>
                  <a:pt x="4853188" y="369806"/>
                </a:lnTo>
                <a:close/>
              </a:path>
              <a:path w="4940300" h="410210">
                <a:moveTo>
                  <a:pt x="4902200" y="336041"/>
                </a:moveTo>
                <a:lnTo>
                  <a:pt x="4902200" y="324611"/>
                </a:lnTo>
                <a:lnTo>
                  <a:pt x="4889500" y="328421"/>
                </a:lnTo>
                <a:lnTo>
                  <a:pt x="4889500" y="336803"/>
                </a:lnTo>
                <a:lnTo>
                  <a:pt x="4851400" y="361949"/>
                </a:lnTo>
                <a:lnTo>
                  <a:pt x="4848746" y="363542"/>
                </a:lnTo>
                <a:lnTo>
                  <a:pt x="4853188" y="369806"/>
                </a:lnTo>
                <a:lnTo>
                  <a:pt x="4864100" y="361949"/>
                </a:lnTo>
                <a:lnTo>
                  <a:pt x="4889500" y="345185"/>
                </a:lnTo>
                <a:lnTo>
                  <a:pt x="4902200" y="336041"/>
                </a:lnTo>
                <a:close/>
              </a:path>
              <a:path w="4940300" h="410210">
                <a:moveTo>
                  <a:pt x="4914900" y="254507"/>
                </a:moveTo>
                <a:lnTo>
                  <a:pt x="4914900" y="242315"/>
                </a:lnTo>
                <a:lnTo>
                  <a:pt x="4902200" y="238505"/>
                </a:lnTo>
                <a:lnTo>
                  <a:pt x="4902200" y="250697"/>
                </a:lnTo>
                <a:lnTo>
                  <a:pt x="4914900" y="254507"/>
                </a:lnTo>
                <a:close/>
              </a:path>
              <a:path w="4940300" h="410210">
                <a:moveTo>
                  <a:pt x="4914900" y="327659"/>
                </a:moveTo>
                <a:lnTo>
                  <a:pt x="4914900" y="312419"/>
                </a:lnTo>
                <a:lnTo>
                  <a:pt x="4902200" y="320039"/>
                </a:lnTo>
                <a:lnTo>
                  <a:pt x="4902200" y="331469"/>
                </a:lnTo>
                <a:lnTo>
                  <a:pt x="4914900" y="327659"/>
                </a:lnTo>
                <a:close/>
              </a:path>
              <a:path w="4940300" h="410210">
                <a:moveTo>
                  <a:pt x="4927600" y="268985"/>
                </a:moveTo>
                <a:lnTo>
                  <a:pt x="4927600" y="254507"/>
                </a:lnTo>
                <a:lnTo>
                  <a:pt x="4914900" y="250697"/>
                </a:lnTo>
                <a:lnTo>
                  <a:pt x="4914900" y="265175"/>
                </a:lnTo>
                <a:lnTo>
                  <a:pt x="4927600" y="268985"/>
                </a:lnTo>
                <a:close/>
              </a:path>
              <a:path w="4940300" h="410210">
                <a:moveTo>
                  <a:pt x="4927600" y="313943"/>
                </a:moveTo>
                <a:lnTo>
                  <a:pt x="4927600" y="293369"/>
                </a:lnTo>
                <a:lnTo>
                  <a:pt x="4914900" y="296417"/>
                </a:lnTo>
                <a:lnTo>
                  <a:pt x="4914900" y="318515"/>
                </a:lnTo>
                <a:lnTo>
                  <a:pt x="4927600" y="313943"/>
                </a:lnTo>
                <a:close/>
              </a:path>
              <a:path w="4940300" h="410210">
                <a:moveTo>
                  <a:pt x="4940300" y="286511"/>
                </a:moveTo>
                <a:lnTo>
                  <a:pt x="4940300" y="277367"/>
                </a:lnTo>
                <a:lnTo>
                  <a:pt x="4927600" y="263651"/>
                </a:lnTo>
                <a:lnTo>
                  <a:pt x="4927600" y="291845"/>
                </a:lnTo>
                <a:lnTo>
                  <a:pt x="4940300" y="286511"/>
                </a:lnTo>
                <a:close/>
              </a:path>
            </a:pathLst>
          </a:custGeom>
          <a:solidFill>
            <a:srgbClr val="FF34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925157" y="4184052"/>
            <a:ext cx="1158394" cy="177053"/>
          </a:xfrm>
          <a:custGeom>
            <a:avLst/>
            <a:gdLst/>
            <a:ahLst/>
            <a:cxnLst/>
            <a:rect l="l" t="t" r="r" b="b"/>
            <a:pathLst>
              <a:path w="955675" h="200660">
                <a:moveTo>
                  <a:pt x="955547" y="200406"/>
                </a:moveTo>
                <a:lnTo>
                  <a:pt x="949261" y="161663"/>
                </a:lnTo>
                <a:lnTo>
                  <a:pt x="932116" y="129921"/>
                </a:lnTo>
                <a:lnTo>
                  <a:pt x="906684" y="108465"/>
                </a:lnTo>
                <a:lnTo>
                  <a:pt x="875537" y="100584"/>
                </a:lnTo>
                <a:lnTo>
                  <a:pt x="557021" y="100584"/>
                </a:lnTo>
                <a:lnTo>
                  <a:pt x="526315" y="92690"/>
                </a:lnTo>
                <a:lnTo>
                  <a:pt x="501110" y="71151"/>
                </a:lnTo>
                <a:lnTo>
                  <a:pt x="484048" y="39183"/>
                </a:lnTo>
                <a:lnTo>
                  <a:pt x="477773" y="0"/>
                </a:lnTo>
                <a:lnTo>
                  <a:pt x="471487" y="39183"/>
                </a:lnTo>
                <a:lnTo>
                  <a:pt x="454342" y="71151"/>
                </a:lnTo>
                <a:lnTo>
                  <a:pt x="428910" y="92690"/>
                </a:lnTo>
                <a:lnTo>
                  <a:pt x="397763" y="100584"/>
                </a:lnTo>
                <a:lnTo>
                  <a:pt x="80009" y="100584"/>
                </a:lnTo>
                <a:lnTo>
                  <a:pt x="48863" y="108465"/>
                </a:lnTo>
                <a:lnTo>
                  <a:pt x="23431" y="129921"/>
                </a:lnTo>
                <a:lnTo>
                  <a:pt x="6286" y="161663"/>
                </a:lnTo>
                <a:lnTo>
                  <a:pt x="0" y="200406"/>
                </a:lnTo>
              </a:path>
            </a:pathLst>
          </a:custGeom>
          <a:ln w="10477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962043" y="4184052"/>
            <a:ext cx="1157624" cy="177053"/>
          </a:xfrm>
          <a:custGeom>
            <a:avLst/>
            <a:gdLst/>
            <a:ahLst/>
            <a:cxnLst/>
            <a:rect l="l" t="t" r="r" b="b"/>
            <a:pathLst>
              <a:path w="955040" h="200660">
                <a:moveTo>
                  <a:pt x="954786" y="200406"/>
                </a:moveTo>
                <a:lnTo>
                  <a:pt x="948618" y="161663"/>
                </a:lnTo>
                <a:lnTo>
                  <a:pt x="931735" y="129921"/>
                </a:lnTo>
                <a:lnTo>
                  <a:pt x="906565" y="108465"/>
                </a:lnTo>
                <a:lnTo>
                  <a:pt x="875538" y="100584"/>
                </a:lnTo>
                <a:lnTo>
                  <a:pt x="557022" y="100584"/>
                </a:lnTo>
                <a:lnTo>
                  <a:pt x="525994" y="92690"/>
                </a:lnTo>
                <a:lnTo>
                  <a:pt x="500824" y="71151"/>
                </a:lnTo>
                <a:lnTo>
                  <a:pt x="483941" y="39183"/>
                </a:lnTo>
                <a:lnTo>
                  <a:pt x="477774" y="0"/>
                </a:lnTo>
                <a:lnTo>
                  <a:pt x="471487" y="39183"/>
                </a:lnTo>
                <a:lnTo>
                  <a:pt x="454342" y="71151"/>
                </a:lnTo>
                <a:lnTo>
                  <a:pt x="428910" y="92690"/>
                </a:lnTo>
                <a:lnTo>
                  <a:pt x="397764" y="100584"/>
                </a:lnTo>
                <a:lnTo>
                  <a:pt x="79248" y="100584"/>
                </a:lnTo>
                <a:lnTo>
                  <a:pt x="48541" y="108465"/>
                </a:lnTo>
                <a:lnTo>
                  <a:pt x="23336" y="129921"/>
                </a:lnTo>
                <a:lnTo>
                  <a:pt x="6274" y="161663"/>
                </a:lnTo>
                <a:lnTo>
                  <a:pt x="0" y="200406"/>
                </a:lnTo>
              </a:path>
            </a:pathLst>
          </a:custGeom>
          <a:ln w="10477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487053" y="4609651"/>
            <a:ext cx="6011949" cy="4262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246283" y="4620410"/>
            <a:ext cx="6328448" cy="600635"/>
          </a:xfrm>
          <a:custGeom>
            <a:avLst/>
            <a:gdLst/>
            <a:ahLst/>
            <a:cxnLst/>
            <a:rect l="l" t="t" r="r" b="b"/>
            <a:pathLst>
              <a:path w="5220970" h="680720">
                <a:moveTo>
                  <a:pt x="260604" y="16001"/>
                </a:moveTo>
                <a:lnTo>
                  <a:pt x="246888" y="0"/>
                </a:lnTo>
                <a:lnTo>
                  <a:pt x="230886" y="13715"/>
                </a:lnTo>
                <a:lnTo>
                  <a:pt x="244602" y="29718"/>
                </a:lnTo>
                <a:lnTo>
                  <a:pt x="260604" y="16001"/>
                </a:lnTo>
                <a:close/>
              </a:path>
              <a:path w="5220970" h="680720">
                <a:moveTo>
                  <a:pt x="228600" y="43434"/>
                </a:moveTo>
                <a:lnTo>
                  <a:pt x="214884" y="27432"/>
                </a:lnTo>
                <a:lnTo>
                  <a:pt x="202692" y="38100"/>
                </a:lnTo>
                <a:lnTo>
                  <a:pt x="198882" y="41148"/>
                </a:lnTo>
                <a:lnTo>
                  <a:pt x="212598" y="57150"/>
                </a:lnTo>
                <a:lnTo>
                  <a:pt x="216408" y="54101"/>
                </a:lnTo>
                <a:lnTo>
                  <a:pt x="228600" y="43434"/>
                </a:lnTo>
                <a:close/>
              </a:path>
              <a:path w="5220970" h="680720">
                <a:moveTo>
                  <a:pt x="196596" y="70103"/>
                </a:moveTo>
                <a:lnTo>
                  <a:pt x="182880" y="54863"/>
                </a:lnTo>
                <a:lnTo>
                  <a:pt x="180594" y="56387"/>
                </a:lnTo>
                <a:lnTo>
                  <a:pt x="166878" y="68580"/>
                </a:lnTo>
                <a:lnTo>
                  <a:pt x="181356" y="84582"/>
                </a:lnTo>
                <a:lnTo>
                  <a:pt x="194310" y="72389"/>
                </a:lnTo>
                <a:lnTo>
                  <a:pt x="196596" y="70103"/>
                </a:lnTo>
                <a:close/>
              </a:path>
              <a:path w="5220970" h="680720">
                <a:moveTo>
                  <a:pt x="165354" y="98298"/>
                </a:moveTo>
                <a:lnTo>
                  <a:pt x="151638" y="82296"/>
                </a:lnTo>
                <a:lnTo>
                  <a:pt x="138684" y="93725"/>
                </a:lnTo>
                <a:lnTo>
                  <a:pt x="135636" y="96774"/>
                </a:lnTo>
                <a:lnTo>
                  <a:pt x="150114" y="112013"/>
                </a:lnTo>
                <a:lnTo>
                  <a:pt x="153162" y="109727"/>
                </a:lnTo>
                <a:lnTo>
                  <a:pt x="165354" y="98298"/>
                </a:lnTo>
                <a:close/>
              </a:path>
              <a:path w="5220970" h="680720">
                <a:moveTo>
                  <a:pt x="105918" y="155448"/>
                </a:moveTo>
                <a:lnTo>
                  <a:pt x="90678" y="140970"/>
                </a:lnTo>
                <a:lnTo>
                  <a:pt x="82296" y="150113"/>
                </a:lnTo>
                <a:lnTo>
                  <a:pt x="76200" y="156972"/>
                </a:lnTo>
                <a:lnTo>
                  <a:pt x="91440" y="170687"/>
                </a:lnTo>
                <a:lnTo>
                  <a:pt x="97536" y="164591"/>
                </a:lnTo>
                <a:lnTo>
                  <a:pt x="105918" y="155448"/>
                </a:lnTo>
                <a:close/>
              </a:path>
              <a:path w="5220970" h="680720">
                <a:moveTo>
                  <a:pt x="134874" y="126491"/>
                </a:moveTo>
                <a:lnTo>
                  <a:pt x="120396" y="111251"/>
                </a:lnTo>
                <a:lnTo>
                  <a:pt x="118872" y="112775"/>
                </a:lnTo>
                <a:lnTo>
                  <a:pt x="108966" y="121920"/>
                </a:lnTo>
                <a:lnTo>
                  <a:pt x="105156" y="125730"/>
                </a:lnTo>
                <a:lnTo>
                  <a:pt x="120396" y="140970"/>
                </a:lnTo>
                <a:lnTo>
                  <a:pt x="123443" y="137160"/>
                </a:lnTo>
                <a:lnTo>
                  <a:pt x="133350" y="128015"/>
                </a:lnTo>
                <a:lnTo>
                  <a:pt x="134874" y="126491"/>
                </a:lnTo>
                <a:close/>
              </a:path>
              <a:path w="5220970" h="680720">
                <a:moveTo>
                  <a:pt x="78486" y="185927"/>
                </a:moveTo>
                <a:lnTo>
                  <a:pt x="61722" y="172974"/>
                </a:lnTo>
                <a:lnTo>
                  <a:pt x="57912" y="178308"/>
                </a:lnTo>
                <a:lnTo>
                  <a:pt x="50292" y="187451"/>
                </a:lnTo>
                <a:lnTo>
                  <a:pt x="48768" y="189737"/>
                </a:lnTo>
                <a:lnTo>
                  <a:pt x="65532" y="201930"/>
                </a:lnTo>
                <a:lnTo>
                  <a:pt x="67056" y="200406"/>
                </a:lnTo>
                <a:lnTo>
                  <a:pt x="73914" y="191262"/>
                </a:lnTo>
                <a:lnTo>
                  <a:pt x="78486" y="185927"/>
                </a:lnTo>
                <a:close/>
              </a:path>
              <a:path w="5220970" h="680720">
                <a:moveTo>
                  <a:pt x="53340" y="218694"/>
                </a:moveTo>
                <a:lnTo>
                  <a:pt x="35814" y="207263"/>
                </a:lnTo>
                <a:lnTo>
                  <a:pt x="31242" y="214884"/>
                </a:lnTo>
                <a:lnTo>
                  <a:pt x="25146" y="224027"/>
                </a:lnTo>
                <a:lnTo>
                  <a:pt x="24384" y="225551"/>
                </a:lnTo>
                <a:lnTo>
                  <a:pt x="42672" y="235458"/>
                </a:lnTo>
                <a:lnTo>
                  <a:pt x="43434" y="234696"/>
                </a:lnTo>
                <a:lnTo>
                  <a:pt x="48006" y="226313"/>
                </a:lnTo>
                <a:lnTo>
                  <a:pt x="53340" y="218694"/>
                </a:lnTo>
                <a:close/>
              </a:path>
              <a:path w="5220970" h="680720">
                <a:moveTo>
                  <a:pt x="33528" y="253746"/>
                </a:moveTo>
                <a:lnTo>
                  <a:pt x="14478" y="244601"/>
                </a:lnTo>
                <a:lnTo>
                  <a:pt x="11430" y="251460"/>
                </a:lnTo>
                <a:lnTo>
                  <a:pt x="7620" y="260603"/>
                </a:lnTo>
                <a:lnTo>
                  <a:pt x="6096" y="265938"/>
                </a:lnTo>
                <a:lnTo>
                  <a:pt x="26670" y="272034"/>
                </a:lnTo>
                <a:lnTo>
                  <a:pt x="27432" y="268224"/>
                </a:lnTo>
                <a:lnTo>
                  <a:pt x="30480" y="259841"/>
                </a:lnTo>
                <a:lnTo>
                  <a:pt x="33528" y="253746"/>
                </a:lnTo>
                <a:close/>
              </a:path>
              <a:path w="5220970" h="680720">
                <a:moveTo>
                  <a:pt x="22098" y="291846"/>
                </a:moveTo>
                <a:lnTo>
                  <a:pt x="22098" y="291084"/>
                </a:lnTo>
                <a:lnTo>
                  <a:pt x="1524" y="287274"/>
                </a:lnTo>
                <a:lnTo>
                  <a:pt x="762" y="288036"/>
                </a:lnTo>
                <a:lnTo>
                  <a:pt x="0" y="297180"/>
                </a:lnTo>
                <a:lnTo>
                  <a:pt x="0" y="310896"/>
                </a:lnTo>
                <a:lnTo>
                  <a:pt x="20574" y="309426"/>
                </a:lnTo>
                <a:lnTo>
                  <a:pt x="20574" y="307086"/>
                </a:lnTo>
                <a:lnTo>
                  <a:pt x="22098" y="291846"/>
                </a:lnTo>
                <a:close/>
              </a:path>
              <a:path w="5220970" h="680720">
                <a:moveTo>
                  <a:pt x="21336" y="309372"/>
                </a:moveTo>
                <a:lnTo>
                  <a:pt x="20574" y="307086"/>
                </a:lnTo>
                <a:lnTo>
                  <a:pt x="20574" y="309426"/>
                </a:lnTo>
                <a:lnTo>
                  <a:pt x="21336" y="309372"/>
                </a:lnTo>
                <a:close/>
              </a:path>
              <a:path w="5220970" h="680720">
                <a:moveTo>
                  <a:pt x="31242" y="345186"/>
                </a:moveTo>
                <a:lnTo>
                  <a:pt x="29718" y="342900"/>
                </a:lnTo>
                <a:lnTo>
                  <a:pt x="26670" y="336041"/>
                </a:lnTo>
                <a:lnTo>
                  <a:pt x="24384" y="329184"/>
                </a:lnTo>
                <a:lnTo>
                  <a:pt x="24384" y="328422"/>
                </a:lnTo>
                <a:lnTo>
                  <a:pt x="3810" y="332994"/>
                </a:lnTo>
                <a:lnTo>
                  <a:pt x="3810" y="333756"/>
                </a:lnTo>
                <a:lnTo>
                  <a:pt x="6858" y="342900"/>
                </a:lnTo>
                <a:lnTo>
                  <a:pt x="10668" y="351282"/>
                </a:lnTo>
                <a:lnTo>
                  <a:pt x="12192" y="355091"/>
                </a:lnTo>
                <a:lnTo>
                  <a:pt x="31242" y="345186"/>
                </a:lnTo>
                <a:close/>
              </a:path>
              <a:path w="5220970" h="680720">
                <a:moveTo>
                  <a:pt x="54102" y="375665"/>
                </a:moveTo>
                <a:lnTo>
                  <a:pt x="49530" y="371094"/>
                </a:lnTo>
                <a:lnTo>
                  <a:pt x="43434" y="364236"/>
                </a:lnTo>
                <a:lnTo>
                  <a:pt x="41148" y="361188"/>
                </a:lnTo>
                <a:lnTo>
                  <a:pt x="24384" y="374141"/>
                </a:lnTo>
                <a:lnTo>
                  <a:pt x="26670" y="377189"/>
                </a:lnTo>
                <a:lnTo>
                  <a:pt x="34290" y="384810"/>
                </a:lnTo>
                <a:lnTo>
                  <a:pt x="39624" y="390906"/>
                </a:lnTo>
                <a:lnTo>
                  <a:pt x="54102" y="375665"/>
                </a:lnTo>
                <a:close/>
              </a:path>
              <a:path w="5220970" h="680720">
                <a:moveTo>
                  <a:pt x="85343" y="400050"/>
                </a:moveTo>
                <a:lnTo>
                  <a:pt x="83820" y="399288"/>
                </a:lnTo>
                <a:lnTo>
                  <a:pt x="73914" y="392430"/>
                </a:lnTo>
                <a:lnTo>
                  <a:pt x="69342" y="388620"/>
                </a:lnTo>
                <a:lnTo>
                  <a:pt x="56388" y="405384"/>
                </a:lnTo>
                <a:lnTo>
                  <a:pt x="60960" y="408432"/>
                </a:lnTo>
                <a:lnTo>
                  <a:pt x="71628" y="416051"/>
                </a:lnTo>
                <a:lnTo>
                  <a:pt x="73914" y="418338"/>
                </a:lnTo>
                <a:lnTo>
                  <a:pt x="85343" y="400050"/>
                </a:lnTo>
                <a:close/>
              </a:path>
              <a:path w="5220970" h="680720">
                <a:moveTo>
                  <a:pt x="121158" y="420624"/>
                </a:moveTo>
                <a:lnTo>
                  <a:pt x="119634" y="419862"/>
                </a:lnTo>
                <a:lnTo>
                  <a:pt x="106680" y="413003"/>
                </a:lnTo>
                <a:lnTo>
                  <a:pt x="102870" y="410718"/>
                </a:lnTo>
                <a:lnTo>
                  <a:pt x="92202" y="429006"/>
                </a:lnTo>
                <a:lnTo>
                  <a:pt x="96012" y="431291"/>
                </a:lnTo>
                <a:lnTo>
                  <a:pt x="109728" y="438150"/>
                </a:lnTo>
                <a:lnTo>
                  <a:pt x="112014" y="438912"/>
                </a:lnTo>
                <a:lnTo>
                  <a:pt x="121158" y="420624"/>
                </a:lnTo>
                <a:close/>
              </a:path>
              <a:path w="5220970" h="680720">
                <a:moveTo>
                  <a:pt x="158496" y="436625"/>
                </a:moveTo>
                <a:lnTo>
                  <a:pt x="147828" y="432815"/>
                </a:lnTo>
                <a:lnTo>
                  <a:pt x="139446" y="429006"/>
                </a:lnTo>
                <a:lnTo>
                  <a:pt x="131064" y="448056"/>
                </a:lnTo>
                <a:lnTo>
                  <a:pt x="139446" y="451865"/>
                </a:lnTo>
                <a:lnTo>
                  <a:pt x="150876" y="456438"/>
                </a:lnTo>
                <a:lnTo>
                  <a:pt x="158496" y="436625"/>
                </a:lnTo>
                <a:close/>
              </a:path>
              <a:path w="5220970" h="680720">
                <a:moveTo>
                  <a:pt x="197358" y="451103"/>
                </a:moveTo>
                <a:lnTo>
                  <a:pt x="181356" y="445770"/>
                </a:lnTo>
                <a:lnTo>
                  <a:pt x="177546" y="444246"/>
                </a:lnTo>
                <a:lnTo>
                  <a:pt x="170688" y="464058"/>
                </a:lnTo>
                <a:lnTo>
                  <a:pt x="173736" y="465582"/>
                </a:lnTo>
                <a:lnTo>
                  <a:pt x="190500" y="470915"/>
                </a:lnTo>
                <a:lnTo>
                  <a:pt x="197358" y="451103"/>
                </a:lnTo>
                <a:close/>
              </a:path>
              <a:path w="5220970" h="680720">
                <a:moveTo>
                  <a:pt x="236982" y="463296"/>
                </a:moveTo>
                <a:lnTo>
                  <a:pt x="228600" y="461010"/>
                </a:lnTo>
                <a:lnTo>
                  <a:pt x="218694" y="457962"/>
                </a:lnTo>
                <a:lnTo>
                  <a:pt x="217170" y="457200"/>
                </a:lnTo>
                <a:lnTo>
                  <a:pt x="211074" y="477774"/>
                </a:lnTo>
                <a:lnTo>
                  <a:pt x="212598" y="477774"/>
                </a:lnTo>
                <a:lnTo>
                  <a:pt x="222504" y="481584"/>
                </a:lnTo>
                <a:lnTo>
                  <a:pt x="230886" y="483870"/>
                </a:lnTo>
                <a:lnTo>
                  <a:pt x="236982" y="463296"/>
                </a:lnTo>
                <a:close/>
              </a:path>
              <a:path w="5220970" h="680720">
                <a:moveTo>
                  <a:pt x="277368" y="473963"/>
                </a:moveTo>
                <a:lnTo>
                  <a:pt x="272034" y="473201"/>
                </a:lnTo>
                <a:lnTo>
                  <a:pt x="261366" y="470153"/>
                </a:lnTo>
                <a:lnTo>
                  <a:pt x="256794" y="468630"/>
                </a:lnTo>
                <a:lnTo>
                  <a:pt x="251460" y="489203"/>
                </a:lnTo>
                <a:lnTo>
                  <a:pt x="255270" y="489965"/>
                </a:lnTo>
                <a:lnTo>
                  <a:pt x="267462" y="493013"/>
                </a:lnTo>
                <a:lnTo>
                  <a:pt x="272034" y="494538"/>
                </a:lnTo>
                <a:lnTo>
                  <a:pt x="277368" y="473963"/>
                </a:lnTo>
                <a:close/>
              </a:path>
              <a:path w="5220970" h="680720">
                <a:moveTo>
                  <a:pt x="317754" y="483870"/>
                </a:moveTo>
                <a:lnTo>
                  <a:pt x="307848" y="481584"/>
                </a:lnTo>
                <a:lnTo>
                  <a:pt x="297180" y="479298"/>
                </a:lnTo>
                <a:lnTo>
                  <a:pt x="292608" y="499110"/>
                </a:lnTo>
                <a:lnTo>
                  <a:pt x="303276" y="502158"/>
                </a:lnTo>
                <a:lnTo>
                  <a:pt x="313182" y="504444"/>
                </a:lnTo>
                <a:lnTo>
                  <a:pt x="317754" y="483870"/>
                </a:lnTo>
                <a:close/>
              </a:path>
              <a:path w="5220970" h="680720">
                <a:moveTo>
                  <a:pt x="358140" y="492251"/>
                </a:moveTo>
                <a:lnTo>
                  <a:pt x="346710" y="489965"/>
                </a:lnTo>
                <a:lnTo>
                  <a:pt x="337566" y="488441"/>
                </a:lnTo>
                <a:lnTo>
                  <a:pt x="333756" y="509015"/>
                </a:lnTo>
                <a:lnTo>
                  <a:pt x="342138" y="510539"/>
                </a:lnTo>
                <a:lnTo>
                  <a:pt x="354330" y="512825"/>
                </a:lnTo>
                <a:lnTo>
                  <a:pt x="358140" y="492251"/>
                </a:lnTo>
                <a:close/>
              </a:path>
              <a:path w="5220970" h="680720">
                <a:moveTo>
                  <a:pt x="399288" y="499872"/>
                </a:moveTo>
                <a:lnTo>
                  <a:pt x="387858" y="497586"/>
                </a:lnTo>
                <a:lnTo>
                  <a:pt x="378714" y="496062"/>
                </a:lnTo>
                <a:lnTo>
                  <a:pt x="374904" y="516636"/>
                </a:lnTo>
                <a:lnTo>
                  <a:pt x="384048" y="518160"/>
                </a:lnTo>
                <a:lnTo>
                  <a:pt x="395478" y="520446"/>
                </a:lnTo>
                <a:lnTo>
                  <a:pt x="399288" y="499872"/>
                </a:lnTo>
                <a:close/>
              </a:path>
              <a:path w="5220970" h="680720">
                <a:moveTo>
                  <a:pt x="440436" y="506730"/>
                </a:moveTo>
                <a:lnTo>
                  <a:pt x="432054" y="505968"/>
                </a:lnTo>
                <a:lnTo>
                  <a:pt x="419862" y="503682"/>
                </a:lnTo>
                <a:lnTo>
                  <a:pt x="416052" y="524256"/>
                </a:lnTo>
                <a:lnTo>
                  <a:pt x="428244" y="526541"/>
                </a:lnTo>
                <a:lnTo>
                  <a:pt x="437388" y="527303"/>
                </a:lnTo>
                <a:lnTo>
                  <a:pt x="440436" y="506730"/>
                </a:lnTo>
                <a:close/>
              </a:path>
              <a:path w="5220970" h="680720">
                <a:moveTo>
                  <a:pt x="481584" y="513588"/>
                </a:moveTo>
                <a:lnTo>
                  <a:pt x="480060" y="513588"/>
                </a:lnTo>
                <a:lnTo>
                  <a:pt x="461010" y="510539"/>
                </a:lnTo>
                <a:lnTo>
                  <a:pt x="457962" y="531113"/>
                </a:lnTo>
                <a:lnTo>
                  <a:pt x="476250" y="534162"/>
                </a:lnTo>
                <a:lnTo>
                  <a:pt x="478536" y="534162"/>
                </a:lnTo>
                <a:lnTo>
                  <a:pt x="481584" y="513588"/>
                </a:lnTo>
                <a:close/>
              </a:path>
              <a:path w="5220970" h="680720">
                <a:moveTo>
                  <a:pt x="522732" y="518922"/>
                </a:moveTo>
                <a:lnTo>
                  <a:pt x="514350" y="518160"/>
                </a:lnTo>
                <a:lnTo>
                  <a:pt x="502158" y="516636"/>
                </a:lnTo>
                <a:lnTo>
                  <a:pt x="499110" y="537210"/>
                </a:lnTo>
                <a:lnTo>
                  <a:pt x="511302" y="538734"/>
                </a:lnTo>
                <a:lnTo>
                  <a:pt x="520446" y="540258"/>
                </a:lnTo>
                <a:lnTo>
                  <a:pt x="522732" y="518922"/>
                </a:lnTo>
                <a:close/>
              </a:path>
              <a:path w="5220970" h="680720">
                <a:moveTo>
                  <a:pt x="564642" y="524256"/>
                </a:moveTo>
                <a:lnTo>
                  <a:pt x="551688" y="522732"/>
                </a:lnTo>
                <a:lnTo>
                  <a:pt x="544068" y="521970"/>
                </a:lnTo>
                <a:lnTo>
                  <a:pt x="541020" y="542544"/>
                </a:lnTo>
                <a:lnTo>
                  <a:pt x="548640" y="544068"/>
                </a:lnTo>
                <a:lnTo>
                  <a:pt x="562356" y="545591"/>
                </a:lnTo>
                <a:lnTo>
                  <a:pt x="564642" y="524256"/>
                </a:lnTo>
                <a:close/>
              </a:path>
              <a:path w="5220970" h="680720">
                <a:moveTo>
                  <a:pt x="605790" y="529589"/>
                </a:moveTo>
                <a:lnTo>
                  <a:pt x="590550" y="528065"/>
                </a:lnTo>
                <a:lnTo>
                  <a:pt x="585216" y="527303"/>
                </a:lnTo>
                <a:lnTo>
                  <a:pt x="582930" y="547877"/>
                </a:lnTo>
                <a:lnTo>
                  <a:pt x="588264" y="548639"/>
                </a:lnTo>
                <a:lnTo>
                  <a:pt x="603504" y="550163"/>
                </a:lnTo>
                <a:lnTo>
                  <a:pt x="605790" y="529589"/>
                </a:lnTo>
                <a:close/>
              </a:path>
              <a:path w="5220970" h="680720">
                <a:moveTo>
                  <a:pt x="647700" y="534162"/>
                </a:moveTo>
                <a:lnTo>
                  <a:pt x="632460" y="532638"/>
                </a:lnTo>
                <a:lnTo>
                  <a:pt x="627126" y="531876"/>
                </a:lnTo>
                <a:lnTo>
                  <a:pt x="624840" y="553212"/>
                </a:lnTo>
                <a:lnTo>
                  <a:pt x="630174" y="553212"/>
                </a:lnTo>
                <a:lnTo>
                  <a:pt x="645414" y="555498"/>
                </a:lnTo>
                <a:lnTo>
                  <a:pt x="647700" y="534162"/>
                </a:lnTo>
                <a:close/>
              </a:path>
              <a:path w="5220970" h="680720">
                <a:moveTo>
                  <a:pt x="689610" y="538734"/>
                </a:moveTo>
                <a:lnTo>
                  <a:pt x="675894" y="537210"/>
                </a:lnTo>
                <a:lnTo>
                  <a:pt x="668274" y="536448"/>
                </a:lnTo>
                <a:lnTo>
                  <a:pt x="665988" y="557784"/>
                </a:lnTo>
                <a:lnTo>
                  <a:pt x="673608" y="558546"/>
                </a:lnTo>
                <a:lnTo>
                  <a:pt x="687324" y="560070"/>
                </a:lnTo>
                <a:lnTo>
                  <a:pt x="689610" y="538734"/>
                </a:lnTo>
                <a:close/>
              </a:path>
              <a:path w="5220970" h="680720">
                <a:moveTo>
                  <a:pt x="730758" y="543306"/>
                </a:moveTo>
                <a:lnTo>
                  <a:pt x="721614" y="542544"/>
                </a:lnTo>
                <a:lnTo>
                  <a:pt x="710184" y="541020"/>
                </a:lnTo>
                <a:lnTo>
                  <a:pt x="707898" y="561594"/>
                </a:lnTo>
                <a:lnTo>
                  <a:pt x="719328" y="563118"/>
                </a:lnTo>
                <a:lnTo>
                  <a:pt x="728472" y="563880"/>
                </a:lnTo>
                <a:lnTo>
                  <a:pt x="730758" y="543306"/>
                </a:lnTo>
                <a:close/>
              </a:path>
              <a:path w="5220970" h="680720">
                <a:moveTo>
                  <a:pt x="772668" y="547115"/>
                </a:moveTo>
                <a:lnTo>
                  <a:pt x="768858" y="547115"/>
                </a:lnTo>
                <a:lnTo>
                  <a:pt x="752094" y="545591"/>
                </a:lnTo>
                <a:lnTo>
                  <a:pt x="749808" y="566165"/>
                </a:lnTo>
                <a:lnTo>
                  <a:pt x="767334" y="567689"/>
                </a:lnTo>
                <a:lnTo>
                  <a:pt x="770382" y="568451"/>
                </a:lnTo>
                <a:lnTo>
                  <a:pt x="772668" y="547115"/>
                </a:lnTo>
                <a:close/>
              </a:path>
              <a:path w="5220970" h="680720">
                <a:moveTo>
                  <a:pt x="814578" y="550926"/>
                </a:moveTo>
                <a:lnTo>
                  <a:pt x="793242" y="549401"/>
                </a:lnTo>
                <a:lnTo>
                  <a:pt x="791718" y="569976"/>
                </a:lnTo>
                <a:lnTo>
                  <a:pt x="812292" y="572262"/>
                </a:lnTo>
                <a:lnTo>
                  <a:pt x="814578" y="550926"/>
                </a:lnTo>
                <a:close/>
              </a:path>
              <a:path w="5220970" h="680720">
                <a:moveTo>
                  <a:pt x="855726" y="554736"/>
                </a:moveTo>
                <a:lnTo>
                  <a:pt x="835152" y="553212"/>
                </a:lnTo>
                <a:lnTo>
                  <a:pt x="832866" y="573786"/>
                </a:lnTo>
                <a:lnTo>
                  <a:pt x="854202" y="576072"/>
                </a:lnTo>
                <a:lnTo>
                  <a:pt x="855726" y="554736"/>
                </a:lnTo>
                <a:close/>
              </a:path>
              <a:path w="5220970" h="680720">
                <a:moveTo>
                  <a:pt x="897636" y="558546"/>
                </a:moveTo>
                <a:lnTo>
                  <a:pt x="877062" y="557022"/>
                </a:lnTo>
                <a:lnTo>
                  <a:pt x="874776" y="577596"/>
                </a:lnTo>
                <a:lnTo>
                  <a:pt x="896112" y="579120"/>
                </a:lnTo>
                <a:lnTo>
                  <a:pt x="897636" y="558546"/>
                </a:lnTo>
                <a:close/>
              </a:path>
              <a:path w="5220970" h="680720">
                <a:moveTo>
                  <a:pt x="939546" y="562356"/>
                </a:moveTo>
                <a:lnTo>
                  <a:pt x="922782" y="560832"/>
                </a:lnTo>
                <a:lnTo>
                  <a:pt x="918210" y="560070"/>
                </a:lnTo>
                <a:lnTo>
                  <a:pt x="916686" y="581406"/>
                </a:lnTo>
                <a:lnTo>
                  <a:pt x="921258" y="581406"/>
                </a:lnTo>
                <a:lnTo>
                  <a:pt x="938022" y="582930"/>
                </a:lnTo>
                <a:lnTo>
                  <a:pt x="939546" y="562356"/>
                </a:lnTo>
                <a:close/>
              </a:path>
              <a:path w="5220970" h="680720">
                <a:moveTo>
                  <a:pt x="981456" y="565403"/>
                </a:moveTo>
                <a:lnTo>
                  <a:pt x="977646" y="565403"/>
                </a:lnTo>
                <a:lnTo>
                  <a:pt x="960120" y="563880"/>
                </a:lnTo>
                <a:lnTo>
                  <a:pt x="958596" y="584453"/>
                </a:lnTo>
                <a:lnTo>
                  <a:pt x="976122" y="585977"/>
                </a:lnTo>
                <a:lnTo>
                  <a:pt x="979170" y="586739"/>
                </a:lnTo>
                <a:lnTo>
                  <a:pt x="981456" y="565403"/>
                </a:lnTo>
                <a:close/>
              </a:path>
              <a:path w="5220970" h="680720">
                <a:moveTo>
                  <a:pt x="1022604" y="568451"/>
                </a:moveTo>
                <a:lnTo>
                  <a:pt x="1002030" y="566927"/>
                </a:lnTo>
                <a:lnTo>
                  <a:pt x="1000506" y="588263"/>
                </a:lnTo>
                <a:lnTo>
                  <a:pt x="1021080" y="589788"/>
                </a:lnTo>
                <a:lnTo>
                  <a:pt x="1022604" y="568451"/>
                </a:lnTo>
                <a:close/>
              </a:path>
              <a:path w="5220970" h="680720">
                <a:moveTo>
                  <a:pt x="1064514" y="572262"/>
                </a:moveTo>
                <a:lnTo>
                  <a:pt x="1043940" y="570738"/>
                </a:lnTo>
                <a:lnTo>
                  <a:pt x="1042416" y="591312"/>
                </a:lnTo>
                <a:lnTo>
                  <a:pt x="1062990" y="592836"/>
                </a:lnTo>
                <a:lnTo>
                  <a:pt x="1064514" y="572262"/>
                </a:lnTo>
                <a:close/>
              </a:path>
              <a:path w="5220970" h="680720">
                <a:moveTo>
                  <a:pt x="1106424" y="575310"/>
                </a:moveTo>
                <a:lnTo>
                  <a:pt x="1091946" y="573786"/>
                </a:lnTo>
                <a:lnTo>
                  <a:pt x="1085850" y="573786"/>
                </a:lnTo>
                <a:lnTo>
                  <a:pt x="1084326" y="594360"/>
                </a:lnTo>
                <a:lnTo>
                  <a:pt x="1090422" y="595122"/>
                </a:lnTo>
                <a:lnTo>
                  <a:pt x="1104900" y="595884"/>
                </a:lnTo>
                <a:lnTo>
                  <a:pt x="1106424" y="575310"/>
                </a:lnTo>
                <a:close/>
              </a:path>
              <a:path w="5220970" h="680720">
                <a:moveTo>
                  <a:pt x="1148334" y="578358"/>
                </a:moveTo>
                <a:lnTo>
                  <a:pt x="1126998" y="576834"/>
                </a:lnTo>
                <a:lnTo>
                  <a:pt x="1125474" y="597408"/>
                </a:lnTo>
                <a:lnTo>
                  <a:pt x="1146810" y="598932"/>
                </a:lnTo>
                <a:lnTo>
                  <a:pt x="1148334" y="578358"/>
                </a:lnTo>
                <a:close/>
              </a:path>
              <a:path w="5220970" h="680720">
                <a:moveTo>
                  <a:pt x="1190244" y="580644"/>
                </a:moveTo>
                <a:lnTo>
                  <a:pt x="1168908" y="579882"/>
                </a:lnTo>
                <a:lnTo>
                  <a:pt x="1167384" y="600456"/>
                </a:lnTo>
                <a:lnTo>
                  <a:pt x="1188720" y="601980"/>
                </a:lnTo>
                <a:lnTo>
                  <a:pt x="1190244" y="580644"/>
                </a:lnTo>
                <a:close/>
              </a:path>
              <a:path w="5220970" h="680720">
                <a:moveTo>
                  <a:pt x="1232154" y="583691"/>
                </a:moveTo>
                <a:lnTo>
                  <a:pt x="1211580" y="582168"/>
                </a:lnTo>
                <a:lnTo>
                  <a:pt x="1210818" y="582168"/>
                </a:lnTo>
                <a:lnTo>
                  <a:pt x="1209294" y="603503"/>
                </a:lnTo>
                <a:lnTo>
                  <a:pt x="1211580" y="603616"/>
                </a:lnTo>
                <a:lnTo>
                  <a:pt x="1230630" y="605027"/>
                </a:lnTo>
                <a:lnTo>
                  <a:pt x="1232154" y="583691"/>
                </a:lnTo>
                <a:close/>
              </a:path>
              <a:path w="5220970" h="680720">
                <a:moveTo>
                  <a:pt x="1273302" y="586739"/>
                </a:moveTo>
                <a:lnTo>
                  <a:pt x="1252728" y="585215"/>
                </a:lnTo>
                <a:lnTo>
                  <a:pt x="1251204" y="606551"/>
                </a:lnTo>
                <a:lnTo>
                  <a:pt x="1271778" y="607313"/>
                </a:lnTo>
                <a:lnTo>
                  <a:pt x="1272540" y="607313"/>
                </a:lnTo>
                <a:lnTo>
                  <a:pt x="1273302" y="586739"/>
                </a:lnTo>
                <a:close/>
              </a:path>
              <a:path w="5220970" h="680720">
                <a:moveTo>
                  <a:pt x="1315212" y="589026"/>
                </a:moveTo>
                <a:lnTo>
                  <a:pt x="1294638" y="588263"/>
                </a:lnTo>
                <a:lnTo>
                  <a:pt x="1293114" y="608838"/>
                </a:lnTo>
                <a:lnTo>
                  <a:pt x="1314450" y="610362"/>
                </a:lnTo>
                <a:lnTo>
                  <a:pt x="1315212" y="589026"/>
                </a:lnTo>
                <a:close/>
              </a:path>
              <a:path w="5220970" h="680720">
                <a:moveTo>
                  <a:pt x="1357122" y="592074"/>
                </a:moveTo>
                <a:lnTo>
                  <a:pt x="1336548" y="590550"/>
                </a:lnTo>
                <a:lnTo>
                  <a:pt x="1335024" y="611886"/>
                </a:lnTo>
                <a:lnTo>
                  <a:pt x="1355598" y="612648"/>
                </a:lnTo>
                <a:lnTo>
                  <a:pt x="1357122" y="592074"/>
                </a:lnTo>
                <a:close/>
              </a:path>
              <a:path w="5220970" h="680720">
                <a:moveTo>
                  <a:pt x="1399031" y="594360"/>
                </a:moveTo>
                <a:lnTo>
                  <a:pt x="1378458" y="593598"/>
                </a:lnTo>
                <a:lnTo>
                  <a:pt x="1376934" y="614172"/>
                </a:lnTo>
                <a:lnTo>
                  <a:pt x="1397508" y="615696"/>
                </a:lnTo>
                <a:lnTo>
                  <a:pt x="1399031" y="594360"/>
                </a:lnTo>
                <a:close/>
              </a:path>
              <a:path w="5220970" h="680720">
                <a:moveTo>
                  <a:pt x="1440941" y="597408"/>
                </a:moveTo>
                <a:lnTo>
                  <a:pt x="1419605" y="595884"/>
                </a:lnTo>
                <a:lnTo>
                  <a:pt x="1418843" y="616458"/>
                </a:lnTo>
                <a:lnTo>
                  <a:pt x="1439417" y="617982"/>
                </a:lnTo>
                <a:lnTo>
                  <a:pt x="1440941" y="597408"/>
                </a:lnTo>
                <a:close/>
              </a:path>
              <a:path w="5220970" h="680720">
                <a:moveTo>
                  <a:pt x="1482852" y="599694"/>
                </a:moveTo>
                <a:lnTo>
                  <a:pt x="1465326" y="598170"/>
                </a:lnTo>
                <a:lnTo>
                  <a:pt x="1461515" y="598170"/>
                </a:lnTo>
                <a:lnTo>
                  <a:pt x="1460753" y="619506"/>
                </a:lnTo>
                <a:lnTo>
                  <a:pt x="1465326" y="619540"/>
                </a:lnTo>
                <a:lnTo>
                  <a:pt x="1481327" y="620268"/>
                </a:lnTo>
                <a:lnTo>
                  <a:pt x="1482852" y="599694"/>
                </a:lnTo>
                <a:close/>
              </a:path>
              <a:path w="5220970" h="680720">
                <a:moveTo>
                  <a:pt x="1524762" y="601980"/>
                </a:moveTo>
                <a:lnTo>
                  <a:pt x="1503426" y="600456"/>
                </a:lnTo>
                <a:lnTo>
                  <a:pt x="1502664" y="621791"/>
                </a:lnTo>
                <a:lnTo>
                  <a:pt x="1523238" y="622553"/>
                </a:lnTo>
                <a:lnTo>
                  <a:pt x="1524762" y="601980"/>
                </a:lnTo>
                <a:close/>
              </a:path>
              <a:path w="5220970" h="680720">
                <a:moveTo>
                  <a:pt x="1566671" y="604265"/>
                </a:moveTo>
                <a:lnTo>
                  <a:pt x="1545336" y="602741"/>
                </a:lnTo>
                <a:lnTo>
                  <a:pt x="1544574" y="624077"/>
                </a:lnTo>
                <a:lnTo>
                  <a:pt x="1565148" y="624839"/>
                </a:lnTo>
                <a:lnTo>
                  <a:pt x="1566671" y="604265"/>
                </a:lnTo>
                <a:close/>
              </a:path>
              <a:path w="5220970" h="680720">
                <a:moveTo>
                  <a:pt x="1607819" y="606551"/>
                </a:moveTo>
                <a:lnTo>
                  <a:pt x="1597914" y="605739"/>
                </a:lnTo>
                <a:lnTo>
                  <a:pt x="1587245" y="605027"/>
                </a:lnTo>
                <a:lnTo>
                  <a:pt x="1586483" y="626363"/>
                </a:lnTo>
                <a:lnTo>
                  <a:pt x="1597914" y="627126"/>
                </a:lnTo>
                <a:lnTo>
                  <a:pt x="1607057" y="627126"/>
                </a:lnTo>
                <a:lnTo>
                  <a:pt x="1607819" y="606551"/>
                </a:lnTo>
                <a:close/>
              </a:path>
              <a:path w="5220970" h="680720">
                <a:moveTo>
                  <a:pt x="1649729" y="608838"/>
                </a:moveTo>
                <a:lnTo>
                  <a:pt x="1629155" y="607313"/>
                </a:lnTo>
                <a:lnTo>
                  <a:pt x="1627631" y="628650"/>
                </a:lnTo>
                <a:lnTo>
                  <a:pt x="1648967" y="629412"/>
                </a:lnTo>
                <a:lnTo>
                  <a:pt x="1649729" y="608838"/>
                </a:lnTo>
                <a:close/>
              </a:path>
              <a:path w="5220970" h="680720">
                <a:moveTo>
                  <a:pt x="1691639" y="611124"/>
                </a:moveTo>
                <a:lnTo>
                  <a:pt x="1671065" y="609600"/>
                </a:lnTo>
                <a:lnTo>
                  <a:pt x="1669541" y="630936"/>
                </a:lnTo>
                <a:lnTo>
                  <a:pt x="1690877" y="631698"/>
                </a:lnTo>
                <a:lnTo>
                  <a:pt x="1691639" y="611124"/>
                </a:lnTo>
                <a:close/>
              </a:path>
              <a:path w="5220970" h="680720">
                <a:moveTo>
                  <a:pt x="1733550" y="613410"/>
                </a:moveTo>
                <a:lnTo>
                  <a:pt x="1712976" y="611886"/>
                </a:lnTo>
                <a:lnTo>
                  <a:pt x="1711452" y="633222"/>
                </a:lnTo>
                <a:lnTo>
                  <a:pt x="1732788" y="633984"/>
                </a:lnTo>
                <a:lnTo>
                  <a:pt x="1733550" y="613410"/>
                </a:lnTo>
                <a:close/>
              </a:path>
              <a:path w="5220970" h="680720">
                <a:moveTo>
                  <a:pt x="1775460" y="614934"/>
                </a:moveTo>
                <a:lnTo>
                  <a:pt x="1754886" y="614172"/>
                </a:lnTo>
                <a:lnTo>
                  <a:pt x="1753362" y="634746"/>
                </a:lnTo>
                <a:lnTo>
                  <a:pt x="1774698" y="636270"/>
                </a:lnTo>
                <a:lnTo>
                  <a:pt x="1775460" y="614934"/>
                </a:lnTo>
                <a:close/>
              </a:path>
              <a:path w="5220970" h="680720">
                <a:moveTo>
                  <a:pt x="1817369" y="617220"/>
                </a:moveTo>
                <a:lnTo>
                  <a:pt x="1796795" y="616458"/>
                </a:lnTo>
                <a:lnTo>
                  <a:pt x="1795271" y="637032"/>
                </a:lnTo>
                <a:lnTo>
                  <a:pt x="1816607" y="637794"/>
                </a:lnTo>
                <a:lnTo>
                  <a:pt x="1817369" y="617220"/>
                </a:lnTo>
                <a:close/>
              </a:path>
              <a:path w="5220970" h="680720">
                <a:moveTo>
                  <a:pt x="1859279" y="618744"/>
                </a:moveTo>
                <a:lnTo>
                  <a:pt x="1838705" y="617982"/>
                </a:lnTo>
                <a:lnTo>
                  <a:pt x="1837181" y="639318"/>
                </a:lnTo>
                <a:lnTo>
                  <a:pt x="1858517" y="640080"/>
                </a:lnTo>
                <a:lnTo>
                  <a:pt x="1859279" y="618744"/>
                </a:lnTo>
                <a:close/>
              </a:path>
              <a:path w="5220970" h="680720">
                <a:moveTo>
                  <a:pt x="1901189" y="621030"/>
                </a:moveTo>
                <a:lnTo>
                  <a:pt x="1879853" y="620268"/>
                </a:lnTo>
                <a:lnTo>
                  <a:pt x="1879091" y="640841"/>
                </a:lnTo>
                <a:lnTo>
                  <a:pt x="1900427" y="641603"/>
                </a:lnTo>
                <a:lnTo>
                  <a:pt x="1901189" y="621030"/>
                </a:lnTo>
                <a:close/>
              </a:path>
              <a:path w="5220970" h="680720">
                <a:moveTo>
                  <a:pt x="1943100" y="622553"/>
                </a:moveTo>
                <a:lnTo>
                  <a:pt x="1921764" y="621791"/>
                </a:lnTo>
                <a:lnTo>
                  <a:pt x="1921002" y="643127"/>
                </a:lnTo>
                <a:lnTo>
                  <a:pt x="1942338" y="643889"/>
                </a:lnTo>
                <a:lnTo>
                  <a:pt x="1943100" y="622553"/>
                </a:lnTo>
                <a:close/>
              </a:path>
              <a:path w="5220970" h="680720">
                <a:moveTo>
                  <a:pt x="1985010" y="624839"/>
                </a:moveTo>
                <a:lnTo>
                  <a:pt x="1963674" y="624077"/>
                </a:lnTo>
                <a:lnTo>
                  <a:pt x="1962912" y="644651"/>
                </a:lnTo>
                <a:lnTo>
                  <a:pt x="1984248" y="645413"/>
                </a:lnTo>
                <a:lnTo>
                  <a:pt x="1985010" y="624839"/>
                </a:lnTo>
                <a:close/>
              </a:path>
              <a:path w="5220970" h="680720">
                <a:moveTo>
                  <a:pt x="2026919" y="626363"/>
                </a:moveTo>
                <a:lnTo>
                  <a:pt x="2015489" y="626262"/>
                </a:lnTo>
                <a:lnTo>
                  <a:pt x="2005583" y="625601"/>
                </a:lnTo>
                <a:lnTo>
                  <a:pt x="2004821" y="646938"/>
                </a:lnTo>
                <a:lnTo>
                  <a:pt x="2017014" y="647046"/>
                </a:lnTo>
                <a:lnTo>
                  <a:pt x="2026157" y="647700"/>
                </a:lnTo>
                <a:lnTo>
                  <a:pt x="2026919" y="626363"/>
                </a:lnTo>
                <a:close/>
              </a:path>
              <a:path w="5220970" h="680720">
                <a:moveTo>
                  <a:pt x="2068829" y="627888"/>
                </a:moveTo>
                <a:lnTo>
                  <a:pt x="2047493" y="627126"/>
                </a:lnTo>
                <a:lnTo>
                  <a:pt x="2046731" y="648462"/>
                </a:lnTo>
                <a:lnTo>
                  <a:pt x="2068067" y="649224"/>
                </a:lnTo>
                <a:lnTo>
                  <a:pt x="2068829" y="627888"/>
                </a:lnTo>
                <a:close/>
              </a:path>
              <a:path w="5220970" h="680720">
                <a:moveTo>
                  <a:pt x="2110740" y="630174"/>
                </a:moveTo>
                <a:lnTo>
                  <a:pt x="2089403" y="629412"/>
                </a:lnTo>
                <a:lnTo>
                  <a:pt x="2088641" y="649986"/>
                </a:lnTo>
                <a:lnTo>
                  <a:pt x="2109216" y="650748"/>
                </a:lnTo>
                <a:lnTo>
                  <a:pt x="2110740" y="630174"/>
                </a:lnTo>
                <a:close/>
              </a:path>
              <a:path w="5220970" h="680720">
                <a:moveTo>
                  <a:pt x="2152650" y="631698"/>
                </a:moveTo>
                <a:lnTo>
                  <a:pt x="2131314" y="630936"/>
                </a:lnTo>
                <a:lnTo>
                  <a:pt x="2130552" y="651510"/>
                </a:lnTo>
                <a:lnTo>
                  <a:pt x="2151126" y="652272"/>
                </a:lnTo>
                <a:lnTo>
                  <a:pt x="2152650" y="631698"/>
                </a:lnTo>
                <a:close/>
              </a:path>
              <a:path w="5220970" h="680720">
                <a:moveTo>
                  <a:pt x="2193798" y="633222"/>
                </a:moveTo>
                <a:lnTo>
                  <a:pt x="2173224" y="632460"/>
                </a:lnTo>
                <a:lnTo>
                  <a:pt x="2172462" y="653034"/>
                </a:lnTo>
                <a:lnTo>
                  <a:pt x="2193036" y="653796"/>
                </a:lnTo>
                <a:lnTo>
                  <a:pt x="2193798" y="633222"/>
                </a:lnTo>
                <a:close/>
              </a:path>
              <a:path w="5220970" h="680720">
                <a:moveTo>
                  <a:pt x="2235707" y="634746"/>
                </a:moveTo>
                <a:lnTo>
                  <a:pt x="2215133" y="633984"/>
                </a:lnTo>
                <a:lnTo>
                  <a:pt x="2214371" y="655320"/>
                </a:lnTo>
                <a:lnTo>
                  <a:pt x="2234945" y="656082"/>
                </a:lnTo>
                <a:lnTo>
                  <a:pt x="2235707" y="634746"/>
                </a:lnTo>
                <a:close/>
              </a:path>
              <a:path w="5220970" h="680720">
                <a:moveTo>
                  <a:pt x="2277617" y="636270"/>
                </a:moveTo>
                <a:lnTo>
                  <a:pt x="2257043" y="635508"/>
                </a:lnTo>
                <a:lnTo>
                  <a:pt x="2256281" y="656844"/>
                </a:lnTo>
                <a:lnTo>
                  <a:pt x="2276855" y="657606"/>
                </a:lnTo>
                <a:lnTo>
                  <a:pt x="2277617" y="636270"/>
                </a:lnTo>
                <a:close/>
              </a:path>
              <a:path w="5220970" h="680720">
                <a:moveTo>
                  <a:pt x="2319528" y="637794"/>
                </a:moveTo>
                <a:lnTo>
                  <a:pt x="2304288" y="637032"/>
                </a:lnTo>
                <a:lnTo>
                  <a:pt x="2298954" y="637032"/>
                </a:lnTo>
                <a:lnTo>
                  <a:pt x="2298191" y="658368"/>
                </a:lnTo>
                <a:lnTo>
                  <a:pt x="2304288" y="658406"/>
                </a:lnTo>
                <a:lnTo>
                  <a:pt x="2318766" y="659130"/>
                </a:lnTo>
                <a:lnTo>
                  <a:pt x="2319528" y="637794"/>
                </a:lnTo>
                <a:close/>
              </a:path>
              <a:path w="5220970" h="680720">
                <a:moveTo>
                  <a:pt x="2361438" y="639318"/>
                </a:moveTo>
                <a:lnTo>
                  <a:pt x="2340864" y="638556"/>
                </a:lnTo>
                <a:lnTo>
                  <a:pt x="2340102" y="659130"/>
                </a:lnTo>
                <a:lnTo>
                  <a:pt x="2360676" y="659891"/>
                </a:lnTo>
                <a:lnTo>
                  <a:pt x="2361438" y="639318"/>
                </a:lnTo>
                <a:close/>
              </a:path>
              <a:path w="5220970" h="680720">
                <a:moveTo>
                  <a:pt x="2403348" y="640841"/>
                </a:moveTo>
                <a:lnTo>
                  <a:pt x="2382774" y="640080"/>
                </a:lnTo>
                <a:lnTo>
                  <a:pt x="2382012" y="660653"/>
                </a:lnTo>
                <a:lnTo>
                  <a:pt x="2402586" y="661415"/>
                </a:lnTo>
                <a:lnTo>
                  <a:pt x="2403348" y="640841"/>
                </a:lnTo>
                <a:close/>
              </a:path>
              <a:path w="5220970" h="680720">
                <a:moveTo>
                  <a:pt x="2445257" y="642365"/>
                </a:moveTo>
                <a:lnTo>
                  <a:pt x="2424683" y="641603"/>
                </a:lnTo>
                <a:lnTo>
                  <a:pt x="2423922" y="662177"/>
                </a:lnTo>
                <a:lnTo>
                  <a:pt x="2444496" y="662939"/>
                </a:lnTo>
                <a:lnTo>
                  <a:pt x="2445257" y="642365"/>
                </a:lnTo>
                <a:close/>
              </a:path>
              <a:path w="5220970" h="680720">
                <a:moveTo>
                  <a:pt x="2487167" y="643127"/>
                </a:moveTo>
                <a:lnTo>
                  <a:pt x="2466593" y="642365"/>
                </a:lnTo>
                <a:lnTo>
                  <a:pt x="2465832" y="663701"/>
                </a:lnTo>
                <a:lnTo>
                  <a:pt x="2486406" y="664463"/>
                </a:lnTo>
                <a:lnTo>
                  <a:pt x="2487167" y="643127"/>
                </a:lnTo>
                <a:close/>
              </a:path>
              <a:path w="5220970" h="680720">
                <a:moveTo>
                  <a:pt x="2529078" y="644651"/>
                </a:moveTo>
                <a:lnTo>
                  <a:pt x="2508504" y="643889"/>
                </a:lnTo>
                <a:lnTo>
                  <a:pt x="2507742" y="665226"/>
                </a:lnTo>
                <a:lnTo>
                  <a:pt x="2528316" y="665226"/>
                </a:lnTo>
                <a:lnTo>
                  <a:pt x="2529078" y="644651"/>
                </a:lnTo>
                <a:close/>
              </a:path>
              <a:path w="5220970" h="680720">
                <a:moveTo>
                  <a:pt x="2570988" y="646176"/>
                </a:moveTo>
                <a:lnTo>
                  <a:pt x="2550414" y="645413"/>
                </a:lnTo>
                <a:lnTo>
                  <a:pt x="2549652" y="665988"/>
                </a:lnTo>
                <a:lnTo>
                  <a:pt x="2570226" y="666750"/>
                </a:lnTo>
                <a:lnTo>
                  <a:pt x="2570988" y="646176"/>
                </a:lnTo>
                <a:close/>
              </a:path>
              <a:path w="5220970" h="680720">
                <a:moveTo>
                  <a:pt x="2612898" y="646938"/>
                </a:moveTo>
                <a:lnTo>
                  <a:pt x="2593086" y="646176"/>
                </a:lnTo>
                <a:lnTo>
                  <a:pt x="2592324" y="646176"/>
                </a:lnTo>
                <a:lnTo>
                  <a:pt x="2591562" y="667512"/>
                </a:lnTo>
                <a:lnTo>
                  <a:pt x="2593086" y="667541"/>
                </a:lnTo>
                <a:lnTo>
                  <a:pt x="2612136" y="668274"/>
                </a:lnTo>
                <a:lnTo>
                  <a:pt x="2612898" y="646938"/>
                </a:lnTo>
                <a:close/>
              </a:path>
              <a:path w="5220970" h="680720">
                <a:moveTo>
                  <a:pt x="2654807" y="647700"/>
                </a:moveTo>
                <a:lnTo>
                  <a:pt x="2633471" y="647700"/>
                </a:lnTo>
                <a:lnTo>
                  <a:pt x="2633472" y="668274"/>
                </a:lnTo>
                <a:lnTo>
                  <a:pt x="2654046" y="669036"/>
                </a:lnTo>
                <a:lnTo>
                  <a:pt x="2654807" y="647700"/>
                </a:lnTo>
                <a:close/>
              </a:path>
              <a:path w="5220970" h="680720">
                <a:moveTo>
                  <a:pt x="2696717" y="649224"/>
                </a:moveTo>
                <a:lnTo>
                  <a:pt x="2675381" y="648462"/>
                </a:lnTo>
                <a:lnTo>
                  <a:pt x="2675382" y="669798"/>
                </a:lnTo>
                <a:lnTo>
                  <a:pt x="2695956" y="669798"/>
                </a:lnTo>
                <a:lnTo>
                  <a:pt x="2696717" y="649224"/>
                </a:lnTo>
                <a:close/>
              </a:path>
              <a:path w="5220970" h="680720">
                <a:moveTo>
                  <a:pt x="2738628" y="649986"/>
                </a:moveTo>
                <a:lnTo>
                  <a:pt x="2717291" y="649986"/>
                </a:lnTo>
                <a:lnTo>
                  <a:pt x="2717292" y="670560"/>
                </a:lnTo>
                <a:lnTo>
                  <a:pt x="2735580" y="671322"/>
                </a:lnTo>
                <a:lnTo>
                  <a:pt x="2737866" y="671322"/>
                </a:lnTo>
                <a:lnTo>
                  <a:pt x="2738628" y="649986"/>
                </a:lnTo>
                <a:close/>
              </a:path>
              <a:path w="5220970" h="680720">
                <a:moveTo>
                  <a:pt x="2780538" y="651510"/>
                </a:moveTo>
                <a:lnTo>
                  <a:pt x="2759202" y="650748"/>
                </a:lnTo>
                <a:lnTo>
                  <a:pt x="2759202" y="671322"/>
                </a:lnTo>
                <a:lnTo>
                  <a:pt x="2779776" y="672084"/>
                </a:lnTo>
                <a:lnTo>
                  <a:pt x="2780538" y="651510"/>
                </a:lnTo>
                <a:close/>
              </a:path>
              <a:path w="5220970" h="680720">
                <a:moveTo>
                  <a:pt x="2822448" y="652272"/>
                </a:moveTo>
                <a:lnTo>
                  <a:pt x="2801112" y="651510"/>
                </a:lnTo>
                <a:lnTo>
                  <a:pt x="2801112" y="672846"/>
                </a:lnTo>
                <a:lnTo>
                  <a:pt x="2821686" y="672846"/>
                </a:lnTo>
                <a:lnTo>
                  <a:pt x="2822448" y="652272"/>
                </a:lnTo>
                <a:close/>
              </a:path>
              <a:path w="5220970" h="680720">
                <a:moveTo>
                  <a:pt x="2864357" y="653034"/>
                </a:moveTo>
                <a:lnTo>
                  <a:pt x="2843021" y="652272"/>
                </a:lnTo>
                <a:lnTo>
                  <a:pt x="2843022" y="673608"/>
                </a:lnTo>
                <a:lnTo>
                  <a:pt x="2863596" y="673608"/>
                </a:lnTo>
                <a:lnTo>
                  <a:pt x="2864357" y="653034"/>
                </a:lnTo>
                <a:close/>
              </a:path>
              <a:path w="5220970" h="680720">
                <a:moveTo>
                  <a:pt x="2906267" y="653796"/>
                </a:moveTo>
                <a:lnTo>
                  <a:pt x="2884931" y="653796"/>
                </a:lnTo>
                <a:lnTo>
                  <a:pt x="2884932" y="674370"/>
                </a:lnTo>
                <a:lnTo>
                  <a:pt x="2905506" y="675132"/>
                </a:lnTo>
                <a:lnTo>
                  <a:pt x="2906267" y="653796"/>
                </a:lnTo>
                <a:close/>
              </a:path>
              <a:path w="5220970" h="680720">
                <a:moveTo>
                  <a:pt x="2948178" y="654558"/>
                </a:moveTo>
                <a:lnTo>
                  <a:pt x="2926841" y="654558"/>
                </a:lnTo>
                <a:lnTo>
                  <a:pt x="2926842" y="675132"/>
                </a:lnTo>
                <a:lnTo>
                  <a:pt x="2947416" y="675894"/>
                </a:lnTo>
                <a:lnTo>
                  <a:pt x="2948178" y="654558"/>
                </a:lnTo>
                <a:close/>
              </a:path>
              <a:path w="5220970" h="680720">
                <a:moveTo>
                  <a:pt x="2990088" y="655320"/>
                </a:moveTo>
                <a:lnTo>
                  <a:pt x="2968752" y="655320"/>
                </a:lnTo>
                <a:lnTo>
                  <a:pt x="2968752" y="675894"/>
                </a:lnTo>
                <a:lnTo>
                  <a:pt x="2989326" y="676656"/>
                </a:lnTo>
                <a:lnTo>
                  <a:pt x="2990088" y="655320"/>
                </a:lnTo>
                <a:close/>
              </a:path>
              <a:path w="5220970" h="680720">
                <a:moveTo>
                  <a:pt x="3031998" y="656082"/>
                </a:moveTo>
                <a:lnTo>
                  <a:pt x="3010662" y="656082"/>
                </a:lnTo>
                <a:lnTo>
                  <a:pt x="3010662" y="676656"/>
                </a:lnTo>
                <a:lnTo>
                  <a:pt x="3018282" y="676656"/>
                </a:lnTo>
                <a:lnTo>
                  <a:pt x="3031236" y="677418"/>
                </a:lnTo>
                <a:lnTo>
                  <a:pt x="3031998" y="656082"/>
                </a:lnTo>
                <a:close/>
              </a:path>
              <a:path w="5220970" h="680720">
                <a:moveTo>
                  <a:pt x="3073907" y="656844"/>
                </a:moveTo>
                <a:lnTo>
                  <a:pt x="3052571" y="656082"/>
                </a:lnTo>
                <a:lnTo>
                  <a:pt x="3052572" y="677418"/>
                </a:lnTo>
                <a:lnTo>
                  <a:pt x="3073146" y="677418"/>
                </a:lnTo>
                <a:lnTo>
                  <a:pt x="3073907" y="656844"/>
                </a:lnTo>
                <a:close/>
              </a:path>
              <a:path w="5220970" h="680720">
                <a:moveTo>
                  <a:pt x="3115817" y="657606"/>
                </a:moveTo>
                <a:lnTo>
                  <a:pt x="3094481" y="656844"/>
                </a:lnTo>
                <a:lnTo>
                  <a:pt x="3094482" y="678180"/>
                </a:lnTo>
                <a:lnTo>
                  <a:pt x="3115056" y="678180"/>
                </a:lnTo>
                <a:lnTo>
                  <a:pt x="3115817" y="657606"/>
                </a:lnTo>
                <a:close/>
              </a:path>
              <a:path w="5220970" h="680720">
                <a:moveTo>
                  <a:pt x="3157728" y="657606"/>
                </a:moveTo>
                <a:lnTo>
                  <a:pt x="3136391" y="657606"/>
                </a:lnTo>
                <a:lnTo>
                  <a:pt x="3136392" y="678941"/>
                </a:lnTo>
                <a:lnTo>
                  <a:pt x="3156966" y="678941"/>
                </a:lnTo>
                <a:lnTo>
                  <a:pt x="3157728" y="657606"/>
                </a:lnTo>
                <a:close/>
              </a:path>
              <a:path w="5220970" h="680720">
                <a:moveTo>
                  <a:pt x="3199638" y="658368"/>
                </a:moveTo>
                <a:lnTo>
                  <a:pt x="3178302" y="658368"/>
                </a:lnTo>
                <a:lnTo>
                  <a:pt x="3178302" y="678941"/>
                </a:lnTo>
                <a:lnTo>
                  <a:pt x="3198876" y="678941"/>
                </a:lnTo>
                <a:lnTo>
                  <a:pt x="3199638" y="658368"/>
                </a:lnTo>
                <a:close/>
              </a:path>
              <a:path w="5220970" h="680720">
                <a:moveTo>
                  <a:pt x="3241548" y="658368"/>
                </a:moveTo>
                <a:lnTo>
                  <a:pt x="3220212" y="658368"/>
                </a:lnTo>
                <a:lnTo>
                  <a:pt x="3220212" y="679703"/>
                </a:lnTo>
                <a:lnTo>
                  <a:pt x="3240786" y="679703"/>
                </a:lnTo>
                <a:lnTo>
                  <a:pt x="3241548" y="658368"/>
                </a:lnTo>
                <a:close/>
              </a:path>
              <a:path w="5220970" h="680720">
                <a:moveTo>
                  <a:pt x="3283458" y="659130"/>
                </a:moveTo>
                <a:lnTo>
                  <a:pt x="3262122" y="659130"/>
                </a:lnTo>
                <a:lnTo>
                  <a:pt x="3262122" y="679703"/>
                </a:lnTo>
                <a:lnTo>
                  <a:pt x="3282696" y="679703"/>
                </a:lnTo>
                <a:lnTo>
                  <a:pt x="3283458" y="659130"/>
                </a:lnTo>
                <a:close/>
              </a:path>
              <a:path w="5220970" h="680720">
                <a:moveTo>
                  <a:pt x="3325368" y="659130"/>
                </a:moveTo>
                <a:lnTo>
                  <a:pt x="3304032" y="659130"/>
                </a:lnTo>
                <a:lnTo>
                  <a:pt x="3304032" y="680465"/>
                </a:lnTo>
                <a:lnTo>
                  <a:pt x="3324606" y="680465"/>
                </a:lnTo>
                <a:lnTo>
                  <a:pt x="3325368" y="659130"/>
                </a:lnTo>
                <a:close/>
              </a:path>
              <a:path w="5220970" h="680720">
                <a:moveTo>
                  <a:pt x="3367278" y="659891"/>
                </a:moveTo>
                <a:lnTo>
                  <a:pt x="3355848" y="659130"/>
                </a:lnTo>
                <a:lnTo>
                  <a:pt x="3345942" y="659130"/>
                </a:lnTo>
                <a:lnTo>
                  <a:pt x="3345942" y="680465"/>
                </a:lnTo>
                <a:lnTo>
                  <a:pt x="3366516" y="680465"/>
                </a:lnTo>
                <a:lnTo>
                  <a:pt x="3367278" y="659891"/>
                </a:lnTo>
                <a:close/>
              </a:path>
              <a:path w="5220970" h="680720">
                <a:moveTo>
                  <a:pt x="3409188" y="659891"/>
                </a:moveTo>
                <a:lnTo>
                  <a:pt x="3387852" y="659891"/>
                </a:lnTo>
                <a:lnTo>
                  <a:pt x="3387852" y="680465"/>
                </a:lnTo>
                <a:lnTo>
                  <a:pt x="3408426" y="680465"/>
                </a:lnTo>
                <a:lnTo>
                  <a:pt x="3409188" y="659891"/>
                </a:lnTo>
                <a:close/>
              </a:path>
              <a:path w="5220970" h="680720">
                <a:moveTo>
                  <a:pt x="3450336" y="680465"/>
                </a:moveTo>
                <a:lnTo>
                  <a:pt x="3450336" y="659891"/>
                </a:lnTo>
                <a:lnTo>
                  <a:pt x="3429762" y="659891"/>
                </a:lnTo>
                <a:lnTo>
                  <a:pt x="3429762" y="680465"/>
                </a:lnTo>
                <a:lnTo>
                  <a:pt x="3450336" y="680465"/>
                </a:lnTo>
                <a:close/>
              </a:path>
              <a:path w="5220970" h="680720">
                <a:moveTo>
                  <a:pt x="3493008" y="680465"/>
                </a:moveTo>
                <a:lnTo>
                  <a:pt x="3492246" y="659891"/>
                </a:lnTo>
                <a:lnTo>
                  <a:pt x="3471672" y="659891"/>
                </a:lnTo>
                <a:lnTo>
                  <a:pt x="3471672" y="680465"/>
                </a:lnTo>
                <a:lnTo>
                  <a:pt x="3493008" y="680465"/>
                </a:lnTo>
                <a:close/>
              </a:path>
              <a:path w="5220970" h="680720">
                <a:moveTo>
                  <a:pt x="3534918" y="680465"/>
                </a:moveTo>
                <a:lnTo>
                  <a:pt x="3534156" y="659891"/>
                </a:lnTo>
                <a:lnTo>
                  <a:pt x="3513582" y="659891"/>
                </a:lnTo>
                <a:lnTo>
                  <a:pt x="3513582" y="680465"/>
                </a:lnTo>
                <a:lnTo>
                  <a:pt x="3534918" y="680465"/>
                </a:lnTo>
                <a:close/>
              </a:path>
              <a:path w="5220970" h="680720">
                <a:moveTo>
                  <a:pt x="3576828" y="680465"/>
                </a:moveTo>
                <a:lnTo>
                  <a:pt x="3576066" y="659130"/>
                </a:lnTo>
                <a:lnTo>
                  <a:pt x="3555492" y="659891"/>
                </a:lnTo>
                <a:lnTo>
                  <a:pt x="3555492" y="680465"/>
                </a:lnTo>
                <a:lnTo>
                  <a:pt x="3576828" y="680465"/>
                </a:lnTo>
                <a:close/>
              </a:path>
              <a:path w="5220970" h="680720">
                <a:moveTo>
                  <a:pt x="3618738" y="680465"/>
                </a:moveTo>
                <a:lnTo>
                  <a:pt x="3617976" y="659130"/>
                </a:lnTo>
                <a:lnTo>
                  <a:pt x="3597402" y="659130"/>
                </a:lnTo>
                <a:lnTo>
                  <a:pt x="3597402" y="680465"/>
                </a:lnTo>
                <a:lnTo>
                  <a:pt x="3618738" y="680465"/>
                </a:lnTo>
                <a:close/>
              </a:path>
              <a:path w="5220970" h="680720">
                <a:moveTo>
                  <a:pt x="3660648" y="679703"/>
                </a:moveTo>
                <a:lnTo>
                  <a:pt x="3659886" y="659130"/>
                </a:lnTo>
                <a:lnTo>
                  <a:pt x="3639312" y="659130"/>
                </a:lnTo>
                <a:lnTo>
                  <a:pt x="3639312" y="679703"/>
                </a:lnTo>
                <a:lnTo>
                  <a:pt x="3660648" y="679703"/>
                </a:lnTo>
                <a:close/>
              </a:path>
              <a:path w="5220970" h="680720">
                <a:moveTo>
                  <a:pt x="3702558" y="678941"/>
                </a:moveTo>
                <a:lnTo>
                  <a:pt x="3701795" y="658368"/>
                </a:lnTo>
                <a:lnTo>
                  <a:pt x="3681221" y="658368"/>
                </a:lnTo>
                <a:lnTo>
                  <a:pt x="3681222" y="679703"/>
                </a:lnTo>
                <a:lnTo>
                  <a:pt x="3702558" y="678941"/>
                </a:lnTo>
                <a:close/>
              </a:path>
              <a:path w="5220970" h="680720">
                <a:moveTo>
                  <a:pt x="3744468" y="678941"/>
                </a:moveTo>
                <a:lnTo>
                  <a:pt x="3743705" y="657606"/>
                </a:lnTo>
                <a:lnTo>
                  <a:pt x="3726179" y="658368"/>
                </a:lnTo>
                <a:lnTo>
                  <a:pt x="3723131" y="658368"/>
                </a:lnTo>
                <a:lnTo>
                  <a:pt x="3723132" y="678941"/>
                </a:lnTo>
                <a:lnTo>
                  <a:pt x="3744468" y="678941"/>
                </a:lnTo>
                <a:close/>
              </a:path>
              <a:path w="5220970" h="680720">
                <a:moveTo>
                  <a:pt x="3786378" y="678180"/>
                </a:moveTo>
                <a:lnTo>
                  <a:pt x="3785616" y="656844"/>
                </a:lnTo>
                <a:lnTo>
                  <a:pt x="3783329" y="656844"/>
                </a:lnTo>
                <a:lnTo>
                  <a:pt x="3765041" y="657606"/>
                </a:lnTo>
                <a:lnTo>
                  <a:pt x="3765042" y="678180"/>
                </a:lnTo>
                <a:lnTo>
                  <a:pt x="3786378" y="678180"/>
                </a:lnTo>
                <a:close/>
              </a:path>
              <a:path w="5220970" h="680720">
                <a:moveTo>
                  <a:pt x="3828288" y="677418"/>
                </a:moveTo>
                <a:lnTo>
                  <a:pt x="3827526" y="656082"/>
                </a:lnTo>
                <a:lnTo>
                  <a:pt x="3806952" y="656844"/>
                </a:lnTo>
                <a:lnTo>
                  <a:pt x="3806952" y="677418"/>
                </a:lnTo>
                <a:lnTo>
                  <a:pt x="3828288" y="677418"/>
                </a:lnTo>
                <a:close/>
              </a:path>
              <a:path w="5220970" h="680720">
                <a:moveTo>
                  <a:pt x="3870198" y="675894"/>
                </a:moveTo>
                <a:lnTo>
                  <a:pt x="3869436" y="655320"/>
                </a:lnTo>
                <a:lnTo>
                  <a:pt x="3848862" y="656082"/>
                </a:lnTo>
                <a:lnTo>
                  <a:pt x="3848862" y="676656"/>
                </a:lnTo>
                <a:lnTo>
                  <a:pt x="3870198" y="675894"/>
                </a:lnTo>
                <a:close/>
              </a:path>
              <a:path w="5220970" h="680720">
                <a:moveTo>
                  <a:pt x="3912108" y="675132"/>
                </a:moveTo>
                <a:lnTo>
                  <a:pt x="3911345" y="654558"/>
                </a:lnTo>
                <a:lnTo>
                  <a:pt x="3890771" y="654558"/>
                </a:lnTo>
                <a:lnTo>
                  <a:pt x="3890772" y="675894"/>
                </a:lnTo>
                <a:lnTo>
                  <a:pt x="3893058" y="675894"/>
                </a:lnTo>
                <a:lnTo>
                  <a:pt x="3912108" y="675132"/>
                </a:lnTo>
                <a:close/>
              </a:path>
              <a:path w="5220970" h="680720">
                <a:moveTo>
                  <a:pt x="3954018" y="673608"/>
                </a:moveTo>
                <a:lnTo>
                  <a:pt x="3953255" y="653034"/>
                </a:lnTo>
                <a:lnTo>
                  <a:pt x="3944874" y="653034"/>
                </a:lnTo>
                <a:lnTo>
                  <a:pt x="3931919" y="653796"/>
                </a:lnTo>
                <a:lnTo>
                  <a:pt x="3932682" y="674370"/>
                </a:lnTo>
                <a:lnTo>
                  <a:pt x="3945636" y="674370"/>
                </a:lnTo>
                <a:lnTo>
                  <a:pt x="3954018" y="673608"/>
                </a:lnTo>
                <a:close/>
              </a:path>
              <a:path w="5220970" h="680720">
                <a:moveTo>
                  <a:pt x="3995928" y="672846"/>
                </a:moveTo>
                <a:lnTo>
                  <a:pt x="3995166" y="651510"/>
                </a:lnTo>
                <a:lnTo>
                  <a:pt x="3973829" y="652272"/>
                </a:lnTo>
                <a:lnTo>
                  <a:pt x="3974592" y="672846"/>
                </a:lnTo>
                <a:lnTo>
                  <a:pt x="3995928" y="672846"/>
                </a:lnTo>
                <a:close/>
              </a:path>
              <a:path w="5220970" h="680720">
                <a:moveTo>
                  <a:pt x="4037838" y="670560"/>
                </a:moveTo>
                <a:lnTo>
                  <a:pt x="4037076" y="649986"/>
                </a:lnTo>
                <a:lnTo>
                  <a:pt x="4015740" y="650748"/>
                </a:lnTo>
                <a:lnTo>
                  <a:pt x="4016502" y="671322"/>
                </a:lnTo>
                <a:lnTo>
                  <a:pt x="4037838" y="670560"/>
                </a:lnTo>
                <a:close/>
              </a:path>
              <a:path w="5220970" h="680720">
                <a:moveTo>
                  <a:pt x="4079748" y="669035"/>
                </a:moveTo>
                <a:lnTo>
                  <a:pt x="4078986" y="647699"/>
                </a:lnTo>
                <a:lnTo>
                  <a:pt x="4057650" y="649223"/>
                </a:lnTo>
                <a:lnTo>
                  <a:pt x="4058412" y="669797"/>
                </a:lnTo>
                <a:lnTo>
                  <a:pt x="4079748" y="669035"/>
                </a:lnTo>
                <a:close/>
              </a:path>
              <a:path w="5220970" h="680720">
                <a:moveTo>
                  <a:pt x="4121658" y="666749"/>
                </a:moveTo>
                <a:lnTo>
                  <a:pt x="4120133" y="646175"/>
                </a:lnTo>
                <a:lnTo>
                  <a:pt x="4099560" y="646937"/>
                </a:lnTo>
                <a:lnTo>
                  <a:pt x="4100322" y="668273"/>
                </a:lnTo>
                <a:lnTo>
                  <a:pt x="4121658" y="666749"/>
                </a:lnTo>
                <a:close/>
              </a:path>
              <a:path w="5220970" h="680720">
                <a:moveTo>
                  <a:pt x="4163568" y="664463"/>
                </a:moveTo>
                <a:lnTo>
                  <a:pt x="4162043" y="643889"/>
                </a:lnTo>
                <a:lnTo>
                  <a:pt x="4141469" y="644651"/>
                </a:lnTo>
                <a:lnTo>
                  <a:pt x="4142232" y="665987"/>
                </a:lnTo>
                <a:lnTo>
                  <a:pt x="4163568" y="664463"/>
                </a:lnTo>
                <a:close/>
              </a:path>
              <a:path w="5220970" h="680720">
                <a:moveTo>
                  <a:pt x="4205478" y="661415"/>
                </a:moveTo>
                <a:lnTo>
                  <a:pt x="4203954" y="640841"/>
                </a:lnTo>
                <a:lnTo>
                  <a:pt x="4183379" y="642365"/>
                </a:lnTo>
                <a:lnTo>
                  <a:pt x="4184142" y="662939"/>
                </a:lnTo>
                <a:lnTo>
                  <a:pt x="4205478" y="661415"/>
                </a:lnTo>
                <a:close/>
              </a:path>
              <a:path w="5220970" h="680720">
                <a:moveTo>
                  <a:pt x="4247388" y="658367"/>
                </a:moveTo>
                <a:lnTo>
                  <a:pt x="4245864" y="637793"/>
                </a:lnTo>
                <a:lnTo>
                  <a:pt x="4224528" y="639317"/>
                </a:lnTo>
                <a:lnTo>
                  <a:pt x="4226052" y="659891"/>
                </a:lnTo>
                <a:lnTo>
                  <a:pt x="4247388" y="658367"/>
                </a:lnTo>
                <a:close/>
              </a:path>
              <a:path w="5220970" h="680720">
                <a:moveTo>
                  <a:pt x="4289298" y="655319"/>
                </a:moveTo>
                <a:lnTo>
                  <a:pt x="4287012" y="633983"/>
                </a:lnTo>
                <a:lnTo>
                  <a:pt x="4266438" y="636269"/>
                </a:lnTo>
                <a:lnTo>
                  <a:pt x="4267962" y="656843"/>
                </a:lnTo>
                <a:lnTo>
                  <a:pt x="4289298" y="655319"/>
                </a:lnTo>
                <a:close/>
              </a:path>
              <a:path w="5220970" h="680720">
                <a:moveTo>
                  <a:pt x="4331208" y="650747"/>
                </a:moveTo>
                <a:lnTo>
                  <a:pt x="4328921" y="630173"/>
                </a:lnTo>
                <a:lnTo>
                  <a:pt x="4308348" y="632459"/>
                </a:lnTo>
                <a:lnTo>
                  <a:pt x="4309871" y="653033"/>
                </a:lnTo>
                <a:lnTo>
                  <a:pt x="4331208" y="650747"/>
                </a:lnTo>
                <a:close/>
              </a:path>
              <a:path w="5220970" h="680720">
                <a:moveTo>
                  <a:pt x="4373118" y="646175"/>
                </a:moveTo>
                <a:lnTo>
                  <a:pt x="4370070" y="625601"/>
                </a:lnTo>
                <a:lnTo>
                  <a:pt x="4349495" y="627887"/>
                </a:lnTo>
                <a:lnTo>
                  <a:pt x="4351782" y="648461"/>
                </a:lnTo>
                <a:lnTo>
                  <a:pt x="4365498" y="646937"/>
                </a:lnTo>
                <a:lnTo>
                  <a:pt x="4373118" y="646175"/>
                </a:lnTo>
                <a:close/>
              </a:path>
              <a:path w="5220970" h="680720">
                <a:moveTo>
                  <a:pt x="4414266" y="641603"/>
                </a:moveTo>
                <a:lnTo>
                  <a:pt x="4411980" y="621029"/>
                </a:lnTo>
                <a:lnTo>
                  <a:pt x="4396740" y="622553"/>
                </a:lnTo>
                <a:lnTo>
                  <a:pt x="4391406" y="623315"/>
                </a:lnTo>
                <a:lnTo>
                  <a:pt x="4393692" y="643889"/>
                </a:lnTo>
                <a:lnTo>
                  <a:pt x="4399026" y="643127"/>
                </a:lnTo>
                <a:lnTo>
                  <a:pt x="4414266" y="641603"/>
                </a:lnTo>
                <a:close/>
              </a:path>
              <a:path w="5220970" h="680720">
                <a:moveTo>
                  <a:pt x="4456176" y="635507"/>
                </a:moveTo>
                <a:lnTo>
                  <a:pt x="4453128" y="614933"/>
                </a:lnTo>
                <a:lnTo>
                  <a:pt x="4432554" y="617981"/>
                </a:lnTo>
                <a:lnTo>
                  <a:pt x="4435602" y="638555"/>
                </a:lnTo>
                <a:lnTo>
                  <a:pt x="4456176" y="635507"/>
                </a:lnTo>
                <a:close/>
              </a:path>
              <a:path w="5220970" h="680720">
                <a:moveTo>
                  <a:pt x="4498086" y="629411"/>
                </a:moveTo>
                <a:lnTo>
                  <a:pt x="4494276" y="608837"/>
                </a:lnTo>
                <a:lnTo>
                  <a:pt x="4491990" y="609599"/>
                </a:lnTo>
                <a:lnTo>
                  <a:pt x="4473702" y="611885"/>
                </a:lnTo>
                <a:lnTo>
                  <a:pt x="4476750" y="633221"/>
                </a:lnTo>
                <a:lnTo>
                  <a:pt x="4495038" y="630173"/>
                </a:lnTo>
                <a:lnTo>
                  <a:pt x="4498086" y="629411"/>
                </a:lnTo>
                <a:close/>
              </a:path>
              <a:path w="5220970" h="680720">
                <a:moveTo>
                  <a:pt x="4539233" y="623315"/>
                </a:moveTo>
                <a:lnTo>
                  <a:pt x="4536186" y="601979"/>
                </a:lnTo>
                <a:lnTo>
                  <a:pt x="4521708" y="605027"/>
                </a:lnTo>
                <a:lnTo>
                  <a:pt x="4515612" y="605789"/>
                </a:lnTo>
                <a:lnTo>
                  <a:pt x="4518660" y="626363"/>
                </a:lnTo>
                <a:lnTo>
                  <a:pt x="4524756" y="625601"/>
                </a:lnTo>
                <a:lnTo>
                  <a:pt x="4539233" y="623315"/>
                </a:lnTo>
                <a:close/>
              </a:path>
              <a:path w="5220970" h="680720">
                <a:moveTo>
                  <a:pt x="4580382" y="615695"/>
                </a:moveTo>
                <a:lnTo>
                  <a:pt x="4577333" y="595121"/>
                </a:lnTo>
                <a:lnTo>
                  <a:pt x="4555998" y="598931"/>
                </a:lnTo>
                <a:lnTo>
                  <a:pt x="4559808" y="619505"/>
                </a:lnTo>
                <a:lnTo>
                  <a:pt x="4580382" y="615695"/>
                </a:lnTo>
                <a:close/>
              </a:path>
              <a:path w="5220970" h="680720">
                <a:moveTo>
                  <a:pt x="4622292" y="607313"/>
                </a:moveTo>
                <a:lnTo>
                  <a:pt x="4617720" y="586739"/>
                </a:lnTo>
                <a:lnTo>
                  <a:pt x="4605528" y="589025"/>
                </a:lnTo>
                <a:lnTo>
                  <a:pt x="4597145" y="590549"/>
                </a:lnTo>
                <a:lnTo>
                  <a:pt x="4601718" y="611123"/>
                </a:lnTo>
                <a:lnTo>
                  <a:pt x="4609338" y="609599"/>
                </a:lnTo>
                <a:lnTo>
                  <a:pt x="4622292" y="607313"/>
                </a:lnTo>
                <a:close/>
              </a:path>
              <a:path w="5220970" h="680720">
                <a:moveTo>
                  <a:pt x="4663440" y="598169"/>
                </a:moveTo>
                <a:lnTo>
                  <a:pt x="4658106" y="577595"/>
                </a:lnTo>
                <a:lnTo>
                  <a:pt x="4656582" y="578357"/>
                </a:lnTo>
                <a:lnTo>
                  <a:pt x="4638294" y="582167"/>
                </a:lnTo>
                <a:lnTo>
                  <a:pt x="4642866" y="602741"/>
                </a:lnTo>
                <a:lnTo>
                  <a:pt x="4661154" y="598169"/>
                </a:lnTo>
                <a:lnTo>
                  <a:pt x="4663440" y="598169"/>
                </a:lnTo>
                <a:close/>
              </a:path>
              <a:path w="5220970" h="680720">
                <a:moveTo>
                  <a:pt x="4703825" y="587501"/>
                </a:moveTo>
                <a:lnTo>
                  <a:pt x="4699254" y="567689"/>
                </a:lnTo>
                <a:lnTo>
                  <a:pt x="4680966" y="572261"/>
                </a:lnTo>
                <a:lnTo>
                  <a:pt x="4678680" y="573023"/>
                </a:lnTo>
                <a:lnTo>
                  <a:pt x="4684014" y="592835"/>
                </a:lnTo>
                <a:lnTo>
                  <a:pt x="4685538" y="592835"/>
                </a:lnTo>
                <a:lnTo>
                  <a:pt x="4703825" y="587501"/>
                </a:lnTo>
                <a:close/>
              </a:path>
              <a:path w="5220970" h="680720">
                <a:moveTo>
                  <a:pt x="4744973" y="576833"/>
                </a:moveTo>
                <a:lnTo>
                  <a:pt x="4738877" y="556259"/>
                </a:lnTo>
                <a:lnTo>
                  <a:pt x="4727447" y="560069"/>
                </a:lnTo>
                <a:lnTo>
                  <a:pt x="4719066" y="562355"/>
                </a:lnTo>
                <a:lnTo>
                  <a:pt x="4724399" y="582167"/>
                </a:lnTo>
                <a:lnTo>
                  <a:pt x="4732782" y="579881"/>
                </a:lnTo>
                <a:lnTo>
                  <a:pt x="4744973" y="576833"/>
                </a:lnTo>
                <a:close/>
              </a:path>
              <a:path w="5220970" h="680720">
                <a:moveTo>
                  <a:pt x="4785360" y="563879"/>
                </a:moveTo>
                <a:lnTo>
                  <a:pt x="4778501" y="544067"/>
                </a:lnTo>
                <a:lnTo>
                  <a:pt x="4770882" y="547115"/>
                </a:lnTo>
                <a:lnTo>
                  <a:pt x="4758690" y="550163"/>
                </a:lnTo>
                <a:lnTo>
                  <a:pt x="4764786" y="570737"/>
                </a:lnTo>
                <a:lnTo>
                  <a:pt x="4776977" y="566927"/>
                </a:lnTo>
                <a:lnTo>
                  <a:pt x="4785360" y="563879"/>
                </a:lnTo>
                <a:close/>
              </a:path>
              <a:path w="5220970" h="680720">
                <a:moveTo>
                  <a:pt x="4824984" y="550163"/>
                </a:moveTo>
                <a:lnTo>
                  <a:pt x="4818125" y="530351"/>
                </a:lnTo>
                <a:lnTo>
                  <a:pt x="4811268" y="533399"/>
                </a:lnTo>
                <a:lnTo>
                  <a:pt x="4798314" y="537209"/>
                </a:lnTo>
                <a:lnTo>
                  <a:pt x="4805171" y="557021"/>
                </a:lnTo>
                <a:lnTo>
                  <a:pt x="4818125" y="553211"/>
                </a:lnTo>
                <a:lnTo>
                  <a:pt x="4824984" y="550163"/>
                </a:lnTo>
                <a:close/>
              </a:path>
              <a:path w="5220970" h="680720">
                <a:moveTo>
                  <a:pt x="4864608" y="534923"/>
                </a:moveTo>
                <a:lnTo>
                  <a:pt x="4856225" y="515111"/>
                </a:lnTo>
                <a:lnTo>
                  <a:pt x="4848606" y="518921"/>
                </a:lnTo>
                <a:lnTo>
                  <a:pt x="4837175" y="522731"/>
                </a:lnTo>
                <a:lnTo>
                  <a:pt x="4844795" y="542543"/>
                </a:lnTo>
                <a:lnTo>
                  <a:pt x="4855464" y="538733"/>
                </a:lnTo>
                <a:lnTo>
                  <a:pt x="4864608" y="534923"/>
                </a:lnTo>
                <a:close/>
              </a:path>
              <a:path w="5220970" h="680720">
                <a:moveTo>
                  <a:pt x="4903470" y="517397"/>
                </a:moveTo>
                <a:lnTo>
                  <a:pt x="4894325" y="498347"/>
                </a:lnTo>
                <a:lnTo>
                  <a:pt x="4882895" y="503681"/>
                </a:lnTo>
                <a:lnTo>
                  <a:pt x="4875275" y="507491"/>
                </a:lnTo>
                <a:lnTo>
                  <a:pt x="4883658" y="526541"/>
                </a:lnTo>
                <a:lnTo>
                  <a:pt x="4891277" y="523493"/>
                </a:lnTo>
                <a:lnTo>
                  <a:pt x="4903470" y="517397"/>
                </a:lnTo>
                <a:close/>
              </a:path>
              <a:path w="5220970" h="680720">
                <a:moveTo>
                  <a:pt x="4940808" y="498347"/>
                </a:moveTo>
                <a:lnTo>
                  <a:pt x="4930901" y="480059"/>
                </a:lnTo>
                <a:lnTo>
                  <a:pt x="4914899" y="488441"/>
                </a:lnTo>
                <a:lnTo>
                  <a:pt x="4913375" y="489203"/>
                </a:lnTo>
                <a:lnTo>
                  <a:pt x="4922520" y="508253"/>
                </a:lnTo>
                <a:lnTo>
                  <a:pt x="4924044" y="507491"/>
                </a:lnTo>
                <a:lnTo>
                  <a:pt x="4940808" y="498347"/>
                </a:lnTo>
                <a:close/>
              </a:path>
              <a:path w="5220970" h="680720">
                <a:moveTo>
                  <a:pt x="4978145" y="477011"/>
                </a:moveTo>
                <a:lnTo>
                  <a:pt x="4966716" y="458723"/>
                </a:lnTo>
                <a:lnTo>
                  <a:pt x="4949190" y="470153"/>
                </a:lnTo>
                <a:lnTo>
                  <a:pt x="4959858" y="487679"/>
                </a:lnTo>
                <a:lnTo>
                  <a:pt x="4978145" y="477011"/>
                </a:lnTo>
                <a:close/>
              </a:path>
              <a:path w="5220970" h="680720">
                <a:moveTo>
                  <a:pt x="5013197" y="452627"/>
                </a:moveTo>
                <a:lnTo>
                  <a:pt x="5001006" y="435863"/>
                </a:lnTo>
                <a:lnTo>
                  <a:pt x="4995671" y="439673"/>
                </a:lnTo>
                <a:lnTo>
                  <a:pt x="4984242" y="448055"/>
                </a:lnTo>
                <a:lnTo>
                  <a:pt x="4995671" y="464819"/>
                </a:lnTo>
                <a:lnTo>
                  <a:pt x="5007864" y="456437"/>
                </a:lnTo>
                <a:lnTo>
                  <a:pt x="5013197" y="452627"/>
                </a:lnTo>
                <a:close/>
              </a:path>
              <a:path w="5220970" h="680720">
                <a:moveTo>
                  <a:pt x="5046725" y="425957"/>
                </a:moveTo>
                <a:lnTo>
                  <a:pt x="5033010" y="409955"/>
                </a:lnTo>
                <a:lnTo>
                  <a:pt x="5018532" y="422147"/>
                </a:lnTo>
                <a:lnTo>
                  <a:pt x="5017008" y="423671"/>
                </a:lnTo>
                <a:lnTo>
                  <a:pt x="5029962" y="439673"/>
                </a:lnTo>
                <a:lnTo>
                  <a:pt x="5031486" y="438911"/>
                </a:lnTo>
                <a:lnTo>
                  <a:pt x="5046725" y="425957"/>
                </a:lnTo>
                <a:close/>
              </a:path>
              <a:path w="5220970" h="680720">
                <a:moveTo>
                  <a:pt x="5077968" y="396239"/>
                </a:moveTo>
                <a:lnTo>
                  <a:pt x="5062727" y="382523"/>
                </a:lnTo>
                <a:lnTo>
                  <a:pt x="5058156" y="386333"/>
                </a:lnTo>
                <a:lnTo>
                  <a:pt x="5048249" y="396239"/>
                </a:lnTo>
                <a:lnTo>
                  <a:pt x="5062727" y="411479"/>
                </a:lnTo>
                <a:lnTo>
                  <a:pt x="5077968" y="396239"/>
                </a:lnTo>
                <a:close/>
              </a:path>
              <a:path w="5220970" h="680720">
                <a:moveTo>
                  <a:pt x="5106162" y="364997"/>
                </a:moveTo>
                <a:lnTo>
                  <a:pt x="5090160" y="351281"/>
                </a:lnTo>
                <a:lnTo>
                  <a:pt x="5076444" y="367283"/>
                </a:lnTo>
                <a:lnTo>
                  <a:pt x="5092445" y="380999"/>
                </a:lnTo>
                <a:lnTo>
                  <a:pt x="5106162" y="364997"/>
                </a:lnTo>
                <a:close/>
              </a:path>
              <a:path w="5220970" h="680720">
                <a:moveTo>
                  <a:pt x="5131308" y="329945"/>
                </a:moveTo>
                <a:lnTo>
                  <a:pt x="5113782" y="318515"/>
                </a:lnTo>
                <a:lnTo>
                  <a:pt x="5105399" y="330707"/>
                </a:lnTo>
                <a:lnTo>
                  <a:pt x="5102351" y="335279"/>
                </a:lnTo>
                <a:lnTo>
                  <a:pt x="5119116" y="347471"/>
                </a:lnTo>
                <a:lnTo>
                  <a:pt x="5122164" y="342899"/>
                </a:lnTo>
                <a:lnTo>
                  <a:pt x="5131308" y="329945"/>
                </a:lnTo>
                <a:close/>
              </a:path>
              <a:path w="5220970" h="680720">
                <a:moveTo>
                  <a:pt x="5153406" y="293369"/>
                </a:moveTo>
                <a:lnTo>
                  <a:pt x="5135118" y="283463"/>
                </a:lnTo>
                <a:lnTo>
                  <a:pt x="5130545" y="291845"/>
                </a:lnTo>
                <a:lnTo>
                  <a:pt x="5125212" y="300989"/>
                </a:lnTo>
                <a:lnTo>
                  <a:pt x="5142738" y="312419"/>
                </a:lnTo>
                <a:lnTo>
                  <a:pt x="5148834" y="302513"/>
                </a:lnTo>
                <a:lnTo>
                  <a:pt x="5153406" y="293369"/>
                </a:lnTo>
                <a:close/>
              </a:path>
              <a:path w="5220970" h="680720">
                <a:moveTo>
                  <a:pt x="5173218" y="255269"/>
                </a:moveTo>
                <a:lnTo>
                  <a:pt x="5154168" y="246887"/>
                </a:lnTo>
                <a:lnTo>
                  <a:pt x="5151882" y="252221"/>
                </a:lnTo>
                <a:lnTo>
                  <a:pt x="5145023" y="265175"/>
                </a:lnTo>
                <a:lnTo>
                  <a:pt x="5164073" y="274319"/>
                </a:lnTo>
                <a:lnTo>
                  <a:pt x="5170170" y="261365"/>
                </a:lnTo>
                <a:lnTo>
                  <a:pt x="5173218" y="255269"/>
                </a:lnTo>
                <a:close/>
              </a:path>
              <a:path w="5220970" h="680720">
                <a:moveTo>
                  <a:pt x="5220462" y="225551"/>
                </a:moveTo>
                <a:lnTo>
                  <a:pt x="5210556" y="132587"/>
                </a:lnTo>
                <a:lnTo>
                  <a:pt x="5141975" y="196595"/>
                </a:lnTo>
                <a:lnTo>
                  <a:pt x="5220462" y="225551"/>
                </a:lnTo>
                <a:close/>
              </a:path>
              <a:path w="5220970" h="680720">
                <a:moveTo>
                  <a:pt x="5189982" y="216407"/>
                </a:moveTo>
                <a:lnTo>
                  <a:pt x="5170170" y="208787"/>
                </a:lnTo>
                <a:lnTo>
                  <a:pt x="5169408" y="211835"/>
                </a:lnTo>
                <a:lnTo>
                  <a:pt x="5162549" y="227837"/>
                </a:lnTo>
                <a:lnTo>
                  <a:pt x="5181599" y="236219"/>
                </a:lnTo>
                <a:lnTo>
                  <a:pt x="5189220" y="219455"/>
                </a:lnTo>
                <a:lnTo>
                  <a:pt x="5189982" y="216407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261712" y="3341269"/>
            <a:ext cx="10212339" cy="1592103"/>
          </a:xfrm>
          <a:prstGeom prst="rect">
            <a:avLst/>
          </a:prstGeom>
        </p:spPr>
        <p:txBody>
          <a:bodyPr vert="horz" wrap="square" lIns="0" tIns="189865" rIns="0" bIns="0" rtlCol="0">
            <a:spAutoFit/>
          </a:bodyPr>
          <a:lstStyle/>
          <a:p>
            <a:pPr marL="833755" algn="ctr">
              <a:lnSpc>
                <a:spcPct val="100000"/>
              </a:lnSpc>
              <a:spcBef>
                <a:spcPts val="1495"/>
              </a:spcBef>
            </a:pPr>
            <a:r>
              <a:rPr sz="2600" i="1" spc="15" dirty="0">
                <a:latin typeface="Times New Roman"/>
                <a:cs typeface="Times New Roman"/>
              </a:rPr>
              <a:t>express dV</a:t>
            </a:r>
            <a:r>
              <a:rPr sz="2600" i="1" dirty="0">
                <a:latin typeface="Times New Roman"/>
                <a:cs typeface="Times New Roman"/>
              </a:rPr>
              <a:t> </a:t>
            </a:r>
            <a:r>
              <a:rPr sz="2600" i="1" spc="10" dirty="0">
                <a:latin typeface="Times New Roman"/>
                <a:cs typeface="Times New Roman"/>
              </a:rPr>
              <a:t>as</a:t>
            </a:r>
            <a:endParaRPr sz="26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2370"/>
              </a:spcBef>
              <a:tabLst>
                <a:tab pos="793115" algn="l"/>
                <a:tab pos="4352925" algn="l"/>
              </a:tabLst>
            </a:pPr>
            <a:r>
              <a:rPr sz="6750" baseline="-12962" dirty="0">
                <a:latin typeface="Symbol"/>
                <a:cs typeface="Symbol"/>
              </a:rPr>
              <a:t></a:t>
            </a:r>
            <a:r>
              <a:rPr sz="6750" spc="-232" baseline="-12962" dirty="0">
                <a:latin typeface="Symbol"/>
                <a:cs typeface="Symbol"/>
              </a:rPr>
              <a:t></a:t>
            </a:r>
            <a:r>
              <a:rPr sz="2625" i="1" spc="7" baseline="-53968" dirty="0">
                <a:latin typeface="Times New Roman"/>
                <a:cs typeface="Times New Roman"/>
              </a:rPr>
              <a:t>D</a:t>
            </a:r>
            <a:r>
              <a:rPr sz="2625" i="1" baseline="-53968" dirty="0">
                <a:latin typeface="Times New Roman"/>
                <a:cs typeface="Times New Roman"/>
              </a:rPr>
              <a:t>	</a:t>
            </a:r>
            <a:r>
              <a:rPr sz="3000" i="1" spc="5" dirty="0">
                <a:latin typeface="Times New Roman"/>
                <a:cs typeface="Times New Roman"/>
              </a:rPr>
              <a:t>f</a:t>
            </a:r>
            <a:r>
              <a:rPr sz="3000" i="1" spc="-65" dirty="0">
                <a:latin typeface="Times New Roman"/>
                <a:cs typeface="Times New Roman"/>
              </a:rPr>
              <a:t> </a:t>
            </a:r>
            <a:r>
              <a:rPr sz="3000" spc="5" dirty="0">
                <a:latin typeface="Times New Roman"/>
                <a:cs typeface="Times New Roman"/>
              </a:rPr>
              <a:t>(</a:t>
            </a:r>
            <a:r>
              <a:rPr sz="3000" spc="-484" dirty="0">
                <a:latin typeface="Times New Roman"/>
                <a:cs typeface="Times New Roman"/>
              </a:rPr>
              <a:t> </a:t>
            </a:r>
            <a:r>
              <a:rPr sz="3000" i="1" spc="70" dirty="0">
                <a:latin typeface="Times New Roman"/>
                <a:cs typeface="Times New Roman"/>
              </a:rPr>
              <a:t>x</a:t>
            </a:r>
            <a:r>
              <a:rPr sz="3000" spc="5" dirty="0">
                <a:latin typeface="Times New Roman"/>
                <a:cs typeface="Times New Roman"/>
              </a:rPr>
              <a:t>,</a:t>
            </a:r>
            <a:r>
              <a:rPr sz="3000" spc="-150" dirty="0">
                <a:latin typeface="Times New Roman"/>
                <a:cs typeface="Times New Roman"/>
              </a:rPr>
              <a:t> </a:t>
            </a:r>
            <a:r>
              <a:rPr sz="3000" i="1" spc="95" dirty="0">
                <a:latin typeface="Times New Roman"/>
                <a:cs typeface="Times New Roman"/>
              </a:rPr>
              <a:t>y</a:t>
            </a:r>
            <a:r>
              <a:rPr sz="3000" spc="5" dirty="0">
                <a:latin typeface="Times New Roman"/>
                <a:cs typeface="Times New Roman"/>
              </a:rPr>
              <a:t>,</a:t>
            </a:r>
            <a:r>
              <a:rPr sz="3000" spc="-340" dirty="0">
                <a:latin typeface="Times New Roman"/>
                <a:cs typeface="Times New Roman"/>
              </a:rPr>
              <a:t> </a:t>
            </a:r>
            <a:r>
              <a:rPr sz="3000" i="1" spc="165" dirty="0">
                <a:latin typeface="Times New Roman"/>
                <a:cs typeface="Times New Roman"/>
              </a:rPr>
              <a:t>z</a:t>
            </a:r>
            <a:r>
              <a:rPr sz="3000" spc="50" dirty="0">
                <a:latin typeface="Times New Roman"/>
                <a:cs typeface="Times New Roman"/>
              </a:rPr>
              <a:t>)</a:t>
            </a:r>
            <a:r>
              <a:rPr sz="3000" i="1" spc="10" dirty="0">
                <a:latin typeface="Times New Roman"/>
                <a:cs typeface="Times New Roman"/>
              </a:rPr>
              <a:t>dxdydz</a:t>
            </a:r>
            <a:r>
              <a:rPr sz="3000" i="1" spc="15" dirty="0">
                <a:latin typeface="Times New Roman"/>
                <a:cs typeface="Times New Roman"/>
              </a:rPr>
              <a:t> </a:t>
            </a:r>
            <a:r>
              <a:rPr sz="3000" spc="10" dirty="0">
                <a:latin typeface="Symbol"/>
                <a:cs typeface="Symbol"/>
              </a:rPr>
              <a:t></a:t>
            </a:r>
            <a:r>
              <a:rPr sz="3000" spc="30" dirty="0">
                <a:latin typeface="Times New Roman"/>
                <a:cs typeface="Times New Roman"/>
              </a:rPr>
              <a:t> </a:t>
            </a:r>
            <a:r>
              <a:rPr sz="6750" baseline="-12962" dirty="0">
                <a:latin typeface="Symbol"/>
                <a:cs typeface="Symbol"/>
              </a:rPr>
              <a:t></a:t>
            </a:r>
            <a:r>
              <a:rPr sz="6750" spc="-202" baseline="-12962" dirty="0">
                <a:latin typeface="Symbol"/>
                <a:cs typeface="Symbol"/>
              </a:rPr>
              <a:t></a:t>
            </a:r>
            <a:r>
              <a:rPr sz="2625" i="1" spc="7" baseline="-53968" dirty="0">
                <a:latin typeface="Times New Roman"/>
                <a:cs typeface="Times New Roman"/>
              </a:rPr>
              <a:t>D</a:t>
            </a:r>
            <a:r>
              <a:rPr sz="2625" i="1" baseline="-53968" dirty="0">
                <a:latin typeface="Times New Roman"/>
                <a:cs typeface="Times New Roman"/>
              </a:rPr>
              <a:t>	</a:t>
            </a:r>
            <a:r>
              <a:rPr sz="3000" i="1" spc="5" dirty="0">
                <a:latin typeface="Times New Roman"/>
                <a:cs typeface="Times New Roman"/>
              </a:rPr>
              <a:t>f</a:t>
            </a:r>
            <a:r>
              <a:rPr sz="3000" i="1" spc="-70" dirty="0">
                <a:latin typeface="Times New Roman"/>
                <a:cs typeface="Times New Roman"/>
              </a:rPr>
              <a:t> </a:t>
            </a:r>
            <a:r>
              <a:rPr sz="3000" spc="150" dirty="0">
                <a:latin typeface="Times New Roman"/>
                <a:cs typeface="Times New Roman"/>
              </a:rPr>
              <a:t>(</a:t>
            </a:r>
            <a:r>
              <a:rPr sz="3000" i="1" spc="5" dirty="0">
                <a:latin typeface="Times New Roman"/>
                <a:cs typeface="Times New Roman"/>
              </a:rPr>
              <a:t>r</a:t>
            </a:r>
            <a:r>
              <a:rPr sz="3000" i="1" spc="-355" dirty="0">
                <a:latin typeface="Times New Roman"/>
                <a:cs typeface="Times New Roman"/>
              </a:rPr>
              <a:t> </a:t>
            </a:r>
            <a:r>
              <a:rPr sz="3000" spc="10" dirty="0">
                <a:latin typeface="Times New Roman"/>
                <a:cs typeface="Times New Roman"/>
              </a:rPr>
              <a:t>co</a:t>
            </a:r>
            <a:r>
              <a:rPr sz="3000" spc="70" dirty="0">
                <a:latin typeface="Times New Roman"/>
                <a:cs typeface="Times New Roman"/>
              </a:rPr>
              <a:t>s</a:t>
            </a:r>
            <a:r>
              <a:rPr sz="3200" i="1" spc="-95" dirty="0">
                <a:latin typeface="Symbol"/>
                <a:cs typeface="Symbol"/>
              </a:rPr>
              <a:t></a:t>
            </a:r>
            <a:r>
              <a:rPr sz="3200" spc="-445" dirty="0">
                <a:latin typeface="Times New Roman"/>
                <a:cs typeface="Times New Roman"/>
              </a:rPr>
              <a:t> </a:t>
            </a:r>
            <a:r>
              <a:rPr sz="3000" spc="5" dirty="0">
                <a:latin typeface="Times New Roman"/>
                <a:cs typeface="Times New Roman"/>
              </a:rPr>
              <a:t>,</a:t>
            </a:r>
            <a:r>
              <a:rPr sz="3000" spc="-434" dirty="0">
                <a:latin typeface="Times New Roman"/>
                <a:cs typeface="Times New Roman"/>
              </a:rPr>
              <a:t> </a:t>
            </a:r>
            <a:r>
              <a:rPr sz="3000" i="1" spc="5" dirty="0">
                <a:latin typeface="Times New Roman"/>
                <a:cs typeface="Times New Roman"/>
              </a:rPr>
              <a:t>r</a:t>
            </a:r>
            <a:r>
              <a:rPr sz="3000" i="1" spc="-415" dirty="0">
                <a:latin typeface="Times New Roman"/>
                <a:cs typeface="Times New Roman"/>
              </a:rPr>
              <a:t> </a:t>
            </a:r>
            <a:r>
              <a:rPr sz="3000" spc="5" dirty="0">
                <a:latin typeface="Times New Roman"/>
                <a:cs typeface="Times New Roman"/>
              </a:rPr>
              <a:t>si</a:t>
            </a:r>
            <a:r>
              <a:rPr sz="3000" spc="135" dirty="0">
                <a:latin typeface="Times New Roman"/>
                <a:cs typeface="Times New Roman"/>
              </a:rPr>
              <a:t>n</a:t>
            </a:r>
            <a:r>
              <a:rPr sz="3200" i="1" spc="-95" dirty="0">
                <a:latin typeface="Symbol"/>
                <a:cs typeface="Symbol"/>
              </a:rPr>
              <a:t></a:t>
            </a:r>
            <a:r>
              <a:rPr sz="3200" spc="-440" dirty="0">
                <a:latin typeface="Times New Roman"/>
                <a:cs typeface="Times New Roman"/>
              </a:rPr>
              <a:t> </a:t>
            </a:r>
            <a:r>
              <a:rPr sz="3000" spc="5" dirty="0">
                <a:latin typeface="Times New Roman"/>
                <a:cs typeface="Times New Roman"/>
              </a:rPr>
              <a:t>,</a:t>
            </a:r>
            <a:r>
              <a:rPr sz="3000" spc="-345" dirty="0">
                <a:latin typeface="Times New Roman"/>
                <a:cs typeface="Times New Roman"/>
              </a:rPr>
              <a:t> </a:t>
            </a:r>
            <a:r>
              <a:rPr sz="3000" i="1" spc="165" dirty="0">
                <a:latin typeface="Times New Roman"/>
                <a:cs typeface="Times New Roman"/>
              </a:rPr>
              <a:t>z</a:t>
            </a:r>
            <a:r>
              <a:rPr sz="3000" spc="80" dirty="0">
                <a:latin typeface="Times New Roman"/>
                <a:cs typeface="Times New Roman"/>
              </a:rPr>
              <a:t>)</a:t>
            </a:r>
            <a:r>
              <a:rPr sz="3000" i="1" spc="10" dirty="0">
                <a:latin typeface="Times New Roman"/>
                <a:cs typeface="Times New Roman"/>
              </a:rPr>
              <a:t>rdr</a:t>
            </a:r>
            <a:r>
              <a:rPr sz="3000" i="1" spc="-15" dirty="0">
                <a:latin typeface="Times New Roman"/>
                <a:cs typeface="Times New Roman"/>
              </a:rPr>
              <a:t>d</a:t>
            </a:r>
            <a:r>
              <a:rPr sz="3200" i="1" spc="-95" dirty="0">
                <a:latin typeface="Symbol"/>
                <a:cs typeface="Symbol"/>
              </a:rPr>
              <a:t></a:t>
            </a:r>
            <a:r>
              <a:rPr sz="3000" i="1" spc="10" dirty="0">
                <a:latin typeface="Times New Roman"/>
                <a:cs typeface="Times New Roman"/>
              </a:rPr>
              <a:t>dz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4294967295"/>
          </p:nvPr>
        </p:nvSpPr>
        <p:spPr>
          <a:xfrm>
            <a:off x="11775131" y="6429495"/>
            <a:ext cx="324812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805"/>
              </a:lnSpc>
            </a:pPr>
            <a:fld id="{81D60167-4931-47E6-BA6A-407CBD079E47}" type="slidenum">
              <a:rPr spc="-5" dirty="0"/>
              <a:pPr marL="25400">
                <a:lnSpc>
                  <a:spcPts val="1805"/>
                </a:lnSpc>
              </a:pPr>
              <a:t>22</a:t>
            </a:fld>
            <a:endParaRPr spc="-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0366" y="300765"/>
            <a:ext cx="11215255" cy="81624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605280" marR="5080" indent="-1593215">
              <a:lnSpc>
                <a:spcPct val="100400"/>
              </a:lnSpc>
              <a:spcBef>
                <a:spcPts val="125"/>
              </a:spcBef>
            </a:pPr>
            <a:r>
              <a:rPr lang="en-US" sz="2600" u="heavy" spc="15" dirty="0" smtClean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sz="2600" spc="15" dirty="0" smtClean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    </a:t>
            </a:r>
            <a:r>
              <a:rPr sz="2600" u="heavy" spc="15" smtClean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Example</a:t>
            </a:r>
            <a:r>
              <a:rPr sz="2600" spc="15" smtClean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600" spc="20" dirty="0">
                <a:solidFill>
                  <a:srgbClr val="FF3300"/>
                </a:solidFill>
                <a:latin typeface="Times New Roman"/>
                <a:cs typeface="Times New Roman"/>
              </a:rPr>
              <a:t>1 </a:t>
            </a:r>
            <a:r>
              <a:rPr sz="2600" spc="10" dirty="0">
                <a:latin typeface="Times New Roman"/>
                <a:cs typeface="Times New Roman"/>
              </a:rPr>
              <a:t>(P9-15-45): Convert the following equation to cylindrical  coordinates: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39222" y="1106245"/>
            <a:ext cx="3228879" cy="621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  <a:tabLst>
                <a:tab pos="1048385" algn="l"/>
                <a:tab pos="1999614" algn="l"/>
              </a:tabLst>
            </a:pPr>
            <a:r>
              <a:rPr sz="3950" spc="5" dirty="0">
                <a:latin typeface="Symbol"/>
                <a:cs typeface="Symbol"/>
              </a:rPr>
              <a:t></a:t>
            </a:r>
            <a:r>
              <a:rPr sz="3950" spc="340" dirty="0">
                <a:latin typeface="Times New Roman"/>
                <a:cs typeface="Times New Roman"/>
              </a:rPr>
              <a:t> </a:t>
            </a:r>
            <a:r>
              <a:rPr sz="3950" i="1" spc="155" dirty="0">
                <a:latin typeface="Times New Roman"/>
                <a:cs typeface="Times New Roman"/>
              </a:rPr>
              <a:t>y</a:t>
            </a:r>
            <a:r>
              <a:rPr sz="3450" spc="232" baseline="43478" dirty="0">
                <a:latin typeface="Times New Roman"/>
                <a:cs typeface="Times New Roman"/>
              </a:rPr>
              <a:t>2	</a:t>
            </a:r>
            <a:r>
              <a:rPr sz="3950" spc="5" dirty="0">
                <a:latin typeface="Symbol"/>
                <a:cs typeface="Symbol"/>
              </a:rPr>
              <a:t></a:t>
            </a:r>
            <a:r>
              <a:rPr sz="3950" spc="55" dirty="0">
                <a:latin typeface="Times New Roman"/>
                <a:cs typeface="Times New Roman"/>
              </a:rPr>
              <a:t> </a:t>
            </a:r>
            <a:r>
              <a:rPr sz="3950" i="1" spc="140" dirty="0">
                <a:latin typeface="Times New Roman"/>
                <a:cs typeface="Times New Roman"/>
              </a:rPr>
              <a:t>z</a:t>
            </a:r>
            <a:r>
              <a:rPr sz="3450" spc="209" baseline="43478" dirty="0">
                <a:latin typeface="Times New Roman"/>
                <a:cs typeface="Times New Roman"/>
              </a:rPr>
              <a:t>2	</a:t>
            </a:r>
            <a:r>
              <a:rPr sz="3950" spc="5" dirty="0">
                <a:latin typeface="Symbol"/>
                <a:cs typeface="Symbol"/>
              </a:rPr>
              <a:t></a:t>
            </a:r>
            <a:r>
              <a:rPr sz="3950" spc="-380" dirty="0">
                <a:latin typeface="Times New Roman"/>
                <a:cs typeface="Times New Roman"/>
              </a:rPr>
              <a:t> </a:t>
            </a:r>
            <a:r>
              <a:rPr sz="3950" spc="5" dirty="0">
                <a:latin typeface="Times New Roman"/>
                <a:cs typeface="Times New Roman"/>
              </a:rPr>
              <a:t>1</a:t>
            </a:r>
            <a:endParaRPr sz="39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21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5925" i="1" spc="195" baseline="-25316" dirty="0">
                <a:latin typeface="Times New Roman"/>
                <a:cs typeface="Times New Roman"/>
              </a:rPr>
              <a:t>x</a:t>
            </a:r>
            <a:r>
              <a:rPr sz="2300" spc="130" dirty="0"/>
              <a:t>2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9589" y="2563956"/>
            <a:ext cx="8004848" cy="2163413"/>
          </a:xfrm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90"/>
              </a:spcBef>
            </a:pPr>
            <a:r>
              <a:rPr sz="2600" u="heavy" spc="15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Example</a:t>
            </a:r>
            <a:r>
              <a:rPr sz="2600" spc="15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600" spc="20" smtClean="0">
                <a:solidFill>
                  <a:srgbClr val="FF3300"/>
                </a:solidFill>
                <a:latin typeface="Times New Roman"/>
                <a:cs typeface="Times New Roman"/>
              </a:rPr>
              <a:t>2</a:t>
            </a:r>
            <a:endParaRPr sz="2600">
              <a:latin typeface="Times New Roman"/>
              <a:cs typeface="Times New Roman"/>
            </a:endParaRPr>
          </a:p>
          <a:p>
            <a:pPr marL="340360" marR="220345">
              <a:lnSpc>
                <a:spcPct val="100400"/>
              </a:lnSpc>
              <a:spcBef>
                <a:spcPts val="885"/>
              </a:spcBef>
            </a:pPr>
            <a:r>
              <a:rPr sz="2600" spc="15" dirty="0">
                <a:latin typeface="Times New Roman"/>
                <a:cs typeface="Times New Roman"/>
              </a:rPr>
              <a:t>Use </a:t>
            </a:r>
            <a:r>
              <a:rPr sz="2600" spc="5" dirty="0">
                <a:latin typeface="Times New Roman"/>
                <a:cs typeface="Times New Roman"/>
              </a:rPr>
              <a:t>triple </a:t>
            </a:r>
            <a:r>
              <a:rPr sz="2600" spc="10" dirty="0">
                <a:latin typeface="Times New Roman"/>
                <a:cs typeface="Times New Roman"/>
              </a:rPr>
              <a:t>integrals in cylindrical coordinates  to find the </a:t>
            </a:r>
            <a:r>
              <a:rPr sz="2600" spc="15" dirty="0">
                <a:latin typeface="Times New Roman"/>
                <a:cs typeface="Times New Roman"/>
              </a:rPr>
              <a:t>volume </a:t>
            </a:r>
            <a:r>
              <a:rPr sz="2600" spc="25" dirty="0">
                <a:latin typeface="Times New Roman"/>
                <a:cs typeface="Times New Roman"/>
              </a:rPr>
              <a:t>V </a:t>
            </a:r>
            <a:r>
              <a:rPr sz="2600" spc="15" dirty="0">
                <a:latin typeface="Times New Roman"/>
                <a:cs typeface="Times New Roman"/>
              </a:rPr>
              <a:t>bounded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by:</a:t>
            </a:r>
            <a:endParaRPr sz="2600">
              <a:latin typeface="Times New Roman"/>
              <a:cs typeface="Times New Roman"/>
            </a:endParaRPr>
          </a:p>
          <a:p>
            <a:pPr marL="516255">
              <a:lnSpc>
                <a:spcPct val="100000"/>
              </a:lnSpc>
              <a:spcBef>
                <a:spcPts val="1614"/>
              </a:spcBef>
              <a:tabLst>
                <a:tab pos="1814195" algn="l"/>
                <a:tab pos="2665730" algn="l"/>
                <a:tab pos="4735195" algn="l"/>
                <a:tab pos="5755640" algn="l"/>
              </a:tabLst>
            </a:pPr>
            <a:r>
              <a:rPr sz="3350" i="1" spc="-5" dirty="0">
                <a:latin typeface="Times New Roman"/>
                <a:cs typeface="Times New Roman"/>
              </a:rPr>
              <a:t>x </a:t>
            </a:r>
            <a:r>
              <a:rPr sz="2925" baseline="42735" dirty="0">
                <a:latin typeface="Times New Roman"/>
                <a:cs typeface="Times New Roman"/>
              </a:rPr>
              <a:t>2</a:t>
            </a:r>
            <a:r>
              <a:rPr sz="2925" spc="-315" baseline="42735" dirty="0">
                <a:latin typeface="Times New Roman"/>
                <a:cs typeface="Times New Roman"/>
              </a:rPr>
              <a:t> </a:t>
            </a:r>
            <a:r>
              <a:rPr sz="3350" spc="-5" dirty="0">
                <a:latin typeface="Symbol"/>
                <a:cs typeface="Symbol"/>
              </a:rPr>
              <a:t></a:t>
            </a:r>
            <a:r>
              <a:rPr sz="3350" spc="220" dirty="0">
                <a:latin typeface="Times New Roman"/>
                <a:cs typeface="Times New Roman"/>
              </a:rPr>
              <a:t> </a:t>
            </a:r>
            <a:r>
              <a:rPr sz="3350" i="1" spc="125" dirty="0">
                <a:latin typeface="Times New Roman"/>
                <a:cs typeface="Times New Roman"/>
              </a:rPr>
              <a:t>y</a:t>
            </a:r>
            <a:r>
              <a:rPr sz="2925" spc="187" baseline="42735" dirty="0">
                <a:latin typeface="Times New Roman"/>
                <a:cs typeface="Times New Roman"/>
              </a:rPr>
              <a:t>2	</a:t>
            </a:r>
            <a:r>
              <a:rPr sz="3350" spc="-5" dirty="0">
                <a:latin typeface="Symbol"/>
                <a:cs typeface="Symbol"/>
              </a:rPr>
              <a:t></a:t>
            </a:r>
            <a:r>
              <a:rPr sz="3350" spc="-30" dirty="0">
                <a:latin typeface="Times New Roman"/>
                <a:cs typeface="Times New Roman"/>
              </a:rPr>
              <a:t> 4,	</a:t>
            </a:r>
            <a:r>
              <a:rPr sz="3350" i="1" spc="105" dirty="0">
                <a:latin typeface="Times New Roman"/>
                <a:cs typeface="Times New Roman"/>
              </a:rPr>
              <a:t>x</a:t>
            </a:r>
            <a:r>
              <a:rPr sz="2925" spc="157" baseline="42735" dirty="0">
                <a:latin typeface="Times New Roman"/>
                <a:cs typeface="Times New Roman"/>
              </a:rPr>
              <a:t>2  </a:t>
            </a:r>
            <a:r>
              <a:rPr sz="3350" spc="-5" dirty="0">
                <a:latin typeface="Symbol"/>
                <a:cs typeface="Symbol"/>
              </a:rPr>
              <a:t></a:t>
            </a:r>
            <a:r>
              <a:rPr sz="3350" spc="-5" dirty="0">
                <a:latin typeface="Times New Roman"/>
                <a:cs typeface="Times New Roman"/>
              </a:rPr>
              <a:t> </a:t>
            </a:r>
            <a:r>
              <a:rPr sz="3350" i="1" spc="125" dirty="0">
                <a:latin typeface="Times New Roman"/>
                <a:cs typeface="Times New Roman"/>
              </a:rPr>
              <a:t>y</a:t>
            </a:r>
            <a:r>
              <a:rPr sz="2925" spc="187" baseline="42735" dirty="0">
                <a:latin typeface="Times New Roman"/>
                <a:cs typeface="Times New Roman"/>
              </a:rPr>
              <a:t>2</a:t>
            </a:r>
            <a:r>
              <a:rPr sz="2925" spc="502" baseline="42735" dirty="0">
                <a:latin typeface="Times New Roman"/>
                <a:cs typeface="Times New Roman"/>
              </a:rPr>
              <a:t> </a:t>
            </a:r>
            <a:r>
              <a:rPr sz="3350" spc="-5" dirty="0">
                <a:latin typeface="Symbol"/>
                <a:cs typeface="Symbol"/>
              </a:rPr>
              <a:t></a:t>
            </a:r>
            <a:r>
              <a:rPr sz="3350" spc="10" dirty="0">
                <a:latin typeface="Times New Roman"/>
                <a:cs typeface="Times New Roman"/>
              </a:rPr>
              <a:t> </a:t>
            </a:r>
            <a:r>
              <a:rPr sz="3350" i="1" spc="114" dirty="0">
                <a:latin typeface="Times New Roman"/>
                <a:cs typeface="Times New Roman"/>
              </a:rPr>
              <a:t>z</a:t>
            </a:r>
            <a:r>
              <a:rPr sz="2925" spc="172" baseline="42735" dirty="0">
                <a:latin typeface="Times New Roman"/>
                <a:cs typeface="Times New Roman"/>
              </a:rPr>
              <a:t>2	</a:t>
            </a:r>
            <a:r>
              <a:rPr sz="3350" spc="-5" dirty="0">
                <a:latin typeface="Symbol"/>
                <a:cs typeface="Symbol"/>
              </a:rPr>
              <a:t></a:t>
            </a:r>
            <a:r>
              <a:rPr sz="3350" spc="-340" dirty="0">
                <a:latin typeface="Times New Roman"/>
                <a:cs typeface="Times New Roman"/>
              </a:rPr>
              <a:t> </a:t>
            </a:r>
            <a:r>
              <a:rPr sz="3350" spc="-20" dirty="0">
                <a:latin typeface="Times New Roman"/>
                <a:cs typeface="Times New Roman"/>
              </a:rPr>
              <a:t>16,	</a:t>
            </a:r>
            <a:r>
              <a:rPr sz="3350" i="1" spc="-5" dirty="0">
                <a:latin typeface="Times New Roman"/>
                <a:cs typeface="Times New Roman"/>
              </a:rPr>
              <a:t>z </a:t>
            </a:r>
            <a:r>
              <a:rPr sz="3350" spc="-5" dirty="0">
                <a:latin typeface="Symbol"/>
                <a:cs typeface="Symbol"/>
              </a:rPr>
              <a:t></a:t>
            </a:r>
            <a:r>
              <a:rPr sz="3350" spc="-185" dirty="0">
                <a:latin typeface="Times New Roman"/>
                <a:cs typeface="Times New Roman"/>
              </a:rPr>
              <a:t> </a:t>
            </a:r>
            <a:r>
              <a:rPr sz="3350" spc="-5" dirty="0">
                <a:latin typeface="Times New Roman"/>
                <a:cs typeface="Times New Roman"/>
              </a:rPr>
              <a:t>0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74913" y="4227083"/>
            <a:ext cx="3269370" cy="22651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82809" y="5889363"/>
            <a:ext cx="4324156" cy="41806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spc="20" dirty="0">
                <a:solidFill>
                  <a:srgbClr val="FF3300"/>
                </a:solidFill>
                <a:latin typeface="Arial"/>
                <a:cs typeface="Arial"/>
              </a:rPr>
              <a:t>Give </a:t>
            </a:r>
            <a:r>
              <a:rPr sz="2600" spc="15" dirty="0">
                <a:solidFill>
                  <a:srgbClr val="FF3300"/>
                </a:solidFill>
                <a:latin typeface="Arial"/>
                <a:cs typeface="Arial"/>
              </a:rPr>
              <a:t>details of</a:t>
            </a:r>
            <a:r>
              <a:rPr sz="2600" spc="-7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srgbClr val="FF3300"/>
                </a:solidFill>
                <a:latin typeface="Arial"/>
                <a:cs typeface="Arial"/>
              </a:rPr>
              <a:t>solutions</a:t>
            </a:r>
            <a:endParaRPr sz="26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11775131" y="6429495"/>
            <a:ext cx="324812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805"/>
              </a:lnSpc>
            </a:pPr>
            <a:fld id="{81D60167-4931-47E6-BA6A-407CBD079E47}" type="slidenum">
              <a:rPr spc="-5" dirty="0"/>
              <a:pPr marL="25400">
                <a:lnSpc>
                  <a:spcPts val="1805"/>
                </a:lnSpc>
              </a:pPr>
              <a:t>23</a:t>
            </a:fld>
            <a:endParaRPr spc="-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88206" y="191172"/>
            <a:ext cx="5352473" cy="55399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500" u="heavy" spc="5" dirty="0">
                <a:solidFill>
                  <a:srgbClr val="0065FF"/>
                </a:solidFill>
                <a:uFill>
                  <a:solidFill>
                    <a:srgbClr val="0065FF"/>
                  </a:solidFill>
                </a:uFill>
                <a:latin typeface="Arial"/>
                <a:cs typeface="Arial"/>
              </a:rPr>
              <a:t>Spherical</a:t>
            </a:r>
            <a:r>
              <a:rPr sz="3500" u="heavy" spc="-90" dirty="0">
                <a:solidFill>
                  <a:srgbClr val="0065FF"/>
                </a:solidFill>
                <a:uFill>
                  <a:solidFill>
                    <a:srgbClr val="0065FF"/>
                  </a:solidFill>
                </a:uFill>
                <a:latin typeface="Arial"/>
                <a:cs typeface="Arial"/>
              </a:rPr>
              <a:t> </a:t>
            </a:r>
            <a:r>
              <a:rPr sz="3500" u="heavy" spc="5" dirty="0">
                <a:solidFill>
                  <a:srgbClr val="0065FF"/>
                </a:solidFill>
                <a:uFill>
                  <a:solidFill>
                    <a:srgbClr val="0065FF"/>
                  </a:solidFill>
                </a:uFill>
                <a:latin typeface="Arial"/>
                <a:cs typeface="Arial"/>
              </a:rPr>
              <a:t>Coordinates</a:t>
            </a:r>
            <a:endParaRPr sz="3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07978" y="233306"/>
            <a:ext cx="3022137" cy="23525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132153" y="4067062"/>
            <a:ext cx="3496427" cy="26006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7450" y="2251261"/>
            <a:ext cx="5962073" cy="41806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u="heavy" spc="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Naming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u="heavy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convention</a:t>
            </a:r>
            <a:r>
              <a:rPr sz="2600" spc="10" dirty="0">
                <a:latin typeface="Times New Roman"/>
                <a:cs typeface="Times New Roman"/>
              </a:rPr>
              <a:t>: </a:t>
            </a:r>
            <a:r>
              <a:rPr sz="2600" spc="15" dirty="0">
                <a:latin typeface="Times New Roman"/>
                <a:cs typeface="Times New Roman"/>
              </a:rPr>
              <a:t>a </a:t>
            </a:r>
            <a:r>
              <a:rPr sz="2600" spc="10" dirty="0">
                <a:latin typeface="Times New Roman"/>
                <a:cs typeface="Times New Roman"/>
              </a:rPr>
              <a:t>point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P(x,y,z)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76170" y="2163445"/>
            <a:ext cx="2430703" cy="5892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50" spc="-5" dirty="0">
                <a:latin typeface="Symbol"/>
                <a:cs typeface="Symbol"/>
              </a:rPr>
              <a:t></a:t>
            </a:r>
            <a:r>
              <a:rPr sz="3550" spc="-5" dirty="0">
                <a:latin typeface="Times New Roman"/>
                <a:cs typeface="Times New Roman"/>
              </a:rPr>
              <a:t> </a:t>
            </a:r>
            <a:r>
              <a:rPr sz="3550" spc="75" dirty="0">
                <a:latin typeface="Times New Roman"/>
                <a:cs typeface="Times New Roman"/>
              </a:rPr>
              <a:t>(</a:t>
            </a:r>
            <a:r>
              <a:rPr sz="3750" i="1" spc="75" dirty="0">
                <a:latin typeface="Symbol"/>
                <a:cs typeface="Symbol"/>
              </a:rPr>
              <a:t></a:t>
            </a:r>
            <a:r>
              <a:rPr sz="3550" spc="75" dirty="0">
                <a:latin typeface="Times New Roman"/>
                <a:cs typeface="Times New Roman"/>
              </a:rPr>
              <a:t>,</a:t>
            </a:r>
            <a:r>
              <a:rPr sz="3750" i="1" spc="75" dirty="0">
                <a:latin typeface="Symbol"/>
                <a:cs typeface="Symbol"/>
              </a:rPr>
              <a:t></a:t>
            </a:r>
            <a:r>
              <a:rPr sz="3550" spc="75" dirty="0">
                <a:latin typeface="Times New Roman"/>
                <a:cs typeface="Times New Roman"/>
              </a:rPr>
              <a:t>,</a:t>
            </a:r>
            <a:r>
              <a:rPr sz="3750" i="1" spc="75" dirty="0">
                <a:latin typeface="Symbol"/>
                <a:cs typeface="Symbol"/>
              </a:rPr>
              <a:t></a:t>
            </a:r>
            <a:r>
              <a:rPr sz="3750" i="1" spc="-590" dirty="0">
                <a:latin typeface="Times New Roman"/>
                <a:cs typeface="Times New Roman"/>
              </a:rPr>
              <a:t> </a:t>
            </a:r>
            <a:r>
              <a:rPr sz="3550" spc="-5" dirty="0">
                <a:latin typeface="Times New Roman"/>
                <a:cs typeface="Times New Roman"/>
              </a:rPr>
              <a:t>)</a:t>
            </a:r>
            <a:endParaRPr sz="35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222894" y="5792993"/>
            <a:ext cx="49261" cy="20171"/>
          </a:xfrm>
          <a:custGeom>
            <a:avLst/>
            <a:gdLst/>
            <a:ahLst/>
            <a:cxnLst/>
            <a:rect l="l" t="t" r="r" b="b"/>
            <a:pathLst>
              <a:path w="40640" h="22859">
                <a:moveTo>
                  <a:pt x="0" y="22859"/>
                </a:moveTo>
                <a:lnTo>
                  <a:pt x="40386" y="0"/>
                </a:lnTo>
              </a:path>
            </a:pathLst>
          </a:custGeom>
          <a:ln w="132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71848" y="5799044"/>
            <a:ext cx="71582" cy="131109"/>
          </a:xfrm>
          <a:custGeom>
            <a:avLst/>
            <a:gdLst/>
            <a:ahLst/>
            <a:cxnLst/>
            <a:rect l="l" t="t" r="r" b="b"/>
            <a:pathLst>
              <a:path w="59055" h="148590">
                <a:moveTo>
                  <a:pt x="0" y="0"/>
                </a:moveTo>
                <a:lnTo>
                  <a:pt x="58673" y="148590"/>
                </a:lnTo>
              </a:path>
            </a:pathLst>
          </a:custGeom>
          <a:ln w="264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51279" y="5554980"/>
            <a:ext cx="1984279" cy="375397"/>
          </a:xfrm>
          <a:custGeom>
            <a:avLst/>
            <a:gdLst/>
            <a:ahLst/>
            <a:cxnLst/>
            <a:rect l="l" t="t" r="r" b="b"/>
            <a:pathLst>
              <a:path w="1637030" h="425450">
                <a:moveTo>
                  <a:pt x="0" y="425196"/>
                </a:moveTo>
                <a:lnTo>
                  <a:pt x="77724" y="0"/>
                </a:lnTo>
                <a:lnTo>
                  <a:pt x="1636776" y="0"/>
                </a:lnTo>
              </a:path>
            </a:pathLst>
          </a:custGeom>
          <a:ln w="132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932217" y="6326168"/>
            <a:ext cx="49261" cy="21291"/>
          </a:xfrm>
          <a:custGeom>
            <a:avLst/>
            <a:gdLst/>
            <a:ahLst/>
            <a:cxnLst/>
            <a:rect l="l" t="t" r="r" b="b"/>
            <a:pathLst>
              <a:path w="40639" h="24129">
                <a:moveTo>
                  <a:pt x="0" y="23622"/>
                </a:moveTo>
                <a:lnTo>
                  <a:pt x="40386" y="0"/>
                </a:lnTo>
              </a:path>
            </a:pathLst>
          </a:custGeom>
          <a:ln w="132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981169" y="6332220"/>
            <a:ext cx="72352" cy="132229"/>
          </a:xfrm>
          <a:custGeom>
            <a:avLst/>
            <a:gdLst/>
            <a:ahLst/>
            <a:cxnLst/>
            <a:rect l="l" t="t" r="r" b="b"/>
            <a:pathLst>
              <a:path w="59689" h="149859">
                <a:moveTo>
                  <a:pt x="0" y="0"/>
                </a:moveTo>
                <a:lnTo>
                  <a:pt x="59436" y="149351"/>
                </a:lnTo>
              </a:path>
            </a:pathLst>
          </a:custGeom>
          <a:ln w="264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060603" y="6088155"/>
            <a:ext cx="1266921" cy="375956"/>
          </a:xfrm>
          <a:custGeom>
            <a:avLst/>
            <a:gdLst/>
            <a:ahLst/>
            <a:cxnLst/>
            <a:rect l="l" t="t" r="r" b="b"/>
            <a:pathLst>
              <a:path w="1045210" h="426084">
                <a:moveTo>
                  <a:pt x="0" y="425958"/>
                </a:moveTo>
                <a:lnTo>
                  <a:pt x="78486" y="0"/>
                </a:lnTo>
                <a:lnTo>
                  <a:pt x="1044701" y="0"/>
                </a:lnTo>
              </a:path>
            </a:pathLst>
          </a:custGeom>
          <a:ln w="132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151121" y="5973207"/>
            <a:ext cx="401782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750" i="1" spc="127" baseline="-24444" dirty="0">
                <a:latin typeface="Times New Roman"/>
                <a:cs typeface="Times New Roman"/>
              </a:rPr>
              <a:t>x</a:t>
            </a:r>
            <a:r>
              <a:rPr sz="1450" spc="85" dirty="0"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4294967295"/>
          </p:nvPr>
        </p:nvSpPr>
        <p:spPr>
          <a:xfrm>
            <a:off x="11775131" y="6429495"/>
            <a:ext cx="324812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805"/>
              </a:lnSpc>
            </a:pPr>
            <a:fld id="{81D60167-4931-47E6-BA6A-407CBD079E47}" type="slidenum">
              <a:rPr spc="-5" dirty="0"/>
              <a:pPr marL="25400">
                <a:lnSpc>
                  <a:spcPts val="1805"/>
                </a:lnSpc>
              </a:pPr>
              <a:t>24</a:t>
            </a:fld>
            <a:endParaRPr spc="-5" dirty="0"/>
          </a:p>
        </p:txBody>
      </p:sp>
      <p:sp>
        <p:nvSpPr>
          <p:cNvPr id="14" name="object 14"/>
          <p:cNvSpPr txBox="1"/>
          <p:nvPr/>
        </p:nvSpPr>
        <p:spPr>
          <a:xfrm>
            <a:off x="1441817" y="5440036"/>
            <a:ext cx="401782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750" i="1" spc="127" baseline="-24444" dirty="0">
                <a:latin typeface="Times New Roman"/>
                <a:cs typeface="Times New Roman"/>
              </a:rPr>
              <a:t>x</a:t>
            </a:r>
            <a:r>
              <a:rPr sz="1450" spc="85" dirty="0"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71394" y="6098965"/>
            <a:ext cx="134697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latin typeface="Symbol"/>
                <a:cs typeface="Symbol"/>
              </a:rPr>
              <a:t>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i="1" spc="100" dirty="0">
                <a:latin typeface="Times New Roman"/>
                <a:cs typeface="Times New Roman"/>
              </a:rPr>
              <a:t>y</a:t>
            </a:r>
            <a:r>
              <a:rPr sz="2175" spc="150" baseline="42145" dirty="0">
                <a:latin typeface="Times New Roman"/>
                <a:cs typeface="Times New Roman"/>
              </a:rPr>
              <a:t>2 </a:t>
            </a:r>
            <a:r>
              <a:rPr sz="2500" dirty="0">
                <a:latin typeface="Times New Roman"/>
                <a:cs typeface="Times New Roman"/>
              </a:rPr>
              <a:t>/</a:t>
            </a:r>
            <a:r>
              <a:rPr sz="2500" spc="-165" dirty="0">
                <a:latin typeface="Times New Roman"/>
                <a:cs typeface="Times New Roman"/>
              </a:rPr>
              <a:t> </a:t>
            </a:r>
            <a:r>
              <a:rPr sz="2500" i="1" spc="65" dirty="0">
                <a:latin typeface="Times New Roman"/>
                <a:cs typeface="Times New Roman"/>
              </a:rPr>
              <a:t>z</a:t>
            </a:r>
            <a:r>
              <a:rPr sz="2500" spc="65" dirty="0">
                <a:latin typeface="Times New Roman"/>
                <a:cs typeface="Times New Roman"/>
              </a:rPr>
              <a:t>)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29710" y="6082981"/>
            <a:ext cx="1618673" cy="41998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650" i="1" spc="-80" dirty="0">
                <a:latin typeface="Symbol"/>
                <a:cs typeface="Symbol"/>
              </a:rPr>
              <a:t></a:t>
            </a:r>
            <a:r>
              <a:rPr sz="2650" i="1" spc="-8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Symbol"/>
                <a:cs typeface="Symbol"/>
              </a:rPr>
              <a:t></a:t>
            </a:r>
            <a:r>
              <a:rPr sz="2500" spc="190" dirty="0">
                <a:latin typeface="Times New Roman"/>
                <a:cs typeface="Times New Roman"/>
              </a:rPr>
              <a:t> </a:t>
            </a:r>
            <a:r>
              <a:rPr sz="2500" spc="55" dirty="0">
                <a:latin typeface="Times New Roman"/>
                <a:cs typeface="Times New Roman"/>
              </a:rPr>
              <a:t>tan</a:t>
            </a:r>
            <a:r>
              <a:rPr sz="2175" spc="82" baseline="42145" dirty="0">
                <a:latin typeface="Symbol"/>
                <a:cs typeface="Symbol"/>
              </a:rPr>
              <a:t></a:t>
            </a:r>
            <a:r>
              <a:rPr sz="2175" spc="82" baseline="42145" dirty="0">
                <a:latin typeface="Times New Roman"/>
                <a:cs typeface="Times New Roman"/>
              </a:rPr>
              <a:t>1</a:t>
            </a:r>
            <a:r>
              <a:rPr sz="2500" spc="55" dirty="0">
                <a:latin typeface="Times New Roman"/>
                <a:cs typeface="Times New Roman"/>
              </a:rPr>
              <a:t>(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8913" y="5549812"/>
            <a:ext cx="2994891" cy="41998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153795" algn="l"/>
              </a:tabLst>
            </a:pPr>
            <a:r>
              <a:rPr sz="2650" i="1" spc="-85" dirty="0">
                <a:latin typeface="Symbol"/>
                <a:cs typeface="Symbol"/>
              </a:rPr>
              <a:t></a:t>
            </a:r>
            <a:r>
              <a:rPr sz="2650" i="1" spc="15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Symbol"/>
                <a:cs typeface="Symbol"/>
              </a:rPr>
              <a:t></a:t>
            </a:r>
            <a:r>
              <a:rPr sz="2500" dirty="0">
                <a:latin typeface="Times New Roman"/>
                <a:cs typeface="Times New Roman"/>
              </a:rPr>
              <a:t>	</a:t>
            </a:r>
            <a:r>
              <a:rPr sz="2500" dirty="0">
                <a:latin typeface="Symbol"/>
                <a:cs typeface="Symbol"/>
              </a:rPr>
              <a:t>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i="1" spc="95" dirty="0">
                <a:latin typeface="Times New Roman"/>
                <a:cs typeface="Times New Roman"/>
              </a:rPr>
              <a:t>y</a:t>
            </a:r>
            <a:r>
              <a:rPr sz="2175" spc="142" baseline="42145" dirty="0">
                <a:latin typeface="Times New Roman"/>
                <a:cs typeface="Times New Roman"/>
              </a:rPr>
              <a:t>2 </a:t>
            </a:r>
            <a:r>
              <a:rPr sz="2500" dirty="0">
                <a:latin typeface="Symbol"/>
                <a:cs typeface="Symbol"/>
              </a:rPr>
              <a:t>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i="1" spc="85" dirty="0">
                <a:latin typeface="Times New Roman"/>
                <a:cs typeface="Times New Roman"/>
              </a:rPr>
              <a:t>z</a:t>
            </a:r>
            <a:r>
              <a:rPr sz="2175" spc="127" baseline="42145" dirty="0">
                <a:latin typeface="Times New Roman"/>
                <a:cs typeface="Times New Roman"/>
              </a:rPr>
              <a:t>2</a:t>
            </a:r>
            <a:r>
              <a:rPr sz="2175" spc="104" baseline="42145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,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6962" y="6082981"/>
            <a:ext cx="2536152" cy="41998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650" i="1" spc="-80" dirty="0">
                <a:latin typeface="Symbol"/>
                <a:cs typeface="Symbol"/>
              </a:rPr>
              <a:t></a:t>
            </a:r>
            <a:r>
              <a:rPr sz="2650" i="1" spc="-8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Symbol"/>
                <a:cs typeface="Symbol"/>
              </a:rPr>
              <a:t>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500" b="1" spc="20" dirty="0">
                <a:latin typeface="Times New Roman"/>
                <a:cs typeface="Times New Roman"/>
              </a:rPr>
              <a:t>tan</a:t>
            </a:r>
            <a:r>
              <a:rPr sz="2175" b="1" spc="30" baseline="42145" dirty="0">
                <a:latin typeface="Times New Roman"/>
                <a:cs typeface="Times New Roman"/>
              </a:rPr>
              <a:t>-1 </a:t>
            </a:r>
            <a:r>
              <a:rPr sz="2500" dirty="0">
                <a:latin typeface="Times New Roman"/>
                <a:cs typeface="Times New Roman"/>
              </a:rPr>
              <a:t>( </a:t>
            </a:r>
            <a:r>
              <a:rPr sz="2500" i="1" dirty="0">
                <a:latin typeface="Times New Roman"/>
                <a:cs typeface="Times New Roman"/>
              </a:rPr>
              <a:t>y</a:t>
            </a:r>
            <a:r>
              <a:rPr sz="2500" i="1" spc="-49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Times New Roman"/>
                <a:cs typeface="Times New Roman"/>
              </a:rPr>
              <a:t>/ </a:t>
            </a:r>
            <a:r>
              <a:rPr sz="2500" i="1" spc="40" dirty="0">
                <a:latin typeface="Times New Roman"/>
                <a:cs typeface="Times New Roman"/>
              </a:rPr>
              <a:t>x</a:t>
            </a:r>
            <a:r>
              <a:rPr sz="2500" spc="40" dirty="0">
                <a:latin typeface="Times New Roman"/>
                <a:cs typeface="Times New Roman"/>
              </a:rPr>
              <a:t>),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7450" y="2959922"/>
            <a:ext cx="7614612" cy="280397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715645">
              <a:lnSpc>
                <a:spcPct val="100000"/>
              </a:lnSpc>
              <a:spcBef>
                <a:spcPts val="140"/>
              </a:spcBef>
            </a:pPr>
            <a:r>
              <a:rPr sz="2600" spc="20" dirty="0">
                <a:latin typeface="Symbol"/>
                <a:cs typeface="Symbol"/>
              </a:rPr>
              <a:t>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varies </a:t>
            </a:r>
            <a:r>
              <a:rPr sz="2600" spc="15" dirty="0">
                <a:latin typeface="Times New Roman"/>
                <a:cs typeface="Times New Roman"/>
              </a:rPr>
              <a:t>from </a:t>
            </a:r>
            <a:r>
              <a:rPr sz="2600" spc="20" dirty="0">
                <a:latin typeface="Times New Roman"/>
                <a:cs typeface="Times New Roman"/>
              </a:rPr>
              <a:t>0 </a:t>
            </a:r>
            <a:r>
              <a:rPr sz="2600" spc="10" dirty="0">
                <a:latin typeface="Times New Roman"/>
                <a:cs typeface="Times New Roman"/>
              </a:rPr>
              <a:t>to </a:t>
            </a:r>
            <a:r>
              <a:rPr sz="2600" spc="15" dirty="0">
                <a:latin typeface="Symbol"/>
                <a:cs typeface="Symbol"/>
              </a:rPr>
              <a:t></a:t>
            </a:r>
            <a:r>
              <a:rPr sz="2600" spc="15" dirty="0">
                <a:latin typeface="Times New Roman"/>
                <a:cs typeface="Times New Roman"/>
              </a:rPr>
              <a:t>; </a:t>
            </a:r>
            <a:r>
              <a:rPr sz="2600" spc="20" dirty="0">
                <a:latin typeface="Symbol"/>
                <a:cs typeface="Symbol"/>
              </a:rPr>
              <a:t>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varies </a:t>
            </a:r>
            <a:r>
              <a:rPr sz="2600" spc="15" dirty="0">
                <a:latin typeface="Times New Roman"/>
                <a:cs typeface="Times New Roman"/>
              </a:rPr>
              <a:t>from </a:t>
            </a:r>
            <a:r>
              <a:rPr sz="2600" spc="20" dirty="0">
                <a:latin typeface="Times New Roman"/>
                <a:cs typeface="Times New Roman"/>
              </a:rPr>
              <a:t>0 </a:t>
            </a:r>
            <a:r>
              <a:rPr sz="2600" spc="10" dirty="0">
                <a:latin typeface="Times New Roman"/>
                <a:cs typeface="Times New Roman"/>
              </a:rPr>
              <a:t>to</a:t>
            </a:r>
            <a:r>
              <a:rPr sz="2600" spc="-155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Symbol"/>
                <a:cs typeface="Symbol"/>
              </a:rPr>
              <a:t></a:t>
            </a:r>
            <a:endParaRPr sz="2600">
              <a:latin typeface="Symbol"/>
              <a:cs typeface="Symbol"/>
            </a:endParaRPr>
          </a:p>
          <a:p>
            <a:pPr marL="715645">
              <a:lnSpc>
                <a:spcPct val="100000"/>
              </a:lnSpc>
              <a:spcBef>
                <a:spcPts val="40"/>
              </a:spcBef>
            </a:pPr>
            <a:r>
              <a:rPr sz="2600" spc="20" dirty="0">
                <a:latin typeface="Symbol"/>
                <a:cs typeface="Symbol"/>
              </a:rPr>
              <a:t>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varies </a:t>
            </a:r>
            <a:r>
              <a:rPr sz="2600" spc="15" dirty="0">
                <a:latin typeface="Times New Roman"/>
                <a:cs typeface="Times New Roman"/>
              </a:rPr>
              <a:t>from </a:t>
            </a:r>
            <a:r>
              <a:rPr sz="2600" spc="20" dirty="0">
                <a:latin typeface="Times New Roman"/>
                <a:cs typeface="Times New Roman"/>
              </a:rPr>
              <a:t>0 </a:t>
            </a:r>
            <a:r>
              <a:rPr sz="2600" spc="10" dirty="0">
                <a:latin typeface="Times New Roman"/>
                <a:cs typeface="Times New Roman"/>
              </a:rPr>
              <a:t>to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2</a:t>
            </a:r>
            <a:r>
              <a:rPr sz="2600" spc="10" dirty="0">
                <a:latin typeface="Symbol"/>
                <a:cs typeface="Symbol"/>
              </a:rPr>
              <a:t></a:t>
            </a:r>
            <a:r>
              <a:rPr sz="2600" spc="10" dirty="0">
                <a:latin typeface="Times New Roman"/>
                <a:cs typeface="Times New Roman"/>
              </a:rPr>
              <a:t>,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600" u="heavy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Relation to Cartesian coordinates</a:t>
            </a:r>
            <a:r>
              <a:rPr sz="2600" u="heavy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600" u="heavy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(switching)</a:t>
            </a:r>
            <a:r>
              <a:rPr sz="2600" spc="10" dirty="0">
                <a:latin typeface="Times New Roman"/>
                <a:cs typeface="Times New Roman"/>
              </a:rPr>
              <a:t>:</a:t>
            </a:r>
            <a:endParaRPr sz="2600">
              <a:latin typeface="Times New Roman"/>
              <a:cs typeface="Times New Roman"/>
            </a:endParaRPr>
          </a:p>
          <a:p>
            <a:pPr marL="365760" marR="1309370" indent="9525">
              <a:lnSpc>
                <a:spcPct val="118100"/>
              </a:lnSpc>
              <a:spcBef>
                <a:spcPts val="1500"/>
              </a:spcBef>
              <a:tabLst>
                <a:tab pos="2952750" algn="l"/>
              </a:tabLst>
            </a:pPr>
            <a:r>
              <a:rPr sz="2500" i="1" dirty="0">
                <a:latin typeface="Times New Roman"/>
                <a:cs typeface="Times New Roman"/>
              </a:rPr>
              <a:t>x </a:t>
            </a:r>
            <a:r>
              <a:rPr sz="2500" dirty="0">
                <a:latin typeface="Symbol"/>
                <a:cs typeface="Symbol"/>
              </a:rPr>
              <a:t>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650" i="1" spc="-85" dirty="0">
                <a:latin typeface="Symbol"/>
                <a:cs typeface="Symbol"/>
              </a:rPr>
              <a:t></a:t>
            </a:r>
            <a:r>
              <a:rPr sz="2650" i="1" spc="-85" dirty="0">
                <a:latin typeface="Times New Roman"/>
                <a:cs typeface="Times New Roman"/>
              </a:rPr>
              <a:t> </a:t>
            </a:r>
            <a:r>
              <a:rPr sz="2500" spc="20" dirty="0">
                <a:latin typeface="Times New Roman"/>
                <a:cs typeface="Times New Roman"/>
              </a:rPr>
              <a:t>sin</a:t>
            </a:r>
            <a:r>
              <a:rPr sz="2650" i="1" spc="20" dirty="0">
                <a:latin typeface="Symbol"/>
                <a:cs typeface="Symbol"/>
              </a:rPr>
              <a:t></a:t>
            </a:r>
            <a:r>
              <a:rPr sz="2650" i="1" spc="-245" dirty="0">
                <a:latin typeface="Times New Roman"/>
                <a:cs typeface="Times New Roman"/>
              </a:rPr>
              <a:t> </a:t>
            </a:r>
            <a:r>
              <a:rPr sz="2500" spc="-5" dirty="0">
                <a:latin typeface="Times New Roman"/>
                <a:cs typeface="Times New Roman"/>
              </a:rPr>
              <a:t>cos</a:t>
            </a:r>
            <a:r>
              <a:rPr sz="2650" i="1" spc="-5" dirty="0">
                <a:latin typeface="Symbol"/>
                <a:cs typeface="Symbol"/>
              </a:rPr>
              <a:t></a:t>
            </a:r>
            <a:r>
              <a:rPr sz="2650" i="1" spc="100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,	y</a:t>
            </a:r>
            <a:r>
              <a:rPr sz="2500" b="1" spc="-20" dirty="0">
                <a:latin typeface="Times New Roman"/>
                <a:cs typeface="Times New Roman"/>
              </a:rPr>
              <a:t> </a:t>
            </a:r>
            <a:r>
              <a:rPr sz="2500" dirty="0">
                <a:latin typeface="Symbol"/>
                <a:cs typeface="Symbol"/>
              </a:rPr>
              <a:t></a:t>
            </a:r>
            <a:r>
              <a:rPr sz="2500" spc="95" dirty="0">
                <a:latin typeface="Times New Roman"/>
                <a:cs typeface="Times New Roman"/>
              </a:rPr>
              <a:t> </a:t>
            </a:r>
            <a:r>
              <a:rPr sz="2650" i="1" spc="-85" dirty="0">
                <a:latin typeface="Symbol"/>
                <a:cs typeface="Symbol"/>
              </a:rPr>
              <a:t></a:t>
            </a:r>
            <a:r>
              <a:rPr sz="2650" i="1" spc="-250" dirty="0">
                <a:latin typeface="Times New Roman"/>
                <a:cs typeface="Times New Roman"/>
              </a:rPr>
              <a:t> </a:t>
            </a:r>
            <a:r>
              <a:rPr sz="2500" spc="20" dirty="0">
                <a:latin typeface="Times New Roman"/>
                <a:cs typeface="Times New Roman"/>
              </a:rPr>
              <a:t>sin</a:t>
            </a:r>
            <a:r>
              <a:rPr sz="2650" i="1" spc="20" dirty="0">
                <a:latin typeface="Symbol"/>
                <a:cs typeface="Symbol"/>
              </a:rPr>
              <a:t></a:t>
            </a:r>
            <a:r>
              <a:rPr sz="2650" i="1" spc="-310" dirty="0">
                <a:latin typeface="Times New Roman"/>
                <a:cs typeface="Times New Roman"/>
              </a:rPr>
              <a:t> </a:t>
            </a:r>
            <a:r>
              <a:rPr sz="2500" spc="5" dirty="0">
                <a:latin typeface="Times New Roman"/>
                <a:cs typeface="Times New Roman"/>
              </a:rPr>
              <a:t>sin</a:t>
            </a:r>
            <a:r>
              <a:rPr sz="2650" i="1" spc="5" dirty="0">
                <a:latin typeface="Symbol"/>
                <a:cs typeface="Symbol"/>
              </a:rPr>
              <a:t></a:t>
            </a:r>
            <a:r>
              <a:rPr sz="2650" i="1" spc="-345" dirty="0">
                <a:latin typeface="Times New Roman"/>
                <a:cs typeface="Times New Roman"/>
              </a:rPr>
              <a:t> </a:t>
            </a:r>
            <a:r>
              <a:rPr sz="2500" b="1" dirty="0">
                <a:latin typeface="Times New Roman"/>
                <a:cs typeface="Times New Roman"/>
              </a:rPr>
              <a:t>,  z </a:t>
            </a:r>
            <a:r>
              <a:rPr sz="2500" dirty="0">
                <a:latin typeface="Symbol"/>
                <a:cs typeface="Symbol"/>
              </a:rPr>
              <a:t></a:t>
            </a:r>
            <a:r>
              <a:rPr sz="2500" dirty="0">
                <a:latin typeface="Times New Roman"/>
                <a:cs typeface="Times New Roman"/>
              </a:rPr>
              <a:t> </a:t>
            </a:r>
            <a:r>
              <a:rPr sz="2650" i="1" spc="-85" dirty="0">
                <a:latin typeface="Symbol"/>
                <a:cs typeface="Symbol"/>
              </a:rPr>
              <a:t></a:t>
            </a:r>
            <a:r>
              <a:rPr sz="2650" i="1" spc="-95" dirty="0">
                <a:latin typeface="Times New Roman"/>
                <a:cs typeface="Times New Roman"/>
              </a:rPr>
              <a:t> </a:t>
            </a:r>
            <a:r>
              <a:rPr sz="2500" spc="5" dirty="0">
                <a:latin typeface="Times New Roman"/>
                <a:cs typeface="Times New Roman"/>
              </a:rPr>
              <a:t>cos</a:t>
            </a:r>
            <a:r>
              <a:rPr sz="2650" i="1" spc="5" dirty="0">
                <a:latin typeface="Symbol"/>
                <a:cs typeface="Symbol"/>
              </a:rPr>
              <a:t></a:t>
            </a:r>
            <a:endParaRPr sz="265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7417" y="833931"/>
            <a:ext cx="7416030" cy="81624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125"/>
              </a:spcBef>
            </a:pPr>
            <a:r>
              <a:rPr lang="en-US" sz="2600" spc="10" dirty="0" smtClean="0">
                <a:latin typeface="Times New Roman"/>
                <a:cs typeface="Times New Roman"/>
              </a:rPr>
              <a:t>         </a:t>
            </a:r>
            <a:r>
              <a:rPr sz="2600" spc="10" smtClean="0">
                <a:latin typeface="Times New Roman"/>
                <a:cs typeface="Times New Roman"/>
              </a:rPr>
              <a:t>Spherical </a:t>
            </a:r>
            <a:r>
              <a:rPr sz="2600" spc="10" dirty="0">
                <a:latin typeface="Times New Roman"/>
                <a:cs typeface="Times New Roman"/>
              </a:rPr>
              <a:t>coordinates are </a:t>
            </a:r>
            <a:r>
              <a:rPr sz="2600" spc="15" dirty="0">
                <a:latin typeface="Times New Roman"/>
                <a:cs typeface="Times New Roman"/>
              </a:rPr>
              <a:t>good </a:t>
            </a:r>
            <a:r>
              <a:rPr sz="2600" spc="10" dirty="0">
                <a:latin typeface="Times New Roman"/>
                <a:cs typeface="Times New Roman"/>
              </a:rPr>
              <a:t>for describing  solids that are </a:t>
            </a:r>
            <a:r>
              <a:rPr sz="2600" b="1" i="1" spc="10" dirty="0">
                <a:latin typeface="Times New Roman"/>
                <a:cs typeface="Times New Roman"/>
              </a:rPr>
              <a:t>symmetric </a:t>
            </a:r>
            <a:r>
              <a:rPr sz="2600" b="1" i="1" spc="15" dirty="0">
                <a:latin typeface="Times New Roman"/>
                <a:cs typeface="Times New Roman"/>
              </a:rPr>
              <a:t>around </a:t>
            </a:r>
            <a:r>
              <a:rPr sz="2600" b="1" i="1" spc="10" dirty="0">
                <a:latin typeface="Times New Roman"/>
                <a:cs typeface="Times New Roman"/>
              </a:rPr>
              <a:t>the</a:t>
            </a:r>
            <a:r>
              <a:rPr sz="2600" b="1" i="1" spc="-40" dirty="0">
                <a:latin typeface="Times New Roman"/>
                <a:cs typeface="Times New Roman"/>
              </a:rPr>
              <a:t> </a:t>
            </a:r>
            <a:r>
              <a:rPr sz="2600" b="1" i="1" spc="10" dirty="0">
                <a:latin typeface="Times New Roman"/>
                <a:cs typeface="Times New Roman"/>
              </a:rPr>
              <a:t>point.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21665" y="193252"/>
            <a:ext cx="4699461" cy="37939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3208" y="404980"/>
            <a:ext cx="5352473" cy="1113766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 marR="5080">
              <a:lnSpc>
                <a:spcPts val="4170"/>
              </a:lnSpc>
              <a:spcBef>
                <a:spcPts val="285"/>
              </a:spcBef>
            </a:pPr>
            <a:r>
              <a:rPr lang="en-US" sz="3500" dirty="0" smtClean="0">
                <a:solidFill>
                  <a:srgbClr val="0065FF"/>
                </a:solidFill>
                <a:uFill>
                  <a:solidFill>
                    <a:srgbClr val="0065FF"/>
                  </a:solidFill>
                </a:uFill>
                <a:latin typeface="Arial"/>
                <a:cs typeface="Arial"/>
              </a:rPr>
              <a:t>   </a:t>
            </a:r>
            <a:r>
              <a:rPr sz="3500" u="heavy" smtClean="0">
                <a:solidFill>
                  <a:srgbClr val="0065FF"/>
                </a:solidFill>
                <a:uFill>
                  <a:solidFill>
                    <a:srgbClr val="0065FF"/>
                  </a:solidFill>
                </a:uFill>
                <a:latin typeface="Arial"/>
                <a:cs typeface="Arial"/>
              </a:rPr>
              <a:t>Triple </a:t>
            </a:r>
            <a:r>
              <a:rPr sz="3500" u="heavy" dirty="0">
                <a:solidFill>
                  <a:srgbClr val="0065FF"/>
                </a:solidFill>
                <a:uFill>
                  <a:solidFill>
                    <a:srgbClr val="0065FF"/>
                  </a:solidFill>
                </a:uFill>
                <a:latin typeface="Arial"/>
                <a:cs typeface="Arial"/>
              </a:rPr>
              <a:t>Integrals </a:t>
            </a:r>
            <a:r>
              <a:rPr sz="3500" u="heavy">
                <a:solidFill>
                  <a:srgbClr val="0065FF"/>
                </a:solidFill>
                <a:uFill>
                  <a:solidFill>
                    <a:srgbClr val="0065FF"/>
                  </a:solidFill>
                </a:uFill>
                <a:latin typeface="Arial"/>
                <a:cs typeface="Arial"/>
              </a:rPr>
              <a:t>in </a:t>
            </a:r>
            <a:r>
              <a:rPr sz="3500">
                <a:solidFill>
                  <a:srgbClr val="0065FF"/>
                </a:solidFill>
                <a:latin typeface="Arial"/>
                <a:cs typeface="Arial"/>
              </a:rPr>
              <a:t> </a:t>
            </a:r>
            <a:r>
              <a:rPr lang="en-US" sz="3500" dirty="0" smtClean="0">
                <a:solidFill>
                  <a:srgbClr val="0065FF"/>
                </a:solidFill>
                <a:latin typeface="Arial"/>
                <a:cs typeface="Arial"/>
              </a:rPr>
              <a:t>    </a:t>
            </a:r>
            <a:r>
              <a:rPr sz="3500" u="heavy" spc="5" smtClean="0">
                <a:solidFill>
                  <a:srgbClr val="0065FF"/>
                </a:solidFill>
                <a:uFill>
                  <a:solidFill>
                    <a:srgbClr val="0065FF"/>
                  </a:solidFill>
                </a:uFill>
                <a:latin typeface="Arial"/>
                <a:cs typeface="Arial"/>
              </a:rPr>
              <a:t>Spherical</a:t>
            </a:r>
            <a:r>
              <a:rPr sz="3500" u="heavy" spc="-95" smtClean="0">
                <a:solidFill>
                  <a:srgbClr val="0065FF"/>
                </a:solidFill>
                <a:uFill>
                  <a:solidFill>
                    <a:srgbClr val="0065FF"/>
                  </a:solidFill>
                </a:uFill>
                <a:latin typeface="Arial"/>
                <a:cs typeface="Arial"/>
              </a:rPr>
              <a:t> </a:t>
            </a:r>
            <a:r>
              <a:rPr sz="3500" u="heavy" spc="5" dirty="0">
                <a:solidFill>
                  <a:srgbClr val="0065FF"/>
                </a:solidFill>
                <a:uFill>
                  <a:solidFill>
                    <a:srgbClr val="0065FF"/>
                  </a:solidFill>
                </a:uFill>
                <a:latin typeface="Arial"/>
                <a:cs typeface="Arial"/>
              </a:rPr>
              <a:t>Coordinates</a:t>
            </a:r>
            <a:endParaRPr sz="3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63807" y="5552997"/>
            <a:ext cx="527242" cy="52450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150" i="1" dirty="0">
                <a:latin typeface="Times New Roman"/>
                <a:cs typeface="Times New Roman"/>
              </a:rPr>
              <a:t>d</a:t>
            </a:r>
            <a:r>
              <a:rPr sz="3300" i="1" spc="-80" dirty="0">
                <a:latin typeface="Symbol"/>
                <a:cs typeface="Symbol"/>
              </a:rPr>
              <a:t></a:t>
            </a:r>
            <a:endParaRPr sz="3300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1456" y="4528868"/>
            <a:ext cx="235527" cy="29431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i="1" spc="25" dirty="0">
                <a:latin typeface="Times New Roman"/>
                <a:cs typeface="Times New Roman"/>
              </a:rPr>
              <a:t>D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78594" y="4528868"/>
            <a:ext cx="235527" cy="29431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i="1" spc="25" dirty="0">
                <a:latin typeface="Times New Roman"/>
                <a:cs typeface="Times New Roman"/>
              </a:rPr>
              <a:t>D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41321" y="5552997"/>
            <a:ext cx="2153612" cy="52450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414655" algn="l"/>
                <a:tab pos="1075055" algn="l"/>
              </a:tabLst>
            </a:pPr>
            <a:r>
              <a:rPr sz="3300" i="1" spc="-85" dirty="0">
                <a:latin typeface="Symbol"/>
                <a:cs typeface="Symbol"/>
              </a:rPr>
              <a:t></a:t>
            </a:r>
            <a:r>
              <a:rPr sz="3300" spc="-85" dirty="0">
                <a:latin typeface="Times New Roman"/>
                <a:cs typeface="Times New Roman"/>
              </a:rPr>
              <a:t>	</a:t>
            </a:r>
            <a:r>
              <a:rPr sz="3150" i="1" dirty="0">
                <a:latin typeface="Times New Roman"/>
                <a:cs typeface="Times New Roman"/>
              </a:rPr>
              <a:t>d</a:t>
            </a:r>
            <a:r>
              <a:rPr sz="3300" i="1" spc="-85" dirty="0">
                <a:latin typeface="Symbol"/>
                <a:cs typeface="Symbol"/>
              </a:rPr>
              <a:t></a:t>
            </a:r>
            <a:r>
              <a:rPr sz="3300" spc="-85" dirty="0">
                <a:latin typeface="Times New Roman"/>
                <a:cs typeface="Times New Roman"/>
              </a:rPr>
              <a:t>	</a:t>
            </a:r>
            <a:r>
              <a:rPr sz="3150" dirty="0">
                <a:latin typeface="Times New Roman"/>
                <a:cs typeface="Times New Roman"/>
              </a:rPr>
              <a:t>si</a:t>
            </a:r>
            <a:r>
              <a:rPr sz="3150" spc="195" dirty="0">
                <a:latin typeface="Times New Roman"/>
                <a:cs typeface="Times New Roman"/>
              </a:rPr>
              <a:t>n</a:t>
            </a:r>
            <a:r>
              <a:rPr sz="3300" i="1" spc="-185" dirty="0">
                <a:latin typeface="Symbol"/>
                <a:cs typeface="Symbol"/>
              </a:rPr>
              <a:t></a:t>
            </a:r>
            <a:endParaRPr sz="330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48679" y="5552997"/>
            <a:ext cx="2310630" cy="52450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150" i="1" spc="75" dirty="0">
                <a:latin typeface="Times New Roman"/>
                <a:cs typeface="Times New Roman"/>
              </a:rPr>
              <a:t>u</a:t>
            </a:r>
            <a:r>
              <a:rPr sz="3150" spc="75" dirty="0">
                <a:latin typeface="Times New Roman"/>
                <a:cs typeface="Times New Roman"/>
              </a:rPr>
              <a:t>(</a:t>
            </a:r>
            <a:r>
              <a:rPr sz="3300" i="1" spc="75" dirty="0">
                <a:latin typeface="Symbol"/>
                <a:cs typeface="Symbol"/>
              </a:rPr>
              <a:t></a:t>
            </a:r>
            <a:r>
              <a:rPr sz="3150" spc="75" dirty="0">
                <a:latin typeface="Times New Roman"/>
                <a:cs typeface="Times New Roman"/>
              </a:rPr>
              <a:t>,</a:t>
            </a:r>
            <a:r>
              <a:rPr sz="3300" i="1" spc="75" dirty="0">
                <a:latin typeface="Symbol"/>
                <a:cs typeface="Symbol"/>
              </a:rPr>
              <a:t></a:t>
            </a:r>
            <a:r>
              <a:rPr sz="3150" spc="75" dirty="0">
                <a:latin typeface="Times New Roman"/>
                <a:cs typeface="Times New Roman"/>
              </a:rPr>
              <a:t>,</a:t>
            </a:r>
            <a:r>
              <a:rPr sz="3300" i="1" spc="75" dirty="0">
                <a:latin typeface="Symbol"/>
                <a:cs typeface="Symbol"/>
              </a:rPr>
              <a:t></a:t>
            </a:r>
            <a:r>
              <a:rPr sz="3300" i="1" spc="-415" dirty="0">
                <a:latin typeface="Times New Roman"/>
                <a:cs typeface="Times New Roman"/>
              </a:rPr>
              <a:t> </a:t>
            </a:r>
            <a:r>
              <a:rPr sz="3150" spc="-10" dirty="0">
                <a:latin typeface="Times New Roman"/>
                <a:cs typeface="Times New Roman"/>
              </a:rPr>
              <a:t>)</a:t>
            </a:r>
            <a:r>
              <a:rPr sz="3150" i="1" spc="-10" dirty="0">
                <a:latin typeface="Times New Roman"/>
                <a:cs typeface="Times New Roman"/>
              </a:rPr>
              <a:t>d</a:t>
            </a:r>
            <a:r>
              <a:rPr sz="3300" i="1" spc="-10" dirty="0">
                <a:latin typeface="Symbol"/>
                <a:cs typeface="Symbol"/>
              </a:rPr>
              <a:t></a:t>
            </a:r>
            <a:endParaRPr sz="330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9756" y="4826765"/>
            <a:ext cx="2015067" cy="4975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50" i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Substitue</a:t>
            </a:r>
            <a:r>
              <a:rPr sz="3150" i="1" spc="-409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: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39151" y="4165940"/>
            <a:ext cx="4703618" cy="52450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953260" algn="l"/>
              </a:tabLst>
            </a:pPr>
            <a:r>
              <a:rPr sz="3150" i="1" spc="75" dirty="0">
                <a:latin typeface="Times New Roman"/>
                <a:cs typeface="Times New Roman"/>
              </a:rPr>
              <a:t>u</a:t>
            </a:r>
            <a:r>
              <a:rPr sz="3150" spc="75" dirty="0">
                <a:latin typeface="Times New Roman"/>
                <a:cs typeface="Times New Roman"/>
              </a:rPr>
              <a:t>(</a:t>
            </a:r>
            <a:r>
              <a:rPr sz="3300" i="1" spc="75" dirty="0">
                <a:latin typeface="Symbol"/>
                <a:cs typeface="Symbol"/>
              </a:rPr>
              <a:t></a:t>
            </a:r>
            <a:r>
              <a:rPr sz="3150" spc="75" dirty="0">
                <a:latin typeface="Times New Roman"/>
                <a:cs typeface="Times New Roman"/>
              </a:rPr>
              <a:t>,</a:t>
            </a:r>
            <a:r>
              <a:rPr sz="3300" i="1" spc="75" dirty="0">
                <a:latin typeface="Symbol"/>
                <a:cs typeface="Symbol"/>
              </a:rPr>
              <a:t></a:t>
            </a:r>
            <a:r>
              <a:rPr sz="3150" spc="75" dirty="0">
                <a:latin typeface="Times New Roman"/>
                <a:cs typeface="Times New Roman"/>
              </a:rPr>
              <a:t>,</a:t>
            </a:r>
            <a:r>
              <a:rPr sz="3300" i="1" spc="75" dirty="0">
                <a:latin typeface="Symbol"/>
                <a:cs typeface="Symbol"/>
              </a:rPr>
              <a:t></a:t>
            </a:r>
            <a:r>
              <a:rPr sz="3300" i="1" spc="-345" dirty="0">
                <a:latin typeface="Times New Roman"/>
                <a:cs typeface="Times New Roman"/>
              </a:rPr>
              <a:t> </a:t>
            </a:r>
            <a:r>
              <a:rPr sz="3150" spc="30" dirty="0">
                <a:latin typeface="Times New Roman"/>
                <a:cs typeface="Times New Roman"/>
              </a:rPr>
              <a:t>)</a:t>
            </a:r>
            <a:r>
              <a:rPr sz="3300" i="1" spc="30" dirty="0">
                <a:latin typeface="Symbol"/>
                <a:cs typeface="Symbol"/>
              </a:rPr>
              <a:t></a:t>
            </a:r>
            <a:r>
              <a:rPr sz="3300" spc="30" dirty="0">
                <a:latin typeface="Times New Roman"/>
                <a:cs typeface="Times New Roman"/>
              </a:rPr>
              <a:t>	</a:t>
            </a:r>
            <a:r>
              <a:rPr sz="3150" spc="-35" dirty="0">
                <a:latin typeface="Times New Roman"/>
                <a:cs typeface="Times New Roman"/>
              </a:rPr>
              <a:t>sin</a:t>
            </a:r>
            <a:r>
              <a:rPr sz="3300" i="1" spc="-35" dirty="0">
                <a:latin typeface="Symbol"/>
                <a:cs typeface="Symbol"/>
              </a:rPr>
              <a:t></a:t>
            </a:r>
            <a:r>
              <a:rPr sz="3150" i="1" spc="-35" dirty="0">
                <a:latin typeface="Times New Roman"/>
                <a:cs typeface="Times New Roman"/>
              </a:rPr>
              <a:t>d</a:t>
            </a:r>
            <a:r>
              <a:rPr sz="3300" i="1" spc="-35" dirty="0">
                <a:latin typeface="Symbol"/>
                <a:cs typeface="Symbol"/>
              </a:rPr>
              <a:t></a:t>
            </a:r>
            <a:r>
              <a:rPr sz="3150" i="1" spc="-35" dirty="0">
                <a:latin typeface="Times New Roman"/>
                <a:cs typeface="Times New Roman"/>
              </a:rPr>
              <a:t>d</a:t>
            </a:r>
            <a:r>
              <a:rPr sz="3300" i="1" spc="-35" dirty="0">
                <a:latin typeface="Symbol"/>
                <a:cs typeface="Symbol"/>
              </a:rPr>
              <a:t></a:t>
            </a:r>
            <a:r>
              <a:rPr sz="3150" i="1" spc="-35" dirty="0">
                <a:latin typeface="Times New Roman"/>
                <a:cs typeface="Times New Roman"/>
              </a:rPr>
              <a:t>d</a:t>
            </a:r>
            <a:r>
              <a:rPr sz="3300" i="1" spc="-35" dirty="0">
                <a:latin typeface="Symbol"/>
                <a:cs typeface="Symbol"/>
              </a:rPr>
              <a:t></a:t>
            </a:r>
            <a:endParaRPr sz="33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67172" y="4174549"/>
            <a:ext cx="172412" cy="29431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spc="15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03892" y="5520844"/>
            <a:ext cx="230909" cy="7393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700" spc="5" dirty="0">
                <a:latin typeface="Symbol"/>
                <a:cs typeface="Symbol"/>
              </a:rPr>
              <a:t></a:t>
            </a:r>
            <a:endParaRPr sz="47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49978" y="5520844"/>
            <a:ext cx="230909" cy="7393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700" spc="5" dirty="0">
                <a:latin typeface="Symbol"/>
                <a:cs typeface="Symbol"/>
              </a:rPr>
              <a:t></a:t>
            </a:r>
            <a:endParaRPr sz="470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28183" y="5520844"/>
            <a:ext cx="230909" cy="7393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700" spc="5" dirty="0">
                <a:latin typeface="Symbol"/>
                <a:cs typeface="Symbol"/>
              </a:rPr>
              <a:t></a:t>
            </a:r>
            <a:endParaRPr sz="470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9757" y="4133128"/>
            <a:ext cx="627303" cy="7393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700" dirty="0">
                <a:latin typeface="Symbol"/>
                <a:cs typeface="Symbol"/>
              </a:rPr>
              <a:t></a:t>
            </a:r>
            <a:endParaRPr sz="470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04022" y="4133128"/>
            <a:ext cx="627303" cy="7393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700" dirty="0">
                <a:latin typeface="Symbol"/>
                <a:cs typeface="Symbol"/>
              </a:rPr>
              <a:t></a:t>
            </a:r>
            <a:endParaRPr sz="470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261599" y="5757984"/>
            <a:ext cx="278630" cy="4975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150" spc="-2345" dirty="0">
                <a:latin typeface="Symbol"/>
                <a:cs typeface="Symbol"/>
              </a:rPr>
              <a:t>⎥</a:t>
            </a:r>
            <a:r>
              <a:rPr sz="4725" spc="-1702" baseline="-14991" dirty="0">
                <a:latin typeface="Symbol"/>
                <a:cs typeface="Symbol"/>
              </a:rPr>
              <a:t>⎦</a:t>
            </a:r>
            <a:endParaRPr sz="4725" baseline="-14991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570104" y="5415786"/>
            <a:ext cx="939800" cy="4975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08330" algn="l"/>
              </a:tabLst>
            </a:pPr>
            <a:r>
              <a:rPr sz="1800" spc="15" dirty="0">
                <a:latin typeface="Times New Roman"/>
                <a:cs typeface="Times New Roman"/>
              </a:rPr>
              <a:t>2	</a:t>
            </a:r>
            <a:r>
              <a:rPr sz="3150" spc="-1889" dirty="0">
                <a:latin typeface="Symbol"/>
                <a:cs typeface="Symbol"/>
              </a:rPr>
              <a:t>⎤</a:t>
            </a:r>
            <a:endParaRPr sz="315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10918" y="5415822"/>
            <a:ext cx="278630" cy="8848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3415"/>
              </a:lnSpc>
              <a:spcBef>
                <a:spcPts val="100"/>
              </a:spcBef>
            </a:pPr>
            <a:r>
              <a:rPr sz="3150" spc="-1135" dirty="0">
                <a:latin typeface="Symbol"/>
                <a:cs typeface="Symbol"/>
              </a:rPr>
              <a:t>⎡</a:t>
            </a:r>
            <a:endParaRPr sz="3150">
              <a:latin typeface="Symbol"/>
              <a:cs typeface="Symbol"/>
            </a:endParaRPr>
          </a:p>
          <a:p>
            <a:pPr marL="38100">
              <a:lnSpc>
                <a:spcPts val="3415"/>
              </a:lnSpc>
            </a:pPr>
            <a:r>
              <a:rPr sz="3150" spc="-2345" dirty="0">
                <a:latin typeface="Symbol"/>
                <a:cs typeface="Symbol"/>
              </a:rPr>
              <a:t>⎢</a:t>
            </a:r>
            <a:r>
              <a:rPr sz="4725" spc="-1702" baseline="-14991" dirty="0">
                <a:latin typeface="Symbol"/>
                <a:cs typeface="Symbol"/>
              </a:rPr>
              <a:t>⎣</a:t>
            </a:r>
            <a:endParaRPr sz="4725" baseline="-14991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027019" y="5593332"/>
            <a:ext cx="217055" cy="4975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50" spc="-1135" dirty="0">
                <a:latin typeface="Symbol"/>
                <a:cs typeface="Symbol"/>
              </a:rPr>
              <a:t>⎟</a:t>
            </a:r>
            <a:endParaRPr sz="315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027019" y="5822596"/>
            <a:ext cx="217055" cy="4975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50" spc="-1135" dirty="0">
                <a:latin typeface="Symbol"/>
                <a:cs typeface="Symbol"/>
              </a:rPr>
              <a:t>⎠</a:t>
            </a:r>
            <a:endParaRPr sz="315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027019" y="5445389"/>
            <a:ext cx="201661" cy="4975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50" spc="-2345" dirty="0">
                <a:latin typeface="Symbol"/>
                <a:cs typeface="Symbol"/>
              </a:rPr>
              <a:t>⎞</a:t>
            </a:r>
            <a:endParaRPr sz="3150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969803" y="5593298"/>
            <a:ext cx="217055" cy="4975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50" spc="-1135" dirty="0">
                <a:latin typeface="Symbol"/>
                <a:cs typeface="Symbol"/>
              </a:rPr>
              <a:t>⎜</a:t>
            </a:r>
            <a:endParaRPr sz="3150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969803" y="5822560"/>
            <a:ext cx="217055" cy="4975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50" spc="-1135" dirty="0">
                <a:latin typeface="Symbol"/>
                <a:cs typeface="Symbol"/>
              </a:rPr>
              <a:t>⎝</a:t>
            </a:r>
            <a:endParaRPr sz="3150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969803" y="5445354"/>
            <a:ext cx="201661" cy="4975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50" spc="-2345" dirty="0">
                <a:latin typeface="Symbol"/>
                <a:cs typeface="Symbol"/>
              </a:rPr>
              <a:t>⎛</a:t>
            </a:r>
            <a:endParaRPr sz="3150"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074510" y="5573088"/>
            <a:ext cx="732752" cy="4975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1475" algn="l"/>
              </a:tabLst>
            </a:pPr>
            <a:r>
              <a:rPr sz="3150" i="1" dirty="0">
                <a:latin typeface="Times New Roman"/>
                <a:cs typeface="Times New Roman"/>
              </a:rPr>
              <a:t>I	</a:t>
            </a:r>
            <a:r>
              <a:rPr sz="3150" dirty="0">
                <a:latin typeface="Symbol"/>
                <a:cs typeface="Symbol"/>
              </a:rPr>
              <a:t></a:t>
            </a:r>
            <a:endParaRPr sz="3150">
              <a:latin typeface="Symbol"/>
              <a:cs typeface="Symbo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492565" y="4806675"/>
            <a:ext cx="2017376" cy="52450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150" i="1" dirty="0">
                <a:latin typeface="Times New Roman"/>
                <a:cs typeface="Times New Roman"/>
              </a:rPr>
              <a:t>z </a:t>
            </a:r>
            <a:r>
              <a:rPr sz="3150" dirty="0">
                <a:latin typeface="Symbol"/>
                <a:cs typeface="Symbol"/>
              </a:rPr>
              <a:t></a:t>
            </a:r>
            <a:r>
              <a:rPr sz="3150" dirty="0">
                <a:latin typeface="Times New Roman"/>
                <a:cs typeface="Times New Roman"/>
              </a:rPr>
              <a:t> </a:t>
            </a:r>
            <a:r>
              <a:rPr sz="3300" i="1" spc="-85" dirty="0">
                <a:latin typeface="Symbol"/>
                <a:cs typeface="Symbol"/>
              </a:rPr>
              <a:t></a:t>
            </a:r>
            <a:r>
              <a:rPr sz="3300" i="1" spc="-240" dirty="0">
                <a:latin typeface="Times New Roman"/>
                <a:cs typeface="Times New Roman"/>
              </a:rPr>
              <a:t> </a:t>
            </a:r>
            <a:r>
              <a:rPr sz="3150" spc="10" dirty="0">
                <a:latin typeface="Times New Roman"/>
                <a:cs typeface="Times New Roman"/>
              </a:rPr>
              <a:t>cos</a:t>
            </a:r>
            <a:r>
              <a:rPr sz="3300" i="1" spc="10" dirty="0">
                <a:latin typeface="Symbol"/>
                <a:cs typeface="Symbol"/>
              </a:rPr>
              <a:t></a:t>
            </a:r>
            <a:endParaRPr sz="3300">
              <a:latin typeface="Symbol"/>
              <a:cs typeface="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761100" y="4806675"/>
            <a:ext cx="6413885" cy="52450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783205" algn="l"/>
              </a:tabLst>
            </a:pPr>
            <a:r>
              <a:rPr sz="3150" i="1" dirty="0">
                <a:latin typeface="Times New Roman"/>
                <a:cs typeface="Times New Roman"/>
              </a:rPr>
              <a:t>x </a:t>
            </a:r>
            <a:r>
              <a:rPr sz="3150" dirty="0">
                <a:latin typeface="Symbol"/>
                <a:cs typeface="Symbol"/>
              </a:rPr>
              <a:t></a:t>
            </a:r>
            <a:r>
              <a:rPr sz="3150" dirty="0">
                <a:latin typeface="Times New Roman"/>
                <a:cs typeface="Times New Roman"/>
              </a:rPr>
              <a:t> </a:t>
            </a:r>
            <a:r>
              <a:rPr sz="3300" i="1" spc="-85" dirty="0">
                <a:latin typeface="Symbol"/>
                <a:cs typeface="Symbol"/>
              </a:rPr>
              <a:t></a:t>
            </a:r>
            <a:r>
              <a:rPr sz="3300" i="1" spc="-85" dirty="0">
                <a:latin typeface="Times New Roman"/>
                <a:cs typeface="Times New Roman"/>
              </a:rPr>
              <a:t> </a:t>
            </a:r>
            <a:r>
              <a:rPr sz="3150" spc="25" dirty="0">
                <a:latin typeface="Times New Roman"/>
                <a:cs typeface="Times New Roman"/>
              </a:rPr>
              <a:t>sin</a:t>
            </a:r>
            <a:r>
              <a:rPr sz="3300" i="1" spc="25" dirty="0">
                <a:latin typeface="Symbol"/>
                <a:cs typeface="Symbol"/>
              </a:rPr>
              <a:t></a:t>
            </a:r>
            <a:r>
              <a:rPr sz="3300" i="1" spc="-445" dirty="0">
                <a:latin typeface="Times New Roman"/>
                <a:cs typeface="Times New Roman"/>
              </a:rPr>
              <a:t> </a:t>
            </a:r>
            <a:r>
              <a:rPr sz="3150" spc="-5" dirty="0">
                <a:latin typeface="Times New Roman"/>
                <a:cs typeface="Times New Roman"/>
              </a:rPr>
              <a:t>cos</a:t>
            </a:r>
            <a:r>
              <a:rPr sz="3300" i="1" spc="-5" dirty="0">
                <a:latin typeface="Symbol"/>
                <a:cs typeface="Symbol"/>
              </a:rPr>
              <a:t></a:t>
            </a:r>
            <a:r>
              <a:rPr sz="3300" i="1" spc="-455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,	</a:t>
            </a:r>
            <a:r>
              <a:rPr sz="3150" i="1" dirty="0">
                <a:latin typeface="Times New Roman"/>
                <a:cs typeface="Times New Roman"/>
              </a:rPr>
              <a:t>y</a:t>
            </a:r>
            <a:r>
              <a:rPr sz="3150" i="1" spc="-10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Symbol"/>
                <a:cs typeface="Symbol"/>
              </a:rPr>
              <a:t></a:t>
            </a:r>
            <a:r>
              <a:rPr sz="3150" spc="55" dirty="0">
                <a:latin typeface="Times New Roman"/>
                <a:cs typeface="Times New Roman"/>
              </a:rPr>
              <a:t> </a:t>
            </a:r>
            <a:r>
              <a:rPr sz="3300" i="1" spc="-85" dirty="0">
                <a:latin typeface="Symbol"/>
                <a:cs typeface="Symbol"/>
              </a:rPr>
              <a:t></a:t>
            </a:r>
            <a:r>
              <a:rPr sz="3300" i="1" spc="-305" dirty="0">
                <a:latin typeface="Times New Roman"/>
                <a:cs typeface="Times New Roman"/>
              </a:rPr>
              <a:t> </a:t>
            </a:r>
            <a:r>
              <a:rPr sz="3150" spc="30" dirty="0">
                <a:latin typeface="Times New Roman"/>
                <a:cs typeface="Times New Roman"/>
              </a:rPr>
              <a:t>sin</a:t>
            </a:r>
            <a:r>
              <a:rPr sz="3300" i="1" spc="30" dirty="0">
                <a:latin typeface="Symbol"/>
                <a:cs typeface="Symbol"/>
              </a:rPr>
              <a:t></a:t>
            </a:r>
            <a:r>
              <a:rPr sz="3300" i="1" spc="-385" dirty="0">
                <a:latin typeface="Times New Roman"/>
                <a:cs typeface="Times New Roman"/>
              </a:rPr>
              <a:t> </a:t>
            </a:r>
            <a:r>
              <a:rPr sz="3150" spc="10" dirty="0">
                <a:latin typeface="Times New Roman"/>
                <a:cs typeface="Times New Roman"/>
              </a:rPr>
              <a:t>sin</a:t>
            </a:r>
            <a:r>
              <a:rPr sz="3300" i="1" spc="10" dirty="0">
                <a:latin typeface="Symbol"/>
                <a:cs typeface="Symbol"/>
              </a:rPr>
              <a:t></a:t>
            </a:r>
            <a:r>
              <a:rPr sz="3300" i="1" spc="-459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,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248142" y="4186030"/>
            <a:ext cx="3462097" cy="4975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50" i="1" dirty="0">
                <a:latin typeface="Times New Roman"/>
                <a:cs typeface="Times New Roman"/>
              </a:rPr>
              <a:t>f</a:t>
            </a:r>
            <a:r>
              <a:rPr sz="3150" i="1" spc="-90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Times New Roman"/>
                <a:cs typeface="Times New Roman"/>
              </a:rPr>
              <a:t>(</a:t>
            </a:r>
            <a:r>
              <a:rPr sz="3150" spc="-520" dirty="0">
                <a:latin typeface="Times New Roman"/>
                <a:cs typeface="Times New Roman"/>
              </a:rPr>
              <a:t> </a:t>
            </a:r>
            <a:r>
              <a:rPr sz="3150" i="1" spc="30" dirty="0">
                <a:latin typeface="Times New Roman"/>
                <a:cs typeface="Times New Roman"/>
              </a:rPr>
              <a:t>x</a:t>
            </a:r>
            <a:r>
              <a:rPr sz="3150" spc="30" dirty="0">
                <a:latin typeface="Times New Roman"/>
                <a:cs typeface="Times New Roman"/>
              </a:rPr>
              <a:t>,</a:t>
            </a:r>
            <a:r>
              <a:rPr sz="3150" spc="-180" dirty="0">
                <a:latin typeface="Times New Roman"/>
                <a:cs typeface="Times New Roman"/>
              </a:rPr>
              <a:t> </a:t>
            </a:r>
            <a:r>
              <a:rPr sz="3150" i="1" spc="45" dirty="0">
                <a:latin typeface="Times New Roman"/>
                <a:cs typeface="Times New Roman"/>
              </a:rPr>
              <a:t>y</a:t>
            </a:r>
            <a:r>
              <a:rPr sz="3150" spc="45" dirty="0">
                <a:latin typeface="Times New Roman"/>
                <a:cs typeface="Times New Roman"/>
              </a:rPr>
              <a:t>,</a:t>
            </a:r>
            <a:r>
              <a:rPr sz="3150" spc="-375" dirty="0">
                <a:latin typeface="Times New Roman"/>
                <a:cs typeface="Times New Roman"/>
              </a:rPr>
              <a:t> </a:t>
            </a:r>
            <a:r>
              <a:rPr sz="3150" i="1" spc="25" dirty="0">
                <a:latin typeface="Times New Roman"/>
                <a:cs typeface="Times New Roman"/>
              </a:rPr>
              <a:t>z</a:t>
            </a:r>
            <a:r>
              <a:rPr sz="3150" spc="25" dirty="0">
                <a:latin typeface="Times New Roman"/>
                <a:cs typeface="Times New Roman"/>
              </a:rPr>
              <a:t>)</a:t>
            </a:r>
            <a:r>
              <a:rPr sz="3150" i="1" spc="25" dirty="0">
                <a:latin typeface="Times New Roman"/>
                <a:cs typeface="Times New Roman"/>
              </a:rPr>
              <a:t>dxdydz</a:t>
            </a:r>
            <a:r>
              <a:rPr sz="3150" i="1" dirty="0">
                <a:latin typeface="Times New Roman"/>
                <a:cs typeface="Times New Roman"/>
              </a:rPr>
              <a:t> </a:t>
            </a:r>
            <a:r>
              <a:rPr sz="3150" dirty="0">
                <a:latin typeface="Symbol"/>
                <a:cs typeface="Symbol"/>
              </a:rPr>
              <a:t></a:t>
            </a:r>
            <a:endParaRPr sz="3150"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 rot="20460000">
            <a:off x="5646554" y="6187400"/>
            <a:ext cx="1560156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40"/>
              </a:lnSpc>
            </a:pPr>
            <a:r>
              <a:rPr sz="2600" spc="-15" dirty="0">
                <a:solidFill>
                  <a:srgbClr val="FF3300"/>
                </a:solidFill>
                <a:latin typeface="Symbol"/>
                <a:cs typeface="Symbol"/>
              </a:rPr>
              <a:t></a:t>
            </a:r>
            <a:r>
              <a:rPr sz="2600" spc="-15" dirty="0">
                <a:solidFill>
                  <a:srgbClr val="FF3300"/>
                </a:solidFill>
                <a:latin typeface="Times New Roman"/>
                <a:cs typeface="Times New Roman"/>
              </a:rPr>
              <a:t>-f</a:t>
            </a:r>
            <a:r>
              <a:rPr sz="3900" spc="-22" baseline="1068" dirty="0">
                <a:solidFill>
                  <a:srgbClr val="FF3300"/>
                </a:solidFill>
                <a:latin typeface="Times New Roman"/>
                <a:cs typeface="Times New Roman"/>
              </a:rPr>
              <a:t>irst</a:t>
            </a:r>
            <a:r>
              <a:rPr sz="3900" spc="-120" baseline="1068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3900" spc="397" baseline="1068" dirty="0">
                <a:solidFill>
                  <a:srgbClr val="FF3300"/>
                </a:solidFill>
                <a:latin typeface="Wingdings"/>
                <a:cs typeface="Wingdings"/>
              </a:rPr>
              <a:t>€</a:t>
            </a:r>
            <a:endParaRPr sz="3900" baseline="1068">
              <a:latin typeface="Wingdings"/>
              <a:cs typeface="Wingdings"/>
            </a:endParaRPr>
          </a:p>
        </p:txBody>
      </p:sp>
      <p:sp>
        <p:nvSpPr>
          <p:cNvPr id="31" name="object 31"/>
          <p:cNvSpPr txBox="1"/>
          <p:nvPr/>
        </p:nvSpPr>
        <p:spPr>
          <a:xfrm rot="20340000">
            <a:off x="10091032" y="6159062"/>
            <a:ext cx="1466741" cy="333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40"/>
              </a:lnSpc>
            </a:pPr>
            <a:r>
              <a:rPr sz="2600" spc="10" dirty="0">
                <a:solidFill>
                  <a:srgbClr val="FF3300"/>
                </a:solidFill>
                <a:latin typeface="Symbol"/>
                <a:cs typeface="Symbol"/>
              </a:rPr>
              <a:t></a:t>
            </a:r>
            <a:r>
              <a:rPr sz="2600" spc="10" dirty="0">
                <a:solidFill>
                  <a:srgbClr val="FF3300"/>
                </a:solidFill>
                <a:latin typeface="Times New Roman"/>
                <a:cs typeface="Times New Roman"/>
              </a:rPr>
              <a:t>-last</a:t>
            </a:r>
            <a:r>
              <a:rPr sz="2600" spc="-8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600" spc="265" dirty="0">
                <a:solidFill>
                  <a:srgbClr val="FF3300"/>
                </a:solidFill>
                <a:latin typeface="Wingdings"/>
                <a:cs typeface="Wingdings"/>
              </a:rPr>
              <a:t>€</a:t>
            </a:r>
            <a:endParaRPr sz="2600">
              <a:latin typeface="Wingdings"/>
              <a:cs typeface="Wingdings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650210" y="3742316"/>
            <a:ext cx="5988242" cy="361949"/>
          </a:xfrm>
          <a:custGeom>
            <a:avLst/>
            <a:gdLst/>
            <a:ahLst/>
            <a:cxnLst/>
            <a:rect l="l" t="t" r="r" b="b"/>
            <a:pathLst>
              <a:path w="4940300" h="410210">
                <a:moveTo>
                  <a:pt x="4902200" y="246887"/>
                </a:moveTo>
                <a:lnTo>
                  <a:pt x="4902200" y="233933"/>
                </a:lnTo>
                <a:lnTo>
                  <a:pt x="4889500" y="230123"/>
                </a:lnTo>
                <a:lnTo>
                  <a:pt x="4876800" y="222503"/>
                </a:lnTo>
                <a:lnTo>
                  <a:pt x="4851400" y="214883"/>
                </a:lnTo>
                <a:lnTo>
                  <a:pt x="4851400" y="211073"/>
                </a:lnTo>
                <a:lnTo>
                  <a:pt x="4838700" y="207263"/>
                </a:lnTo>
                <a:lnTo>
                  <a:pt x="4826000" y="204215"/>
                </a:lnTo>
                <a:lnTo>
                  <a:pt x="4813300" y="200405"/>
                </a:lnTo>
                <a:lnTo>
                  <a:pt x="4775200" y="192785"/>
                </a:lnTo>
                <a:lnTo>
                  <a:pt x="4762500" y="189737"/>
                </a:lnTo>
                <a:lnTo>
                  <a:pt x="4749800" y="185927"/>
                </a:lnTo>
                <a:lnTo>
                  <a:pt x="4724400" y="182879"/>
                </a:lnTo>
                <a:lnTo>
                  <a:pt x="4711700" y="179069"/>
                </a:lnTo>
                <a:lnTo>
                  <a:pt x="4686300" y="176021"/>
                </a:lnTo>
                <a:lnTo>
                  <a:pt x="4673600" y="172211"/>
                </a:lnTo>
                <a:lnTo>
                  <a:pt x="4622800" y="166115"/>
                </a:lnTo>
                <a:lnTo>
                  <a:pt x="4597400" y="162305"/>
                </a:lnTo>
                <a:lnTo>
                  <a:pt x="4584700" y="159257"/>
                </a:lnTo>
                <a:lnTo>
                  <a:pt x="4559300" y="156209"/>
                </a:lnTo>
                <a:lnTo>
                  <a:pt x="4521200" y="153161"/>
                </a:lnTo>
                <a:lnTo>
                  <a:pt x="4470400" y="147065"/>
                </a:lnTo>
                <a:lnTo>
                  <a:pt x="4432300" y="144017"/>
                </a:lnTo>
                <a:lnTo>
                  <a:pt x="4406900" y="140207"/>
                </a:lnTo>
                <a:lnTo>
                  <a:pt x="4254500" y="128015"/>
                </a:lnTo>
                <a:lnTo>
                  <a:pt x="4203700" y="124967"/>
                </a:lnTo>
                <a:lnTo>
                  <a:pt x="4165600" y="121157"/>
                </a:lnTo>
                <a:lnTo>
                  <a:pt x="4114800" y="118109"/>
                </a:lnTo>
                <a:lnTo>
                  <a:pt x="4076700" y="115061"/>
                </a:lnTo>
                <a:lnTo>
                  <a:pt x="3873500" y="102869"/>
                </a:lnTo>
                <a:lnTo>
                  <a:pt x="3822700" y="99059"/>
                </a:lnTo>
                <a:lnTo>
                  <a:pt x="3721100" y="92963"/>
                </a:lnTo>
                <a:lnTo>
                  <a:pt x="3657600" y="89915"/>
                </a:lnTo>
                <a:lnTo>
                  <a:pt x="3556000" y="83819"/>
                </a:lnTo>
                <a:lnTo>
                  <a:pt x="3441700" y="78485"/>
                </a:lnTo>
                <a:lnTo>
                  <a:pt x="3314700" y="72389"/>
                </a:lnTo>
                <a:lnTo>
                  <a:pt x="3200399" y="66293"/>
                </a:lnTo>
                <a:lnTo>
                  <a:pt x="3086099" y="60959"/>
                </a:lnTo>
                <a:lnTo>
                  <a:pt x="2717799" y="44958"/>
                </a:lnTo>
                <a:lnTo>
                  <a:pt x="2603499" y="40386"/>
                </a:lnTo>
                <a:lnTo>
                  <a:pt x="2476499" y="35813"/>
                </a:lnTo>
                <a:lnTo>
                  <a:pt x="2247899" y="26670"/>
                </a:lnTo>
                <a:lnTo>
                  <a:pt x="2133599" y="22860"/>
                </a:lnTo>
                <a:lnTo>
                  <a:pt x="2082799" y="21336"/>
                </a:lnTo>
                <a:lnTo>
                  <a:pt x="2019299" y="19050"/>
                </a:lnTo>
                <a:lnTo>
                  <a:pt x="1663699" y="8382"/>
                </a:lnTo>
                <a:lnTo>
                  <a:pt x="1625599" y="7620"/>
                </a:lnTo>
                <a:lnTo>
                  <a:pt x="1574799" y="6096"/>
                </a:lnTo>
                <a:lnTo>
                  <a:pt x="1498599" y="4572"/>
                </a:lnTo>
                <a:lnTo>
                  <a:pt x="1447799" y="3810"/>
                </a:lnTo>
                <a:lnTo>
                  <a:pt x="1371599" y="2286"/>
                </a:lnTo>
                <a:lnTo>
                  <a:pt x="1346199" y="1524"/>
                </a:lnTo>
                <a:lnTo>
                  <a:pt x="1308099" y="762"/>
                </a:lnTo>
                <a:lnTo>
                  <a:pt x="1244599" y="762"/>
                </a:lnTo>
                <a:lnTo>
                  <a:pt x="1219199" y="0"/>
                </a:lnTo>
                <a:lnTo>
                  <a:pt x="1104899" y="0"/>
                </a:lnTo>
                <a:lnTo>
                  <a:pt x="1079499" y="762"/>
                </a:lnTo>
                <a:lnTo>
                  <a:pt x="1054099" y="762"/>
                </a:lnTo>
                <a:lnTo>
                  <a:pt x="1028699" y="1524"/>
                </a:lnTo>
                <a:lnTo>
                  <a:pt x="1003299" y="1524"/>
                </a:lnTo>
                <a:lnTo>
                  <a:pt x="977899" y="2286"/>
                </a:lnTo>
                <a:lnTo>
                  <a:pt x="939799" y="3048"/>
                </a:lnTo>
                <a:lnTo>
                  <a:pt x="901699" y="4572"/>
                </a:lnTo>
                <a:lnTo>
                  <a:pt x="787399" y="11430"/>
                </a:lnTo>
                <a:lnTo>
                  <a:pt x="761999" y="13716"/>
                </a:lnTo>
                <a:lnTo>
                  <a:pt x="723899" y="16763"/>
                </a:lnTo>
                <a:lnTo>
                  <a:pt x="647699" y="25908"/>
                </a:lnTo>
                <a:lnTo>
                  <a:pt x="622299" y="29718"/>
                </a:lnTo>
                <a:lnTo>
                  <a:pt x="609599" y="33528"/>
                </a:lnTo>
                <a:lnTo>
                  <a:pt x="584199" y="38100"/>
                </a:lnTo>
                <a:lnTo>
                  <a:pt x="571499" y="41910"/>
                </a:lnTo>
                <a:lnTo>
                  <a:pt x="495299" y="60198"/>
                </a:lnTo>
                <a:lnTo>
                  <a:pt x="457199" y="70866"/>
                </a:lnTo>
                <a:lnTo>
                  <a:pt x="431799" y="80772"/>
                </a:lnTo>
                <a:lnTo>
                  <a:pt x="393699" y="91440"/>
                </a:lnTo>
                <a:lnTo>
                  <a:pt x="368299" y="96774"/>
                </a:lnTo>
                <a:lnTo>
                  <a:pt x="355599" y="102870"/>
                </a:lnTo>
                <a:lnTo>
                  <a:pt x="330199" y="108204"/>
                </a:lnTo>
                <a:lnTo>
                  <a:pt x="317499" y="114300"/>
                </a:lnTo>
                <a:lnTo>
                  <a:pt x="292099" y="120396"/>
                </a:lnTo>
                <a:lnTo>
                  <a:pt x="279399" y="126492"/>
                </a:lnTo>
                <a:lnTo>
                  <a:pt x="241299" y="140208"/>
                </a:lnTo>
                <a:lnTo>
                  <a:pt x="203200" y="160782"/>
                </a:lnTo>
                <a:lnTo>
                  <a:pt x="152400" y="191262"/>
                </a:lnTo>
                <a:lnTo>
                  <a:pt x="139700" y="199644"/>
                </a:lnTo>
                <a:lnTo>
                  <a:pt x="127000" y="207263"/>
                </a:lnTo>
                <a:lnTo>
                  <a:pt x="101600" y="224028"/>
                </a:lnTo>
                <a:lnTo>
                  <a:pt x="88900" y="240792"/>
                </a:lnTo>
                <a:lnTo>
                  <a:pt x="76200" y="249174"/>
                </a:lnTo>
                <a:lnTo>
                  <a:pt x="76200" y="258318"/>
                </a:lnTo>
                <a:lnTo>
                  <a:pt x="63500" y="266700"/>
                </a:lnTo>
                <a:lnTo>
                  <a:pt x="50800" y="284225"/>
                </a:lnTo>
                <a:lnTo>
                  <a:pt x="38100" y="302513"/>
                </a:lnTo>
                <a:lnTo>
                  <a:pt x="25400" y="320040"/>
                </a:lnTo>
                <a:lnTo>
                  <a:pt x="12700" y="338328"/>
                </a:lnTo>
                <a:lnTo>
                  <a:pt x="0" y="355854"/>
                </a:lnTo>
                <a:lnTo>
                  <a:pt x="0" y="361950"/>
                </a:lnTo>
                <a:lnTo>
                  <a:pt x="12700" y="344424"/>
                </a:lnTo>
                <a:lnTo>
                  <a:pt x="25400" y="326136"/>
                </a:lnTo>
                <a:lnTo>
                  <a:pt x="50800" y="291084"/>
                </a:lnTo>
                <a:lnTo>
                  <a:pt x="76200" y="273558"/>
                </a:lnTo>
                <a:lnTo>
                  <a:pt x="88900" y="256794"/>
                </a:lnTo>
                <a:lnTo>
                  <a:pt x="88900" y="248412"/>
                </a:lnTo>
                <a:lnTo>
                  <a:pt x="127000" y="223266"/>
                </a:lnTo>
                <a:lnTo>
                  <a:pt x="127000" y="215646"/>
                </a:lnTo>
                <a:lnTo>
                  <a:pt x="139700" y="208025"/>
                </a:lnTo>
                <a:lnTo>
                  <a:pt x="152400" y="199644"/>
                </a:lnTo>
                <a:lnTo>
                  <a:pt x="165100" y="192024"/>
                </a:lnTo>
                <a:lnTo>
                  <a:pt x="177800" y="185166"/>
                </a:lnTo>
                <a:lnTo>
                  <a:pt x="203200" y="169925"/>
                </a:lnTo>
                <a:lnTo>
                  <a:pt x="241299" y="149352"/>
                </a:lnTo>
                <a:lnTo>
                  <a:pt x="266699" y="143256"/>
                </a:lnTo>
                <a:lnTo>
                  <a:pt x="279399" y="136398"/>
                </a:lnTo>
                <a:lnTo>
                  <a:pt x="292099" y="130302"/>
                </a:lnTo>
                <a:lnTo>
                  <a:pt x="317499" y="124206"/>
                </a:lnTo>
                <a:lnTo>
                  <a:pt x="330199" y="118110"/>
                </a:lnTo>
                <a:lnTo>
                  <a:pt x="368299" y="107442"/>
                </a:lnTo>
                <a:lnTo>
                  <a:pt x="393699" y="101346"/>
                </a:lnTo>
                <a:lnTo>
                  <a:pt x="431799" y="90678"/>
                </a:lnTo>
                <a:lnTo>
                  <a:pt x="469899" y="80772"/>
                </a:lnTo>
                <a:lnTo>
                  <a:pt x="495299" y="70866"/>
                </a:lnTo>
                <a:lnTo>
                  <a:pt x="533399" y="60960"/>
                </a:lnTo>
                <a:lnTo>
                  <a:pt x="546099" y="56387"/>
                </a:lnTo>
                <a:lnTo>
                  <a:pt x="571499" y="52578"/>
                </a:lnTo>
                <a:lnTo>
                  <a:pt x="584199" y="48006"/>
                </a:lnTo>
                <a:lnTo>
                  <a:pt x="634999" y="40386"/>
                </a:lnTo>
                <a:lnTo>
                  <a:pt x="647699" y="36575"/>
                </a:lnTo>
                <a:lnTo>
                  <a:pt x="673099" y="33528"/>
                </a:lnTo>
                <a:lnTo>
                  <a:pt x="698499" y="29718"/>
                </a:lnTo>
                <a:lnTo>
                  <a:pt x="723899" y="26670"/>
                </a:lnTo>
                <a:lnTo>
                  <a:pt x="761999" y="24384"/>
                </a:lnTo>
                <a:lnTo>
                  <a:pt x="787399" y="21336"/>
                </a:lnTo>
                <a:lnTo>
                  <a:pt x="825499" y="19050"/>
                </a:lnTo>
                <a:lnTo>
                  <a:pt x="863599" y="17525"/>
                </a:lnTo>
                <a:lnTo>
                  <a:pt x="901699" y="15240"/>
                </a:lnTo>
                <a:lnTo>
                  <a:pt x="939799" y="13716"/>
                </a:lnTo>
                <a:lnTo>
                  <a:pt x="977899" y="12954"/>
                </a:lnTo>
                <a:lnTo>
                  <a:pt x="1028699" y="11430"/>
                </a:lnTo>
                <a:lnTo>
                  <a:pt x="1054099" y="11430"/>
                </a:lnTo>
                <a:lnTo>
                  <a:pt x="1079499" y="10668"/>
                </a:lnTo>
                <a:lnTo>
                  <a:pt x="1244599" y="10668"/>
                </a:lnTo>
                <a:lnTo>
                  <a:pt x="1269999" y="11430"/>
                </a:lnTo>
                <a:lnTo>
                  <a:pt x="1308099" y="11430"/>
                </a:lnTo>
                <a:lnTo>
                  <a:pt x="1346199" y="12192"/>
                </a:lnTo>
                <a:lnTo>
                  <a:pt x="1371599" y="12954"/>
                </a:lnTo>
                <a:lnTo>
                  <a:pt x="1409699" y="12954"/>
                </a:lnTo>
                <a:lnTo>
                  <a:pt x="1447799" y="13716"/>
                </a:lnTo>
                <a:lnTo>
                  <a:pt x="1498599" y="15240"/>
                </a:lnTo>
                <a:lnTo>
                  <a:pt x="1574799" y="16763"/>
                </a:lnTo>
                <a:lnTo>
                  <a:pt x="1625599" y="18287"/>
                </a:lnTo>
                <a:lnTo>
                  <a:pt x="1663699" y="19050"/>
                </a:lnTo>
                <a:lnTo>
                  <a:pt x="1765299" y="22098"/>
                </a:lnTo>
                <a:lnTo>
                  <a:pt x="1816099" y="22860"/>
                </a:lnTo>
                <a:lnTo>
                  <a:pt x="1866899" y="24384"/>
                </a:lnTo>
                <a:lnTo>
                  <a:pt x="1917699" y="26670"/>
                </a:lnTo>
                <a:lnTo>
                  <a:pt x="2019299" y="29718"/>
                </a:lnTo>
                <a:lnTo>
                  <a:pt x="2082799" y="31242"/>
                </a:lnTo>
                <a:lnTo>
                  <a:pt x="2133599" y="33528"/>
                </a:lnTo>
                <a:lnTo>
                  <a:pt x="2247899" y="37337"/>
                </a:lnTo>
                <a:lnTo>
                  <a:pt x="2362199" y="41910"/>
                </a:lnTo>
                <a:lnTo>
                  <a:pt x="2476499" y="45720"/>
                </a:lnTo>
                <a:lnTo>
                  <a:pt x="2603499" y="51054"/>
                </a:lnTo>
                <a:lnTo>
                  <a:pt x="2717799" y="55625"/>
                </a:lnTo>
                <a:lnTo>
                  <a:pt x="3086099" y="71627"/>
                </a:lnTo>
                <a:lnTo>
                  <a:pt x="3200399" y="76961"/>
                </a:lnTo>
                <a:lnTo>
                  <a:pt x="3314700" y="83057"/>
                </a:lnTo>
                <a:lnTo>
                  <a:pt x="3441700" y="88391"/>
                </a:lnTo>
                <a:lnTo>
                  <a:pt x="3556000" y="94487"/>
                </a:lnTo>
                <a:lnTo>
                  <a:pt x="3657600" y="100583"/>
                </a:lnTo>
                <a:lnTo>
                  <a:pt x="3771900" y="106679"/>
                </a:lnTo>
                <a:lnTo>
                  <a:pt x="3924300" y="115823"/>
                </a:lnTo>
                <a:lnTo>
                  <a:pt x="3975100" y="119633"/>
                </a:lnTo>
                <a:lnTo>
                  <a:pt x="4076700" y="125729"/>
                </a:lnTo>
                <a:lnTo>
                  <a:pt x="4114800" y="128777"/>
                </a:lnTo>
                <a:lnTo>
                  <a:pt x="4165600" y="131825"/>
                </a:lnTo>
                <a:lnTo>
                  <a:pt x="4203700" y="134873"/>
                </a:lnTo>
                <a:lnTo>
                  <a:pt x="4254500" y="138683"/>
                </a:lnTo>
                <a:lnTo>
                  <a:pt x="4406900" y="150875"/>
                </a:lnTo>
                <a:lnTo>
                  <a:pt x="4432300" y="153923"/>
                </a:lnTo>
                <a:lnTo>
                  <a:pt x="4470400" y="156971"/>
                </a:lnTo>
                <a:lnTo>
                  <a:pt x="4495800" y="160019"/>
                </a:lnTo>
                <a:lnTo>
                  <a:pt x="4521200" y="163829"/>
                </a:lnTo>
                <a:lnTo>
                  <a:pt x="4622800" y="176021"/>
                </a:lnTo>
                <a:lnTo>
                  <a:pt x="4648200" y="179831"/>
                </a:lnTo>
                <a:lnTo>
                  <a:pt x="4673600" y="182879"/>
                </a:lnTo>
                <a:lnTo>
                  <a:pt x="4686300" y="185927"/>
                </a:lnTo>
                <a:lnTo>
                  <a:pt x="4711700" y="189737"/>
                </a:lnTo>
                <a:lnTo>
                  <a:pt x="4724400" y="192785"/>
                </a:lnTo>
                <a:lnTo>
                  <a:pt x="4749800" y="196595"/>
                </a:lnTo>
                <a:lnTo>
                  <a:pt x="4762500" y="199643"/>
                </a:lnTo>
                <a:lnTo>
                  <a:pt x="4775200" y="203453"/>
                </a:lnTo>
                <a:lnTo>
                  <a:pt x="4787900" y="206501"/>
                </a:lnTo>
                <a:lnTo>
                  <a:pt x="4826000" y="217931"/>
                </a:lnTo>
                <a:lnTo>
                  <a:pt x="4838700" y="220979"/>
                </a:lnTo>
                <a:lnTo>
                  <a:pt x="4876800" y="232409"/>
                </a:lnTo>
                <a:lnTo>
                  <a:pt x="4876800" y="236219"/>
                </a:lnTo>
                <a:lnTo>
                  <a:pt x="4889500" y="243077"/>
                </a:lnTo>
                <a:lnTo>
                  <a:pt x="4902200" y="246887"/>
                </a:lnTo>
                <a:close/>
              </a:path>
              <a:path w="4940300" h="410210">
                <a:moveTo>
                  <a:pt x="4848746" y="363542"/>
                </a:moveTo>
                <a:lnTo>
                  <a:pt x="4826000" y="331469"/>
                </a:lnTo>
                <a:lnTo>
                  <a:pt x="4775200" y="409955"/>
                </a:lnTo>
                <a:lnTo>
                  <a:pt x="4826000" y="406526"/>
                </a:lnTo>
                <a:lnTo>
                  <a:pt x="4826000" y="374141"/>
                </a:lnTo>
                <a:lnTo>
                  <a:pt x="4838700" y="371093"/>
                </a:lnTo>
                <a:lnTo>
                  <a:pt x="4838700" y="369569"/>
                </a:lnTo>
                <a:lnTo>
                  <a:pt x="4848746" y="363542"/>
                </a:lnTo>
                <a:close/>
              </a:path>
              <a:path w="4940300" h="410210">
                <a:moveTo>
                  <a:pt x="4838700" y="377189"/>
                </a:moveTo>
                <a:lnTo>
                  <a:pt x="4838700" y="371093"/>
                </a:lnTo>
                <a:lnTo>
                  <a:pt x="4826000" y="374141"/>
                </a:lnTo>
                <a:lnTo>
                  <a:pt x="4838700" y="377189"/>
                </a:lnTo>
                <a:close/>
              </a:path>
              <a:path w="4940300" h="410210">
                <a:moveTo>
                  <a:pt x="4876800" y="403097"/>
                </a:moveTo>
                <a:lnTo>
                  <a:pt x="4853188" y="369806"/>
                </a:lnTo>
                <a:lnTo>
                  <a:pt x="4851400" y="371093"/>
                </a:lnTo>
                <a:lnTo>
                  <a:pt x="4838700" y="378713"/>
                </a:lnTo>
                <a:lnTo>
                  <a:pt x="4838700" y="377189"/>
                </a:lnTo>
                <a:lnTo>
                  <a:pt x="4826000" y="374141"/>
                </a:lnTo>
                <a:lnTo>
                  <a:pt x="4826000" y="406526"/>
                </a:lnTo>
                <a:lnTo>
                  <a:pt x="4876800" y="403097"/>
                </a:lnTo>
                <a:close/>
              </a:path>
              <a:path w="4940300" h="410210">
                <a:moveTo>
                  <a:pt x="4853188" y="369806"/>
                </a:moveTo>
                <a:lnTo>
                  <a:pt x="4848746" y="363542"/>
                </a:lnTo>
                <a:lnTo>
                  <a:pt x="4838700" y="369569"/>
                </a:lnTo>
                <a:lnTo>
                  <a:pt x="4838700" y="378713"/>
                </a:lnTo>
                <a:lnTo>
                  <a:pt x="4851400" y="371093"/>
                </a:lnTo>
                <a:lnTo>
                  <a:pt x="4853188" y="369806"/>
                </a:lnTo>
                <a:close/>
              </a:path>
              <a:path w="4940300" h="410210">
                <a:moveTo>
                  <a:pt x="4902200" y="336041"/>
                </a:moveTo>
                <a:lnTo>
                  <a:pt x="4902200" y="324611"/>
                </a:lnTo>
                <a:lnTo>
                  <a:pt x="4889500" y="328421"/>
                </a:lnTo>
                <a:lnTo>
                  <a:pt x="4889500" y="336803"/>
                </a:lnTo>
                <a:lnTo>
                  <a:pt x="4851400" y="361949"/>
                </a:lnTo>
                <a:lnTo>
                  <a:pt x="4848746" y="363542"/>
                </a:lnTo>
                <a:lnTo>
                  <a:pt x="4853188" y="369806"/>
                </a:lnTo>
                <a:lnTo>
                  <a:pt x="4864100" y="361949"/>
                </a:lnTo>
                <a:lnTo>
                  <a:pt x="4889500" y="345185"/>
                </a:lnTo>
                <a:lnTo>
                  <a:pt x="4902200" y="336041"/>
                </a:lnTo>
                <a:close/>
              </a:path>
              <a:path w="4940300" h="410210">
                <a:moveTo>
                  <a:pt x="4927600" y="268985"/>
                </a:moveTo>
                <a:lnTo>
                  <a:pt x="4927600" y="254507"/>
                </a:lnTo>
                <a:lnTo>
                  <a:pt x="4914900" y="246125"/>
                </a:lnTo>
                <a:lnTo>
                  <a:pt x="4902200" y="238505"/>
                </a:lnTo>
                <a:lnTo>
                  <a:pt x="4902200" y="250697"/>
                </a:lnTo>
                <a:lnTo>
                  <a:pt x="4914900" y="258317"/>
                </a:lnTo>
                <a:lnTo>
                  <a:pt x="4914900" y="265175"/>
                </a:lnTo>
                <a:lnTo>
                  <a:pt x="4927600" y="268985"/>
                </a:lnTo>
                <a:close/>
              </a:path>
              <a:path w="4940300" h="410210">
                <a:moveTo>
                  <a:pt x="4914900" y="327659"/>
                </a:moveTo>
                <a:lnTo>
                  <a:pt x="4914900" y="312419"/>
                </a:lnTo>
                <a:lnTo>
                  <a:pt x="4902200" y="316229"/>
                </a:lnTo>
                <a:lnTo>
                  <a:pt x="4902200" y="331469"/>
                </a:lnTo>
                <a:lnTo>
                  <a:pt x="4914900" y="327659"/>
                </a:lnTo>
                <a:close/>
              </a:path>
              <a:path w="4940300" h="410210">
                <a:moveTo>
                  <a:pt x="4927600" y="313943"/>
                </a:moveTo>
                <a:lnTo>
                  <a:pt x="4927600" y="296417"/>
                </a:lnTo>
                <a:lnTo>
                  <a:pt x="4914900" y="307847"/>
                </a:lnTo>
                <a:lnTo>
                  <a:pt x="4914900" y="323087"/>
                </a:lnTo>
                <a:lnTo>
                  <a:pt x="4927600" y="313943"/>
                </a:lnTo>
                <a:close/>
              </a:path>
              <a:path w="4940300" h="410210">
                <a:moveTo>
                  <a:pt x="4940300" y="291083"/>
                </a:moveTo>
                <a:lnTo>
                  <a:pt x="4940300" y="272795"/>
                </a:lnTo>
                <a:lnTo>
                  <a:pt x="4927600" y="268223"/>
                </a:lnTo>
                <a:lnTo>
                  <a:pt x="4927600" y="296417"/>
                </a:lnTo>
                <a:lnTo>
                  <a:pt x="4940300" y="291083"/>
                </a:lnTo>
                <a:close/>
              </a:path>
            </a:pathLst>
          </a:custGeom>
          <a:solidFill>
            <a:srgbClr val="FF34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048001" y="4094629"/>
            <a:ext cx="1158394" cy="177613"/>
          </a:xfrm>
          <a:custGeom>
            <a:avLst/>
            <a:gdLst/>
            <a:ahLst/>
            <a:cxnLst/>
            <a:rect l="l" t="t" r="r" b="b"/>
            <a:pathLst>
              <a:path w="955675" h="201295">
                <a:moveTo>
                  <a:pt x="955547" y="201168"/>
                </a:moveTo>
                <a:lnTo>
                  <a:pt x="949261" y="161984"/>
                </a:lnTo>
                <a:lnTo>
                  <a:pt x="932116" y="130016"/>
                </a:lnTo>
                <a:lnTo>
                  <a:pt x="906684" y="108477"/>
                </a:lnTo>
                <a:lnTo>
                  <a:pt x="875537" y="100584"/>
                </a:lnTo>
                <a:lnTo>
                  <a:pt x="557022" y="100584"/>
                </a:lnTo>
                <a:lnTo>
                  <a:pt x="526315" y="92690"/>
                </a:lnTo>
                <a:lnTo>
                  <a:pt x="501110" y="71151"/>
                </a:lnTo>
                <a:lnTo>
                  <a:pt x="484048" y="39183"/>
                </a:lnTo>
                <a:lnTo>
                  <a:pt x="477774" y="0"/>
                </a:lnTo>
                <a:lnTo>
                  <a:pt x="471487" y="39183"/>
                </a:lnTo>
                <a:lnTo>
                  <a:pt x="454342" y="71151"/>
                </a:lnTo>
                <a:lnTo>
                  <a:pt x="428910" y="92690"/>
                </a:lnTo>
                <a:lnTo>
                  <a:pt x="397763" y="100584"/>
                </a:lnTo>
                <a:lnTo>
                  <a:pt x="79248" y="100584"/>
                </a:lnTo>
                <a:lnTo>
                  <a:pt x="48541" y="108477"/>
                </a:lnTo>
                <a:lnTo>
                  <a:pt x="23336" y="130016"/>
                </a:lnTo>
                <a:lnTo>
                  <a:pt x="6274" y="161984"/>
                </a:lnTo>
                <a:lnTo>
                  <a:pt x="0" y="201168"/>
                </a:lnTo>
              </a:path>
            </a:pathLst>
          </a:custGeom>
          <a:ln w="10477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680959" y="4005207"/>
            <a:ext cx="2682394" cy="221876"/>
          </a:xfrm>
          <a:custGeom>
            <a:avLst/>
            <a:gdLst/>
            <a:ahLst/>
            <a:cxnLst/>
            <a:rect l="l" t="t" r="r" b="b"/>
            <a:pathLst>
              <a:path w="2212975" h="251460">
                <a:moveTo>
                  <a:pt x="2212848" y="251460"/>
                </a:moveTo>
                <a:lnTo>
                  <a:pt x="2203472" y="211756"/>
                </a:lnTo>
                <a:lnTo>
                  <a:pt x="2177344" y="177247"/>
                </a:lnTo>
                <a:lnTo>
                  <a:pt x="2137464" y="150016"/>
                </a:lnTo>
                <a:lnTo>
                  <a:pt x="2086831" y="132149"/>
                </a:lnTo>
                <a:lnTo>
                  <a:pt x="2028443" y="125729"/>
                </a:lnTo>
                <a:lnTo>
                  <a:pt x="1290828" y="125729"/>
                </a:lnTo>
                <a:lnTo>
                  <a:pt x="1232733" y="119310"/>
                </a:lnTo>
                <a:lnTo>
                  <a:pt x="1182136" y="101443"/>
                </a:lnTo>
                <a:lnTo>
                  <a:pt x="1142146" y="74212"/>
                </a:lnTo>
                <a:lnTo>
                  <a:pt x="1115872" y="39703"/>
                </a:lnTo>
                <a:lnTo>
                  <a:pt x="1106424" y="0"/>
                </a:lnTo>
                <a:lnTo>
                  <a:pt x="1097048" y="39703"/>
                </a:lnTo>
                <a:lnTo>
                  <a:pt x="1070920" y="74212"/>
                </a:lnTo>
                <a:lnTo>
                  <a:pt x="1031040" y="101443"/>
                </a:lnTo>
                <a:lnTo>
                  <a:pt x="980407" y="119310"/>
                </a:lnTo>
                <a:lnTo>
                  <a:pt x="922019" y="125729"/>
                </a:lnTo>
                <a:lnTo>
                  <a:pt x="184404" y="125729"/>
                </a:lnTo>
                <a:lnTo>
                  <a:pt x="126309" y="132149"/>
                </a:lnTo>
                <a:lnTo>
                  <a:pt x="75712" y="150016"/>
                </a:lnTo>
                <a:lnTo>
                  <a:pt x="35722" y="177247"/>
                </a:lnTo>
                <a:lnTo>
                  <a:pt x="9448" y="211756"/>
                </a:lnTo>
                <a:lnTo>
                  <a:pt x="0" y="251460"/>
                </a:lnTo>
              </a:path>
            </a:pathLst>
          </a:custGeom>
          <a:ln w="10477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4374649" y="3403675"/>
            <a:ext cx="2265987" cy="41806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i="1" spc="15" dirty="0">
                <a:latin typeface="Times New Roman"/>
                <a:cs typeface="Times New Roman"/>
              </a:rPr>
              <a:t>express dV</a:t>
            </a:r>
            <a:r>
              <a:rPr sz="2600" i="1" spc="-65" dirty="0">
                <a:latin typeface="Times New Roman"/>
                <a:cs typeface="Times New Roman"/>
              </a:rPr>
              <a:t> </a:t>
            </a:r>
            <a:r>
              <a:rPr sz="2600" i="1" spc="10" dirty="0">
                <a:latin typeface="Times New Roman"/>
                <a:cs typeface="Times New Roman"/>
              </a:rPr>
              <a:t>as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1775132" y="6429495"/>
            <a:ext cx="324042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805"/>
              </a:lnSpc>
            </a:pPr>
            <a:fld id="{81D60167-4931-47E6-BA6A-407CBD079E47}" type="slidenum">
              <a:rPr sz="1550" spc="-5" dirty="0">
                <a:latin typeface="Arial"/>
                <a:cs typeface="Arial"/>
              </a:rPr>
              <a:pPr marL="25400">
                <a:lnSpc>
                  <a:spcPts val="1805"/>
                </a:lnSpc>
              </a:pPr>
              <a:t>25</a:t>
            </a:fld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90525" y="6413126"/>
            <a:ext cx="293255" cy="25006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50" spc="-15" dirty="0">
                <a:latin typeface="Arial"/>
                <a:cs typeface="Arial"/>
              </a:rPr>
              <a:t>14</a:t>
            </a:r>
            <a:endParaRPr sz="15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2250" y="3625552"/>
            <a:ext cx="9184794" cy="107465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u="heavy" spc="15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Example</a:t>
            </a:r>
            <a:r>
              <a:rPr sz="2600" spc="15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600" spc="20" smtClean="0">
                <a:solidFill>
                  <a:srgbClr val="FF3300"/>
                </a:solidFill>
                <a:latin typeface="Times New Roman"/>
                <a:cs typeface="Times New Roman"/>
              </a:rPr>
              <a:t>3</a:t>
            </a:r>
            <a:endParaRPr sz="2600">
              <a:latin typeface="Times New Roman"/>
              <a:cs typeface="Times New Roman"/>
            </a:endParaRPr>
          </a:p>
          <a:p>
            <a:pPr marL="113664">
              <a:lnSpc>
                <a:spcPct val="100000"/>
              </a:lnSpc>
              <a:spcBef>
                <a:spcPts val="2035"/>
              </a:spcBef>
            </a:pPr>
            <a:r>
              <a:rPr sz="2600" spc="10" dirty="0">
                <a:latin typeface="Times New Roman"/>
                <a:cs typeface="Times New Roman"/>
              </a:rPr>
              <a:t>Find the </a:t>
            </a:r>
            <a:r>
              <a:rPr sz="2600" spc="15" dirty="0">
                <a:latin typeface="Times New Roman"/>
                <a:cs typeface="Times New Roman"/>
              </a:rPr>
              <a:t>moment </a:t>
            </a:r>
            <a:r>
              <a:rPr sz="2600" spc="10" dirty="0">
                <a:latin typeface="Times New Roman"/>
                <a:cs typeface="Times New Roman"/>
              </a:rPr>
              <a:t>of inertia about the </a:t>
            </a:r>
            <a:r>
              <a:rPr sz="2600" spc="15" dirty="0">
                <a:latin typeface="Times New Roman"/>
                <a:cs typeface="Times New Roman"/>
              </a:rPr>
              <a:t>z </a:t>
            </a:r>
            <a:r>
              <a:rPr sz="2600" spc="10" dirty="0">
                <a:latin typeface="Times New Roman"/>
                <a:cs typeface="Times New Roman"/>
              </a:rPr>
              <a:t>axis of the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solid: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58360" y="4655373"/>
            <a:ext cx="4240261" cy="6482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598805" algn="l"/>
                <a:tab pos="1617980" algn="l"/>
                <a:tab pos="2595245" algn="l"/>
              </a:tabLst>
            </a:pPr>
            <a:r>
              <a:rPr sz="4100" i="1" spc="145" dirty="0">
                <a:latin typeface="Times New Roman"/>
                <a:cs typeface="Times New Roman"/>
              </a:rPr>
              <a:t>x</a:t>
            </a:r>
            <a:r>
              <a:rPr sz="3600" spc="217" baseline="42824" dirty="0">
                <a:latin typeface="Times New Roman"/>
                <a:cs typeface="Times New Roman"/>
              </a:rPr>
              <a:t>2	</a:t>
            </a:r>
            <a:r>
              <a:rPr sz="4100" spc="15" dirty="0">
                <a:latin typeface="Symbol"/>
                <a:cs typeface="Symbol"/>
              </a:rPr>
              <a:t></a:t>
            </a:r>
            <a:r>
              <a:rPr sz="4100" spc="280" dirty="0">
                <a:latin typeface="Times New Roman"/>
                <a:cs typeface="Times New Roman"/>
              </a:rPr>
              <a:t> </a:t>
            </a:r>
            <a:r>
              <a:rPr sz="4100" i="1" spc="165" dirty="0">
                <a:latin typeface="Times New Roman"/>
                <a:cs typeface="Times New Roman"/>
              </a:rPr>
              <a:t>y</a:t>
            </a:r>
            <a:r>
              <a:rPr sz="3600" spc="247" baseline="42824" dirty="0">
                <a:latin typeface="Times New Roman"/>
                <a:cs typeface="Times New Roman"/>
              </a:rPr>
              <a:t>2	</a:t>
            </a:r>
            <a:r>
              <a:rPr sz="4100" spc="15" dirty="0">
                <a:latin typeface="Symbol"/>
                <a:cs typeface="Symbol"/>
              </a:rPr>
              <a:t></a:t>
            </a:r>
            <a:r>
              <a:rPr sz="4100" spc="25" dirty="0">
                <a:latin typeface="Times New Roman"/>
                <a:cs typeface="Times New Roman"/>
              </a:rPr>
              <a:t> </a:t>
            </a:r>
            <a:r>
              <a:rPr sz="4100" i="1" spc="150" dirty="0">
                <a:latin typeface="Times New Roman"/>
                <a:cs typeface="Times New Roman"/>
              </a:rPr>
              <a:t>z</a:t>
            </a:r>
            <a:r>
              <a:rPr sz="3600" spc="225" baseline="42824" dirty="0">
                <a:latin typeface="Times New Roman"/>
                <a:cs typeface="Times New Roman"/>
              </a:rPr>
              <a:t>2	</a:t>
            </a:r>
            <a:r>
              <a:rPr sz="4100" spc="15" dirty="0">
                <a:latin typeface="Symbol"/>
                <a:cs typeface="Symbol"/>
              </a:rPr>
              <a:t></a:t>
            </a:r>
            <a:r>
              <a:rPr sz="4100" spc="-95" dirty="0">
                <a:latin typeface="Times New Roman"/>
                <a:cs typeface="Times New Roman"/>
              </a:rPr>
              <a:t> </a:t>
            </a:r>
            <a:r>
              <a:rPr sz="4100" i="1" spc="140" dirty="0">
                <a:latin typeface="Times New Roman"/>
                <a:cs typeface="Times New Roman"/>
              </a:rPr>
              <a:t>a</a:t>
            </a:r>
            <a:r>
              <a:rPr sz="3600" spc="209" baseline="42824" dirty="0">
                <a:latin typeface="Times New Roman"/>
                <a:cs typeface="Times New Roman"/>
              </a:rPr>
              <a:t>2</a:t>
            </a:r>
            <a:endParaRPr sz="3600" baseline="42824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90706" y="4779980"/>
            <a:ext cx="3416685" cy="41806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sz="2600" spc="15" dirty="0">
                <a:latin typeface="Times New Roman"/>
                <a:cs typeface="Times New Roman"/>
              </a:rPr>
              <a:t>The </a:t>
            </a:r>
            <a:r>
              <a:rPr sz="2600" spc="10" dirty="0">
                <a:latin typeface="Times New Roman"/>
                <a:cs typeface="Times New Roman"/>
              </a:rPr>
              <a:t>density </a:t>
            </a:r>
            <a:r>
              <a:rPr sz="2600" spc="10" dirty="0">
                <a:latin typeface="Symbol"/>
                <a:cs typeface="Symbol"/>
              </a:rPr>
              <a:t></a:t>
            </a:r>
            <a:r>
              <a:rPr sz="2625" spc="15" baseline="-20634" dirty="0">
                <a:latin typeface="Times New Roman"/>
                <a:cs typeface="Times New Roman"/>
              </a:rPr>
              <a:t>v </a:t>
            </a:r>
            <a:r>
              <a:rPr sz="2600" spc="20" dirty="0">
                <a:latin typeface="Times New Roman"/>
                <a:cs typeface="Times New Roman"/>
              </a:rPr>
              <a:t>=</a:t>
            </a:r>
            <a:r>
              <a:rPr sz="2600" spc="-30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k</a:t>
            </a:r>
            <a:r>
              <a:rPr sz="2600" spc="10" dirty="0">
                <a:latin typeface="Symbol"/>
                <a:cs typeface="Symbol"/>
              </a:rPr>
              <a:t></a:t>
            </a:r>
            <a:r>
              <a:rPr sz="2600" spc="10" dirty="0"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23011" y="5448636"/>
            <a:ext cx="4110952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800" b="1" dirty="0">
                <a:latin typeface="Times New Roman"/>
                <a:cs typeface="Times New Roman"/>
              </a:rPr>
              <a:t>Spherical</a:t>
            </a:r>
            <a:r>
              <a:rPr sz="2800" b="1" spc="-18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Coordinates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8560" y="5402411"/>
            <a:ext cx="636539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4200" dirty="0">
                <a:latin typeface="Symbol"/>
                <a:cs typeface="Symbol"/>
              </a:rPr>
              <a:t></a:t>
            </a:r>
            <a:r>
              <a:rPr sz="4200" spc="-550" dirty="0">
                <a:latin typeface="Times New Roman"/>
                <a:cs typeface="Times New Roman"/>
              </a:rPr>
              <a:t> </a:t>
            </a:r>
            <a:r>
              <a:rPr sz="4200" spc="-5" dirty="0">
                <a:latin typeface="Symbol"/>
                <a:cs typeface="Symbol"/>
              </a:rPr>
              <a:t></a:t>
            </a:r>
            <a:endParaRPr sz="420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96841" y="5439084"/>
            <a:ext cx="999067" cy="2635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  <a:tabLst>
                <a:tab pos="706755" algn="l"/>
              </a:tabLst>
            </a:pPr>
            <a:r>
              <a:rPr sz="1600" spc="15" dirty="0">
                <a:latin typeface="Times New Roman"/>
                <a:cs typeface="Times New Roman"/>
              </a:rPr>
              <a:t>2	2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58599" y="5754418"/>
            <a:ext cx="169333" cy="2635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600" i="1" spc="20" dirty="0">
                <a:latin typeface="Times New Roman"/>
                <a:cs typeface="Times New Roman"/>
              </a:rPr>
              <a:t>V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53399" y="5658266"/>
            <a:ext cx="127770" cy="2635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600" i="1" spc="15" dirty="0">
                <a:latin typeface="Times New Roman"/>
                <a:cs typeface="Times New Roman"/>
              </a:rPr>
              <a:t>v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8029" y="5658266"/>
            <a:ext cx="113915" cy="2635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600" i="1" spc="10" dirty="0">
                <a:latin typeface="Times New Roman"/>
                <a:cs typeface="Times New Roman"/>
              </a:rPr>
              <a:t>z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1508" y="5448636"/>
            <a:ext cx="689648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360045" algn="l"/>
              </a:tabLst>
            </a:pPr>
            <a:r>
              <a:rPr sz="2800" i="1" dirty="0">
                <a:latin typeface="Times New Roman"/>
                <a:cs typeface="Times New Roman"/>
              </a:rPr>
              <a:t>I	</a:t>
            </a:r>
            <a:r>
              <a:rPr sz="2800" dirty="0">
                <a:latin typeface="Symbol"/>
                <a:cs typeface="Symbol"/>
              </a:rPr>
              <a:t>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93248" y="5430760"/>
            <a:ext cx="5359400" cy="468718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  <a:tabLst>
                <a:tab pos="538480" algn="l"/>
                <a:tab pos="1185545" algn="l"/>
                <a:tab pos="1667510" algn="l"/>
                <a:tab pos="4056379" algn="l"/>
              </a:tabLst>
            </a:pPr>
            <a:r>
              <a:rPr sz="2800" dirty="0">
                <a:latin typeface="Times New Roman"/>
                <a:cs typeface="Times New Roman"/>
              </a:rPr>
              <a:t>(</a:t>
            </a:r>
            <a:r>
              <a:rPr sz="2800" spc="-45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x	</a:t>
            </a:r>
            <a:r>
              <a:rPr sz="2800" dirty="0">
                <a:latin typeface="Symbol"/>
                <a:cs typeface="Symbol"/>
              </a:rPr>
              <a:t></a:t>
            </a:r>
            <a:r>
              <a:rPr sz="2800" spc="250" dirty="0">
                <a:latin typeface="Times New Roman"/>
                <a:cs typeface="Times New Roman"/>
              </a:rPr>
              <a:t> </a:t>
            </a:r>
            <a:r>
              <a:rPr sz="2800" i="1" dirty="0">
                <a:latin typeface="Times New Roman"/>
                <a:cs typeface="Times New Roman"/>
              </a:rPr>
              <a:t>y	</a:t>
            </a:r>
            <a:r>
              <a:rPr sz="2800" spc="130" dirty="0">
                <a:latin typeface="Times New Roman"/>
                <a:cs typeface="Times New Roman"/>
              </a:rPr>
              <a:t>)</a:t>
            </a:r>
            <a:r>
              <a:rPr sz="2950" i="1" spc="-80" dirty="0">
                <a:latin typeface="Symbol"/>
                <a:cs typeface="Symbol"/>
              </a:rPr>
              <a:t></a:t>
            </a:r>
            <a:r>
              <a:rPr sz="2950" dirty="0">
                <a:latin typeface="Times New Roman"/>
                <a:cs typeface="Times New Roman"/>
              </a:rPr>
              <a:t>	</a:t>
            </a:r>
            <a:r>
              <a:rPr sz="2800" dirty="0">
                <a:latin typeface="Times New Roman"/>
                <a:cs typeface="Times New Roman"/>
              </a:rPr>
              <a:t>(</a:t>
            </a:r>
            <a:r>
              <a:rPr sz="2800" spc="-450" dirty="0">
                <a:latin typeface="Times New Roman"/>
                <a:cs typeface="Times New Roman"/>
              </a:rPr>
              <a:t> </a:t>
            </a:r>
            <a:r>
              <a:rPr sz="2800" i="1" spc="55" dirty="0">
                <a:latin typeface="Times New Roman"/>
                <a:cs typeface="Times New Roman"/>
              </a:rPr>
              <a:t>x</a:t>
            </a:r>
            <a:r>
              <a:rPr sz="2800" dirty="0">
                <a:latin typeface="Times New Roman"/>
                <a:cs typeface="Times New Roman"/>
              </a:rPr>
              <a:t>,</a:t>
            </a:r>
            <a:r>
              <a:rPr sz="2800" spc="-150" dirty="0">
                <a:latin typeface="Times New Roman"/>
                <a:cs typeface="Times New Roman"/>
              </a:rPr>
              <a:t> </a:t>
            </a:r>
            <a:r>
              <a:rPr sz="2800" i="1" spc="85" dirty="0">
                <a:latin typeface="Times New Roman"/>
                <a:cs typeface="Times New Roman"/>
              </a:rPr>
              <a:t>y</a:t>
            </a:r>
            <a:r>
              <a:rPr sz="2800" dirty="0">
                <a:latin typeface="Times New Roman"/>
                <a:cs typeface="Times New Roman"/>
              </a:rPr>
              <a:t>,</a:t>
            </a:r>
            <a:r>
              <a:rPr sz="2800" spc="-320" dirty="0">
                <a:latin typeface="Times New Roman"/>
                <a:cs typeface="Times New Roman"/>
              </a:rPr>
              <a:t> </a:t>
            </a:r>
            <a:r>
              <a:rPr sz="2800" i="1" spc="150" dirty="0">
                <a:latin typeface="Times New Roman"/>
                <a:cs typeface="Times New Roman"/>
              </a:rPr>
              <a:t>z</a:t>
            </a:r>
            <a:r>
              <a:rPr sz="2800" spc="40" dirty="0">
                <a:latin typeface="Times New Roman"/>
                <a:cs typeface="Times New Roman"/>
              </a:rPr>
              <a:t>)</a:t>
            </a:r>
            <a:r>
              <a:rPr sz="2800" i="1" dirty="0">
                <a:latin typeface="Times New Roman"/>
                <a:cs typeface="Times New Roman"/>
              </a:rPr>
              <a:t>dxdyd</a:t>
            </a:r>
            <a:r>
              <a:rPr sz="2800" i="1" spc="35" dirty="0">
                <a:latin typeface="Times New Roman"/>
                <a:cs typeface="Times New Roman"/>
              </a:rPr>
              <a:t>z</a:t>
            </a:r>
            <a:r>
              <a:rPr sz="2800" dirty="0">
                <a:latin typeface="Times New Roman"/>
                <a:cs typeface="Times New Roman"/>
              </a:rPr>
              <a:t>;	</a:t>
            </a:r>
            <a:r>
              <a:rPr sz="2800" dirty="0">
                <a:latin typeface="Symbol"/>
                <a:cs typeface="Symbol"/>
              </a:rPr>
              <a:t>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98334" y="5376134"/>
            <a:ext cx="11396133" cy="638735"/>
          </a:xfrm>
          <a:custGeom>
            <a:avLst/>
            <a:gdLst/>
            <a:ahLst/>
            <a:cxnLst/>
            <a:rect l="l" t="t" r="r" b="b"/>
            <a:pathLst>
              <a:path w="9401810" h="723900">
                <a:moveTo>
                  <a:pt x="0" y="0"/>
                </a:moveTo>
                <a:lnTo>
                  <a:pt x="0" y="723900"/>
                </a:lnTo>
                <a:lnTo>
                  <a:pt x="9401556" y="723900"/>
                </a:lnTo>
                <a:lnTo>
                  <a:pt x="9401556" y="0"/>
                </a:lnTo>
                <a:lnTo>
                  <a:pt x="0" y="0"/>
                </a:lnTo>
                <a:close/>
              </a:path>
            </a:pathLst>
          </a:custGeom>
          <a:ln w="10477">
            <a:solidFill>
              <a:srgbClr val="FF34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95256" y="300777"/>
            <a:ext cx="11049000" cy="20499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650364" marR="43180" indent="-1593215">
              <a:lnSpc>
                <a:spcPct val="100400"/>
              </a:lnSpc>
              <a:spcBef>
                <a:spcPts val="125"/>
              </a:spcBef>
            </a:pPr>
            <a:r>
              <a:rPr lang="en-US" sz="2600" spc="15" dirty="0" smtClean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      </a:t>
            </a:r>
            <a:r>
              <a:rPr sz="2600" u="heavy" spc="15" smtClean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Example</a:t>
            </a:r>
            <a:r>
              <a:rPr sz="2600" spc="15" smtClean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600" spc="20" smtClean="0">
                <a:solidFill>
                  <a:srgbClr val="FF3300"/>
                </a:solidFill>
                <a:latin typeface="Times New Roman"/>
                <a:cs typeface="Times New Roman"/>
              </a:rPr>
              <a:t>1</a:t>
            </a:r>
            <a:r>
              <a:rPr sz="2600" spc="10" smtClean="0">
                <a:latin typeface="Times New Roman"/>
                <a:cs typeface="Times New Roman"/>
              </a:rPr>
              <a:t>: </a:t>
            </a:r>
            <a:r>
              <a:rPr sz="2600" spc="10" dirty="0">
                <a:latin typeface="Times New Roman"/>
                <a:cs typeface="Times New Roman"/>
              </a:rPr>
              <a:t>Convert the following equation to spherical  coordinates:</a:t>
            </a:r>
            <a:endParaRPr sz="2600">
              <a:latin typeface="Times New Roman"/>
              <a:cs typeface="Times New Roman"/>
            </a:endParaRPr>
          </a:p>
          <a:p>
            <a:pPr marR="1137920" algn="ctr">
              <a:lnSpc>
                <a:spcPct val="100000"/>
              </a:lnSpc>
              <a:spcBef>
                <a:spcPts val="1290"/>
              </a:spcBef>
              <a:tabLst>
                <a:tab pos="521334" algn="l"/>
                <a:tab pos="1689100" algn="l"/>
              </a:tabLst>
            </a:pPr>
            <a:r>
              <a:rPr sz="3850" i="1" spc="140" dirty="0">
                <a:latin typeface="Times New Roman"/>
                <a:cs typeface="Times New Roman"/>
              </a:rPr>
              <a:t>z</a:t>
            </a:r>
            <a:r>
              <a:rPr sz="3375" spc="209" baseline="43209" dirty="0">
                <a:latin typeface="Times New Roman"/>
                <a:cs typeface="Times New Roman"/>
              </a:rPr>
              <a:t>2	</a:t>
            </a:r>
            <a:r>
              <a:rPr sz="3850" spc="20" dirty="0">
                <a:latin typeface="Symbol"/>
                <a:cs typeface="Symbol"/>
              </a:rPr>
              <a:t></a:t>
            </a:r>
            <a:r>
              <a:rPr sz="3850" spc="-105" dirty="0">
                <a:latin typeface="Times New Roman"/>
                <a:cs typeface="Times New Roman"/>
              </a:rPr>
              <a:t> </a:t>
            </a:r>
            <a:r>
              <a:rPr sz="3850" spc="135" dirty="0">
                <a:latin typeface="Times New Roman"/>
                <a:cs typeface="Times New Roman"/>
              </a:rPr>
              <a:t>3</a:t>
            </a:r>
            <a:r>
              <a:rPr sz="3850" i="1" spc="135" dirty="0">
                <a:latin typeface="Times New Roman"/>
                <a:cs typeface="Times New Roman"/>
              </a:rPr>
              <a:t>x</a:t>
            </a:r>
            <a:r>
              <a:rPr sz="3375" spc="202" baseline="43209" dirty="0">
                <a:latin typeface="Times New Roman"/>
                <a:cs typeface="Times New Roman"/>
              </a:rPr>
              <a:t>2	</a:t>
            </a:r>
            <a:r>
              <a:rPr sz="3850" spc="20" dirty="0">
                <a:latin typeface="Symbol"/>
                <a:cs typeface="Symbol"/>
              </a:rPr>
              <a:t></a:t>
            </a:r>
            <a:r>
              <a:rPr sz="3850" spc="-229" dirty="0">
                <a:latin typeface="Times New Roman"/>
                <a:cs typeface="Times New Roman"/>
              </a:rPr>
              <a:t> </a:t>
            </a:r>
            <a:r>
              <a:rPr sz="3850" spc="210" dirty="0">
                <a:latin typeface="Times New Roman"/>
                <a:cs typeface="Times New Roman"/>
              </a:rPr>
              <a:t>3</a:t>
            </a:r>
            <a:r>
              <a:rPr sz="3850" i="1" spc="210" dirty="0">
                <a:latin typeface="Times New Roman"/>
                <a:cs typeface="Times New Roman"/>
              </a:rPr>
              <a:t>y</a:t>
            </a:r>
            <a:r>
              <a:rPr sz="3375" spc="315" baseline="43209" dirty="0">
                <a:latin typeface="Times New Roman"/>
                <a:cs typeface="Times New Roman"/>
              </a:rPr>
              <a:t>2</a:t>
            </a:r>
            <a:endParaRPr sz="3375" baseline="43209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3650"/>
              </a:spcBef>
            </a:pPr>
            <a:r>
              <a:rPr sz="2600" u="heavy" spc="1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Example </a:t>
            </a:r>
            <a:r>
              <a:rPr sz="2600" u="heavy" spc="2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2</a:t>
            </a:r>
            <a:r>
              <a:rPr sz="2600" spc="2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600" spc="10" smtClean="0">
                <a:latin typeface="Times New Roman"/>
                <a:cs typeface="Times New Roman"/>
              </a:rPr>
              <a:t>Find </a:t>
            </a:r>
            <a:r>
              <a:rPr sz="2600" spc="10" dirty="0">
                <a:latin typeface="Times New Roman"/>
                <a:cs typeface="Times New Roman"/>
              </a:rPr>
              <a:t>the </a:t>
            </a:r>
            <a:r>
              <a:rPr sz="2600" spc="15" dirty="0">
                <a:latin typeface="Times New Roman"/>
                <a:cs typeface="Times New Roman"/>
              </a:rPr>
              <a:t>volume bounded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by: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541193" y="2999366"/>
            <a:ext cx="58497" cy="24653"/>
          </a:xfrm>
          <a:custGeom>
            <a:avLst/>
            <a:gdLst/>
            <a:ahLst/>
            <a:cxnLst/>
            <a:rect l="l" t="t" r="r" b="b"/>
            <a:pathLst>
              <a:path w="48260" h="27939">
                <a:moveTo>
                  <a:pt x="0" y="27431"/>
                </a:moveTo>
                <a:lnTo>
                  <a:pt x="48005" y="0"/>
                </a:lnTo>
              </a:path>
            </a:pathLst>
          </a:custGeom>
          <a:ln w="154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599382" y="3006090"/>
            <a:ext cx="83127" cy="110378"/>
          </a:xfrm>
          <a:custGeom>
            <a:avLst/>
            <a:gdLst/>
            <a:ahLst/>
            <a:cxnLst/>
            <a:rect l="l" t="t" r="r" b="b"/>
            <a:pathLst>
              <a:path w="68579" h="125095">
                <a:moveTo>
                  <a:pt x="0" y="0"/>
                </a:moveTo>
                <a:lnTo>
                  <a:pt x="68580" y="124968"/>
                </a:lnTo>
              </a:path>
            </a:pathLst>
          </a:custGeom>
          <a:ln w="309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691746" y="2788920"/>
            <a:ext cx="352521" cy="327772"/>
          </a:xfrm>
          <a:custGeom>
            <a:avLst/>
            <a:gdLst/>
            <a:ahLst/>
            <a:cxnLst/>
            <a:rect l="l" t="t" r="r" b="b"/>
            <a:pathLst>
              <a:path w="290829" h="371475">
                <a:moveTo>
                  <a:pt x="0" y="371094"/>
                </a:moveTo>
                <a:lnTo>
                  <a:pt x="90677" y="0"/>
                </a:lnTo>
                <a:lnTo>
                  <a:pt x="290322" y="0"/>
                </a:lnTo>
              </a:path>
            </a:pathLst>
          </a:custGeom>
          <a:ln w="154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919626" y="2760516"/>
            <a:ext cx="9352587" cy="46230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79730" indent="-329565">
              <a:lnSpc>
                <a:spcPct val="100000"/>
              </a:lnSpc>
              <a:spcBef>
                <a:spcPts val="125"/>
              </a:spcBef>
              <a:buFont typeface="Symbol"/>
              <a:buChar char=""/>
              <a:tabLst>
                <a:tab pos="380365" algn="l"/>
                <a:tab pos="3227070" algn="l"/>
                <a:tab pos="4041140" algn="l"/>
                <a:tab pos="4772025" algn="l"/>
                <a:tab pos="5742305" algn="l"/>
              </a:tabLst>
            </a:pPr>
            <a:r>
              <a:rPr sz="2900" i="1" spc="114" dirty="0">
                <a:latin typeface="Times New Roman"/>
                <a:cs typeface="Times New Roman"/>
              </a:rPr>
              <a:t>y</a:t>
            </a:r>
            <a:r>
              <a:rPr sz="2550" spc="172" baseline="42483" dirty="0">
                <a:latin typeface="Times New Roman"/>
                <a:cs typeface="Times New Roman"/>
              </a:rPr>
              <a:t>2  </a:t>
            </a:r>
            <a:r>
              <a:rPr sz="2900" spc="10" dirty="0">
                <a:latin typeface="Symbol"/>
                <a:cs typeface="Symbol"/>
              </a:rPr>
              <a:t></a:t>
            </a:r>
            <a:r>
              <a:rPr sz="2900" spc="10" dirty="0">
                <a:latin typeface="Times New Roman"/>
                <a:cs typeface="Times New Roman"/>
              </a:rPr>
              <a:t> </a:t>
            </a:r>
            <a:r>
              <a:rPr sz="2900" i="1" spc="105" dirty="0">
                <a:latin typeface="Times New Roman"/>
                <a:cs typeface="Times New Roman"/>
              </a:rPr>
              <a:t>z</a:t>
            </a:r>
            <a:r>
              <a:rPr sz="2550" spc="157" baseline="42483" dirty="0">
                <a:latin typeface="Times New Roman"/>
                <a:cs typeface="Times New Roman"/>
              </a:rPr>
              <a:t>2  </a:t>
            </a:r>
            <a:r>
              <a:rPr sz="2900" spc="10" dirty="0">
                <a:latin typeface="Symbol"/>
                <a:cs typeface="Symbol"/>
              </a:rPr>
              <a:t></a:t>
            </a:r>
            <a:r>
              <a:rPr sz="2900" spc="10" dirty="0">
                <a:latin typeface="Times New Roman"/>
                <a:cs typeface="Times New Roman"/>
              </a:rPr>
              <a:t> </a:t>
            </a:r>
            <a:r>
              <a:rPr sz="2900" spc="-15" dirty="0">
                <a:latin typeface="Times New Roman"/>
                <a:cs typeface="Times New Roman"/>
              </a:rPr>
              <a:t>4, </a:t>
            </a:r>
            <a:r>
              <a:rPr sz="2900" i="1" spc="10" dirty="0">
                <a:latin typeface="Times New Roman"/>
                <a:cs typeface="Times New Roman"/>
              </a:rPr>
              <a:t>y</a:t>
            </a:r>
            <a:r>
              <a:rPr sz="2900" i="1" spc="-25" dirty="0">
                <a:latin typeface="Times New Roman"/>
                <a:cs typeface="Times New Roman"/>
              </a:rPr>
              <a:t> </a:t>
            </a:r>
            <a:r>
              <a:rPr sz="2900" spc="10" dirty="0">
                <a:latin typeface="Symbol"/>
                <a:cs typeface="Symbol"/>
              </a:rPr>
              <a:t></a:t>
            </a:r>
            <a:r>
              <a:rPr sz="2900" spc="204" dirty="0">
                <a:latin typeface="Times New Roman"/>
                <a:cs typeface="Times New Roman"/>
              </a:rPr>
              <a:t> </a:t>
            </a:r>
            <a:r>
              <a:rPr sz="2900" i="1" spc="35" dirty="0">
                <a:latin typeface="Times New Roman"/>
                <a:cs typeface="Times New Roman"/>
              </a:rPr>
              <a:t>x</a:t>
            </a:r>
            <a:r>
              <a:rPr sz="2900" spc="35" dirty="0">
                <a:latin typeface="Times New Roman"/>
                <a:cs typeface="Times New Roman"/>
              </a:rPr>
              <a:t>,	</a:t>
            </a:r>
            <a:r>
              <a:rPr sz="2900" i="1" spc="10" dirty="0">
                <a:latin typeface="Times New Roman"/>
                <a:cs typeface="Times New Roman"/>
              </a:rPr>
              <a:t>y</a:t>
            </a:r>
            <a:r>
              <a:rPr sz="2900" i="1" spc="80" dirty="0">
                <a:latin typeface="Times New Roman"/>
                <a:cs typeface="Times New Roman"/>
              </a:rPr>
              <a:t> </a:t>
            </a:r>
            <a:r>
              <a:rPr sz="2900" spc="10" dirty="0">
                <a:latin typeface="Symbol"/>
                <a:cs typeface="Symbol"/>
              </a:rPr>
              <a:t></a:t>
            </a:r>
            <a:r>
              <a:rPr sz="2900" spc="10" dirty="0">
                <a:latin typeface="Times New Roman"/>
                <a:cs typeface="Times New Roman"/>
              </a:rPr>
              <a:t>	3</a:t>
            </a:r>
            <a:r>
              <a:rPr sz="2900" spc="105" dirty="0">
                <a:latin typeface="Times New Roman"/>
                <a:cs typeface="Times New Roman"/>
              </a:rPr>
              <a:t> </a:t>
            </a:r>
            <a:r>
              <a:rPr sz="2900" i="1" spc="35" dirty="0">
                <a:latin typeface="Times New Roman"/>
                <a:cs typeface="Times New Roman"/>
              </a:rPr>
              <a:t>x</a:t>
            </a:r>
            <a:r>
              <a:rPr sz="2900" spc="35" dirty="0">
                <a:latin typeface="Times New Roman"/>
                <a:cs typeface="Times New Roman"/>
              </a:rPr>
              <a:t>,	</a:t>
            </a:r>
            <a:r>
              <a:rPr sz="2900" i="1" spc="5" dirty="0">
                <a:latin typeface="Times New Roman"/>
                <a:cs typeface="Times New Roman"/>
              </a:rPr>
              <a:t>z</a:t>
            </a:r>
            <a:r>
              <a:rPr sz="2900" i="1" spc="60" dirty="0">
                <a:latin typeface="Times New Roman"/>
                <a:cs typeface="Times New Roman"/>
              </a:rPr>
              <a:t> </a:t>
            </a:r>
            <a:r>
              <a:rPr sz="2900" spc="10" dirty="0">
                <a:latin typeface="Symbol"/>
                <a:cs typeface="Symbol"/>
              </a:rPr>
              <a:t></a:t>
            </a:r>
            <a:r>
              <a:rPr sz="2900" spc="-5" dirty="0">
                <a:latin typeface="Times New Roman"/>
                <a:cs typeface="Times New Roman"/>
              </a:rPr>
              <a:t> </a:t>
            </a:r>
            <a:r>
              <a:rPr sz="2900" spc="-20" dirty="0">
                <a:latin typeface="Times New Roman"/>
                <a:cs typeface="Times New Roman"/>
              </a:rPr>
              <a:t>0,	</a:t>
            </a:r>
            <a:r>
              <a:rPr sz="2900" b="1" spc="10" dirty="0">
                <a:latin typeface="Times New Roman"/>
                <a:cs typeface="Times New Roman"/>
              </a:rPr>
              <a:t>First</a:t>
            </a:r>
            <a:r>
              <a:rPr sz="2900" b="1" spc="-175" dirty="0">
                <a:latin typeface="Times New Roman"/>
                <a:cs typeface="Times New Roman"/>
              </a:rPr>
              <a:t> </a:t>
            </a:r>
            <a:r>
              <a:rPr sz="2900" b="1" spc="10" dirty="0">
                <a:latin typeface="Times New Roman"/>
                <a:cs typeface="Times New Roman"/>
              </a:rPr>
              <a:t>Octant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44550" y="2613271"/>
            <a:ext cx="454121" cy="46230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4350" i="1" spc="150" baseline="-24904" dirty="0">
                <a:latin typeface="Times New Roman"/>
                <a:cs typeface="Times New Roman"/>
              </a:rPr>
              <a:t>x</a:t>
            </a:r>
            <a:r>
              <a:rPr sz="1700" spc="100" dirty="0">
                <a:latin typeface="Times New Roman"/>
                <a:cs typeface="Times New Roman"/>
              </a:rPr>
              <a:t>2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04799" y="1786441"/>
            <a:ext cx="11277600" cy="0"/>
          </a:xfrm>
          <a:custGeom>
            <a:avLst/>
            <a:gdLst/>
            <a:ahLst/>
            <a:cxnLst/>
            <a:rect l="l" t="t" r="r" b="b"/>
            <a:pathLst>
              <a:path w="9304020">
                <a:moveTo>
                  <a:pt x="0" y="0"/>
                </a:moveTo>
                <a:lnTo>
                  <a:pt x="9304019" y="0"/>
                </a:lnTo>
              </a:path>
            </a:pathLst>
          </a:custGeom>
          <a:ln w="10477">
            <a:solidFill>
              <a:srgbClr val="010101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65760" y="3473374"/>
            <a:ext cx="11277600" cy="0"/>
          </a:xfrm>
          <a:custGeom>
            <a:avLst/>
            <a:gdLst/>
            <a:ahLst/>
            <a:cxnLst/>
            <a:rect l="l" t="t" r="r" b="b"/>
            <a:pathLst>
              <a:path w="9304020">
                <a:moveTo>
                  <a:pt x="0" y="0"/>
                </a:moveTo>
                <a:lnTo>
                  <a:pt x="9304020" y="0"/>
                </a:lnTo>
              </a:path>
            </a:pathLst>
          </a:custGeom>
          <a:ln w="10477">
            <a:solidFill>
              <a:srgbClr val="010101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7058738" y="6243693"/>
            <a:ext cx="4324156" cy="41806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spc="20" dirty="0">
                <a:solidFill>
                  <a:srgbClr val="FF3300"/>
                </a:solidFill>
                <a:latin typeface="Arial"/>
                <a:cs typeface="Arial"/>
              </a:rPr>
              <a:t>Give </a:t>
            </a:r>
            <a:r>
              <a:rPr sz="2600" spc="15" dirty="0">
                <a:solidFill>
                  <a:srgbClr val="FF3300"/>
                </a:solidFill>
                <a:latin typeface="Arial"/>
                <a:cs typeface="Arial"/>
              </a:rPr>
              <a:t>details of</a:t>
            </a:r>
            <a:r>
              <a:rPr sz="2600" spc="-7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600" spc="15" dirty="0">
                <a:solidFill>
                  <a:srgbClr val="FF3300"/>
                </a:solidFill>
                <a:latin typeface="Arial"/>
                <a:cs typeface="Arial"/>
              </a:rPr>
              <a:t>solutions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90525" y="6413126"/>
            <a:ext cx="293255" cy="25006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50" spc="-15" dirty="0">
                <a:latin typeface="Arial"/>
                <a:cs typeface="Arial"/>
              </a:rPr>
              <a:t>15</a:t>
            </a:r>
            <a:endParaRPr sz="15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444479" y="5532119"/>
            <a:ext cx="706582" cy="0"/>
          </a:xfrm>
          <a:custGeom>
            <a:avLst/>
            <a:gdLst/>
            <a:ahLst/>
            <a:cxnLst/>
            <a:rect l="l" t="t" r="r" b="b"/>
            <a:pathLst>
              <a:path w="582929">
                <a:moveTo>
                  <a:pt x="0" y="0"/>
                </a:moveTo>
                <a:lnTo>
                  <a:pt x="582929" y="0"/>
                </a:lnTo>
              </a:path>
            </a:pathLst>
          </a:custGeom>
          <a:ln w="14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925694" y="5290176"/>
            <a:ext cx="146242" cy="27699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700" i="1" spc="-40" dirty="0">
                <a:latin typeface="Symbol"/>
                <a:cs typeface="Symbol"/>
              </a:rPr>
              <a:t>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07284" y="5484491"/>
            <a:ext cx="3745345" cy="27699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  <a:tabLst>
                <a:tab pos="2968625" algn="l"/>
              </a:tabLst>
            </a:pPr>
            <a:r>
              <a:rPr sz="1700" i="1" spc="-40" dirty="0">
                <a:latin typeface="Symbol"/>
                <a:cs typeface="Symbol"/>
              </a:rPr>
              <a:t></a:t>
            </a:r>
            <a:r>
              <a:rPr sz="1700" spc="-40" dirty="0">
                <a:latin typeface="Times New Roman"/>
                <a:cs typeface="Times New Roman"/>
              </a:rPr>
              <a:t>	</a:t>
            </a:r>
            <a:r>
              <a:rPr sz="1700" i="1" spc="-40" dirty="0">
                <a:latin typeface="Symbol"/>
                <a:cs typeface="Symbol"/>
              </a:rPr>
              <a:t>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64923" y="5088187"/>
            <a:ext cx="1477818" cy="71429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  <a:tabLst>
                <a:tab pos="465455" algn="l"/>
                <a:tab pos="870585" algn="l"/>
              </a:tabLst>
            </a:pPr>
            <a:r>
              <a:rPr sz="4550" spc="-725" dirty="0">
                <a:latin typeface="Symbol"/>
                <a:cs typeface="Symbol"/>
              </a:rPr>
              <a:t></a:t>
            </a:r>
            <a:r>
              <a:rPr sz="2950" i="1" spc="-90" dirty="0">
                <a:latin typeface="Symbol"/>
                <a:cs typeface="Symbol"/>
              </a:rPr>
              <a:t></a:t>
            </a:r>
            <a:r>
              <a:rPr sz="2950" dirty="0">
                <a:latin typeface="Times New Roman"/>
                <a:cs typeface="Times New Roman"/>
              </a:rPr>
              <a:t>	</a:t>
            </a:r>
            <a:r>
              <a:rPr sz="2800" i="1" spc="-5" dirty="0">
                <a:latin typeface="Times New Roman"/>
                <a:cs typeface="Times New Roman"/>
              </a:rPr>
              <a:t>E</a:t>
            </a:r>
            <a:r>
              <a:rPr sz="2800" i="1" dirty="0">
                <a:latin typeface="Times New Roman"/>
                <a:cs typeface="Times New Roman"/>
              </a:rPr>
              <a:t>	</a:t>
            </a:r>
            <a:r>
              <a:rPr sz="4550" spc="-420" dirty="0">
                <a:latin typeface="Symbol"/>
                <a:cs typeface="Symbol"/>
              </a:rPr>
              <a:t></a:t>
            </a:r>
            <a:r>
              <a:rPr sz="2800" spc="-5" dirty="0">
                <a:latin typeface="Symbol"/>
                <a:cs typeface="Symbol"/>
              </a:rPr>
              <a:t>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25912" y="5494874"/>
            <a:ext cx="127000" cy="26289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600" i="1" spc="10" dirty="0">
                <a:latin typeface="Times New Roman"/>
                <a:cs typeface="Times New Roman"/>
              </a:rPr>
              <a:t>v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16800" y="5097159"/>
            <a:ext cx="1711036" cy="70147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  <a:tabLst>
                <a:tab pos="1062355" algn="l"/>
              </a:tabLst>
            </a:pPr>
            <a:r>
              <a:rPr sz="4450" spc="-855" dirty="0">
                <a:latin typeface="Symbol"/>
                <a:cs typeface="Symbol"/>
              </a:rPr>
              <a:t></a:t>
            </a:r>
            <a:r>
              <a:rPr sz="2800" spc="-5" dirty="0">
                <a:latin typeface="Times New Roman"/>
                <a:cs typeface="Times New Roman"/>
              </a:rPr>
              <a:t>si</a:t>
            </a:r>
            <a:r>
              <a:rPr sz="2800" spc="170" dirty="0">
                <a:latin typeface="Times New Roman"/>
                <a:cs typeface="Times New Roman"/>
              </a:rPr>
              <a:t>n</a:t>
            </a:r>
            <a:r>
              <a:rPr sz="2950" i="1" spc="-175" dirty="0">
                <a:latin typeface="Symbol"/>
                <a:cs typeface="Symbol"/>
              </a:rPr>
              <a:t></a:t>
            </a:r>
            <a:r>
              <a:rPr sz="2800" i="1" spc="-5" dirty="0">
                <a:latin typeface="Times New Roman"/>
                <a:cs typeface="Times New Roman"/>
              </a:rPr>
              <a:t>E</a:t>
            </a:r>
            <a:r>
              <a:rPr sz="2800" i="1" dirty="0">
                <a:latin typeface="Times New Roman"/>
                <a:cs typeface="Times New Roman"/>
              </a:rPr>
              <a:t>	</a:t>
            </a:r>
            <a:r>
              <a:rPr sz="4450" spc="-375" dirty="0">
                <a:latin typeface="Symbol"/>
                <a:cs typeface="Symbol"/>
              </a:rPr>
              <a:t></a:t>
            </a:r>
            <a:r>
              <a:rPr sz="2800" spc="-5" dirty="0">
                <a:latin typeface="Symbol"/>
                <a:cs typeface="Symbol"/>
              </a:rPr>
              <a:t>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36029" y="5092077"/>
            <a:ext cx="532091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387985" algn="l"/>
                <a:tab pos="949960" algn="l"/>
                <a:tab pos="2957195" algn="l"/>
                <a:tab pos="3345815" algn="l"/>
                <a:tab pos="3907790" algn="l"/>
              </a:tabLst>
            </a:pP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1	</a:t>
            </a:r>
            <a:r>
              <a:rPr sz="2800" spc="-235" dirty="0">
                <a:latin typeface="Times New Roman"/>
                <a:cs typeface="Times New Roman"/>
              </a:rPr>
              <a:t> </a:t>
            </a:r>
            <a:r>
              <a:rPr sz="2800" u="heavy" spc="19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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Symbol"/>
                <a:cs typeface="Symbol"/>
              </a:rPr>
              <a:t></a:t>
            </a:r>
            <a:r>
              <a:rPr sz="2800" i="1" spc="-5" dirty="0">
                <a:latin typeface="Times New Roman"/>
                <a:cs typeface="Times New Roman"/>
              </a:rPr>
              <a:t>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79637" y="5276361"/>
            <a:ext cx="141623" cy="26289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600" spc="15" dirty="0"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32176" y="5052298"/>
            <a:ext cx="8202661" cy="993862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450"/>
              </a:spcBef>
            </a:pP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heavy" spc="-40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2800" u="heavy" spc="30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</a:t>
            </a:r>
            <a:endParaRPr sz="2800">
              <a:latin typeface="Symbol"/>
              <a:cs typeface="Symbol"/>
            </a:endParaRPr>
          </a:p>
          <a:p>
            <a:pPr marL="83820">
              <a:lnSpc>
                <a:spcPct val="100000"/>
              </a:lnSpc>
              <a:spcBef>
                <a:spcPts val="375"/>
              </a:spcBef>
              <a:tabLst>
                <a:tab pos="555625" algn="l"/>
                <a:tab pos="2346325" algn="l"/>
                <a:tab pos="5303520" algn="l"/>
                <a:tab pos="6369685" algn="l"/>
              </a:tabLst>
            </a:pPr>
            <a:r>
              <a:rPr sz="2950" i="1" spc="-90" dirty="0">
                <a:latin typeface="Symbol"/>
                <a:cs typeface="Symbol"/>
              </a:rPr>
              <a:t></a:t>
            </a:r>
            <a:r>
              <a:rPr sz="2950" i="1" spc="-385" dirty="0">
                <a:latin typeface="Times New Roman"/>
                <a:cs typeface="Times New Roman"/>
              </a:rPr>
              <a:t> </a:t>
            </a:r>
            <a:r>
              <a:rPr sz="2400" spc="22" baseline="43402" dirty="0">
                <a:latin typeface="Times New Roman"/>
                <a:cs typeface="Times New Roman"/>
              </a:rPr>
              <a:t>2	</a:t>
            </a:r>
            <a:r>
              <a:rPr sz="2800" spc="-55" dirty="0">
                <a:latin typeface="Symbol"/>
                <a:cs typeface="Symbol"/>
              </a:rPr>
              <a:t></a:t>
            </a:r>
            <a:r>
              <a:rPr sz="2950" i="1" spc="-55" dirty="0">
                <a:latin typeface="Symbol"/>
                <a:cs typeface="Symbol"/>
              </a:rPr>
              <a:t></a:t>
            </a:r>
            <a:r>
              <a:rPr sz="2950" spc="-55" dirty="0">
                <a:latin typeface="Times New Roman"/>
                <a:cs typeface="Times New Roman"/>
              </a:rPr>
              <a:t>	</a:t>
            </a:r>
            <a:r>
              <a:rPr sz="2950" i="1" spc="-90" dirty="0">
                <a:latin typeface="Symbol"/>
                <a:cs typeface="Symbol"/>
              </a:rPr>
              <a:t></a:t>
            </a:r>
            <a:r>
              <a:rPr sz="2950" i="1" spc="-265" dirty="0">
                <a:latin typeface="Times New Roman"/>
                <a:cs typeface="Times New Roman"/>
              </a:rPr>
              <a:t> </a:t>
            </a:r>
            <a:r>
              <a:rPr sz="2800" spc="20" dirty="0">
                <a:latin typeface="Times New Roman"/>
                <a:cs typeface="Times New Roman"/>
              </a:rPr>
              <a:t>sin</a:t>
            </a:r>
            <a:r>
              <a:rPr sz="2950" i="1" spc="20" dirty="0">
                <a:latin typeface="Symbol"/>
                <a:cs typeface="Symbol"/>
              </a:rPr>
              <a:t></a:t>
            </a:r>
            <a:r>
              <a:rPr sz="2950" i="1" spc="195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Symbol"/>
                <a:cs typeface="Symbol"/>
              </a:rPr>
              <a:t></a:t>
            </a:r>
            <a:r>
              <a:rPr sz="2950" i="1" spc="-50" dirty="0">
                <a:latin typeface="Symbol"/>
                <a:cs typeface="Symbol"/>
              </a:rPr>
              <a:t></a:t>
            </a:r>
            <a:r>
              <a:rPr sz="2950" spc="-50" dirty="0">
                <a:latin typeface="Times New Roman"/>
                <a:cs typeface="Times New Roman"/>
              </a:rPr>
              <a:t>	</a:t>
            </a:r>
            <a:r>
              <a:rPr sz="2950" i="1" spc="-90" dirty="0">
                <a:latin typeface="Symbol"/>
                <a:cs typeface="Symbol"/>
              </a:rPr>
              <a:t></a:t>
            </a:r>
            <a:r>
              <a:rPr sz="2950" i="1" spc="-265" dirty="0">
                <a:latin typeface="Times New Roman"/>
                <a:cs typeface="Times New Roman"/>
              </a:rPr>
              <a:t> </a:t>
            </a:r>
            <a:r>
              <a:rPr sz="2800" spc="20" dirty="0">
                <a:latin typeface="Times New Roman"/>
                <a:cs typeface="Times New Roman"/>
              </a:rPr>
              <a:t>sin</a:t>
            </a:r>
            <a:r>
              <a:rPr sz="2950" i="1" spc="20" dirty="0">
                <a:latin typeface="Symbol"/>
                <a:cs typeface="Symbol"/>
              </a:rPr>
              <a:t></a:t>
            </a:r>
            <a:r>
              <a:rPr sz="2950" spc="20" dirty="0">
                <a:latin typeface="Times New Roman"/>
                <a:cs typeface="Times New Roman"/>
              </a:rPr>
              <a:t>	</a:t>
            </a:r>
            <a:r>
              <a:rPr sz="2800" spc="-50" dirty="0">
                <a:latin typeface="Symbol"/>
                <a:cs typeface="Symbol"/>
              </a:rPr>
              <a:t></a:t>
            </a:r>
            <a:r>
              <a:rPr sz="2950" i="1" spc="-50" dirty="0">
                <a:latin typeface="Symbol"/>
                <a:cs typeface="Symbol"/>
              </a:rPr>
              <a:t>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7412" y="5268571"/>
            <a:ext cx="1995824" cy="461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ts val="1845"/>
              </a:lnSpc>
              <a:spcBef>
                <a:spcPts val="100"/>
              </a:spcBef>
              <a:tabLst>
                <a:tab pos="453390" algn="l"/>
              </a:tabLst>
            </a:pPr>
            <a:r>
              <a:rPr sz="2950" i="1" spc="-90" dirty="0">
                <a:latin typeface="Symbol"/>
                <a:cs typeface="Symbol"/>
              </a:rPr>
              <a:t></a:t>
            </a:r>
            <a:r>
              <a:rPr sz="2950" spc="-9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Symbol"/>
                <a:cs typeface="Symbol"/>
              </a:rPr>
              <a:t>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Symbol"/>
                <a:cs typeface="Symbol"/>
              </a:rPr>
              <a:t></a:t>
            </a:r>
            <a:r>
              <a:rPr sz="2800" spc="-15" dirty="0">
                <a:latin typeface="Times New Roman"/>
                <a:cs typeface="Times New Roman"/>
              </a:rPr>
              <a:t>. </a:t>
            </a:r>
            <a:r>
              <a:rPr sz="4200" spc="-150" baseline="47619" dirty="0">
                <a:latin typeface="Arial Black"/>
                <a:cs typeface="Arial Black"/>
              </a:rPr>
              <a:t>r</a:t>
            </a:r>
            <a:r>
              <a:rPr sz="4200" spc="-434" baseline="47619" dirty="0">
                <a:latin typeface="Arial Black"/>
                <a:cs typeface="Arial Black"/>
              </a:rPr>
              <a:t> </a:t>
            </a:r>
            <a:r>
              <a:rPr sz="2800" spc="-5" dirty="0">
                <a:latin typeface="Symbol"/>
                <a:cs typeface="Symbol"/>
              </a:rPr>
              <a:t></a:t>
            </a:r>
            <a:endParaRPr sz="2800">
              <a:latin typeface="Symbol"/>
              <a:cs typeface="Symbol"/>
            </a:endParaRPr>
          </a:p>
          <a:p>
            <a:pPr marL="1078865">
              <a:lnSpc>
                <a:spcPts val="1664"/>
              </a:lnSpc>
            </a:pPr>
            <a:r>
              <a:rPr sz="2800" i="1" spc="-5" dirty="0">
                <a:latin typeface="Times New Roman"/>
                <a:cs typeface="Times New Roman"/>
              </a:rPr>
              <a:t>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85092" y="5109882"/>
            <a:ext cx="10448636" cy="870697"/>
          </a:xfrm>
          <a:custGeom>
            <a:avLst/>
            <a:gdLst/>
            <a:ahLst/>
            <a:cxnLst/>
            <a:rect l="l" t="t" r="r" b="b"/>
            <a:pathLst>
              <a:path w="8620125" h="986790">
                <a:moveTo>
                  <a:pt x="0" y="0"/>
                </a:moveTo>
                <a:lnTo>
                  <a:pt x="0" y="986790"/>
                </a:lnTo>
                <a:lnTo>
                  <a:pt x="8619744" y="986790"/>
                </a:lnTo>
                <a:lnTo>
                  <a:pt x="8619744" y="0"/>
                </a:lnTo>
                <a:lnTo>
                  <a:pt x="0" y="0"/>
                </a:lnTo>
                <a:close/>
              </a:path>
            </a:pathLst>
          </a:custGeom>
          <a:ln w="10477">
            <a:solidFill>
              <a:srgbClr val="0167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346930" y="4248903"/>
            <a:ext cx="6607079" cy="47833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3945890" algn="l"/>
              </a:tabLst>
            </a:pPr>
            <a:r>
              <a:rPr sz="2600" spc="15" dirty="0">
                <a:latin typeface="Times New Roman"/>
                <a:cs typeface="Times New Roman"/>
              </a:rPr>
              <a:t>Given </a:t>
            </a:r>
            <a:r>
              <a:rPr sz="2600" spc="10" dirty="0">
                <a:latin typeface="Times New Roman"/>
                <a:cs typeface="Times New Roman"/>
              </a:rPr>
              <a:t>the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electrostatic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field	</a:t>
            </a:r>
            <a:r>
              <a:rPr sz="4275" i="1" spc="7" baseline="3898" dirty="0">
                <a:latin typeface="Times New Roman"/>
                <a:cs typeface="Times New Roman"/>
              </a:rPr>
              <a:t>E </a:t>
            </a:r>
            <a:r>
              <a:rPr sz="4275" spc="7" baseline="3898" dirty="0">
                <a:latin typeface="Symbol"/>
                <a:cs typeface="Symbol"/>
              </a:rPr>
              <a:t></a:t>
            </a:r>
            <a:r>
              <a:rPr sz="4275" spc="7" baseline="3898" dirty="0">
                <a:latin typeface="Times New Roman"/>
                <a:cs typeface="Times New Roman"/>
              </a:rPr>
              <a:t> </a:t>
            </a:r>
            <a:r>
              <a:rPr sz="4275" i="1" spc="-44" baseline="3898" dirty="0">
                <a:latin typeface="Times New Roman"/>
                <a:cs typeface="Times New Roman"/>
              </a:rPr>
              <a:t>k</a:t>
            </a:r>
            <a:r>
              <a:rPr sz="4500" i="1" spc="-44" baseline="3703" dirty="0">
                <a:latin typeface="Symbol"/>
                <a:cs typeface="Symbol"/>
              </a:rPr>
              <a:t></a:t>
            </a:r>
            <a:r>
              <a:rPr sz="4500" i="1" spc="-397" baseline="3703" dirty="0">
                <a:latin typeface="Times New Roman"/>
                <a:cs typeface="Times New Roman"/>
              </a:rPr>
              <a:t> </a:t>
            </a:r>
            <a:r>
              <a:rPr sz="2475" spc="-300" baseline="50505" dirty="0">
                <a:latin typeface="Times New Roman"/>
                <a:cs typeface="Times New Roman"/>
              </a:rPr>
              <a:t>2</a:t>
            </a:r>
            <a:r>
              <a:rPr sz="4275" i="1" spc="-300" baseline="3898" dirty="0">
                <a:latin typeface="Times New Roman"/>
                <a:cs typeface="Times New Roman"/>
              </a:rPr>
              <a:t>a</a:t>
            </a:r>
            <a:r>
              <a:rPr sz="4275" spc="-300" baseline="5847" dirty="0">
                <a:latin typeface="Times New Roman"/>
                <a:cs typeface="Times New Roman"/>
              </a:rPr>
              <a:t>ˆ</a:t>
            </a:r>
            <a:r>
              <a:rPr sz="2625" i="1" spc="-300" baseline="-15873" dirty="0">
                <a:latin typeface="Symbol"/>
                <a:cs typeface="Symbol"/>
              </a:rPr>
              <a:t></a:t>
            </a:r>
            <a:endParaRPr sz="2625" baseline="-15873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5092" y="5981475"/>
            <a:ext cx="11108267" cy="82355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120"/>
              </a:spcBef>
            </a:pPr>
            <a:r>
              <a:rPr sz="2600" spc="10" dirty="0">
                <a:latin typeface="Times New Roman"/>
                <a:cs typeface="Times New Roman"/>
              </a:rPr>
              <a:t>Calculate the total charge </a:t>
            </a:r>
            <a:r>
              <a:rPr sz="2600" spc="15" dirty="0">
                <a:latin typeface="Times New Roman"/>
                <a:cs typeface="Times New Roman"/>
              </a:rPr>
              <a:t>and </a:t>
            </a:r>
            <a:r>
              <a:rPr sz="2600" spc="10" dirty="0">
                <a:latin typeface="Times New Roman"/>
                <a:cs typeface="Times New Roman"/>
              </a:rPr>
              <a:t>stored energy in </a:t>
            </a:r>
            <a:r>
              <a:rPr sz="2600" spc="15" dirty="0">
                <a:latin typeface="Times New Roman"/>
                <a:cs typeface="Times New Roman"/>
              </a:rPr>
              <a:t>a </a:t>
            </a:r>
            <a:r>
              <a:rPr sz="2600" spc="10" dirty="0">
                <a:latin typeface="Times New Roman"/>
                <a:cs typeface="Times New Roman"/>
              </a:rPr>
              <a:t>region </a:t>
            </a:r>
            <a:r>
              <a:rPr sz="2600" spc="15" dirty="0">
                <a:latin typeface="Times New Roman"/>
                <a:cs typeface="Times New Roman"/>
              </a:rPr>
              <a:t>bounded </a:t>
            </a:r>
            <a:r>
              <a:rPr sz="2600" spc="10" dirty="0">
                <a:latin typeface="Times New Roman"/>
                <a:cs typeface="Times New Roman"/>
              </a:rPr>
              <a:t>by:  </a:t>
            </a:r>
            <a:r>
              <a:rPr sz="2600" spc="20" dirty="0">
                <a:latin typeface="Times New Roman"/>
                <a:cs typeface="Times New Roman"/>
              </a:rPr>
              <a:t>0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50" dirty="0">
                <a:latin typeface="Arial"/>
                <a:cs typeface="Arial"/>
              </a:rPr>
              <a:t>§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spc="20" dirty="0">
                <a:latin typeface="Symbol"/>
                <a:cs typeface="Symbol"/>
              </a:rPr>
              <a:t>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50" dirty="0">
                <a:latin typeface="Arial"/>
                <a:cs typeface="Arial"/>
              </a:rPr>
              <a:t>§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1, </a:t>
            </a:r>
            <a:r>
              <a:rPr sz="2600" spc="20" dirty="0">
                <a:latin typeface="Times New Roman"/>
                <a:cs typeface="Times New Roman"/>
              </a:rPr>
              <a:t>0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50" dirty="0">
                <a:latin typeface="Arial"/>
                <a:cs typeface="Arial"/>
              </a:rPr>
              <a:t>§</a:t>
            </a:r>
            <a:r>
              <a:rPr sz="2600" spc="-70" dirty="0">
                <a:latin typeface="Arial"/>
                <a:cs typeface="Arial"/>
              </a:rPr>
              <a:t> </a:t>
            </a:r>
            <a:r>
              <a:rPr sz="2600" spc="20" dirty="0">
                <a:latin typeface="Symbol"/>
                <a:cs typeface="Symbol"/>
              </a:rPr>
              <a:t>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50" dirty="0">
                <a:latin typeface="Arial"/>
                <a:cs typeface="Arial"/>
              </a:rPr>
              <a:t>§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spc="20" dirty="0">
                <a:latin typeface="Symbol"/>
                <a:cs typeface="Symbol"/>
              </a:rPr>
              <a:t>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and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0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50" dirty="0">
                <a:latin typeface="Arial"/>
                <a:cs typeface="Arial"/>
              </a:rPr>
              <a:t>§</a:t>
            </a:r>
            <a:r>
              <a:rPr sz="2600" spc="-70" dirty="0">
                <a:latin typeface="Arial"/>
                <a:cs typeface="Arial"/>
              </a:rPr>
              <a:t> </a:t>
            </a:r>
            <a:r>
              <a:rPr sz="2600" spc="20" dirty="0">
                <a:latin typeface="Symbol"/>
                <a:cs typeface="Symbol"/>
              </a:rPr>
              <a:t>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50" dirty="0">
                <a:latin typeface="Arial"/>
                <a:cs typeface="Arial"/>
              </a:rPr>
              <a:t>§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2</a:t>
            </a:r>
            <a:r>
              <a:rPr sz="2600" spc="20" dirty="0">
                <a:latin typeface="Symbol"/>
                <a:cs typeface="Symbol"/>
              </a:rPr>
              <a:t></a:t>
            </a:r>
            <a:endParaRPr sz="2600">
              <a:latin typeface="Symbol"/>
              <a:cs typeface="Symbo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908473" y="3092824"/>
            <a:ext cx="681182" cy="0"/>
          </a:xfrm>
          <a:custGeom>
            <a:avLst/>
            <a:gdLst/>
            <a:ahLst/>
            <a:cxnLst/>
            <a:rect l="l" t="t" r="r" b="b"/>
            <a:pathLst>
              <a:path w="561975">
                <a:moveTo>
                  <a:pt x="0" y="0"/>
                </a:moveTo>
                <a:lnTo>
                  <a:pt x="561593" y="0"/>
                </a:lnTo>
              </a:path>
            </a:pathLst>
          </a:custGeom>
          <a:ln w="14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9422014" y="2861324"/>
            <a:ext cx="113145" cy="26289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600" i="1" spc="10" dirty="0">
                <a:latin typeface="Times New Roman"/>
                <a:cs typeface="Times New Roman"/>
              </a:rPr>
              <a:t>z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200368" y="3055636"/>
            <a:ext cx="113145" cy="26289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600" i="1" spc="10" dirty="0">
                <a:latin typeface="Times New Roman"/>
                <a:cs typeface="Times New Roman"/>
              </a:rPr>
              <a:t>r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072007" y="3055636"/>
            <a:ext cx="127000" cy="26289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600" i="1" spc="10" dirty="0">
                <a:latin typeface="Times New Roman"/>
                <a:cs typeface="Times New Roman"/>
              </a:rPr>
              <a:t>v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054407" y="3087886"/>
            <a:ext cx="39331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800" spc="-20" dirty="0">
                <a:latin typeface="Symbol"/>
                <a:cs typeface="Symbol"/>
              </a:rPr>
              <a:t></a:t>
            </a:r>
            <a:r>
              <a:rPr sz="2800" i="1" spc="-5" dirty="0"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27715" y="2739707"/>
            <a:ext cx="3188085" cy="5892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600075" algn="l"/>
                <a:tab pos="1772285" algn="l"/>
                <a:tab pos="2265680" algn="l"/>
              </a:tabLst>
            </a:pPr>
            <a:r>
              <a:rPr sz="3750" spc="-385" dirty="0">
                <a:latin typeface="Symbol"/>
                <a:cs typeface="Symbol"/>
              </a:rPr>
              <a:t></a:t>
            </a:r>
            <a:r>
              <a:rPr sz="2800" i="1" spc="-5" dirty="0">
                <a:latin typeface="Times New Roman"/>
                <a:cs typeface="Times New Roman"/>
              </a:rPr>
              <a:t>rE</a:t>
            </a:r>
            <a:r>
              <a:rPr sz="2800" i="1" dirty="0">
                <a:latin typeface="Times New Roman"/>
                <a:cs typeface="Times New Roman"/>
              </a:rPr>
              <a:t>	</a:t>
            </a:r>
            <a:r>
              <a:rPr sz="3750" spc="-20" dirty="0">
                <a:latin typeface="Symbol"/>
                <a:cs typeface="Symbol"/>
              </a:rPr>
              <a:t></a:t>
            </a:r>
            <a:r>
              <a:rPr sz="2800" spc="-5" dirty="0">
                <a:latin typeface="Symbol"/>
                <a:cs typeface="Symbol"/>
              </a:rPr>
              <a:t>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3750" spc="-355" dirty="0">
                <a:latin typeface="Symbol"/>
                <a:cs typeface="Symbol"/>
              </a:rPr>
              <a:t></a:t>
            </a:r>
            <a:r>
              <a:rPr sz="2800" i="1" spc="-5" dirty="0">
                <a:latin typeface="Times New Roman"/>
                <a:cs typeface="Times New Roman"/>
              </a:rPr>
              <a:t>E</a:t>
            </a:r>
            <a:r>
              <a:rPr sz="2800" i="1" dirty="0">
                <a:latin typeface="Times New Roman"/>
                <a:cs typeface="Times New Roman"/>
              </a:rPr>
              <a:t>	</a:t>
            </a:r>
            <a:r>
              <a:rPr sz="3750" spc="-20" dirty="0">
                <a:latin typeface="Symbol"/>
                <a:cs typeface="Symbol"/>
              </a:rPr>
              <a:t></a:t>
            </a:r>
            <a:r>
              <a:rPr sz="2800" spc="-5" dirty="0">
                <a:latin typeface="Symbol"/>
                <a:cs typeface="Symbol"/>
              </a:rPr>
              <a:t>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161250" y="3045247"/>
            <a:ext cx="146242" cy="27699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700" i="1" spc="-40" dirty="0">
                <a:latin typeface="Symbol"/>
                <a:cs typeface="Symbol"/>
              </a:rPr>
              <a:t></a:t>
            </a:r>
            <a:endParaRPr sz="1700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921726" y="3070081"/>
            <a:ext cx="745836" cy="4667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800" i="1" spc="-5" dirty="0">
                <a:latin typeface="Times New Roman"/>
                <a:cs typeface="Times New Roman"/>
              </a:rPr>
              <a:t>r</a:t>
            </a:r>
            <a:r>
              <a:rPr sz="2800" i="1" spc="4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Symbol"/>
                <a:cs typeface="Symbol"/>
              </a:rPr>
              <a:t></a:t>
            </a:r>
            <a:r>
              <a:rPr sz="2950" i="1" spc="-50" dirty="0">
                <a:latin typeface="Symbol"/>
                <a:cs typeface="Symbol"/>
              </a:rPr>
              <a:t>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850919" y="2593580"/>
            <a:ext cx="4568921" cy="5126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080" indent="-17145">
              <a:lnSpc>
                <a:spcPct val="115500"/>
              </a:lnSpc>
              <a:spcBef>
                <a:spcPts val="100"/>
              </a:spcBef>
              <a:tabLst>
                <a:tab pos="327025" algn="l"/>
                <a:tab pos="1691005" algn="l"/>
                <a:tab pos="3365500" algn="l"/>
              </a:tabLst>
            </a:pP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2800" spc="-5" dirty="0">
                <a:latin typeface="Times New Roman"/>
                <a:cs typeface="Times New Roman"/>
              </a:rPr>
              <a:t>	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</a:t>
            </a:r>
            <a:r>
              <a:rPr sz="2800" spc="-5" dirty="0">
                <a:latin typeface="Times New Roman"/>
                <a:cs typeface="Times New Roman"/>
              </a:rPr>
              <a:t>	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2800" spc="-190" dirty="0">
                <a:latin typeface="Times New Roman"/>
                <a:cs typeface="Times New Roman"/>
              </a:rPr>
              <a:t> </a:t>
            </a:r>
            <a:r>
              <a:rPr sz="2800" u="heavy" spc="2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u="heavy" spc="-5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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0" dirty="0">
                <a:latin typeface="Symbol"/>
                <a:cs typeface="Symbol"/>
              </a:rPr>
              <a:t></a:t>
            </a:r>
            <a:r>
              <a:rPr sz="2800" i="1" spc="-5" dirty="0">
                <a:latin typeface="Times New Roman"/>
                <a:cs typeface="Times New Roman"/>
              </a:rPr>
              <a:t>E  r</a:t>
            </a:r>
            <a:r>
              <a:rPr sz="2800" i="1" spc="125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Symbol"/>
                <a:cs typeface="Symbol"/>
              </a:rPr>
              <a:t></a:t>
            </a:r>
            <a:r>
              <a:rPr sz="2800" i="1" spc="-15" dirty="0"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815218" y="2828712"/>
            <a:ext cx="1918085" cy="4667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427990" algn="l"/>
              </a:tabLst>
            </a:pPr>
            <a:r>
              <a:rPr sz="2950" i="1" spc="-90" dirty="0">
                <a:latin typeface="Symbol"/>
                <a:cs typeface="Symbol"/>
              </a:rPr>
              <a:t></a:t>
            </a:r>
            <a:r>
              <a:rPr sz="2950" spc="-90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Symbol"/>
                <a:cs typeface="Symbol"/>
              </a:rPr>
              <a:t>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Symbol"/>
                <a:cs typeface="Symbol"/>
              </a:rPr>
              <a:t></a:t>
            </a:r>
            <a:r>
              <a:rPr sz="2800" dirty="0">
                <a:latin typeface="Times New Roman"/>
                <a:cs typeface="Times New Roman"/>
              </a:rPr>
              <a:t>.</a:t>
            </a:r>
            <a:r>
              <a:rPr sz="2800" i="1" dirty="0">
                <a:latin typeface="Times New Roman"/>
                <a:cs typeface="Times New Roman"/>
              </a:rPr>
              <a:t>E</a:t>
            </a:r>
            <a:r>
              <a:rPr sz="2800" i="1" spc="2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Symbol"/>
                <a:cs typeface="Symbol"/>
              </a:rPr>
              <a:t>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174836" y="2579587"/>
            <a:ext cx="192424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800" spc="-100" dirty="0">
                <a:latin typeface="Arial Black"/>
                <a:cs typeface="Arial Black"/>
              </a:rPr>
              <a:t>r</a:t>
            </a:r>
            <a:endParaRPr sz="2800">
              <a:latin typeface="Arial Black"/>
              <a:cs typeface="Arial Black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732116" y="2670586"/>
            <a:ext cx="6966527" cy="818590"/>
          </a:xfrm>
          <a:custGeom>
            <a:avLst/>
            <a:gdLst/>
            <a:ahLst/>
            <a:cxnLst/>
            <a:rect l="l" t="t" r="r" b="b"/>
            <a:pathLst>
              <a:path w="5747384" h="927735">
                <a:moveTo>
                  <a:pt x="0" y="0"/>
                </a:moveTo>
                <a:lnTo>
                  <a:pt x="0" y="927354"/>
                </a:lnTo>
                <a:lnTo>
                  <a:pt x="5747004" y="927353"/>
                </a:lnTo>
                <a:lnTo>
                  <a:pt x="5747004" y="0"/>
                </a:lnTo>
                <a:lnTo>
                  <a:pt x="0" y="0"/>
                </a:lnTo>
                <a:close/>
              </a:path>
            </a:pathLst>
          </a:custGeom>
          <a:ln w="10477">
            <a:solidFill>
              <a:srgbClr val="0167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1756352" y="2043825"/>
            <a:ext cx="131618" cy="26930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50" i="1" spc="5" dirty="0">
                <a:latin typeface="Times New Roman"/>
                <a:cs typeface="Times New Roman"/>
              </a:rPr>
              <a:t>r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379258" y="1830050"/>
            <a:ext cx="6419273" cy="45332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  <a:tabLst>
                <a:tab pos="4020820" algn="l"/>
              </a:tabLst>
            </a:pPr>
            <a:r>
              <a:rPr sz="3900" spc="22" baseline="1068" dirty="0">
                <a:latin typeface="Times New Roman"/>
                <a:cs typeface="Times New Roman"/>
              </a:rPr>
              <a:t>Given </a:t>
            </a:r>
            <a:r>
              <a:rPr sz="3900" spc="15" baseline="1068" dirty="0">
                <a:latin typeface="Times New Roman"/>
                <a:cs typeface="Times New Roman"/>
              </a:rPr>
              <a:t>the</a:t>
            </a:r>
            <a:r>
              <a:rPr sz="3900" baseline="1068" dirty="0">
                <a:latin typeface="Times New Roman"/>
                <a:cs typeface="Times New Roman"/>
              </a:rPr>
              <a:t> </a:t>
            </a:r>
            <a:r>
              <a:rPr sz="3900" spc="15" baseline="1068" dirty="0">
                <a:latin typeface="Times New Roman"/>
                <a:cs typeface="Times New Roman"/>
              </a:rPr>
              <a:t>electrostatic</a:t>
            </a:r>
            <a:r>
              <a:rPr sz="3900" spc="7" baseline="1068" dirty="0">
                <a:latin typeface="Times New Roman"/>
                <a:cs typeface="Times New Roman"/>
              </a:rPr>
              <a:t> </a:t>
            </a:r>
            <a:r>
              <a:rPr sz="3900" spc="15" baseline="1068" dirty="0">
                <a:latin typeface="Times New Roman"/>
                <a:cs typeface="Times New Roman"/>
              </a:rPr>
              <a:t>field	</a:t>
            </a:r>
            <a:r>
              <a:rPr sz="2850" i="1" spc="5" dirty="0">
                <a:latin typeface="Times New Roman"/>
                <a:cs typeface="Times New Roman"/>
              </a:rPr>
              <a:t>E </a:t>
            </a:r>
            <a:r>
              <a:rPr sz="2850" spc="5" dirty="0">
                <a:latin typeface="Symbol"/>
                <a:cs typeface="Symbol"/>
              </a:rPr>
              <a:t></a:t>
            </a:r>
            <a:r>
              <a:rPr sz="2850" spc="120" dirty="0">
                <a:latin typeface="Times New Roman"/>
                <a:cs typeface="Times New Roman"/>
              </a:rPr>
              <a:t> </a:t>
            </a:r>
            <a:r>
              <a:rPr sz="2850" i="1" spc="-160" dirty="0">
                <a:latin typeface="Times New Roman"/>
                <a:cs typeface="Times New Roman"/>
              </a:rPr>
              <a:t>kr</a:t>
            </a:r>
            <a:r>
              <a:rPr sz="2475" spc="-240" baseline="43771" dirty="0">
                <a:latin typeface="Times New Roman"/>
                <a:cs typeface="Times New Roman"/>
              </a:rPr>
              <a:t>3</a:t>
            </a:r>
            <a:r>
              <a:rPr sz="2850" i="1" spc="-160" dirty="0">
                <a:latin typeface="Times New Roman"/>
                <a:cs typeface="Times New Roman"/>
              </a:rPr>
              <a:t>a</a:t>
            </a:r>
            <a:r>
              <a:rPr sz="4275" spc="-240" baseline="1949" dirty="0">
                <a:latin typeface="Times New Roman"/>
                <a:cs typeface="Times New Roman"/>
              </a:rPr>
              <a:t>ˆ</a:t>
            </a:r>
            <a:endParaRPr sz="4275" baseline="1949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35092" y="3453428"/>
            <a:ext cx="11108267" cy="81624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125"/>
              </a:spcBef>
            </a:pPr>
            <a:r>
              <a:rPr sz="2600" spc="10" dirty="0">
                <a:latin typeface="Times New Roman"/>
                <a:cs typeface="Times New Roman"/>
              </a:rPr>
              <a:t>Calculate the total charge </a:t>
            </a:r>
            <a:r>
              <a:rPr sz="2600" spc="15" dirty="0">
                <a:latin typeface="Times New Roman"/>
                <a:cs typeface="Times New Roman"/>
              </a:rPr>
              <a:t>and </a:t>
            </a:r>
            <a:r>
              <a:rPr sz="2600" spc="10" dirty="0">
                <a:latin typeface="Times New Roman"/>
                <a:cs typeface="Times New Roman"/>
              </a:rPr>
              <a:t>stored energy in </a:t>
            </a:r>
            <a:r>
              <a:rPr sz="2600" spc="15" dirty="0">
                <a:latin typeface="Times New Roman"/>
                <a:cs typeface="Times New Roman"/>
              </a:rPr>
              <a:t>a </a:t>
            </a:r>
            <a:r>
              <a:rPr sz="2600" spc="10" dirty="0">
                <a:latin typeface="Times New Roman"/>
                <a:cs typeface="Times New Roman"/>
              </a:rPr>
              <a:t>region </a:t>
            </a:r>
            <a:r>
              <a:rPr sz="2600" spc="15" dirty="0">
                <a:latin typeface="Times New Roman"/>
                <a:cs typeface="Times New Roman"/>
              </a:rPr>
              <a:t>bounded </a:t>
            </a:r>
            <a:r>
              <a:rPr sz="2600" spc="10" dirty="0">
                <a:latin typeface="Times New Roman"/>
                <a:cs typeface="Times New Roman"/>
              </a:rPr>
              <a:t>by:  </a:t>
            </a:r>
            <a:r>
              <a:rPr sz="2600" spc="20" dirty="0">
                <a:latin typeface="Times New Roman"/>
                <a:cs typeface="Times New Roman"/>
              </a:rPr>
              <a:t>0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50" dirty="0">
                <a:latin typeface="Arial"/>
                <a:cs typeface="Arial"/>
              </a:rPr>
              <a:t>§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r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250" dirty="0">
                <a:latin typeface="Arial"/>
                <a:cs typeface="Arial"/>
              </a:rPr>
              <a:t>§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1, </a:t>
            </a:r>
            <a:r>
              <a:rPr sz="2600" spc="20" dirty="0">
                <a:latin typeface="Times New Roman"/>
                <a:cs typeface="Times New Roman"/>
              </a:rPr>
              <a:t>0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50" dirty="0">
                <a:latin typeface="Arial"/>
                <a:cs typeface="Arial"/>
              </a:rPr>
              <a:t>§</a:t>
            </a:r>
            <a:r>
              <a:rPr sz="2600" spc="-70" dirty="0">
                <a:latin typeface="Arial"/>
                <a:cs typeface="Arial"/>
              </a:rPr>
              <a:t> </a:t>
            </a:r>
            <a:r>
              <a:rPr sz="2600" spc="20" dirty="0">
                <a:latin typeface="Symbol"/>
                <a:cs typeface="Symbol"/>
              </a:rPr>
              <a:t>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50" dirty="0">
                <a:latin typeface="Arial"/>
                <a:cs typeface="Arial"/>
              </a:rPr>
              <a:t>§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2</a:t>
            </a:r>
            <a:r>
              <a:rPr sz="2600" spc="20" dirty="0">
                <a:latin typeface="Symbol"/>
                <a:cs typeface="Symbol"/>
              </a:rPr>
              <a:t>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and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0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250" dirty="0">
                <a:latin typeface="Arial"/>
                <a:cs typeface="Arial"/>
              </a:rPr>
              <a:t>§</a:t>
            </a:r>
            <a:r>
              <a:rPr sz="2600" spc="-70" dirty="0">
                <a:latin typeface="Arial"/>
                <a:cs typeface="Arial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z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250" dirty="0">
                <a:latin typeface="Arial"/>
                <a:cs typeface="Arial"/>
              </a:rPr>
              <a:t>§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3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42491" y="2251272"/>
            <a:ext cx="5248564" cy="41806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sz="2600" spc="10" dirty="0">
                <a:latin typeface="Times New Roman"/>
                <a:cs typeface="Times New Roman"/>
              </a:rPr>
              <a:t>Calculate the charge density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Symbol"/>
                <a:cs typeface="Symbol"/>
              </a:rPr>
              <a:t></a:t>
            </a:r>
            <a:r>
              <a:rPr sz="2625" spc="7" baseline="-20634" dirty="0">
                <a:latin typeface="Times New Roman"/>
                <a:cs typeface="Times New Roman"/>
              </a:rPr>
              <a:t>v</a:t>
            </a:r>
            <a:r>
              <a:rPr sz="2600" spc="5" dirty="0">
                <a:latin typeface="Times New Roman"/>
                <a:cs typeface="Times New Roman"/>
              </a:rPr>
              <a:t>: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42417" y="4646847"/>
            <a:ext cx="5248564" cy="41806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sz="2600" spc="10" dirty="0">
                <a:latin typeface="Times New Roman"/>
                <a:cs typeface="Times New Roman"/>
              </a:rPr>
              <a:t>Calculate the charge density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Symbol"/>
                <a:cs typeface="Symbol"/>
              </a:rPr>
              <a:t></a:t>
            </a:r>
            <a:r>
              <a:rPr sz="2625" spc="7" baseline="-20634" dirty="0">
                <a:latin typeface="Times New Roman"/>
                <a:cs typeface="Times New Roman"/>
              </a:rPr>
              <a:t>v</a:t>
            </a:r>
            <a:r>
              <a:rPr sz="2600" spc="5" dirty="0">
                <a:latin typeface="Times New Roman"/>
                <a:cs typeface="Times New Roman"/>
              </a:rPr>
              <a:t>: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12245" y="1850531"/>
            <a:ext cx="3493655" cy="41806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u="heavy" spc="1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Optional</a:t>
            </a:r>
            <a:r>
              <a:rPr sz="2600" u="heavy" spc="-5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600" u="heavy" spc="1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Homework: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73209" y="4248150"/>
            <a:ext cx="3493655" cy="41806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u="heavy" spc="1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Optional</a:t>
            </a:r>
            <a:r>
              <a:rPr sz="2600" u="heavy" spc="-50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600" u="heavy" spc="15" dirty="0">
                <a:solidFill>
                  <a:srgbClr val="FF3300"/>
                </a:solidFill>
                <a:uFill>
                  <a:solidFill>
                    <a:srgbClr val="FF3300"/>
                  </a:solidFill>
                </a:uFill>
                <a:latin typeface="Times New Roman"/>
                <a:cs typeface="Times New Roman"/>
              </a:rPr>
              <a:t>Homework: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65761" y="1787786"/>
            <a:ext cx="11521594" cy="0"/>
          </a:xfrm>
          <a:custGeom>
            <a:avLst/>
            <a:gdLst/>
            <a:ahLst/>
            <a:cxnLst/>
            <a:rect l="l" t="t" r="r" b="b"/>
            <a:pathLst>
              <a:path w="9505315">
                <a:moveTo>
                  <a:pt x="0" y="0"/>
                </a:moveTo>
                <a:lnTo>
                  <a:pt x="9505188" y="0"/>
                </a:lnTo>
              </a:path>
            </a:pathLst>
          </a:custGeom>
          <a:ln w="10477">
            <a:solidFill>
              <a:srgbClr val="010101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65761" y="4228427"/>
            <a:ext cx="11521594" cy="0"/>
          </a:xfrm>
          <a:custGeom>
            <a:avLst/>
            <a:gdLst/>
            <a:ahLst/>
            <a:cxnLst/>
            <a:rect l="l" t="t" r="r" b="b"/>
            <a:pathLst>
              <a:path w="9505315">
                <a:moveTo>
                  <a:pt x="0" y="0"/>
                </a:moveTo>
                <a:lnTo>
                  <a:pt x="9505188" y="0"/>
                </a:lnTo>
              </a:path>
            </a:pathLst>
          </a:custGeom>
          <a:ln w="10477">
            <a:solidFill>
              <a:srgbClr val="010101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412250" y="569034"/>
            <a:ext cx="9480358" cy="818173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40"/>
              </a:spcBef>
            </a:pPr>
            <a:r>
              <a:rPr lang="en-US" sz="2600" b="1" spc="15" dirty="0" smtClean="0">
                <a:solidFill>
                  <a:srgbClr val="0065CC"/>
                </a:solidFill>
                <a:latin typeface="Arial"/>
                <a:cs typeface="Arial"/>
              </a:rPr>
              <a:t> </a:t>
            </a:r>
            <a:r>
              <a:rPr sz="2600" b="1" spc="15" smtClean="0">
                <a:solidFill>
                  <a:srgbClr val="0065CC"/>
                </a:solidFill>
                <a:latin typeface="Arial"/>
                <a:cs typeface="Arial"/>
              </a:rPr>
              <a:t>Introduce </a:t>
            </a:r>
            <a:r>
              <a:rPr sz="2600" b="1" spc="15" dirty="0">
                <a:solidFill>
                  <a:srgbClr val="0065CC"/>
                </a:solidFill>
                <a:latin typeface="Arial"/>
                <a:cs typeface="Arial"/>
              </a:rPr>
              <a:t>the del operator in both </a:t>
            </a:r>
            <a:r>
              <a:rPr sz="2600" b="1" spc="10" dirty="0">
                <a:solidFill>
                  <a:srgbClr val="0065CC"/>
                </a:solidFill>
                <a:latin typeface="Arial"/>
                <a:cs typeface="Arial"/>
              </a:rPr>
              <a:t>cylindrical </a:t>
            </a:r>
            <a:r>
              <a:rPr sz="2600" b="1" spc="15" dirty="0">
                <a:solidFill>
                  <a:srgbClr val="0065CC"/>
                </a:solidFill>
                <a:latin typeface="Arial"/>
                <a:cs typeface="Arial"/>
              </a:rPr>
              <a:t>and  spherical coordinates through these</a:t>
            </a:r>
            <a:r>
              <a:rPr sz="2600" b="1" spc="-55" dirty="0">
                <a:solidFill>
                  <a:srgbClr val="0065CC"/>
                </a:solidFill>
                <a:latin typeface="Arial"/>
                <a:cs typeface="Arial"/>
              </a:rPr>
              <a:t> </a:t>
            </a:r>
            <a:r>
              <a:rPr sz="2600" b="1" spc="15" dirty="0">
                <a:solidFill>
                  <a:srgbClr val="0065CC"/>
                </a:solidFill>
                <a:latin typeface="Arial"/>
                <a:cs typeface="Arial"/>
              </a:rPr>
              <a:t>examples.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0474" y="453643"/>
            <a:ext cx="451358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Triple</a:t>
            </a:r>
            <a:r>
              <a:rPr spc="-70" dirty="0"/>
              <a:t> </a:t>
            </a:r>
            <a:r>
              <a:rPr spc="-5" dirty="0"/>
              <a:t>Integrals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4587" y="1477772"/>
            <a:ext cx="10374207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In particular, </a:t>
            </a:r>
            <a:r>
              <a:rPr sz="2400" dirty="0">
                <a:latin typeface="Arial"/>
                <a:cs typeface="Arial"/>
              </a:rPr>
              <a:t>if </a:t>
            </a:r>
            <a:r>
              <a:rPr sz="2400" spc="-5" dirty="0">
                <a:latin typeface="Arial"/>
                <a:cs typeface="Arial"/>
              </a:rPr>
              <a:t>the projection </a:t>
            </a:r>
            <a:r>
              <a:rPr sz="2400" i="1" dirty="0">
                <a:latin typeface="Arial"/>
                <a:cs typeface="Arial"/>
              </a:rPr>
              <a:t>D </a:t>
            </a:r>
            <a:r>
              <a:rPr sz="2400" spc="-5" dirty="0">
                <a:latin typeface="Arial"/>
                <a:cs typeface="Arial"/>
              </a:rPr>
              <a:t>of </a:t>
            </a:r>
            <a:r>
              <a:rPr sz="2400" i="1" dirty="0">
                <a:latin typeface="Arial"/>
                <a:cs typeface="Arial"/>
              </a:rPr>
              <a:t>E </a:t>
            </a:r>
            <a:r>
              <a:rPr sz="2400" spc="-5" dirty="0">
                <a:latin typeface="Arial"/>
                <a:cs typeface="Arial"/>
              </a:rPr>
              <a:t>onto the </a:t>
            </a:r>
            <a:r>
              <a:rPr sz="2400" i="1" dirty="0">
                <a:latin typeface="Arial"/>
                <a:cs typeface="Arial"/>
              </a:rPr>
              <a:t>xy</a:t>
            </a:r>
            <a:r>
              <a:rPr sz="2400" dirty="0">
                <a:latin typeface="Arial"/>
                <a:cs typeface="Arial"/>
              </a:rPr>
              <a:t>-plane is a  </a:t>
            </a:r>
            <a:r>
              <a:rPr sz="2400" spc="-5" dirty="0">
                <a:latin typeface="Arial"/>
                <a:cs typeface="Arial"/>
              </a:rPr>
              <a:t>type </a:t>
            </a:r>
            <a:r>
              <a:rPr sz="2400" dirty="0">
                <a:latin typeface="Arial"/>
                <a:cs typeface="Arial"/>
              </a:rPr>
              <a:t>I </a:t>
            </a:r>
            <a:r>
              <a:rPr sz="2400" spc="-5" dirty="0">
                <a:latin typeface="Arial"/>
                <a:cs typeface="Arial"/>
              </a:rPr>
              <a:t>plane region </a:t>
            </a:r>
            <a:r>
              <a:rPr sz="2400" dirty="0">
                <a:latin typeface="Arial"/>
                <a:cs typeface="Arial"/>
              </a:rPr>
              <a:t>(as in </a:t>
            </a:r>
            <a:r>
              <a:rPr sz="2400" spc="-5" dirty="0">
                <a:latin typeface="Arial"/>
                <a:cs typeface="Arial"/>
              </a:rPr>
              <a:t>Figure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3).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6585" y="5053077"/>
            <a:ext cx="7071360" cy="5924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10" dirty="0">
                <a:latin typeface="Arial"/>
                <a:cs typeface="Arial"/>
              </a:rPr>
              <a:t>A </a:t>
            </a:r>
            <a:r>
              <a:rPr sz="1400" spc="-5" dirty="0">
                <a:latin typeface="Arial"/>
                <a:cs typeface="Arial"/>
              </a:rPr>
              <a:t>type 1 solid region where the projection </a:t>
            </a:r>
            <a:r>
              <a:rPr sz="1400" i="1" spc="-10" dirty="0">
                <a:latin typeface="Arial"/>
                <a:cs typeface="Arial"/>
              </a:rPr>
              <a:t>D </a:t>
            </a:r>
            <a:r>
              <a:rPr sz="1400" spc="-5" dirty="0">
                <a:latin typeface="Arial"/>
                <a:cs typeface="Arial"/>
              </a:rPr>
              <a:t>is a type I plane</a:t>
            </a:r>
            <a:r>
              <a:rPr sz="1400" spc="7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region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50">
              <a:latin typeface="Times New Roman"/>
              <a:cs typeface="Times New Roman"/>
            </a:endParaRPr>
          </a:p>
          <a:p>
            <a:pPr marR="74295" algn="ctr">
              <a:lnSpc>
                <a:spcPct val="100000"/>
              </a:lnSpc>
            </a:pPr>
            <a:r>
              <a:rPr sz="1200" b="1" dirty="0">
                <a:latin typeface="Arial"/>
                <a:cs typeface="Arial"/>
              </a:rPr>
              <a:t>Figure</a:t>
            </a:r>
            <a:r>
              <a:rPr sz="1200" b="1" spc="-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3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637023" y="2971800"/>
            <a:ext cx="3153664" cy="18348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11418486" y="6431090"/>
            <a:ext cx="407245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2090"/>
              </a:lnSpc>
            </a:pPr>
            <a:fld id="{81D60167-4931-47E6-BA6A-407CBD079E47}" type="slidenum">
              <a:rPr dirty="0"/>
              <a:pPr marL="25400">
                <a:lnSpc>
                  <a:spcPts val="2090"/>
                </a:lnSpc>
              </a:pPr>
              <a:t>28</a:t>
            </a:fld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0474" y="453643"/>
            <a:ext cx="910674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Applications of Triple</a:t>
            </a:r>
            <a:r>
              <a:rPr spc="-50" dirty="0"/>
              <a:t> </a:t>
            </a:r>
            <a:r>
              <a:rPr spc="-5" dirty="0"/>
              <a:t>Integrals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7654" y="1465579"/>
            <a:ext cx="10104967" cy="1549783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5400" marR="17780">
              <a:lnSpc>
                <a:spcPct val="100499"/>
              </a:lnSpc>
              <a:spcBef>
                <a:spcPts val="85"/>
              </a:spcBef>
            </a:pPr>
            <a:r>
              <a:rPr sz="2400" spc="-5" dirty="0">
                <a:latin typeface="Arial"/>
                <a:cs typeface="Arial"/>
              </a:rPr>
              <a:t>We know that </a:t>
            </a:r>
            <a:r>
              <a:rPr sz="2400" dirty="0">
                <a:latin typeface="Arial"/>
                <a:cs typeface="Arial"/>
              </a:rPr>
              <a:t>if </a:t>
            </a:r>
            <a:r>
              <a:rPr sz="2400" i="1" spc="35" dirty="0">
                <a:latin typeface="Arial"/>
                <a:cs typeface="Arial"/>
              </a:rPr>
              <a:t>f</a:t>
            </a:r>
            <a:r>
              <a:rPr sz="2400" spc="35" dirty="0">
                <a:latin typeface="Arial"/>
                <a:cs typeface="Arial"/>
              </a:rPr>
              <a:t>(</a:t>
            </a:r>
            <a:r>
              <a:rPr sz="2400" i="1" spc="35" dirty="0">
                <a:latin typeface="Arial"/>
                <a:cs typeface="Arial"/>
              </a:rPr>
              <a:t>x</a:t>
            </a:r>
            <a:r>
              <a:rPr sz="2400" spc="35" dirty="0">
                <a:latin typeface="Arial"/>
                <a:cs typeface="Arial"/>
              </a:rPr>
              <a:t>) </a:t>
            </a:r>
            <a:r>
              <a:rPr sz="2400" b="1" spc="-5" dirty="0">
                <a:latin typeface="Symbol"/>
                <a:cs typeface="Symbol"/>
              </a:rPr>
              <a:t>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Arial"/>
                <a:cs typeface="Arial"/>
              </a:rPr>
              <a:t>0, then the single integral  represents the area under the </a:t>
            </a:r>
            <a:r>
              <a:rPr sz="2400" dirty="0">
                <a:latin typeface="Arial"/>
                <a:cs typeface="Arial"/>
              </a:rPr>
              <a:t>curve </a:t>
            </a:r>
            <a:r>
              <a:rPr sz="2400" i="1" dirty="0">
                <a:latin typeface="Arial"/>
                <a:cs typeface="Arial"/>
              </a:rPr>
              <a:t>y </a:t>
            </a:r>
            <a:r>
              <a:rPr sz="2400" dirty="0">
                <a:latin typeface="Arial"/>
                <a:cs typeface="Arial"/>
              </a:rPr>
              <a:t>= </a:t>
            </a:r>
            <a:r>
              <a:rPr sz="2400" i="1" spc="35" dirty="0">
                <a:latin typeface="Arial"/>
                <a:cs typeface="Arial"/>
              </a:rPr>
              <a:t>f</a:t>
            </a:r>
            <a:r>
              <a:rPr sz="2400" spc="35" dirty="0">
                <a:latin typeface="Arial"/>
                <a:cs typeface="Arial"/>
              </a:rPr>
              <a:t>(</a:t>
            </a:r>
            <a:r>
              <a:rPr sz="2400" i="1" spc="35" dirty="0">
                <a:latin typeface="Arial"/>
                <a:cs typeface="Arial"/>
              </a:rPr>
              <a:t>x</a:t>
            </a:r>
            <a:r>
              <a:rPr sz="2400" spc="35" dirty="0">
                <a:latin typeface="Arial"/>
                <a:cs typeface="Arial"/>
              </a:rPr>
              <a:t>) </a:t>
            </a:r>
            <a:r>
              <a:rPr sz="2400" spc="-5" dirty="0">
                <a:latin typeface="Arial"/>
                <a:cs typeface="Arial"/>
              </a:rPr>
              <a:t>from </a:t>
            </a:r>
            <a:r>
              <a:rPr sz="2400" i="1" dirty="0">
                <a:latin typeface="Arial"/>
                <a:cs typeface="Arial"/>
              </a:rPr>
              <a:t>a </a:t>
            </a:r>
            <a:r>
              <a:rPr sz="2400" spc="-5" dirty="0">
                <a:latin typeface="Arial"/>
                <a:cs typeface="Arial"/>
              </a:rPr>
              <a:t>to </a:t>
            </a:r>
            <a:r>
              <a:rPr sz="2400" i="1" dirty="0">
                <a:latin typeface="Arial"/>
                <a:cs typeface="Arial"/>
              </a:rPr>
              <a:t>b</a:t>
            </a:r>
            <a:r>
              <a:rPr sz="2400" dirty="0">
                <a:latin typeface="Arial"/>
                <a:cs typeface="Arial"/>
              </a:rPr>
              <a:t>,  </a:t>
            </a:r>
            <a:r>
              <a:rPr sz="2400" spc="-5" dirty="0">
                <a:latin typeface="Arial"/>
                <a:cs typeface="Arial"/>
              </a:rPr>
              <a:t>and if </a:t>
            </a:r>
            <a:r>
              <a:rPr sz="2400" i="1" spc="35" dirty="0">
                <a:latin typeface="Arial"/>
                <a:cs typeface="Arial"/>
              </a:rPr>
              <a:t>f</a:t>
            </a:r>
            <a:r>
              <a:rPr sz="2400" spc="35" dirty="0">
                <a:latin typeface="Arial"/>
                <a:cs typeface="Arial"/>
              </a:rPr>
              <a:t>(</a:t>
            </a:r>
            <a:r>
              <a:rPr sz="2400" i="1" spc="35" dirty="0">
                <a:latin typeface="Arial"/>
                <a:cs typeface="Arial"/>
              </a:rPr>
              <a:t>x</a:t>
            </a:r>
            <a:r>
              <a:rPr sz="2400" spc="35" dirty="0">
                <a:latin typeface="Arial"/>
                <a:cs typeface="Arial"/>
              </a:rPr>
              <a:t>, </a:t>
            </a:r>
            <a:r>
              <a:rPr sz="2400" i="1" spc="10" dirty="0">
                <a:latin typeface="Arial"/>
                <a:cs typeface="Arial"/>
              </a:rPr>
              <a:t>y</a:t>
            </a:r>
            <a:r>
              <a:rPr sz="2400" spc="10" dirty="0">
                <a:latin typeface="Arial"/>
                <a:cs typeface="Arial"/>
              </a:rPr>
              <a:t>) </a:t>
            </a:r>
            <a:r>
              <a:rPr sz="2400" b="1" spc="-5" dirty="0">
                <a:latin typeface="Symbol"/>
                <a:cs typeface="Symbol"/>
              </a:rPr>
              <a:t>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Arial"/>
                <a:cs typeface="Arial"/>
              </a:rPr>
              <a:t>0, then the double integral </a:t>
            </a:r>
            <a:r>
              <a:rPr sz="2800" b="1" spc="5" dirty="0">
                <a:latin typeface="Symbol"/>
                <a:cs typeface="Symbol"/>
              </a:rPr>
              <a:t></a:t>
            </a:r>
            <a:r>
              <a:rPr sz="2400" i="1" spc="7" baseline="-20833" dirty="0">
                <a:latin typeface="Arial"/>
                <a:cs typeface="Arial"/>
              </a:rPr>
              <a:t>D </a:t>
            </a:r>
            <a:r>
              <a:rPr sz="2400" i="1" spc="35" dirty="0">
                <a:latin typeface="Arial"/>
                <a:cs typeface="Arial"/>
              </a:rPr>
              <a:t>f</a:t>
            </a:r>
            <a:r>
              <a:rPr sz="2400" spc="35" dirty="0">
                <a:latin typeface="Arial"/>
                <a:cs typeface="Arial"/>
              </a:rPr>
              <a:t>(</a:t>
            </a:r>
            <a:r>
              <a:rPr sz="2400" i="1" spc="35" dirty="0">
                <a:latin typeface="Arial"/>
                <a:cs typeface="Arial"/>
              </a:rPr>
              <a:t>x</a:t>
            </a:r>
            <a:r>
              <a:rPr sz="2400" spc="35" dirty="0">
                <a:latin typeface="Arial"/>
                <a:cs typeface="Arial"/>
              </a:rPr>
              <a:t>, </a:t>
            </a:r>
            <a:r>
              <a:rPr sz="2400" i="1" spc="10" dirty="0">
                <a:latin typeface="Arial"/>
                <a:cs typeface="Arial"/>
              </a:rPr>
              <a:t>y</a:t>
            </a:r>
            <a:r>
              <a:rPr sz="2400" spc="10" dirty="0">
                <a:latin typeface="Arial"/>
                <a:cs typeface="Arial"/>
              </a:rPr>
              <a:t>) </a:t>
            </a:r>
            <a:r>
              <a:rPr sz="2400" i="1" spc="20" dirty="0">
                <a:latin typeface="Arial"/>
                <a:cs typeface="Arial"/>
              </a:rPr>
              <a:t>dA  </a:t>
            </a:r>
            <a:r>
              <a:rPr sz="2400" spc="-5" dirty="0">
                <a:latin typeface="Arial"/>
                <a:cs typeface="Arial"/>
              </a:rPr>
              <a:t>represents the volume under the surface </a:t>
            </a:r>
            <a:r>
              <a:rPr sz="2400" i="1" dirty="0">
                <a:latin typeface="Arial"/>
                <a:cs typeface="Arial"/>
              </a:rPr>
              <a:t>z </a:t>
            </a:r>
            <a:r>
              <a:rPr sz="2400" dirty="0">
                <a:latin typeface="Arial"/>
                <a:cs typeface="Arial"/>
              </a:rPr>
              <a:t>= </a:t>
            </a:r>
            <a:r>
              <a:rPr sz="2400" i="1" spc="45" dirty="0">
                <a:latin typeface="Arial"/>
                <a:cs typeface="Arial"/>
              </a:rPr>
              <a:t>f</a:t>
            </a:r>
            <a:r>
              <a:rPr sz="2400" spc="45" dirty="0">
                <a:latin typeface="Arial"/>
                <a:cs typeface="Arial"/>
              </a:rPr>
              <a:t>(</a:t>
            </a:r>
            <a:r>
              <a:rPr sz="2400" i="1" spc="45" dirty="0">
                <a:latin typeface="Arial"/>
                <a:cs typeface="Arial"/>
              </a:rPr>
              <a:t>x</a:t>
            </a:r>
            <a:r>
              <a:rPr sz="2400" spc="45" dirty="0">
                <a:latin typeface="Arial"/>
                <a:cs typeface="Arial"/>
              </a:rPr>
              <a:t>,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"/>
                <a:cs typeface="Arial"/>
              </a:rPr>
              <a:t>) </a:t>
            </a:r>
            <a:r>
              <a:rPr sz="2400" spc="-5" dirty="0">
                <a:latin typeface="Arial"/>
                <a:cs typeface="Arial"/>
              </a:rPr>
              <a:t>and  above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D</a:t>
            </a:r>
            <a:r>
              <a:rPr sz="2400" spc="-5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8875" y="4212693"/>
            <a:ext cx="298872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1" spc="10" dirty="0">
                <a:latin typeface="Symbol"/>
                <a:cs typeface="Symbol"/>
              </a:rPr>
              <a:t>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5061" y="3841429"/>
            <a:ext cx="10560473" cy="23570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The corresponding interpretation of </a:t>
            </a:r>
            <a:r>
              <a:rPr sz="2400" dirty="0">
                <a:latin typeface="Arial"/>
                <a:cs typeface="Arial"/>
              </a:rPr>
              <a:t>a </a:t>
            </a:r>
            <a:r>
              <a:rPr sz="2400" spc="-5" dirty="0">
                <a:latin typeface="Arial"/>
                <a:cs typeface="Arial"/>
              </a:rPr>
              <a:t>triple integral</a:t>
            </a:r>
            <a:endParaRPr sz="2400">
              <a:latin typeface="Arial"/>
              <a:cs typeface="Arial"/>
            </a:endParaRPr>
          </a:p>
          <a:p>
            <a:pPr marL="38100" marR="826135">
              <a:lnSpc>
                <a:spcPts val="3190"/>
              </a:lnSpc>
              <a:spcBef>
                <a:spcPts val="350"/>
              </a:spcBef>
            </a:pPr>
            <a:r>
              <a:rPr sz="2800" b="1" dirty="0">
                <a:latin typeface="Symbol"/>
                <a:cs typeface="Symbol"/>
              </a:rPr>
              <a:t></a:t>
            </a:r>
            <a:r>
              <a:rPr sz="2400" i="1" baseline="-20833" dirty="0">
                <a:latin typeface="Arial"/>
                <a:cs typeface="Arial"/>
              </a:rPr>
              <a:t>E </a:t>
            </a:r>
            <a:r>
              <a:rPr sz="2400" i="1" spc="45" dirty="0">
                <a:latin typeface="Arial"/>
                <a:cs typeface="Arial"/>
              </a:rPr>
              <a:t>f</a:t>
            </a:r>
            <a:r>
              <a:rPr sz="2400" spc="45" dirty="0">
                <a:latin typeface="Arial"/>
                <a:cs typeface="Arial"/>
              </a:rPr>
              <a:t>(</a:t>
            </a:r>
            <a:r>
              <a:rPr sz="2400" i="1" spc="45" dirty="0">
                <a:latin typeface="Arial"/>
                <a:cs typeface="Arial"/>
              </a:rPr>
              <a:t>x</a:t>
            </a:r>
            <a:r>
              <a:rPr sz="2400" spc="45" dirty="0">
                <a:latin typeface="Arial"/>
                <a:cs typeface="Arial"/>
              </a:rPr>
              <a:t>,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"/>
                <a:cs typeface="Arial"/>
              </a:rPr>
              <a:t>, </a:t>
            </a:r>
            <a:r>
              <a:rPr sz="2400" i="1" dirty="0">
                <a:latin typeface="Arial"/>
                <a:cs typeface="Arial"/>
              </a:rPr>
              <a:t>z</a:t>
            </a:r>
            <a:r>
              <a:rPr sz="2400" dirty="0">
                <a:latin typeface="Arial"/>
                <a:cs typeface="Arial"/>
              </a:rPr>
              <a:t>) </a:t>
            </a:r>
            <a:r>
              <a:rPr sz="2400" i="1" spc="-5" dirty="0">
                <a:latin typeface="Arial"/>
                <a:cs typeface="Arial"/>
              </a:rPr>
              <a:t>dV</a:t>
            </a:r>
            <a:r>
              <a:rPr sz="2400" spc="-5" dirty="0">
                <a:latin typeface="Arial"/>
                <a:cs typeface="Arial"/>
              </a:rPr>
              <a:t>, where </a:t>
            </a:r>
            <a:r>
              <a:rPr sz="2400" i="1" spc="45" dirty="0">
                <a:latin typeface="Arial"/>
                <a:cs typeface="Arial"/>
              </a:rPr>
              <a:t>f</a:t>
            </a:r>
            <a:r>
              <a:rPr sz="2400" spc="45" dirty="0">
                <a:latin typeface="Arial"/>
                <a:cs typeface="Arial"/>
              </a:rPr>
              <a:t>(</a:t>
            </a:r>
            <a:r>
              <a:rPr sz="2400" i="1" spc="45" dirty="0">
                <a:latin typeface="Arial"/>
                <a:cs typeface="Arial"/>
              </a:rPr>
              <a:t>x</a:t>
            </a:r>
            <a:r>
              <a:rPr sz="2400" spc="45" dirty="0">
                <a:latin typeface="Arial"/>
                <a:cs typeface="Arial"/>
              </a:rPr>
              <a:t>,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"/>
                <a:cs typeface="Arial"/>
              </a:rPr>
              <a:t>, </a:t>
            </a:r>
            <a:r>
              <a:rPr sz="2400" i="1" dirty="0">
                <a:latin typeface="Arial"/>
                <a:cs typeface="Arial"/>
              </a:rPr>
              <a:t>z</a:t>
            </a:r>
            <a:r>
              <a:rPr sz="2400" dirty="0">
                <a:latin typeface="Arial"/>
                <a:cs typeface="Arial"/>
              </a:rPr>
              <a:t>) </a:t>
            </a:r>
            <a:r>
              <a:rPr sz="2400" b="1" spc="-5" dirty="0">
                <a:latin typeface="Symbol"/>
                <a:cs typeface="Symbol"/>
              </a:rPr>
              <a:t>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Arial"/>
                <a:cs typeface="Arial"/>
              </a:rPr>
              <a:t>0, </a:t>
            </a:r>
            <a:r>
              <a:rPr sz="2400" dirty="0">
                <a:latin typeface="Arial"/>
                <a:cs typeface="Arial"/>
              </a:rPr>
              <a:t>is </a:t>
            </a:r>
            <a:r>
              <a:rPr sz="2400" spc="-5" dirty="0">
                <a:latin typeface="Arial"/>
                <a:cs typeface="Arial"/>
              </a:rPr>
              <a:t>not </a:t>
            </a:r>
            <a:r>
              <a:rPr sz="2400" dirty="0">
                <a:latin typeface="Arial"/>
                <a:cs typeface="Arial"/>
              </a:rPr>
              <a:t>very </a:t>
            </a:r>
            <a:r>
              <a:rPr sz="2400" spc="-5" dirty="0">
                <a:latin typeface="Arial"/>
                <a:cs typeface="Arial"/>
              </a:rPr>
              <a:t>useful  because </a:t>
            </a:r>
            <a:r>
              <a:rPr sz="2400" dirty="0">
                <a:latin typeface="Arial"/>
                <a:cs typeface="Arial"/>
              </a:rPr>
              <a:t>it </a:t>
            </a:r>
            <a:r>
              <a:rPr sz="2400" spc="-5" dirty="0">
                <a:latin typeface="Arial"/>
                <a:cs typeface="Arial"/>
              </a:rPr>
              <a:t>would be the </a:t>
            </a:r>
            <a:r>
              <a:rPr sz="2400" dirty="0">
                <a:latin typeface="Arial"/>
                <a:cs typeface="Arial"/>
              </a:rPr>
              <a:t>“hypervolume” </a:t>
            </a:r>
            <a:r>
              <a:rPr sz="2400" spc="-5" dirty="0">
                <a:latin typeface="Arial"/>
                <a:cs typeface="Arial"/>
              </a:rPr>
              <a:t>of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  <a:p>
            <a:pPr marL="38100">
              <a:lnSpc>
                <a:spcPts val="2710"/>
              </a:lnSpc>
            </a:pPr>
            <a:r>
              <a:rPr sz="2400" spc="-5" dirty="0">
                <a:latin typeface="Arial"/>
                <a:cs typeface="Arial"/>
              </a:rPr>
              <a:t>four-dimensional object and, of course, that </a:t>
            </a:r>
            <a:r>
              <a:rPr sz="2400" dirty="0">
                <a:latin typeface="Arial"/>
                <a:cs typeface="Arial"/>
              </a:rPr>
              <a:t>is very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difficult</a:t>
            </a:r>
            <a:endParaRPr sz="2400">
              <a:latin typeface="Arial"/>
              <a:cs typeface="Arial"/>
            </a:endParaRPr>
          </a:p>
          <a:p>
            <a:pPr marL="38100" marR="365125">
              <a:lnSpc>
                <a:spcPts val="2880"/>
              </a:lnSpc>
              <a:spcBef>
                <a:spcPts val="85"/>
              </a:spcBef>
            </a:pPr>
            <a:r>
              <a:rPr sz="2400" spc="-5" dirty="0">
                <a:latin typeface="Arial"/>
                <a:cs typeface="Arial"/>
              </a:rPr>
              <a:t>to visualize. (Remember that </a:t>
            </a:r>
            <a:r>
              <a:rPr sz="2400" i="1" dirty="0">
                <a:latin typeface="Arial"/>
                <a:cs typeface="Arial"/>
              </a:rPr>
              <a:t>E </a:t>
            </a:r>
            <a:r>
              <a:rPr sz="2400" dirty="0">
                <a:latin typeface="Arial"/>
                <a:cs typeface="Arial"/>
              </a:rPr>
              <a:t>is </a:t>
            </a:r>
            <a:r>
              <a:rPr sz="2400" spc="-5" dirty="0">
                <a:latin typeface="Arial"/>
                <a:cs typeface="Arial"/>
              </a:rPr>
              <a:t>just the </a:t>
            </a:r>
            <a:r>
              <a:rPr sz="2400" i="1" spc="-5" dirty="0">
                <a:latin typeface="Arial"/>
                <a:cs typeface="Arial"/>
              </a:rPr>
              <a:t>domain </a:t>
            </a:r>
            <a:r>
              <a:rPr sz="2400" spc="10" dirty="0">
                <a:latin typeface="Arial"/>
                <a:cs typeface="Arial"/>
              </a:rPr>
              <a:t>of </a:t>
            </a:r>
            <a:r>
              <a:rPr sz="2400" dirty="0">
                <a:latin typeface="Arial"/>
                <a:cs typeface="Arial"/>
              </a:rPr>
              <a:t>the  </a:t>
            </a:r>
            <a:r>
              <a:rPr sz="2400" spc="-5" dirty="0">
                <a:latin typeface="Arial"/>
                <a:cs typeface="Arial"/>
              </a:rPr>
              <a:t>function </a:t>
            </a:r>
            <a:r>
              <a:rPr sz="2400" i="1" spc="60" dirty="0">
                <a:latin typeface="Arial"/>
                <a:cs typeface="Arial"/>
              </a:rPr>
              <a:t>f</a:t>
            </a:r>
            <a:r>
              <a:rPr sz="2400" spc="60" dirty="0">
                <a:latin typeface="Arial"/>
                <a:cs typeface="Arial"/>
              </a:rPr>
              <a:t>; </a:t>
            </a:r>
            <a:r>
              <a:rPr sz="2400" spc="-5" dirty="0">
                <a:latin typeface="Arial"/>
                <a:cs typeface="Arial"/>
              </a:rPr>
              <a:t>the graph of </a:t>
            </a:r>
            <a:r>
              <a:rPr sz="2400" i="1" dirty="0">
                <a:latin typeface="Arial"/>
                <a:cs typeface="Arial"/>
              </a:rPr>
              <a:t>f </a:t>
            </a:r>
            <a:r>
              <a:rPr sz="2400" spc="-5" dirty="0">
                <a:latin typeface="Arial"/>
                <a:cs typeface="Arial"/>
              </a:rPr>
              <a:t>lies </a:t>
            </a:r>
            <a:r>
              <a:rPr sz="2400" dirty="0">
                <a:latin typeface="Arial"/>
                <a:cs typeface="Arial"/>
              </a:rPr>
              <a:t>in </a:t>
            </a:r>
            <a:r>
              <a:rPr sz="2400" spc="-5" dirty="0">
                <a:latin typeface="Arial"/>
                <a:cs typeface="Arial"/>
              </a:rPr>
              <a:t>four-dimensional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space.)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221215" y="1450847"/>
            <a:ext cx="1609343" cy="4389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11418486" y="6431090"/>
            <a:ext cx="407245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2090"/>
              </a:lnSpc>
            </a:pPr>
            <a:fld id="{81D60167-4931-47E6-BA6A-407CBD079E47}" type="slidenum">
              <a:rPr dirty="0"/>
              <a:pPr marL="25400">
                <a:lnSpc>
                  <a:spcPts val="2090"/>
                </a:lnSpc>
              </a:pPr>
              <a:t>29</a:t>
            </a:fld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0474" y="453643"/>
            <a:ext cx="910674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5" dirty="0" smtClean="0"/>
              <a:t>  </a:t>
            </a:r>
            <a:r>
              <a:rPr spc="-5" smtClean="0"/>
              <a:t>Applications </a:t>
            </a:r>
            <a:r>
              <a:rPr spc="-5" dirty="0"/>
              <a:t>of Triple</a:t>
            </a:r>
            <a:r>
              <a:rPr spc="-50" dirty="0"/>
              <a:t> </a:t>
            </a:r>
            <a:r>
              <a:rPr spc="-5" dirty="0"/>
              <a:t>Integrals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0721" y="1413057"/>
            <a:ext cx="10628207" cy="2500941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38100" marR="30480">
              <a:lnSpc>
                <a:spcPct val="102299"/>
              </a:lnSpc>
              <a:spcBef>
                <a:spcPts val="300"/>
              </a:spcBef>
            </a:pPr>
            <a:r>
              <a:rPr sz="2400" spc="-5" dirty="0">
                <a:latin typeface="Arial"/>
                <a:cs typeface="Arial"/>
              </a:rPr>
              <a:t>Nonetheless, the triple integral </a:t>
            </a:r>
            <a:r>
              <a:rPr sz="2800" b="1" spc="-5" dirty="0">
                <a:latin typeface="Symbol"/>
                <a:cs typeface="Symbol"/>
              </a:rPr>
              <a:t></a:t>
            </a:r>
            <a:r>
              <a:rPr sz="2400" i="1" spc="-7" baseline="-20833" dirty="0">
                <a:latin typeface="Arial"/>
                <a:cs typeface="Arial"/>
              </a:rPr>
              <a:t>E </a:t>
            </a:r>
            <a:r>
              <a:rPr sz="2400" i="1" spc="25" dirty="0">
                <a:latin typeface="Arial"/>
                <a:cs typeface="Arial"/>
              </a:rPr>
              <a:t>f</a:t>
            </a:r>
            <a:r>
              <a:rPr sz="2400" spc="25" dirty="0">
                <a:latin typeface="Arial"/>
                <a:cs typeface="Arial"/>
              </a:rPr>
              <a:t>(</a:t>
            </a:r>
            <a:r>
              <a:rPr sz="2400" i="1" spc="25" dirty="0">
                <a:latin typeface="Arial"/>
                <a:cs typeface="Arial"/>
              </a:rPr>
              <a:t>x</a:t>
            </a:r>
            <a:r>
              <a:rPr sz="2400" spc="25" dirty="0">
                <a:latin typeface="Arial"/>
                <a:cs typeface="Arial"/>
              </a:rPr>
              <a:t>, </a:t>
            </a:r>
            <a:r>
              <a:rPr sz="2400" i="1" spc="10" dirty="0">
                <a:latin typeface="Arial"/>
                <a:cs typeface="Arial"/>
              </a:rPr>
              <a:t>y</a:t>
            </a:r>
            <a:r>
              <a:rPr sz="2400" spc="10" dirty="0">
                <a:latin typeface="Arial"/>
                <a:cs typeface="Arial"/>
              </a:rPr>
              <a:t>, </a:t>
            </a:r>
            <a:r>
              <a:rPr sz="2400" i="1" spc="10" dirty="0">
                <a:latin typeface="Arial"/>
                <a:cs typeface="Arial"/>
              </a:rPr>
              <a:t>z</a:t>
            </a:r>
            <a:r>
              <a:rPr sz="2400" spc="10" dirty="0">
                <a:latin typeface="Arial"/>
                <a:cs typeface="Arial"/>
              </a:rPr>
              <a:t>) </a:t>
            </a:r>
            <a:r>
              <a:rPr sz="2400" i="1" spc="5" dirty="0">
                <a:latin typeface="Arial"/>
                <a:cs typeface="Arial"/>
              </a:rPr>
              <a:t>dV </a:t>
            </a:r>
            <a:r>
              <a:rPr sz="2400" dirty="0">
                <a:latin typeface="Arial"/>
                <a:cs typeface="Arial"/>
              </a:rPr>
              <a:t>can </a:t>
            </a:r>
            <a:r>
              <a:rPr sz="2400" spc="-5" dirty="0">
                <a:latin typeface="Arial"/>
                <a:cs typeface="Arial"/>
              </a:rPr>
              <a:t>be  interpreted </a:t>
            </a:r>
            <a:r>
              <a:rPr sz="2400" dirty="0">
                <a:latin typeface="Arial"/>
                <a:cs typeface="Arial"/>
              </a:rPr>
              <a:t>in </a:t>
            </a:r>
            <a:r>
              <a:rPr sz="2400" spc="-5" dirty="0">
                <a:latin typeface="Arial"/>
                <a:cs typeface="Arial"/>
              </a:rPr>
              <a:t>different ways </a:t>
            </a:r>
            <a:r>
              <a:rPr sz="2400" dirty="0">
                <a:latin typeface="Arial"/>
                <a:cs typeface="Arial"/>
              </a:rPr>
              <a:t>in </a:t>
            </a:r>
            <a:r>
              <a:rPr sz="2400" spc="-5" dirty="0">
                <a:latin typeface="Arial"/>
                <a:cs typeface="Arial"/>
              </a:rPr>
              <a:t>different physical situations,  depending on the physical interpretations of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"/>
                <a:cs typeface="Arial"/>
              </a:rPr>
              <a:t>, </a:t>
            </a:r>
            <a:r>
              <a:rPr sz="2400" i="1" spc="10" dirty="0">
                <a:latin typeface="Arial"/>
                <a:cs typeface="Arial"/>
              </a:rPr>
              <a:t>y</a:t>
            </a:r>
            <a:r>
              <a:rPr sz="2400" spc="10" dirty="0">
                <a:latin typeface="Arial"/>
                <a:cs typeface="Arial"/>
              </a:rPr>
              <a:t>, </a:t>
            </a:r>
            <a:r>
              <a:rPr sz="2400" i="1" dirty="0">
                <a:latin typeface="Arial"/>
                <a:cs typeface="Arial"/>
              </a:rPr>
              <a:t>z </a:t>
            </a:r>
            <a:r>
              <a:rPr sz="2400" dirty="0">
                <a:latin typeface="Arial"/>
                <a:cs typeface="Arial"/>
              </a:rPr>
              <a:t>and  </a:t>
            </a:r>
            <a:r>
              <a:rPr sz="2400" i="1" spc="40" dirty="0">
                <a:latin typeface="Arial"/>
                <a:cs typeface="Arial"/>
              </a:rPr>
              <a:t>f</a:t>
            </a:r>
            <a:r>
              <a:rPr sz="2400" spc="40" dirty="0">
                <a:latin typeface="Arial"/>
                <a:cs typeface="Arial"/>
              </a:rPr>
              <a:t>(</a:t>
            </a:r>
            <a:r>
              <a:rPr sz="2400" i="1" spc="40" dirty="0">
                <a:latin typeface="Arial"/>
                <a:cs typeface="Arial"/>
              </a:rPr>
              <a:t>x</a:t>
            </a:r>
            <a:r>
              <a:rPr sz="2400" spc="40" dirty="0">
                <a:latin typeface="Arial"/>
                <a:cs typeface="Arial"/>
              </a:rPr>
              <a:t>,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i="1" spc="20" dirty="0">
                <a:latin typeface="Arial"/>
                <a:cs typeface="Arial"/>
              </a:rPr>
              <a:t>z</a:t>
            </a:r>
            <a:r>
              <a:rPr sz="2400" spc="20" dirty="0">
                <a:latin typeface="Arial"/>
                <a:cs typeface="Arial"/>
              </a:rPr>
              <a:t>).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450">
              <a:latin typeface="Times New Roman"/>
              <a:cs typeface="Times New Roman"/>
            </a:endParaRPr>
          </a:p>
          <a:p>
            <a:pPr marL="38100" marR="9144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Let’s begin with the special </a:t>
            </a:r>
            <a:r>
              <a:rPr sz="2400" dirty="0">
                <a:latin typeface="Arial"/>
                <a:cs typeface="Arial"/>
              </a:rPr>
              <a:t>case </a:t>
            </a:r>
            <a:r>
              <a:rPr sz="2400" spc="-5" dirty="0">
                <a:latin typeface="Arial"/>
                <a:cs typeface="Arial"/>
              </a:rPr>
              <a:t>where </a:t>
            </a:r>
            <a:r>
              <a:rPr sz="2400" i="1" spc="45" dirty="0">
                <a:latin typeface="Arial"/>
                <a:cs typeface="Arial"/>
              </a:rPr>
              <a:t>f</a:t>
            </a:r>
            <a:r>
              <a:rPr sz="2400" spc="45" dirty="0">
                <a:latin typeface="Arial"/>
                <a:cs typeface="Arial"/>
              </a:rPr>
              <a:t>(</a:t>
            </a:r>
            <a:r>
              <a:rPr sz="2400" i="1" spc="45" dirty="0">
                <a:latin typeface="Arial"/>
                <a:cs typeface="Arial"/>
              </a:rPr>
              <a:t>x</a:t>
            </a:r>
            <a:r>
              <a:rPr sz="2400" spc="45" dirty="0">
                <a:latin typeface="Arial"/>
                <a:cs typeface="Arial"/>
              </a:rPr>
              <a:t>,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"/>
                <a:cs typeface="Arial"/>
              </a:rPr>
              <a:t>, </a:t>
            </a:r>
            <a:r>
              <a:rPr sz="2400" i="1" spc="10" dirty="0">
                <a:latin typeface="Arial"/>
                <a:cs typeface="Arial"/>
              </a:rPr>
              <a:t>z</a:t>
            </a:r>
            <a:r>
              <a:rPr sz="2400" spc="10" dirty="0">
                <a:latin typeface="Arial"/>
                <a:cs typeface="Arial"/>
              </a:rPr>
              <a:t>) </a:t>
            </a:r>
            <a:r>
              <a:rPr sz="2400" dirty="0">
                <a:latin typeface="Arial"/>
                <a:cs typeface="Arial"/>
              </a:rPr>
              <a:t>= 1 </a:t>
            </a:r>
            <a:r>
              <a:rPr sz="2400" spc="-5" dirty="0">
                <a:latin typeface="Arial"/>
                <a:cs typeface="Arial"/>
              </a:rPr>
              <a:t>for all  points </a:t>
            </a:r>
            <a:r>
              <a:rPr sz="2400" dirty="0">
                <a:latin typeface="Arial"/>
                <a:cs typeface="Arial"/>
              </a:rPr>
              <a:t>in </a:t>
            </a:r>
            <a:r>
              <a:rPr sz="2400" i="1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. </a:t>
            </a:r>
            <a:r>
              <a:rPr sz="2400" spc="-5" dirty="0">
                <a:latin typeface="Arial"/>
                <a:cs typeface="Arial"/>
              </a:rPr>
              <a:t>Then the triple integral does represent the  volume of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98869" y="4968179"/>
            <a:ext cx="6989084" cy="10051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11418486" y="6431090"/>
            <a:ext cx="407245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2090"/>
              </a:lnSpc>
            </a:pPr>
            <a:fld id="{81D60167-4931-47E6-BA6A-407CBD079E47}" type="slidenum">
              <a:rPr dirty="0"/>
              <a:pPr marL="25400">
                <a:lnSpc>
                  <a:spcPts val="2090"/>
                </a:lnSpc>
              </a:pPr>
              <a:t>30</a:t>
            </a:fld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0474" y="453643"/>
            <a:ext cx="910674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5" dirty="0" smtClean="0"/>
              <a:t>  </a:t>
            </a:r>
            <a:r>
              <a:rPr spc="-5" smtClean="0"/>
              <a:t>Applications </a:t>
            </a:r>
            <a:r>
              <a:rPr spc="-5" dirty="0"/>
              <a:t>of Triple</a:t>
            </a:r>
            <a:r>
              <a:rPr spc="-50" dirty="0"/>
              <a:t> </a:t>
            </a:r>
            <a:r>
              <a:rPr spc="-5" dirty="0"/>
              <a:t>Integrals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4588" y="1477772"/>
            <a:ext cx="9544473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For example, </a:t>
            </a:r>
            <a:r>
              <a:rPr sz="2400" dirty="0">
                <a:latin typeface="Arial"/>
                <a:cs typeface="Arial"/>
              </a:rPr>
              <a:t>you can see </a:t>
            </a:r>
            <a:r>
              <a:rPr sz="2400" spc="-5" dirty="0">
                <a:latin typeface="Arial"/>
                <a:cs typeface="Arial"/>
              </a:rPr>
              <a:t>this </a:t>
            </a:r>
            <a:r>
              <a:rPr sz="2400" dirty="0">
                <a:latin typeface="Arial"/>
                <a:cs typeface="Arial"/>
              </a:rPr>
              <a:t>in </a:t>
            </a:r>
            <a:r>
              <a:rPr sz="2400" spc="-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case </a:t>
            </a:r>
            <a:r>
              <a:rPr sz="2400" spc="-5" dirty="0">
                <a:latin typeface="Arial"/>
                <a:cs typeface="Arial"/>
              </a:rPr>
              <a:t>of </a:t>
            </a:r>
            <a:r>
              <a:rPr sz="2400" dirty="0">
                <a:latin typeface="Arial"/>
                <a:cs typeface="Arial"/>
              </a:rPr>
              <a:t>a </a:t>
            </a:r>
            <a:r>
              <a:rPr sz="2400" spc="-5" dirty="0">
                <a:latin typeface="Arial"/>
                <a:cs typeface="Arial"/>
              </a:rPr>
              <a:t>type </a:t>
            </a:r>
            <a:r>
              <a:rPr sz="2400" dirty="0">
                <a:latin typeface="Arial"/>
                <a:cs typeface="Arial"/>
              </a:rPr>
              <a:t>1  </a:t>
            </a:r>
            <a:r>
              <a:rPr sz="2400" spc="-5" dirty="0">
                <a:latin typeface="Arial"/>
                <a:cs typeface="Arial"/>
              </a:rPr>
              <a:t>region by putting </a:t>
            </a:r>
            <a:r>
              <a:rPr sz="2400" i="1" spc="45" dirty="0">
                <a:latin typeface="Arial"/>
                <a:cs typeface="Arial"/>
              </a:rPr>
              <a:t>f</a:t>
            </a:r>
            <a:r>
              <a:rPr sz="2400" spc="45" dirty="0">
                <a:latin typeface="Arial"/>
                <a:cs typeface="Arial"/>
              </a:rPr>
              <a:t>(</a:t>
            </a:r>
            <a:r>
              <a:rPr sz="2400" i="1" spc="45" dirty="0">
                <a:latin typeface="Arial"/>
                <a:cs typeface="Arial"/>
              </a:rPr>
              <a:t>x</a:t>
            </a:r>
            <a:r>
              <a:rPr sz="2400" spc="45" dirty="0">
                <a:latin typeface="Arial"/>
                <a:cs typeface="Arial"/>
              </a:rPr>
              <a:t>,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"/>
                <a:cs typeface="Arial"/>
              </a:rPr>
              <a:t>, </a:t>
            </a:r>
            <a:r>
              <a:rPr sz="2400" i="1" dirty="0">
                <a:latin typeface="Arial"/>
                <a:cs typeface="Arial"/>
              </a:rPr>
              <a:t>z</a:t>
            </a:r>
            <a:r>
              <a:rPr sz="2400" dirty="0">
                <a:latin typeface="Arial"/>
                <a:cs typeface="Arial"/>
              </a:rPr>
              <a:t>) = 1 in </a:t>
            </a:r>
            <a:r>
              <a:rPr sz="2400" spc="-5" dirty="0">
                <a:latin typeface="Arial"/>
                <a:cs typeface="Arial"/>
              </a:rPr>
              <a:t>Formula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6: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0720" y="3870452"/>
            <a:ext cx="105156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and </a:t>
            </a:r>
            <a:r>
              <a:rPr sz="2400" dirty="0">
                <a:latin typeface="Arial"/>
                <a:cs typeface="Arial"/>
              </a:rPr>
              <a:t>we </a:t>
            </a:r>
            <a:r>
              <a:rPr sz="2400" spc="-5" dirty="0">
                <a:latin typeface="Arial"/>
                <a:cs typeface="Arial"/>
              </a:rPr>
              <a:t>know this represents the volume that lies between  the surfaces </a:t>
            </a:r>
            <a:r>
              <a:rPr sz="2400" i="1" dirty="0">
                <a:latin typeface="Arial"/>
                <a:cs typeface="Arial"/>
              </a:rPr>
              <a:t>z </a:t>
            </a:r>
            <a:r>
              <a:rPr sz="2400" dirty="0">
                <a:latin typeface="Arial"/>
                <a:cs typeface="Arial"/>
              </a:rPr>
              <a:t>= </a:t>
            </a:r>
            <a:r>
              <a:rPr sz="2400" i="1" spc="-5" dirty="0">
                <a:latin typeface="Arial"/>
                <a:cs typeface="Arial"/>
              </a:rPr>
              <a:t>u</a:t>
            </a:r>
            <a:r>
              <a:rPr sz="2400" spc="-7" baseline="-20833" dirty="0">
                <a:latin typeface="Arial"/>
                <a:cs typeface="Arial"/>
              </a:rPr>
              <a:t>1</a:t>
            </a:r>
            <a:r>
              <a:rPr sz="2400" spc="-5" dirty="0">
                <a:latin typeface="Arial"/>
                <a:cs typeface="Arial"/>
              </a:rPr>
              <a:t>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"/>
                <a:cs typeface="Arial"/>
              </a:rPr>
              <a:t>,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"/>
                <a:cs typeface="Arial"/>
              </a:rPr>
              <a:t>) </a:t>
            </a:r>
            <a:r>
              <a:rPr sz="2400" spc="-5" dirty="0">
                <a:latin typeface="Arial"/>
                <a:cs typeface="Arial"/>
              </a:rPr>
              <a:t>and </a:t>
            </a:r>
            <a:r>
              <a:rPr sz="2400" i="1" dirty="0">
                <a:latin typeface="Arial"/>
                <a:cs typeface="Arial"/>
              </a:rPr>
              <a:t>z </a:t>
            </a:r>
            <a:r>
              <a:rPr sz="2400" dirty="0">
                <a:latin typeface="Arial"/>
                <a:cs typeface="Arial"/>
              </a:rPr>
              <a:t>= </a:t>
            </a:r>
            <a:r>
              <a:rPr sz="2400" i="1" spc="5" dirty="0">
                <a:latin typeface="Arial"/>
                <a:cs typeface="Arial"/>
              </a:rPr>
              <a:t>u</a:t>
            </a:r>
            <a:r>
              <a:rPr sz="2400" spc="7" baseline="-20833" dirty="0">
                <a:latin typeface="Arial"/>
                <a:cs typeface="Arial"/>
              </a:rPr>
              <a:t>2</a:t>
            </a:r>
            <a:r>
              <a:rPr sz="2400" spc="5" dirty="0">
                <a:latin typeface="Arial"/>
                <a:cs typeface="Arial"/>
              </a:rPr>
              <a:t>(</a:t>
            </a:r>
            <a:r>
              <a:rPr sz="2400" i="1" spc="5" dirty="0">
                <a:latin typeface="Arial"/>
                <a:cs typeface="Arial"/>
              </a:rPr>
              <a:t>x</a:t>
            </a:r>
            <a:r>
              <a:rPr sz="2400" spc="5" dirty="0">
                <a:latin typeface="Arial"/>
                <a:cs typeface="Arial"/>
              </a:rPr>
              <a:t>,</a:t>
            </a:r>
            <a:r>
              <a:rPr sz="2400" spc="10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"/>
                <a:cs typeface="Arial"/>
              </a:rPr>
              <a:t>).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23783" y="2697437"/>
            <a:ext cx="9949776" cy="8948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11418486" y="6431090"/>
            <a:ext cx="407245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2090"/>
              </a:lnSpc>
            </a:pPr>
            <a:fld id="{81D60167-4931-47E6-BA6A-407CBD079E47}" type="slidenum">
              <a:rPr dirty="0"/>
              <a:pPr marL="25400">
                <a:lnSpc>
                  <a:spcPts val="2090"/>
                </a:lnSpc>
              </a:pPr>
              <a:t>31</a:t>
            </a:fld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0474" y="453643"/>
            <a:ext cx="3235113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5" dirty="0" smtClean="0"/>
              <a:t>   </a:t>
            </a:r>
            <a:r>
              <a:rPr spc="-5" smtClean="0"/>
              <a:t>Example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14588" y="1477773"/>
            <a:ext cx="10540153" cy="2473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Use a </a:t>
            </a:r>
            <a:r>
              <a:rPr sz="2400" spc="-5" dirty="0">
                <a:latin typeface="Arial"/>
                <a:cs typeface="Arial"/>
              </a:rPr>
              <a:t>triple integral to find the volume of the tetrahedron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T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bounded by the planes </a:t>
            </a:r>
            <a:r>
              <a:rPr sz="2400" i="1" dirty="0">
                <a:latin typeface="Arial"/>
                <a:cs typeface="Arial"/>
              </a:rPr>
              <a:t>x </a:t>
            </a:r>
            <a:r>
              <a:rPr sz="2400" dirty="0">
                <a:latin typeface="Arial"/>
                <a:cs typeface="Arial"/>
              </a:rPr>
              <a:t>+ </a:t>
            </a:r>
            <a:r>
              <a:rPr sz="2400" spc="-5" dirty="0">
                <a:latin typeface="Arial"/>
                <a:cs typeface="Arial"/>
              </a:rPr>
              <a:t>2</a:t>
            </a:r>
            <a:r>
              <a:rPr sz="2400" i="1" spc="-5" dirty="0">
                <a:latin typeface="Arial"/>
                <a:cs typeface="Arial"/>
              </a:rPr>
              <a:t>y </a:t>
            </a:r>
            <a:r>
              <a:rPr sz="2400" dirty="0">
                <a:latin typeface="Arial"/>
                <a:cs typeface="Arial"/>
              </a:rPr>
              <a:t>+ </a:t>
            </a:r>
            <a:r>
              <a:rPr sz="2400" i="1" dirty="0">
                <a:latin typeface="Arial"/>
                <a:cs typeface="Arial"/>
              </a:rPr>
              <a:t>z </a:t>
            </a:r>
            <a:r>
              <a:rPr sz="2400" dirty="0">
                <a:latin typeface="Arial"/>
                <a:cs typeface="Arial"/>
              </a:rPr>
              <a:t>= </a:t>
            </a:r>
            <a:r>
              <a:rPr sz="2400" spc="-5" dirty="0">
                <a:latin typeface="Arial"/>
                <a:cs typeface="Arial"/>
              </a:rPr>
              <a:t>2, </a:t>
            </a:r>
            <a:r>
              <a:rPr sz="2400" i="1" dirty="0">
                <a:latin typeface="Arial"/>
                <a:cs typeface="Arial"/>
              </a:rPr>
              <a:t>x </a:t>
            </a:r>
            <a:r>
              <a:rPr sz="2400" dirty="0">
                <a:latin typeface="Arial"/>
                <a:cs typeface="Arial"/>
              </a:rPr>
              <a:t>= </a:t>
            </a:r>
            <a:r>
              <a:rPr sz="2400" spc="5" dirty="0">
                <a:latin typeface="Arial"/>
                <a:cs typeface="Arial"/>
              </a:rPr>
              <a:t>2</a:t>
            </a:r>
            <a:r>
              <a:rPr sz="2400" i="1" spc="5" dirty="0">
                <a:latin typeface="Arial"/>
                <a:cs typeface="Arial"/>
              </a:rPr>
              <a:t>y</a:t>
            </a:r>
            <a:r>
              <a:rPr sz="2400" spc="5" dirty="0">
                <a:latin typeface="Arial"/>
                <a:cs typeface="Arial"/>
              </a:rPr>
              <a:t>, </a:t>
            </a:r>
            <a:r>
              <a:rPr sz="2400" i="1" dirty="0">
                <a:latin typeface="Arial"/>
                <a:cs typeface="Arial"/>
              </a:rPr>
              <a:t>x </a:t>
            </a:r>
            <a:r>
              <a:rPr sz="2400" dirty="0">
                <a:latin typeface="Arial"/>
                <a:cs typeface="Arial"/>
              </a:rPr>
              <a:t>= </a:t>
            </a:r>
            <a:r>
              <a:rPr sz="2400" spc="-5" dirty="0">
                <a:latin typeface="Arial"/>
                <a:cs typeface="Arial"/>
              </a:rPr>
              <a:t>0,</a:t>
            </a:r>
            <a:r>
              <a:rPr sz="2400" spc="7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and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i="1" dirty="0">
                <a:latin typeface="Arial"/>
                <a:cs typeface="Arial"/>
              </a:rPr>
              <a:t>z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0.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89"/>
              </a:spcBef>
            </a:pPr>
            <a:r>
              <a:rPr sz="2400" spc="-5" dirty="0">
                <a:solidFill>
                  <a:srgbClr val="CC007A"/>
                </a:solidFill>
                <a:latin typeface="Arial"/>
                <a:cs typeface="Arial"/>
              </a:rPr>
              <a:t>Solution:</a:t>
            </a:r>
            <a:endParaRPr sz="2400">
              <a:latin typeface="Arial"/>
              <a:cs typeface="Arial"/>
            </a:endParaRPr>
          </a:p>
          <a:p>
            <a:pPr marL="12700" marR="324485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The tetrahedron </a:t>
            </a:r>
            <a:r>
              <a:rPr sz="2400" i="1" dirty="0">
                <a:latin typeface="Arial"/>
                <a:cs typeface="Arial"/>
              </a:rPr>
              <a:t>T </a:t>
            </a:r>
            <a:r>
              <a:rPr sz="2400" spc="-5" dirty="0">
                <a:latin typeface="Arial"/>
                <a:cs typeface="Arial"/>
              </a:rPr>
              <a:t>and its projection </a:t>
            </a:r>
            <a:r>
              <a:rPr sz="2400" i="1" dirty="0">
                <a:latin typeface="Arial"/>
                <a:cs typeface="Arial"/>
              </a:rPr>
              <a:t>D </a:t>
            </a:r>
            <a:r>
              <a:rPr sz="2400" spc="-5" dirty="0">
                <a:latin typeface="Arial"/>
                <a:cs typeface="Arial"/>
              </a:rPr>
              <a:t>onto the </a:t>
            </a:r>
            <a:r>
              <a:rPr sz="2400" i="1" spc="-5" dirty="0">
                <a:latin typeface="Arial"/>
                <a:cs typeface="Arial"/>
              </a:rPr>
              <a:t>xy</a:t>
            </a:r>
            <a:r>
              <a:rPr sz="2400" spc="-5" dirty="0">
                <a:latin typeface="Arial"/>
                <a:cs typeface="Arial"/>
              </a:rPr>
              <a:t>-plane  are shown </a:t>
            </a:r>
            <a:r>
              <a:rPr sz="2400" dirty="0">
                <a:latin typeface="Arial"/>
                <a:cs typeface="Arial"/>
              </a:rPr>
              <a:t>in </a:t>
            </a:r>
            <a:r>
              <a:rPr sz="2400" spc="-5" dirty="0">
                <a:latin typeface="Arial"/>
                <a:cs typeface="Arial"/>
              </a:rPr>
              <a:t>Figures 14 and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15.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567423" y="4495799"/>
            <a:ext cx="3186175" cy="1658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816352" y="4038599"/>
            <a:ext cx="2771648" cy="2353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11418486" y="6431090"/>
            <a:ext cx="407245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2090"/>
              </a:lnSpc>
            </a:pPr>
            <a:fld id="{81D60167-4931-47E6-BA6A-407CBD079E47}" type="slidenum">
              <a:rPr dirty="0"/>
              <a:pPr marL="25400">
                <a:lnSpc>
                  <a:spcPts val="2090"/>
                </a:lnSpc>
              </a:pPr>
              <a:t>32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3628474" y="6460449"/>
            <a:ext cx="93726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b="1" dirty="0">
                <a:latin typeface="Arial"/>
                <a:cs typeface="Arial"/>
              </a:rPr>
              <a:t>Figure</a:t>
            </a:r>
            <a:r>
              <a:rPr sz="1200" b="1" spc="-8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14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92474" y="6460449"/>
            <a:ext cx="93726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b="1" dirty="0">
                <a:latin typeface="Arial"/>
                <a:cs typeface="Arial"/>
              </a:rPr>
              <a:t>Figure</a:t>
            </a:r>
            <a:r>
              <a:rPr sz="1200" b="1" spc="-80" dirty="0">
                <a:latin typeface="Arial"/>
                <a:cs typeface="Arial"/>
              </a:rPr>
              <a:t> </a:t>
            </a:r>
            <a:r>
              <a:rPr sz="1200" b="1" spc="-5" dirty="0">
                <a:latin typeface="Arial"/>
                <a:cs typeface="Arial"/>
              </a:rPr>
              <a:t>15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0474" y="453643"/>
            <a:ext cx="644398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5" dirty="0" smtClean="0"/>
              <a:t> </a:t>
            </a:r>
            <a:r>
              <a:rPr spc="-5" smtClean="0"/>
              <a:t>Example </a:t>
            </a:r>
            <a:r>
              <a:rPr smtClean="0"/>
              <a:t>–</a:t>
            </a:r>
            <a:r>
              <a:rPr spc="-55" smtClean="0"/>
              <a:t> </a:t>
            </a:r>
            <a:r>
              <a:rPr i="1" dirty="0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4588" y="1477772"/>
            <a:ext cx="10596033" cy="1412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The lower boundary of </a:t>
            </a:r>
            <a:r>
              <a:rPr sz="2400" i="1" dirty="0">
                <a:latin typeface="Arial"/>
                <a:cs typeface="Arial"/>
              </a:rPr>
              <a:t>T </a:t>
            </a:r>
            <a:r>
              <a:rPr sz="2400" dirty="0">
                <a:latin typeface="Arial"/>
                <a:cs typeface="Arial"/>
              </a:rPr>
              <a:t>is </a:t>
            </a:r>
            <a:r>
              <a:rPr sz="2400" spc="-5" dirty="0">
                <a:latin typeface="Arial"/>
                <a:cs typeface="Arial"/>
              </a:rPr>
              <a:t>the plane </a:t>
            </a:r>
            <a:r>
              <a:rPr sz="2400" i="1" dirty="0">
                <a:latin typeface="Arial"/>
                <a:cs typeface="Arial"/>
              </a:rPr>
              <a:t>z </a:t>
            </a:r>
            <a:r>
              <a:rPr sz="2400" dirty="0">
                <a:latin typeface="Arial"/>
                <a:cs typeface="Arial"/>
              </a:rPr>
              <a:t>= 0 </a:t>
            </a:r>
            <a:r>
              <a:rPr sz="2400" spc="-5" dirty="0">
                <a:latin typeface="Arial"/>
                <a:cs typeface="Arial"/>
              </a:rPr>
              <a:t>and the upper  boundary </a:t>
            </a:r>
            <a:r>
              <a:rPr sz="2400" dirty="0">
                <a:latin typeface="Arial"/>
                <a:cs typeface="Arial"/>
              </a:rPr>
              <a:t>is </a:t>
            </a:r>
            <a:r>
              <a:rPr sz="2400" spc="-5" dirty="0">
                <a:latin typeface="Arial"/>
                <a:cs typeface="Arial"/>
              </a:rPr>
              <a:t>the plane </a:t>
            </a:r>
            <a:r>
              <a:rPr sz="2400" i="1" dirty="0">
                <a:latin typeface="Arial"/>
                <a:cs typeface="Arial"/>
              </a:rPr>
              <a:t>x </a:t>
            </a:r>
            <a:r>
              <a:rPr sz="2400" dirty="0">
                <a:latin typeface="Arial"/>
                <a:cs typeface="Arial"/>
              </a:rPr>
              <a:t>+ 2</a:t>
            </a:r>
            <a:r>
              <a:rPr sz="2400" i="1" dirty="0">
                <a:latin typeface="Arial"/>
                <a:cs typeface="Arial"/>
              </a:rPr>
              <a:t>y </a:t>
            </a:r>
            <a:r>
              <a:rPr sz="2400" dirty="0">
                <a:latin typeface="Arial"/>
                <a:cs typeface="Arial"/>
              </a:rPr>
              <a:t>+ </a:t>
            </a:r>
            <a:r>
              <a:rPr sz="2400" i="1" dirty="0">
                <a:latin typeface="Arial"/>
                <a:cs typeface="Arial"/>
              </a:rPr>
              <a:t>z </a:t>
            </a:r>
            <a:r>
              <a:rPr sz="2400" dirty="0">
                <a:latin typeface="Arial"/>
                <a:cs typeface="Arial"/>
              </a:rPr>
              <a:t>= </a:t>
            </a:r>
            <a:r>
              <a:rPr sz="2400" spc="-5" dirty="0">
                <a:latin typeface="Arial"/>
                <a:cs typeface="Arial"/>
              </a:rPr>
              <a:t>2, that </a:t>
            </a:r>
            <a:r>
              <a:rPr sz="2400" dirty="0">
                <a:latin typeface="Arial"/>
                <a:cs typeface="Arial"/>
              </a:rPr>
              <a:t>is, </a:t>
            </a:r>
            <a:r>
              <a:rPr sz="2400" i="1" dirty="0">
                <a:latin typeface="Arial"/>
                <a:cs typeface="Arial"/>
              </a:rPr>
              <a:t>z </a:t>
            </a:r>
            <a:r>
              <a:rPr sz="2400" dirty="0">
                <a:latin typeface="Arial"/>
                <a:cs typeface="Arial"/>
              </a:rPr>
              <a:t>= 2 – </a:t>
            </a:r>
            <a:r>
              <a:rPr sz="2400" i="1" dirty="0">
                <a:latin typeface="Arial"/>
                <a:cs typeface="Arial"/>
              </a:rPr>
              <a:t>x </a:t>
            </a:r>
            <a:r>
              <a:rPr sz="2400" dirty="0">
                <a:latin typeface="Arial"/>
                <a:cs typeface="Arial"/>
              </a:rPr>
              <a:t>–</a:t>
            </a:r>
            <a:r>
              <a:rPr sz="2400" spc="80" dirty="0">
                <a:latin typeface="Arial"/>
                <a:cs typeface="Arial"/>
              </a:rPr>
              <a:t> </a:t>
            </a:r>
            <a:r>
              <a:rPr sz="2400" spc="5" dirty="0">
                <a:latin typeface="Arial"/>
                <a:cs typeface="Arial"/>
              </a:rPr>
              <a:t>2</a:t>
            </a:r>
            <a:r>
              <a:rPr sz="2400" i="1" spc="5" dirty="0">
                <a:latin typeface="Arial"/>
                <a:cs typeface="Arial"/>
              </a:rPr>
              <a:t>y</a:t>
            </a:r>
            <a:r>
              <a:rPr sz="2400" spc="5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280"/>
              </a:spcBef>
            </a:pPr>
            <a:r>
              <a:rPr sz="2400" spc="-5" dirty="0">
                <a:latin typeface="Arial"/>
                <a:cs typeface="Arial"/>
              </a:rPr>
              <a:t>Therefore </a:t>
            </a:r>
            <a:r>
              <a:rPr sz="2400" dirty="0">
                <a:latin typeface="Arial"/>
                <a:cs typeface="Arial"/>
              </a:rPr>
              <a:t>we</a:t>
            </a:r>
            <a:r>
              <a:rPr sz="2400" spc="-5" dirty="0">
                <a:latin typeface="Arial"/>
                <a:cs typeface="Arial"/>
              </a:rPr>
              <a:t> have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4587" y="5275580"/>
            <a:ext cx="10492740" cy="7527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99600"/>
              </a:lnSpc>
              <a:spcBef>
                <a:spcPts val="110"/>
              </a:spcBef>
            </a:pPr>
            <a:r>
              <a:rPr sz="2400" spc="-5" dirty="0">
                <a:latin typeface="Arial"/>
                <a:cs typeface="Arial"/>
              </a:rPr>
              <a:t>(Notice that </a:t>
            </a:r>
            <a:r>
              <a:rPr sz="2400" dirty="0">
                <a:latin typeface="Arial"/>
                <a:cs typeface="Arial"/>
              </a:rPr>
              <a:t>it is </a:t>
            </a:r>
            <a:r>
              <a:rPr sz="2400" spc="-5" dirty="0">
                <a:latin typeface="Arial"/>
                <a:cs typeface="Arial"/>
              </a:rPr>
              <a:t>not necessary to use triple integrals to  compute volumes. They </a:t>
            </a:r>
            <a:r>
              <a:rPr sz="2400" dirty="0">
                <a:latin typeface="Arial"/>
                <a:cs typeface="Arial"/>
              </a:rPr>
              <a:t>simply </a:t>
            </a:r>
            <a:r>
              <a:rPr sz="2400" spc="-5" dirty="0">
                <a:latin typeface="Arial"/>
                <a:cs typeface="Arial"/>
              </a:rPr>
              <a:t>give an alternative method  for setting up the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calculation.)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81956" y="2950274"/>
            <a:ext cx="2505989" cy="6972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993601" y="3741828"/>
            <a:ext cx="4608183" cy="5762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998913" y="4589038"/>
            <a:ext cx="5206171" cy="5774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471813" y="4667104"/>
            <a:ext cx="636723" cy="37171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016826" y="859028"/>
            <a:ext cx="850053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co</a:t>
            </a:r>
            <a:r>
              <a:rPr sz="1800" spc="-5" dirty="0">
                <a:latin typeface="Arial"/>
                <a:cs typeface="Arial"/>
              </a:rPr>
              <a:t>n</a:t>
            </a:r>
            <a:r>
              <a:rPr sz="1800" spc="5" dirty="0">
                <a:latin typeface="Arial"/>
                <a:cs typeface="Arial"/>
              </a:rPr>
              <a:t>t’</a:t>
            </a:r>
            <a:r>
              <a:rPr sz="1800" dirty="0">
                <a:latin typeface="Arial"/>
                <a:cs typeface="Arial"/>
              </a:rPr>
              <a:t>d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4294967295"/>
          </p:nvPr>
        </p:nvSpPr>
        <p:spPr>
          <a:xfrm>
            <a:off x="11418486" y="6431090"/>
            <a:ext cx="407245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2090"/>
              </a:lnSpc>
            </a:pPr>
            <a:fld id="{81D60167-4931-47E6-BA6A-407CBD079E47}" type="slidenum">
              <a:rPr dirty="0"/>
              <a:pPr marL="25400">
                <a:lnSpc>
                  <a:spcPts val="2090"/>
                </a:lnSpc>
              </a:pPr>
              <a:t>33</a:t>
            </a:fld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0474" y="453643"/>
            <a:ext cx="910674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Applications of Triple</a:t>
            </a:r>
            <a:r>
              <a:rPr spc="-50" dirty="0"/>
              <a:t> </a:t>
            </a:r>
            <a:r>
              <a:rPr spc="-5" dirty="0"/>
              <a:t>Integrals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31708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069" marR="92710">
              <a:lnSpc>
                <a:spcPct val="100000"/>
              </a:lnSpc>
              <a:spcBef>
                <a:spcPts val="100"/>
              </a:spcBef>
            </a:pPr>
            <a:r>
              <a:rPr dirty="0"/>
              <a:t>All </a:t>
            </a:r>
            <a:r>
              <a:rPr spc="-5" dirty="0"/>
              <a:t>the applications of double integrals </a:t>
            </a:r>
            <a:r>
              <a:rPr dirty="0"/>
              <a:t>can </a:t>
            </a:r>
            <a:r>
              <a:rPr spc="-5" dirty="0"/>
              <a:t>be immediately  extended to triple</a:t>
            </a:r>
            <a:r>
              <a:rPr spc="-10" dirty="0"/>
              <a:t> </a:t>
            </a:r>
            <a:r>
              <a:rPr spc="-5" dirty="0"/>
              <a:t>integrals.</a:t>
            </a:r>
          </a:p>
          <a:p>
            <a:pPr marL="52069" marR="5080">
              <a:lnSpc>
                <a:spcPct val="99000"/>
              </a:lnSpc>
              <a:spcBef>
                <a:spcPts val="2305"/>
              </a:spcBef>
            </a:pPr>
            <a:r>
              <a:rPr spc="-5" dirty="0"/>
              <a:t>For example, </a:t>
            </a:r>
            <a:r>
              <a:rPr dirty="0"/>
              <a:t>if </a:t>
            </a:r>
            <a:r>
              <a:rPr spc="-5" dirty="0"/>
              <a:t>the density function of </a:t>
            </a:r>
            <a:r>
              <a:rPr dirty="0"/>
              <a:t>a solid </a:t>
            </a:r>
            <a:r>
              <a:rPr spc="-5" dirty="0"/>
              <a:t>object that  occupies the region </a:t>
            </a:r>
            <a:r>
              <a:rPr i="1" dirty="0">
                <a:latin typeface="Arial"/>
                <a:cs typeface="Arial"/>
              </a:rPr>
              <a:t>E </a:t>
            </a:r>
            <a:r>
              <a:rPr dirty="0"/>
              <a:t>is </a:t>
            </a:r>
            <a:r>
              <a:rPr sz="2450" i="1" spc="-30" dirty="0">
                <a:latin typeface="Symbol"/>
                <a:cs typeface="Symbol"/>
              </a:rPr>
              <a:t></a:t>
            </a:r>
            <a:r>
              <a:rPr sz="2450" i="1" spc="-30" dirty="0">
                <a:latin typeface="Times New Roman"/>
                <a:cs typeface="Times New Roman"/>
              </a:rPr>
              <a:t> </a:t>
            </a:r>
            <a:r>
              <a:rPr spc="10" dirty="0"/>
              <a:t>(</a:t>
            </a:r>
            <a:r>
              <a:rPr i="1" spc="10" dirty="0">
                <a:latin typeface="Arial"/>
                <a:cs typeface="Arial"/>
              </a:rPr>
              <a:t>x</a:t>
            </a:r>
            <a:r>
              <a:rPr spc="10" dirty="0"/>
              <a:t>, </a:t>
            </a:r>
            <a:r>
              <a:rPr i="1" dirty="0">
                <a:latin typeface="Arial"/>
                <a:cs typeface="Arial"/>
              </a:rPr>
              <a:t>y</a:t>
            </a:r>
            <a:r>
              <a:rPr dirty="0"/>
              <a:t>, </a:t>
            </a:r>
            <a:r>
              <a:rPr i="1" dirty="0">
                <a:latin typeface="Arial"/>
                <a:cs typeface="Arial"/>
              </a:rPr>
              <a:t>z</a:t>
            </a:r>
            <a:r>
              <a:rPr dirty="0"/>
              <a:t>), in </a:t>
            </a:r>
            <a:r>
              <a:rPr spc="-5" dirty="0"/>
              <a:t>units of </a:t>
            </a:r>
            <a:r>
              <a:rPr dirty="0"/>
              <a:t>mass </a:t>
            </a:r>
            <a:r>
              <a:rPr spc="-5" dirty="0"/>
              <a:t>per</a:t>
            </a:r>
            <a:r>
              <a:rPr spc="-355" dirty="0"/>
              <a:t> </a:t>
            </a:r>
            <a:r>
              <a:rPr spc="-5" dirty="0"/>
              <a:t>unit  volume, at any </a:t>
            </a:r>
            <a:r>
              <a:rPr spc="-5"/>
              <a:t>given </a:t>
            </a:r>
            <a:r>
              <a:rPr spc="-5" smtClean="0"/>
              <a:t>point</a:t>
            </a:r>
            <a:endParaRPr lang="en-US" spc="-5" dirty="0" smtClean="0"/>
          </a:p>
          <a:p>
            <a:pPr marL="52069" marR="5080">
              <a:lnSpc>
                <a:spcPct val="99000"/>
              </a:lnSpc>
              <a:spcBef>
                <a:spcPts val="2305"/>
              </a:spcBef>
            </a:pPr>
            <a:r>
              <a:rPr spc="-5" smtClean="0"/>
              <a:t> </a:t>
            </a:r>
            <a:r>
              <a:rPr spc="5" dirty="0"/>
              <a:t>(</a:t>
            </a:r>
            <a:r>
              <a:rPr i="1" spc="5" dirty="0">
                <a:latin typeface="Arial"/>
                <a:cs typeface="Arial"/>
              </a:rPr>
              <a:t>x</a:t>
            </a:r>
            <a:r>
              <a:rPr spc="5" dirty="0"/>
              <a:t>, </a:t>
            </a:r>
            <a:r>
              <a:rPr i="1" dirty="0">
                <a:latin typeface="Arial"/>
                <a:cs typeface="Arial"/>
              </a:rPr>
              <a:t>y</a:t>
            </a:r>
            <a:r>
              <a:rPr dirty="0"/>
              <a:t>, </a:t>
            </a:r>
            <a:r>
              <a:rPr i="1" dirty="0">
                <a:latin typeface="Arial"/>
                <a:cs typeface="Arial"/>
              </a:rPr>
              <a:t>z</a:t>
            </a:r>
            <a:r>
              <a:rPr dirty="0"/>
              <a:t>), </a:t>
            </a:r>
            <a:r>
              <a:rPr spc="-5" dirty="0"/>
              <a:t>then its </a:t>
            </a:r>
            <a:r>
              <a:rPr b="1" spc="-5" dirty="0">
                <a:latin typeface="Arial"/>
                <a:cs typeface="Arial"/>
              </a:rPr>
              <a:t>mass</a:t>
            </a:r>
            <a:r>
              <a:rPr b="1" spc="20" dirty="0">
                <a:latin typeface="Arial"/>
                <a:cs typeface="Arial"/>
              </a:rPr>
              <a:t> </a:t>
            </a:r>
            <a:r>
              <a:rPr spc="15" dirty="0"/>
              <a:t>is</a:t>
            </a:r>
            <a:endParaRPr sz="24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4587" y="4763516"/>
            <a:ext cx="10023687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and its </a:t>
            </a:r>
            <a:r>
              <a:rPr sz="2400" b="1" spc="-5" dirty="0">
                <a:latin typeface="Arial"/>
                <a:cs typeface="Arial"/>
              </a:rPr>
              <a:t>moments </a:t>
            </a:r>
            <a:r>
              <a:rPr sz="2400" dirty="0">
                <a:latin typeface="Arial"/>
                <a:cs typeface="Arial"/>
              </a:rPr>
              <a:t>about </a:t>
            </a:r>
            <a:r>
              <a:rPr sz="2400" spc="-5" dirty="0">
                <a:latin typeface="Arial"/>
                <a:cs typeface="Arial"/>
              </a:rPr>
              <a:t>the three coordinate planes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are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466531" y="3996032"/>
            <a:ext cx="4335336" cy="5416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82768" y="5464254"/>
            <a:ext cx="8548635" cy="126042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11418486" y="6431090"/>
            <a:ext cx="407245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2090"/>
              </a:lnSpc>
            </a:pPr>
            <a:fld id="{81D60167-4931-47E6-BA6A-407CBD079E47}" type="slidenum">
              <a:rPr dirty="0"/>
              <a:pPr marL="25400">
                <a:lnSpc>
                  <a:spcPts val="2090"/>
                </a:lnSpc>
              </a:pPr>
              <a:t>34</a:t>
            </a:fld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0474" y="453643"/>
            <a:ext cx="910674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Applications of Triple</a:t>
            </a:r>
            <a:r>
              <a:rPr spc="-50" dirty="0"/>
              <a:t> </a:t>
            </a:r>
            <a:r>
              <a:rPr spc="-5" dirty="0"/>
              <a:t>Integrals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4587" y="1477772"/>
            <a:ext cx="7673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The </a:t>
            </a:r>
            <a:r>
              <a:rPr sz="2400" b="1" spc="-5" dirty="0">
                <a:latin typeface="Arial"/>
                <a:cs typeface="Arial"/>
              </a:rPr>
              <a:t>center of mass </a:t>
            </a:r>
            <a:r>
              <a:rPr sz="2400" spc="5" dirty="0">
                <a:latin typeface="Arial"/>
                <a:cs typeface="Arial"/>
              </a:rPr>
              <a:t>is </a:t>
            </a:r>
            <a:r>
              <a:rPr sz="2400" spc="-5" dirty="0">
                <a:latin typeface="Arial"/>
                <a:cs typeface="Arial"/>
              </a:rPr>
              <a:t>located at the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point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46587" y="1477772"/>
            <a:ext cx="1141307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w</a:t>
            </a:r>
            <a:r>
              <a:rPr sz="2400" spc="-5" dirty="0">
                <a:latin typeface="Arial"/>
                <a:cs typeface="Arial"/>
              </a:rPr>
              <a:t>he</a:t>
            </a:r>
            <a:r>
              <a:rPr sz="2400" dirty="0">
                <a:latin typeface="Arial"/>
                <a:cs typeface="Arial"/>
              </a:rPr>
              <a:t>re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4587" y="3047491"/>
            <a:ext cx="10447020" cy="14850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If the density </a:t>
            </a:r>
            <a:r>
              <a:rPr sz="2400" dirty="0">
                <a:latin typeface="Arial"/>
                <a:cs typeface="Arial"/>
              </a:rPr>
              <a:t>is </a:t>
            </a:r>
            <a:r>
              <a:rPr sz="2400" spc="-5" dirty="0">
                <a:latin typeface="Arial"/>
                <a:cs typeface="Arial"/>
              </a:rPr>
              <a:t>constant, the center of </a:t>
            </a:r>
            <a:r>
              <a:rPr sz="2400" dirty="0">
                <a:latin typeface="Arial"/>
                <a:cs typeface="Arial"/>
              </a:rPr>
              <a:t>mass </a:t>
            </a:r>
            <a:r>
              <a:rPr sz="2400" spc="-5" dirty="0">
                <a:latin typeface="Arial"/>
                <a:cs typeface="Arial"/>
              </a:rPr>
              <a:t>of the </a:t>
            </a:r>
            <a:r>
              <a:rPr sz="2400" dirty="0">
                <a:latin typeface="Arial"/>
                <a:cs typeface="Arial"/>
              </a:rPr>
              <a:t>solid is  </a:t>
            </a:r>
            <a:r>
              <a:rPr sz="2400" spc="-5" dirty="0">
                <a:latin typeface="Arial"/>
                <a:cs typeface="Arial"/>
              </a:rPr>
              <a:t>called the </a:t>
            </a:r>
            <a:r>
              <a:rPr sz="2400" b="1" dirty="0">
                <a:latin typeface="Arial"/>
                <a:cs typeface="Arial"/>
              </a:rPr>
              <a:t>centroid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350">
              <a:latin typeface="Times New Roman"/>
              <a:cs typeface="Times New Roman"/>
            </a:endParaRPr>
          </a:p>
          <a:p>
            <a:pPr marL="12700" marR="835025">
              <a:lnSpc>
                <a:spcPts val="2860"/>
              </a:lnSpc>
            </a:pPr>
            <a:r>
              <a:rPr sz="2400" dirty="0">
                <a:latin typeface="Arial"/>
                <a:cs typeface="Arial"/>
              </a:rPr>
              <a:t>The </a:t>
            </a:r>
            <a:r>
              <a:rPr sz="2400" b="1" spc="-5" dirty="0">
                <a:latin typeface="Arial"/>
                <a:cs typeface="Arial"/>
              </a:rPr>
              <a:t>moments of inertia </a:t>
            </a:r>
            <a:r>
              <a:rPr sz="2400" spc="-5" dirty="0">
                <a:latin typeface="Arial"/>
                <a:cs typeface="Arial"/>
              </a:rPr>
              <a:t>about the three coordinate  axes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are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787683" y="2128219"/>
            <a:ext cx="6123408" cy="5659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568560" y="1550166"/>
            <a:ext cx="1366445" cy="2960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53299" y="2267174"/>
            <a:ext cx="413093" cy="2830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61288" y="5131343"/>
            <a:ext cx="9367517" cy="137611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4294967295"/>
          </p:nvPr>
        </p:nvSpPr>
        <p:spPr>
          <a:xfrm>
            <a:off x="11418486" y="6431090"/>
            <a:ext cx="407245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2090"/>
              </a:lnSpc>
            </a:pPr>
            <a:fld id="{81D60167-4931-47E6-BA6A-407CBD079E47}" type="slidenum">
              <a:rPr dirty="0"/>
              <a:pPr marL="25400">
                <a:lnSpc>
                  <a:spcPts val="2090"/>
                </a:lnSpc>
              </a:pPr>
              <a:t>35</a:t>
            </a:fld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4587" y="1477772"/>
            <a:ext cx="9937327" cy="74676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 marR="5080">
              <a:lnSpc>
                <a:spcPts val="2780"/>
              </a:lnSpc>
              <a:spcBef>
                <a:spcPts val="275"/>
              </a:spcBef>
            </a:pPr>
            <a:r>
              <a:rPr sz="2400" dirty="0">
                <a:latin typeface="Arial"/>
                <a:cs typeface="Arial"/>
              </a:rPr>
              <a:t>The total </a:t>
            </a:r>
            <a:r>
              <a:rPr sz="2400" b="1" dirty="0">
                <a:latin typeface="Arial"/>
                <a:cs typeface="Arial"/>
              </a:rPr>
              <a:t>electric </a:t>
            </a:r>
            <a:r>
              <a:rPr sz="2400" b="1" spc="-5" dirty="0">
                <a:latin typeface="Arial"/>
                <a:cs typeface="Arial"/>
              </a:rPr>
              <a:t>charge </a:t>
            </a:r>
            <a:r>
              <a:rPr sz="2400" spc="5" dirty="0">
                <a:latin typeface="Arial"/>
                <a:cs typeface="Arial"/>
              </a:rPr>
              <a:t>on </a:t>
            </a:r>
            <a:r>
              <a:rPr sz="2400" dirty="0">
                <a:latin typeface="Arial"/>
                <a:cs typeface="Arial"/>
              </a:rPr>
              <a:t>a solid </a:t>
            </a:r>
            <a:r>
              <a:rPr sz="2400" spc="-5" dirty="0">
                <a:latin typeface="Arial"/>
                <a:cs typeface="Arial"/>
              </a:rPr>
              <a:t>object occupying </a:t>
            </a:r>
            <a:r>
              <a:rPr sz="2400" dirty="0">
                <a:latin typeface="Arial"/>
                <a:cs typeface="Arial"/>
              </a:rPr>
              <a:t>a  </a:t>
            </a:r>
            <a:r>
              <a:rPr sz="2400" spc="-5" dirty="0">
                <a:latin typeface="Arial"/>
                <a:cs typeface="Arial"/>
              </a:rPr>
              <a:t>region </a:t>
            </a:r>
            <a:r>
              <a:rPr sz="2400" i="1" dirty="0">
                <a:latin typeface="Arial"/>
                <a:cs typeface="Arial"/>
              </a:rPr>
              <a:t>E </a:t>
            </a:r>
            <a:r>
              <a:rPr sz="2400" spc="-5" dirty="0">
                <a:latin typeface="Arial"/>
                <a:cs typeface="Arial"/>
              </a:rPr>
              <a:t>and having charge density </a:t>
            </a:r>
            <a:r>
              <a:rPr sz="2450" i="1" spc="-35" dirty="0">
                <a:latin typeface="Symbol"/>
                <a:cs typeface="Symbol"/>
              </a:rPr>
              <a:t></a:t>
            </a:r>
            <a:r>
              <a:rPr sz="2450" i="1" spc="-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Arial"/>
                <a:cs typeface="Arial"/>
              </a:rPr>
              <a:t>(</a:t>
            </a:r>
            <a:r>
              <a:rPr sz="2400" i="1" spc="-5" dirty="0">
                <a:latin typeface="Arial"/>
                <a:cs typeface="Arial"/>
              </a:rPr>
              <a:t>x</a:t>
            </a:r>
            <a:r>
              <a:rPr sz="2400" spc="-5" dirty="0">
                <a:latin typeface="Arial"/>
                <a:cs typeface="Arial"/>
              </a:rPr>
              <a:t>, </a:t>
            </a:r>
            <a:r>
              <a:rPr sz="2400" i="1" spc="10" dirty="0">
                <a:latin typeface="Arial"/>
                <a:cs typeface="Arial"/>
              </a:rPr>
              <a:t>y</a:t>
            </a:r>
            <a:r>
              <a:rPr sz="2400" spc="10" dirty="0">
                <a:latin typeface="Arial"/>
                <a:cs typeface="Arial"/>
              </a:rPr>
              <a:t>, </a:t>
            </a:r>
            <a:r>
              <a:rPr sz="2400" i="1" dirty="0">
                <a:latin typeface="Arial"/>
                <a:cs typeface="Arial"/>
              </a:rPr>
              <a:t>z</a:t>
            </a:r>
            <a:r>
              <a:rPr sz="2400" dirty="0">
                <a:latin typeface="Arial"/>
                <a:cs typeface="Arial"/>
              </a:rPr>
              <a:t>)</a:t>
            </a:r>
            <a:r>
              <a:rPr sz="2400" spc="-29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is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4587" y="3596132"/>
            <a:ext cx="10557933" cy="11201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algn="just">
              <a:lnSpc>
                <a:spcPct val="99600"/>
              </a:lnSpc>
              <a:spcBef>
                <a:spcPts val="110"/>
              </a:spcBef>
            </a:pPr>
            <a:r>
              <a:rPr sz="2400" spc="-5" dirty="0">
                <a:latin typeface="Arial"/>
                <a:cs typeface="Arial"/>
              </a:rPr>
              <a:t>If </a:t>
            </a:r>
            <a:r>
              <a:rPr sz="2400" dirty="0">
                <a:latin typeface="Arial"/>
                <a:cs typeface="Arial"/>
              </a:rPr>
              <a:t>we </a:t>
            </a:r>
            <a:r>
              <a:rPr sz="2400" spc="-5" dirty="0">
                <a:latin typeface="Arial"/>
                <a:cs typeface="Arial"/>
              </a:rPr>
              <a:t>have three continuous random variables </a:t>
            </a:r>
            <a:r>
              <a:rPr sz="2400" i="1" dirty="0">
                <a:latin typeface="Arial"/>
                <a:cs typeface="Arial"/>
              </a:rPr>
              <a:t>X</a:t>
            </a:r>
            <a:r>
              <a:rPr sz="2400" dirty="0">
                <a:latin typeface="Arial"/>
                <a:cs typeface="Arial"/>
              </a:rPr>
              <a:t>, </a:t>
            </a:r>
            <a:r>
              <a:rPr sz="2400" i="1" spc="15" dirty="0">
                <a:latin typeface="Arial"/>
                <a:cs typeface="Arial"/>
              </a:rPr>
              <a:t>Y</a:t>
            </a:r>
            <a:r>
              <a:rPr sz="2400" spc="15" dirty="0">
                <a:latin typeface="Arial"/>
                <a:cs typeface="Arial"/>
              </a:rPr>
              <a:t>, </a:t>
            </a:r>
            <a:r>
              <a:rPr sz="2400" dirty="0">
                <a:latin typeface="Arial"/>
                <a:cs typeface="Arial"/>
              </a:rPr>
              <a:t>and </a:t>
            </a:r>
            <a:r>
              <a:rPr sz="2400" i="1" spc="10" dirty="0">
                <a:latin typeface="Arial"/>
                <a:cs typeface="Arial"/>
              </a:rPr>
              <a:t>Z</a:t>
            </a:r>
            <a:r>
              <a:rPr sz="2400" spc="10" dirty="0">
                <a:latin typeface="Arial"/>
                <a:cs typeface="Arial"/>
              </a:rPr>
              <a:t>,  </a:t>
            </a:r>
            <a:r>
              <a:rPr sz="2400" spc="-5" dirty="0">
                <a:latin typeface="Arial"/>
                <a:cs typeface="Arial"/>
              </a:rPr>
              <a:t>their </a:t>
            </a:r>
            <a:r>
              <a:rPr sz="2400" b="1" spc="-5" dirty="0">
                <a:latin typeface="Arial"/>
                <a:cs typeface="Arial"/>
              </a:rPr>
              <a:t>joint density function </a:t>
            </a:r>
            <a:r>
              <a:rPr sz="2400" dirty="0">
                <a:latin typeface="Arial"/>
                <a:cs typeface="Arial"/>
              </a:rPr>
              <a:t>is a </a:t>
            </a:r>
            <a:r>
              <a:rPr sz="2400" spc="-5" dirty="0">
                <a:latin typeface="Arial"/>
                <a:cs typeface="Arial"/>
              </a:rPr>
              <a:t>function of three variables  </a:t>
            </a:r>
            <a:r>
              <a:rPr sz="2400" dirty="0">
                <a:latin typeface="Arial"/>
                <a:cs typeface="Arial"/>
              </a:rPr>
              <a:t>such </a:t>
            </a:r>
            <a:r>
              <a:rPr sz="2400" spc="-5" dirty="0">
                <a:latin typeface="Arial"/>
                <a:cs typeface="Arial"/>
              </a:rPr>
              <a:t>that the probability that </a:t>
            </a:r>
            <a:r>
              <a:rPr sz="2400" spc="10" dirty="0">
                <a:latin typeface="Arial"/>
                <a:cs typeface="Arial"/>
              </a:rPr>
              <a:t>(</a:t>
            </a:r>
            <a:r>
              <a:rPr sz="2400" i="1" spc="10" dirty="0">
                <a:latin typeface="Arial"/>
                <a:cs typeface="Arial"/>
              </a:rPr>
              <a:t>X</a:t>
            </a:r>
            <a:r>
              <a:rPr sz="2400" spc="10" dirty="0">
                <a:latin typeface="Arial"/>
                <a:cs typeface="Arial"/>
              </a:rPr>
              <a:t>, </a:t>
            </a:r>
            <a:r>
              <a:rPr sz="2400" i="1" dirty="0">
                <a:latin typeface="Arial"/>
                <a:cs typeface="Arial"/>
              </a:rPr>
              <a:t>Y</a:t>
            </a:r>
            <a:r>
              <a:rPr sz="2400" dirty="0">
                <a:latin typeface="Arial"/>
                <a:cs typeface="Arial"/>
              </a:rPr>
              <a:t>, </a:t>
            </a:r>
            <a:r>
              <a:rPr sz="2400" i="1" spc="-5" dirty="0">
                <a:latin typeface="Arial"/>
                <a:cs typeface="Arial"/>
              </a:rPr>
              <a:t>Z</a:t>
            </a:r>
            <a:r>
              <a:rPr sz="2400" spc="-5" dirty="0">
                <a:latin typeface="Arial"/>
                <a:cs typeface="Arial"/>
              </a:rPr>
              <a:t>) lies </a:t>
            </a:r>
            <a:r>
              <a:rPr sz="2400" dirty="0">
                <a:latin typeface="Arial"/>
                <a:cs typeface="Arial"/>
              </a:rPr>
              <a:t>in </a:t>
            </a:r>
            <a:r>
              <a:rPr sz="2400" i="1" dirty="0">
                <a:latin typeface="Arial"/>
                <a:cs typeface="Arial"/>
              </a:rPr>
              <a:t>E</a:t>
            </a:r>
            <a:r>
              <a:rPr sz="2400" i="1" spc="20" dirty="0">
                <a:latin typeface="Arial"/>
                <a:cs typeface="Arial"/>
              </a:rPr>
              <a:t> </a:t>
            </a:r>
            <a:r>
              <a:rPr sz="2400" spc="10" dirty="0">
                <a:latin typeface="Arial"/>
                <a:cs typeface="Arial"/>
              </a:rPr>
              <a:t>is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80474" y="453643"/>
            <a:ext cx="910674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Applications of Triple</a:t>
            </a:r>
            <a:r>
              <a:rPr spc="-50" dirty="0"/>
              <a:t> </a:t>
            </a:r>
            <a:r>
              <a:rPr spc="-5" dirty="0"/>
              <a:t>Integrals</a:t>
            </a:r>
          </a:p>
        </p:txBody>
      </p:sp>
      <p:sp>
        <p:nvSpPr>
          <p:cNvPr id="5" name="object 5"/>
          <p:cNvSpPr/>
          <p:nvPr/>
        </p:nvSpPr>
        <p:spPr>
          <a:xfrm>
            <a:off x="4327871" y="2556986"/>
            <a:ext cx="3620023" cy="7045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69518" y="5133960"/>
            <a:ext cx="6060997" cy="6932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11418486" y="6431090"/>
            <a:ext cx="407245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2090"/>
              </a:lnSpc>
            </a:pPr>
            <a:fld id="{81D60167-4931-47E6-BA6A-407CBD079E47}" type="slidenum">
              <a:rPr dirty="0"/>
              <a:pPr marL="25400">
                <a:lnSpc>
                  <a:spcPts val="2090"/>
                </a:lnSpc>
              </a:pPr>
              <a:t>36</a:t>
            </a:fld>
            <a:endParaRPr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4588" y="1477772"/>
            <a:ext cx="2269913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In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particular,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4588" y="3230372"/>
            <a:ext cx="6110393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The joint density function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satisfies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80474" y="453643"/>
            <a:ext cx="910674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Applications of Triple</a:t>
            </a:r>
            <a:r>
              <a:rPr spc="-50" dirty="0"/>
              <a:t> </a:t>
            </a:r>
            <a:r>
              <a:rPr spc="-5" dirty="0"/>
              <a:t>Integrals</a:t>
            </a:r>
          </a:p>
        </p:txBody>
      </p:sp>
      <p:sp>
        <p:nvSpPr>
          <p:cNvPr id="5" name="object 5"/>
          <p:cNvSpPr/>
          <p:nvPr/>
        </p:nvSpPr>
        <p:spPr>
          <a:xfrm>
            <a:off x="1047596" y="2268266"/>
            <a:ext cx="10693835" cy="4993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25247" y="4228823"/>
            <a:ext cx="8560941" cy="5008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11418486" y="6431090"/>
            <a:ext cx="407245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2090"/>
              </a:lnSpc>
            </a:pPr>
            <a:fld id="{81D60167-4931-47E6-BA6A-407CBD079E47}" type="slidenum">
              <a:rPr dirty="0"/>
              <a:pPr marL="25400">
                <a:lnSpc>
                  <a:spcPts val="2090"/>
                </a:lnSpc>
              </a:pPr>
              <a:t>37</a:t>
            </a:fld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C00000"/>
          </a:solidFill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latin typeface="+mn-lt"/>
              </a:rPr>
              <a:t>References</a:t>
            </a:r>
            <a:endParaRPr lang="en-US" sz="32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24" y="1734184"/>
            <a:ext cx="6881949" cy="4562113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dirty="0" smtClean="0"/>
              <a:t>Books</a:t>
            </a:r>
          </a:p>
          <a:p>
            <a:r>
              <a:rPr lang="en-US" dirty="0" smtClean="0"/>
              <a:t>(</a:t>
            </a:r>
            <a:r>
              <a:rPr lang="en-US" dirty="0" err="1" smtClean="0"/>
              <a:t>i</a:t>
            </a:r>
            <a:r>
              <a:rPr lang="en-US" dirty="0" smtClean="0"/>
              <a:t>)</a:t>
            </a:r>
            <a:r>
              <a:rPr lang="en-US" b="1" dirty="0" smtClean="0"/>
              <a:t>B. S. </a:t>
            </a:r>
            <a:r>
              <a:rPr lang="en-US" b="1" dirty="0" err="1" smtClean="0"/>
              <a:t>Grewal</a:t>
            </a:r>
            <a:r>
              <a:rPr lang="en-US" b="1" dirty="0" smtClean="0"/>
              <a:t>, “Higher Engineering Mathematics”, </a:t>
            </a:r>
            <a:r>
              <a:rPr lang="en-US" b="1" dirty="0" err="1" smtClean="0"/>
              <a:t>Khanna</a:t>
            </a:r>
            <a:r>
              <a:rPr lang="en-US" b="1" dirty="0" smtClean="0"/>
              <a:t> Publication, 2016.(</a:t>
            </a:r>
            <a:r>
              <a:rPr lang="en-US" dirty="0" smtClean="0"/>
              <a:t> </a:t>
            </a:r>
            <a:r>
              <a:rPr lang="en-US" u="sng" dirty="0" smtClean="0">
                <a:hlinkClick r:id="rId2"/>
              </a:rPr>
              <a:t>https://www.scribd.com/document/323240170/Higher-Engineering-Mathematics-Dr-B-S-Grewal-Khanna-Publishers-pdf</a:t>
            </a:r>
            <a:r>
              <a:rPr lang="en-US" dirty="0" smtClean="0"/>
              <a:t>)</a:t>
            </a:r>
            <a:r>
              <a:rPr lang="en-US" b="1" dirty="0" smtClean="0"/>
              <a:t> </a:t>
            </a:r>
            <a:endParaRPr lang="en-US" dirty="0" smtClean="0"/>
          </a:p>
          <a:p>
            <a:r>
              <a:rPr lang="en-US" b="1" dirty="0" smtClean="0"/>
              <a:t>(ii) P. N. </a:t>
            </a:r>
            <a:r>
              <a:rPr lang="en-US" b="1" dirty="0" err="1" smtClean="0"/>
              <a:t>Wartikar</a:t>
            </a:r>
            <a:r>
              <a:rPr lang="en-US" b="1" dirty="0" smtClean="0"/>
              <a:t> and J. N. </a:t>
            </a:r>
            <a:r>
              <a:rPr lang="en-US" b="1" dirty="0" err="1" smtClean="0"/>
              <a:t>Wartikar</a:t>
            </a:r>
            <a:r>
              <a:rPr lang="en-US" b="1" dirty="0" smtClean="0"/>
              <a:t>, “Applied Mathematics”, Prentice Hall India, 1999.  </a:t>
            </a:r>
            <a:r>
              <a:rPr lang="en-US" dirty="0" smtClean="0"/>
              <a:t> </a:t>
            </a:r>
          </a:p>
          <a:p>
            <a:pPr>
              <a:buNone/>
            </a:pPr>
            <a:r>
              <a:rPr lang="en-US" dirty="0" smtClean="0"/>
              <a:t>Websites</a:t>
            </a:r>
          </a:p>
          <a:p>
            <a:pPr lvl="0"/>
            <a:r>
              <a:rPr lang="en-US" u="sng" dirty="0" smtClean="0">
                <a:hlinkClick r:id="rId3"/>
              </a:rPr>
              <a:t>https://en.wikipedia.org/wiki/Evolute</a:t>
            </a:r>
            <a:endParaRPr lang="en-US" dirty="0" smtClean="0"/>
          </a:p>
          <a:p>
            <a:r>
              <a:rPr lang="en-US" u="sng" dirty="0" smtClean="0">
                <a:hlinkClick r:id="rId4"/>
              </a:rPr>
              <a:t>http://www.sakshieducation.com/Engg/EnggAcademia/CommonSubjects/M1-CurvatureEvolutes&amp;EnvelopesCurveTracing.pdf</a:t>
            </a:r>
            <a:endParaRPr lang="en-US" u="sng" dirty="0" smtClean="0"/>
          </a:p>
          <a:p>
            <a:pPr>
              <a:buNone/>
            </a:pPr>
            <a:r>
              <a:rPr lang="en-US" dirty="0" smtClean="0"/>
              <a:t>Video Links</a:t>
            </a:r>
          </a:p>
          <a:p>
            <a:pPr lvl="0"/>
            <a:r>
              <a:rPr lang="en-US" u="sng" dirty="0" smtClean="0">
                <a:hlinkClick r:id="rId5"/>
              </a:rPr>
              <a:t>https://youtu.be/H9xxLXYSrCw</a:t>
            </a:r>
            <a:endParaRPr lang="en-US" dirty="0" smtClean="0"/>
          </a:p>
          <a:p>
            <a:pPr lvl="0"/>
            <a:r>
              <a:rPr lang="en-US" u="sng" dirty="0" smtClean="0">
                <a:hlinkClick r:id="rId6"/>
              </a:rPr>
              <a:t>https://youtu.be/WmhOVyQVveQ</a:t>
            </a:r>
            <a:r>
              <a:rPr lang="en-US" dirty="0" smtClean="0"/>
              <a:t> </a:t>
            </a:r>
          </a:p>
          <a:p>
            <a:pPr>
              <a:buNone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38</a:t>
            </a:fld>
            <a:endParaRPr lang="en-US"/>
          </a:p>
        </p:txBody>
      </p:sp>
      <p:pic>
        <p:nvPicPr>
          <p:cNvPr id="137218" name="Picture 2" descr="C:\Users\hi-tech\Desktop\b.JP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7989090" y="1962687"/>
            <a:ext cx="3415553" cy="425523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=""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=""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=""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=""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=""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=""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39" name="CorelDRAW" r:id="rId3" imgW="2169000" imgH="2169360" progId="">
                    <p:embed/>
                  </p:oleObj>
                </mc:Choice>
                <mc:Fallback>
                  <p:oleObj name="CorelDRAW" r:id="rId3" imgW="2169000" imgH="2169360" progId="">
                    <p:embed/>
                    <p:pic>
                      <p:nvPicPr>
                        <p:cNvPr id="0" name="Picture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1930</TotalTime>
  <Words>2074</Words>
  <Application>Microsoft Office PowerPoint</Application>
  <PresentationFormat>Widescreen</PresentationFormat>
  <Paragraphs>398</Paragraphs>
  <Slides>39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54" baseType="lpstr">
      <vt:lpstr>Arial Unicode MS</vt:lpstr>
      <vt:lpstr>Arial</vt:lpstr>
      <vt:lpstr>Arial Black</vt:lpstr>
      <vt:lpstr>Calibri</vt:lpstr>
      <vt:lpstr>Calibri Light</vt:lpstr>
      <vt:lpstr>Casper</vt:lpstr>
      <vt:lpstr>Karla</vt:lpstr>
      <vt:lpstr>Raleway ExtraBold</vt:lpstr>
      <vt:lpstr>Segoe UI</vt:lpstr>
      <vt:lpstr>Symbol</vt:lpstr>
      <vt:lpstr>Times New Roman</vt:lpstr>
      <vt:lpstr>Wingdings</vt:lpstr>
      <vt:lpstr>1_Office Theme</vt:lpstr>
      <vt:lpstr>Contents Slide Master</vt:lpstr>
      <vt:lpstr>CorelDRAW</vt:lpstr>
      <vt:lpstr>PowerPoint Presentation</vt:lpstr>
      <vt:lpstr>COURSE OUTCOMES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Triple Integrals</vt:lpstr>
      <vt:lpstr>Triple Integrals</vt:lpstr>
      <vt:lpstr>Triple Integrals</vt:lpstr>
      <vt:lpstr>  Example 1</vt:lpstr>
      <vt:lpstr>  Example 1 – Solution</vt:lpstr>
      <vt:lpstr>Triple Integrals in Cartesian Coordinates</vt:lpstr>
      <vt:lpstr>PowerPoint Presentation</vt:lpstr>
      <vt:lpstr>V  D dxdydz</vt:lpstr>
      <vt:lpstr>PowerPoint Presentation</vt:lpstr>
      <vt:lpstr>PowerPoint Presentation</vt:lpstr>
      <vt:lpstr>Cylindrical Coordinates</vt:lpstr>
      <vt:lpstr>Differential length  :</vt:lpstr>
      <vt:lpstr>Triple Integrals in Cylindrical Coordinates</vt:lpstr>
      <vt:lpstr>x2</vt:lpstr>
      <vt:lpstr>Spherical Coordinates</vt:lpstr>
      <vt:lpstr>   Triple Integrals in      Spherical Coordinates</vt:lpstr>
      <vt:lpstr>PowerPoint Presentation</vt:lpstr>
      <vt:lpstr>PowerPoint Presentation</vt:lpstr>
      <vt:lpstr>Triple Integrals</vt:lpstr>
      <vt:lpstr>Applications of Triple Integrals</vt:lpstr>
      <vt:lpstr>  Applications of Triple Integrals</vt:lpstr>
      <vt:lpstr>  Applications of Triple Integrals</vt:lpstr>
      <vt:lpstr>   Example</vt:lpstr>
      <vt:lpstr> Example – Solution</vt:lpstr>
      <vt:lpstr>Applications of Triple Integrals</vt:lpstr>
      <vt:lpstr>Applications of Triple Integrals</vt:lpstr>
      <vt:lpstr>Applications of Triple Integrals</vt:lpstr>
      <vt:lpstr>Applications of Triple Integrals</vt:lpstr>
      <vt:lpstr>References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Rabdeep</cp:lastModifiedBy>
  <cp:revision>279</cp:revision>
  <dcterms:created xsi:type="dcterms:W3CDTF">2019-01-09T10:33:58Z</dcterms:created>
  <dcterms:modified xsi:type="dcterms:W3CDTF">2024-01-07T08:29:49Z</dcterms:modified>
</cp:coreProperties>
</file>