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6"/>
  </p:notesMasterIdLst>
  <p:sldIdLst>
    <p:sldId id="256" r:id="rId2"/>
    <p:sldId id="283" r:id="rId3"/>
    <p:sldId id="284" r:id="rId4"/>
    <p:sldId id="346" r:id="rId5"/>
    <p:sldId id="387" r:id="rId6"/>
    <p:sldId id="388" r:id="rId7"/>
    <p:sldId id="364" r:id="rId8"/>
    <p:sldId id="384" r:id="rId9"/>
    <p:sldId id="386" r:id="rId10"/>
    <p:sldId id="261" r:id="rId11"/>
    <p:sldId id="262" r:id="rId12"/>
    <p:sldId id="263" r:id="rId13"/>
    <p:sldId id="400" r:id="rId14"/>
    <p:sldId id="265" r:id="rId15"/>
    <p:sldId id="266" r:id="rId16"/>
    <p:sldId id="398" r:id="rId17"/>
    <p:sldId id="268" r:id="rId18"/>
    <p:sldId id="399" r:id="rId19"/>
    <p:sldId id="269" r:id="rId20"/>
    <p:sldId id="270" r:id="rId21"/>
    <p:sldId id="271" r:id="rId22"/>
    <p:sldId id="272" r:id="rId23"/>
    <p:sldId id="274" r:id="rId24"/>
    <p:sldId id="279" r:id="rId25"/>
    <p:sldId id="395" r:id="rId26"/>
    <p:sldId id="396" r:id="rId27"/>
    <p:sldId id="280" r:id="rId28"/>
    <p:sldId id="292" r:id="rId29"/>
    <p:sldId id="287" r:id="rId30"/>
    <p:sldId id="288" r:id="rId31"/>
    <p:sldId id="300" r:id="rId32"/>
    <p:sldId id="301" r:id="rId33"/>
    <p:sldId id="307" r:id="rId34"/>
    <p:sldId id="305" r:id="rId35"/>
  </p:sldIdLst>
  <p:sldSz cx="9144000" cy="5143500" type="screen16x9"/>
  <p:notesSz cx="6858000" cy="9144000"/>
  <p:embeddedFontLst>
    <p:embeddedFont>
      <p:font typeface="Arial Black" panose="020B0A04020102020204" pitchFamily="34" charset="0"/>
      <p:bold r:id="rId37"/>
    </p:embeddedFont>
    <p:embeddedFont>
      <p:font typeface="Cambria" panose="02040503050406030204" pitchFamily="18" charset="0"/>
      <p:regular r:id="rId38"/>
      <p:bold r:id="rId39"/>
      <p:italic r:id="rId40"/>
      <p:boldItalic r:id="rId41"/>
    </p:embeddedFont>
    <p:embeddedFont>
      <p:font typeface="Cambria Math" panose="02040503050406030204" pitchFamily="18" charset="0"/>
      <p:regular r:id="rId42"/>
    </p:embeddedFont>
    <p:embeddedFont>
      <p:font typeface="Lato" panose="020F0502020204030203" pitchFamily="34" charset="0"/>
      <p:regular r:id="rId43"/>
      <p:bold r:id="rId44"/>
      <p:italic r:id="rId45"/>
      <p:boldItalic r:id="rId46"/>
    </p:embeddedFont>
    <p:embeddedFont>
      <p:font typeface="Vladimir Script" panose="03050402040407070305" pitchFamily="66" charset="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37" autoAdjust="0"/>
  </p:normalViewPr>
  <p:slideViewPr>
    <p:cSldViewPr snapToGrid="0">
      <p:cViewPr varScale="1">
        <p:scale>
          <a:sx n="102" d="100"/>
          <a:sy n="102" d="100"/>
        </p:scale>
        <p:origin x="898"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A372F58-B768-6479-9ED4-231ABFBAFC1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9F8A51-43DF-FAB8-9D31-F7DFABF9A2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5FECEDFC-D3CA-4766-DF21-08B560A1F1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9919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BB63D35-EB88-A04F-2DEE-71DA82B1DD9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58AA1D-DF23-4A33-0648-E19DDCCA16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252EFA2D-1F6A-3C95-E152-CA2BC40B1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5943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AC8334-8435-597A-6005-64015906922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966BDE4D-504A-E452-0434-80E8925704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463F824E-6753-EC86-B124-3B47586E72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59734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6F4A333-401D-5662-CF0D-371C569A967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B7A0E49-D9AE-782A-3374-10A9D14967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DB723CF9-A0F4-1676-2CBE-6B918F2E0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5813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6521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5BCAD085-E8A6-8845-BD4E-CB4CCA059FC4}" type="datetimeFigureOut">
              <a:rPr lang="en-US" smtClean="0"/>
              <a:t>12/20/2025</a:t>
            </a:fld>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8553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 id="2147483664" r:id="rId1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artificial-intelligence/artificial-intelligence-101/"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geeksforgeeks.org/machine-learning/optimization-algorithms-in-machine-learning/" TargetMode="External"/><Relationship Id="rId5" Type="http://schemas.openxmlformats.org/officeDocument/2006/relationships/hyperlink" Target="https://www.simplilearn.com/local-search-algorithms-in-ai-article" TargetMode="External"/><Relationship Id="rId4" Type="http://schemas.openxmlformats.org/officeDocument/2006/relationships/hyperlink" Target="https://www.geeksforgeeks.org/artificial-intelligence/local-search-algorithm-in-artificial-intelligence/"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tutorialspoint.com/artificial_intelligence/artificial_intelligence_overview.htm"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818521" y="766649"/>
            <a:ext cx="8213400" cy="4764854"/>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DEPARTMENT NAME-UIE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PROGRAM NAME:-Bachelor of Engineering</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SPECIALIZATION/ SEMESTER-6th</a:t>
            </a:r>
            <a:endParaRPr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IN" sz="24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SUBJECT </a:t>
            </a:r>
            <a:r>
              <a:rPr lang="en-IN" sz="2400" b="1" dirty="0">
                <a:solidFill>
                  <a:schemeClr val="bg2"/>
                </a:solidFill>
                <a:latin typeface="Calibri" panose="020F0502020204030204" pitchFamily="34" charset="0"/>
                <a:ea typeface="Calibri" panose="020F0502020204030204" pitchFamily="34" charset="0"/>
                <a:cs typeface="Calibri" panose="020F0502020204030204" pitchFamily="34" charset="0"/>
              </a:rPr>
              <a:t>NAME:-Principles of Artificial Intelligence</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(SUBJECT CODE-23CST-306)</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No.2                 Chapter No.1                  Lecture No.13 and 14</a:t>
            </a:r>
          </a:p>
          <a:p>
            <a:pPr lvl="0">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:Informed and Uninformed Search Techniques in Artificial Intelligence</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Faculty Name-</a:t>
            </a:r>
            <a:r>
              <a:rPr lang="en-US" sz="1800" b="1" dirty="0" err="1">
                <a:latin typeface="Calibri" panose="020F0502020204030204" pitchFamily="34" charset="0"/>
                <a:ea typeface="Calibri" panose="020F0502020204030204" pitchFamily="34" charset="0"/>
                <a:cs typeface="Calibri" panose="020F0502020204030204" pitchFamily="34" charset="0"/>
              </a:rPr>
              <a:t>Er.Parveen</a:t>
            </a:r>
            <a:r>
              <a:rPr lang="en-US" sz="1800" b="1" dirty="0">
                <a:latin typeface="Calibri" panose="020F0502020204030204" pitchFamily="34" charset="0"/>
                <a:ea typeface="Calibri" panose="020F0502020204030204" pitchFamily="34" charset="0"/>
                <a:cs typeface="Calibri" panose="020F0502020204030204" pitchFamily="34" charset="0"/>
              </a:rPr>
              <a:t> kumar saini and </a:t>
            </a:r>
            <a:r>
              <a:rPr lang="en-US" sz="1800" b="1" dirty="0" err="1">
                <a:latin typeface="Calibri" panose="020F0502020204030204" pitchFamily="34" charset="0"/>
                <a:ea typeface="Calibri" panose="020F0502020204030204" pitchFamily="34" charset="0"/>
                <a:cs typeface="Calibri" panose="020F0502020204030204" pitchFamily="34" charset="0"/>
              </a:rPr>
              <a:t>E_Code</a:t>
            </a:r>
            <a:r>
              <a:rPr lang="en-US" sz="1800" b="1" dirty="0">
                <a:latin typeface="Calibri" panose="020F0502020204030204" pitchFamily="34" charset="0"/>
                <a:ea typeface="Calibri" panose="020F0502020204030204" pitchFamily="34" charset="0"/>
                <a:cs typeface="Calibri" panose="020F0502020204030204" pitchFamily="34" charset="0"/>
              </a:rPr>
              <a:t> -13339  Designation-AP</a:t>
            </a:r>
          </a:p>
          <a:p>
            <a:pPr>
              <a:spcBef>
                <a:spcPts val="1120"/>
              </a:spcBef>
              <a:buSzPts val="3200"/>
            </a:pPr>
            <a:endParaRPr lang="en-US" sz="32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82F60C0-9493-6D30-C2FB-A190B5DAFBD4}"/>
              </a:ext>
            </a:extLst>
          </p:cNvPr>
          <p:cNvSpPr txBox="1"/>
          <p:nvPr/>
        </p:nvSpPr>
        <p:spPr>
          <a:xfrm>
            <a:off x="83125" y="1082770"/>
            <a:ext cx="8942119" cy="3139281"/>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r>
              <a:rPr lang="en-US" sz="2000" dirty="0"/>
              <a:t>Understanding he concept, working principles, and importance of local search algorithms and explain how they differ from global and exhaustive search techniques.</a:t>
            </a:r>
          </a:p>
          <a:p>
            <a:pPr marL="457200" lvl="0" indent="-457200" algn="just">
              <a:lnSpc>
                <a:spcPct val="90000"/>
              </a:lnSpc>
              <a:buFont typeface="Arial" panose="020B0604020202020204" pitchFamily="34" charset="0"/>
              <a:buChar char="•"/>
            </a:pPr>
            <a:r>
              <a:rPr lang="en-US" sz="2000" dirty="0"/>
              <a:t>Understanding and compare different local search and optimization algorithms (Hill Climbing, Simulated Annealing, Genetic Algorithms, Tabu Search, Gradient Descent, Evolutionary and Metaheuristic methods) based on their process, advantages, limitations, and suitable use cases.</a:t>
            </a:r>
          </a:p>
          <a:p>
            <a:pPr marL="457200" lvl="0" indent="-457200" algn="just">
              <a:lnSpc>
                <a:spcPct val="90000"/>
              </a:lnSpc>
              <a:buFont typeface="Arial" panose="020B0604020202020204" pitchFamily="34" charset="0"/>
              <a:buChar char="•"/>
            </a:pPr>
            <a:r>
              <a:rPr lang="en-US" sz="2000" dirty="0"/>
              <a:t>Understanding the local search or optimization algorithms to real-world problems such as scheduling, routing, resource allocation, and machine learning model tuning, justifying the choice of algorithm for a given problem scenario.</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Tree>
    <p:extLst>
      <p:ext uri="{BB962C8B-B14F-4D97-AF65-F5344CB8AC3E}">
        <p14:creationId xmlns:p14="http://schemas.microsoft.com/office/powerpoint/2010/main" val="1639758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Recap of Previous Lecture</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3427E39E-1443-8E67-323E-AC3515D4A144}"/>
              </a:ext>
            </a:extLst>
          </p:cNvPr>
          <p:cNvSpPr txBox="1"/>
          <p:nvPr/>
        </p:nvSpPr>
        <p:spPr>
          <a:xfrm>
            <a:off x="83127" y="1089514"/>
            <a:ext cx="8526397" cy="867890"/>
          </a:xfrm>
          <a:prstGeom prst="rect">
            <a:avLst/>
          </a:prstGeom>
          <a:noFill/>
          <a:ln>
            <a:noFill/>
          </a:ln>
        </p:spPr>
        <p:txBody>
          <a:bodyPr spcFirstLastPara="1" wrap="square" lIns="91425" tIns="45700" rIns="91425" bIns="45700" anchor="t" anchorCtr="0">
            <a:spAutoFit/>
          </a:bodyPr>
          <a:lstStyle/>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Informed and Uninformed Search Techniques in Artificial Intelligence</a:t>
            </a: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21FBDEB-A913-C1B9-948B-6A35B30A8F9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525DBEF-CA7B-47A3-92F8-3679D6387577}"/>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A41BCD14-E6E6-1ADF-D1DD-D2A6AFA033C6}"/>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F1020CC-0566-0A52-43C0-3E230CEE54D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Local Search Algorithm in Artificial Intelligence</a:t>
              </a:r>
            </a:p>
          </p:txBody>
        </p:sp>
      </p:grpSp>
      <p:sp>
        <p:nvSpPr>
          <p:cNvPr id="113" name="Google Shape;113;p2">
            <a:extLst>
              <a:ext uri="{FF2B5EF4-FFF2-40B4-BE49-F238E27FC236}">
                <a16:creationId xmlns:a16="http://schemas.microsoft.com/office/drawing/2014/main" id="{60BEAFEA-0E8E-56E7-C58A-8786E9B24727}"/>
              </a:ext>
            </a:extLst>
          </p:cNvPr>
          <p:cNvSpPr txBox="1"/>
          <p:nvPr/>
        </p:nvSpPr>
        <p:spPr>
          <a:xfrm>
            <a:off x="449704" y="960560"/>
            <a:ext cx="4609475" cy="3222380"/>
          </a:xfrm>
          <a:prstGeom prst="rect">
            <a:avLst/>
          </a:prstGeom>
          <a:noFill/>
          <a:ln>
            <a:noFill/>
          </a:ln>
        </p:spPr>
        <p:txBody>
          <a:bodyPr spcFirstLastPara="1" wrap="square" lIns="91425" tIns="45700" rIns="91425" bIns="45700" anchor="t" anchorCtr="0">
            <a:spAutoFit/>
          </a:bodyPr>
          <a:lstStyle/>
          <a:p>
            <a:pPr marL="457200" indent="-457200" algn="just">
              <a:lnSpc>
                <a:spcPct val="90000"/>
              </a:lnSpc>
              <a:buFont typeface="Arial" panose="020B0604020202020204" pitchFamily="34" charset="0"/>
              <a:buChar char="•"/>
            </a:pPr>
            <a:r>
              <a:rPr lang="en-US" sz="1600" dirty="0"/>
              <a:t>Local search algorithms are important in artificial intelligence as they can quickly find good answers, especially when finding the perfect solution would take too long or too much effort. </a:t>
            </a:r>
          </a:p>
          <a:p>
            <a:pPr marL="457200" indent="-457200" algn="just">
              <a:lnSpc>
                <a:spcPct val="90000"/>
              </a:lnSpc>
              <a:buFont typeface="Arial" panose="020B0604020202020204" pitchFamily="34" charset="0"/>
              <a:buChar char="•"/>
            </a:pPr>
            <a:r>
              <a:rPr lang="en-US" sz="1600" dirty="0"/>
              <a:t>They are useful for big or complex problems where checking every possible option isn't practical.</a:t>
            </a:r>
          </a:p>
          <a:p>
            <a:pPr marL="457200" indent="-457200" algn="just">
              <a:lnSpc>
                <a:spcPct val="90000"/>
              </a:lnSpc>
              <a:buFont typeface="Arial" panose="020B0604020202020204" pitchFamily="34" charset="0"/>
              <a:buChar char="•"/>
            </a:pPr>
            <a:r>
              <a:rPr lang="en-US" sz="1600" dirty="0"/>
              <a:t>It focus only on the current solution and the ones directly related to it rather than looking everywhere.</a:t>
            </a:r>
          </a:p>
          <a:p>
            <a:pPr marL="457200" indent="-457200" algn="just">
              <a:lnSpc>
                <a:spcPct val="90000"/>
              </a:lnSpc>
              <a:buFont typeface="Arial" panose="020B0604020202020204" pitchFamily="34" charset="0"/>
              <a:buChar char="•"/>
            </a:pPr>
            <a:r>
              <a:rPr lang="en-US" sz="1600" dirty="0"/>
              <a:t>Ideal for real-world tasks like puzzles, timetables or route finding.</a:t>
            </a:r>
          </a:p>
          <a:p>
            <a:pPr marL="457200" indent="-457200" algn="just">
              <a:lnSpc>
                <a:spcPct val="90000"/>
              </a:lnSpc>
              <a:buFont typeface="Arial" panose="020B0604020202020204" pitchFamily="34" charset="0"/>
              <a:buChar char="•"/>
            </a:pPr>
            <a:endParaRPr lang="en-US" sz="1800" dirty="0"/>
          </a:p>
        </p:txBody>
      </p:sp>
      <p:sp>
        <p:nvSpPr>
          <p:cNvPr id="6" name="TextBox 5">
            <a:extLst>
              <a:ext uri="{FF2B5EF4-FFF2-40B4-BE49-F238E27FC236}">
                <a16:creationId xmlns:a16="http://schemas.microsoft.com/office/drawing/2014/main" id="{E57CCFEE-FB5C-2756-D387-5566C80C68A0}"/>
              </a:ext>
            </a:extLst>
          </p:cNvPr>
          <p:cNvSpPr txBox="1"/>
          <p:nvPr/>
        </p:nvSpPr>
        <p:spPr>
          <a:xfrm>
            <a:off x="5449423" y="4154971"/>
            <a:ext cx="3597142" cy="307777"/>
          </a:xfrm>
          <a:prstGeom prst="rect">
            <a:avLst/>
          </a:prstGeom>
          <a:noFill/>
        </p:spPr>
        <p:txBody>
          <a:bodyPr wrap="square">
            <a:spAutoFit/>
          </a:bodyPr>
          <a:lstStyle/>
          <a:p>
            <a:pPr algn="just"/>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 Local search  </a:t>
            </a:r>
            <a:endParaRPr lang="en-IN" b="1" dirty="0"/>
          </a:p>
        </p:txBody>
      </p:sp>
      <p:sp>
        <p:nvSpPr>
          <p:cNvPr id="8" name="TextBox 7">
            <a:extLst>
              <a:ext uri="{FF2B5EF4-FFF2-40B4-BE49-F238E27FC236}">
                <a16:creationId xmlns:a16="http://schemas.microsoft.com/office/drawing/2014/main" id="{89FEF5F2-9B19-7CFA-F900-4BB804E835F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4" name="Rectangle 3">
            <a:extLst>
              <a:ext uri="{FF2B5EF4-FFF2-40B4-BE49-F238E27FC236}">
                <a16:creationId xmlns:a16="http://schemas.microsoft.com/office/drawing/2014/main" id="{E7C12422-1B4D-E991-D772-21D6183AFDD8}"/>
              </a:ext>
            </a:extLst>
          </p:cNvPr>
          <p:cNvSpPr/>
          <p:nvPr/>
        </p:nvSpPr>
        <p:spPr>
          <a:xfrm>
            <a:off x="97436" y="4222006"/>
            <a:ext cx="7532557" cy="554447"/>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https://www.geeksforgeeks.org/artificial-intelligence/local-search-algorithm-in-artificial-intelligence/</a:t>
            </a:r>
          </a:p>
        </p:txBody>
      </p:sp>
      <p:pic>
        <p:nvPicPr>
          <p:cNvPr id="5" name="Picture 4" descr="A digital map of a city&#10;&#10;AI-generated content may be incorrect.">
            <a:extLst>
              <a:ext uri="{FF2B5EF4-FFF2-40B4-BE49-F238E27FC236}">
                <a16:creationId xmlns:a16="http://schemas.microsoft.com/office/drawing/2014/main" id="{3D42464D-81F9-7687-82C6-9E4F4CC7C0E9}"/>
              </a:ext>
            </a:extLst>
          </p:cNvPr>
          <p:cNvPicPr>
            <a:picLocks noChangeAspect="1"/>
          </p:cNvPicPr>
          <p:nvPr/>
        </p:nvPicPr>
        <p:blipFill>
          <a:blip r:embed="rId3"/>
          <a:stretch>
            <a:fillRect/>
          </a:stretch>
        </p:blipFill>
        <p:spPr>
          <a:xfrm>
            <a:off x="5449423" y="776570"/>
            <a:ext cx="3543632" cy="3311692"/>
          </a:xfrm>
          <a:prstGeom prst="rect">
            <a:avLst/>
          </a:prstGeom>
        </p:spPr>
      </p:pic>
    </p:spTree>
    <p:extLst>
      <p:ext uri="{BB962C8B-B14F-4D97-AF65-F5344CB8AC3E}">
        <p14:creationId xmlns:p14="http://schemas.microsoft.com/office/powerpoint/2010/main" val="3017234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72D2616-980D-F33A-6B06-350312E0DBB4}"/>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F027BEB-287B-F914-06B5-0581FD7888D2}"/>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6CFF82B2-5135-297D-24AA-1229BF00DB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A0EDD6DA-2AD1-B60C-D90A-998AA7B39FB1}"/>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Working of Local Search Algorithms</a:t>
              </a:r>
            </a:p>
          </p:txBody>
        </p:sp>
      </p:grpSp>
      <p:sp>
        <p:nvSpPr>
          <p:cNvPr id="113" name="Google Shape;113;p2">
            <a:extLst>
              <a:ext uri="{FF2B5EF4-FFF2-40B4-BE49-F238E27FC236}">
                <a16:creationId xmlns:a16="http://schemas.microsoft.com/office/drawing/2014/main" id="{C76F4378-B2F9-D560-3778-BB9D7EB73A87}"/>
              </a:ext>
            </a:extLst>
          </p:cNvPr>
          <p:cNvSpPr txBox="1"/>
          <p:nvPr/>
        </p:nvSpPr>
        <p:spPr>
          <a:xfrm>
            <a:off x="1004341" y="776569"/>
            <a:ext cx="7889235" cy="2711471"/>
          </a:xfrm>
          <a:prstGeom prst="rect">
            <a:avLst/>
          </a:prstGeom>
          <a:noFill/>
          <a:ln>
            <a:noFill/>
          </a:ln>
        </p:spPr>
        <p:txBody>
          <a:bodyPr spcFirstLastPara="1" wrap="square" lIns="91425" tIns="45700" rIns="91425" bIns="45700" anchor="t" anchorCtr="0">
            <a:spAutoFit/>
          </a:bodyPr>
          <a:lstStyle/>
          <a:p>
            <a:r>
              <a:rPr lang="en-IN" b="1" dirty="0"/>
              <a:t>Step 1: Pick a starting point:</a:t>
            </a:r>
            <a:r>
              <a:rPr lang="en-IN" dirty="0"/>
              <a:t> Start with a possible solution which is often random but sometimes based on rule.</a:t>
            </a:r>
          </a:p>
          <a:p>
            <a:endParaRPr lang="en-IN" dirty="0"/>
          </a:p>
          <a:p>
            <a:r>
              <a:rPr lang="en-IN" b="1" dirty="0"/>
              <a:t>Step 2: Find the </a:t>
            </a:r>
            <a:r>
              <a:rPr lang="en-IN" b="1" dirty="0" err="1"/>
              <a:t>neighbors</a:t>
            </a:r>
            <a:r>
              <a:rPr lang="en-IN" b="1" dirty="0"/>
              <a:t>:</a:t>
            </a:r>
            <a:endParaRPr lang="en-IN" dirty="0"/>
          </a:p>
          <a:p>
            <a:pPr lvl="0"/>
            <a:r>
              <a:rPr lang="en-IN" dirty="0" err="1"/>
              <a:t>Neighbors</a:t>
            </a:r>
            <a:r>
              <a:rPr lang="en-IN" dirty="0"/>
              <a:t> are similar solutions we can get by making small, simple changes to the current one.</a:t>
            </a:r>
          </a:p>
          <a:p>
            <a:pPr lvl="0"/>
            <a:endParaRPr lang="en-IN" dirty="0"/>
          </a:p>
          <a:p>
            <a:pPr lvl="0"/>
            <a:r>
              <a:rPr lang="en-IN" dirty="0"/>
              <a:t>For example, in a puzzle, swapping two pieces creates a </a:t>
            </a:r>
            <a:r>
              <a:rPr lang="en-IN" dirty="0" err="1"/>
              <a:t>neighbor</a:t>
            </a:r>
            <a:r>
              <a:rPr lang="en-IN" dirty="0"/>
              <a:t>.</a:t>
            </a:r>
          </a:p>
          <a:p>
            <a:r>
              <a:rPr lang="en-IN" b="1" dirty="0"/>
              <a:t>Step 3: Compare:</a:t>
            </a:r>
            <a:r>
              <a:rPr lang="en-IN" dirty="0"/>
              <a:t> Look around at all </a:t>
            </a:r>
            <a:r>
              <a:rPr lang="en-IN" dirty="0" err="1"/>
              <a:t>neighbors</a:t>
            </a:r>
            <a:r>
              <a:rPr lang="en-IN" dirty="0"/>
              <a:t> to see if any are better.</a:t>
            </a:r>
          </a:p>
          <a:p>
            <a:r>
              <a:rPr lang="en-IN" b="1" dirty="0"/>
              <a:t>Step 4: Move:</a:t>
            </a:r>
            <a:r>
              <a:rPr lang="en-IN" dirty="0"/>
              <a:t> If a better </a:t>
            </a:r>
            <a:r>
              <a:rPr lang="en-IN" dirty="0" err="1"/>
              <a:t>neighbor</a:t>
            </a:r>
            <a:r>
              <a:rPr lang="en-IN" dirty="0"/>
              <a:t> exists, move to it, making it our new “current” solution.</a:t>
            </a:r>
          </a:p>
          <a:p>
            <a:r>
              <a:rPr lang="en-IN" b="1" dirty="0"/>
              <a:t>Step 5: Repeat:</a:t>
            </a:r>
            <a:r>
              <a:rPr lang="en-IN" dirty="0"/>
              <a:t> Keep searching from the new point, following the same steps.</a:t>
            </a:r>
          </a:p>
          <a:p>
            <a:r>
              <a:rPr lang="en-IN" b="1" dirty="0"/>
              <a:t>Step 6: Stop:</a:t>
            </a:r>
            <a:r>
              <a:rPr lang="en-IN" dirty="0"/>
              <a:t> When none of the </a:t>
            </a:r>
            <a:r>
              <a:rPr lang="en-IN" dirty="0" err="1"/>
              <a:t>neighbors</a:t>
            </a:r>
            <a:r>
              <a:rPr lang="en-IN" dirty="0"/>
              <a:t> are better or after enough tries.</a:t>
            </a:r>
          </a:p>
          <a:p>
            <a:pPr marL="457200" indent="-457200" algn="just">
              <a:lnSpc>
                <a:spcPct val="90000"/>
              </a:lnSpc>
              <a:buFont typeface="Arial" panose="020B0604020202020204" pitchFamily="34" charset="0"/>
              <a:buChar char="•"/>
            </a:pPr>
            <a:endParaRPr lang="en-US" sz="1800" dirty="0"/>
          </a:p>
        </p:txBody>
      </p:sp>
      <p:sp>
        <p:nvSpPr>
          <p:cNvPr id="8" name="TextBox 7">
            <a:extLst>
              <a:ext uri="{FF2B5EF4-FFF2-40B4-BE49-F238E27FC236}">
                <a16:creationId xmlns:a16="http://schemas.microsoft.com/office/drawing/2014/main" id="{F19E52FF-989C-B7E0-C56A-29201433ADA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sp>
        <p:nvSpPr>
          <p:cNvPr id="4" name="Rectangle 3">
            <a:extLst>
              <a:ext uri="{FF2B5EF4-FFF2-40B4-BE49-F238E27FC236}">
                <a16:creationId xmlns:a16="http://schemas.microsoft.com/office/drawing/2014/main" id="{65E9BEEA-E94E-55B2-7EE7-F0780D3EDC8E}"/>
              </a:ext>
            </a:extLst>
          </p:cNvPr>
          <p:cNvSpPr/>
          <p:nvPr/>
        </p:nvSpPr>
        <p:spPr>
          <a:xfrm>
            <a:off x="97436" y="4222006"/>
            <a:ext cx="8927809" cy="554447"/>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https://www.geeksforgeeks.org/artificial-intelligence/local-search-algorithm-in-artificial-intelligence/</a:t>
            </a:r>
          </a:p>
        </p:txBody>
      </p:sp>
    </p:spTree>
    <p:extLst>
      <p:ext uri="{BB962C8B-B14F-4D97-AF65-F5344CB8AC3E}">
        <p14:creationId xmlns:p14="http://schemas.microsoft.com/office/powerpoint/2010/main" val="3707915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56E3BE-EF27-0E97-C065-C0AE4F57ACD1}"/>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309B969E-C36E-9BE2-283A-20A6EFE89717}"/>
              </a:ext>
            </a:extLst>
          </p:cNvPr>
          <p:cNvGrpSpPr/>
          <p:nvPr/>
        </p:nvGrpSpPr>
        <p:grpSpPr>
          <a:xfrm>
            <a:off x="748144" y="218172"/>
            <a:ext cx="8277101" cy="958556"/>
            <a:chOff x="0" y="6299"/>
            <a:chExt cx="5580934" cy="958556"/>
          </a:xfrm>
          <a:noFill/>
        </p:grpSpPr>
        <p:sp>
          <p:nvSpPr>
            <p:cNvPr id="109" name="Google Shape;109;p2">
              <a:extLst>
                <a:ext uri="{FF2B5EF4-FFF2-40B4-BE49-F238E27FC236}">
                  <a16:creationId xmlns:a16="http://schemas.microsoft.com/office/drawing/2014/main" id="{8E65AA5D-0D67-C926-8487-755CE6EFC20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01CF71B-BB0F-FC6B-93FC-C7AD1F17CC92}"/>
                </a:ext>
              </a:extLst>
            </p:cNvPr>
            <p:cNvSpPr txBox="1"/>
            <p:nvPr/>
          </p:nvSpPr>
          <p:spPr>
            <a:xfrm>
              <a:off x="21704" y="28003"/>
              <a:ext cx="5537526" cy="936852"/>
            </a:xfrm>
            <a:prstGeom prst="rect">
              <a:avLst/>
            </a:prstGeom>
            <a:grpFill/>
            <a:ln>
              <a:noFill/>
            </a:ln>
          </p:spPr>
          <p:txBody>
            <a:bodyPr spcFirstLastPara="1" wrap="square" lIns="72375" tIns="72375" rIns="72375" bIns="72375" anchor="ctr" anchorCtr="0">
              <a:noAutofit/>
            </a:bodyPr>
            <a:lstStyle/>
            <a:p>
              <a:pPr algn="ctr">
                <a:lnSpc>
                  <a:spcPct val="90000"/>
                </a:lnSpc>
                <a:buSzPts val="1900"/>
              </a:pPr>
              <a:r>
                <a:rPr lang="en-US" sz="2800" b="1" dirty="0"/>
                <a:t>Search in AI(Key Components of a Search Problem)</a:t>
              </a:r>
            </a:p>
          </p:txBody>
        </p:sp>
      </p:grpSp>
      <p:sp>
        <p:nvSpPr>
          <p:cNvPr id="113" name="Google Shape;113;p2">
            <a:extLst>
              <a:ext uri="{FF2B5EF4-FFF2-40B4-BE49-F238E27FC236}">
                <a16:creationId xmlns:a16="http://schemas.microsoft.com/office/drawing/2014/main" id="{05BC3E2E-58B7-7245-07F9-BEF578B7E7CE}"/>
              </a:ext>
            </a:extLst>
          </p:cNvPr>
          <p:cNvSpPr txBox="1"/>
          <p:nvPr/>
        </p:nvSpPr>
        <p:spPr>
          <a:xfrm>
            <a:off x="1004341" y="1278740"/>
            <a:ext cx="7889235" cy="2779182"/>
          </a:xfrm>
          <a:prstGeom prst="rect">
            <a:avLst/>
          </a:prstGeom>
          <a:noFill/>
          <a:ln>
            <a:noFill/>
          </a:ln>
        </p:spPr>
        <p:txBody>
          <a:bodyPr spcFirstLastPara="1" wrap="square" lIns="91425" tIns="45700" rIns="91425" bIns="45700" anchor="t" anchorCtr="0">
            <a:spAutoFit/>
          </a:bodyPr>
          <a:lstStyle/>
          <a:p>
            <a:pPr marL="285750" indent="-285750">
              <a:lnSpc>
                <a:spcPct val="90000"/>
              </a:lnSpc>
              <a:buFont typeface="Arial" panose="020B0604020202020204" pitchFamily="34" charset="0"/>
              <a:buChar char="•"/>
            </a:pPr>
            <a:r>
              <a:rPr lang="en-US" sz="1600" b="1" dirty="0"/>
              <a:t>Initial State:-</a:t>
            </a:r>
            <a:r>
              <a:rPr lang="en-US" sz="1600" dirty="0"/>
              <a:t>The starting point of the problem.</a:t>
            </a:r>
          </a:p>
          <a:p>
            <a:pPr marL="285750" indent="-285750">
              <a:lnSpc>
                <a:spcPct val="90000"/>
              </a:lnSpc>
              <a:buFont typeface="Arial" panose="020B0604020202020204" pitchFamily="34" charset="0"/>
              <a:buChar char="•"/>
            </a:pPr>
            <a:r>
              <a:rPr lang="en-US" sz="1600" b="1" dirty="0"/>
              <a:t>Example: </a:t>
            </a:r>
            <a:r>
              <a:rPr lang="en-US" sz="1600" dirty="0"/>
              <a:t>Starting city in a route-finding problem.</a:t>
            </a:r>
          </a:p>
          <a:p>
            <a:pPr marL="285750" indent="-285750">
              <a:lnSpc>
                <a:spcPct val="90000"/>
              </a:lnSpc>
              <a:buFont typeface="Arial" panose="020B0604020202020204" pitchFamily="34" charset="0"/>
              <a:buChar char="•"/>
            </a:pPr>
            <a:r>
              <a:rPr lang="en-US" sz="1600" b="1" dirty="0">
                <a:solidFill>
                  <a:schemeClr val="bg2"/>
                </a:solidFill>
              </a:rPr>
              <a:t>Goal State:-</a:t>
            </a:r>
            <a:r>
              <a:rPr lang="en-US" sz="1600" dirty="0"/>
              <a:t>The desired state that the agent wants to reach.</a:t>
            </a:r>
          </a:p>
          <a:p>
            <a:pPr marL="285750" indent="-285750">
              <a:lnSpc>
                <a:spcPct val="90000"/>
              </a:lnSpc>
              <a:buFont typeface="Arial" panose="020B0604020202020204" pitchFamily="34" charset="0"/>
              <a:buChar char="•"/>
            </a:pPr>
            <a:r>
              <a:rPr lang="en-US" sz="1600" b="1" dirty="0"/>
              <a:t>Example:</a:t>
            </a:r>
            <a:r>
              <a:rPr lang="en-US" sz="1600" dirty="0"/>
              <a:t> Destination city.</a:t>
            </a:r>
          </a:p>
          <a:p>
            <a:pPr marL="285750" indent="-285750">
              <a:lnSpc>
                <a:spcPct val="90000"/>
              </a:lnSpc>
              <a:buFont typeface="Arial" panose="020B0604020202020204" pitchFamily="34" charset="0"/>
              <a:buChar char="•"/>
            </a:pPr>
            <a:r>
              <a:rPr lang="en-US" sz="1600" b="1" dirty="0"/>
              <a:t>State Space:-</a:t>
            </a:r>
            <a:r>
              <a:rPr lang="en-US" sz="1600" dirty="0"/>
              <a:t>The set of all possible states that can be reached from the initial state.</a:t>
            </a:r>
          </a:p>
          <a:p>
            <a:pPr marL="285750" indent="-285750">
              <a:lnSpc>
                <a:spcPct val="90000"/>
              </a:lnSpc>
              <a:buFont typeface="Arial" panose="020B0604020202020204" pitchFamily="34" charset="0"/>
              <a:buChar char="•"/>
            </a:pPr>
            <a:r>
              <a:rPr lang="en-US" sz="1600" b="1" dirty="0"/>
              <a:t>Actions / Operators:-</a:t>
            </a:r>
            <a:r>
              <a:rPr lang="en-US" sz="1600" dirty="0"/>
              <a:t>The possible moves or actions that transition from one state to another.</a:t>
            </a:r>
          </a:p>
          <a:p>
            <a:pPr marL="285750" indent="-285750">
              <a:lnSpc>
                <a:spcPct val="90000"/>
              </a:lnSpc>
              <a:buFont typeface="Arial" panose="020B0604020202020204" pitchFamily="34" charset="0"/>
              <a:buChar char="•"/>
            </a:pPr>
            <a:r>
              <a:rPr lang="en-US" sz="1600" b="1" dirty="0"/>
              <a:t>Path:-</a:t>
            </a:r>
            <a:r>
              <a:rPr lang="en-US" sz="1600" dirty="0"/>
              <a:t>A sequence of states from the initial state to the goal state.</a:t>
            </a:r>
          </a:p>
          <a:p>
            <a:pPr marL="285750" indent="-285750">
              <a:lnSpc>
                <a:spcPct val="90000"/>
              </a:lnSpc>
              <a:buFont typeface="Arial" panose="020B0604020202020204" pitchFamily="34" charset="0"/>
              <a:buChar char="•"/>
            </a:pPr>
            <a:r>
              <a:rPr lang="en-US" sz="1600" b="1" dirty="0"/>
              <a:t>Path Cost:-</a:t>
            </a:r>
            <a:r>
              <a:rPr lang="en-US" sz="1600" dirty="0"/>
              <a:t>The cost associated with a path (distance, time, energy, etc.).</a:t>
            </a:r>
          </a:p>
          <a:p>
            <a:pPr>
              <a:lnSpc>
                <a:spcPct val="90000"/>
              </a:lnSpc>
            </a:pPr>
            <a:endParaRPr lang="en-US" sz="1600" dirty="0"/>
          </a:p>
          <a:p>
            <a:pPr marL="457200" indent="-457200" algn="just">
              <a:lnSpc>
                <a:spcPct val="90000"/>
              </a:lnSpc>
              <a:buFont typeface="Arial" panose="020B0604020202020204" pitchFamily="34" charset="0"/>
              <a:buChar char="•"/>
            </a:pPr>
            <a:endParaRPr lang="en-US" sz="1800" dirty="0"/>
          </a:p>
        </p:txBody>
      </p:sp>
      <p:sp>
        <p:nvSpPr>
          <p:cNvPr id="8" name="TextBox 7">
            <a:extLst>
              <a:ext uri="{FF2B5EF4-FFF2-40B4-BE49-F238E27FC236}">
                <a16:creationId xmlns:a16="http://schemas.microsoft.com/office/drawing/2014/main" id="{5124913F-DF52-D751-C4AE-820520A8179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sp>
        <p:nvSpPr>
          <p:cNvPr id="4" name="Rectangle 3">
            <a:extLst>
              <a:ext uri="{FF2B5EF4-FFF2-40B4-BE49-F238E27FC236}">
                <a16:creationId xmlns:a16="http://schemas.microsoft.com/office/drawing/2014/main" id="{3355EF1D-A636-C5FF-213F-C9D9729225BC}"/>
              </a:ext>
            </a:extLst>
          </p:cNvPr>
          <p:cNvSpPr/>
          <p:nvPr/>
        </p:nvSpPr>
        <p:spPr>
          <a:xfrm>
            <a:off x="97436" y="4222006"/>
            <a:ext cx="8927809" cy="554447"/>
          </a:xfrm>
          <a:prstGeom prst="rect">
            <a:avLst/>
          </a:prstGeom>
        </p:spPr>
        <p:txBody>
          <a:bodyPr wrap="square">
            <a:spAutoFit/>
          </a:bodyPr>
          <a:lstStyle/>
          <a:p>
            <a:pPr algn="just">
              <a:lnSpc>
                <a:spcPct val="110000"/>
              </a:lnSpc>
              <a:buSzPct val="150000"/>
            </a:pPr>
            <a:r>
              <a:rPr lang="en-IN"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https://www.geeksforgeeks.org/artificial-intelligence/local-search-algorithm-in-artificial-intelligence/</a:t>
            </a:r>
          </a:p>
        </p:txBody>
      </p:sp>
    </p:spTree>
    <p:extLst>
      <p:ext uri="{BB962C8B-B14F-4D97-AF65-F5344CB8AC3E}">
        <p14:creationId xmlns:p14="http://schemas.microsoft.com/office/powerpoint/2010/main" val="164481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B9160C41-8996-C30C-CF57-2F3A2335117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647D2C06-D532-83C5-4F28-20BA2204623E}"/>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4CC9BDF-4AA1-5AFC-119C-3F689F4B15E0}"/>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71BF90B-C5B4-DB72-BC49-DD1AE81D79B8}"/>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2800" b="1" dirty="0"/>
                <a:t>Types of Local Search Algorithms</a:t>
              </a:r>
            </a:p>
          </p:txBody>
        </p:sp>
      </p:grpSp>
      <p:sp>
        <p:nvSpPr>
          <p:cNvPr id="8" name="TextBox 7">
            <a:extLst>
              <a:ext uri="{FF2B5EF4-FFF2-40B4-BE49-F238E27FC236}">
                <a16:creationId xmlns:a16="http://schemas.microsoft.com/office/drawing/2014/main" id="{0E40D2C2-CE84-72B9-F90A-18CA50F57E47}"/>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sp>
        <p:nvSpPr>
          <p:cNvPr id="9" name="TextBox 8">
            <a:extLst>
              <a:ext uri="{FF2B5EF4-FFF2-40B4-BE49-F238E27FC236}">
                <a16:creationId xmlns:a16="http://schemas.microsoft.com/office/drawing/2014/main" id="{4156284E-2968-7344-A2CD-69CF765046AF}"/>
              </a:ext>
            </a:extLst>
          </p:cNvPr>
          <p:cNvSpPr txBox="1"/>
          <p:nvPr/>
        </p:nvSpPr>
        <p:spPr>
          <a:xfrm>
            <a:off x="575141" y="1231067"/>
            <a:ext cx="6530197" cy="2800767"/>
          </a:xfrm>
          <a:prstGeom prst="rect">
            <a:avLst/>
          </a:prstGeom>
          <a:noFill/>
        </p:spPr>
        <p:txBody>
          <a:bodyPr wrap="square">
            <a:spAutoFit/>
          </a:bodyPr>
          <a:lstStyle/>
          <a:p>
            <a:r>
              <a:rPr lang="en-IN" sz="2400" b="1" dirty="0"/>
              <a:t>Let's see few types of Local Search Algorithms:</a:t>
            </a:r>
          </a:p>
          <a:p>
            <a:pPr marL="342900" indent="-342900">
              <a:buAutoNum type="arabicPeriod"/>
            </a:pPr>
            <a:r>
              <a:rPr lang="en-IN" sz="2400" dirty="0"/>
              <a:t>Hill-Climbing Search Algorithm</a:t>
            </a:r>
          </a:p>
          <a:p>
            <a:pPr marL="342900" indent="-342900">
              <a:buFont typeface="Arial"/>
              <a:buAutoNum type="arabicPeriod"/>
            </a:pPr>
            <a:r>
              <a:rPr lang="en-IN" sz="2400" dirty="0"/>
              <a:t>Simulated Annealing</a:t>
            </a:r>
          </a:p>
          <a:p>
            <a:pPr marL="342900" indent="-342900">
              <a:buFont typeface="Arial"/>
              <a:buAutoNum type="arabicPeriod"/>
            </a:pPr>
            <a:r>
              <a:rPr lang="en-IN" sz="2400" dirty="0"/>
              <a:t>Genetic Algorithms</a:t>
            </a:r>
          </a:p>
          <a:p>
            <a:pPr marL="342900" indent="-342900">
              <a:buFont typeface="Arial"/>
              <a:buAutoNum type="arabicPeriod"/>
            </a:pPr>
            <a:r>
              <a:rPr lang="en-IN" sz="2400" dirty="0"/>
              <a:t>Tabu Search</a:t>
            </a:r>
          </a:p>
          <a:p>
            <a:pPr marL="342900" indent="-342900">
              <a:buAutoNum type="arabicPeriod"/>
            </a:pPr>
            <a:endParaRPr lang="en-IN" dirty="0"/>
          </a:p>
          <a:p>
            <a:endParaRPr lang="en-US" sz="1800" b="1" dirty="0"/>
          </a:p>
        </p:txBody>
      </p:sp>
      <p:sp>
        <p:nvSpPr>
          <p:cNvPr id="10" name="Rectangle 9">
            <a:extLst>
              <a:ext uri="{FF2B5EF4-FFF2-40B4-BE49-F238E27FC236}">
                <a16:creationId xmlns:a16="http://schemas.microsoft.com/office/drawing/2014/main" id="{28478625-6276-6CF5-4337-F35A890B24E2}"/>
              </a:ext>
            </a:extLst>
          </p:cNvPr>
          <p:cNvSpPr/>
          <p:nvPr/>
        </p:nvSpPr>
        <p:spPr>
          <a:xfrm>
            <a:off x="191528" y="4133893"/>
            <a:ext cx="8607698" cy="554447"/>
          </a:xfrm>
          <a:prstGeom prst="rect">
            <a:avLst/>
          </a:prstGeom>
        </p:spPr>
        <p:txBody>
          <a:bodyPr wrap="square">
            <a:spAutoFit/>
          </a:bodyPr>
          <a:lstStyle/>
          <a:p>
            <a:pPr algn="just">
              <a:lnSpc>
                <a:spcPct val="110000"/>
              </a:lnSpc>
              <a:buSzPct val="150000"/>
            </a:pPr>
            <a:r>
              <a:rPr lang="en-US" b="1" i="1" dirty="0">
                <a:solidFill>
                  <a:schemeClr val="bg2"/>
                </a:solidFill>
                <a:latin typeface="Calibri" panose="020F0502020204030204" pitchFamily="34" charset="0"/>
                <a:ea typeface="Calibri" panose="020F0502020204030204" pitchFamily="34" charset="0"/>
                <a:cs typeface="Calibri" panose="020F0502020204030204" pitchFamily="34" charset="0"/>
              </a:rPr>
              <a:t>Additional / Recommended Readings: </a:t>
            </a:r>
          </a:p>
          <a:p>
            <a:pPr algn="just">
              <a:lnSpc>
                <a:spcPct val="110000"/>
              </a:lnSpc>
              <a:buSzPct val="150000"/>
            </a:pPr>
            <a:r>
              <a:rPr lang="en-IN" i="1" dirty="0">
                <a:solidFill>
                  <a:schemeClr val="bg2"/>
                </a:solidFill>
                <a:latin typeface="Calibri" panose="020F0502020204030204" pitchFamily="34" charset="0"/>
                <a:ea typeface="Calibri" panose="020F0502020204030204" pitchFamily="34" charset="0"/>
                <a:cs typeface="Calibri" panose="020F0502020204030204" pitchFamily="34" charset="0"/>
              </a:rPr>
              <a:t>https://www.geeksforgeeks.org/artificial-intelligence/local-search-algorithm-in-artificial-intelligence/</a:t>
            </a:r>
          </a:p>
        </p:txBody>
      </p:sp>
    </p:spTree>
    <p:extLst>
      <p:ext uri="{BB962C8B-B14F-4D97-AF65-F5344CB8AC3E}">
        <p14:creationId xmlns:p14="http://schemas.microsoft.com/office/powerpoint/2010/main" val="3395489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757002" y="885750"/>
            <a:ext cx="8001000" cy="4171763"/>
          </a:xfrm>
        </p:spPr>
        <p:txBody>
          <a:bodyPr>
            <a:noAutofit/>
          </a:bodyPr>
          <a:lstStyle/>
          <a:p>
            <a:pPr marL="76200" indent="0">
              <a:buClr>
                <a:schemeClr val="bg2"/>
              </a:buClr>
              <a:buNone/>
            </a:pPr>
            <a:r>
              <a:rPr lang="en-US" sz="1200" dirty="0">
                <a:solidFill>
                  <a:schemeClr val="bg2"/>
                </a:solidFill>
              </a:rPr>
              <a:t>Hill-Climbing search algorithm is a straightforward local search algorithm that iteratively moves towards better solutions. It is often used for optimization problems where the goal is to find the peak of a landscape, represented by an objective function.</a:t>
            </a:r>
          </a:p>
          <a:p>
            <a:pPr marL="76200" indent="0">
              <a:buClr>
                <a:schemeClr val="bg2"/>
              </a:buClr>
              <a:buNone/>
            </a:pPr>
            <a:r>
              <a:rPr lang="en-US" sz="1200" b="1" dirty="0">
                <a:solidFill>
                  <a:schemeClr val="bg2"/>
                </a:solidFill>
              </a:rPr>
              <a:t>Process:</a:t>
            </a:r>
          </a:p>
          <a:p>
            <a:pPr marL="76200" indent="0">
              <a:buClr>
                <a:schemeClr val="bg2"/>
              </a:buClr>
              <a:buNone/>
            </a:pPr>
            <a:r>
              <a:rPr lang="en-US" sz="1200" dirty="0">
                <a:solidFill>
                  <a:schemeClr val="bg2"/>
                </a:solidFill>
              </a:rPr>
              <a:t>             Start: Begin with an initial solution.</a:t>
            </a:r>
          </a:p>
          <a:p>
            <a:pPr marL="76200" indent="0">
              <a:buClr>
                <a:schemeClr val="bg2"/>
              </a:buClr>
              <a:buNone/>
            </a:pPr>
            <a:r>
              <a:rPr lang="en-US" sz="1200" dirty="0">
                <a:solidFill>
                  <a:schemeClr val="bg2"/>
                </a:solidFill>
              </a:rPr>
              <a:t>             Evaluate: Assess the neighboring solutions.</a:t>
            </a:r>
          </a:p>
          <a:p>
            <a:pPr marL="76200" indent="0">
              <a:buClr>
                <a:schemeClr val="bg2"/>
              </a:buClr>
              <a:buNone/>
            </a:pPr>
            <a:r>
              <a:rPr lang="en-US" sz="1200" dirty="0">
                <a:solidFill>
                  <a:schemeClr val="bg2"/>
                </a:solidFill>
              </a:rPr>
              <a:t>             Move: Transition to the neighbor with the highest objective function value if it improves the current solution.</a:t>
            </a:r>
          </a:p>
          <a:p>
            <a:pPr marL="76200" indent="0">
              <a:buClr>
                <a:schemeClr val="bg2"/>
              </a:buClr>
              <a:buNone/>
            </a:pPr>
            <a:r>
              <a:rPr lang="en-US" sz="1200" dirty="0">
                <a:solidFill>
                  <a:schemeClr val="bg2"/>
                </a:solidFill>
              </a:rPr>
              <a:t>             Repeat: Continue this process until no better neighboring solution exists.</a:t>
            </a:r>
          </a:p>
          <a:p>
            <a:pPr>
              <a:buClr>
                <a:schemeClr val="bg2"/>
              </a:buClr>
            </a:pPr>
            <a:endParaRPr lang="en-US" sz="1200" dirty="0">
              <a:solidFill>
                <a:schemeClr val="bg2"/>
              </a:solidFill>
            </a:endParaRPr>
          </a:p>
          <a:p>
            <a:pPr marL="76200" indent="0">
              <a:buClr>
                <a:schemeClr val="bg2"/>
              </a:buClr>
              <a:buNone/>
            </a:pPr>
            <a:r>
              <a:rPr lang="en-US" sz="1200" b="1" dirty="0">
                <a:solidFill>
                  <a:schemeClr val="bg2"/>
                </a:solidFill>
              </a:rPr>
              <a:t>Pros:</a:t>
            </a:r>
          </a:p>
          <a:p>
            <a:pPr marL="76200" indent="0">
              <a:buClr>
                <a:schemeClr val="bg2"/>
              </a:buClr>
              <a:buNone/>
            </a:pPr>
            <a:r>
              <a:rPr lang="en-US" sz="1200" dirty="0">
                <a:solidFill>
                  <a:schemeClr val="bg2"/>
                </a:solidFill>
              </a:rPr>
              <a:t>•Easy to implement.</a:t>
            </a:r>
          </a:p>
          <a:p>
            <a:pPr marL="76200" indent="0">
              <a:buClr>
                <a:schemeClr val="bg2"/>
              </a:buClr>
              <a:buNone/>
            </a:pPr>
            <a:r>
              <a:rPr lang="en-US" sz="1200" dirty="0">
                <a:solidFill>
                  <a:schemeClr val="bg2"/>
                </a:solidFill>
              </a:rPr>
              <a:t>•Works well in small or smooth search spaces.</a:t>
            </a:r>
          </a:p>
          <a:p>
            <a:pPr marL="76200" indent="0">
              <a:buClr>
                <a:schemeClr val="bg2"/>
              </a:buClr>
              <a:buNone/>
            </a:pPr>
            <a:r>
              <a:rPr lang="en-US" sz="1200" b="1" dirty="0">
                <a:solidFill>
                  <a:schemeClr val="bg2"/>
                </a:solidFill>
              </a:rPr>
              <a:t>Cons:</a:t>
            </a:r>
          </a:p>
          <a:p>
            <a:pPr marL="76200" indent="0">
              <a:buClr>
                <a:schemeClr val="bg2"/>
              </a:buClr>
              <a:buNone/>
            </a:pPr>
            <a:r>
              <a:rPr lang="en-US" sz="1200" dirty="0">
                <a:solidFill>
                  <a:schemeClr val="bg2"/>
                </a:solidFill>
              </a:rPr>
              <a:t>•May get stuck in local optima.</a:t>
            </a:r>
          </a:p>
          <a:p>
            <a:pPr marL="76200" indent="0">
              <a:buClr>
                <a:schemeClr val="bg2"/>
              </a:buClr>
              <a:buNone/>
            </a:pPr>
            <a:r>
              <a:rPr lang="en-US" sz="1200" dirty="0">
                <a:solidFill>
                  <a:schemeClr val="bg2"/>
                </a:solidFill>
              </a:rPr>
              <a:t>•Limited exploration of the search space.</a:t>
            </a:r>
          </a:p>
        </p:txBody>
      </p:sp>
      <p:sp>
        <p:nvSpPr>
          <p:cNvPr id="2" name="Title 1"/>
          <p:cNvSpPr>
            <a:spLocks noGrp="1"/>
          </p:cNvSpPr>
          <p:nvPr>
            <p:ph type="title" idx="4294967295"/>
          </p:nvPr>
        </p:nvSpPr>
        <p:spPr>
          <a:xfrm>
            <a:off x="757002" y="206375"/>
            <a:ext cx="7472597" cy="857250"/>
          </a:xfrm>
          <a:prstGeom prst="rect">
            <a:avLst/>
          </a:prstGeom>
        </p:spPr>
        <p:txBody>
          <a:bodyPr/>
          <a:lstStyle/>
          <a:p>
            <a:pPr algn="ctr"/>
            <a:r>
              <a:rPr lang="en-IN" sz="2800" b="1" dirty="0">
                <a:solidFill>
                  <a:schemeClr val="bg2"/>
                </a:solidFill>
              </a:rPr>
              <a:t> Hill-Climbing Search Algorithm</a:t>
            </a:r>
          </a:p>
        </p:txBody>
      </p:sp>
      <p:sp>
        <p:nvSpPr>
          <p:cNvPr id="4" name="TextBox 3">
            <a:extLst>
              <a:ext uri="{FF2B5EF4-FFF2-40B4-BE49-F238E27FC236}">
                <a16:creationId xmlns:a16="http://schemas.microsoft.com/office/drawing/2014/main" id="{1EB678B8-F295-642D-F3AF-B93D927A0909}"/>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7</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837405" y="750837"/>
            <a:ext cx="7914145" cy="4186287"/>
          </a:xfrm>
        </p:spPr>
        <p:txBody>
          <a:bodyPr>
            <a:noAutofit/>
          </a:bodyPr>
          <a:lstStyle/>
          <a:p>
            <a:pPr marL="76200" indent="0">
              <a:buClr>
                <a:schemeClr val="bg2"/>
              </a:buClr>
              <a:buNone/>
            </a:pPr>
            <a:r>
              <a:rPr lang="en-US" sz="1200" dirty="0">
                <a:solidFill>
                  <a:schemeClr val="bg2"/>
                </a:solidFill>
              </a:rPr>
              <a:t>Simulated Annealing is inspired by the annealing process in metallurgy, where materials are heated and then gradually cooled to remove defects. It allows for occasional moves to worse solutions to escape local optima, with the probability of such moves decreasing over time.</a:t>
            </a:r>
          </a:p>
          <a:p>
            <a:pPr>
              <a:buClr>
                <a:schemeClr val="bg2"/>
              </a:buClr>
            </a:pPr>
            <a:r>
              <a:rPr lang="en-US" sz="1200" b="1" dirty="0">
                <a:solidFill>
                  <a:schemeClr val="bg2"/>
                </a:solidFill>
              </a:rPr>
              <a:t>Process:</a:t>
            </a:r>
          </a:p>
          <a:p>
            <a:pPr marL="76200" indent="0">
              <a:buClr>
                <a:schemeClr val="bg2"/>
              </a:buClr>
              <a:buNone/>
            </a:pPr>
            <a:r>
              <a:rPr lang="en-US" sz="1200" dirty="0">
                <a:solidFill>
                  <a:schemeClr val="bg2"/>
                </a:solidFill>
              </a:rPr>
              <a:t>             Start: Begin with an initial solution and an initial temperature.</a:t>
            </a:r>
          </a:p>
          <a:p>
            <a:pPr marL="76200" indent="0">
              <a:buClr>
                <a:schemeClr val="bg2"/>
              </a:buClr>
              <a:buNone/>
            </a:pPr>
            <a:r>
              <a:rPr lang="en-US" sz="1200" dirty="0">
                <a:solidFill>
                  <a:schemeClr val="bg2"/>
                </a:solidFill>
              </a:rPr>
              <a:t>             Move: Transition to a neighboring solution with a certain probability.</a:t>
            </a:r>
          </a:p>
          <a:p>
            <a:pPr marL="76200" indent="0">
              <a:buClr>
                <a:schemeClr val="bg2"/>
              </a:buClr>
              <a:buNone/>
            </a:pPr>
            <a:r>
              <a:rPr lang="en-US" sz="1200" dirty="0">
                <a:solidFill>
                  <a:schemeClr val="bg2"/>
                </a:solidFill>
              </a:rPr>
              <a:t>             Cooling Schedule: Gradually reduce the temperature according to a predefined schedule.</a:t>
            </a:r>
          </a:p>
          <a:p>
            <a:pPr marL="76200" indent="0">
              <a:buClr>
                <a:schemeClr val="bg2"/>
              </a:buClr>
              <a:buNone/>
            </a:pPr>
            <a:r>
              <a:rPr lang="en-US" sz="1200" dirty="0">
                <a:solidFill>
                  <a:schemeClr val="bg2"/>
                </a:solidFill>
              </a:rPr>
              <a:t>              Probability Function: Accept worse solutions with a probability that decreases as the temperature decreases. </a:t>
            </a:r>
          </a:p>
          <a:p>
            <a:pPr>
              <a:buClr>
                <a:schemeClr val="bg2"/>
              </a:buClr>
            </a:pPr>
            <a:r>
              <a:rPr lang="en-US" sz="1200" b="1" dirty="0">
                <a:solidFill>
                  <a:schemeClr val="bg2"/>
                </a:solidFill>
              </a:rPr>
              <a:t>Pros:</a:t>
            </a:r>
          </a:p>
          <a:p>
            <a:pPr marL="76200" indent="0">
              <a:buClr>
                <a:schemeClr val="bg2"/>
              </a:buClr>
              <a:buNone/>
            </a:pPr>
            <a:r>
              <a:rPr lang="en-US" sz="1200" dirty="0">
                <a:solidFill>
                  <a:schemeClr val="bg2"/>
                </a:solidFill>
              </a:rPr>
              <a:t>             Can escape local optima due to probabilistic acceptance of worse solutions.</a:t>
            </a:r>
          </a:p>
          <a:p>
            <a:pPr marL="76200" indent="0">
              <a:buClr>
                <a:schemeClr val="bg2"/>
              </a:buClr>
              <a:buNone/>
            </a:pPr>
            <a:r>
              <a:rPr lang="en-US" sz="1200" dirty="0">
                <a:solidFill>
                  <a:schemeClr val="bg2"/>
                </a:solidFill>
              </a:rPr>
              <a:t>              Flexible in exploring the solution space.</a:t>
            </a:r>
          </a:p>
          <a:p>
            <a:pPr>
              <a:buClr>
                <a:schemeClr val="bg2"/>
              </a:buClr>
            </a:pPr>
            <a:r>
              <a:rPr lang="en-US" sz="1200" b="1" dirty="0">
                <a:solidFill>
                  <a:schemeClr val="bg2"/>
                </a:solidFill>
              </a:rPr>
              <a:t> Cons:</a:t>
            </a:r>
          </a:p>
          <a:p>
            <a:pPr marL="76200" indent="0">
              <a:buClr>
                <a:schemeClr val="bg2"/>
              </a:buClr>
              <a:buNone/>
            </a:pPr>
            <a:r>
              <a:rPr lang="en-US" sz="1200" dirty="0">
                <a:solidFill>
                  <a:schemeClr val="bg2"/>
                </a:solidFill>
              </a:rPr>
              <a:t>              Requires careful tuning of parameters like temperature and cooling schedule.</a:t>
            </a:r>
          </a:p>
          <a:p>
            <a:pPr marL="76200" indent="0">
              <a:buClr>
                <a:schemeClr val="bg2"/>
              </a:buClr>
              <a:buNone/>
            </a:pPr>
            <a:r>
              <a:rPr lang="en-US" sz="1200" dirty="0">
                <a:solidFill>
                  <a:schemeClr val="bg2"/>
                </a:solidFill>
              </a:rPr>
              <a:t>              Computationally expensive due to repeated evaluations.</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IN" sz="2800" b="1" dirty="0"/>
              <a:t>Simulated Annealing</a:t>
            </a:r>
          </a:p>
        </p:txBody>
      </p:sp>
      <p:sp>
        <p:nvSpPr>
          <p:cNvPr id="4" name="TextBox 3">
            <a:extLst>
              <a:ext uri="{FF2B5EF4-FFF2-40B4-BE49-F238E27FC236}">
                <a16:creationId xmlns:a16="http://schemas.microsoft.com/office/drawing/2014/main" id="{E79C685A-4F77-0B50-598A-449039E7A46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750550" y="759335"/>
            <a:ext cx="8001000" cy="4177790"/>
          </a:xfrm>
        </p:spPr>
        <p:txBody>
          <a:bodyPr>
            <a:noAutofit/>
          </a:bodyPr>
          <a:lstStyle/>
          <a:p>
            <a:pPr marL="76200" indent="0">
              <a:buClr>
                <a:schemeClr val="bg2"/>
              </a:buClr>
              <a:buNone/>
            </a:pPr>
            <a:r>
              <a:rPr lang="en-US" sz="1200" dirty="0">
                <a:solidFill>
                  <a:schemeClr val="bg2"/>
                </a:solidFill>
              </a:rPr>
              <a:t>Genetic Algorithms (GAs) are inspired by the process of natural selection and evolution. They work with a population of solutions and evolve them over time using genetic operators like selection, crossover and mutation.</a:t>
            </a:r>
          </a:p>
          <a:p>
            <a:pPr marL="76200" indent="0">
              <a:buClr>
                <a:schemeClr val="bg2"/>
              </a:buClr>
              <a:buNone/>
            </a:pPr>
            <a:r>
              <a:rPr lang="en-US" sz="1200" b="1" dirty="0">
                <a:solidFill>
                  <a:schemeClr val="bg2"/>
                </a:solidFill>
              </a:rPr>
              <a:t>Process:</a:t>
            </a:r>
          </a:p>
          <a:p>
            <a:pPr marL="76200" indent="0">
              <a:buClr>
                <a:schemeClr val="bg2"/>
              </a:buClr>
              <a:buNone/>
            </a:pPr>
            <a:r>
              <a:rPr lang="en-US" sz="1200" dirty="0">
                <a:solidFill>
                  <a:schemeClr val="bg2"/>
                </a:solidFill>
              </a:rPr>
              <a:t>Initialize: Start with a population of random solutions.</a:t>
            </a:r>
          </a:p>
          <a:p>
            <a:pPr marL="76200" indent="0">
              <a:buClr>
                <a:schemeClr val="bg2"/>
              </a:buClr>
              <a:buNone/>
            </a:pPr>
            <a:r>
              <a:rPr lang="en-US" sz="1200" dirty="0">
                <a:solidFill>
                  <a:schemeClr val="bg2"/>
                </a:solidFill>
              </a:rPr>
              <a:t>Evaluate: Assess the fitness of each solution.</a:t>
            </a:r>
          </a:p>
          <a:p>
            <a:pPr marL="76200" indent="0">
              <a:buClr>
                <a:schemeClr val="bg2"/>
              </a:buClr>
              <a:buNone/>
            </a:pPr>
            <a:r>
              <a:rPr lang="en-US" sz="1200" dirty="0">
                <a:solidFill>
                  <a:schemeClr val="bg2"/>
                </a:solidFill>
              </a:rPr>
              <a:t>Select: Choose the best solutions for reproduction based on their fitness.</a:t>
            </a:r>
          </a:p>
          <a:p>
            <a:pPr marL="76200" indent="0">
              <a:buClr>
                <a:schemeClr val="bg2"/>
              </a:buClr>
              <a:buNone/>
            </a:pPr>
            <a:r>
              <a:rPr lang="en-US" sz="1200" dirty="0">
                <a:solidFill>
                  <a:schemeClr val="bg2"/>
                </a:solidFill>
              </a:rPr>
              <a:t>Crossover: Combine pairs of solutions to produce new offspring.</a:t>
            </a:r>
          </a:p>
          <a:p>
            <a:pPr marL="76200" indent="0">
              <a:buClr>
                <a:schemeClr val="bg2"/>
              </a:buClr>
              <a:buNone/>
            </a:pPr>
            <a:r>
              <a:rPr lang="en-US" sz="1200" dirty="0">
                <a:solidFill>
                  <a:schemeClr val="bg2"/>
                </a:solidFill>
              </a:rPr>
              <a:t>Mutate: Apply random changes to offspring to maintain diversity.</a:t>
            </a:r>
          </a:p>
          <a:p>
            <a:pPr marL="76200" indent="0">
              <a:buClr>
                <a:schemeClr val="bg2"/>
              </a:buClr>
              <a:buNone/>
            </a:pPr>
            <a:r>
              <a:rPr lang="en-US" sz="1200" dirty="0">
                <a:solidFill>
                  <a:schemeClr val="bg2"/>
                </a:solidFill>
              </a:rPr>
              <a:t>Replace: Form a new population by selecting which solutions to keep.</a:t>
            </a:r>
          </a:p>
          <a:p>
            <a:pPr marL="76200" indent="0">
              <a:buClr>
                <a:schemeClr val="bg2"/>
              </a:buClr>
              <a:buNone/>
            </a:pPr>
            <a:r>
              <a:rPr lang="en-US" sz="1200" b="1" dirty="0">
                <a:solidFill>
                  <a:schemeClr val="bg2"/>
                </a:solidFill>
              </a:rPr>
              <a:t>Pros:</a:t>
            </a:r>
          </a:p>
          <a:p>
            <a:pPr marL="76200" indent="0">
              <a:buClr>
                <a:schemeClr val="bg2"/>
              </a:buClr>
              <a:buNone/>
            </a:pPr>
            <a:r>
              <a:rPr lang="en-US" sz="1200" dirty="0">
                <a:solidFill>
                  <a:schemeClr val="bg2"/>
                </a:solidFill>
              </a:rPr>
              <a:t>Can explore a broad solution space and find high-quality solutions.</a:t>
            </a:r>
          </a:p>
          <a:p>
            <a:pPr marL="76200" indent="0">
              <a:buClr>
                <a:schemeClr val="bg2"/>
              </a:buClr>
              <a:buNone/>
            </a:pPr>
            <a:r>
              <a:rPr lang="en-US" sz="1200" dirty="0">
                <a:solidFill>
                  <a:schemeClr val="bg2"/>
                </a:solidFill>
              </a:rPr>
              <a:t>Suitable for complex problems with large search spaces.</a:t>
            </a:r>
          </a:p>
          <a:p>
            <a:pPr marL="76200" indent="0">
              <a:buClr>
                <a:schemeClr val="bg2"/>
              </a:buClr>
              <a:buNone/>
            </a:pPr>
            <a:r>
              <a:rPr lang="en-US" sz="1200" b="1" dirty="0">
                <a:solidFill>
                  <a:schemeClr val="bg2"/>
                </a:solidFill>
              </a:rPr>
              <a:t>Cons:</a:t>
            </a:r>
          </a:p>
          <a:p>
            <a:pPr marL="76200" indent="0">
              <a:buClr>
                <a:schemeClr val="bg2"/>
              </a:buClr>
              <a:buNone/>
            </a:pPr>
            <a:r>
              <a:rPr lang="en-US" sz="1200" dirty="0">
                <a:solidFill>
                  <a:schemeClr val="bg2"/>
                </a:solidFill>
              </a:rPr>
              <a:t>Computationally expensive due to the need for evaluating many solutions.</a:t>
            </a:r>
          </a:p>
          <a:p>
            <a:pPr marL="76200" indent="0">
              <a:buClr>
                <a:schemeClr val="bg2"/>
              </a:buClr>
              <a:buNone/>
            </a:pPr>
            <a:r>
              <a:rPr lang="en-US" sz="1200" dirty="0">
                <a:solidFill>
                  <a:schemeClr val="bg2"/>
                </a:solidFill>
              </a:rPr>
              <a:t>Requires tuning of various parameters like population size and mutation rate.</a:t>
            </a:r>
          </a:p>
        </p:txBody>
      </p:sp>
      <p:sp>
        <p:nvSpPr>
          <p:cNvPr id="2" name="Title 1"/>
          <p:cNvSpPr>
            <a:spLocks noGrp="1"/>
          </p:cNvSpPr>
          <p:nvPr>
            <p:ph type="title" idx="4294967295"/>
          </p:nvPr>
        </p:nvSpPr>
        <p:spPr>
          <a:xfrm>
            <a:off x="689548" y="206375"/>
            <a:ext cx="7540052" cy="693035"/>
          </a:xfrm>
          <a:prstGeom prst="rect">
            <a:avLst/>
          </a:prstGeom>
        </p:spPr>
        <p:txBody>
          <a:bodyPr/>
          <a:lstStyle/>
          <a:p>
            <a:pPr algn="ctr"/>
            <a:r>
              <a:rPr lang="en-IN" sz="2800" b="1" dirty="0"/>
              <a:t>Genetic Algorithms</a:t>
            </a:r>
          </a:p>
        </p:txBody>
      </p:sp>
      <p:sp>
        <p:nvSpPr>
          <p:cNvPr id="4" name="TextBox 3">
            <a:extLst>
              <a:ext uri="{FF2B5EF4-FFF2-40B4-BE49-F238E27FC236}">
                <a16:creationId xmlns:a16="http://schemas.microsoft.com/office/drawing/2014/main" id="{833B24B5-C0C9-46F0-B216-82434DD05B40}"/>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885749"/>
            <a:ext cx="8001000" cy="3926093"/>
          </a:xfrm>
        </p:spPr>
        <p:txBody>
          <a:bodyPr>
            <a:noAutofit/>
          </a:bodyPr>
          <a:lstStyle/>
          <a:p>
            <a:pPr marL="76200" indent="0">
              <a:buClr>
                <a:schemeClr val="bg2"/>
              </a:buClr>
              <a:buNone/>
            </a:pPr>
            <a:r>
              <a:rPr lang="en-US" sz="1200" b="1" dirty="0">
                <a:solidFill>
                  <a:schemeClr val="bg2"/>
                </a:solidFill>
              </a:rPr>
              <a:t>Tabu Search</a:t>
            </a:r>
          </a:p>
          <a:p>
            <a:pPr marL="76200" indent="0">
              <a:buClr>
                <a:schemeClr val="bg2"/>
              </a:buClr>
              <a:buNone/>
            </a:pPr>
            <a:r>
              <a:rPr lang="en-US" sz="1200" dirty="0">
                <a:solidFill>
                  <a:schemeClr val="bg2"/>
                </a:solidFill>
              </a:rPr>
              <a:t>Tabu Search enhances local search by using a memory structure called the tabu list to avoid revisiting previously explored solutions. This helps to prevent cycling back to local optima and encourages exploration of new areas.</a:t>
            </a:r>
          </a:p>
          <a:p>
            <a:pPr marL="76200" indent="0">
              <a:buClr>
                <a:schemeClr val="bg2"/>
              </a:buClr>
              <a:buNone/>
            </a:pPr>
            <a:r>
              <a:rPr lang="en-US" sz="1200" b="1" dirty="0">
                <a:solidFill>
                  <a:schemeClr val="bg2"/>
                </a:solidFill>
              </a:rPr>
              <a:t>Process:</a:t>
            </a:r>
          </a:p>
          <a:p>
            <a:pPr marL="76200" indent="0">
              <a:buClr>
                <a:schemeClr val="bg2"/>
              </a:buClr>
              <a:buNone/>
            </a:pPr>
            <a:r>
              <a:rPr lang="en-US" sz="1200" dirty="0">
                <a:solidFill>
                  <a:schemeClr val="bg2"/>
                </a:solidFill>
              </a:rPr>
              <a:t>Start: Begin with an initial solution and initialize the tabu list.</a:t>
            </a:r>
          </a:p>
          <a:p>
            <a:pPr marL="76200" indent="0">
              <a:buClr>
                <a:schemeClr val="bg2"/>
              </a:buClr>
              <a:buNone/>
            </a:pPr>
            <a:r>
              <a:rPr lang="en-US" sz="1200" dirty="0">
                <a:solidFill>
                  <a:schemeClr val="bg2"/>
                </a:solidFill>
              </a:rPr>
              <a:t>Move: Transition to a neighboring solution while considering the tabu list.</a:t>
            </a:r>
          </a:p>
          <a:p>
            <a:pPr marL="76200" indent="0">
              <a:buClr>
                <a:schemeClr val="bg2"/>
              </a:buClr>
              <a:buNone/>
            </a:pPr>
            <a:r>
              <a:rPr lang="en-US" sz="1200" dirty="0">
                <a:solidFill>
                  <a:schemeClr val="bg2"/>
                </a:solidFill>
              </a:rPr>
              <a:t>Update: Add the current solution to the tabu list and potentially remove older entries.</a:t>
            </a:r>
          </a:p>
          <a:p>
            <a:pPr marL="76200" indent="0">
              <a:buClr>
                <a:schemeClr val="bg2"/>
              </a:buClr>
              <a:buNone/>
            </a:pPr>
            <a:r>
              <a:rPr lang="en-US" sz="1200" dirty="0">
                <a:solidFill>
                  <a:schemeClr val="bg2"/>
                </a:solidFill>
              </a:rPr>
              <a:t>Aspiration Criteria: Allow moves that lead to better solutions even if they are in the tabu list.</a:t>
            </a:r>
          </a:p>
          <a:p>
            <a:pPr marL="76200" indent="0">
              <a:buClr>
                <a:schemeClr val="bg2"/>
              </a:buClr>
              <a:buNone/>
            </a:pPr>
            <a:r>
              <a:rPr lang="en-US" sz="1200" b="1" dirty="0">
                <a:solidFill>
                  <a:schemeClr val="bg2"/>
                </a:solidFill>
              </a:rPr>
              <a:t>Pros:</a:t>
            </a:r>
          </a:p>
          <a:p>
            <a:pPr marL="76200" indent="0">
              <a:buClr>
                <a:schemeClr val="bg2"/>
              </a:buClr>
              <a:buNone/>
            </a:pPr>
            <a:r>
              <a:rPr lang="en-US" sz="1200" dirty="0">
                <a:solidFill>
                  <a:schemeClr val="bg2"/>
                </a:solidFill>
              </a:rPr>
              <a:t>Reduces the chance of getting stuck in local optima.</a:t>
            </a:r>
          </a:p>
          <a:p>
            <a:pPr marL="76200" indent="0">
              <a:buClr>
                <a:schemeClr val="bg2"/>
              </a:buClr>
              <a:buNone/>
            </a:pPr>
            <a:r>
              <a:rPr lang="en-US" sz="1200" dirty="0">
                <a:solidFill>
                  <a:schemeClr val="bg2"/>
                </a:solidFill>
              </a:rPr>
              <a:t>Effective in exploring large and complex search spaces.</a:t>
            </a:r>
          </a:p>
          <a:p>
            <a:pPr marL="76200" indent="0">
              <a:buClr>
                <a:schemeClr val="bg2"/>
              </a:buClr>
              <a:buNone/>
            </a:pPr>
            <a:r>
              <a:rPr lang="en-US" sz="1200" b="1" dirty="0">
                <a:solidFill>
                  <a:schemeClr val="bg2"/>
                </a:solidFill>
              </a:rPr>
              <a:t>Cons:</a:t>
            </a:r>
          </a:p>
          <a:p>
            <a:pPr marL="76200" indent="0">
              <a:buClr>
                <a:schemeClr val="bg2"/>
              </a:buClr>
              <a:buNone/>
            </a:pPr>
            <a:r>
              <a:rPr lang="en-US" sz="1200" dirty="0">
                <a:solidFill>
                  <a:schemeClr val="bg2"/>
                </a:solidFill>
              </a:rPr>
              <a:t>Requires careful management of the tabu list and aspiration criteria.</a:t>
            </a:r>
          </a:p>
          <a:p>
            <a:pPr marL="76200" indent="0">
              <a:buClr>
                <a:schemeClr val="bg2"/>
              </a:buClr>
              <a:buNone/>
            </a:pPr>
            <a:r>
              <a:rPr lang="en-US" sz="1200" dirty="0">
                <a:solidFill>
                  <a:schemeClr val="bg2"/>
                </a:solidFill>
              </a:rPr>
              <a:t>Computational complexity can be high.</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sz="2800" b="1" dirty="0"/>
              <a:t>Features of Uninformed Search</a:t>
            </a:r>
          </a:p>
        </p:txBody>
      </p:sp>
      <p:sp>
        <p:nvSpPr>
          <p:cNvPr id="4" name="TextBox 3">
            <a:extLst>
              <a:ext uri="{FF2B5EF4-FFF2-40B4-BE49-F238E27FC236}">
                <a16:creationId xmlns:a16="http://schemas.microsoft.com/office/drawing/2014/main" id="{CBF10B0E-67EA-14A2-5B4D-6AD61B5E2BC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10</a:t>
            </a: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59174" y="206375"/>
            <a:ext cx="6970426" cy="857250"/>
          </a:xfrm>
          <a:prstGeom prst="rect">
            <a:avLst/>
          </a:prstGeom>
        </p:spPr>
        <p:txBody>
          <a:bodyPr/>
          <a:lstStyle/>
          <a:p>
            <a:pPr algn="ctr"/>
            <a:r>
              <a:rPr lang="en-IN" sz="2800" dirty="0"/>
              <a:t> </a:t>
            </a:r>
            <a:r>
              <a:rPr lang="en-IN" sz="2800" b="1" dirty="0"/>
              <a:t>Comparison of Local Search Algorithms</a:t>
            </a:r>
            <a:br>
              <a:rPr lang="en-IN" dirty="0"/>
            </a:br>
            <a:endParaRPr sz="2800" b="1" dirty="0"/>
          </a:p>
        </p:txBody>
      </p:sp>
      <p:sp>
        <p:nvSpPr>
          <p:cNvPr id="4" name="TextBox 3">
            <a:extLst>
              <a:ext uri="{FF2B5EF4-FFF2-40B4-BE49-F238E27FC236}">
                <a16:creationId xmlns:a16="http://schemas.microsoft.com/office/drawing/2014/main" id="{D9B5F83E-FCCC-3627-C8B5-563625E3406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11</a:t>
            </a:r>
            <a:endParaRPr lang="en-IN" dirty="0"/>
          </a:p>
        </p:txBody>
      </p:sp>
      <p:graphicFrame>
        <p:nvGraphicFramePr>
          <p:cNvPr id="5" name="Table 4">
            <a:extLst>
              <a:ext uri="{FF2B5EF4-FFF2-40B4-BE49-F238E27FC236}">
                <a16:creationId xmlns:a16="http://schemas.microsoft.com/office/drawing/2014/main" id="{85133B82-A71C-CA70-B027-D71CA66559A7}"/>
              </a:ext>
            </a:extLst>
          </p:cNvPr>
          <p:cNvGraphicFramePr>
            <a:graphicFrameLocks noGrp="1"/>
          </p:cNvGraphicFramePr>
          <p:nvPr>
            <p:extLst>
              <p:ext uri="{D42A27DB-BD31-4B8C-83A1-F6EECF244321}">
                <p14:modId xmlns:p14="http://schemas.microsoft.com/office/powerpoint/2010/main" val="850196937"/>
              </p:ext>
            </p:extLst>
          </p:nvPr>
        </p:nvGraphicFramePr>
        <p:xfrm>
          <a:off x="734518" y="1184223"/>
          <a:ext cx="7787390" cy="3552669"/>
        </p:xfrm>
        <a:graphic>
          <a:graphicData uri="http://schemas.openxmlformats.org/drawingml/2006/table">
            <a:tbl>
              <a:tblPr firstRow="1" bandRow="1">
                <a:tableStyleId>{638B1855-1B75-4FBE-930C-398BA8C253C6}</a:tableStyleId>
              </a:tblPr>
              <a:tblGrid>
                <a:gridCol w="1557478">
                  <a:extLst>
                    <a:ext uri="{9D8B030D-6E8A-4147-A177-3AD203B41FA5}">
                      <a16:colId xmlns:a16="http://schemas.microsoft.com/office/drawing/2014/main" val="4236488154"/>
                    </a:ext>
                  </a:extLst>
                </a:gridCol>
                <a:gridCol w="1557478">
                  <a:extLst>
                    <a:ext uri="{9D8B030D-6E8A-4147-A177-3AD203B41FA5}">
                      <a16:colId xmlns:a16="http://schemas.microsoft.com/office/drawing/2014/main" val="4148928389"/>
                    </a:ext>
                  </a:extLst>
                </a:gridCol>
                <a:gridCol w="1557478">
                  <a:extLst>
                    <a:ext uri="{9D8B030D-6E8A-4147-A177-3AD203B41FA5}">
                      <a16:colId xmlns:a16="http://schemas.microsoft.com/office/drawing/2014/main" val="1948687449"/>
                    </a:ext>
                  </a:extLst>
                </a:gridCol>
                <a:gridCol w="1557478">
                  <a:extLst>
                    <a:ext uri="{9D8B030D-6E8A-4147-A177-3AD203B41FA5}">
                      <a16:colId xmlns:a16="http://schemas.microsoft.com/office/drawing/2014/main" val="3204717898"/>
                    </a:ext>
                  </a:extLst>
                </a:gridCol>
                <a:gridCol w="1557478">
                  <a:extLst>
                    <a:ext uri="{9D8B030D-6E8A-4147-A177-3AD203B41FA5}">
                      <a16:colId xmlns:a16="http://schemas.microsoft.com/office/drawing/2014/main" val="4062263224"/>
                    </a:ext>
                  </a:extLst>
                </a:gridCol>
              </a:tblGrid>
              <a:tr h="462578">
                <a:tc>
                  <a:txBody>
                    <a:bodyPr/>
                    <a:lstStyle/>
                    <a:p>
                      <a:pPr>
                        <a:lnSpc>
                          <a:spcPct val="107000"/>
                        </a:lnSpc>
                        <a:spcAft>
                          <a:spcPts val="800"/>
                        </a:spcAft>
                        <a:buNone/>
                      </a:pPr>
                      <a:r>
                        <a:rPr lang="en-IN" sz="11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Feature/Aspect</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Hill-Climbing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Simulated Annealing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Genetic Algorithm</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Tabu Search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6394704"/>
                  </a:ext>
                </a:extLst>
              </a:tr>
              <a:tr h="772523">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Inspiration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Climbing a hill</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Annealing in metallurgy</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Natural selection and evolution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Memory-based search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3850063"/>
                  </a:ext>
                </a:extLst>
              </a:tr>
              <a:tr h="996287">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Search Space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Local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Broad (with controlled randomness)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Very broad (population-based)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Broad with memory</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547070"/>
                  </a:ext>
                </a:extLst>
              </a:tr>
              <a:tr h="772523">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Moves to Worse Solutions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No</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Yes (probabilistic)</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Yes (via mutation/crossover)</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Rare (with aspiration)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055039"/>
                  </a:ext>
                </a:extLst>
              </a:tr>
              <a:tr h="548758">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Avoids Local Optima</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No</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Yes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Yes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Yes</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616943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2E4E6-11E5-EE20-83B6-C9503271E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C203B-1F61-9F62-4A01-1A151BB4161D}"/>
              </a:ext>
            </a:extLst>
          </p:cNvPr>
          <p:cNvSpPr>
            <a:spLocks noGrp="1"/>
          </p:cNvSpPr>
          <p:nvPr>
            <p:ph type="title" idx="4294967295"/>
          </p:nvPr>
        </p:nvSpPr>
        <p:spPr>
          <a:xfrm>
            <a:off x="1307891" y="26493"/>
            <a:ext cx="6970426" cy="857250"/>
          </a:xfrm>
          <a:prstGeom prst="rect">
            <a:avLst/>
          </a:prstGeom>
        </p:spPr>
        <p:txBody>
          <a:bodyPr/>
          <a:lstStyle/>
          <a:p>
            <a:pPr algn="ctr"/>
            <a:r>
              <a:rPr lang="en-IN" sz="2800" dirty="0"/>
              <a:t> </a:t>
            </a:r>
            <a:r>
              <a:rPr lang="en-IN" sz="2800" b="1" dirty="0"/>
              <a:t>Comparison of Local Search Algorithms</a:t>
            </a:r>
            <a:br>
              <a:rPr lang="en-IN" dirty="0"/>
            </a:br>
            <a:endParaRPr sz="2800" b="1" dirty="0"/>
          </a:p>
        </p:txBody>
      </p:sp>
      <p:sp>
        <p:nvSpPr>
          <p:cNvPr id="4" name="TextBox 3">
            <a:extLst>
              <a:ext uri="{FF2B5EF4-FFF2-40B4-BE49-F238E27FC236}">
                <a16:creationId xmlns:a16="http://schemas.microsoft.com/office/drawing/2014/main" id="{D85852FF-5E45-BE27-95CF-8DC37783AC8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12</a:t>
            </a:r>
            <a:endParaRPr lang="en-IN" dirty="0"/>
          </a:p>
        </p:txBody>
      </p:sp>
      <p:graphicFrame>
        <p:nvGraphicFramePr>
          <p:cNvPr id="5" name="Table 4">
            <a:extLst>
              <a:ext uri="{FF2B5EF4-FFF2-40B4-BE49-F238E27FC236}">
                <a16:creationId xmlns:a16="http://schemas.microsoft.com/office/drawing/2014/main" id="{06838ABD-4C99-A9E7-7A4A-AD91FA1C19A7}"/>
              </a:ext>
            </a:extLst>
          </p:cNvPr>
          <p:cNvGraphicFramePr>
            <a:graphicFrameLocks noGrp="1"/>
          </p:cNvGraphicFramePr>
          <p:nvPr>
            <p:extLst>
              <p:ext uri="{D42A27DB-BD31-4B8C-83A1-F6EECF244321}">
                <p14:modId xmlns:p14="http://schemas.microsoft.com/office/powerpoint/2010/main" val="3160520878"/>
              </p:ext>
            </p:extLst>
          </p:nvPr>
        </p:nvGraphicFramePr>
        <p:xfrm>
          <a:off x="1068049" y="1046471"/>
          <a:ext cx="7412635" cy="3796522"/>
        </p:xfrm>
        <a:graphic>
          <a:graphicData uri="http://schemas.openxmlformats.org/drawingml/2006/table">
            <a:tbl>
              <a:tblPr firstRow="1" bandRow="1">
                <a:tableStyleId>{638B1855-1B75-4FBE-930C-398BA8C253C6}</a:tableStyleId>
              </a:tblPr>
              <a:tblGrid>
                <a:gridCol w="1482527">
                  <a:extLst>
                    <a:ext uri="{9D8B030D-6E8A-4147-A177-3AD203B41FA5}">
                      <a16:colId xmlns:a16="http://schemas.microsoft.com/office/drawing/2014/main" val="4236488154"/>
                    </a:ext>
                  </a:extLst>
                </a:gridCol>
                <a:gridCol w="1482527">
                  <a:extLst>
                    <a:ext uri="{9D8B030D-6E8A-4147-A177-3AD203B41FA5}">
                      <a16:colId xmlns:a16="http://schemas.microsoft.com/office/drawing/2014/main" val="4148928389"/>
                    </a:ext>
                  </a:extLst>
                </a:gridCol>
                <a:gridCol w="1482527">
                  <a:extLst>
                    <a:ext uri="{9D8B030D-6E8A-4147-A177-3AD203B41FA5}">
                      <a16:colId xmlns:a16="http://schemas.microsoft.com/office/drawing/2014/main" val="1948687449"/>
                    </a:ext>
                  </a:extLst>
                </a:gridCol>
                <a:gridCol w="1482527">
                  <a:extLst>
                    <a:ext uri="{9D8B030D-6E8A-4147-A177-3AD203B41FA5}">
                      <a16:colId xmlns:a16="http://schemas.microsoft.com/office/drawing/2014/main" val="3204717898"/>
                    </a:ext>
                  </a:extLst>
                </a:gridCol>
                <a:gridCol w="1482527">
                  <a:extLst>
                    <a:ext uri="{9D8B030D-6E8A-4147-A177-3AD203B41FA5}">
                      <a16:colId xmlns:a16="http://schemas.microsoft.com/office/drawing/2014/main" val="4062263224"/>
                    </a:ext>
                  </a:extLst>
                </a:gridCol>
              </a:tblGrid>
              <a:tr h="534475">
                <a:tc>
                  <a:txBody>
                    <a:bodyPr/>
                    <a:lstStyle/>
                    <a:p>
                      <a:pPr>
                        <a:lnSpc>
                          <a:spcPct val="107000"/>
                        </a:lnSpc>
                        <a:spcAft>
                          <a:spcPts val="800"/>
                        </a:spcAft>
                        <a:buNone/>
                      </a:pPr>
                      <a:r>
                        <a:rPr lang="en-IN" sz="11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Feature/Aspect</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Hill-Climbing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Simulated Annealing</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Genetic Algorithm</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Tabu Search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95250" marB="9525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6394704"/>
                  </a:ext>
                </a:extLst>
              </a:tr>
              <a:tr h="609463">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Memory Usage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Low</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Medium</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High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Medium to High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3850063"/>
                  </a:ext>
                </a:extLst>
              </a:tr>
              <a:tr h="785996">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Parameter Tuning Needed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Minimal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High (temperature, cooling)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High (population, mutation rate)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Medium (tabu size, rules)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3547070"/>
                  </a:ext>
                </a:extLst>
              </a:tr>
              <a:tr h="609463">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Speed</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Fast</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Moderate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Slower (population evolution)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Moderate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055039"/>
                  </a:ext>
                </a:extLst>
              </a:tr>
              <a:tr h="432929">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Complexity</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Simple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Moderate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High</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Moderate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6169432"/>
                  </a:ext>
                </a:extLst>
              </a:tr>
              <a:tr h="725589">
                <a:tc>
                  <a:txBody>
                    <a:bodyPr/>
                    <a:lstStyle/>
                    <a:p>
                      <a:pPr>
                        <a:lnSpc>
                          <a:spcPct val="107000"/>
                        </a:lnSpc>
                        <a:spcAft>
                          <a:spcPts val="800"/>
                        </a:spcAft>
                        <a:buNone/>
                      </a:pPr>
                      <a:r>
                        <a:rPr lang="en-IN" sz="1100" b="1"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Best Use Case</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38100" marR="38100" marT="79375" marB="7937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Small/simple problems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Problems with many local optima</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a:solidFill>
                            <a:srgbClr val="000000"/>
                          </a:solidFill>
                          <a:effectLst/>
                          <a:latin typeface="Aptos" panose="020B0004020202020204" pitchFamily="34" charset="0"/>
                          <a:ea typeface="Aptos" panose="020B0004020202020204" pitchFamily="34" charset="0"/>
                          <a:cs typeface="Times New Roman" panose="02020603050405020304" pitchFamily="18" charset="0"/>
                        </a:rPr>
                        <a:t>Complex optimization problems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buNone/>
                      </a:pPr>
                      <a:r>
                        <a:rPr lang="en-IN" sz="11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rPr>
                        <a:t>Problems prone to cycling</a:t>
                      </a:r>
                      <a:endParaRPr lang="en-IN" sz="11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6537168"/>
                  </a:ext>
                </a:extLst>
              </a:tr>
            </a:tbl>
          </a:graphicData>
        </a:graphic>
      </p:graphicFrame>
    </p:spTree>
    <p:extLst>
      <p:ext uri="{BB962C8B-B14F-4D97-AF65-F5344CB8AC3E}">
        <p14:creationId xmlns:p14="http://schemas.microsoft.com/office/powerpoint/2010/main" val="796243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1063625"/>
            <a:ext cx="8001000" cy="3372000"/>
          </a:xfrm>
        </p:spPr>
        <p:txBody>
          <a:bodyPr>
            <a:normAutofit fontScale="85000" lnSpcReduction="20000"/>
          </a:bodyPr>
          <a:lstStyle/>
          <a:p>
            <a:pPr marL="76200" indent="0">
              <a:buClr>
                <a:schemeClr val="bg2"/>
              </a:buClr>
              <a:buNone/>
            </a:pPr>
            <a:r>
              <a:rPr lang="en-US" dirty="0">
                <a:solidFill>
                  <a:schemeClr val="bg2"/>
                </a:solidFill>
              </a:rPr>
              <a:t>Let's see some applications of local search algorithms,</a:t>
            </a:r>
          </a:p>
          <a:p>
            <a:pPr>
              <a:buClr>
                <a:schemeClr val="bg2"/>
              </a:buClr>
            </a:pPr>
            <a:r>
              <a:rPr lang="en-US" dirty="0">
                <a:solidFill>
                  <a:schemeClr val="bg2"/>
                </a:solidFill>
              </a:rPr>
              <a:t>Scheduling: Creating timetables for schools, jobs or exams to avoid conflicts and balance workloads.</a:t>
            </a:r>
          </a:p>
          <a:p>
            <a:pPr>
              <a:buClr>
                <a:schemeClr val="bg2"/>
              </a:buClr>
            </a:pPr>
            <a:r>
              <a:rPr lang="en-US" dirty="0">
                <a:solidFill>
                  <a:schemeClr val="bg2"/>
                </a:solidFill>
              </a:rPr>
              <a:t>Routing: Finding efficient paths for deliveries or travel, like in the Traveling Salesperson Problem.</a:t>
            </a:r>
          </a:p>
          <a:p>
            <a:pPr>
              <a:buClr>
                <a:schemeClr val="bg2"/>
              </a:buClr>
            </a:pPr>
            <a:r>
              <a:rPr lang="en-US" dirty="0">
                <a:solidFill>
                  <a:schemeClr val="bg2"/>
                </a:solidFill>
              </a:rPr>
              <a:t>Resource allocation: Assigning limited resources (like machines, rooms or staff) without clashes.</a:t>
            </a:r>
          </a:p>
          <a:p>
            <a:pPr>
              <a:buClr>
                <a:schemeClr val="bg2"/>
              </a:buClr>
            </a:pPr>
            <a:r>
              <a:rPr lang="en-US" dirty="0">
                <a:solidFill>
                  <a:schemeClr val="bg2"/>
                </a:solidFill>
              </a:rPr>
              <a:t>Games and AI: Making fast decisions or moves in complex games.</a:t>
            </a:r>
          </a:p>
          <a:p>
            <a:pPr>
              <a:buClr>
                <a:schemeClr val="bg2"/>
              </a:buClr>
            </a:pPr>
            <a:r>
              <a:rPr lang="en-US" dirty="0">
                <a:solidFill>
                  <a:schemeClr val="bg2"/>
                </a:solidFill>
              </a:rPr>
              <a:t>Tuning models: Adjusting settings in machine learning to get better results.</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US" sz="2800" b="1" dirty="0"/>
              <a:t>Applications of Local Search</a:t>
            </a:r>
          </a:p>
        </p:txBody>
      </p:sp>
      <p:sp>
        <p:nvSpPr>
          <p:cNvPr id="4" name="TextBox 3">
            <a:extLst>
              <a:ext uri="{FF2B5EF4-FFF2-40B4-BE49-F238E27FC236}">
                <a16:creationId xmlns:a16="http://schemas.microsoft.com/office/drawing/2014/main" id="{682C5293-E9D4-6756-2DF4-E4370C2925B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13</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a:bodyPr>
          <a:lstStyle/>
          <a:p>
            <a:pPr>
              <a:buClr>
                <a:schemeClr val="bg2"/>
              </a:buClr>
            </a:pPr>
            <a:r>
              <a:rPr lang="en-US" dirty="0">
                <a:solidFill>
                  <a:schemeClr val="bg2"/>
                </a:solidFill>
              </a:rPr>
              <a:t>Optimization algorithms in machine learning are mathematical techniques used to adjust a model's parameters to minimize errors and improve accuracy.</a:t>
            </a:r>
          </a:p>
          <a:p>
            <a:pPr>
              <a:buClr>
                <a:schemeClr val="bg2"/>
              </a:buClr>
            </a:pPr>
            <a:r>
              <a:rPr lang="en-US" dirty="0">
                <a:solidFill>
                  <a:schemeClr val="bg2"/>
                </a:solidFill>
              </a:rPr>
              <a:t> These algorithms help models learn from data by finding the best possible solution through iterative updates.</a:t>
            </a:r>
          </a:p>
        </p:txBody>
      </p:sp>
      <p:sp>
        <p:nvSpPr>
          <p:cNvPr id="2" name="Title 1"/>
          <p:cNvSpPr>
            <a:spLocks noGrp="1"/>
          </p:cNvSpPr>
          <p:nvPr>
            <p:ph type="title" idx="4294967295"/>
          </p:nvPr>
        </p:nvSpPr>
        <p:spPr>
          <a:xfrm>
            <a:off x="1506510" y="206375"/>
            <a:ext cx="6723089" cy="857250"/>
          </a:xfrm>
          <a:prstGeom prst="rect">
            <a:avLst/>
          </a:prstGeom>
        </p:spPr>
        <p:txBody>
          <a:bodyPr/>
          <a:lstStyle/>
          <a:p>
            <a:pPr algn="ctr"/>
            <a:r>
              <a:rPr lang="en-US" sz="2800" b="1" dirty="0"/>
              <a:t>Optimization Algorithms in Machine Learning</a:t>
            </a:r>
          </a:p>
        </p:txBody>
      </p:sp>
      <p:sp>
        <p:nvSpPr>
          <p:cNvPr id="4" name="TextBox 3">
            <a:extLst>
              <a:ext uri="{FF2B5EF4-FFF2-40B4-BE49-F238E27FC236}">
                <a16:creationId xmlns:a16="http://schemas.microsoft.com/office/drawing/2014/main" id="{180B7A02-8FB2-8A6B-7A15-CB91D14888FC}"/>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14</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33827-1948-FB82-5AB6-7D32BC174E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6AEFD-F868-71A7-D656-419B9B0CF3DE}"/>
              </a:ext>
            </a:extLst>
          </p:cNvPr>
          <p:cNvSpPr>
            <a:spLocks noGrp="1"/>
          </p:cNvSpPr>
          <p:nvPr>
            <p:ph type="body" idx="1"/>
          </p:nvPr>
        </p:nvSpPr>
        <p:spPr/>
        <p:txBody>
          <a:bodyPr>
            <a:normAutofit fontScale="92500"/>
          </a:bodyPr>
          <a:lstStyle/>
          <a:p>
            <a:pPr>
              <a:buClr>
                <a:schemeClr val="bg2"/>
              </a:buClr>
              <a:buFont typeface="Arial" panose="020B0604020202020204" pitchFamily="34" charset="0"/>
              <a:buChar char="•"/>
            </a:pPr>
            <a:r>
              <a:rPr lang="en-US" dirty="0">
                <a:solidFill>
                  <a:schemeClr val="bg2"/>
                </a:solidFill>
              </a:rPr>
              <a:t>First-order optimization algorithms are methods that rely on the first derivative (gradient) of the objective function to find the minimum or maximum. </a:t>
            </a:r>
          </a:p>
          <a:p>
            <a:pPr>
              <a:buClr>
                <a:schemeClr val="bg2"/>
              </a:buClr>
              <a:buFont typeface="Arial" panose="020B0604020202020204" pitchFamily="34" charset="0"/>
              <a:buChar char="•"/>
            </a:pPr>
            <a:r>
              <a:rPr lang="en-US" dirty="0">
                <a:solidFill>
                  <a:schemeClr val="bg2"/>
                </a:solidFill>
              </a:rPr>
              <a:t>They use gradient information to decide the direction and size of updates for model parameters. </a:t>
            </a:r>
          </a:p>
          <a:p>
            <a:pPr>
              <a:buClr>
                <a:schemeClr val="bg2"/>
              </a:buClr>
              <a:buFont typeface="Arial" panose="020B0604020202020204" pitchFamily="34" charset="0"/>
              <a:buChar char="•"/>
            </a:pPr>
            <a:r>
              <a:rPr lang="en-US" dirty="0">
                <a:solidFill>
                  <a:schemeClr val="bg2"/>
                </a:solidFill>
              </a:rPr>
              <a:t>These algorithms are widely used in machine learning due to their simplicity and efficiency, especially for large-scale problems. Below are some First-Order Algorithms:</a:t>
            </a:r>
          </a:p>
        </p:txBody>
      </p:sp>
      <p:sp>
        <p:nvSpPr>
          <p:cNvPr id="2" name="Title 1">
            <a:extLst>
              <a:ext uri="{FF2B5EF4-FFF2-40B4-BE49-F238E27FC236}">
                <a16:creationId xmlns:a16="http://schemas.microsoft.com/office/drawing/2014/main" id="{4DF9EA06-C413-C67F-7D6D-9654D2FDB415}"/>
              </a:ext>
            </a:extLst>
          </p:cNvPr>
          <p:cNvSpPr>
            <a:spLocks noGrp="1"/>
          </p:cNvSpPr>
          <p:nvPr>
            <p:ph type="title" idx="4294967295"/>
          </p:nvPr>
        </p:nvSpPr>
        <p:spPr>
          <a:xfrm>
            <a:off x="1506510" y="206375"/>
            <a:ext cx="6723089" cy="857250"/>
          </a:xfrm>
          <a:prstGeom prst="rect">
            <a:avLst/>
          </a:prstGeom>
        </p:spPr>
        <p:txBody>
          <a:bodyPr/>
          <a:lstStyle/>
          <a:p>
            <a:pPr algn="ctr"/>
            <a:r>
              <a:rPr lang="en-US" sz="2800" b="1" dirty="0"/>
              <a:t>2. First-Order Algorithms</a:t>
            </a:r>
          </a:p>
        </p:txBody>
      </p:sp>
      <p:sp>
        <p:nvSpPr>
          <p:cNvPr id="4" name="TextBox 3">
            <a:extLst>
              <a:ext uri="{FF2B5EF4-FFF2-40B4-BE49-F238E27FC236}">
                <a16:creationId xmlns:a16="http://schemas.microsoft.com/office/drawing/2014/main" id="{7C9B933B-A8F0-DFB9-A8D7-D2A70174FF1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15</a:t>
            </a:r>
            <a:endParaRPr lang="en-IN" dirty="0"/>
          </a:p>
        </p:txBody>
      </p:sp>
    </p:spTree>
    <p:extLst>
      <p:ext uri="{BB962C8B-B14F-4D97-AF65-F5344CB8AC3E}">
        <p14:creationId xmlns:p14="http://schemas.microsoft.com/office/powerpoint/2010/main" val="2357109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1063625"/>
            <a:ext cx="8001000" cy="3622825"/>
          </a:xfrm>
        </p:spPr>
        <p:txBody>
          <a:bodyPr>
            <a:normAutofit fontScale="62500" lnSpcReduction="20000"/>
          </a:bodyPr>
          <a:lstStyle/>
          <a:p>
            <a:pPr marL="76200" indent="0">
              <a:buClr>
                <a:schemeClr val="bg2"/>
              </a:buClr>
              <a:buNone/>
            </a:pPr>
            <a:r>
              <a:rPr lang="en-US" dirty="0">
                <a:solidFill>
                  <a:schemeClr val="bg2"/>
                </a:solidFill>
              </a:rPr>
              <a:t>Gradient Descent is an optimization algorithm used for minimizing the objective function by iteratively moving towards the minimum. It is a first-order iterative algorithm for finding a local minimum. The algorithm works by taking repeated steps in the opposite direction of the gradient of the function at the current point because it will be the direction of steepest descent.</a:t>
            </a:r>
          </a:p>
          <a:p>
            <a:pPr marL="76200" indent="0">
              <a:buClr>
                <a:schemeClr val="bg2"/>
              </a:buClr>
              <a:buNone/>
            </a:pPr>
            <a:r>
              <a:rPr lang="en-US" dirty="0">
                <a:solidFill>
                  <a:schemeClr val="bg2"/>
                </a:solidFill>
              </a:rPr>
              <a:t>Let's assume we want to minimize the function f(x)=x2 using gradient descent.</a:t>
            </a:r>
          </a:p>
          <a:p>
            <a:pPr>
              <a:buClr>
                <a:schemeClr val="bg2"/>
              </a:buClr>
            </a:pPr>
            <a:r>
              <a:rPr lang="en-US" dirty="0">
                <a:solidFill>
                  <a:schemeClr val="bg2"/>
                </a:solidFill>
              </a:rPr>
              <a:t>The main function </a:t>
            </a:r>
            <a:r>
              <a:rPr lang="en-US" dirty="0" err="1">
                <a:solidFill>
                  <a:schemeClr val="bg2"/>
                </a:solidFill>
              </a:rPr>
              <a:t>gradient_descent</a:t>
            </a:r>
            <a:r>
              <a:rPr lang="en-US" dirty="0">
                <a:solidFill>
                  <a:schemeClr val="bg2"/>
                </a:solidFill>
              </a:rPr>
              <a:t> takes the gradient, a starting point, learning rate, number of iterations and a convergence tolerance.</a:t>
            </a:r>
          </a:p>
          <a:p>
            <a:pPr>
              <a:buClr>
                <a:schemeClr val="bg2"/>
              </a:buClr>
            </a:pPr>
            <a:r>
              <a:rPr lang="en-US" dirty="0">
                <a:solidFill>
                  <a:schemeClr val="bg2"/>
                </a:solidFill>
              </a:rPr>
              <a:t>In each iteration, it calculates the gradient at the current point and updates the point in the opposite direction of the gradient (descent), scaled by the learning rate.</a:t>
            </a:r>
          </a:p>
          <a:p>
            <a:pPr>
              <a:buClr>
                <a:schemeClr val="bg2"/>
              </a:buClr>
            </a:pPr>
            <a:r>
              <a:rPr lang="en-US" dirty="0">
                <a:solidFill>
                  <a:schemeClr val="bg2"/>
                </a:solidFill>
              </a:rPr>
              <a:t>The update continues until either the maximum number of iterations is reached or the update magnitude falls below the specified tolerance.</a:t>
            </a:r>
          </a:p>
          <a:p>
            <a:pPr>
              <a:buClr>
                <a:schemeClr val="bg2"/>
              </a:buClr>
            </a:pPr>
            <a:r>
              <a:rPr lang="en-US" dirty="0">
                <a:solidFill>
                  <a:schemeClr val="bg2"/>
                </a:solidFill>
              </a:rPr>
              <a:t>The final result is printed which should be a value close to the minimum of the function.</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US" sz="2800" b="1" dirty="0"/>
              <a:t>Gradient Descent and Its Variants</a:t>
            </a:r>
          </a:p>
        </p:txBody>
      </p:sp>
      <p:sp>
        <p:nvSpPr>
          <p:cNvPr id="4" name="TextBox 3">
            <a:extLst>
              <a:ext uri="{FF2B5EF4-FFF2-40B4-BE49-F238E27FC236}">
                <a16:creationId xmlns:a16="http://schemas.microsoft.com/office/drawing/2014/main" id="{9C4BB0A9-6307-79BA-8643-5B19C2A8EB2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16</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FD5D0-D841-8691-9FE4-5DEEC21CE6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27E49A-0580-36F7-3E27-DD2E56B0C5BE}"/>
              </a:ext>
            </a:extLst>
          </p:cNvPr>
          <p:cNvSpPr>
            <a:spLocks noGrp="1"/>
          </p:cNvSpPr>
          <p:nvPr>
            <p:ph type="body" idx="1"/>
          </p:nvPr>
        </p:nvSpPr>
        <p:spPr/>
        <p:txBody>
          <a:bodyPr>
            <a:normAutofit fontScale="70000" lnSpcReduction="20000"/>
          </a:bodyPr>
          <a:lstStyle/>
          <a:p>
            <a:pPr>
              <a:buClr>
                <a:schemeClr val="bg2"/>
              </a:buClr>
              <a:buFont typeface="Arial" panose="020B0604020202020204" pitchFamily="34" charset="0"/>
              <a:buChar char="•"/>
            </a:pPr>
            <a:r>
              <a:rPr lang="en-US" dirty="0">
                <a:solidFill>
                  <a:schemeClr val="bg2"/>
                </a:solidFill>
              </a:rPr>
              <a:t>Stochastic Gradient Descent (SGD): This variant suggests model update using a single training example at a time which does not require a large amount of computation and therefore is suitable for large datasets.</a:t>
            </a:r>
          </a:p>
          <a:p>
            <a:pPr>
              <a:buClr>
                <a:schemeClr val="bg2"/>
              </a:buClr>
              <a:buFont typeface="Arial" panose="020B0604020202020204" pitchFamily="34" charset="0"/>
              <a:buChar char="•"/>
            </a:pPr>
            <a:r>
              <a:rPr lang="en-US" dirty="0">
                <a:solidFill>
                  <a:schemeClr val="bg2"/>
                </a:solidFill>
              </a:rPr>
              <a:t>Mini-Batch Gradient Descent: This method is designed so that it computes it for every mini-batches of data, a balance between amount of time and precision. It converges faster than SGD and is used widely in practice to train many deep learning models.</a:t>
            </a:r>
          </a:p>
          <a:p>
            <a:pPr>
              <a:buClr>
                <a:schemeClr val="bg2"/>
              </a:buClr>
              <a:buFont typeface="Arial" panose="020B0604020202020204" pitchFamily="34" charset="0"/>
              <a:buChar char="•"/>
            </a:pPr>
            <a:r>
              <a:rPr lang="en-US" dirty="0">
                <a:solidFill>
                  <a:schemeClr val="bg2"/>
                </a:solidFill>
              </a:rPr>
              <a:t>Momentum: Momentum improves SGD by adding information of the previous steps of the algorithm to the next step. By adding a portion of the current update vector to the previous update, it enables the algorithm to go through flat areas and noisy gradients to minimize the time to train and find convergence.</a:t>
            </a:r>
          </a:p>
        </p:txBody>
      </p:sp>
      <p:sp>
        <p:nvSpPr>
          <p:cNvPr id="2" name="Title 1">
            <a:extLst>
              <a:ext uri="{FF2B5EF4-FFF2-40B4-BE49-F238E27FC236}">
                <a16:creationId xmlns:a16="http://schemas.microsoft.com/office/drawing/2014/main" id="{0B42FE15-9B5F-08B0-48D8-E5125BEE64CD}"/>
              </a:ext>
            </a:extLst>
          </p:cNvPr>
          <p:cNvSpPr>
            <a:spLocks noGrp="1"/>
          </p:cNvSpPr>
          <p:nvPr>
            <p:ph type="title" idx="4294967295"/>
          </p:nvPr>
        </p:nvSpPr>
        <p:spPr>
          <a:xfrm>
            <a:off x="0" y="206375"/>
            <a:ext cx="8229600" cy="857250"/>
          </a:xfrm>
          <a:prstGeom prst="rect">
            <a:avLst/>
          </a:prstGeom>
        </p:spPr>
        <p:txBody>
          <a:bodyPr/>
          <a:lstStyle/>
          <a:p>
            <a:pPr algn="ctr"/>
            <a:r>
              <a:rPr lang="en-IN" sz="2800" b="1" dirty="0"/>
              <a:t>Variants of Gradient Descent</a:t>
            </a:r>
          </a:p>
        </p:txBody>
      </p:sp>
      <p:sp>
        <p:nvSpPr>
          <p:cNvPr id="4" name="TextBox 3">
            <a:extLst>
              <a:ext uri="{FF2B5EF4-FFF2-40B4-BE49-F238E27FC236}">
                <a16:creationId xmlns:a16="http://schemas.microsoft.com/office/drawing/2014/main" id="{32737D69-6CFC-8516-029B-F33BC418967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17</a:t>
            </a:r>
            <a:endParaRPr lang="en-IN" dirty="0"/>
          </a:p>
        </p:txBody>
      </p:sp>
    </p:spTree>
    <p:extLst>
      <p:ext uri="{BB962C8B-B14F-4D97-AF65-F5344CB8AC3E}">
        <p14:creationId xmlns:p14="http://schemas.microsoft.com/office/powerpoint/2010/main" val="1947887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fontScale="62500" lnSpcReduction="20000"/>
          </a:bodyPr>
          <a:lstStyle/>
          <a:p>
            <a:pPr>
              <a:buClr>
                <a:schemeClr val="bg2"/>
              </a:buClr>
              <a:buFont typeface="Arial" panose="020B0604020202020204" pitchFamily="34" charset="0"/>
              <a:buChar char="•"/>
            </a:pPr>
            <a:r>
              <a:rPr lang="en-US" dirty="0">
                <a:solidFill>
                  <a:schemeClr val="bg2"/>
                </a:solidFill>
              </a:rPr>
              <a:t>Stochastic optimization techniques introduce randomness to the search process which can be advantageous for tackling complex optimization problems where traditional methods might struggle.</a:t>
            </a:r>
          </a:p>
          <a:p>
            <a:pPr>
              <a:buClr>
                <a:schemeClr val="bg2"/>
              </a:buClr>
              <a:buFont typeface="Arial" panose="020B0604020202020204" pitchFamily="34" charset="0"/>
              <a:buChar char="•"/>
            </a:pPr>
            <a:r>
              <a:rPr lang="en-US" b="1" dirty="0">
                <a:solidFill>
                  <a:schemeClr val="bg2"/>
                </a:solidFill>
              </a:rPr>
              <a:t>Simulated Annealing</a:t>
            </a:r>
            <a:r>
              <a:rPr lang="en-US" dirty="0">
                <a:solidFill>
                  <a:schemeClr val="bg2"/>
                </a:solidFill>
              </a:rPr>
              <a:t>: Similar to the annealing process in metallurgy this technique starts with a high temperature (high randomness) that allows exploration of the search space widely. Over time, the temperature decreases (randomness decreases) which helps the algorithm converge towards better solutions while avoiding local minima.</a:t>
            </a:r>
          </a:p>
          <a:p>
            <a:pPr>
              <a:buClr>
                <a:schemeClr val="bg2"/>
              </a:buClr>
              <a:buFont typeface="Arial" panose="020B0604020202020204" pitchFamily="34" charset="0"/>
              <a:buChar char="•"/>
            </a:pPr>
            <a:r>
              <a:rPr lang="en-US" b="1" dirty="0">
                <a:solidFill>
                  <a:schemeClr val="bg2"/>
                </a:solidFill>
              </a:rPr>
              <a:t>Random Search</a:t>
            </a:r>
            <a:r>
              <a:rPr lang="en-US" dirty="0">
                <a:solidFill>
                  <a:schemeClr val="bg2"/>
                </a:solidFill>
              </a:rPr>
              <a:t>: This simple method randomly chooses points in the search space then evaluates them. Random search is actually quite effective particularly for optimization problems that are high-dimensional. The ease of implementation and its ability to work with complex algorithms makes this approach widely used.</a:t>
            </a:r>
          </a:p>
        </p:txBody>
      </p:sp>
      <p:sp>
        <p:nvSpPr>
          <p:cNvPr id="2" name="Title 1"/>
          <p:cNvSpPr>
            <a:spLocks noGrp="1"/>
          </p:cNvSpPr>
          <p:nvPr>
            <p:ph type="title" idx="4294967295"/>
          </p:nvPr>
        </p:nvSpPr>
        <p:spPr>
          <a:xfrm>
            <a:off x="0" y="206375"/>
            <a:ext cx="8229600" cy="857250"/>
          </a:xfrm>
          <a:prstGeom prst="rect">
            <a:avLst/>
          </a:prstGeom>
        </p:spPr>
        <p:txBody>
          <a:bodyPr/>
          <a:lstStyle/>
          <a:p>
            <a:pPr algn="ctr"/>
            <a:r>
              <a:rPr lang="en-IN" sz="2800" b="1" dirty="0"/>
              <a:t>Stochastic Optimization Techniques</a:t>
            </a:r>
          </a:p>
        </p:txBody>
      </p:sp>
      <p:sp>
        <p:nvSpPr>
          <p:cNvPr id="4" name="TextBox 3">
            <a:extLst>
              <a:ext uri="{FF2B5EF4-FFF2-40B4-BE49-F238E27FC236}">
                <a16:creationId xmlns:a16="http://schemas.microsoft.com/office/drawing/2014/main" id="{57346979-8325-492B-C08E-C05F819184C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18</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1266669"/>
            <a:ext cx="8001000" cy="3419781"/>
          </a:xfrm>
        </p:spPr>
        <p:txBody>
          <a:bodyPr>
            <a:normAutofit fontScale="92500" lnSpcReduction="20000"/>
          </a:bodyPr>
          <a:lstStyle/>
          <a:p>
            <a:pPr>
              <a:buClr>
                <a:schemeClr val="bg2"/>
              </a:buClr>
            </a:pPr>
            <a:r>
              <a:rPr lang="en-US" b="1" dirty="0">
                <a:solidFill>
                  <a:schemeClr val="bg2"/>
                </a:solidFill>
              </a:rPr>
              <a:t>Repeated Evaluations: </a:t>
            </a:r>
            <a:r>
              <a:rPr lang="en-US" dirty="0">
                <a:solidFill>
                  <a:schemeClr val="bg2"/>
                </a:solidFill>
              </a:rPr>
              <a:t>Stochastic optimization algorithms often need repeated evaluations of the objective function which is time-consuming. Therefore, we have to balance the number of evaluations with the computational resources available.</a:t>
            </a:r>
          </a:p>
          <a:p>
            <a:pPr>
              <a:buClr>
                <a:schemeClr val="bg2"/>
              </a:buClr>
            </a:pPr>
            <a:r>
              <a:rPr lang="en-US" b="1" dirty="0">
                <a:solidFill>
                  <a:schemeClr val="bg2"/>
                </a:solidFill>
              </a:rPr>
              <a:t>Problem Structure: </a:t>
            </a:r>
            <a:r>
              <a:rPr lang="en-US" dirty="0">
                <a:solidFill>
                  <a:schemeClr val="bg2"/>
                </a:solidFill>
              </a:rPr>
              <a:t>The choice of stochastic optimization algorithm depends on the structure of the problem. For example, simulated annealing is suitable for problems with multiple local optima while random search is effective for high-dimensional optimization landscapes.</a:t>
            </a:r>
          </a:p>
          <a:p>
            <a:pPr>
              <a:buClr>
                <a:schemeClr val="bg2"/>
              </a:buClr>
            </a:pPr>
            <a:endParaRPr dirty="0">
              <a:solidFill>
                <a:schemeClr val="bg2"/>
              </a:solidFill>
            </a:endParaRPr>
          </a:p>
        </p:txBody>
      </p:sp>
      <p:sp>
        <p:nvSpPr>
          <p:cNvPr id="2" name="Title 1"/>
          <p:cNvSpPr>
            <a:spLocks noGrp="1"/>
          </p:cNvSpPr>
          <p:nvPr>
            <p:ph type="title" idx="4294967295"/>
          </p:nvPr>
        </p:nvSpPr>
        <p:spPr>
          <a:xfrm>
            <a:off x="1026826" y="206375"/>
            <a:ext cx="7202774" cy="857250"/>
          </a:xfrm>
          <a:prstGeom prst="rect">
            <a:avLst/>
          </a:prstGeom>
        </p:spPr>
        <p:txBody>
          <a:bodyPr/>
          <a:lstStyle/>
          <a:p>
            <a:pPr algn="ctr"/>
            <a:r>
              <a:rPr lang="en-US" sz="2400" b="1" dirty="0">
                <a:solidFill>
                  <a:schemeClr val="bg2"/>
                </a:solidFill>
              </a:rPr>
              <a:t>When using stochastic optimization algorithms, we consider the following practical aspects:</a:t>
            </a:r>
          </a:p>
        </p:txBody>
      </p:sp>
      <p:sp>
        <p:nvSpPr>
          <p:cNvPr id="4" name="TextBox 3">
            <a:extLst>
              <a:ext uri="{FF2B5EF4-FFF2-40B4-BE49-F238E27FC236}">
                <a16:creationId xmlns:a16="http://schemas.microsoft.com/office/drawing/2014/main" id="{B3618BF3-EF86-CA51-A9DA-5E7A487C986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19</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fontScale="70000" lnSpcReduction="20000"/>
          </a:bodyPr>
          <a:lstStyle/>
          <a:p>
            <a:pPr marL="76200" indent="0">
              <a:buClr>
                <a:schemeClr val="bg2"/>
              </a:buClr>
              <a:buNone/>
            </a:pPr>
            <a:r>
              <a:rPr lang="en-US" dirty="0">
                <a:solidFill>
                  <a:schemeClr val="bg2"/>
                </a:solidFill>
              </a:rPr>
              <a:t>In evolutionary algorithms we take inspiration from natural selection and include techniques such as Genetic Algorithms and Differential Evolution. They are often used to solve complex optimization problems that are difficult to solve using traditional methods.</a:t>
            </a:r>
          </a:p>
          <a:p>
            <a:pPr marL="76200" indent="0">
              <a:buClr>
                <a:schemeClr val="bg2"/>
              </a:buClr>
              <a:buNone/>
            </a:pPr>
            <a:r>
              <a:rPr lang="en-US" b="1" dirty="0">
                <a:solidFill>
                  <a:schemeClr val="bg2"/>
                </a:solidFill>
              </a:rPr>
              <a:t>Key Components:</a:t>
            </a:r>
          </a:p>
          <a:p>
            <a:pPr marL="76200" indent="0">
              <a:buClr>
                <a:schemeClr val="bg2"/>
              </a:buClr>
              <a:buNone/>
            </a:pPr>
            <a:r>
              <a:rPr lang="en-US" b="1" dirty="0">
                <a:solidFill>
                  <a:schemeClr val="bg2"/>
                </a:solidFill>
              </a:rPr>
              <a:t>Population: </a:t>
            </a:r>
            <a:r>
              <a:rPr lang="en-US" dirty="0">
                <a:solidFill>
                  <a:schemeClr val="bg2"/>
                </a:solidFill>
              </a:rPr>
              <a:t>Set of candidate solutions to the optimization problem.</a:t>
            </a:r>
          </a:p>
          <a:p>
            <a:pPr marL="76200" indent="0">
              <a:buClr>
                <a:schemeClr val="bg2"/>
              </a:buClr>
              <a:buNone/>
            </a:pPr>
            <a:r>
              <a:rPr lang="en-US" b="1" dirty="0">
                <a:solidFill>
                  <a:schemeClr val="bg2"/>
                </a:solidFill>
              </a:rPr>
              <a:t>Fitness Function: </a:t>
            </a:r>
            <a:r>
              <a:rPr lang="en-US" dirty="0">
                <a:solidFill>
                  <a:schemeClr val="bg2"/>
                </a:solidFill>
              </a:rPr>
              <a:t>A function that evaluates the quality of each candidate solution.</a:t>
            </a:r>
          </a:p>
          <a:p>
            <a:pPr marL="76200" indent="0">
              <a:buClr>
                <a:schemeClr val="bg2"/>
              </a:buClr>
              <a:buNone/>
            </a:pPr>
            <a:r>
              <a:rPr lang="en-US" b="1" dirty="0">
                <a:solidFill>
                  <a:schemeClr val="bg2"/>
                </a:solidFill>
              </a:rPr>
              <a:t>Selection:</a:t>
            </a:r>
            <a:r>
              <a:rPr lang="en-US" dirty="0">
                <a:solidFill>
                  <a:schemeClr val="bg2"/>
                </a:solidFill>
              </a:rPr>
              <a:t> Mechanism for selecting the fittest candidates to reproduce.</a:t>
            </a:r>
          </a:p>
          <a:p>
            <a:pPr marL="76200" indent="0">
              <a:buClr>
                <a:schemeClr val="bg2"/>
              </a:buClr>
              <a:buNone/>
            </a:pPr>
            <a:r>
              <a:rPr lang="en-US" b="1" dirty="0">
                <a:solidFill>
                  <a:schemeClr val="bg2"/>
                </a:solidFill>
              </a:rPr>
              <a:t>Genetic Operators: </a:t>
            </a:r>
            <a:r>
              <a:rPr lang="en-US" dirty="0">
                <a:solidFill>
                  <a:schemeClr val="bg2"/>
                </a:solidFill>
              </a:rPr>
              <a:t>Operators that modify the selected candidates to create new offspring such as crossover and mutation.</a:t>
            </a:r>
          </a:p>
          <a:p>
            <a:pPr marL="76200" indent="0">
              <a:buClr>
                <a:schemeClr val="bg2"/>
              </a:buClr>
              <a:buNone/>
            </a:pPr>
            <a:r>
              <a:rPr lang="en-US" b="1" dirty="0">
                <a:solidFill>
                  <a:schemeClr val="bg2"/>
                </a:solidFill>
              </a:rPr>
              <a:t>Termination:</a:t>
            </a:r>
            <a:r>
              <a:rPr lang="en-US" dirty="0">
                <a:solidFill>
                  <a:schemeClr val="bg2"/>
                </a:solidFill>
              </a:rPr>
              <a:t> A condition for stopping the algorithm.</a:t>
            </a:r>
          </a:p>
        </p:txBody>
      </p:sp>
      <p:sp>
        <p:nvSpPr>
          <p:cNvPr id="2" name="Title 1"/>
          <p:cNvSpPr>
            <a:spLocks noGrp="1"/>
          </p:cNvSpPr>
          <p:nvPr>
            <p:ph type="title" idx="4294967295"/>
          </p:nvPr>
        </p:nvSpPr>
        <p:spPr>
          <a:xfrm>
            <a:off x="914400" y="206375"/>
            <a:ext cx="7315200" cy="857250"/>
          </a:xfrm>
          <a:prstGeom prst="rect">
            <a:avLst/>
          </a:prstGeom>
        </p:spPr>
        <p:txBody>
          <a:bodyPr/>
          <a:lstStyle/>
          <a:p>
            <a:pPr algn="ctr"/>
            <a:r>
              <a:rPr lang="en-IN" sz="2800" b="1" dirty="0"/>
              <a:t>Evolutionary Algorithms</a:t>
            </a:r>
          </a:p>
        </p:txBody>
      </p:sp>
      <p:sp>
        <p:nvSpPr>
          <p:cNvPr id="4" name="TextBox 3">
            <a:extLst>
              <a:ext uri="{FF2B5EF4-FFF2-40B4-BE49-F238E27FC236}">
                <a16:creationId xmlns:a16="http://schemas.microsoft.com/office/drawing/2014/main" id="{26BB4E8A-F992-F0B2-273E-64C5BBF0A5E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20</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type="body" idx="1"/>
              </p:nvPr>
            </p:nvSpPr>
            <p:spPr/>
            <p:txBody>
              <a:bodyPr>
                <a:normAutofit fontScale="55000" lnSpcReduction="20000"/>
              </a:bodyPr>
              <a:lstStyle/>
              <a:p>
                <a:pPr>
                  <a:buClr>
                    <a:schemeClr val="bg2"/>
                  </a:buClr>
                </a:pPr>
                <a:r>
                  <a:rPr lang="en-IN" dirty="0">
                    <a:solidFill>
                      <a:schemeClr val="bg2"/>
                    </a:solidFill>
                  </a:rPr>
                  <a:t>These algorithms use crossover and mutation operators to evolve the candidate population. It is commonly used to generate solutions to optimization/search problems by relying on biologically inspired operators such as mutation, crossover and selection. In the code example below we implement a Genetic Algorithm to minimize:</a:t>
                </a:r>
              </a:p>
              <a:p>
                <a:pPr marL="76200" indent="0">
                  <a:buClr>
                    <a:schemeClr val="bg2"/>
                  </a:buClr>
                  <a:buNone/>
                </a:pPr>
                <a:r>
                  <a:rPr lang="en-IN" dirty="0">
                    <a:solidFill>
                      <a:schemeClr val="bg2"/>
                    </a:solidFill>
                  </a:rPr>
                  <a:t>           </a:t>
                </a:r>
                <a14:m>
                  <m:oMath xmlns:m="http://schemas.openxmlformats.org/officeDocument/2006/math">
                    <m:r>
                      <a:rPr lang="en-IN" i="1">
                        <a:solidFill>
                          <a:schemeClr val="bg2"/>
                        </a:solidFill>
                        <a:latin typeface="Cambria Math" panose="02040503050406030204" pitchFamily="18" charset="0"/>
                      </a:rPr>
                      <m:t>𝑓</m:t>
                    </m:r>
                    <m:r>
                      <a:rPr lang="en-IN" i="1">
                        <a:solidFill>
                          <a:schemeClr val="bg2"/>
                        </a:solidFill>
                        <a:latin typeface="Cambria Math" panose="02040503050406030204" pitchFamily="18" charset="0"/>
                      </a:rPr>
                      <m:t>(</m:t>
                    </m:r>
                    <m:r>
                      <a:rPr lang="en-IN" i="1">
                        <a:solidFill>
                          <a:schemeClr val="bg2"/>
                        </a:solidFill>
                        <a:latin typeface="Cambria Math" panose="02040503050406030204" pitchFamily="18" charset="0"/>
                      </a:rPr>
                      <m:t>𝑥</m:t>
                    </m:r>
                    <m:r>
                      <a:rPr lang="en-IN" i="1">
                        <a:solidFill>
                          <a:schemeClr val="bg2"/>
                        </a:solidFill>
                        <a:latin typeface="Cambria Math" panose="02040503050406030204" pitchFamily="18" charset="0"/>
                      </a:rPr>
                      <m:t>)=</m:t>
                    </m:r>
                    <m:nary>
                      <m:naryPr>
                        <m:chr m:val="∑"/>
                        <m:limLoc m:val="subSup"/>
                        <m:grow m:val="on"/>
                        <m:ctrlPr>
                          <a:rPr lang="en-IN" i="1">
                            <a:solidFill>
                              <a:schemeClr val="bg2"/>
                            </a:solidFill>
                            <a:latin typeface="Cambria Math" panose="02040503050406030204" pitchFamily="18" charset="0"/>
                          </a:rPr>
                        </m:ctrlPr>
                      </m:naryPr>
                      <m:sub>
                        <m:r>
                          <a:rPr lang="en-IN" i="1">
                            <a:solidFill>
                              <a:schemeClr val="bg2"/>
                            </a:solidFill>
                            <a:latin typeface="Cambria Math" panose="02040503050406030204" pitchFamily="18" charset="0"/>
                          </a:rPr>
                          <m:t>𝑖</m:t>
                        </m:r>
                        <m:r>
                          <a:rPr lang="en-IN" i="1">
                            <a:solidFill>
                              <a:schemeClr val="bg2"/>
                            </a:solidFill>
                            <a:latin typeface="Cambria Math" panose="02040503050406030204" pitchFamily="18" charset="0"/>
                          </a:rPr>
                          <m:t>=1</m:t>
                        </m:r>
                      </m:sub>
                      <m:sup>
                        <m:r>
                          <a:rPr lang="en-IN" i="1">
                            <a:solidFill>
                              <a:schemeClr val="bg2"/>
                            </a:solidFill>
                            <a:latin typeface="Cambria Math" panose="02040503050406030204" pitchFamily="18" charset="0"/>
                          </a:rPr>
                          <m:t>𝑛</m:t>
                        </m:r>
                      </m:sup>
                      <m:e>
                        <m:sSubSup>
                          <m:sSubSupPr>
                            <m:ctrlPr>
                              <a:rPr lang="en-IN" i="1">
                                <a:solidFill>
                                  <a:schemeClr val="bg2"/>
                                </a:solidFill>
                                <a:latin typeface="Cambria Math" panose="02040503050406030204" pitchFamily="18" charset="0"/>
                              </a:rPr>
                            </m:ctrlPr>
                          </m:sSubSupPr>
                          <m:e>
                            <m:r>
                              <a:rPr lang="en-IN" i="1">
                                <a:solidFill>
                                  <a:schemeClr val="bg2"/>
                                </a:solidFill>
                                <a:latin typeface="Cambria Math" panose="02040503050406030204" pitchFamily="18" charset="0"/>
                              </a:rPr>
                              <m:t>𝑥</m:t>
                            </m:r>
                          </m:e>
                          <m:sub>
                            <m:r>
                              <a:rPr lang="en-IN" i="1">
                                <a:solidFill>
                                  <a:schemeClr val="bg2"/>
                                </a:solidFill>
                                <a:latin typeface="Cambria Math" panose="02040503050406030204" pitchFamily="18" charset="0"/>
                              </a:rPr>
                              <m:t>𝑖</m:t>
                            </m:r>
                          </m:sub>
                          <m:sup>
                            <m:r>
                              <a:rPr lang="en-IN" i="1">
                                <a:solidFill>
                                  <a:schemeClr val="bg2"/>
                                </a:solidFill>
                                <a:latin typeface="Cambria Math" panose="02040503050406030204" pitchFamily="18" charset="0"/>
                              </a:rPr>
                              <m:t>2</m:t>
                            </m:r>
                          </m:sup>
                        </m:sSubSup>
                      </m:e>
                    </m:nary>
                  </m:oMath>
                </a14:m>
                <a:r>
                  <a:rPr lang="en-IN" i="1" dirty="0">
                    <a:solidFill>
                      <a:schemeClr val="bg2"/>
                    </a:solidFill>
                  </a:rPr>
                  <a:t>​ </a:t>
                </a:r>
                <a:endParaRPr lang="en-IN" dirty="0">
                  <a:solidFill>
                    <a:schemeClr val="bg2"/>
                  </a:solidFill>
                </a:endParaRPr>
              </a:p>
              <a:p>
                <a:pPr marL="76200" lvl="0" indent="0">
                  <a:buClr>
                    <a:schemeClr val="bg2"/>
                  </a:buClr>
                  <a:buNone/>
                </a:pPr>
                <a:r>
                  <a:rPr lang="en-IN" dirty="0">
                    <a:solidFill>
                      <a:schemeClr val="bg2"/>
                    </a:solidFill>
                  </a:rPr>
                  <a:t>          </a:t>
                </a:r>
                <a:r>
                  <a:rPr lang="en-IN" dirty="0" err="1">
                    <a:solidFill>
                      <a:schemeClr val="bg2"/>
                    </a:solidFill>
                  </a:rPr>
                  <a:t>fitness_func</a:t>
                </a:r>
                <a:r>
                  <a:rPr lang="en-IN" dirty="0">
                    <a:solidFill>
                      <a:schemeClr val="bg2"/>
                    </a:solidFill>
                  </a:rPr>
                  <a:t> returns the negative sum of squares to convert minimization into maximization.</a:t>
                </a:r>
              </a:p>
              <a:p>
                <a:pPr marL="76200" lvl="0" indent="0">
                  <a:buClr>
                    <a:schemeClr val="bg2"/>
                  </a:buClr>
                  <a:buNone/>
                </a:pPr>
                <a:r>
                  <a:rPr lang="en-IN" dirty="0">
                    <a:solidFill>
                      <a:schemeClr val="bg2"/>
                    </a:solidFill>
                  </a:rPr>
                  <a:t>          </a:t>
                </a:r>
                <a:r>
                  <a:rPr lang="en-IN" dirty="0" err="1">
                    <a:solidFill>
                      <a:schemeClr val="bg2"/>
                    </a:solidFill>
                  </a:rPr>
                  <a:t>generate_population</a:t>
                </a:r>
                <a:r>
                  <a:rPr lang="en-IN" dirty="0">
                    <a:solidFill>
                      <a:schemeClr val="bg2"/>
                    </a:solidFill>
                  </a:rPr>
                  <a:t> creates random individuals between 0 and 1.</a:t>
                </a:r>
              </a:p>
              <a:p>
                <a:pPr lvl="0">
                  <a:buClr>
                    <a:schemeClr val="bg2"/>
                  </a:buClr>
                  <a:buSzPct val="90000"/>
                  <a:buFont typeface="Arial" panose="020B0604020202020204" pitchFamily="34" charset="0"/>
                  <a:buChar char="•"/>
                </a:pPr>
                <a:r>
                  <a:rPr lang="en-IN" dirty="0">
                    <a:solidFill>
                      <a:schemeClr val="bg2"/>
                    </a:solidFill>
                  </a:rPr>
                  <a:t>Each generation, the top 50% (fittest) are selected as parents.</a:t>
                </a:r>
              </a:p>
              <a:p>
                <a:pPr lvl="0">
                  <a:buClr>
                    <a:schemeClr val="bg2"/>
                  </a:buClr>
                  <a:buSzPct val="90000"/>
                  <a:buFont typeface="Arial" panose="020B0604020202020204" pitchFamily="34" charset="0"/>
                  <a:buChar char="•"/>
                </a:pPr>
                <a:r>
                  <a:rPr lang="en-IN" dirty="0">
                    <a:solidFill>
                      <a:schemeClr val="bg2"/>
                    </a:solidFill>
                  </a:rPr>
                  <a:t>Offspring are created via single-point crossover between two parents.</a:t>
                </a:r>
              </a:p>
              <a:p>
                <a:pPr lvl="0">
                  <a:buClr>
                    <a:schemeClr val="bg2"/>
                  </a:buClr>
                  <a:buSzPct val="90000"/>
                  <a:buFont typeface="Arial" panose="020B0604020202020204" pitchFamily="34" charset="0"/>
                  <a:buChar char="•"/>
                </a:pPr>
                <a:r>
                  <a:rPr lang="en-IN" dirty="0">
                    <a:solidFill>
                      <a:schemeClr val="bg2"/>
                    </a:solidFill>
                  </a:rPr>
                  <a:t>Mutation randomly alters one gene with a small probability.</a:t>
                </a:r>
              </a:p>
              <a:p>
                <a:pPr lvl="0">
                  <a:buClr>
                    <a:schemeClr val="bg2"/>
                  </a:buClr>
                  <a:buSzPct val="90000"/>
                  <a:buFont typeface="Arial" panose="020B0604020202020204" pitchFamily="34" charset="0"/>
                  <a:buChar char="•"/>
                </a:pPr>
                <a:r>
                  <a:rPr lang="en-IN" dirty="0">
                    <a:solidFill>
                      <a:schemeClr val="bg2"/>
                    </a:solidFill>
                  </a:rPr>
                  <a:t>The process repeats for a fixed number of generations.</a:t>
                </a:r>
              </a:p>
              <a:p>
                <a:pPr lvl="0">
                  <a:buClr>
                    <a:schemeClr val="bg2"/>
                  </a:buClr>
                  <a:buSzPct val="90000"/>
                  <a:buFont typeface="Arial" panose="020B0604020202020204" pitchFamily="34" charset="0"/>
                  <a:buChar char="•"/>
                </a:pPr>
                <a:r>
                  <a:rPr lang="en-IN" dirty="0">
                    <a:solidFill>
                      <a:schemeClr val="bg2"/>
                    </a:solidFill>
                  </a:rPr>
                  <a:t>Outputs the best individual and its minimized objective value.</a:t>
                </a:r>
              </a:p>
              <a:p>
                <a:pPr>
                  <a:buClr>
                    <a:schemeClr val="bg2"/>
                  </a:buClr>
                </a:pPr>
                <a:endParaRPr dirty="0">
                  <a:solidFill>
                    <a:schemeClr val="bg2"/>
                  </a:solidFill>
                </a:endParaRPr>
              </a:p>
            </p:txBody>
          </p:sp>
        </mc:Choice>
        <mc:Fallback>
          <p:sp>
            <p:nvSpPr>
              <p:cNvPr id="3" name="Content Placeholder 2"/>
              <p:cNvSpPr>
                <a:spLocks noGrp="1" noRot="1" noChangeAspect="1" noMove="1" noResize="1" noEditPoints="1" noAdjustHandles="1" noChangeArrowheads="1" noChangeShapeType="1" noTextEdit="1"/>
              </p:cNvSpPr>
              <p:nvPr>
                <p:ph type="body" idx="1"/>
              </p:nvPr>
            </p:nvSpPr>
            <p:spPr>
              <a:blipFill>
                <a:blip r:embed="rId2"/>
                <a:stretch>
                  <a:fillRect l="-76" t="-3074"/>
                </a:stretch>
              </a:blipFill>
            </p:spPr>
            <p:txBody>
              <a:bodyPr/>
              <a:lstStyle/>
              <a:p>
                <a:r>
                  <a:rPr lang="en-IN">
                    <a:noFill/>
                  </a:rPr>
                  <a:t> </a:t>
                </a:r>
              </a:p>
            </p:txBody>
          </p:sp>
        </mc:Fallback>
      </mc:AlternateContent>
      <p:sp>
        <p:nvSpPr>
          <p:cNvPr id="2" name="Title 1"/>
          <p:cNvSpPr>
            <a:spLocks noGrp="1"/>
          </p:cNvSpPr>
          <p:nvPr>
            <p:ph type="title" idx="4294967295"/>
          </p:nvPr>
        </p:nvSpPr>
        <p:spPr>
          <a:xfrm>
            <a:off x="1154242" y="206375"/>
            <a:ext cx="7075357" cy="857250"/>
          </a:xfrm>
          <a:prstGeom prst="rect">
            <a:avLst/>
          </a:prstGeom>
        </p:spPr>
        <p:txBody>
          <a:bodyPr/>
          <a:lstStyle/>
          <a:p>
            <a:pPr algn="ctr"/>
            <a:r>
              <a:rPr lang="en-IN" sz="2800" b="1" dirty="0"/>
              <a:t>Genetic Algorithms</a:t>
            </a:r>
          </a:p>
        </p:txBody>
      </p:sp>
      <p:sp>
        <p:nvSpPr>
          <p:cNvPr id="4" name="TextBox 3">
            <a:extLst>
              <a:ext uri="{FF2B5EF4-FFF2-40B4-BE49-F238E27FC236}">
                <a16:creationId xmlns:a16="http://schemas.microsoft.com/office/drawing/2014/main" id="{2CC0C40F-81E7-5AD6-E5BD-A08DA0E372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21</a:t>
            </a:r>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a:xfrm>
            <a:off x="914400" y="884420"/>
            <a:ext cx="8001000" cy="3802030"/>
          </a:xfrm>
        </p:spPr>
        <p:txBody>
          <a:bodyPr>
            <a:normAutofit fontScale="47500" lnSpcReduction="20000"/>
          </a:bodyPr>
          <a:lstStyle/>
          <a:p>
            <a:pPr marL="76200" indent="0">
              <a:buClr>
                <a:schemeClr val="bg2"/>
              </a:buClr>
              <a:buNone/>
            </a:pPr>
            <a:r>
              <a:rPr lang="en-US" sz="2500" dirty="0">
                <a:solidFill>
                  <a:schemeClr val="bg2"/>
                </a:solidFill>
              </a:rPr>
              <a:t>Differential Evolution seeks an optimum of a problem using improvements for a solution. It works by bringing forth new candidate solutions from the population through vector addition. DE is generally performed by mutation and crossover operations to create new vectors and replace low fitting individuals in the population.</a:t>
            </a:r>
          </a:p>
          <a:p>
            <a:pPr>
              <a:buClr>
                <a:schemeClr val="bg2"/>
              </a:buClr>
            </a:pPr>
            <a:r>
              <a:rPr lang="en-US" sz="2500" dirty="0">
                <a:solidFill>
                  <a:schemeClr val="bg2"/>
                </a:solidFill>
              </a:rPr>
              <a:t>This code implements the Differential Evolution (DE) algorithm to minimize our previously demonstrated function f(x)=∑_(</a:t>
            </a:r>
            <a:r>
              <a:rPr lang="en-US" sz="2500" dirty="0" err="1">
                <a:solidFill>
                  <a:schemeClr val="bg2"/>
                </a:solidFill>
              </a:rPr>
              <a:t>i</a:t>
            </a:r>
            <a:r>
              <a:rPr lang="en-US" sz="2500" dirty="0">
                <a:solidFill>
                  <a:schemeClr val="bg2"/>
                </a:solidFill>
              </a:rPr>
              <a:t>=1)^n▒x_i^2 :</a:t>
            </a:r>
          </a:p>
          <a:p>
            <a:pPr>
              <a:buClr>
                <a:schemeClr val="bg2"/>
              </a:buClr>
            </a:pPr>
            <a:r>
              <a:rPr lang="en-US" sz="2500" dirty="0">
                <a:solidFill>
                  <a:schemeClr val="bg2"/>
                </a:solidFill>
              </a:rPr>
              <a:t>The </a:t>
            </a:r>
            <a:r>
              <a:rPr lang="en-US" sz="2500" dirty="0" err="1">
                <a:solidFill>
                  <a:schemeClr val="bg2"/>
                </a:solidFill>
              </a:rPr>
              <a:t>differential_evolution</a:t>
            </a:r>
            <a:r>
              <a:rPr lang="en-US" sz="2500" dirty="0">
                <a:solidFill>
                  <a:schemeClr val="bg2"/>
                </a:solidFill>
              </a:rPr>
              <a:t> function initializes a population of candidate solutions by sampling uniformly within the specified bounds for each parameter.</a:t>
            </a:r>
          </a:p>
          <a:p>
            <a:pPr>
              <a:buClr>
                <a:schemeClr val="bg2"/>
              </a:buClr>
            </a:pPr>
            <a:r>
              <a:rPr lang="en-US" sz="2500" dirty="0">
                <a:solidFill>
                  <a:schemeClr val="bg2"/>
                </a:solidFill>
              </a:rPr>
              <a:t>For each individual (target vector) in the population, three distinct individuals a, b and c are selected to generate a mutant vector using the formula mutant = a + F⋅(b−c) where F is a scaling factor which controls differential variation.</a:t>
            </a:r>
          </a:p>
          <a:p>
            <a:pPr>
              <a:buClr>
                <a:schemeClr val="bg2"/>
              </a:buClr>
            </a:pPr>
            <a:r>
              <a:rPr lang="en-US" sz="2500" dirty="0">
                <a:solidFill>
                  <a:schemeClr val="bg2"/>
                </a:solidFill>
              </a:rPr>
              <a:t>A trial vector is created by mixing the target and mutant vectors based on a crossover rate (CR).</a:t>
            </a:r>
          </a:p>
          <a:p>
            <a:pPr>
              <a:buClr>
                <a:schemeClr val="bg2"/>
              </a:buClr>
            </a:pPr>
            <a:r>
              <a:rPr lang="en-US" sz="2500" dirty="0">
                <a:solidFill>
                  <a:schemeClr val="bg2"/>
                </a:solidFill>
              </a:rPr>
              <a:t>If the fitness of the trial vector is better than that of the target, it replaces the target in the next generation.</a:t>
            </a:r>
          </a:p>
          <a:p>
            <a:pPr>
              <a:buClr>
                <a:schemeClr val="bg2"/>
              </a:buClr>
            </a:pPr>
            <a:r>
              <a:rPr lang="en-US" sz="2500" dirty="0">
                <a:solidFill>
                  <a:schemeClr val="bg2"/>
                </a:solidFill>
              </a:rPr>
              <a:t>The process repeats for a specified number of generations (</a:t>
            </a:r>
            <a:r>
              <a:rPr lang="en-US" sz="2500" dirty="0" err="1">
                <a:solidFill>
                  <a:schemeClr val="bg2"/>
                </a:solidFill>
              </a:rPr>
              <a:t>max_generations</a:t>
            </a:r>
            <a:r>
              <a:rPr lang="en-US" sz="2500" dirty="0">
                <a:solidFill>
                  <a:schemeClr val="bg2"/>
                </a:solidFill>
              </a:rPr>
              <a:t>).</a:t>
            </a:r>
          </a:p>
          <a:p>
            <a:pPr>
              <a:buClr>
                <a:schemeClr val="bg2"/>
              </a:buClr>
            </a:pPr>
            <a:r>
              <a:rPr lang="en-US" sz="2500" dirty="0">
                <a:solidFill>
                  <a:schemeClr val="bg2"/>
                </a:solidFill>
              </a:rPr>
              <a:t>This example uses the </a:t>
            </a:r>
            <a:r>
              <a:rPr lang="en-US" sz="2500" dirty="0" err="1">
                <a:solidFill>
                  <a:schemeClr val="bg2"/>
                </a:solidFill>
              </a:rPr>
              <a:t>sphere_function</a:t>
            </a:r>
            <a:r>
              <a:rPr lang="en-US" sz="2500" dirty="0">
                <a:solidFill>
                  <a:schemeClr val="bg2"/>
                </a:solidFill>
              </a:rPr>
              <a:t> as the objective where the goal is to minimize the sum of squares of the vector elements and the bounds define a 10-dimensional search space from −5.12 to 5.12.</a:t>
            </a:r>
          </a:p>
          <a:p>
            <a:pPr>
              <a:buClr>
                <a:schemeClr val="bg2"/>
              </a:buClr>
            </a:pPr>
            <a:r>
              <a:rPr lang="en-US" sz="2500" dirty="0">
                <a:solidFill>
                  <a:schemeClr val="bg2"/>
                </a:solidFill>
              </a:rPr>
              <a:t>After optimization, the code prints the best solution found and its corresponding fitness value.</a:t>
            </a:r>
          </a:p>
          <a:p>
            <a:pPr>
              <a:buClr>
                <a:schemeClr val="bg2"/>
              </a:buClr>
            </a:pPr>
            <a:endParaRPr lang="en-US" sz="2500" dirty="0">
              <a:solidFill>
                <a:schemeClr val="bg2"/>
              </a:solidFill>
            </a:endParaRPr>
          </a:p>
          <a:p>
            <a:pPr>
              <a:buClr>
                <a:schemeClr val="bg2"/>
              </a:buClr>
            </a:pPr>
            <a:endParaRPr lang="en-IN" dirty="0">
              <a:solidFill>
                <a:schemeClr val="bg2"/>
              </a:solidFill>
            </a:endParaRPr>
          </a:p>
          <a:p>
            <a:pPr>
              <a:buClr>
                <a:schemeClr val="bg2"/>
              </a:buClr>
            </a:pPr>
            <a:endParaRPr lang="en-US" dirty="0">
              <a:solidFill>
                <a:schemeClr val="bg2"/>
              </a:solidFill>
            </a:endParaRPr>
          </a:p>
          <a:p>
            <a:pPr>
              <a:buClr>
                <a:schemeClr val="bg2"/>
              </a:buClr>
            </a:pPr>
            <a:endParaRPr lang="en-IN" b="1" dirty="0">
              <a:solidFill>
                <a:schemeClr val="bg2"/>
              </a:solidFill>
            </a:endParaRPr>
          </a:p>
          <a:p>
            <a:pPr>
              <a:buClr>
                <a:schemeClr val="bg2"/>
              </a:buClr>
            </a:pPr>
            <a:endParaRPr lang="en-US" dirty="0">
              <a:solidFill>
                <a:schemeClr val="bg2"/>
              </a:solidFill>
            </a:endParaRPr>
          </a:p>
          <a:p>
            <a:pPr>
              <a:buClr>
                <a:schemeClr val="bg2"/>
              </a:buClr>
            </a:pPr>
            <a:endParaRPr dirty="0">
              <a:solidFill>
                <a:schemeClr val="bg2"/>
              </a:solidFill>
            </a:endParaRPr>
          </a:p>
        </p:txBody>
      </p:sp>
      <p:sp>
        <p:nvSpPr>
          <p:cNvPr id="2" name="Title 1"/>
          <p:cNvSpPr>
            <a:spLocks noGrp="1"/>
          </p:cNvSpPr>
          <p:nvPr>
            <p:ph type="title" idx="4294967295"/>
          </p:nvPr>
        </p:nvSpPr>
        <p:spPr>
          <a:xfrm>
            <a:off x="914400" y="206375"/>
            <a:ext cx="7315200" cy="857250"/>
          </a:xfrm>
          <a:prstGeom prst="rect">
            <a:avLst/>
          </a:prstGeom>
        </p:spPr>
        <p:txBody>
          <a:bodyPr/>
          <a:lstStyle/>
          <a:p>
            <a:pPr algn="ctr"/>
            <a:r>
              <a:rPr lang="en-IN" sz="2800" b="1" dirty="0"/>
              <a:t>Differential Evolution (DE)</a:t>
            </a:r>
            <a:br>
              <a:rPr lang="en-IN" sz="2800" b="1" dirty="0"/>
            </a:br>
            <a:br>
              <a:rPr lang="en-US" sz="2800" b="1" dirty="0"/>
            </a:br>
            <a:endParaRPr sz="2800" b="1" dirty="0"/>
          </a:p>
        </p:txBody>
      </p:sp>
      <p:sp>
        <p:nvSpPr>
          <p:cNvPr id="4" name="TextBox 3">
            <a:extLst>
              <a:ext uri="{FF2B5EF4-FFF2-40B4-BE49-F238E27FC236}">
                <a16:creationId xmlns:a16="http://schemas.microsoft.com/office/drawing/2014/main" id="{FC99BEBF-E8A8-1E5E-6631-C745EACAED7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22</a:t>
            </a: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lnSpcReduction="10000"/>
          </a:bodyPr>
          <a:lstStyle/>
          <a:p>
            <a:pPr>
              <a:buClr>
                <a:schemeClr val="bg2"/>
              </a:buClr>
            </a:pPr>
            <a:r>
              <a:rPr lang="en-US" dirty="0">
                <a:solidFill>
                  <a:schemeClr val="bg2"/>
                </a:solidFill>
              </a:rPr>
              <a:t>Metaheuristic optimization algorithms are used to supply strategies at guiding lower level heuristic techniques that are used in the optimization of difficult search spaces. Tabu search and iterated local search are two techniques that are used to enhance the capabilities of local search algorithms.</a:t>
            </a:r>
          </a:p>
          <a:p>
            <a:pPr>
              <a:buClr>
                <a:schemeClr val="bg2"/>
              </a:buClr>
            </a:pPr>
            <a:r>
              <a:rPr lang="en-US" dirty="0">
                <a:solidFill>
                  <a:schemeClr val="bg2"/>
                </a:solidFill>
              </a:rPr>
              <a:t>Tabu Search</a:t>
            </a:r>
          </a:p>
          <a:p>
            <a:pPr>
              <a:buClr>
                <a:schemeClr val="bg2"/>
              </a:buClr>
            </a:pPr>
            <a:r>
              <a:rPr lang="en-US" dirty="0">
                <a:solidFill>
                  <a:schemeClr val="bg2"/>
                </a:solidFill>
              </a:rPr>
              <a:t>Iterated Local Search (ILS)</a:t>
            </a:r>
          </a:p>
        </p:txBody>
      </p:sp>
      <p:sp>
        <p:nvSpPr>
          <p:cNvPr id="2" name="Title 1"/>
          <p:cNvSpPr>
            <a:spLocks noGrp="1"/>
          </p:cNvSpPr>
          <p:nvPr>
            <p:ph type="title" idx="4294967295"/>
          </p:nvPr>
        </p:nvSpPr>
        <p:spPr>
          <a:xfrm>
            <a:off x="914400" y="206375"/>
            <a:ext cx="7315200" cy="857250"/>
          </a:xfrm>
          <a:prstGeom prst="rect">
            <a:avLst/>
          </a:prstGeom>
        </p:spPr>
        <p:txBody>
          <a:bodyPr/>
          <a:lstStyle/>
          <a:p>
            <a:pPr algn="ctr"/>
            <a:r>
              <a:rPr lang="en-IN" sz="2800" b="1" dirty="0"/>
              <a:t>Metaheuristic Optimization</a:t>
            </a:r>
          </a:p>
        </p:txBody>
      </p:sp>
      <p:sp>
        <p:nvSpPr>
          <p:cNvPr id="4" name="TextBox 3">
            <a:extLst>
              <a:ext uri="{FF2B5EF4-FFF2-40B4-BE49-F238E27FC236}">
                <a16:creationId xmlns:a16="http://schemas.microsoft.com/office/drawing/2014/main" id="{D4356942-B2CE-32FD-63FE-DC0AB82D78B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23</a:t>
            </a:r>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3E83F-6B33-9080-3882-FBF38A40F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4AD3A-6442-4818-5841-5939C2E385C7}"/>
              </a:ext>
            </a:extLst>
          </p:cNvPr>
          <p:cNvSpPr>
            <a:spLocks noGrp="1"/>
          </p:cNvSpPr>
          <p:nvPr>
            <p:ph type="title" idx="4294967295"/>
          </p:nvPr>
        </p:nvSpPr>
        <p:spPr>
          <a:xfrm>
            <a:off x="1146748" y="206375"/>
            <a:ext cx="7082852" cy="857250"/>
          </a:xfrm>
          <a:prstGeom prst="rect">
            <a:avLst/>
          </a:prstGeom>
        </p:spPr>
        <p:txBody>
          <a:bodyPr/>
          <a:lstStyle/>
          <a:p>
            <a:pPr algn="ctr"/>
            <a:r>
              <a:rPr lang="en-IN" sz="2800" b="1" dirty="0"/>
              <a:t>Tabu Search</a:t>
            </a:r>
          </a:p>
        </p:txBody>
      </p:sp>
      <p:sp>
        <p:nvSpPr>
          <p:cNvPr id="4" name="TextBox 3">
            <a:extLst>
              <a:ext uri="{FF2B5EF4-FFF2-40B4-BE49-F238E27FC236}">
                <a16:creationId xmlns:a16="http://schemas.microsoft.com/office/drawing/2014/main" id="{205FECA1-3BA7-96F1-45EB-38136325E45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24</a:t>
            </a:r>
            <a:endParaRPr lang="en-IN" dirty="0"/>
          </a:p>
        </p:txBody>
      </p:sp>
      <p:sp>
        <p:nvSpPr>
          <p:cNvPr id="5" name="TextBox 4">
            <a:extLst>
              <a:ext uri="{FF2B5EF4-FFF2-40B4-BE49-F238E27FC236}">
                <a16:creationId xmlns:a16="http://schemas.microsoft.com/office/drawing/2014/main" id="{F1D60828-A4B1-3D0E-0CDE-895055B321D7}"/>
              </a:ext>
            </a:extLst>
          </p:cNvPr>
          <p:cNvSpPr txBox="1"/>
          <p:nvPr/>
        </p:nvSpPr>
        <p:spPr>
          <a:xfrm>
            <a:off x="1026826" y="1063625"/>
            <a:ext cx="7270230" cy="3261021"/>
          </a:xfrm>
          <a:prstGeom prst="rect">
            <a:avLst/>
          </a:prstGeom>
          <a:noFill/>
        </p:spPr>
        <p:txBody>
          <a:bodyPr wrap="square">
            <a:spAutoFit/>
          </a:bodyPr>
          <a:lstStyle/>
          <a:p>
            <a:pPr>
              <a:lnSpc>
                <a:spcPct val="107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Tabu Search improves the efficiency of local search by using memory structures that prevent cycling back to recently visited solutions. This helps the algorithm escape local optima and explore new regions of the search space.</a:t>
            </a:r>
          </a:p>
          <a:p>
            <a:pPr>
              <a:lnSpc>
                <a:spcPct val="107000"/>
              </a:lnSpc>
              <a:spcAft>
                <a:spcPts val="800"/>
              </a:spcAft>
              <a:buNone/>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Key Components</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Tabu List</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A short-term memory structure that stores recently visited solutions or moves. Any move that results in a solution on this list is considered forbidden(tabu) which helps prevent revisiting the same solutions.</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Aspiration Criteria</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An override rule that allows the algorithm to accept a tabu move if it results in a solution better than the best known so far.</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err="1">
                <a:effectLst/>
                <a:latin typeface="Aptos" panose="020B0004020202020204" pitchFamily="34" charset="0"/>
                <a:ea typeface="Aptos" panose="020B0004020202020204" pitchFamily="34" charset="0"/>
                <a:cs typeface="Times New Roman" panose="02020603050405020304" pitchFamily="18" charset="0"/>
              </a:rPr>
              <a:t>Neighborhood</a:t>
            </a:r>
            <a:r>
              <a:rPr lang="en-IN" sz="1400" b="1" kern="100" dirty="0">
                <a:effectLst/>
                <a:latin typeface="Aptos" panose="020B0004020202020204" pitchFamily="34" charset="0"/>
                <a:ea typeface="Aptos" panose="020B0004020202020204" pitchFamily="34" charset="0"/>
                <a:cs typeface="Times New Roman" panose="02020603050405020304" pitchFamily="18" charset="0"/>
              </a:rPr>
              <a:t> Search</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At each iteration, the algorithm explores </a:t>
            </a:r>
            <a:r>
              <a:rPr lang="en-IN" sz="1400" kern="100" dirty="0" err="1">
                <a:effectLst/>
                <a:latin typeface="Aptos" panose="020B0004020202020204" pitchFamily="34" charset="0"/>
                <a:ea typeface="Aptos" panose="020B0004020202020204" pitchFamily="34" charset="0"/>
                <a:cs typeface="Times New Roman" panose="02020603050405020304" pitchFamily="18" charset="0"/>
              </a:rPr>
              <a:t>neighboring</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solutions and selects the best one that is not in the tabu list. If all potential moves are tabu, the best move is chosen based on the aspiration criteria.</a:t>
            </a:r>
          </a:p>
        </p:txBody>
      </p:sp>
    </p:spTree>
    <p:extLst>
      <p:ext uri="{BB962C8B-B14F-4D97-AF65-F5344CB8AC3E}">
        <p14:creationId xmlns:p14="http://schemas.microsoft.com/office/powerpoint/2010/main" val="11870897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8465-514A-9E1F-7532-94B5474072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9C897-29A9-C779-63B8-088E988E805D}"/>
              </a:ext>
            </a:extLst>
          </p:cNvPr>
          <p:cNvSpPr>
            <a:spLocks noGrp="1"/>
          </p:cNvSpPr>
          <p:nvPr>
            <p:ph type="title" idx="4294967295"/>
          </p:nvPr>
        </p:nvSpPr>
        <p:spPr>
          <a:xfrm>
            <a:off x="1161738" y="97490"/>
            <a:ext cx="7262734" cy="857250"/>
          </a:xfrm>
          <a:prstGeom prst="rect">
            <a:avLst/>
          </a:prstGeom>
        </p:spPr>
        <p:txBody>
          <a:bodyPr/>
          <a:lstStyle/>
          <a:p>
            <a:pPr algn="ctr"/>
            <a:r>
              <a:rPr lang="en-IN" sz="2800" b="1" dirty="0"/>
              <a:t>Iterated Local Search (ILS)</a:t>
            </a:r>
            <a:br>
              <a:rPr lang="en-IN" sz="2800" b="1" dirty="0"/>
            </a:br>
            <a:endParaRPr sz="2800" b="1" dirty="0"/>
          </a:p>
        </p:txBody>
      </p:sp>
      <p:sp>
        <p:nvSpPr>
          <p:cNvPr id="4" name="TextBox 3">
            <a:extLst>
              <a:ext uri="{FF2B5EF4-FFF2-40B4-BE49-F238E27FC236}">
                <a16:creationId xmlns:a16="http://schemas.microsoft.com/office/drawing/2014/main" id="{5490D83E-DF7A-D8E0-3B96-26192FA8B97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25</a:t>
            </a:r>
            <a:endParaRPr lang="en-IN" dirty="0"/>
          </a:p>
        </p:txBody>
      </p:sp>
      <p:sp>
        <p:nvSpPr>
          <p:cNvPr id="5" name="TextBox 4">
            <a:extLst>
              <a:ext uri="{FF2B5EF4-FFF2-40B4-BE49-F238E27FC236}">
                <a16:creationId xmlns:a16="http://schemas.microsoft.com/office/drawing/2014/main" id="{18F9E741-9E5D-38FA-60F8-FE8C3E38ACBE}"/>
              </a:ext>
            </a:extLst>
          </p:cNvPr>
          <p:cNvSpPr txBox="1"/>
          <p:nvPr/>
        </p:nvSpPr>
        <p:spPr>
          <a:xfrm>
            <a:off x="831954" y="1077210"/>
            <a:ext cx="7592518" cy="3824637"/>
          </a:xfrm>
          <a:prstGeom prst="rect">
            <a:avLst/>
          </a:prstGeom>
          <a:noFill/>
        </p:spPr>
        <p:txBody>
          <a:bodyPr wrap="square">
            <a:spAutoFit/>
          </a:bodyPr>
          <a:lstStyle/>
          <a:p>
            <a:pPr>
              <a:lnSpc>
                <a:spcPct val="107000"/>
              </a:lnSpc>
              <a:spcAft>
                <a:spcPts val="800"/>
              </a:spcAft>
              <a:buNone/>
            </a:pPr>
            <a:r>
              <a:rPr lang="en-IN" sz="1400" kern="100" dirty="0">
                <a:effectLst/>
                <a:latin typeface="Aptos" panose="020B0004020202020204" pitchFamily="34" charset="0"/>
                <a:ea typeface="Aptos" panose="020B0004020202020204" pitchFamily="34" charset="0"/>
                <a:cs typeface="Times New Roman" panose="02020603050405020304" pitchFamily="18" charset="0"/>
              </a:rPr>
              <a:t>Iterated Local Search is another strategy for enhancing local search, but unlike Tabu Search, it does not use memory structures. It relies on repeated application of local search, combined with random changes to escape local minima and continue the search.</a:t>
            </a:r>
          </a:p>
          <a:p>
            <a:pPr>
              <a:lnSpc>
                <a:spcPct val="107000"/>
              </a:lnSpc>
              <a:spcAft>
                <a:spcPts val="800"/>
              </a:spcAft>
              <a:buNone/>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Key Components</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Local Search</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Starts with an initial solution and performs local search to find a local optimum.</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Perturbation</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Applies a small random change to the current solution, effectively getting it out of its current local optimum.</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Restart Mechanism</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The perturbed solution is used as a new starting point for local search. If the newly found solution is better than the current best, it is accepted. If not the search continues with further perturbations.</a:t>
            </a:r>
          </a:p>
          <a:p>
            <a:pPr marL="342900" lvl="0" indent="-342900">
              <a:lnSpc>
                <a:spcPct val="107000"/>
              </a:lnSpc>
              <a:spcAft>
                <a:spcPts val="800"/>
              </a:spcAft>
              <a:buSzPts val="1000"/>
              <a:buFont typeface="Symbol" panose="05050102010706020507" pitchFamily="18" charset="2"/>
              <a:buChar char=""/>
              <a:tabLst>
                <a:tab pos="457200" algn="l"/>
              </a:tabLst>
            </a:pPr>
            <a:r>
              <a:rPr lang="en-IN" sz="1400" b="1" kern="100" dirty="0">
                <a:effectLst/>
                <a:latin typeface="Aptos" panose="020B0004020202020204" pitchFamily="34" charset="0"/>
                <a:ea typeface="Aptos" panose="020B0004020202020204" pitchFamily="34" charset="0"/>
                <a:cs typeface="Times New Roman" panose="02020603050405020304" pitchFamily="18" charset="0"/>
              </a:rPr>
              <a:t>Exploration vs. Exploitation</a:t>
            </a:r>
            <a:r>
              <a:rPr lang="en-IN" sz="1400" kern="100" dirty="0">
                <a:effectLst/>
                <a:latin typeface="Aptos" panose="020B0004020202020204" pitchFamily="34" charset="0"/>
                <a:ea typeface="Aptos" panose="020B0004020202020204" pitchFamily="34" charset="0"/>
                <a:cs typeface="Times New Roman" panose="02020603050405020304" pitchFamily="18" charset="0"/>
              </a:rPr>
              <a:t>: ILS balances exploration (through perturbation) and exploitation (local search), making it simple yet effective for a wide range of optimization problems.</a:t>
            </a:r>
          </a:p>
        </p:txBody>
      </p:sp>
    </p:spTree>
    <p:extLst>
      <p:ext uri="{BB962C8B-B14F-4D97-AF65-F5344CB8AC3E}">
        <p14:creationId xmlns:p14="http://schemas.microsoft.com/office/powerpoint/2010/main" val="2191491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idx="1"/>
          </p:nvPr>
        </p:nvSpPr>
        <p:spPr/>
        <p:txBody>
          <a:bodyPr>
            <a:normAutofit fontScale="62500" lnSpcReduction="20000"/>
          </a:bodyPr>
          <a:lstStyle/>
          <a:p>
            <a:pPr marL="76200" indent="0">
              <a:buClr>
                <a:schemeClr val="bg2"/>
              </a:buClr>
              <a:buNone/>
            </a:pPr>
            <a:endParaRPr lang="en-US" dirty="0">
              <a:solidFill>
                <a:schemeClr val="bg2"/>
              </a:solidFill>
            </a:endParaRPr>
          </a:p>
          <a:p>
            <a:pPr>
              <a:buClr>
                <a:schemeClr val="bg2"/>
              </a:buClr>
            </a:pPr>
            <a:r>
              <a:rPr lang="en-US" b="1" dirty="0">
                <a:solidFill>
                  <a:schemeClr val="bg2"/>
                </a:solidFill>
              </a:rPr>
              <a:t>Model Training: </a:t>
            </a:r>
            <a:r>
              <a:rPr lang="en-US" dirty="0">
                <a:solidFill>
                  <a:schemeClr val="bg2"/>
                </a:solidFill>
              </a:rPr>
              <a:t>Minimize loss and update weights in ML models (e.g., Gradient Descent).</a:t>
            </a:r>
          </a:p>
          <a:p>
            <a:pPr>
              <a:buClr>
                <a:schemeClr val="bg2"/>
              </a:buClr>
            </a:pPr>
            <a:r>
              <a:rPr lang="en-US" b="1" dirty="0">
                <a:solidFill>
                  <a:schemeClr val="bg2"/>
                </a:solidFill>
              </a:rPr>
              <a:t>Deep Learning: </a:t>
            </a:r>
            <a:r>
              <a:rPr lang="en-US" dirty="0">
                <a:solidFill>
                  <a:schemeClr val="bg2"/>
                </a:solidFill>
              </a:rPr>
              <a:t>Train neural networks for image, speech, and text tasks.</a:t>
            </a:r>
          </a:p>
          <a:p>
            <a:pPr>
              <a:buClr>
                <a:schemeClr val="bg2"/>
              </a:buClr>
            </a:pPr>
            <a:r>
              <a:rPr lang="en-US" b="1" dirty="0">
                <a:solidFill>
                  <a:schemeClr val="bg2"/>
                </a:solidFill>
              </a:rPr>
              <a:t>Hyperparameter Tuning: </a:t>
            </a:r>
            <a:r>
              <a:rPr lang="en-US" dirty="0">
                <a:solidFill>
                  <a:schemeClr val="bg2"/>
                </a:solidFill>
              </a:rPr>
              <a:t>Find best learning rate, batch size, and model settings.</a:t>
            </a:r>
          </a:p>
          <a:p>
            <a:pPr>
              <a:buClr>
                <a:schemeClr val="bg2"/>
              </a:buClr>
            </a:pPr>
            <a:r>
              <a:rPr lang="en-US" b="1" dirty="0">
                <a:solidFill>
                  <a:schemeClr val="bg2"/>
                </a:solidFill>
              </a:rPr>
              <a:t>Feature Selection: </a:t>
            </a:r>
            <a:r>
              <a:rPr lang="en-US" dirty="0">
                <a:solidFill>
                  <a:schemeClr val="bg2"/>
                </a:solidFill>
              </a:rPr>
              <a:t>Choose important features and reduce dimensionality.</a:t>
            </a:r>
          </a:p>
          <a:p>
            <a:pPr>
              <a:buClr>
                <a:schemeClr val="bg2"/>
              </a:buClr>
            </a:pPr>
            <a:r>
              <a:rPr lang="en-US" b="1" dirty="0">
                <a:solidFill>
                  <a:schemeClr val="bg2"/>
                </a:solidFill>
              </a:rPr>
              <a:t>Recommendation Systems: </a:t>
            </a:r>
            <a:r>
              <a:rPr lang="en-US" dirty="0">
                <a:solidFill>
                  <a:schemeClr val="bg2"/>
                </a:solidFill>
              </a:rPr>
              <a:t>Improve user and item predictions.</a:t>
            </a:r>
          </a:p>
          <a:p>
            <a:pPr>
              <a:buClr>
                <a:schemeClr val="bg2"/>
              </a:buClr>
            </a:pPr>
            <a:r>
              <a:rPr lang="en-US" b="1" dirty="0">
                <a:solidFill>
                  <a:schemeClr val="bg2"/>
                </a:solidFill>
              </a:rPr>
              <a:t>Computer Vision: </a:t>
            </a:r>
            <a:r>
              <a:rPr lang="en-US" dirty="0">
                <a:solidFill>
                  <a:schemeClr val="bg2"/>
                </a:solidFill>
              </a:rPr>
              <a:t>Used in object detection and image recognition.</a:t>
            </a:r>
          </a:p>
          <a:p>
            <a:pPr>
              <a:buClr>
                <a:schemeClr val="bg2"/>
              </a:buClr>
            </a:pPr>
            <a:r>
              <a:rPr lang="en-US" b="1" dirty="0">
                <a:solidFill>
                  <a:schemeClr val="bg2"/>
                </a:solidFill>
              </a:rPr>
              <a:t>NLP: </a:t>
            </a:r>
            <a:r>
              <a:rPr lang="en-US" dirty="0">
                <a:solidFill>
                  <a:schemeClr val="bg2"/>
                </a:solidFill>
              </a:rPr>
              <a:t>Train models for translation, chatbots, and sentiment analysis.</a:t>
            </a:r>
          </a:p>
          <a:p>
            <a:pPr>
              <a:buClr>
                <a:schemeClr val="bg2"/>
              </a:buClr>
            </a:pPr>
            <a:r>
              <a:rPr lang="en-US" b="1" dirty="0">
                <a:solidFill>
                  <a:schemeClr val="bg2"/>
                </a:solidFill>
              </a:rPr>
              <a:t>Robotics: </a:t>
            </a:r>
            <a:r>
              <a:rPr lang="en-US" dirty="0">
                <a:solidFill>
                  <a:schemeClr val="bg2"/>
                </a:solidFill>
              </a:rPr>
              <a:t>Optimize movement and control strategies.</a:t>
            </a:r>
          </a:p>
          <a:p>
            <a:pPr>
              <a:buClr>
                <a:schemeClr val="bg2"/>
              </a:buClr>
            </a:pPr>
            <a:r>
              <a:rPr lang="en-US" b="1" dirty="0">
                <a:solidFill>
                  <a:schemeClr val="bg2"/>
                </a:solidFill>
              </a:rPr>
              <a:t>Finance &amp; Healthcare: </a:t>
            </a:r>
            <a:r>
              <a:rPr lang="en-US" dirty="0">
                <a:solidFill>
                  <a:schemeClr val="bg2"/>
                </a:solidFill>
              </a:rPr>
              <a:t>Used for prediction, diagnosis, fraud detection, and decision-making.</a:t>
            </a:r>
          </a:p>
        </p:txBody>
      </p:sp>
      <p:sp>
        <p:nvSpPr>
          <p:cNvPr id="2" name="Title 1"/>
          <p:cNvSpPr>
            <a:spLocks noGrp="1"/>
          </p:cNvSpPr>
          <p:nvPr>
            <p:ph type="title" idx="4294967295"/>
          </p:nvPr>
        </p:nvSpPr>
        <p:spPr>
          <a:xfrm>
            <a:off x="914400" y="206375"/>
            <a:ext cx="7315200" cy="857250"/>
          </a:xfrm>
          <a:prstGeom prst="rect">
            <a:avLst/>
          </a:prstGeom>
        </p:spPr>
        <p:txBody>
          <a:bodyPr/>
          <a:lstStyle/>
          <a:p>
            <a:pPr algn="ctr"/>
            <a:r>
              <a:rPr lang="en-US" sz="2800" b="1" dirty="0"/>
              <a:t>Applications of Optimization Algorithms in Machine Learning </a:t>
            </a:r>
            <a:endParaRPr sz="2800" b="1" dirty="0"/>
          </a:p>
        </p:txBody>
      </p:sp>
      <p:sp>
        <p:nvSpPr>
          <p:cNvPr id="4" name="TextBox 3">
            <a:extLst>
              <a:ext uri="{FF2B5EF4-FFF2-40B4-BE49-F238E27FC236}">
                <a16:creationId xmlns:a16="http://schemas.microsoft.com/office/drawing/2014/main" id="{2C4273C8-B158-C197-3397-D314684971E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27</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90622" y="1101387"/>
            <a:ext cx="8942119" cy="4274976"/>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sz="2800" dirty="0">
              <a:solidFill>
                <a:schemeClr val="bg2"/>
              </a:solidFill>
              <a:latin typeface="+mj-lt"/>
              <a:ea typeface="Calibri" panose="020F0502020204030204" pitchFamily="34" charset="0"/>
              <a:cs typeface="Calibri" panose="020F0502020204030204" pitchFamily="34" charset="0"/>
            </a:endParaRPr>
          </a:p>
          <a:p>
            <a:pPr marL="457200" indent="-457200">
              <a:buClr>
                <a:schemeClr val="bg2"/>
              </a:buClr>
              <a:buFont typeface="Arial" panose="020B0604020202020204" pitchFamily="34" charset="0"/>
              <a:buChar char="•"/>
            </a:pPr>
            <a:r>
              <a:rPr lang="en-US" sz="2400" dirty="0">
                <a:solidFill>
                  <a:schemeClr val="bg2"/>
                </a:solidFill>
              </a:rPr>
              <a:t>Local Search Algorithm in Artificial Intelligence</a:t>
            </a:r>
          </a:p>
          <a:p>
            <a:pPr marL="457200" indent="-457200">
              <a:buClr>
                <a:schemeClr val="bg2"/>
              </a:buClr>
              <a:buFont typeface="Arial" panose="020B0604020202020204" pitchFamily="34" charset="0"/>
              <a:buChar char="•"/>
            </a:pPr>
            <a:r>
              <a:rPr lang="en-US" sz="2400" dirty="0">
                <a:solidFill>
                  <a:schemeClr val="bg2"/>
                </a:solidFill>
              </a:rPr>
              <a:t>Working of Local Search Algorithms</a:t>
            </a:r>
          </a:p>
          <a:p>
            <a:pPr marL="457200" indent="-457200">
              <a:buClr>
                <a:schemeClr val="bg2"/>
              </a:buClr>
              <a:buFont typeface="Arial" panose="020B0604020202020204" pitchFamily="34" charset="0"/>
              <a:buChar char="•"/>
            </a:pPr>
            <a:r>
              <a:rPr lang="en-US" sz="2400" dirty="0">
                <a:solidFill>
                  <a:schemeClr val="bg2"/>
                </a:solidFill>
              </a:rPr>
              <a:t>Types of Local Search Algorithms</a:t>
            </a:r>
          </a:p>
          <a:p>
            <a:pPr marL="457200" indent="-457200">
              <a:buClr>
                <a:schemeClr val="bg2"/>
              </a:buClr>
              <a:buFont typeface="Arial" panose="020B0604020202020204" pitchFamily="34" charset="0"/>
              <a:buChar char="•"/>
            </a:pPr>
            <a:r>
              <a:rPr lang="en-US" sz="2400" dirty="0">
                <a:solidFill>
                  <a:schemeClr val="bg2"/>
                </a:solidFill>
              </a:rPr>
              <a:t>Comparison of Local Search Algorithms</a:t>
            </a:r>
          </a:p>
          <a:p>
            <a:pPr marL="457200" indent="-457200">
              <a:buClr>
                <a:schemeClr val="bg2"/>
              </a:buClr>
              <a:buFont typeface="Arial" panose="020B0604020202020204" pitchFamily="34" charset="0"/>
              <a:buChar char="•"/>
            </a:pPr>
            <a:r>
              <a:rPr lang="en-US" sz="2400" dirty="0">
                <a:solidFill>
                  <a:schemeClr val="bg2"/>
                </a:solidFill>
              </a:rPr>
              <a:t>Optimization Algorithms in Machine Learning</a:t>
            </a:r>
          </a:p>
          <a:p>
            <a:pPr marL="457200" indent="-457200">
              <a:buClr>
                <a:schemeClr val="bg2"/>
              </a:buClr>
              <a:buFont typeface="Arial" panose="020B0604020202020204" pitchFamily="34" charset="0"/>
              <a:buChar char="•"/>
            </a:pPr>
            <a:r>
              <a:rPr lang="en-US" sz="2400" dirty="0">
                <a:solidFill>
                  <a:schemeClr val="bg2"/>
                </a:solidFill>
              </a:rPr>
              <a:t>Applications of Optimization Algorithms in Machine Learning </a:t>
            </a:r>
          </a:p>
          <a:p>
            <a:pPr algn="just">
              <a:lnSpc>
                <a:spcPct val="90000"/>
              </a:lnSpc>
            </a:pPr>
            <a:endParaRPr lang="en-US" sz="2800" dirty="0">
              <a:solidFill>
                <a:schemeClr val="bg2"/>
              </a:solidFill>
              <a:latin typeface="+mj-lt"/>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90000"/>
              </a:lnSpc>
              <a:spcBef>
                <a:spcPts val="0"/>
              </a:spcBef>
              <a:spcAft>
                <a:spcPts val="0"/>
              </a:spcAft>
              <a:buNone/>
            </a:pPr>
            <a:endParaRPr lang="en-US" sz="300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28</a:t>
            </a:r>
            <a:endParaRPr lang="en-IN" dirty="0"/>
          </a:p>
        </p:txBody>
      </p:sp>
    </p:spTree>
    <p:extLst>
      <p:ext uri="{BB962C8B-B14F-4D97-AF65-F5344CB8AC3E}">
        <p14:creationId xmlns:p14="http://schemas.microsoft.com/office/powerpoint/2010/main" val="1833566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736270" y="218172"/>
            <a:ext cx="8288976" cy="44460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83127" y="1101387"/>
            <a:ext cx="8942119" cy="2031285"/>
          </a:xfrm>
          <a:prstGeom prst="rect">
            <a:avLst/>
          </a:prstGeom>
          <a:noFill/>
          <a:ln>
            <a:noFill/>
          </a:ln>
        </p:spPr>
        <p:txBody>
          <a:bodyPr spcFirstLastPara="1" wrap="square" lIns="91425" tIns="45700" rIns="91425" bIns="45700" anchor="t" anchorCtr="0">
            <a:spAutoFit/>
          </a:bodyPr>
          <a:lstStyle/>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Searching with Partial Observations </a:t>
            </a:r>
          </a:p>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Constraint Satisfaction Problems </a:t>
            </a:r>
          </a:p>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Constraint Propagation </a:t>
            </a:r>
          </a:p>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Backtracking Search </a:t>
            </a:r>
          </a:p>
          <a:p>
            <a:pPr lvl="0" algn="just">
              <a:lnSpc>
                <a:spcPct val="90000"/>
              </a:lnSpc>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Game Playing.</a:t>
            </a:r>
          </a:p>
        </p:txBody>
      </p:sp>
      <p:sp>
        <p:nvSpPr>
          <p:cNvPr id="2" name="TextBox 1">
            <a:extLst>
              <a:ext uri="{FF2B5EF4-FFF2-40B4-BE49-F238E27FC236}">
                <a16:creationId xmlns:a16="http://schemas.microsoft.com/office/drawing/2014/main" id="{E25D5782-05D4-0951-44EA-B9EE5A8C2310}"/>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29</a:t>
            </a:r>
            <a:endParaRPr lang="en-IN" dirty="0"/>
          </a:p>
        </p:txBody>
      </p:sp>
    </p:spTree>
    <p:extLst>
      <p:ext uri="{BB962C8B-B14F-4D97-AF65-F5344CB8AC3E}">
        <p14:creationId xmlns:p14="http://schemas.microsoft.com/office/powerpoint/2010/main" val="1922310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30</a:t>
            </a:r>
            <a:endParaRPr lang="en-IN" dirty="0"/>
          </a:p>
        </p:txBody>
      </p:sp>
      <p:sp>
        <p:nvSpPr>
          <p:cNvPr id="10" name="Google Shape;113;p2">
            <a:extLst>
              <a:ext uri="{FF2B5EF4-FFF2-40B4-BE49-F238E27FC236}">
                <a16:creationId xmlns:a16="http://schemas.microsoft.com/office/drawing/2014/main" id="{7EC51C08-00CA-303F-88CF-6761C177812F}"/>
              </a:ext>
            </a:extLst>
          </p:cNvPr>
          <p:cNvSpPr txBox="1"/>
          <p:nvPr/>
        </p:nvSpPr>
        <p:spPr>
          <a:xfrm>
            <a:off x="83126" y="865637"/>
            <a:ext cx="8942119" cy="4191876"/>
          </a:xfrm>
          <a:prstGeom prst="rect">
            <a:avLst/>
          </a:prstGeom>
          <a:noFill/>
          <a:ln>
            <a:noFill/>
          </a:ln>
        </p:spPr>
        <p:txBody>
          <a:bodyPr spcFirstLastPara="1" wrap="square" lIns="91425" tIns="45700" rIns="91425" bIns="45700" anchor="t" anchorCtr="0">
            <a:spAutoFit/>
          </a:bodyPr>
          <a:lstStyle/>
          <a:p>
            <a:pPr algn="just">
              <a:lnSpc>
                <a:spcPct val="90000"/>
              </a:lnSpc>
            </a:pPr>
            <a:endParaRPr lang="en-US" sz="2800" dirty="0">
              <a:solidFill>
                <a:schemeClr val="bg2"/>
              </a:solidFill>
              <a:ea typeface="Calibri" panose="020F0502020204030204" pitchFamily="34" charset="0"/>
              <a:cs typeface="Calibri" panose="020F0502020204030204" pitchFamily="34" charset="0"/>
            </a:endParaRPr>
          </a:p>
          <a:p>
            <a:pPr marL="514350" indent="-514350" algn="just">
              <a:lnSpc>
                <a:spcPct val="90000"/>
              </a:lnSpc>
              <a:buAutoNum type="arabicPeriod"/>
            </a:pPr>
            <a:r>
              <a:rPr lang="en-US" sz="2400" dirty="0"/>
              <a:t>What is a Local Search Algorithm in Artificial Intelligence?</a:t>
            </a:r>
          </a:p>
          <a:p>
            <a:pPr marL="514350" indent="-514350" algn="just">
              <a:lnSpc>
                <a:spcPct val="90000"/>
              </a:lnSpc>
              <a:buAutoNum type="arabicPeriod"/>
            </a:pPr>
            <a:r>
              <a:rPr lang="en-US" sz="2400" dirty="0"/>
              <a:t>Why are local search algorithms preferred for large or complex problems?</a:t>
            </a:r>
          </a:p>
          <a:p>
            <a:pPr marL="514350" indent="-514350" algn="just">
              <a:lnSpc>
                <a:spcPct val="90000"/>
              </a:lnSpc>
              <a:buAutoNum type="arabicPeriod"/>
            </a:pPr>
            <a:r>
              <a:rPr lang="en-US" sz="2400" dirty="0"/>
              <a:t>How does local search differ from global or uninformed search algorithms?</a:t>
            </a:r>
          </a:p>
          <a:p>
            <a:pPr marL="514350" indent="-514350" algn="just">
              <a:lnSpc>
                <a:spcPct val="90000"/>
              </a:lnSpc>
              <a:buAutoNum type="arabicPeriod"/>
            </a:pPr>
            <a:r>
              <a:rPr lang="en-US" sz="2400" dirty="0"/>
              <a:t>What is meant by a “neighbor” in local search algorithms?</a:t>
            </a:r>
          </a:p>
          <a:p>
            <a:pPr marL="514350" indent="-514350" algn="just">
              <a:lnSpc>
                <a:spcPct val="90000"/>
              </a:lnSpc>
              <a:buAutoNum type="arabicPeriod"/>
            </a:pPr>
            <a:r>
              <a:rPr lang="en-US" sz="2400" dirty="0"/>
              <a:t>Explain the working steps of a local search algorithm with an example.</a:t>
            </a:r>
          </a:p>
          <a:p>
            <a:pPr marL="514350" indent="-514350" algn="just">
              <a:lnSpc>
                <a:spcPct val="90000"/>
              </a:lnSpc>
              <a:buAutoNum type="arabicPeriod"/>
            </a:pPr>
            <a:r>
              <a:rPr lang="en-US" sz="2400" dirty="0"/>
              <a:t>Why do local search algorithms use less memory compared to other search techniques?</a:t>
            </a: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70363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a:t>
              </a: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eferences/ Articles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83126" y="239875"/>
            <a:ext cx="8942119" cy="9205557"/>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lvl="0" algn="just">
              <a:lnSpc>
                <a:spcPct val="90000"/>
              </a:lnSpc>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4"/>
              </a:rPr>
              <a:t>https://www.geeksforgeeks.org/artificial-intelligence/local-search-algorithm-in-artificial-intelligence/</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5"/>
              </a:rPr>
              <a:t>https://www.simplilearn.com/local-search-algorithms-in-ai-article</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6"/>
              </a:rPr>
              <a:t>https://www.geeksforgeeks.org/machine-learning/optimization-algorithms-in-machine-learning/</a:t>
            </a: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just">
              <a:lnSpc>
                <a:spcPct val="90000"/>
              </a:lnSpc>
            </a:pPr>
            <a:endParaRPr lang="en-US" sz="28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just" rtl="0">
              <a:lnSpc>
                <a:spcPct val="90000"/>
              </a:lnSpc>
              <a:spcBef>
                <a:spcPts val="0"/>
              </a:spcBef>
              <a:spcAft>
                <a:spcPts val="0"/>
              </a:spcAft>
              <a:buNone/>
            </a:pPr>
            <a:endParaRPr lang="en-US" sz="30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31</a:t>
            </a:r>
            <a:endParaRPr lang="en-IN" dirty="0"/>
          </a:p>
        </p:txBody>
      </p:sp>
    </p:spTree>
    <p:extLst>
      <p:ext uri="{BB962C8B-B14F-4D97-AF65-F5344CB8AC3E}">
        <p14:creationId xmlns:p14="http://schemas.microsoft.com/office/powerpoint/2010/main" val="2294786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74989" y="1285244"/>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50843" y="1907716"/>
            <a:ext cx="8942119" cy="2031285"/>
          </a:xfrm>
          <a:prstGeom prst="rect">
            <a:avLst/>
          </a:prstGeom>
          <a:noFill/>
          <a:ln>
            <a:noFill/>
          </a:ln>
        </p:spPr>
        <p:txBody>
          <a:bodyPr spcFirstLastPara="1" wrap="square" lIns="91425" tIns="45700" rIns="91425" bIns="45700" anchor="t" anchorCtr="0">
            <a:spAutoFit/>
          </a:bodyPr>
          <a:lstStyle/>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https://www.youtube.com/watch?v=g0lF_p_Zlmw</a:t>
            </a: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a:p>
            <a:pPr marL="457200" lvl="0" indent="-457200" algn="just">
              <a:lnSpc>
                <a:spcPct val="90000"/>
              </a:lnSpc>
              <a:buFont typeface="Arial" panose="020B0604020202020204" pitchFamily="34" charset="0"/>
              <a:buChar char="•"/>
            </a:pPr>
            <a:r>
              <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rPr>
              <a:t>https://www.youtube.com/watch?v=CnqMV_wXcBg</a:t>
            </a:r>
          </a:p>
          <a:p>
            <a:pPr marL="457200" lvl="0" indent="-457200" algn="just">
              <a:lnSpc>
                <a:spcPct val="90000"/>
              </a:lnSpc>
              <a:buFont typeface="Arial" panose="020B0604020202020204" pitchFamily="34" charset="0"/>
              <a:buChar char="•"/>
            </a:pPr>
            <a:endParaRPr lang="en-US" sz="2800" dirty="0">
              <a:solidFill>
                <a:schemeClr val="bg2"/>
              </a:solidFill>
              <a:latin typeface="Calibri" panose="020F0502020204030204" pitchFamily="34" charset="0"/>
              <a:ea typeface="Calibri" panose="020F0502020204030204" pitchFamily="34" charset="0"/>
              <a:cs typeface="Calibri" panose="020F0502020204030204" pitchFamily="34" charset="0"/>
              <a:hlinkClick r:id="rId3"/>
            </a:endParaRPr>
          </a:p>
        </p:txBody>
      </p:sp>
      <p:sp>
        <p:nvSpPr>
          <p:cNvPr id="7" name="TextBox 6"/>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32</a:t>
            </a:r>
            <a:endParaRPr lang="en-IN" dirty="0"/>
          </a:p>
        </p:txBody>
      </p:sp>
    </p:spTree>
    <p:extLst>
      <p:ext uri="{BB962C8B-B14F-4D97-AF65-F5344CB8AC3E}">
        <p14:creationId xmlns:p14="http://schemas.microsoft.com/office/powerpoint/2010/main" val="3288866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15311" y="1117226"/>
            <a:ext cx="9459311" cy="2655989"/>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33</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1417" y="1606730"/>
            <a:ext cx="5995852" cy="2468881"/>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parveen.e13339@cumail.in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34</a:t>
            </a:r>
            <a:endParaRPr lang="en-IN" dirty="0"/>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2304</TotalTime>
  <Words>3420</Words>
  <Application>Microsoft Office PowerPoint</Application>
  <PresentationFormat>On-screen Show (16:9)</PresentationFormat>
  <Paragraphs>367</Paragraphs>
  <Slides>34</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Vladimir Script</vt:lpstr>
      <vt:lpstr>Symbol</vt:lpstr>
      <vt:lpstr>Times New Roman</vt:lpstr>
      <vt:lpstr>Cambria</vt:lpstr>
      <vt:lpstr>Lato</vt:lpstr>
      <vt:lpstr>Arial Black</vt:lpstr>
      <vt:lpstr>Calibri</vt:lpstr>
      <vt:lpstr>Cambria Math</vt:lpstr>
      <vt:lpstr>Arial</vt:lpstr>
      <vt:lpstr>Aptos</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Hill-Climbing Search Algorithm</vt:lpstr>
      <vt:lpstr>Simulated Annealing</vt:lpstr>
      <vt:lpstr>Genetic Algorithms</vt:lpstr>
      <vt:lpstr>Features of Uninformed Search</vt:lpstr>
      <vt:lpstr> Comparison of Local Search Algorithms </vt:lpstr>
      <vt:lpstr> Comparison of Local Search Algorithms </vt:lpstr>
      <vt:lpstr>Applications of Local Search</vt:lpstr>
      <vt:lpstr>Optimization Algorithms in Machine Learning</vt:lpstr>
      <vt:lpstr>2. First-Order Algorithms</vt:lpstr>
      <vt:lpstr>Gradient Descent and Its Variants</vt:lpstr>
      <vt:lpstr>Variants of Gradient Descent</vt:lpstr>
      <vt:lpstr>Stochastic Optimization Techniques</vt:lpstr>
      <vt:lpstr>When using stochastic optimization algorithms, we consider the following practical aspects:</vt:lpstr>
      <vt:lpstr>Evolutionary Algorithms</vt:lpstr>
      <vt:lpstr>Genetic Algorithms</vt:lpstr>
      <vt:lpstr>Differential Evolution (DE)  </vt:lpstr>
      <vt:lpstr>Metaheuristic Optimization</vt:lpstr>
      <vt:lpstr>Tabu Search</vt:lpstr>
      <vt:lpstr>Iterated Local Search (ILS) </vt:lpstr>
      <vt:lpstr>Applications of Optimization Algorithms in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Parveen kumar Saini</cp:lastModifiedBy>
  <cp:revision>244</cp:revision>
  <dcterms:modified xsi:type="dcterms:W3CDTF">2025-12-20T07:00:34Z</dcterms:modified>
</cp:coreProperties>
</file>