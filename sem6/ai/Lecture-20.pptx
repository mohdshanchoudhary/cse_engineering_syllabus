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0"/>
  </p:notesMasterIdLst>
  <p:sldIdLst>
    <p:sldId id="256" r:id="rId2"/>
    <p:sldId id="283" r:id="rId3"/>
    <p:sldId id="284" r:id="rId4"/>
    <p:sldId id="346" r:id="rId5"/>
    <p:sldId id="426" r:id="rId6"/>
    <p:sldId id="427" r:id="rId7"/>
    <p:sldId id="387" r:id="rId8"/>
    <p:sldId id="388" r:id="rId9"/>
    <p:sldId id="418" r:id="rId10"/>
    <p:sldId id="428" r:id="rId11"/>
    <p:sldId id="429" r:id="rId12"/>
    <p:sldId id="384" r:id="rId13"/>
    <p:sldId id="404" r:id="rId14"/>
    <p:sldId id="386" r:id="rId15"/>
    <p:sldId id="430" r:id="rId16"/>
    <p:sldId id="431" r:id="rId17"/>
    <p:sldId id="405" r:id="rId18"/>
    <p:sldId id="432" r:id="rId19"/>
    <p:sldId id="433" r:id="rId20"/>
    <p:sldId id="434" r:id="rId21"/>
    <p:sldId id="435" r:id="rId22"/>
    <p:sldId id="262" r:id="rId23"/>
    <p:sldId id="406" r:id="rId24"/>
    <p:sldId id="436" r:id="rId25"/>
    <p:sldId id="265" r:id="rId26"/>
    <p:sldId id="266" r:id="rId27"/>
    <p:sldId id="398" r:id="rId28"/>
    <p:sldId id="437" r:id="rId29"/>
    <p:sldId id="420" r:id="rId30"/>
    <p:sldId id="421" r:id="rId31"/>
    <p:sldId id="438" r:id="rId32"/>
    <p:sldId id="416" r:id="rId33"/>
    <p:sldId id="287" r:id="rId34"/>
    <p:sldId id="288" r:id="rId35"/>
    <p:sldId id="300" r:id="rId36"/>
    <p:sldId id="301" r:id="rId37"/>
    <p:sldId id="307" r:id="rId38"/>
    <p:sldId id="305" r:id="rId39"/>
  </p:sldIdLst>
  <p:sldSz cx="9144000" cy="5143500" type="screen16x9"/>
  <p:notesSz cx="6858000" cy="9144000"/>
  <p:embeddedFontLst>
    <p:embeddedFont>
      <p:font typeface="Arial Black" panose="020B0A04020102020204" pitchFamily="34" charset="0"/>
      <p:bold r:id="rId41"/>
    </p:embeddedFont>
    <p:embeddedFont>
      <p:font typeface="Cambria" panose="02040503050406030204" pitchFamily="18" charset="0"/>
      <p:regular r:id="rId42"/>
      <p:bold r:id="rId43"/>
      <p:italic r:id="rId44"/>
      <p:boldItalic r:id="rId45"/>
    </p:embeddedFont>
    <p:embeddedFont>
      <p:font typeface="Lato" panose="020F0502020204030203" pitchFamily="34" charset="0"/>
      <p:regular r:id="rId46"/>
      <p:bold r:id="rId47"/>
      <p:italic r:id="rId48"/>
      <p:boldItalic r:id="rId49"/>
    </p:embeddedFont>
    <p:embeddedFont>
      <p:font typeface="Vladimir Script" panose="03050402040407070305" pitchFamily="66" charset="0"/>
      <p:regular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7"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719" autoAdjust="0"/>
  </p:normalViewPr>
  <p:slideViewPr>
    <p:cSldViewPr snapToGrid="0">
      <p:cViewPr varScale="1">
        <p:scale>
          <a:sx n="94" d="100"/>
          <a:sy n="94" d="100"/>
        </p:scale>
        <p:origin x="1066"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 Id="rId5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00AA9E-45AA-4AC2-8AA2-7DA856E9A7A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550A3-8119-6875-5A21-C5D3DA1F86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C1F8D45D-F0E2-4C9E-7AD4-3CC086F6FF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1828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4BB2C93B-7FE2-A8D6-21D2-CB1FAAB4160A}"/>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35863A3-7B58-0DD0-4438-352440F081B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C70A685-A7E2-6333-F188-6854C80611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11916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A372F58-B768-6479-9ED4-231ABFBAFC13}"/>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09F8A51-43DF-FAB8-9D31-F7DFABF9A2A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5FECEDFC-D3CA-4766-DF21-08B560A1F1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299195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FDD8EFD-8B50-985D-79FA-0EA995E984D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57B68AD-40D3-74D9-9781-8EB043380D7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9D044445-482E-EF3F-2DD9-01B0B57A49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630395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C1ECD05-A863-2905-B1E1-4904A48906BF}"/>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C69E6C7-4B4E-1BCD-77BD-13285C9DE58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5E22B8C1-8601-8178-D36B-CDA70C2CF7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09395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FBB63D35-EB88-A04F-2DEE-71DA82B1DD9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058AA1D-DF23-4A33-0648-E19DDCCA16A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252EFA2D-1F6A-3C95-E152-CA2BC40B10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840541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4AC8334-8435-597A-6005-64015906922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966BDE4D-504A-E452-0434-80E89257043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463F824E-6753-EC86-B124-3B47586E72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59734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EDB109B8-DAFB-AA3F-4C7B-BD4427EBF343}"/>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152953F-2BFE-E964-74E2-C77324DA728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CE97E621-D113-C3F1-AA70-BE1665D1D3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427261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DC6B188-50BE-1462-9C1F-8A04851B159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77D9A8D-58E4-893A-007B-3DF6A8F5485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24220F46-00CA-4A10-D9F6-26C0CBF6AC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667964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400F7C4-7E3A-48ED-F7F6-6E65B5D309E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D140EAC-C3F9-504A-BBC3-60B4CB93DBC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BF96693C-AC00-C016-9611-2BBF785210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476833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9252369-27D2-45F1-209A-6E1E83D5ADC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7D1CE1F-2D7A-7CB5-EAEE-6384D4B63DC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943EFD16-55FB-A9D0-C3AB-C08794B75F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541845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5AD1EF5-801C-7AF7-C2F0-0F4F70613BC3}"/>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804ED2-0487-BB1B-64AF-27DE5FEE431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7272F553-A4E3-FCE5-9898-4EF3F5A93B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888120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AA2F001-1E38-996A-1259-42E26557C98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9303ED3C-8D50-DA2A-75B4-E7723652C77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53CADE88-F577-87B9-B6B3-07714400ED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989297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FB96907-7764-F434-8CB1-3FCB86B4A63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CBC8BB0-F611-542C-7B29-5C9395BB5DE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CE7CF591-40E5-86A3-8FCC-BE9A55B7CC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458406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4636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DCB3726-0362-2FAF-4544-D653E80A863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054C790-CB3A-86B2-E1FC-93F356669F6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BC27911-813F-4265-92D1-B0A5189F1A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623639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E3C6B5E-FCDB-9EF8-CC17-386914C32A7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9253D92-9448-ACDA-7653-E48E9D40B73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0C9986F-9DA2-F02D-1CFE-06C0DD4719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665213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939931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9D8B882-0A42-A997-B7C2-B7E4A790F75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0D5EBF7-7AF6-6579-8561-57B613E9489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533F13B-1510-E87D-A49C-D1857BE0DD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262007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18896A3-CA15-4C87-8FB7-24487FE577F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9BF4E4D-8363-3E77-BFA5-048BFD297E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F1179ABD-E767-1A65-FB79-9B790ADA68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170333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418237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1E2C0C-79EA-9DB7-B0A8-4CEF2F72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200" marR="0" lvl="0" indent="-381000" algn="l">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30906" y="22034"/>
            <a:ext cx="652311" cy="104895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16"/>
        <p:cNvGrpSpPr/>
        <p:nvPr/>
      </p:nvGrpSpPr>
      <p:grpSpPr>
        <a:xfrm>
          <a:off x="0" y="0"/>
          <a:ext cx="0" cy="0"/>
          <a:chOff x="0" y="0"/>
          <a:chExt cx="0" cy="0"/>
        </a:xfrm>
      </p:grpSpPr>
      <p:sp>
        <p:nvSpPr>
          <p:cNvPr id="17" name="Google Shape;17;p31"/>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 name="Google Shape;18;p31"/>
          <p:cNvGrpSpPr/>
          <p:nvPr/>
        </p:nvGrpSpPr>
        <p:grpSpPr>
          <a:xfrm>
            <a:off x="830392" y="1191256"/>
            <a:ext cx="745763" cy="45826"/>
            <a:chOff x="4580561" y="2589004"/>
            <a:chExt cx="1064464" cy="25200"/>
          </a:xfrm>
        </p:grpSpPr>
        <p:sp>
          <p:nvSpPr>
            <p:cNvPr id="19" name="Google Shape;19;p3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 name="Google Shape;21;p31"/>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22" name="Google Shape;22;p31"/>
          <p:cNvSpPr txBox="1">
            <a:spLocks noGrp="1"/>
          </p:cNvSpPr>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23" name="Google Shape;23;p3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311700" y="445025"/>
            <a:ext cx="8520600" cy="57270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51272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4"/>
        <p:cNvGrpSpPr/>
        <p:nvPr/>
      </p:nvGrpSpPr>
      <p:grpSpPr>
        <a:xfrm>
          <a:off x="0" y="0"/>
          <a:ext cx="0" cy="0"/>
          <a:chOff x="0" y="0"/>
          <a:chExt cx="0" cy="0"/>
        </a:xfrm>
      </p:grpSpPr>
      <p:grpSp>
        <p:nvGrpSpPr>
          <p:cNvPr id="25" name="Google Shape;25;p32"/>
          <p:cNvGrpSpPr/>
          <p:nvPr/>
        </p:nvGrpSpPr>
        <p:grpSpPr>
          <a:xfrm>
            <a:off x="830392" y="1191256"/>
            <a:ext cx="745763" cy="45826"/>
            <a:chOff x="4580561" y="2589004"/>
            <a:chExt cx="1064464" cy="25200"/>
          </a:xfrm>
        </p:grpSpPr>
        <p:sp>
          <p:nvSpPr>
            <p:cNvPr id="26" name="Google Shape;26;p32"/>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3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 name="Google Shape;28;p32"/>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29" name="Google Shape;29;p3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3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830392" y="1191256"/>
            <a:ext cx="745763" cy="45826"/>
            <a:chOff x="4580561" y="2589004"/>
            <a:chExt cx="1064464" cy="25200"/>
          </a:xfrm>
        </p:grpSpPr>
        <p:sp>
          <p:nvSpPr>
            <p:cNvPr id="33" name="Google Shape;33;p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 name="Google Shape;35;p3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36" name="Google Shape;36;p3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7" name="Google Shape;37;p3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3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0" name="Google Shape;40;p34"/>
          <p:cNvGrpSpPr/>
          <p:nvPr/>
        </p:nvGrpSpPr>
        <p:grpSpPr>
          <a:xfrm>
            <a:off x="830392" y="1191256"/>
            <a:ext cx="745763" cy="45826"/>
            <a:chOff x="4580561" y="2589004"/>
            <a:chExt cx="1064464" cy="25200"/>
          </a:xfrm>
        </p:grpSpPr>
        <p:sp>
          <p:nvSpPr>
            <p:cNvPr id="41" name="Google Shape;41;p3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 name="Google Shape;43;p34"/>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4" name="Google Shape;44;p34"/>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5" name="Google Shape;45;p34"/>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6" name="Google Shape;46;p3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3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35"/>
          <p:cNvGrpSpPr/>
          <p:nvPr/>
        </p:nvGrpSpPr>
        <p:grpSpPr>
          <a:xfrm>
            <a:off x="830392" y="1191256"/>
            <a:ext cx="745763" cy="45826"/>
            <a:chOff x="4580561" y="2589004"/>
            <a:chExt cx="1064464" cy="25200"/>
          </a:xfrm>
        </p:grpSpPr>
        <p:sp>
          <p:nvSpPr>
            <p:cNvPr id="50" name="Google Shape;50;p3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3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35"/>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3" name="Google Shape;53;p3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
        <p:cNvGrpSpPr/>
        <p:nvPr/>
      </p:nvGrpSpPr>
      <p:grpSpPr>
        <a:xfrm>
          <a:off x="0" y="0"/>
          <a:ext cx="0" cy="0"/>
          <a:chOff x="0" y="0"/>
          <a:chExt cx="0" cy="0"/>
        </a:xfrm>
      </p:grpSpPr>
      <p:sp>
        <p:nvSpPr>
          <p:cNvPr id="55" name="Google Shape;55;p3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6" name="Google Shape;56;p36"/>
          <p:cNvGrpSpPr/>
          <p:nvPr/>
        </p:nvGrpSpPr>
        <p:grpSpPr>
          <a:xfrm>
            <a:off x="830392" y="1191256"/>
            <a:ext cx="745763" cy="45826"/>
            <a:chOff x="4580561" y="2589004"/>
            <a:chExt cx="1064464" cy="25200"/>
          </a:xfrm>
        </p:grpSpPr>
        <p:sp>
          <p:nvSpPr>
            <p:cNvPr id="57" name="Google Shape;57;p3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36"/>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0" name="Google Shape;60;p36"/>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1" name="Google Shape;61;p3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62"/>
        <p:cNvGrpSpPr/>
        <p:nvPr/>
      </p:nvGrpSpPr>
      <p:grpSpPr>
        <a:xfrm>
          <a:off x="0" y="0"/>
          <a:ext cx="0" cy="0"/>
          <a:chOff x="0" y="0"/>
          <a:chExt cx="0" cy="0"/>
        </a:xfrm>
      </p:grpSpPr>
      <p:grpSp>
        <p:nvGrpSpPr>
          <p:cNvPr id="63" name="Google Shape;63;p37"/>
          <p:cNvGrpSpPr/>
          <p:nvPr/>
        </p:nvGrpSpPr>
        <p:grpSpPr>
          <a:xfrm>
            <a:off x="830392" y="4169130"/>
            <a:ext cx="745763" cy="45826"/>
            <a:chOff x="4580561" y="2589004"/>
            <a:chExt cx="1064464" cy="25200"/>
          </a:xfrm>
        </p:grpSpPr>
        <p:sp>
          <p:nvSpPr>
            <p:cNvPr id="64" name="Google Shape;64;p3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 name="Google Shape;66;p37"/>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7" name="Google Shape;67;p3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38"/>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0" name="Google Shape;70;p38"/>
          <p:cNvGrpSpPr/>
          <p:nvPr/>
        </p:nvGrpSpPr>
        <p:grpSpPr>
          <a:xfrm>
            <a:off x="830392" y="1191256"/>
            <a:ext cx="745763" cy="45826"/>
            <a:chOff x="4580561" y="2589004"/>
            <a:chExt cx="1064464" cy="25200"/>
          </a:xfrm>
        </p:grpSpPr>
        <p:sp>
          <p:nvSpPr>
            <p:cNvPr id="71" name="Google Shape;71;p3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38"/>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74" name="Google Shape;74;p38"/>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75" name="Google Shape;75;p38"/>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76" name="Google Shape;76;p3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
        <p:cNvGrpSpPr/>
        <p:nvPr/>
      </p:nvGrpSpPr>
      <p:grpSpPr>
        <a:xfrm>
          <a:off x="0" y="0"/>
          <a:ext cx="0" cy="0"/>
          <a:chOff x="0" y="0"/>
          <a:chExt cx="0" cy="0"/>
        </a:xfrm>
      </p:grpSpPr>
      <p:sp>
        <p:nvSpPr>
          <p:cNvPr id="78" name="Google Shape;78;p39"/>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79" name="Google Shape;79;p3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80"/>
        <p:cNvGrpSpPr/>
        <p:nvPr/>
      </p:nvGrpSpPr>
      <p:grpSpPr>
        <a:xfrm>
          <a:off x="0" y="0"/>
          <a:ext cx="0" cy="0"/>
          <a:chOff x="0" y="0"/>
          <a:chExt cx="0" cy="0"/>
        </a:xfrm>
      </p:grpSpPr>
      <p:grpSp>
        <p:nvGrpSpPr>
          <p:cNvPr id="81" name="Google Shape;81;p40"/>
          <p:cNvGrpSpPr/>
          <p:nvPr/>
        </p:nvGrpSpPr>
        <p:grpSpPr>
          <a:xfrm>
            <a:off x="830392" y="4169130"/>
            <a:ext cx="745763" cy="45826"/>
            <a:chOff x="4580561" y="2589004"/>
            <a:chExt cx="1064464" cy="25200"/>
          </a:xfrm>
        </p:grpSpPr>
        <p:sp>
          <p:nvSpPr>
            <p:cNvPr id="82" name="Google Shape;82;p4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4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 name="Google Shape;84;p40"/>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5" name="Google Shape;85;p40"/>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86" name="Google Shape;86;p4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4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311700" y="445025"/>
            <a:ext cx="8520600" cy="5727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87500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5BCAD085-E8A6-8845-BD4E-CB4CCA059FC4}" type="datetimeFigureOut">
              <a:rPr lang="en-US" smtClean="0"/>
              <a:t>1/3/2026</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285535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7" name="Google Shape;7;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2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62"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 id="2147483664" r:id="rId15"/>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www.geeksforgeeks.org/depth-first-search-or-dfs-for-a-graph/" TargetMode="External"/><Relationship Id="rId7"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www.geeksforgeeks.org/prims-minimum-spanning-tree-mst-greedy-algo-5/" TargetMode="External"/><Relationship Id="rId5" Type="http://schemas.openxmlformats.org/officeDocument/2006/relationships/hyperlink" Target="https://www.geeksforgeeks.org/topological-sorting-indegree-based-solution/" TargetMode="External"/><Relationship Id="rId4" Type="http://schemas.openxmlformats.org/officeDocument/2006/relationships/hyperlink" Target="https://www.geeksforgeeks.org/dijkstras-shortest-path-algorithm-greedy-algo-7/"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hyperlink" Target="https://www.geeksforgeeks.org/dsa/breadth-first-search-or-bfs-for-a-graph/"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hyperlink" Target="https://www.geeksforgeeks.org/dsa/depth-first-search-or-dfs-for-a-graph/"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hyperlink" Target="https://www.geeksforgeeks.org/artificial-intelligence/artificial-intelligence-101/" TargetMode="External"/><Relationship Id="rId7" Type="http://schemas.openxmlformats.org/officeDocument/2006/relationships/hyperlink" Target="https://www.geeksforgeeks.org/artificial-intelligence/heuristic-search-techniques-in-ai/"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hyperlink" Target="https://www.geeksforgeeks.org/dsa/difference-between-bfs-and-dfs/" TargetMode="External"/><Relationship Id="rId5" Type="http://schemas.openxmlformats.org/officeDocument/2006/relationships/hyperlink" Target="https://www.geeksforgeeks.org/dsa/depth-first-search-or-dfs-for-a-graph/" TargetMode="External"/><Relationship Id="rId4" Type="http://schemas.openxmlformats.org/officeDocument/2006/relationships/hyperlink" Target="https://www.geeksforgeeks.org/dsa/breadth-first-search-or-bfs-for-a-graph/"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www.tutorialspoint.com/artificial_intelligence/artificial_intelligence_overview.htm"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66537" y="1217517"/>
            <a:ext cx="2782983" cy="278298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6572250" y="4881563"/>
            <a:ext cx="20574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 name="Google Shape;94;p1"/>
          <p:cNvSpPr/>
          <p:nvPr/>
        </p:nvSpPr>
        <p:spPr>
          <a:xfrm rot="10800000" flipH="1">
            <a:off x="7796638" y="4287563"/>
            <a:ext cx="968400" cy="867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 name="Google Shape;96;p1"/>
          <p:cNvSpPr/>
          <p:nvPr/>
        </p:nvSpPr>
        <p:spPr>
          <a:xfrm flipH="1">
            <a:off x="5284799" y="-48815"/>
            <a:ext cx="3859200" cy="4389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7" name="Google Shape;97;p1"/>
          <p:cNvSpPr/>
          <p:nvPr/>
        </p:nvSpPr>
        <p:spPr>
          <a:xfrm>
            <a:off x="1593056" y="1519145"/>
            <a:ext cx="5122200" cy="11856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
          <p:cNvSpPr/>
          <p:nvPr/>
        </p:nvSpPr>
        <p:spPr>
          <a:xfrm flipH="1">
            <a:off x="7360500" y="3929250"/>
            <a:ext cx="1774800" cy="12003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2" name="Google Shape;102;p1"/>
          <p:cNvSpPr txBox="1"/>
          <p:nvPr/>
        </p:nvSpPr>
        <p:spPr>
          <a:xfrm>
            <a:off x="759132" y="664368"/>
            <a:ext cx="8213400" cy="4764854"/>
          </a:xfrm>
          <a:prstGeom prst="rect">
            <a:avLst/>
          </a:prstGeom>
          <a:noFill/>
          <a:ln>
            <a:noFill/>
          </a:ln>
        </p:spPr>
        <p:txBody>
          <a:bodyPr spcFirstLastPara="1" wrap="square" lIns="91425" tIns="45700" rIns="91425" bIns="45700" anchor="t" anchorCtr="0">
            <a:spAutoFit/>
          </a:bodyPr>
          <a:lstStyle/>
          <a:p>
            <a:pPr lvl="0" algn="ctr">
              <a:lnSpc>
                <a:spcPct val="90000"/>
              </a:lnSpc>
              <a:buClr>
                <a:schemeClr val="dk1"/>
              </a:buClr>
              <a:buSzPts val="3200"/>
            </a:pPr>
            <a:r>
              <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UNIVERSITY INSTITUTE OF </a:t>
            </a: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ENGINEERING</a:t>
            </a:r>
            <a:endParaRPr sz="105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ctr" rtl="0">
              <a:lnSpc>
                <a:spcPct val="90000"/>
              </a:lnSpc>
              <a:spcBef>
                <a:spcPts val="1120"/>
              </a:spcBef>
              <a:spcAft>
                <a:spcPts val="0"/>
              </a:spcAft>
              <a:buClr>
                <a:schemeClr val="dk1"/>
              </a:buClr>
              <a:buSzPts val="3200"/>
              <a:buFont typeface="Arial Black"/>
              <a:buNone/>
            </a:pPr>
            <a:r>
              <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DEPARTMENT NAME-UIE</a:t>
            </a:r>
            <a:endParaRPr sz="105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lvl="0" algn="ctr">
              <a:lnSpc>
                <a:spcPct val="90000"/>
              </a:lnSpc>
              <a:spcBef>
                <a:spcPts val="1120"/>
              </a:spcBef>
              <a:buClr>
                <a:schemeClr val="dk1"/>
              </a:buClr>
              <a:buSzPts val="2800"/>
            </a:pPr>
            <a:r>
              <a:rPr lang="en-IN" sz="2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PROGRAM NAME:-Bachelor of Engineering</a:t>
            </a:r>
            <a:endParaRPr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1120"/>
              </a:spcBef>
              <a:spcAft>
                <a:spcPts val="0"/>
              </a:spcAft>
              <a:buClr>
                <a:schemeClr val="dk1"/>
              </a:buClr>
              <a:buSzPts val="2800"/>
              <a:buFont typeface="Times New Roman"/>
              <a:buNone/>
            </a:pPr>
            <a:r>
              <a:rPr lang="en-US" sz="20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SPECIALIZATION/ SEMESTER-6th</a:t>
            </a:r>
            <a:endParaRPr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ctr">
              <a:lnSpc>
                <a:spcPct val="90000"/>
              </a:lnSpc>
              <a:spcBef>
                <a:spcPts val="980"/>
              </a:spcBef>
              <a:buClr>
                <a:schemeClr val="dk1"/>
              </a:buClr>
              <a:buSzPts val="2800"/>
            </a:pPr>
            <a:r>
              <a:rPr lang="en-IN" sz="24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SUBJECT </a:t>
            </a:r>
            <a:r>
              <a:rPr lang="en-IN" sz="2400" b="1" dirty="0">
                <a:solidFill>
                  <a:schemeClr val="bg2"/>
                </a:solidFill>
                <a:latin typeface="Calibri" panose="020F0502020204030204" pitchFamily="34" charset="0"/>
                <a:ea typeface="Calibri" panose="020F0502020204030204" pitchFamily="34" charset="0"/>
                <a:cs typeface="Calibri" panose="020F0502020204030204" pitchFamily="34" charset="0"/>
              </a:rPr>
              <a:t>NAME:-Principles of Artificial Intelligence</a:t>
            </a:r>
            <a:endParaRPr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ctr">
              <a:lnSpc>
                <a:spcPct val="90000"/>
              </a:lnSpc>
              <a:spcBef>
                <a:spcPts val="980"/>
              </a:spcBef>
              <a:buClr>
                <a:schemeClr val="dk1"/>
              </a:buClr>
              <a:buSzPts val="2800"/>
            </a:pP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rPr>
              <a:t>(SUBJECT CODE-23CST-306)</a:t>
            </a:r>
            <a:endParaRPr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Unit No.2                 Chapter No.3                  Lecture No.20</a:t>
            </a: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Topic :Graph Theory and Search Strategies in Artificial Intelligence</a:t>
            </a: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Faculty Name-</a:t>
            </a:r>
            <a:r>
              <a:rPr lang="en-US" sz="1800" b="1" dirty="0" err="1">
                <a:latin typeface="Calibri" panose="020F0502020204030204" pitchFamily="34" charset="0"/>
                <a:ea typeface="Calibri" panose="020F0502020204030204" pitchFamily="34" charset="0"/>
                <a:cs typeface="Calibri" panose="020F0502020204030204" pitchFamily="34" charset="0"/>
              </a:rPr>
              <a:t>Er.Parveen</a:t>
            </a:r>
            <a:r>
              <a:rPr lang="en-US" sz="1800" b="1" dirty="0">
                <a:latin typeface="Calibri" panose="020F0502020204030204" pitchFamily="34" charset="0"/>
                <a:ea typeface="Calibri" panose="020F0502020204030204" pitchFamily="34" charset="0"/>
                <a:cs typeface="Calibri" panose="020F0502020204030204" pitchFamily="34" charset="0"/>
              </a:rPr>
              <a:t> kumar saini and </a:t>
            </a:r>
            <a:r>
              <a:rPr lang="en-US" sz="1800" b="1" dirty="0" err="1">
                <a:latin typeface="Calibri" panose="020F0502020204030204" pitchFamily="34" charset="0"/>
                <a:ea typeface="Calibri" panose="020F0502020204030204" pitchFamily="34" charset="0"/>
                <a:cs typeface="Calibri" panose="020F0502020204030204" pitchFamily="34" charset="0"/>
              </a:rPr>
              <a:t>E_Code</a:t>
            </a:r>
            <a:r>
              <a:rPr lang="en-US" sz="1800" b="1" dirty="0">
                <a:latin typeface="Calibri" panose="020F0502020204030204" pitchFamily="34" charset="0"/>
                <a:ea typeface="Calibri" panose="020F0502020204030204" pitchFamily="34" charset="0"/>
                <a:cs typeface="Calibri" panose="020F0502020204030204" pitchFamily="34" charset="0"/>
              </a:rPr>
              <a:t> -13339  Designation-AP</a:t>
            </a:r>
          </a:p>
          <a:p>
            <a:pPr>
              <a:spcBef>
                <a:spcPts val="1120"/>
              </a:spcBef>
              <a:buSzPts val="3200"/>
            </a:pPr>
            <a:endParaRPr lang="en-US" sz="3200" b="1" dirty="0">
              <a:solidFill>
                <a:schemeClr val="bg2"/>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5284800" y="0"/>
            <a:ext cx="3859199" cy="615553"/>
          </a:xfrm>
          <a:prstGeom prst="rect">
            <a:avLst/>
          </a:prstGeom>
          <a:noFill/>
        </p:spPr>
        <p:txBody>
          <a:bodyPr wrap="square" rtlCol="0">
            <a:spAutoFit/>
          </a:bodyPr>
          <a:lstStyle/>
          <a:p>
            <a:pPr algn="r"/>
            <a:r>
              <a:rPr lang="en-IN" sz="180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a:r>
              <a:rPr lang="en-IN" sz="1600" b="1" dirty="0">
                <a:latin typeface="Calibri" panose="020F0502020204030204" pitchFamily="34" charset="0"/>
                <a:ea typeface="Calibri" panose="020F0502020204030204" pitchFamily="34" charset="0"/>
                <a:cs typeface="Calibri" panose="020F0502020204030204" pitchFamily="34" charset="0"/>
              </a:rPr>
              <a:t>EVEN Semester Jan-Jun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EF27945-C1E1-DDBF-6B5A-32A668D1B0E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B82306DF-DC71-A9BC-8B35-D6290EE31CD4}"/>
              </a:ext>
            </a:extLst>
          </p:cNvPr>
          <p:cNvGrpSpPr/>
          <p:nvPr/>
        </p:nvGrpSpPr>
        <p:grpSpPr>
          <a:xfrm>
            <a:off x="724394" y="218172"/>
            <a:ext cx="8300849" cy="444600"/>
            <a:chOff x="0" y="6299"/>
            <a:chExt cx="5580934" cy="444600"/>
          </a:xfrm>
          <a:noFill/>
        </p:grpSpPr>
        <p:sp>
          <p:nvSpPr>
            <p:cNvPr id="109" name="Google Shape;109;p2">
              <a:extLst>
                <a:ext uri="{FF2B5EF4-FFF2-40B4-BE49-F238E27FC236}">
                  <a16:creationId xmlns:a16="http://schemas.microsoft.com/office/drawing/2014/main" id="{CFDB14A8-16BA-BF7C-C8D7-1E6DAD65FFC9}"/>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B1FC2D67-AE60-4AB2-F4BD-027A2C4342A0}"/>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Learning Objectives</a:t>
              </a:r>
            </a:p>
          </p:txBody>
        </p:sp>
      </p:grpSp>
      <p:sp>
        <p:nvSpPr>
          <p:cNvPr id="111" name="Google Shape;111;p2">
            <a:extLst>
              <a:ext uri="{FF2B5EF4-FFF2-40B4-BE49-F238E27FC236}">
                <a16:creationId xmlns:a16="http://schemas.microsoft.com/office/drawing/2014/main" id="{C2BF4C75-B6D5-0F71-7046-B3B05669B5D8}"/>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82F60C0-9493-6D30-C2FB-A190B5DAFBD4}"/>
              </a:ext>
            </a:extLst>
          </p:cNvPr>
          <p:cNvSpPr txBox="1"/>
          <p:nvPr/>
        </p:nvSpPr>
        <p:spPr>
          <a:xfrm>
            <a:off x="187779" y="1082770"/>
            <a:ext cx="8705797" cy="2308284"/>
          </a:xfrm>
          <a:prstGeom prst="rect">
            <a:avLst/>
          </a:prstGeom>
          <a:noFill/>
          <a:ln>
            <a:noFill/>
          </a:ln>
        </p:spPr>
        <p:txBody>
          <a:bodyPr spcFirstLastPara="1" wrap="square" lIns="91425" tIns="45700" rIns="91425" bIns="45700" anchor="t" anchorCtr="0">
            <a:spAutoFit/>
          </a:bodyPr>
          <a:lstStyle/>
          <a:p>
            <a:pPr marL="457200" lvl="0" indent="-457200" algn="just">
              <a:lnSpc>
                <a:spcPct val="90000"/>
              </a:lnSpc>
              <a:buFont typeface="Arial" panose="020B0604020202020204" pitchFamily="34" charset="0"/>
              <a:buChar char="•"/>
            </a:pPr>
            <a:r>
              <a:rPr lang="en-US" sz="2000" dirty="0"/>
              <a:t>Understand the working principles of Breadth First Search (BFS) and Depth First Search (DFS) algorithms.</a:t>
            </a:r>
          </a:p>
          <a:p>
            <a:pPr marL="457200" lvl="0" indent="-457200" algn="just">
              <a:lnSpc>
                <a:spcPct val="90000"/>
              </a:lnSpc>
              <a:buFont typeface="Arial" panose="020B0604020202020204" pitchFamily="34" charset="0"/>
              <a:buChar char="•"/>
            </a:pPr>
            <a:r>
              <a:rPr lang="en-US" sz="2000" dirty="0"/>
              <a:t>Differentiate between BFS and DFS based on traversal strategy, data structures, and applications.</a:t>
            </a:r>
          </a:p>
          <a:p>
            <a:pPr marL="457200" lvl="0" indent="-457200" algn="just">
              <a:lnSpc>
                <a:spcPct val="90000"/>
              </a:lnSpc>
              <a:buFont typeface="Arial" panose="020B0604020202020204" pitchFamily="34" charset="0"/>
              <a:buChar char="•"/>
            </a:pPr>
            <a:r>
              <a:rPr lang="en-US" sz="2000" dirty="0"/>
              <a:t>Understanding BFS and DFS to solve graph problems such as shortest path, cycle detection, and connected components.</a:t>
            </a:r>
          </a:p>
          <a:p>
            <a:pPr marL="457200" lvl="0" indent="-457200" algn="just">
              <a:lnSpc>
                <a:spcPct val="90000"/>
              </a:lnSpc>
              <a:buFont typeface="Arial" panose="020B0604020202020204" pitchFamily="34" charset="0"/>
              <a:buChar char="•"/>
            </a:pPr>
            <a:r>
              <a:rPr lang="en-US" sz="2000" dirty="0"/>
              <a:t>Understand and analyze heuristic search techniques and their role in efficient problem solving in Artificial Intelligence.</a:t>
            </a:r>
          </a:p>
        </p:txBody>
      </p:sp>
      <p:sp>
        <p:nvSpPr>
          <p:cNvPr id="7" name="TextBox 6"/>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a:t>
            </a:r>
          </a:p>
        </p:txBody>
      </p:sp>
    </p:spTree>
    <p:extLst>
      <p:ext uri="{BB962C8B-B14F-4D97-AF65-F5344CB8AC3E}">
        <p14:creationId xmlns:p14="http://schemas.microsoft.com/office/powerpoint/2010/main" val="1639758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F165C73-F363-A304-734E-7CBF8D3F9F65}"/>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17B7C442-1162-E7EE-DA61-E33D8E4C9122}"/>
              </a:ext>
            </a:extLst>
          </p:cNvPr>
          <p:cNvGrpSpPr/>
          <p:nvPr/>
        </p:nvGrpSpPr>
        <p:grpSpPr>
          <a:xfrm>
            <a:off x="760020" y="218172"/>
            <a:ext cx="8265225" cy="444600"/>
            <a:chOff x="0" y="6299"/>
            <a:chExt cx="5580934" cy="444600"/>
          </a:xfrm>
          <a:noFill/>
        </p:grpSpPr>
        <p:sp>
          <p:nvSpPr>
            <p:cNvPr id="109" name="Google Shape;109;p2">
              <a:extLst>
                <a:ext uri="{FF2B5EF4-FFF2-40B4-BE49-F238E27FC236}">
                  <a16:creationId xmlns:a16="http://schemas.microsoft.com/office/drawing/2014/main" id="{8E0F9992-62FC-4C63-BED6-091FF56DEF08}"/>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BFBE6ABC-C3B9-AA73-42F9-036BD547E8EB}"/>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Recap of Previous Lecture</a:t>
              </a:r>
            </a:p>
          </p:txBody>
        </p:sp>
      </p:grpSp>
      <p:sp>
        <p:nvSpPr>
          <p:cNvPr id="111" name="Google Shape;111;p2">
            <a:extLst>
              <a:ext uri="{FF2B5EF4-FFF2-40B4-BE49-F238E27FC236}">
                <a16:creationId xmlns:a16="http://schemas.microsoft.com/office/drawing/2014/main" id="{8B576DE2-C283-2E3E-CC36-4B7ABE8B8741}"/>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3427E39E-1443-8E67-323E-AC3515D4A144}"/>
              </a:ext>
            </a:extLst>
          </p:cNvPr>
          <p:cNvSpPr txBox="1"/>
          <p:nvPr/>
        </p:nvSpPr>
        <p:spPr>
          <a:xfrm>
            <a:off x="83127" y="1089514"/>
            <a:ext cx="8526397" cy="867890"/>
          </a:xfrm>
          <a:prstGeom prst="rect">
            <a:avLst/>
          </a:prstGeom>
          <a:noFill/>
          <a:ln>
            <a:noFill/>
          </a:ln>
        </p:spPr>
        <p:txBody>
          <a:bodyPr spcFirstLastPara="1" wrap="square" lIns="91425" tIns="45700" rIns="91425" bIns="45700" anchor="t" anchorCtr="0">
            <a:spAutoFit/>
          </a:bodyPr>
          <a:lstStyle/>
          <a:p>
            <a:pPr lvl="0" algn="just">
              <a:lnSpc>
                <a:spcPct val="90000"/>
              </a:lnSpc>
            </a:pPr>
            <a:r>
              <a:rPr lang="en-US" sz="2800" b="1" dirty="0">
                <a:latin typeface="Calibri" panose="020F0502020204030204" pitchFamily="34" charset="0"/>
                <a:ea typeface="Calibri" panose="020F0502020204030204" pitchFamily="34" charset="0"/>
                <a:cs typeface="Calibri" panose="020F0502020204030204" pitchFamily="34" charset="0"/>
              </a:rPr>
              <a:t>Graph Theory and </a:t>
            </a:r>
          </a:p>
          <a:p>
            <a:pPr lvl="0" algn="just">
              <a:lnSpc>
                <a:spcPct val="90000"/>
              </a:lnSpc>
            </a:pPr>
            <a:r>
              <a:rPr lang="en-US" sz="2800" b="1" dirty="0">
                <a:latin typeface="Calibri" panose="020F0502020204030204" pitchFamily="34" charset="0"/>
                <a:ea typeface="Calibri" panose="020F0502020204030204" pitchFamily="34" charset="0"/>
                <a:cs typeface="Calibri" panose="020F0502020204030204" pitchFamily="34" charset="0"/>
              </a:rPr>
              <a:t>Search Strategies in Artificial Intelligence</a:t>
            </a:r>
          </a:p>
        </p:txBody>
      </p:sp>
      <p:sp>
        <p:nvSpPr>
          <p:cNvPr id="7" name="TextBox 6"/>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a:t>
            </a:r>
          </a:p>
        </p:txBody>
      </p:sp>
    </p:spTree>
    <p:extLst>
      <p:ext uri="{BB962C8B-B14F-4D97-AF65-F5344CB8AC3E}">
        <p14:creationId xmlns:p14="http://schemas.microsoft.com/office/powerpoint/2010/main" val="1337512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21FBDEB-A913-C1B9-948B-6A35B30A8F94}"/>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2525DBEF-CA7B-47A3-92F8-3679D6387577}"/>
              </a:ext>
            </a:extLst>
          </p:cNvPr>
          <p:cNvGrpSpPr/>
          <p:nvPr/>
        </p:nvGrpSpPr>
        <p:grpSpPr>
          <a:xfrm>
            <a:off x="748144" y="218172"/>
            <a:ext cx="8277101" cy="613782"/>
            <a:chOff x="0" y="6299"/>
            <a:chExt cx="5580934" cy="444600"/>
          </a:xfrm>
          <a:noFill/>
        </p:grpSpPr>
        <p:sp>
          <p:nvSpPr>
            <p:cNvPr id="109" name="Google Shape;109;p2">
              <a:extLst>
                <a:ext uri="{FF2B5EF4-FFF2-40B4-BE49-F238E27FC236}">
                  <a16:creationId xmlns:a16="http://schemas.microsoft.com/office/drawing/2014/main" id="{A41BCD14-E6E6-1ADF-D1DD-D2A6AFA033C6}"/>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AF1020CC-0566-0A52-43C0-3E230CEE54DB}"/>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2000" b="1" dirty="0"/>
                <a:t>Breadth First Search or BFS for a Graph</a:t>
              </a:r>
            </a:p>
          </p:txBody>
        </p:sp>
      </p:grpSp>
      <p:sp>
        <p:nvSpPr>
          <p:cNvPr id="113" name="Google Shape;113;p2">
            <a:extLst>
              <a:ext uri="{FF2B5EF4-FFF2-40B4-BE49-F238E27FC236}">
                <a16:creationId xmlns:a16="http://schemas.microsoft.com/office/drawing/2014/main" id="{60BEAFEA-0E8E-56E7-C58A-8786E9B24727}"/>
              </a:ext>
            </a:extLst>
          </p:cNvPr>
          <p:cNvSpPr txBox="1"/>
          <p:nvPr/>
        </p:nvSpPr>
        <p:spPr>
          <a:xfrm>
            <a:off x="393875" y="800146"/>
            <a:ext cx="5419095" cy="3108503"/>
          </a:xfrm>
          <a:prstGeom prst="rect">
            <a:avLst/>
          </a:prstGeom>
          <a:noFill/>
          <a:ln>
            <a:noFill/>
          </a:ln>
        </p:spPr>
        <p:txBody>
          <a:bodyPr spcFirstLastPara="1" wrap="square" lIns="91425" tIns="45700" rIns="91425" bIns="45700" anchor="t" anchorCtr="0">
            <a:spAutoFit/>
          </a:bodyPr>
          <a:lstStyle/>
          <a:p>
            <a:pPr marL="285750" indent="-285750">
              <a:buFont typeface="Arial" panose="020B0604020202020204" pitchFamily="34" charset="0"/>
              <a:buChar char="•"/>
            </a:pPr>
            <a:r>
              <a:rPr lang="en-IN" dirty="0">
                <a:solidFill>
                  <a:schemeClr val="bg2"/>
                </a:solidFill>
              </a:rPr>
              <a:t>Breadth First Search (BFS) is a graph traversal algorithm that starts from a source node and explores the graph level by level. First, it visits all nodes directly adjacent to the source. Then, it moves on to visit the adjacent nodes of those nodes, and this process continues until all reachable nodes are visited.</a:t>
            </a:r>
          </a:p>
          <a:p>
            <a:pPr marL="285750" lvl="0" indent="-285750">
              <a:buFont typeface="Arial" panose="020B0604020202020204" pitchFamily="34" charset="0"/>
              <a:buChar char="•"/>
            </a:pPr>
            <a:r>
              <a:rPr lang="en-IN" dirty="0">
                <a:solidFill>
                  <a:schemeClr val="bg2"/>
                </a:solidFill>
              </a:rPr>
              <a:t>BFS is different from </a:t>
            </a:r>
            <a:r>
              <a:rPr lang="en-IN" u="sng" dirty="0">
                <a:solidFill>
                  <a:schemeClr val="bg2"/>
                </a:solidFill>
                <a:hlinkClick r:id="rId3">
                  <a:extLst>
                    <a:ext uri="{A12FA001-AC4F-418D-AE19-62706E023703}">
                      <ahyp:hlinkClr xmlns:ahyp="http://schemas.microsoft.com/office/drawing/2018/hyperlinkcolor" val="tx"/>
                    </a:ext>
                  </a:extLst>
                </a:hlinkClick>
              </a:rPr>
              <a:t>DFS</a:t>
            </a:r>
            <a:r>
              <a:rPr lang="en-IN" dirty="0">
                <a:solidFill>
                  <a:schemeClr val="bg2"/>
                </a:solidFill>
              </a:rPr>
              <a:t> in a way that closest vertices are visited before others. We mainly traverse vertices level by level.</a:t>
            </a:r>
          </a:p>
          <a:p>
            <a:pPr marL="285750" lvl="0" indent="-285750">
              <a:buFont typeface="Arial" panose="020B0604020202020204" pitchFamily="34" charset="0"/>
              <a:buChar char="•"/>
            </a:pPr>
            <a:r>
              <a:rPr lang="en-IN" dirty="0">
                <a:solidFill>
                  <a:schemeClr val="bg2"/>
                </a:solidFill>
              </a:rPr>
              <a:t>Popular graph algorithms like </a:t>
            </a:r>
            <a:r>
              <a:rPr lang="en-IN" u="sng" dirty="0">
                <a:solidFill>
                  <a:schemeClr val="bg2"/>
                </a:solidFill>
                <a:hlinkClick r:id="rId4">
                  <a:extLst>
                    <a:ext uri="{A12FA001-AC4F-418D-AE19-62706E023703}">
                      <ahyp:hlinkClr xmlns:ahyp="http://schemas.microsoft.com/office/drawing/2018/hyperlinkcolor" val="tx"/>
                    </a:ext>
                  </a:extLst>
                </a:hlinkClick>
              </a:rPr>
              <a:t>Dijkstra's shortest path</a:t>
            </a:r>
            <a:r>
              <a:rPr lang="en-IN" dirty="0">
                <a:solidFill>
                  <a:schemeClr val="bg2"/>
                </a:solidFill>
              </a:rPr>
              <a:t>, </a:t>
            </a:r>
            <a:r>
              <a:rPr lang="en-IN" u="sng" dirty="0">
                <a:solidFill>
                  <a:schemeClr val="bg2"/>
                </a:solidFill>
                <a:hlinkClick r:id="rId5">
                  <a:extLst>
                    <a:ext uri="{A12FA001-AC4F-418D-AE19-62706E023703}">
                      <ahyp:hlinkClr xmlns:ahyp="http://schemas.microsoft.com/office/drawing/2018/hyperlinkcolor" val="tx"/>
                    </a:ext>
                  </a:extLst>
                </a:hlinkClick>
              </a:rPr>
              <a:t>Kahn's Algorithm</a:t>
            </a:r>
            <a:r>
              <a:rPr lang="en-IN" dirty="0">
                <a:solidFill>
                  <a:schemeClr val="bg2"/>
                </a:solidFill>
              </a:rPr>
              <a:t>, and </a:t>
            </a:r>
            <a:r>
              <a:rPr lang="en-IN" u="sng" dirty="0">
                <a:solidFill>
                  <a:schemeClr val="bg2"/>
                </a:solidFill>
                <a:hlinkClick r:id="rId6">
                  <a:extLst>
                    <a:ext uri="{A12FA001-AC4F-418D-AE19-62706E023703}">
                      <ahyp:hlinkClr xmlns:ahyp="http://schemas.microsoft.com/office/drawing/2018/hyperlinkcolor" val="tx"/>
                    </a:ext>
                  </a:extLst>
                </a:hlinkClick>
              </a:rPr>
              <a:t>Prim's algorithm</a:t>
            </a:r>
            <a:r>
              <a:rPr lang="en-IN" dirty="0">
                <a:solidFill>
                  <a:schemeClr val="bg2"/>
                </a:solidFill>
              </a:rPr>
              <a:t> are based on BFS.</a:t>
            </a:r>
          </a:p>
          <a:p>
            <a:pPr marL="285750" lvl="0" indent="-285750">
              <a:buFont typeface="Arial" panose="020B0604020202020204" pitchFamily="34" charset="0"/>
              <a:buChar char="•"/>
            </a:pPr>
            <a:r>
              <a:rPr lang="en-IN" dirty="0">
                <a:solidFill>
                  <a:schemeClr val="bg2"/>
                </a:solidFill>
              </a:rPr>
              <a:t>BFS itself can be used to detect cycle in a directed and undirected graph, find shortest path in an unweighted graph and many more problems.</a:t>
            </a:r>
          </a:p>
        </p:txBody>
      </p:sp>
      <p:sp>
        <p:nvSpPr>
          <p:cNvPr id="6" name="TextBox 5">
            <a:extLst>
              <a:ext uri="{FF2B5EF4-FFF2-40B4-BE49-F238E27FC236}">
                <a16:creationId xmlns:a16="http://schemas.microsoft.com/office/drawing/2014/main" id="{E57CCFEE-FB5C-2756-D387-5566C80C68A0}"/>
              </a:ext>
            </a:extLst>
          </p:cNvPr>
          <p:cNvSpPr txBox="1"/>
          <p:nvPr/>
        </p:nvSpPr>
        <p:spPr>
          <a:xfrm>
            <a:off x="5449423" y="4154971"/>
            <a:ext cx="3597142" cy="307777"/>
          </a:xfrm>
          <a:prstGeom prst="rect">
            <a:avLst/>
          </a:prstGeom>
          <a:noFill/>
        </p:spPr>
        <p:txBody>
          <a:bodyPr wrap="square">
            <a:spAutoFit/>
          </a:bodyPr>
          <a:lstStyle/>
          <a:p>
            <a:pPr algn="just"/>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Figure-1 : BFS Graph </a:t>
            </a:r>
            <a:endParaRPr lang="en-IN" b="1" dirty="0"/>
          </a:p>
        </p:txBody>
      </p:sp>
      <p:sp>
        <p:nvSpPr>
          <p:cNvPr id="8" name="TextBox 7">
            <a:extLst>
              <a:ext uri="{FF2B5EF4-FFF2-40B4-BE49-F238E27FC236}">
                <a16:creationId xmlns:a16="http://schemas.microsoft.com/office/drawing/2014/main" id="{89FEF5F2-9B19-7CFA-F900-4BB804E835F1}"/>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a:t>
            </a:r>
            <a:endParaRPr lang="en-IN" dirty="0"/>
          </a:p>
        </p:txBody>
      </p:sp>
      <p:sp>
        <p:nvSpPr>
          <p:cNvPr id="4" name="Rectangle 3">
            <a:extLst>
              <a:ext uri="{FF2B5EF4-FFF2-40B4-BE49-F238E27FC236}">
                <a16:creationId xmlns:a16="http://schemas.microsoft.com/office/drawing/2014/main" id="{E7C12422-1B4D-E991-D772-21D6183AFDD8}"/>
              </a:ext>
            </a:extLst>
          </p:cNvPr>
          <p:cNvSpPr/>
          <p:nvPr/>
        </p:nvSpPr>
        <p:spPr>
          <a:xfrm>
            <a:off x="162751" y="4369499"/>
            <a:ext cx="5464769" cy="791435"/>
          </a:xfrm>
          <a:prstGeom prst="rect">
            <a:avLst/>
          </a:prstGeom>
        </p:spPr>
        <p:txBody>
          <a:bodyPr wrap="square">
            <a:spAutoFit/>
          </a:bodyPr>
          <a:lstStyle/>
          <a:p>
            <a:pPr algn="just">
              <a:lnSpc>
                <a:spcPct val="110000"/>
              </a:lnSpc>
              <a:buSzPct val="150000"/>
            </a:pPr>
            <a:r>
              <a:rPr lang="en-IN" b="1" i="1" dirty="0">
                <a:solidFill>
                  <a:schemeClr val="bg2"/>
                </a:solidFill>
                <a:latin typeface="Calibri" panose="020F0502020204030204" pitchFamily="34" charset="0"/>
                <a:ea typeface="Calibri" panose="020F0502020204030204" pitchFamily="34" charset="0"/>
                <a:cs typeface="Calibri" panose="020F0502020204030204" pitchFamily="34" charset="0"/>
              </a:rPr>
              <a:t>Additional / Recommended Readings: </a:t>
            </a:r>
            <a:endParaRPr lang="en-IN" i="1"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just">
              <a:lnSpc>
                <a:spcPct val="110000"/>
              </a:lnSpc>
              <a:buSzPct val="150000"/>
            </a:pPr>
            <a:r>
              <a:rPr lang="en-IN" i="1" dirty="0">
                <a:solidFill>
                  <a:schemeClr val="bg2"/>
                </a:solidFill>
                <a:latin typeface="Calibri" panose="020F0502020204030204" pitchFamily="34" charset="0"/>
                <a:ea typeface="Calibri" panose="020F0502020204030204" pitchFamily="34" charset="0"/>
                <a:cs typeface="Calibri" panose="020F0502020204030204" pitchFamily="34" charset="0"/>
              </a:rPr>
              <a:t>https://www.geeksforgeeks.org/dsa/breadth-first-search-or-bfs-for-a-graph/</a:t>
            </a:r>
          </a:p>
        </p:txBody>
      </p:sp>
      <p:pic>
        <p:nvPicPr>
          <p:cNvPr id="3" name="Picture 2">
            <a:extLst>
              <a:ext uri="{FF2B5EF4-FFF2-40B4-BE49-F238E27FC236}">
                <a16:creationId xmlns:a16="http://schemas.microsoft.com/office/drawing/2014/main" id="{CCC7A8AE-322A-B669-3587-62437FD9ED2E}"/>
              </a:ext>
            </a:extLst>
          </p:cNvPr>
          <p:cNvPicPr>
            <a:picLocks noChangeAspect="1"/>
          </p:cNvPicPr>
          <p:nvPr/>
        </p:nvPicPr>
        <p:blipFill>
          <a:blip r:embed="rId7"/>
          <a:stretch>
            <a:fillRect/>
          </a:stretch>
        </p:blipFill>
        <p:spPr>
          <a:xfrm>
            <a:off x="5812970" y="1046482"/>
            <a:ext cx="3038813" cy="2322466"/>
          </a:xfrm>
          <a:prstGeom prst="rect">
            <a:avLst/>
          </a:prstGeom>
        </p:spPr>
      </p:pic>
    </p:spTree>
    <p:extLst>
      <p:ext uri="{BB962C8B-B14F-4D97-AF65-F5344CB8AC3E}">
        <p14:creationId xmlns:p14="http://schemas.microsoft.com/office/powerpoint/2010/main" val="3017234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A60DDBD-A62A-DBD0-8EF1-5C652B3098A1}"/>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1DEED95F-68A7-618C-311E-F81A3129BC55}"/>
              </a:ext>
            </a:extLst>
          </p:cNvPr>
          <p:cNvGrpSpPr/>
          <p:nvPr/>
        </p:nvGrpSpPr>
        <p:grpSpPr>
          <a:xfrm>
            <a:off x="748144" y="218172"/>
            <a:ext cx="8277101" cy="613782"/>
            <a:chOff x="0" y="6299"/>
            <a:chExt cx="5580934" cy="444600"/>
          </a:xfrm>
          <a:noFill/>
        </p:grpSpPr>
        <p:sp>
          <p:nvSpPr>
            <p:cNvPr id="109" name="Google Shape;109;p2">
              <a:extLst>
                <a:ext uri="{FF2B5EF4-FFF2-40B4-BE49-F238E27FC236}">
                  <a16:creationId xmlns:a16="http://schemas.microsoft.com/office/drawing/2014/main" id="{6D8F05B2-DD26-09B5-2D98-57F02D2352B2}"/>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357CFE14-BDDE-543A-E471-F9083721850F}"/>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2000" b="1" dirty="0"/>
                <a:t>Breadth First Search or BFS for a Graph</a:t>
              </a:r>
            </a:p>
          </p:txBody>
        </p:sp>
      </p:grpSp>
      <p:sp>
        <p:nvSpPr>
          <p:cNvPr id="113" name="Google Shape;113;p2">
            <a:extLst>
              <a:ext uri="{FF2B5EF4-FFF2-40B4-BE49-F238E27FC236}">
                <a16:creationId xmlns:a16="http://schemas.microsoft.com/office/drawing/2014/main" id="{132A38EC-07A8-237B-21D3-354C77FB8D71}"/>
              </a:ext>
            </a:extLst>
          </p:cNvPr>
          <p:cNvSpPr txBox="1"/>
          <p:nvPr/>
        </p:nvSpPr>
        <p:spPr>
          <a:xfrm>
            <a:off x="393875" y="1331390"/>
            <a:ext cx="5233645" cy="2462172"/>
          </a:xfrm>
          <a:prstGeom prst="rect">
            <a:avLst/>
          </a:prstGeom>
          <a:noFill/>
          <a:ln>
            <a:noFill/>
          </a:ln>
        </p:spPr>
        <p:txBody>
          <a:bodyPr spcFirstLastPara="1" wrap="square" lIns="91425" tIns="45700" rIns="91425" bIns="45700" anchor="t" anchorCtr="0">
            <a:spAutoFit/>
          </a:bodyPr>
          <a:lstStyle/>
          <a:p>
            <a:pPr lvl="0" fontAlgn="base"/>
            <a:r>
              <a:rPr lang="en-IN" b="1" dirty="0"/>
              <a:t>Examples:</a:t>
            </a:r>
            <a:endParaRPr lang="en-IN" dirty="0"/>
          </a:p>
          <a:p>
            <a:pPr lvl="0" fontAlgn="base"/>
            <a:r>
              <a:rPr lang="en-IN" b="1" i="1" dirty="0"/>
              <a:t>Input: </a:t>
            </a:r>
            <a:r>
              <a:rPr lang="en-IN" i="1" dirty="0" err="1"/>
              <a:t>adj</a:t>
            </a:r>
            <a:r>
              <a:rPr lang="en-IN" i="1" dirty="0"/>
              <a:t>[][] = [[1, 2], [0, 2], [0, 1, 3, 4], [2], [2]]</a:t>
            </a:r>
            <a:endParaRPr lang="en-IN" b="1" i="1" dirty="0"/>
          </a:p>
          <a:p>
            <a:r>
              <a:rPr lang="en-IN" b="1" i="1" dirty="0"/>
              <a:t>Output:</a:t>
            </a:r>
            <a:r>
              <a:rPr lang="en-IN" i="1" dirty="0"/>
              <a:t> [0, 1, 2, 3, 4]</a:t>
            </a:r>
            <a:br>
              <a:rPr lang="en-IN" i="1" dirty="0"/>
            </a:br>
            <a:r>
              <a:rPr lang="en-IN" b="1" i="1" dirty="0"/>
              <a:t>Explanation: </a:t>
            </a:r>
            <a:r>
              <a:rPr lang="en-IN" i="1" dirty="0"/>
              <a:t>Starting from 0, the BFS traversal proceeds as follows: </a:t>
            </a:r>
            <a:br>
              <a:rPr lang="en-IN" i="1" dirty="0"/>
            </a:br>
            <a:r>
              <a:rPr lang="en-IN" i="1" dirty="0"/>
              <a:t>Visit 0 - Print: 0</a:t>
            </a:r>
            <a:br>
              <a:rPr lang="en-IN" i="1" dirty="0"/>
            </a:br>
            <a:r>
              <a:rPr lang="en-IN" i="1" dirty="0"/>
              <a:t>Visit 1 (</a:t>
            </a:r>
            <a:r>
              <a:rPr lang="en-IN" i="1" dirty="0" err="1"/>
              <a:t>neighbor</a:t>
            </a:r>
            <a:r>
              <a:rPr lang="en-IN" i="1" dirty="0"/>
              <a:t> of 0) - Print: 1</a:t>
            </a:r>
            <a:br>
              <a:rPr lang="en-IN" i="1" dirty="0"/>
            </a:br>
            <a:r>
              <a:rPr lang="en-IN" i="1" dirty="0"/>
              <a:t>Visit 2 (next </a:t>
            </a:r>
            <a:r>
              <a:rPr lang="en-IN" i="1" dirty="0" err="1"/>
              <a:t>neighbor</a:t>
            </a:r>
            <a:r>
              <a:rPr lang="en-IN" i="1" dirty="0"/>
              <a:t> of 0) - Print: 2</a:t>
            </a:r>
            <a:br>
              <a:rPr lang="en-IN" i="1" dirty="0"/>
            </a:br>
            <a:r>
              <a:rPr lang="en-IN" i="1" dirty="0"/>
              <a:t>Visit 3 (first </a:t>
            </a:r>
            <a:r>
              <a:rPr lang="en-IN" i="1" dirty="0" err="1"/>
              <a:t>neighbor</a:t>
            </a:r>
            <a:r>
              <a:rPr lang="en-IN" i="1" dirty="0"/>
              <a:t> of 2 that hasn't been visited yet) - Print: 3</a:t>
            </a:r>
            <a:br>
              <a:rPr lang="en-IN" i="1" dirty="0"/>
            </a:br>
            <a:r>
              <a:rPr lang="en-IN" i="1" dirty="0"/>
              <a:t>Visit 4 (next </a:t>
            </a:r>
            <a:r>
              <a:rPr lang="en-IN" i="1" dirty="0" err="1"/>
              <a:t>neighbor</a:t>
            </a:r>
            <a:r>
              <a:rPr lang="en-IN" i="1" dirty="0"/>
              <a:t> of 2) - Print: 4</a:t>
            </a:r>
            <a:endParaRPr lang="en-IN" dirty="0"/>
          </a:p>
          <a:p>
            <a:r>
              <a:rPr lang="en-IN" b="1" i="1" dirty="0"/>
              <a:t>Input: </a:t>
            </a:r>
            <a:r>
              <a:rPr lang="en-IN" i="1" dirty="0" err="1"/>
              <a:t>adj</a:t>
            </a:r>
            <a:r>
              <a:rPr lang="en-IN" i="1" dirty="0"/>
              <a:t>[][] = [[2, 3], [2], [0, 1], [0], [5], [4]]</a:t>
            </a:r>
            <a:endParaRPr lang="en-IN" dirty="0"/>
          </a:p>
        </p:txBody>
      </p:sp>
      <p:sp>
        <p:nvSpPr>
          <p:cNvPr id="6" name="TextBox 5">
            <a:extLst>
              <a:ext uri="{FF2B5EF4-FFF2-40B4-BE49-F238E27FC236}">
                <a16:creationId xmlns:a16="http://schemas.microsoft.com/office/drawing/2014/main" id="{F552CAF7-392B-AFEC-309F-13F1D425B8DE}"/>
              </a:ext>
            </a:extLst>
          </p:cNvPr>
          <p:cNvSpPr txBox="1"/>
          <p:nvPr/>
        </p:nvSpPr>
        <p:spPr>
          <a:xfrm>
            <a:off x="5449423" y="4154971"/>
            <a:ext cx="3597142" cy="307777"/>
          </a:xfrm>
          <a:prstGeom prst="rect">
            <a:avLst/>
          </a:prstGeom>
          <a:noFill/>
        </p:spPr>
        <p:txBody>
          <a:bodyPr wrap="square">
            <a:spAutoFit/>
          </a:bodyPr>
          <a:lstStyle/>
          <a:p>
            <a:pPr algn="just"/>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Figure-1 : BFS Graph </a:t>
            </a:r>
            <a:endParaRPr lang="en-IN" b="1" dirty="0"/>
          </a:p>
        </p:txBody>
      </p:sp>
      <p:sp>
        <p:nvSpPr>
          <p:cNvPr id="8" name="TextBox 7">
            <a:extLst>
              <a:ext uri="{FF2B5EF4-FFF2-40B4-BE49-F238E27FC236}">
                <a16:creationId xmlns:a16="http://schemas.microsoft.com/office/drawing/2014/main" id="{8E650F63-E942-EFF5-16BB-EA777B91990C}"/>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4</a:t>
            </a:r>
            <a:endParaRPr lang="en-IN" dirty="0"/>
          </a:p>
        </p:txBody>
      </p:sp>
      <p:sp>
        <p:nvSpPr>
          <p:cNvPr id="4" name="Rectangle 3">
            <a:extLst>
              <a:ext uri="{FF2B5EF4-FFF2-40B4-BE49-F238E27FC236}">
                <a16:creationId xmlns:a16="http://schemas.microsoft.com/office/drawing/2014/main" id="{2E5A66F3-598E-AE49-1259-CCFF92AB0D2D}"/>
              </a:ext>
            </a:extLst>
          </p:cNvPr>
          <p:cNvSpPr/>
          <p:nvPr/>
        </p:nvSpPr>
        <p:spPr>
          <a:xfrm>
            <a:off x="162751" y="4369499"/>
            <a:ext cx="5464769" cy="791435"/>
          </a:xfrm>
          <a:prstGeom prst="rect">
            <a:avLst/>
          </a:prstGeom>
        </p:spPr>
        <p:txBody>
          <a:bodyPr wrap="square">
            <a:spAutoFit/>
          </a:bodyPr>
          <a:lstStyle/>
          <a:p>
            <a:pPr algn="just">
              <a:lnSpc>
                <a:spcPct val="110000"/>
              </a:lnSpc>
              <a:buSzPct val="150000"/>
            </a:pPr>
            <a:r>
              <a:rPr lang="en-IN" b="1" i="1" dirty="0">
                <a:solidFill>
                  <a:schemeClr val="bg2"/>
                </a:solidFill>
                <a:latin typeface="Calibri" panose="020F0502020204030204" pitchFamily="34" charset="0"/>
                <a:ea typeface="Calibri" panose="020F0502020204030204" pitchFamily="34" charset="0"/>
                <a:cs typeface="Calibri" panose="020F0502020204030204" pitchFamily="34" charset="0"/>
              </a:rPr>
              <a:t>Additional / Recommended Readings: </a:t>
            </a:r>
            <a:endParaRPr lang="en-IN" i="1"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just">
              <a:lnSpc>
                <a:spcPct val="110000"/>
              </a:lnSpc>
              <a:buSzPct val="150000"/>
            </a:pPr>
            <a:r>
              <a:rPr lang="en-IN" i="1" dirty="0">
                <a:solidFill>
                  <a:schemeClr val="bg2"/>
                </a:solidFill>
                <a:latin typeface="Calibri" panose="020F0502020204030204" pitchFamily="34" charset="0"/>
                <a:ea typeface="Calibri" panose="020F0502020204030204" pitchFamily="34" charset="0"/>
                <a:cs typeface="Calibri" panose="020F0502020204030204" pitchFamily="34" charset="0"/>
              </a:rPr>
              <a:t>https://www.geeksforgeeks.org/dsa/breadth-first-search-or-bfs-for-a-graph/</a:t>
            </a:r>
          </a:p>
        </p:txBody>
      </p:sp>
      <p:pic>
        <p:nvPicPr>
          <p:cNvPr id="3" name="Picture 2">
            <a:extLst>
              <a:ext uri="{FF2B5EF4-FFF2-40B4-BE49-F238E27FC236}">
                <a16:creationId xmlns:a16="http://schemas.microsoft.com/office/drawing/2014/main" id="{EB8DB98C-2B84-47EF-2AC2-762C6F728FFB}"/>
              </a:ext>
            </a:extLst>
          </p:cNvPr>
          <p:cNvPicPr>
            <a:picLocks noChangeAspect="1"/>
          </p:cNvPicPr>
          <p:nvPr/>
        </p:nvPicPr>
        <p:blipFill>
          <a:blip r:embed="rId3"/>
          <a:stretch>
            <a:fillRect/>
          </a:stretch>
        </p:blipFill>
        <p:spPr>
          <a:xfrm>
            <a:off x="5812970" y="1046482"/>
            <a:ext cx="3038813" cy="2322466"/>
          </a:xfrm>
          <a:prstGeom prst="rect">
            <a:avLst/>
          </a:prstGeom>
        </p:spPr>
      </p:pic>
    </p:spTree>
    <p:extLst>
      <p:ext uri="{BB962C8B-B14F-4D97-AF65-F5344CB8AC3E}">
        <p14:creationId xmlns:p14="http://schemas.microsoft.com/office/powerpoint/2010/main" val="244411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2F256AC-F9EE-3517-5C33-826D115007A5}"/>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0268AD7B-D0E4-C191-B930-71CF3542DFC9}"/>
              </a:ext>
            </a:extLst>
          </p:cNvPr>
          <p:cNvGrpSpPr/>
          <p:nvPr/>
        </p:nvGrpSpPr>
        <p:grpSpPr>
          <a:xfrm>
            <a:off x="748144" y="218172"/>
            <a:ext cx="8277101" cy="613782"/>
            <a:chOff x="0" y="6299"/>
            <a:chExt cx="5580934" cy="444600"/>
          </a:xfrm>
          <a:noFill/>
        </p:grpSpPr>
        <p:sp>
          <p:nvSpPr>
            <p:cNvPr id="109" name="Google Shape;109;p2">
              <a:extLst>
                <a:ext uri="{FF2B5EF4-FFF2-40B4-BE49-F238E27FC236}">
                  <a16:creationId xmlns:a16="http://schemas.microsoft.com/office/drawing/2014/main" id="{1494EDC4-68EB-9BB4-C274-422D51D23ED0}"/>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7E5DADC6-A647-0378-1C01-9983BEB713F9}"/>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2000" b="1" dirty="0"/>
                <a:t>Breadth First Search or BFS for a Graph</a:t>
              </a:r>
            </a:p>
          </p:txBody>
        </p:sp>
      </p:grpSp>
      <p:sp>
        <p:nvSpPr>
          <p:cNvPr id="113" name="Google Shape;113;p2">
            <a:extLst>
              <a:ext uri="{FF2B5EF4-FFF2-40B4-BE49-F238E27FC236}">
                <a16:creationId xmlns:a16="http://schemas.microsoft.com/office/drawing/2014/main" id="{916DD603-CD93-EF0D-CA4B-5AED03577C88}"/>
              </a:ext>
            </a:extLst>
          </p:cNvPr>
          <p:cNvSpPr txBox="1"/>
          <p:nvPr/>
        </p:nvSpPr>
        <p:spPr>
          <a:xfrm>
            <a:off x="393875" y="1331390"/>
            <a:ext cx="5233645" cy="2462172"/>
          </a:xfrm>
          <a:prstGeom prst="rect">
            <a:avLst/>
          </a:prstGeom>
          <a:noFill/>
          <a:ln>
            <a:noFill/>
          </a:ln>
        </p:spPr>
        <p:txBody>
          <a:bodyPr spcFirstLastPara="1" wrap="square" lIns="91425" tIns="45700" rIns="91425" bIns="45700" anchor="t" anchorCtr="0">
            <a:spAutoFit/>
          </a:bodyPr>
          <a:lstStyle/>
          <a:p>
            <a:r>
              <a:rPr lang="en-IN" b="1" i="1" dirty="0"/>
              <a:t>Output:</a:t>
            </a:r>
            <a:r>
              <a:rPr lang="en-IN" i="1" dirty="0"/>
              <a:t> [0, 2, 3, 1, 4, 5]</a:t>
            </a:r>
            <a:br>
              <a:rPr lang="en-IN" i="1" dirty="0"/>
            </a:br>
            <a:r>
              <a:rPr lang="en-IN" b="1" i="1" dirty="0"/>
              <a:t>Explanation: </a:t>
            </a:r>
            <a:r>
              <a:rPr lang="en-IN" i="1" dirty="0"/>
              <a:t>Starting from 0, the BFS traversal proceeds as follows: </a:t>
            </a:r>
            <a:br>
              <a:rPr lang="en-IN" i="1" dirty="0"/>
            </a:br>
            <a:r>
              <a:rPr lang="en-IN" i="1" dirty="0"/>
              <a:t>Visit 0 - Print: 0</a:t>
            </a:r>
            <a:br>
              <a:rPr lang="en-IN" i="1" dirty="0"/>
            </a:br>
            <a:r>
              <a:rPr lang="en-IN" i="1" dirty="0"/>
              <a:t>Visit 2 (first </a:t>
            </a:r>
            <a:r>
              <a:rPr lang="en-IN" i="1" dirty="0" err="1"/>
              <a:t>neighbor</a:t>
            </a:r>
            <a:r>
              <a:rPr lang="en-IN" i="1" dirty="0"/>
              <a:t> of 0) - Print: 2</a:t>
            </a:r>
            <a:br>
              <a:rPr lang="en-IN" i="1" dirty="0"/>
            </a:br>
            <a:r>
              <a:rPr lang="en-IN" i="1" dirty="0"/>
              <a:t>Visit 3 (next </a:t>
            </a:r>
            <a:r>
              <a:rPr lang="en-IN" i="1" dirty="0" err="1"/>
              <a:t>neighbor</a:t>
            </a:r>
            <a:r>
              <a:rPr lang="en-IN" i="1" dirty="0"/>
              <a:t> of 0) - Print: 3</a:t>
            </a:r>
            <a:br>
              <a:rPr lang="en-IN" i="1" dirty="0"/>
            </a:br>
            <a:r>
              <a:rPr lang="en-IN" i="1" dirty="0"/>
              <a:t>Visit 1 (</a:t>
            </a:r>
            <a:r>
              <a:rPr lang="en-IN" i="1" dirty="0" err="1"/>
              <a:t>neighbor</a:t>
            </a:r>
            <a:r>
              <a:rPr lang="en-IN" i="1" dirty="0"/>
              <a:t> of 2 that hasn't been visited yet) - Print: 1</a:t>
            </a:r>
            <a:endParaRPr lang="en-IN" dirty="0"/>
          </a:p>
          <a:p>
            <a:r>
              <a:rPr lang="en-IN" i="1" dirty="0"/>
              <a:t>Start another BFS traversal with source as 4:</a:t>
            </a:r>
            <a:endParaRPr lang="en-IN" dirty="0"/>
          </a:p>
          <a:p>
            <a:r>
              <a:rPr lang="en-IN" i="1" dirty="0"/>
              <a:t>Visit 4 - Print: 4</a:t>
            </a:r>
            <a:br>
              <a:rPr lang="en-IN" i="1" dirty="0"/>
            </a:br>
            <a:r>
              <a:rPr lang="en-IN" i="1" dirty="0"/>
              <a:t>Visit 5 (</a:t>
            </a:r>
            <a:r>
              <a:rPr lang="en-IN" i="1" dirty="0" err="1"/>
              <a:t>neighbor</a:t>
            </a:r>
            <a:r>
              <a:rPr lang="en-IN" i="1" dirty="0"/>
              <a:t> of 4) - Print: 5</a:t>
            </a:r>
            <a:endParaRPr lang="en-IN" dirty="0"/>
          </a:p>
          <a:p>
            <a:endParaRPr lang="en-IN" dirty="0"/>
          </a:p>
        </p:txBody>
      </p:sp>
      <p:sp>
        <p:nvSpPr>
          <p:cNvPr id="6" name="TextBox 5">
            <a:extLst>
              <a:ext uri="{FF2B5EF4-FFF2-40B4-BE49-F238E27FC236}">
                <a16:creationId xmlns:a16="http://schemas.microsoft.com/office/drawing/2014/main" id="{E737619B-7FE3-B930-C168-11C445AB6514}"/>
              </a:ext>
            </a:extLst>
          </p:cNvPr>
          <p:cNvSpPr txBox="1"/>
          <p:nvPr/>
        </p:nvSpPr>
        <p:spPr>
          <a:xfrm>
            <a:off x="5759666" y="4215610"/>
            <a:ext cx="3057763" cy="307777"/>
          </a:xfrm>
          <a:prstGeom prst="rect">
            <a:avLst/>
          </a:prstGeom>
          <a:noFill/>
        </p:spPr>
        <p:txBody>
          <a:bodyPr wrap="square">
            <a:spAutoFit/>
          </a:bodyPr>
          <a:lstStyle/>
          <a:p>
            <a:pPr algn="just"/>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Figure-2 : BFS Graph </a:t>
            </a:r>
            <a:endParaRPr lang="en-IN" b="1" dirty="0"/>
          </a:p>
        </p:txBody>
      </p:sp>
      <p:sp>
        <p:nvSpPr>
          <p:cNvPr id="8" name="TextBox 7">
            <a:extLst>
              <a:ext uri="{FF2B5EF4-FFF2-40B4-BE49-F238E27FC236}">
                <a16:creationId xmlns:a16="http://schemas.microsoft.com/office/drawing/2014/main" id="{63B02AFE-2F9F-064E-9580-F7D6AAD96331}"/>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5</a:t>
            </a:r>
            <a:endParaRPr lang="en-IN" dirty="0"/>
          </a:p>
        </p:txBody>
      </p:sp>
      <p:sp>
        <p:nvSpPr>
          <p:cNvPr id="4" name="Rectangle 3">
            <a:extLst>
              <a:ext uri="{FF2B5EF4-FFF2-40B4-BE49-F238E27FC236}">
                <a16:creationId xmlns:a16="http://schemas.microsoft.com/office/drawing/2014/main" id="{8B6E2207-43DE-5878-BB90-076501BC09AF}"/>
              </a:ext>
            </a:extLst>
          </p:cNvPr>
          <p:cNvSpPr/>
          <p:nvPr/>
        </p:nvSpPr>
        <p:spPr>
          <a:xfrm>
            <a:off x="162751" y="4369499"/>
            <a:ext cx="5464769" cy="791435"/>
          </a:xfrm>
          <a:prstGeom prst="rect">
            <a:avLst/>
          </a:prstGeom>
        </p:spPr>
        <p:txBody>
          <a:bodyPr wrap="square">
            <a:spAutoFit/>
          </a:bodyPr>
          <a:lstStyle/>
          <a:p>
            <a:pPr algn="just">
              <a:lnSpc>
                <a:spcPct val="110000"/>
              </a:lnSpc>
              <a:buSzPct val="150000"/>
            </a:pPr>
            <a:r>
              <a:rPr lang="en-IN" b="1" i="1" dirty="0">
                <a:solidFill>
                  <a:schemeClr val="bg2"/>
                </a:solidFill>
                <a:latin typeface="Calibri" panose="020F0502020204030204" pitchFamily="34" charset="0"/>
                <a:ea typeface="Calibri" panose="020F0502020204030204" pitchFamily="34" charset="0"/>
                <a:cs typeface="Calibri" panose="020F0502020204030204" pitchFamily="34" charset="0"/>
              </a:rPr>
              <a:t>Additional / Recommended Readings: </a:t>
            </a:r>
            <a:endParaRPr lang="en-IN" i="1"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just">
              <a:lnSpc>
                <a:spcPct val="110000"/>
              </a:lnSpc>
              <a:buSzPct val="150000"/>
            </a:pPr>
            <a:r>
              <a:rPr lang="en-IN" i="1" dirty="0">
                <a:solidFill>
                  <a:schemeClr val="bg2"/>
                </a:solidFill>
                <a:latin typeface="Calibri" panose="020F0502020204030204" pitchFamily="34" charset="0"/>
                <a:ea typeface="Calibri" panose="020F0502020204030204" pitchFamily="34" charset="0"/>
                <a:cs typeface="Calibri" panose="020F0502020204030204" pitchFamily="34" charset="0"/>
              </a:rPr>
              <a:t>https://www.geeksforgeeks.org/dsa/breadth-first-search-or-bfs-for-a-graph/</a:t>
            </a:r>
          </a:p>
        </p:txBody>
      </p:sp>
      <p:pic>
        <p:nvPicPr>
          <p:cNvPr id="2" name="Picture 1" descr="A group of circles with numbers&#10;&#10;AI-generated content may be incorrect.">
            <a:extLst>
              <a:ext uri="{FF2B5EF4-FFF2-40B4-BE49-F238E27FC236}">
                <a16:creationId xmlns:a16="http://schemas.microsoft.com/office/drawing/2014/main" id="{0EA473C5-170D-85FE-5C76-BD8C77F018C6}"/>
              </a:ext>
            </a:extLst>
          </p:cNvPr>
          <p:cNvPicPr>
            <a:picLocks noChangeAspect="1"/>
          </p:cNvPicPr>
          <p:nvPr/>
        </p:nvPicPr>
        <p:blipFill>
          <a:blip r:embed="rId3"/>
          <a:stretch>
            <a:fillRect/>
          </a:stretch>
        </p:blipFill>
        <p:spPr>
          <a:xfrm>
            <a:off x="5891893" y="1274173"/>
            <a:ext cx="2552700" cy="2031284"/>
          </a:xfrm>
          <a:prstGeom prst="rect">
            <a:avLst/>
          </a:prstGeom>
        </p:spPr>
      </p:pic>
    </p:spTree>
    <p:extLst>
      <p:ext uri="{BB962C8B-B14F-4D97-AF65-F5344CB8AC3E}">
        <p14:creationId xmlns:p14="http://schemas.microsoft.com/office/powerpoint/2010/main" val="519147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272D2616-980D-F33A-6B06-350312E0DBB4}"/>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2F027BEB-287B-F914-06B5-0581FD7888D2}"/>
              </a:ext>
            </a:extLst>
          </p:cNvPr>
          <p:cNvGrpSpPr/>
          <p:nvPr/>
        </p:nvGrpSpPr>
        <p:grpSpPr>
          <a:xfrm>
            <a:off x="748144" y="218172"/>
            <a:ext cx="8277101" cy="645196"/>
            <a:chOff x="0" y="6299"/>
            <a:chExt cx="5580934" cy="645196"/>
          </a:xfrm>
          <a:noFill/>
        </p:grpSpPr>
        <p:sp>
          <p:nvSpPr>
            <p:cNvPr id="109" name="Google Shape;109;p2">
              <a:extLst>
                <a:ext uri="{FF2B5EF4-FFF2-40B4-BE49-F238E27FC236}">
                  <a16:creationId xmlns:a16="http://schemas.microsoft.com/office/drawing/2014/main" id="{6CFF82B2-5135-297D-24AA-1229BF00DBF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A0EDD6DA-2AD1-B60C-D90A-998AA7B39FB1}"/>
                </a:ext>
              </a:extLst>
            </p:cNvPr>
            <p:cNvSpPr txBox="1"/>
            <p:nvPr/>
          </p:nvSpPr>
          <p:spPr>
            <a:xfrm>
              <a:off x="21704" y="2503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2800" b="1" dirty="0"/>
                <a:t>BFS from a Given Source in an Undirected Graph:</a:t>
              </a:r>
            </a:p>
          </p:txBody>
        </p:sp>
      </p:grpSp>
      <p:sp>
        <p:nvSpPr>
          <p:cNvPr id="8" name="TextBox 7">
            <a:extLst>
              <a:ext uri="{FF2B5EF4-FFF2-40B4-BE49-F238E27FC236}">
                <a16:creationId xmlns:a16="http://schemas.microsoft.com/office/drawing/2014/main" id="{F19E52FF-989C-B7E0-C56A-29201433ADAB}"/>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6</a:t>
            </a:r>
            <a:endParaRPr lang="en-IN" dirty="0"/>
          </a:p>
        </p:txBody>
      </p:sp>
      <p:sp>
        <p:nvSpPr>
          <p:cNvPr id="4" name="TextBox 3">
            <a:extLst>
              <a:ext uri="{FF2B5EF4-FFF2-40B4-BE49-F238E27FC236}">
                <a16:creationId xmlns:a16="http://schemas.microsoft.com/office/drawing/2014/main" id="{DFCC3FDA-B006-D224-1A2F-51EE504019BE}"/>
              </a:ext>
            </a:extLst>
          </p:cNvPr>
          <p:cNvSpPr txBox="1"/>
          <p:nvPr/>
        </p:nvSpPr>
        <p:spPr>
          <a:xfrm>
            <a:off x="314694" y="1371600"/>
            <a:ext cx="4572000" cy="2246769"/>
          </a:xfrm>
          <a:prstGeom prst="rect">
            <a:avLst/>
          </a:prstGeom>
          <a:noFill/>
        </p:spPr>
        <p:txBody>
          <a:bodyPr wrap="square">
            <a:spAutoFit/>
          </a:bodyPr>
          <a:lstStyle/>
          <a:p>
            <a:pPr marL="285750" indent="-285750">
              <a:buFont typeface="Arial" panose="020B0604020202020204" pitchFamily="34" charset="0"/>
              <a:buChar char="•"/>
            </a:pPr>
            <a:r>
              <a:rPr lang="en-US" dirty="0"/>
              <a:t>The algorithm starts from a given source vertex and explores all vertices reachable from that source, visiting nodes in increasing order of their distance from the source, level by level using a queue. Since graphs may contain cycles, a vertex could be visited multiple times. </a:t>
            </a:r>
          </a:p>
          <a:p>
            <a:pPr marL="285750" indent="-285750">
              <a:buFont typeface="Arial" panose="020B0604020202020204" pitchFamily="34" charset="0"/>
              <a:buChar char="•"/>
            </a:pPr>
            <a:r>
              <a:rPr lang="en-US" dirty="0"/>
              <a:t>To prevent revisiting a vertex, a visited array is used.</a:t>
            </a:r>
          </a:p>
          <a:p>
            <a:pPr marL="285750" indent="-285750">
              <a:buFont typeface="Arial" panose="020B0604020202020204" pitchFamily="34" charset="0"/>
              <a:buChar char="•"/>
            </a:pPr>
            <a:r>
              <a:rPr lang="en-US" dirty="0"/>
              <a:t>Let us understand the working of Breadth First Search with the help of the following Illustration:</a:t>
            </a:r>
          </a:p>
        </p:txBody>
      </p:sp>
      <p:pic>
        <p:nvPicPr>
          <p:cNvPr id="3" name="Picture 2" descr="A diagram of a graph&#10;&#10;AI-generated content may be incorrect.">
            <a:extLst>
              <a:ext uri="{FF2B5EF4-FFF2-40B4-BE49-F238E27FC236}">
                <a16:creationId xmlns:a16="http://schemas.microsoft.com/office/drawing/2014/main" id="{DD1FA15D-9408-3438-76BF-AE3211AE7BC2}"/>
              </a:ext>
            </a:extLst>
          </p:cNvPr>
          <p:cNvPicPr>
            <a:picLocks noChangeAspect="1"/>
          </p:cNvPicPr>
          <p:nvPr/>
        </p:nvPicPr>
        <p:blipFill>
          <a:blip r:embed="rId3"/>
          <a:stretch>
            <a:fillRect/>
          </a:stretch>
        </p:blipFill>
        <p:spPr>
          <a:xfrm>
            <a:off x="4886694" y="1371600"/>
            <a:ext cx="4006882" cy="2640262"/>
          </a:xfrm>
          <a:prstGeom prst="rect">
            <a:avLst/>
          </a:prstGeom>
        </p:spPr>
      </p:pic>
      <p:sp>
        <p:nvSpPr>
          <p:cNvPr id="6" name="TextBox 5">
            <a:extLst>
              <a:ext uri="{FF2B5EF4-FFF2-40B4-BE49-F238E27FC236}">
                <a16:creationId xmlns:a16="http://schemas.microsoft.com/office/drawing/2014/main" id="{92F07F64-F693-99D4-F5D3-CAE30BAF8B50}"/>
              </a:ext>
            </a:extLst>
          </p:cNvPr>
          <p:cNvSpPr txBox="1"/>
          <p:nvPr/>
        </p:nvSpPr>
        <p:spPr>
          <a:xfrm>
            <a:off x="4604135" y="4366205"/>
            <a:ext cx="4289441" cy="307777"/>
          </a:xfrm>
          <a:prstGeom prst="rect">
            <a:avLst/>
          </a:prstGeom>
          <a:noFill/>
        </p:spPr>
        <p:txBody>
          <a:bodyPr wrap="square">
            <a:spAutoFit/>
          </a:bodyPr>
          <a:lstStyle/>
          <a:p>
            <a:pPr algn="just"/>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Figure-3 : BFS Graph </a:t>
            </a:r>
            <a:endParaRPr lang="en-IN" b="1" dirty="0"/>
          </a:p>
        </p:txBody>
      </p:sp>
    </p:spTree>
    <p:extLst>
      <p:ext uri="{BB962C8B-B14F-4D97-AF65-F5344CB8AC3E}">
        <p14:creationId xmlns:p14="http://schemas.microsoft.com/office/powerpoint/2010/main" val="548355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856E3BE-EF27-0E97-C065-C0AE4F57ACD1}"/>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309B969E-C36E-9BE2-283A-20A6EFE89717}"/>
              </a:ext>
            </a:extLst>
          </p:cNvPr>
          <p:cNvGrpSpPr/>
          <p:nvPr/>
        </p:nvGrpSpPr>
        <p:grpSpPr>
          <a:xfrm>
            <a:off x="866899" y="305138"/>
            <a:ext cx="8277101" cy="733703"/>
            <a:chOff x="0" y="6299"/>
            <a:chExt cx="5580934" cy="733703"/>
          </a:xfrm>
          <a:noFill/>
        </p:grpSpPr>
        <p:sp>
          <p:nvSpPr>
            <p:cNvPr id="109" name="Google Shape;109;p2">
              <a:extLst>
                <a:ext uri="{FF2B5EF4-FFF2-40B4-BE49-F238E27FC236}">
                  <a16:creationId xmlns:a16="http://schemas.microsoft.com/office/drawing/2014/main" id="{8E65AA5D-0D67-C926-8487-755CE6EFC20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D01CF71B-BB0F-FC6B-93FC-C7AD1F17CC92}"/>
                </a:ext>
              </a:extLst>
            </p:cNvPr>
            <p:cNvSpPr txBox="1"/>
            <p:nvPr/>
          </p:nvSpPr>
          <p:spPr>
            <a:xfrm>
              <a:off x="21704" y="28003"/>
              <a:ext cx="5250958" cy="711999"/>
            </a:xfrm>
            <a:prstGeom prst="rect">
              <a:avLst/>
            </a:prstGeom>
            <a:grpFill/>
            <a:ln>
              <a:noFill/>
            </a:ln>
          </p:spPr>
          <p:txBody>
            <a:bodyPr spcFirstLastPara="1" wrap="square" lIns="72375" tIns="72375" rIns="72375" bIns="72375" anchor="ctr" anchorCtr="0">
              <a:noAutofit/>
            </a:bodyPr>
            <a:lstStyle/>
            <a:p>
              <a:pPr algn="ctr">
                <a:lnSpc>
                  <a:spcPct val="90000"/>
                </a:lnSpc>
                <a:buSzPts val="1900"/>
              </a:pPr>
              <a:endParaRPr lang="en-US" sz="1800" b="1" dirty="0"/>
            </a:p>
          </p:txBody>
        </p:sp>
      </p:grpSp>
      <p:sp>
        <p:nvSpPr>
          <p:cNvPr id="8" name="TextBox 7">
            <a:extLst>
              <a:ext uri="{FF2B5EF4-FFF2-40B4-BE49-F238E27FC236}">
                <a16:creationId xmlns:a16="http://schemas.microsoft.com/office/drawing/2014/main" id="{5124913F-DF52-D751-C4AE-820520A81791}"/>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7</a:t>
            </a:r>
            <a:endParaRPr lang="en-IN" dirty="0"/>
          </a:p>
        </p:txBody>
      </p:sp>
      <p:pic>
        <p:nvPicPr>
          <p:cNvPr id="3" name="Picture 2" descr="A screenshot of a computer&#10;&#10;AI-generated content may be incorrect.">
            <a:extLst>
              <a:ext uri="{FF2B5EF4-FFF2-40B4-BE49-F238E27FC236}">
                <a16:creationId xmlns:a16="http://schemas.microsoft.com/office/drawing/2014/main" id="{80D26A36-B703-78FE-F7FC-13476E373A36}"/>
              </a:ext>
            </a:extLst>
          </p:cNvPr>
          <p:cNvPicPr>
            <a:picLocks noChangeAspect="1"/>
          </p:cNvPicPr>
          <p:nvPr/>
        </p:nvPicPr>
        <p:blipFill>
          <a:blip r:embed="rId3"/>
          <a:stretch>
            <a:fillRect/>
          </a:stretch>
        </p:blipFill>
        <p:spPr>
          <a:xfrm>
            <a:off x="1706245" y="1140460"/>
            <a:ext cx="5731510" cy="2862580"/>
          </a:xfrm>
          <a:prstGeom prst="rect">
            <a:avLst/>
          </a:prstGeom>
        </p:spPr>
      </p:pic>
      <p:sp>
        <p:nvSpPr>
          <p:cNvPr id="6" name="TextBox 5">
            <a:extLst>
              <a:ext uri="{FF2B5EF4-FFF2-40B4-BE49-F238E27FC236}">
                <a16:creationId xmlns:a16="http://schemas.microsoft.com/office/drawing/2014/main" id="{E529A909-DDDE-58BD-FF4D-DA7FB3025286}"/>
              </a:ext>
            </a:extLst>
          </p:cNvPr>
          <p:cNvSpPr txBox="1"/>
          <p:nvPr/>
        </p:nvSpPr>
        <p:spPr>
          <a:xfrm>
            <a:off x="2709244" y="4336469"/>
            <a:ext cx="4592410" cy="307777"/>
          </a:xfrm>
          <a:prstGeom prst="rect">
            <a:avLst/>
          </a:prstGeom>
          <a:noFill/>
        </p:spPr>
        <p:txBody>
          <a:bodyPr wrap="square">
            <a:spAutoFit/>
          </a:bodyPr>
          <a:lstStyle/>
          <a:p>
            <a:pPr algn="just"/>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Figure-4 : Working of Breadth First Search</a:t>
            </a:r>
            <a:endParaRPr lang="en-IN" b="1" dirty="0"/>
          </a:p>
        </p:txBody>
      </p:sp>
    </p:spTree>
    <p:extLst>
      <p:ext uri="{BB962C8B-B14F-4D97-AF65-F5344CB8AC3E}">
        <p14:creationId xmlns:p14="http://schemas.microsoft.com/office/powerpoint/2010/main" val="1644816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F0D61C9-4997-9297-E8BB-6D6C0C9AB57A}"/>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E3D6E493-BAAD-0A6B-CBE1-737B40C175B2}"/>
              </a:ext>
            </a:extLst>
          </p:cNvPr>
          <p:cNvSpPr/>
          <p:nvPr/>
        </p:nvSpPr>
        <p:spPr>
          <a:xfrm>
            <a:off x="866899" y="305138"/>
            <a:ext cx="8277101"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8" name="TextBox 7">
            <a:extLst>
              <a:ext uri="{FF2B5EF4-FFF2-40B4-BE49-F238E27FC236}">
                <a16:creationId xmlns:a16="http://schemas.microsoft.com/office/drawing/2014/main" id="{AB015261-DE14-91D6-D033-976EE67864B4}"/>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8</a:t>
            </a:r>
            <a:endParaRPr lang="en-IN" dirty="0"/>
          </a:p>
        </p:txBody>
      </p:sp>
      <p:sp>
        <p:nvSpPr>
          <p:cNvPr id="3" name="TextBox 2">
            <a:extLst>
              <a:ext uri="{FF2B5EF4-FFF2-40B4-BE49-F238E27FC236}">
                <a16:creationId xmlns:a16="http://schemas.microsoft.com/office/drawing/2014/main" id="{E85B51DB-280C-EA6A-7C02-6EEF2C6EEB33}"/>
              </a:ext>
            </a:extLst>
          </p:cNvPr>
          <p:cNvSpPr txBox="1"/>
          <p:nvPr/>
        </p:nvSpPr>
        <p:spPr>
          <a:xfrm>
            <a:off x="537544" y="4287483"/>
            <a:ext cx="4592410" cy="307777"/>
          </a:xfrm>
          <a:prstGeom prst="rect">
            <a:avLst/>
          </a:prstGeom>
          <a:noFill/>
        </p:spPr>
        <p:txBody>
          <a:bodyPr wrap="square">
            <a:spAutoFit/>
          </a:bodyPr>
          <a:lstStyle/>
          <a:p>
            <a:pPr algn="just"/>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Figure-5 : Working of Breadth First Search</a:t>
            </a:r>
            <a:endParaRPr lang="en-IN" b="1" dirty="0"/>
          </a:p>
        </p:txBody>
      </p:sp>
      <p:sp>
        <p:nvSpPr>
          <p:cNvPr id="5" name="TextBox 4">
            <a:extLst>
              <a:ext uri="{FF2B5EF4-FFF2-40B4-BE49-F238E27FC236}">
                <a16:creationId xmlns:a16="http://schemas.microsoft.com/office/drawing/2014/main" id="{CF01BC32-C917-3051-B405-CA73B9447109}"/>
              </a:ext>
            </a:extLst>
          </p:cNvPr>
          <p:cNvSpPr txBox="1"/>
          <p:nvPr/>
        </p:nvSpPr>
        <p:spPr>
          <a:xfrm>
            <a:off x="4571999" y="4336469"/>
            <a:ext cx="3902529" cy="307777"/>
          </a:xfrm>
          <a:prstGeom prst="rect">
            <a:avLst/>
          </a:prstGeom>
          <a:noFill/>
        </p:spPr>
        <p:txBody>
          <a:bodyPr wrap="square">
            <a:spAutoFit/>
          </a:bodyPr>
          <a:lstStyle/>
          <a:p>
            <a:pPr algn="just"/>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Figure-6 : Working of Breadth First Search</a:t>
            </a:r>
            <a:endParaRPr lang="en-IN" b="1" dirty="0"/>
          </a:p>
        </p:txBody>
      </p:sp>
      <p:pic>
        <p:nvPicPr>
          <p:cNvPr id="6" name="Picture 5" descr="A diagram of a number and a number&#10;&#10;AI-generated content may be incorrect.">
            <a:extLst>
              <a:ext uri="{FF2B5EF4-FFF2-40B4-BE49-F238E27FC236}">
                <a16:creationId xmlns:a16="http://schemas.microsoft.com/office/drawing/2014/main" id="{B1E2499A-CAB5-C563-0B6B-BBC42F0D61B5}"/>
              </a:ext>
            </a:extLst>
          </p:cNvPr>
          <p:cNvPicPr>
            <a:picLocks noChangeAspect="1"/>
          </p:cNvPicPr>
          <p:nvPr/>
        </p:nvPicPr>
        <p:blipFill>
          <a:blip r:embed="rId3"/>
          <a:stretch>
            <a:fillRect/>
          </a:stretch>
        </p:blipFill>
        <p:spPr>
          <a:xfrm>
            <a:off x="269331" y="1085733"/>
            <a:ext cx="4139383" cy="2865755"/>
          </a:xfrm>
          <a:prstGeom prst="rect">
            <a:avLst/>
          </a:prstGeom>
        </p:spPr>
      </p:pic>
      <p:pic>
        <p:nvPicPr>
          <p:cNvPr id="7" name="Picture 6" descr="A diagram of a number&#10;&#10;AI-generated content may be incorrect.">
            <a:extLst>
              <a:ext uri="{FF2B5EF4-FFF2-40B4-BE49-F238E27FC236}">
                <a16:creationId xmlns:a16="http://schemas.microsoft.com/office/drawing/2014/main" id="{13AAC133-93C9-3E20-1B24-6CE116281173}"/>
              </a:ext>
            </a:extLst>
          </p:cNvPr>
          <p:cNvPicPr>
            <a:picLocks noChangeAspect="1"/>
          </p:cNvPicPr>
          <p:nvPr/>
        </p:nvPicPr>
        <p:blipFill>
          <a:blip r:embed="rId4"/>
          <a:stretch>
            <a:fillRect/>
          </a:stretch>
        </p:blipFill>
        <p:spPr>
          <a:xfrm>
            <a:off x="4474029" y="1078748"/>
            <a:ext cx="4419547" cy="2872740"/>
          </a:xfrm>
          <a:prstGeom prst="rect">
            <a:avLst/>
          </a:prstGeom>
        </p:spPr>
      </p:pic>
    </p:spTree>
    <p:extLst>
      <p:ext uri="{BB962C8B-B14F-4D97-AF65-F5344CB8AC3E}">
        <p14:creationId xmlns:p14="http://schemas.microsoft.com/office/powerpoint/2010/main" val="41029435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B7111A26-4286-7E82-0F3B-F3CA83A69D3B}"/>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FF48179F-44E6-D636-AD8C-21195168AF5E}"/>
              </a:ext>
            </a:extLst>
          </p:cNvPr>
          <p:cNvSpPr/>
          <p:nvPr/>
        </p:nvSpPr>
        <p:spPr>
          <a:xfrm>
            <a:off x="866899" y="305138"/>
            <a:ext cx="8277101"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8" name="TextBox 7">
            <a:extLst>
              <a:ext uri="{FF2B5EF4-FFF2-40B4-BE49-F238E27FC236}">
                <a16:creationId xmlns:a16="http://schemas.microsoft.com/office/drawing/2014/main" id="{45758953-9F16-0EEF-0E76-8C92C2D6CB2A}"/>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9</a:t>
            </a:r>
            <a:endParaRPr lang="en-IN" dirty="0"/>
          </a:p>
        </p:txBody>
      </p:sp>
      <p:sp>
        <p:nvSpPr>
          <p:cNvPr id="3" name="TextBox 2">
            <a:extLst>
              <a:ext uri="{FF2B5EF4-FFF2-40B4-BE49-F238E27FC236}">
                <a16:creationId xmlns:a16="http://schemas.microsoft.com/office/drawing/2014/main" id="{7A9209E3-51DE-0CCA-0614-82633B501455}"/>
              </a:ext>
            </a:extLst>
          </p:cNvPr>
          <p:cNvSpPr txBox="1"/>
          <p:nvPr/>
        </p:nvSpPr>
        <p:spPr>
          <a:xfrm>
            <a:off x="537544" y="4287483"/>
            <a:ext cx="4592410" cy="307777"/>
          </a:xfrm>
          <a:prstGeom prst="rect">
            <a:avLst/>
          </a:prstGeom>
          <a:noFill/>
        </p:spPr>
        <p:txBody>
          <a:bodyPr wrap="square">
            <a:spAutoFit/>
          </a:bodyPr>
          <a:lstStyle/>
          <a:p>
            <a:pPr algn="just"/>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Figure-7 : Working of Breadth First Search</a:t>
            </a:r>
            <a:endParaRPr lang="en-IN" b="1" dirty="0"/>
          </a:p>
        </p:txBody>
      </p:sp>
      <p:sp>
        <p:nvSpPr>
          <p:cNvPr id="5" name="TextBox 4">
            <a:extLst>
              <a:ext uri="{FF2B5EF4-FFF2-40B4-BE49-F238E27FC236}">
                <a16:creationId xmlns:a16="http://schemas.microsoft.com/office/drawing/2014/main" id="{4E03BC54-6259-382B-ADCE-505D8F76EECF}"/>
              </a:ext>
            </a:extLst>
          </p:cNvPr>
          <p:cNvSpPr txBox="1"/>
          <p:nvPr/>
        </p:nvSpPr>
        <p:spPr>
          <a:xfrm>
            <a:off x="4571999" y="4336469"/>
            <a:ext cx="3902529" cy="307777"/>
          </a:xfrm>
          <a:prstGeom prst="rect">
            <a:avLst/>
          </a:prstGeom>
          <a:noFill/>
        </p:spPr>
        <p:txBody>
          <a:bodyPr wrap="square">
            <a:spAutoFit/>
          </a:bodyPr>
          <a:lstStyle/>
          <a:p>
            <a:pPr algn="just"/>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Figure-8 : Working of Breadth First Search</a:t>
            </a:r>
            <a:endParaRPr lang="en-IN" b="1" dirty="0"/>
          </a:p>
        </p:txBody>
      </p:sp>
      <p:pic>
        <p:nvPicPr>
          <p:cNvPr id="2" name="Picture 1" descr="A screenshot of a computer&#10;&#10;AI-generated content may be incorrect.">
            <a:extLst>
              <a:ext uri="{FF2B5EF4-FFF2-40B4-BE49-F238E27FC236}">
                <a16:creationId xmlns:a16="http://schemas.microsoft.com/office/drawing/2014/main" id="{94A11952-7C0C-914A-6151-47732AA44325}"/>
              </a:ext>
            </a:extLst>
          </p:cNvPr>
          <p:cNvPicPr>
            <a:picLocks noChangeAspect="1"/>
          </p:cNvPicPr>
          <p:nvPr/>
        </p:nvPicPr>
        <p:blipFill>
          <a:blip r:embed="rId3"/>
          <a:stretch>
            <a:fillRect/>
          </a:stretch>
        </p:blipFill>
        <p:spPr>
          <a:xfrm>
            <a:off x="367302" y="1085733"/>
            <a:ext cx="4049577" cy="2883535"/>
          </a:xfrm>
          <a:prstGeom prst="rect">
            <a:avLst/>
          </a:prstGeom>
        </p:spPr>
      </p:pic>
      <p:pic>
        <p:nvPicPr>
          <p:cNvPr id="4" name="Picture 3" descr="A diagram of a number and a number&#10;&#10;AI-generated content may be incorrect.">
            <a:extLst>
              <a:ext uri="{FF2B5EF4-FFF2-40B4-BE49-F238E27FC236}">
                <a16:creationId xmlns:a16="http://schemas.microsoft.com/office/drawing/2014/main" id="{A8A7E9D4-3218-F0E0-E891-4DCC13C74949}"/>
              </a:ext>
            </a:extLst>
          </p:cNvPr>
          <p:cNvPicPr>
            <a:picLocks noChangeAspect="1"/>
          </p:cNvPicPr>
          <p:nvPr/>
        </p:nvPicPr>
        <p:blipFill>
          <a:blip r:embed="rId4"/>
          <a:stretch>
            <a:fillRect/>
          </a:stretch>
        </p:blipFill>
        <p:spPr>
          <a:xfrm>
            <a:off x="4727123" y="1131453"/>
            <a:ext cx="3796394" cy="2837815"/>
          </a:xfrm>
          <a:prstGeom prst="rect">
            <a:avLst/>
          </a:prstGeom>
        </p:spPr>
      </p:pic>
    </p:spTree>
    <p:extLst>
      <p:ext uri="{BB962C8B-B14F-4D97-AF65-F5344CB8AC3E}">
        <p14:creationId xmlns:p14="http://schemas.microsoft.com/office/powerpoint/2010/main" val="3523542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B2852222-B40C-E42E-CABB-ECD1704322CC}"/>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22BD0DCB-71AA-A42A-42F5-F46A121191B6}"/>
              </a:ext>
            </a:extLst>
          </p:cNvPr>
          <p:cNvSpPr/>
          <p:nvPr/>
        </p:nvSpPr>
        <p:spPr>
          <a:xfrm>
            <a:off x="866899" y="305138"/>
            <a:ext cx="8277101"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8" name="TextBox 7">
            <a:extLst>
              <a:ext uri="{FF2B5EF4-FFF2-40B4-BE49-F238E27FC236}">
                <a16:creationId xmlns:a16="http://schemas.microsoft.com/office/drawing/2014/main" id="{0C332577-4727-1778-7305-B395E036D806}"/>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10</a:t>
            </a:r>
            <a:endParaRPr lang="en-IN" dirty="0"/>
          </a:p>
        </p:txBody>
      </p:sp>
      <p:sp>
        <p:nvSpPr>
          <p:cNvPr id="3" name="TextBox 2">
            <a:extLst>
              <a:ext uri="{FF2B5EF4-FFF2-40B4-BE49-F238E27FC236}">
                <a16:creationId xmlns:a16="http://schemas.microsoft.com/office/drawing/2014/main" id="{9DE6871C-3955-BBB3-B4B2-F6C06C57CBB0}"/>
              </a:ext>
            </a:extLst>
          </p:cNvPr>
          <p:cNvSpPr txBox="1"/>
          <p:nvPr/>
        </p:nvSpPr>
        <p:spPr>
          <a:xfrm>
            <a:off x="537544" y="4287483"/>
            <a:ext cx="4592410" cy="307777"/>
          </a:xfrm>
          <a:prstGeom prst="rect">
            <a:avLst/>
          </a:prstGeom>
          <a:noFill/>
        </p:spPr>
        <p:txBody>
          <a:bodyPr wrap="square">
            <a:spAutoFit/>
          </a:bodyPr>
          <a:lstStyle/>
          <a:p>
            <a:pPr algn="just"/>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Figure-9 : Working of Breadth First Search</a:t>
            </a:r>
            <a:endParaRPr lang="en-IN" b="1" dirty="0"/>
          </a:p>
        </p:txBody>
      </p:sp>
      <p:sp>
        <p:nvSpPr>
          <p:cNvPr id="5" name="TextBox 4">
            <a:extLst>
              <a:ext uri="{FF2B5EF4-FFF2-40B4-BE49-F238E27FC236}">
                <a16:creationId xmlns:a16="http://schemas.microsoft.com/office/drawing/2014/main" id="{F52FC42E-43BB-FF0F-4A24-D0A3DD409E4B}"/>
              </a:ext>
            </a:extLst>
          </p:cNvPr>
          <p:cNvSpPr txBox="1"/>
          <p:nvPr/>
        </p:nvSpPr>
        <p:spPr>
          <a:xfrm>
            <a:off x="4571999" y="4336469"/>
            <a:ext cx="3902529" cy="307777"/>
          </a:xfrm>
          <a:prstGeom prst="rect">
            <a:avLst/>
          </a:prstGeom>
          <a:noFill/>
        </p:spPr>
        <p:txBody>
          <a:bodyPr wrap="square">
            <a:spAutoFit/>
          </a:bodyPr>
          <a:lstStyle/>
          <a:p>
            <a:pPr algn="just"/>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Figure-8 : Working of Breadth First Search</a:t>
            </a:r>
            <a:endParaRPr lang="en-IN" b="1" dirty="0"/>
          </a:p>
        </p:txBody>
      </p:sp>
      <p:pic>
        <p:nvPicPr>
          <p:cNvPr id="6" name="Picture 5" descr="A screenshot of a computer&#10;&#10;AI-generated content may be incorrect.">
            <a:extLst>
              <a:ext uri="{FF2B5EF4-FFF2-40B4-BE49-F238E27FC236}">
                <a16:creationId xmlns:a16="http://schemas.microsoft.com/office/drawing/2014/main" id="{C458CBF5-F4A5-5C68-2352-11514AF2A116}"/>
              </a:ext>
            </a:extLst>
          </p:cNvPr>
          <p:cNvPicPr>
            <a:picLocks noChangeAspect="1"/>
          </p:cNvPicPr>
          <p:nvPr/>
        </p:nvPicPr>
        <p:blipFill>
          <a:blip r:embed="rId3"/>
          <a:stretch>
            <a:fillRect/>
          </a:stretch>
        </p:blipFill>
        <p:spPr>
          <a:xfrm>
            <a:off x="204016" y="1140460"/>
            <a:ext cx="4025084" cy="2862580"/>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973EB846-663D-2C91-1489-A0A88FBE73DE}"/>
              </a:ext>
            </a:extLst>
          </p:cNvPr>
          <p:cNvPicPr>
            <a:picLocks noChangeAspect="1"/>
          </p:cNvPicPr>
          <p:nvPr/>
        </p:nvPicPr>
        <p:blipFill>
          <a:blip r:embed="rId4"/>
          <a:stretch>
            <a:fillRect/>
          </a:stretch>
        </p:blipFill>
        <p:spPr>
          <a:xfrm>
            <a:off x="4571999" y="1138872"/>
            <a:ext cx="3902528" cy="2865755"/>
          </a:xfrm>
          <a:prstGeom prst="rect">
            <a:avLst/>
          </a:prstGeom>
        </p:spPr>
      </p:pic>
    </p:spTree>
    <p:extLst>
      <p:ext uri="{BB962C8B-B14F-4D97-AF65-F5344CB8AC3E}">
        <p14:creationId xmlns:p14="http://schemas.microsoft.com/office/powerpoint/2010/main" val="2302766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EB678B8-F295-642D-F3AF-B93D927A0909}"/>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11</a:t>
            </a:r>
            <a:endParaRPr lang="en-IN" dirty="0"/>
          </a:p>
        </p:txBody>
      </p:sp>
      <p:sp>
        <p:nvSpPr>
          <p:cNvPr id="6" name="TextBox 5">
            <a:extLst>
              <a:ext uri="{FF2B5EF4-FFF2-40B4-BE49-F238E27FC236}">
                <a16:creationId xmlns:a16="http://schemas.microsoft.com/office/drawing/2014/main" id="{4E5CA85A-DD1F-8213-AC77-5ACBACC17CBC}"/>
              </a:ext>
            </a:extLst>
          </p:cNvPr>
          <p:cNvSpPr txBox="1"/>
          <p:nvPr/>
        </p:nvSpPr>
        <p:spPr>
          <a:xfrm>
            <a:off x="2709244" y="4336469"/>
            <a:ext cx="4592410" cy="307777"/>
          </a:xfrm>
          <a:prstGeom prst="rect">
            <a:avLst/>
          </a:prstGeom>
          <a:noFill/>
        </p:spPr>
        <p:txBody>
          <a:bodyPr wrap="square">
            <a:spAutoFit/>
          </a:bodyPr>
          <a:lstStyle/>
          <a:p>
            <a:pPr algn="just"/>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Figure-9 : Working of Breadth First Search</a:t>
            </a:r>
            <a:endParaRPr lang="en-IN" b="1" dirty="0"/>
          </a:p>
        </p:txBody>
      </p:sp>
      <p:pic>
        <p:nvPicPr>
          <p:cNvPr id="9" name="Picture 8" descr="A screenshot of a computer code&#10;&#10;AI-generated content may be incorrect.">
            <a:extLst>
              <a:ext uri="{FF2B5EF4-FFF2-40B4-BE49-F238E27FC236}">
                <a16:creationId xmlns:a16="http://schemas.microsoft.com/office/drawing/2014/main" id="{FB81C8D1-FDE1-077C-9663-94BE747DEC72}"/>
              </a:ext>
            </a:extLst>
          </p:cNvPr>
          <p:cNvPicPr>
            <a:picLocks noChangeAspect="1"/>
          </p:cNvPicPr>
          <p:nvPr/>
        </p:nvPicPr>
        <p:blipFill>
          <a:blip r:embed="rId2"/>
          <a:stretch>
            <a:fillRect/>
          </a:stretch>
        </p:blipFill>
        <p:spPr>
          <a:xfrm>
            <a:off x="1449160" y="930730"/>
            <a:ext cx="6245679" cy="303384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0C21D-0552-9012-25D3-51C9C8A59F6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247CD2-0C5D-EA84-F910-F12FB0D56033}"/>
              </a:ext>
            </a:extLst>
          </p:cNvPr>
          <p:cNvSpPr>
            <a:spLocks noGrp="1"/>
          </p:cNvSpPr>
          <p:nvPr>
            <p:ph type="body" idx="1"/>
          </p:nvPr>
        </p:nvSpPr>
        <p:spPr>
          <a:xfrm>
            <a:off x="757002" y="885750"/>
            <a:ext cx="8001000" cy="3645429"/>
          </a:xfrm>
        </p:spPr>
        <p:txBody>
          <a:bodyPr>
            <a:noAutofit/>
          </a:bodyPr>
          <a:lstStyle/>
          <a:p>
            <a:pPr marL="76200" indent="0">
              <a:buClr>
                <a:schemeClr val="bg2"/>
              </a:buClr>
              <a:buNone/>
            </a:pPr>
            <a:r>
              <a:rPr lang="en-US" sz="1400" b="1" dirty="0">
                <a:solidFill>
                  <a:schemeClr val="bg2"/>
                </a:solidFill>
              </a:rPr>
              <a:t>BFS has various applications in graph theory and computer science, including:</a:t>
            </a:r>
          </a:p>
          <a:p>
            <a:pPr marL="76200" indent="0">
              <a:buClr>
                <a:schemeClr val="bg2"/>
              </a:buClr>
              <a:buNone/>
            </a:pPr>
            <a:endParaRPr lang="en-US" sz="1400" b="1" dirty="0">
              <a:solidFill>
                <a:schemeClr val="bg2"/>
              </a:solidFill>
            </a:endParaRPr>
          </a:p>
          <a:p>
            <a:pPr>
              <a:buClr>
                <a:schemeClr val="bg2"/>
              </a:buClr>
            </a:pPr>
            <a:r>
              <a:rPr lang="en-US" sz="1400" dirty="0">
                <a:solidFill>
                  <a:schemeClr val="bg2"/>
                </a:solidFill>
              </a:rPr>
              <a:t>Shortest Path Finding</a:t>
            </a:r>
          </a:p>
          <a:p>
            <a:pPr>
              <a:buClr>
                <a:schemeClr val="bg2"/>
              </a:buClr>
            </a:pPr>
            <a:r>
              <a:rPr lang="en-US" sz="1400" dirty="0">
                <a:solidFill>
                  <a:schemeClr val="bg2"/>
                </a:solidFill>
              </a:rPr>
              <a:t>Cycle Detection</a:t>
            </a:r>
          </a:p>
          <a:p>
            <a:pPr>
              <a:buClr>
                <a:schemeClr val="bg2"/>
              </a:buClr>
            </a:pPr>
            <a:r>
              <a:rPr lang="en-US" sz="1400" dirty="0">
                <a:solidFill>
                  <a:schemeClr val="bg2"/>
                </a:solidFill>
              </a:rPr>
              <a:t>Connected Components</a:t>
            </a:r>
          </a:p>
          <a:p>
            <a:pPr>
              <a:buClr>
                <a:schemeClr val="bg2"/>
              </a:buClr>
            </a:pPr>
            <a:r>
              <a:rPr lang="en-US" sz="1400" dirty="0">
                <a:solidFill>
                  <a:schemeClr val="bg2"/>
                </a:solidFill>
              </a:rPr>
              <a:t>Network Routing</a:t>
            </a:r>
          </a:p>
          <a:p>
            <a:pPr marL="76200" indent="0">
              <a:buClr>
                <a:schemeClr val="bg2"/>
              </a:buClr>
              <a:buNone/>
            </a:pPr>
            <a:endParaRPr lang="en-US" sz="1400" dirty="0">
              <a:solidFill>
                <a:schemeClr val="bg2"/>
              </a:solidFill>
            </a:endParaRPr>
          </a:p>
        </p:txBody>
      </p:sp>
      <p:sp>
        <p:nvSpPr>
          <p:cNvPr id="2" name="Title 1">
            <a:extLst>
              <a:ext uri="{FF2B5EF4-FFF2-40B4-BE49-F238E27FC236}">
                <a16:creationId xmlns:a16="http://schemas.microsoft.com/office/drawing/2014/main" id="{FC65836A-A354-EEE2-01C1-8F80695B19A0}"/>
              </a:ext>
            </a:extLst>
          </p:cNvPr>
          <p:cNvSpPr>
            <a:spLocks noGrp="1"/>
          </p:cNvSpPr>
          <p:nvPr>
            <p:ph type="title" idx="4294967295"/>
          </p:nvPr>
        </p:nvSpPr>
        <p:spPr>
          <a:xfrm>
            <a:off x="757002" y="206375"/>
            <a:ext cx="7472597" cy="679375"/>
          </a:xfrm>
          <a:prstGeom prst="rect">
            <a:avLst/>
          </a:prstGeom>
        </p:spPr>
        <p:txBody>
          <a:bodyPr/>
          <a:lstStyle/>
          <a:p>
            <a:pPr algn="ctr"/>
            <a:r>
              <a:rPr lang="en-US" sz="2400" b="1" dirty="0">
                <a:solidFill>
                  <a:schemeClr val="bg2"/>
                </a:solidFill>
              </a:rPr>
              <a:t>Applications of BFS in Graphs</a:t>
            </a:r>
          </a:p>
        </p:txBody>
      </p:sp>
      <p:sp>
        <p:nvSpPr>
          <p:cNvPr id="4" name="TextBox 3">
            <a:extLst>
              <a:ext uri="{FF2B5EF4-FFF2-40B4-BE49-F238E27FC236}">
                <a16:creationId xmlns:a16="http://schemas.microsoft.com/office/drawing/2014/main" id="{DA1A1B12-138D-6772-7C4E-9EF531341E54}"/>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12</a:t>
            </a:r>
            <a:endParaRPr lang="en-IN" dirty="0"/>
          </a:p>
        </p:txBody>
      </p:sp>
    </p:spTree>
    <p:extLst>
      <p:ext uri="{BB962C8B-B14F-4D97-AF65-F5344CB8AC3E}">
        <p14:creationId xmlns:p14="http://schemas.microsoft.com/office/powerpoint/2010/main" val="2934318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79C685A-4F77-0B50-598A-449039E7A46A}"/>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13</a:t>
            </a:r>
            <a:endParaRPr lang="en-IN" dirty="0"/>
          </a:p>
        </p:txBody>
      </p:sp>
      <p:sp>
        <p:nvSpPr>
          <p:cNvPr id="3" name="TextBox 2">
            <a:extLst>
              <a:ext uri="{FF2B5EF4-FFF2-40B4-BE49-F238E27FC236}">
                <a16:creationId xmlns:a16="http://schemas.microsoft.com/office/drawing/2014/main" id="{65D128B5-543F-B5E2-1362-36BBC59ABD75}"/>
              </a:ext>
            </a:extLst>
          </p:cNvPr>
          <p:cNvSpPr txBox="1"/>
          <p:nvPr/>
        </p:nvSpPr>
        <p:spPr>
          <a:xfrm>
            <a:off x="489857" y="1218128"/>
            <a:ext cx="4572000" cy="2893100"/>
          </a:xfrm>
          <a:prstGeom prst="rect">
            <a:avLst/>
          </a:prstGeom>
          <a:noFill/>
        </p:spPr>
        <p:txBody>
          <a:bodyPr wrap="square">
            <a:spAutoFit/>
          </a:bodyPr>
          <a:lstStyle/>
          <a:p>
            <a:pPr marL="285750" indent="-285750">
              <a:buFont typeface="Arial" panose="020B0604020202020204" pitchFamily="34" charset="0"/>
              <a:buChar char="•"/>
            </a:pPr>
            <a:r>
              <a:rPr lang="en-IN" dirty="0"/>
              <a:t>Given a graph, traverse the graph using Depth First Search and find the order in which nodes are visited.</a:t>
            </a:r>
          </a:p>
          <a:p>
            <a:pPr marL="285750" indent="-285750">
              <a:buFont typeface="Arial" panose="020B0604020202020204" pitchFamily="34" charset="0"/>
              <a:buChar char="•"/>
            </a:pPr>
            <a:r>
              <a:rPr lang="en-IN" dirty="0"/>
              <a:t>Depth First Search (DFS) is a graph traversal method that starts from a source vertex and explores each path completely before backtracking and exploring other paths. To avoid revisiting nodes in graphs with cycles, a visited array is used to track visited vertices.</a:t>
            </a:r>
          </a:p>
          <a:p>
            <a:pPr marL="285750" indent="-285750">
              <a:buFont typeface="Arial" panose="020B0604020202020204" pitchFamily="34" charset="0"/>
              <a:buChar char="•"/>
            </a:pPr>
            <a:r>
              <a:rPr lang="en-IN" b="1" dirty="0"/>
              <a:t>Note: </a:t>
            </a:r>
            <a:r>
              <a:rPr lang="en-IN" dirty="0"/>
              <a:t>There can be multiple DFS traversals of a graph according to the order in which we pick adjacent vertices. Here we pick vertices as per the insertion order.</a:t>
            </a:r>
          </a:p>
        </p:txBody>
      </p:sp>
      <p:sp>
        <p:nvSpPr>
          <p:cNvPr id="8" name="TextBox 7">
            <a:extLst>
              <a:ext uri="{FF2B5EF4-FFF2-40B4-BE49-F238E27FC236}">
                <a16:creationId xmlns:a16="http://schemas.microsoft.com/office/drawing/2014/main" id="{5FA1FB58-40F8-7CFE-5925-DEA64B0A9EA2}"/>
              </a:ext>
            </a:extLst>
          </p:cNvPr>
          <p:cNvSpPr txBox="1"/>
          <p:nvPr/>
        </p:nvSpPr>
        <p:spPr>
          <a:xfrm>
            <a:off x="1445078" y="132154"/>
            <a:ext cx="6213021" cy="523220"/>
          </a:xfrm>
          <a:prstGeom prst="rect">
            <a:avLst/>
          </a:prstGeom>
          <a:noFill/>
        </p:spPr>
        <p:txBody>
          <a:bodyPr wrap="square">
            <a:spAutoFit/>
          </a:bodyPr>
          <a:lstStyle/>
          <a:p>
            <a:r>
              <a:rPr lang="en-US" sz="2800" b="1" kern="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Depth First Search or DFS for a Graph</a:t>
            </a:r>
          </a:p>
        </p:txBody>
      </p:sp>
      <p:pic>
        <p:nvPicPr>
          <p:cNvPr id="2" name="Picture 1" descr="A diagram of a network&#10;&#10;AI-generated content may be incorrect.">
            <a:extLst>
              <a:ext uri="{FF2B5EF4-FFF2-40B4-BE49-F238E27FC236}">
                <a16:creationId xmlns:a16="http://schemas.microsoft.com/office/drawing/2014/main" id="{8E69D26B-5126-E6C8-5ED7-C2711D150878}"/>
              </a:ext>
            </a:extLst>
          </p:cNvPr>
          <p:cNvPicPr>
            <a:picLocks noChangeAspect="1"/>
          </p:cNvPicPr>
          <p:nvPr/>
        </p:nvPicPr>
        <p:blipFill>
          <a:blip r:embed="rId2"/>
          <a:stretch>
            <a:fillRect/>
          </a:stretch>
        </p:blipFill>
        <p:spPr>
          <a:xfrm>
            <a:off x="5249635" y="1314449"/>
            <a:ext cx="3273879" cy="2424793"/>
          </a:xfrm>
          <a:prstGeom prst="rect">
            <a:avLst/>
          </a:prstGeom>
        </p:spPr>
      </p:pic>
      <p:sp>
        <p:nvSpPr>
          <p:cNvPr id="5" name="TextBox 4">
            <a:extLst>
              <a:ext uri="{FF2B5EF4-FFF2-40B4-BE49-F238E27FC236}">
                <a16:creationId xmlns:a16="http://schemas.microsoft.com/office/drawing/2014/main" id="{348BC3C4-4131-1273-BD53-C8DA2F9B7B9B}"/>
              </a:ext>
            </a:extLst>
          </p:cNvPr>
          <p:cNvSpPr txBox="1"/>
          <p:nvPr/>
        </p:nvSpPr>
        <p:spPr>
          <a:xfrm>
            <a:off x="5331278" y="4336469"/>
            <a:ext cx="3380015" cy="307777"/>
          </a:xfrm>
          <a:prstGeom prst="rect">
            <a:avLst/>
          </a:prstGeom>
          <a:noFill/>
        </p:spPr>
        <p:txBody>
          <a:bodyPr wrap="square">
            <a:spAutoFit/>
          </a:bodyPr>
          <a:lstStyle/>
          <a:p>
            <a:pPr algn="just"/>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Figure-10 : DFS Graph</a:t>
            </a:r>
            <a:endParaRPr lang="en-IN"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58AD7-529F-73AB-9525-B3AFA512CC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D9BC443-4108-809B-1074-35E842555EB8}"/>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14</a:t>
            </a:r>
            <a:endParaRPr lang="en-IN" dirty="0"/>
          </a:p>
        </p:txBody>
      </p:sp>
      <p:sp>
        <p:nvSpPr>
          <p:cNvPr id="3" name="TextBox 2">
            <a:extLst>
              <a:ext uri="{FF2B5EF4-FFF2-40B4-BE49-F238E27FC236}">
                <a16:creationId xmlns:a16="http://schemas.microsoft.com/office/drawing/2014/main" id="{DE9BEFFF-D06B-7543-6F9E-A19620582053}"/>
              </a:ext>
            </a:extLst>
          </p:cNvPr>
          <p:cNvSpPr txBox="1"/>
          <p:nvPr/>
        </p:nvSpPr>
        <p:spPr>
          <a:xfrm>
            <a:off x="489857" y="1218128"/>
            <a:ext cx="4572000" cy="3323987"/>
          </a:xfrm>
          <a:prstGeom prst="rect">
            <a:avLst/>
          </a:prstGeom>
          <a:noFill/>
        </p:spPr>
        <p:txBody>
          <a:bodyPr wrap="square">
            <a:spAutoFit/>
          </a:bodyPr>
          <a:lstStyle/>
          <a:p>
            <a:r>
              <a:rPr lang="en-IN" b="1" dirty="0"/>
              <a:t>Example:</a:t>
            </a:r>
            <a:endParaRPr lang="en-IN" dirty="0"/>
          </a:p>
          <a:p>
            <a:r>
              <a:rPr lang="en-IN" b="1" i="1" dirty="0"/>
              <a:t>Input: </a:t>
            </a:r>
            <a:r>
              <a:rPr lang="en-IN" i="1" dirty="0" err="1"/>
              <a:t>adj</a:t>
            </a:r>
            <a:r>
              <a:rPr lang="en-IN" i="1" dirty="0"/>
              <a:t>[][] = [[1, 2], [0, 2], [0, 1, 3, 4], [2], [2]]</a:t>
            </a:r>
            <a:endParaRPr lang="en-IN" b="1" i="1" dirty="0"/>
          </a:p>
          <a:p>
            <a:endParaRPr lang="en-IN" b="1" i="1" dirty="0"/>
          </a:p>
          <a:p>
            <a:r>
              <a:rPr lang="en-IN" b="1" i="1" dirty="0"/>
              <a:t>Output: </a:t>
            </a:r>
            <a:r>
              <a:rPr lang="en-IN" i="1" dirty="0"/>
              <a:t>[0, 1, 2, 3, 4]</a:t>
            </a:r>
            <a:br>
              <a:rPr lang="en-IN" i="1" dirty="0"/>
            </a:br>
            <a:r>
              <a:rPr lang="en-IN" b="1" i="1" dirty="0"/>
              <a:t>Explanation: </a:t>
            </a:r>
            <a:r>
              <a:rPr lang="en-IN" i="1" dirty="0"/>
              <a:t>The source vertex is 0. We visit it first, then we visit its adjacent. </a:t>
            </a:r>
            <a:br>
              <a:rPr lang="en-IN" i="1" dirty="0"/>
            </a:br>
            <a:r>
              <a:rPr lang="en-IN" i="1" dirty="0"/>
              <a:t>Start at 0: Mark as visited. Print 0.</a:t>
            </a:r>
            <a:br>
              <a:rPr lang="en-IN" i="1" dirty="0"/>
            </a:br>
            <a:r>
              <a:rPr lang="en-IN" i="1" dirty="0"/>
              <a:t>Move to 1: Mark as visited. Print 1. </a:t>
            </a:r>
            <a:br>
              <a:rPr lang="en-IN" i="1" dirty="0"/>
            </a:br>
            <a:r>
              <a:rPr lang="en-IN" i="1" dirty="0"/>
              <a:t>Move to 2: Mark as visited. Print 2. </a:t>
            </a:r>
            <a:br>
              <a:rPr lang="en-IN" i="1" dirty="0"/>
            </a:br>
            <a:r>
              <a:rPr lang="en-IN" i="1" dirty="0"/>
              <a:t>Move to 3: Mark as visited. Print 3.(backtrack to 2)</a:t>
            </a:r>
            <a:br>
              <a:rPr lang="en-IN" i="1" dirty="0"/>
            </a:br>
            <a:r>
              <a:rPr lang="en-IN" i="1" dirty="0"/>
              <a:t>Move to 4: Mark as visited. Print 4(backtrack to 2, then backtrack to 1, then to 0).</a:t>
            </a:r>
            <a:endParaRPr lang="en-IN" dirty="0"/>
          </a:p>
          <a:p>
            <a:r>
              <a:rPr lang="en-IN" i="1" dirty="0"/>
              <a:t>Note that there can be more than one DFS Traversals of a Graph. For example, after 1, we may pick adjacent 2 instead of 0 and get a different DFS.</a:t>
            </a:r>
            <a:endParaRPr lang="en-IN" dirty="0"/>
          </a:p>
        </p:txBody>
      </p:sp>
      <p:sp>
        <p:nvSpPr>
          <p:cNvPr id="8" name="TextBox 7">
            <a:extLst>
              <a:ext uri="{FF2B5EF4-FFF2-40B4-BE49-F238E27FC236}">
                <a16:creationId xmlns:a16="http://schemas.microsoft.com/office/drawing/2014/main" id="{B16B5886-6702-78D9-A9B5-0449C1EB8D9A}"/>
              </a:ext>
            </a:extLst>
          </p:cNvPr>
          <p:cNvSpPr txBox="1"/>
          <p:nvPr/>
        </p:nvSpPr>
        <p:spPr>
          <a:xfrm>
            <a:off x="1445078" y="132154"/>
            <a:ext cx="6213021" cy="523220"/>
          </a:xfrm>
          <a:prstGeom prst="rect">
            <a:avLst/>
          </a:prstGeom>
          <a:noFill/>
        </p:spPr>
        <p:txBody>
          <a:bodyPr wrap="square">
            <a:spAutoFit/>
          </a:bodyPr>
          <a:lstStyle/>
          <a:p>
            <a:r>
              <a:rPr lang="en-US" sz="2800" b="1" kern="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Depth First Search or DFS for a Graph</a:t>
            </a:r>
          </a:p>
        </p:txBody>
      </p:sp>
      <p:pic>
        <p:nvPicPr>
          <p:cNvPr id="2" name="Picture 1" descr="A diagram of a network&#10;&#10;AI-generated content may be incorrect.">
            <a:extLst>
              <a:ext uri="{FF2B5EF4-FFF2-40B4-BE49-F238E27FC236}">
                <a16:creationId xmlns:a16="http://schemas.microsoft.com/office/drawing/2014/main" id="{B0BF20FB-E50C-FE9D-1864-2914A5962A74}"/>
              </a:ext>
            </a:extLst>
          </p:cNvPr>
          <p:cNvPicPr>
            <a:picLocks noChangeAspect="1"/>
          </p:cNvPicPr>
          <p:nvPr/>
        </p:nvPicPr>
        <p:blipFill>
          <a:blip r:embed="rId2"/>
          <a:stretch>
            <a:fillRect/>
          </a:stretch>
        </p:blipFill>
        <p:spPr>
          <a:xfrm>
            <a:off x="5249635" y="1314449"/>
            <a:ext cx="3273879" cy="2424793"/>
          </a:xfrm>
          <a:prstGeom prst="rect">
            <a:avLst/>
          </a:prstGeom>
        </p:spPr>
      </p:pic>
      <p:sp>
        <p:nvSpPr>
          <p:cNvPr id="5" name="TextBox 4">
            <a:extLst>
              <a:ext uri="{FF2B5EF4-FFF2-40B4-BE49-F238E27FC236}">
                <a16:creationId xmlns:a16="http://schemas.microsoft.com/office/drawing/2014/main" id="{2E33331E-3A86-A380-FF10-B2BE2AEBECCF}"/>
              </a:ext>
            </a:extLst>
          </p:cNvPr>
          <p:cNvSpPr txBox="1"/>
          <p:nvPr/>
        </p:nvSpPr>
        <p:spPr>
          <a:xfrm>
            <a:off x="5331278" y="4336469"/>
            <a:ext cx="3380015" cy="307777"/>
          </a:xfrm>
          <a:prstGeom prst="rect">
            <a:avLst/>
          </a:prstGeom>
          <a:noFill/>
        </p:spPr>
        <p:txBody>
          <a:bodyPr wrap="square">
            <a:spAutoFit/>
          </a:bodyPr>
          <a:lstStyle/>
          <a:p>
            <a:pPr algn="just"/>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Figure-10 : DFS Graph</a:t>
            </a:r>
            <a:endParaRPr lang="en-IN" b="1" dirty="0"/>
          </a:p>
        </p:txBody>
      </p:sp>
    </p:spTree>
    <p:extLst>
      <p:ext uri="{BB962C8B-B14F-4D97-AF65-F5344CB8AC3E}">
        <p14:creationId xmlns:p14="http://schemas.microsoft.com/office/powerpoint/2010/main" val="39895854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F301B-A67A-1BA8-FCDB-310AD0E15DD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3428C02-CE94-F11D-31B8-712E15AC27D9}"/>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15</a:t>
            </a:r>
            <a:endParaRPr lang="en-IN" dirty="0"/>
          </a:p>
        </p:txBody>
      </p:sp>
      <p:sp>
        <p:nvSpPr>
          <p:cNvPr id="3" name="TextBox 2">
            <a:extLst>
              <a:ext uri="{FF2B5EF4-FFF2-40B4-BE49-F238E27FC236}">
                <a16:creationId xmlns:a16="http://schemas.microsoft.com/office/drawing/2014/main" id="{18B79BB0-5538-F773-0863-449B6BB23D4E}"/>
              </a:ext>
            </a:extLst>
          </p:cNvPr>
          <p:cNvSpPr txBox="1"/>
          <p:nvPr/>
        </p:nvSpPr>
        <p:spPr>
          <a:xfrm>
            <a:off x="489857" y="1218128"/>
            <a:ext cx="4572000" cy="3108543"/>
          </a:xfrm>
          <a:prstGeom prst="rect">
            <a:avLst/>
          </a:prstGeom>
          <a:noFill/>
        </p:spPr>
        <p:txBody>
          <a:bodyPr wrap="square">
            <a:spAutoFit/>
          </a:bodyPr>
          <a:lstStyle/>
          <a:p>
            <a:r>
              <a:rPr lang="en-IN" b="1" dirty="0"/>
              <a:t>Example:</a:t>
            </a:r>
            <a:endParaRPr lang="en-IN" dirty="0"/>
          </a:p>
          <a:p>
            <a:r>
              <a:rPr lang="en-IN" b="1" i="1" dirty="0"/>
              <a:t>Input: </a:t>
            </a:r>
            <a:r>
              <a:rPr lang="en-IN" i="1" dirty="0" err="1"/>
              <a:t>adj</a:t>
            </a:r>
            <a:r>
              <a:rPr lang="en-IN" i="1" dirty="0"/>
              <a:t>[][] = [[2, 3], [2], [0, 1], [0], [5], [4]]</a:t>
            </a:r>
            <a:endParaRPr lang="en-IN" dirty="0"/>
          </a:p>
          <a:p>
            <a:r>
              <a:rPr lang="en-IN" b="1" i="1" dirty="0"/>
              <a:t>Output: </a:t>
            </a:r>
            <a:r>
              <a:rPr lang="en-IN" i="1" dirty="0"/>
              <a:t>[0, 2, 1, 3, 4, 5]</a:t>
            </a:r>
            <a:br>
              <a:rPr lang="en-IN" i="1" dirty="0"/>
            </a:br>
            <a:r>
              <a:rPr lang="en-IN" b="1" i="1" dirty="0"/>
              <a:t>Explanation:</a:t>
            </a:r>
            <a:r>
              <a:rPr lang="en-IN" i="1" dirty="0"/>
              <a:t> DFS Steps:</a:t>
            </a:r>
            <a:endParaRPr lang="en-IN" dirty="0"/>
          </a:p>
          <a:p>
            <a:r>
              <a:rPr lang="en-IN" i="1" dirty="0"/>
              <a:t>Start at 0: Mark as visited. Print 0.</a:t>
            </a:r>
            <a:br>
              <a:rPr lang="en-IN" i="1" dirty="0"/>
            </a:br>
            <a:r>
              <a:rPr lang="en-IN" i="1" dirty="0"/>
              <a:t>Move to 2: Mark as visited. Print 2.</a:t>
            </a:r>
            <a:br>
              <a:rPr lang="en-IN" i="1" dirty="0"/>
            </a:br>
            <a:r>
              <a:rPr lang="en-IN" i="1" dirty="0"/>
              <a:t>Move to 1: Mark as visited. Print 1 (backtrack to 2, then backtrack to 0).</a:t>
            </a:r>
            <a:br>
              <a:rPr lang="en-IN" i="1" dirty="0"/>
            </a:br>
            <a:r>
              <a:rPr lang="en-IN" i="1" dirty="0"/>
              <a:t>Move to 3: Mark as visited. Print 3 (backtrack to 0).</a:t>
            </a:r>
            <a:br>
              <a:rPr lang="en-IN" i="1" dirty="0"/>
            </a:br>
            <a:br>
              <a:rPr lang="en-IN" i="1" dirty="0"/>
            </a:br>
            <a:r>
              <a:rPr lang="en-IN" i="1" dirty="0"/>
              <a:t>Start with 4.</a:t>
            </a:r>
            <a:br>
              <a:rPr lang="en-IN" i="1" dirty="0"/>
            </a:br>
            <a:r>
              <a:rPr lang="en-IN" i="1" dirty="0"/>
              <a:t>Start at 4: Mark as visited. Print 4.</a:t>
            </a:r>
            <a:br>
              <a:rPr lang="en-IN" i="1" dirty="0"/>
            </a:br>
            <a:r>
              <a:rPr lang="en-IN" i="1" dirty="0"/>
              <a:t>Move to 5: Mark as visited. Print 5. (backtrack to 4)</a:t>
            </a:r>
            <a:endParaRPr lang="en-IN" dirty="0"/>
          </a:p>
          <a:p>
            <a:endParaRPr lang="en-IN" b="1" i="1" dirty="0"/>
          </a:p>
        </p:txBody>
      </p:sp>
      <p:sp>
        <p:nvSpPr>
          <p:cNvPr id="8" name="TextBox 7">
            <a:extLst>
              <a:ext uri="{FF2B5EF4-FFF2-40B4-BE49-F238E27FC236}">
                <a16:creationId xmlns:a16="http://schemas.microsoft.com/office/drawing/2014/main" id="{D24D7C12-74CE-C42E-8E33-728A18BFEE8F}"/>
              </a:ext>
            </a:extLst>
          </p:cNvPr>
          <p:cNvSpPr txBox="1"/>
          <p:nvPr/>
        </p:nvSpPr>
        <p:spPr>
          <a:xfrm>
            <a:off x="1445078" y="132154"/>
            <a:ext cx="6213021" cy="523220"/>
          </a:xfrm>
          <a:prstGeom prst="rect">
            <a:avLst/>
          </a:prstGeom>
          <a:noFill/>
        </p:spPr>
        <p:txBody>
          <a:bodyPr wrap="square">
            <a:spAutoFit/>
          </a:bodyPr>
          <a:lstStyle/>
          <a:p>
            <a:r>
              <a:rPr lang="en-US" sz="2800" b="1" kern="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Depth First Search or DFS for a Graph</a:t>
            </a:r>
          </a:p>
        </p:txBody>
      </p:sp>
      <p:sp>
        <p:nvSpPr>
          <p:cNvPr id="5" name="TextBox 4">
            <a:extLst>
              <a:ext uri="{FF2B5EF4-FFF2-40B4-BE49-F238E27FC236}">
                <a16:creationId xmlns:a16="http://schemas.microsoft.com/office/drawing/2014/main" id="{14FCCD6B-F7E1-5B85-798E-BC1B835820B0}"/>
              </a:ext>
            </a:extLst>
          </p:cNvPr>
          <p:cNvSpPr txBox="1"/>
          <p:nvPr/>
        </p:nvSpPr>
        <p:spPr>
          <a:xfrm>
            <a:off x="5331278" y="4336469"/>
            <a:ext cx="3380015" cy="307777"/>
          </a:xfrm>
          <a:prstGeom prst="rect">
            <a:avLst/>
          </a:prstGeom>
          <a:noFill/>
        </p:spPr>
        <p:txBody>
          <a:bodyPr wrap="square">
            <a:spAutoFit/>
          </a:bodyPr>
          <a:lstStyle/>
          <a:p>
            <a:pPr algn="just"/>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Figure-11 : DFS Graph</a:t>
            </a:r>
            <a:endParaRPr lang="en-IN" b="1" dirty="0"/>
          </a:p>
        </p:txBody>
      </p:sp>
      <p:pic>
        <p:nvPicPr>
          <p:cNvPr id="6" name="Picture 5" descr="A group of circles with numbers&#10;&#10;AI-generated content may be incorrect.">
            <a:extLst>
              <a:ext uri="{FF2B5EF4-FFF2-40B4-BE49-F238E27FC236}">
                <a16:creationId xmlns:a16="http://schemas.microsoft.com/office/drawing/2014/main" id="{F367CD1D-2E30-558E-75F7-BC8C041E3FC0}"/>
              </a:ext>
            </a:extLst>
          </p:cNvPr>
          <p:cNvPicPr>
            <a:picLocks noChangeAspect="1"/>
          </p:cNvPicPr>
          <p:nvPr/>
        </p:nvPicPr>
        <p:blipFill>
          <a:blip r:embed="rId2"/>
          <a:stretch>
            <a:fillRect/>
          </a:stretch>
        </p:blipFill>
        <p:spPr>
          <a:xfrm>
            <a:off x="5331277" y="1542156"/>
            <a:ext cx="2939143" cy="2466507"/>
          </a:xfrm>
          <a:prstGeom prst="rect">
            <a:avLst/>
          </a:prstGeom>
        </p:spPr>
      </p:pic>
    </p:spTree>
    <p:extLst>
      <p:ext uri="{BB962C8B-B14F-4D97-AF65-F5344CB8AC3E}">
        <p14:creationId xmlns:p14="http://schemas.microsoft.com/office/powerpoint/2010/main" val="21587372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1D90E-E827-E2C8-BB3F-672C79EDF6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5990FB-7514-ED7B-7ED1-D17CE4D851E7}"/>
              </a:ext>
            </a:extLst>
          </p:cNvPr>
          <p:cNvSpPr>
            <a:spLocks noGrp="1"/>
          </p:cNvSpPr>
          <p:nvPr>
            <p:ph type="title" idx="4294967295"/>
          </p:nvPr>
        </p:nvSpPr>
        <p:spPr>
          <a:xfrm>
            <a:off x="757002" y="206375"/>
            <a:ext cx="7472597" cy="679375"/>
          </a:xfrm>
          <a:prstGeom prst="rect">
            <a:avLst/>
          </a:prstGeom>
        </p:spPr>
        <p:txBody>
          <a:bodyPr/>
          <a:lstStyle/>
          <a:p>
            <a:pPr algn="ctr"/>
            <a:br>
              <a:rPr lang="en-US" sz="2400" b="1" dirty="0">
                <a:solidFill>
                  <a:schemeClr val="bg2"/>
                </a:solidFill>
              </a:rPr>
            </a:br>
            <a:endParaRPr lang="en-US" sz="2400" b="1" dirty="0">
              <a:solidFill>
                <a:schemeClr val="bg2"/>
              </a:solidFill>
            </a:endParaRPr>
          </a:p>
        </p:txBody>
      </p:sp>
      <p:sp>
        <p:nvSpPr>
          <p:cNvPr id="4" name="TextBox 3">
            <a:extLst>
              <a:ext uri="{FF2B5EF4-FFF2-40B4-BE49-F238E27FC236}">
                <a16:creationId xmlns:a16="http://schemas.microsoft.com/office/drawing/2014/main" id="{4B329153-FC47-78F3-3C99-4C1A62C9C5EB}"/>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16</a:t>
            </a:r>
            <a:endParaRPr lang="en-IN" dirty="0"/>
          </a:p>
        </p:txBody>
      </p:sp>
      <p:sp>
        <p:nvSpPr>
          <p:cNvPr id="6" name="TextBox 5">
            <a:extLst>
              <a:ext uri="{FF2B5EF4-FFF2-40B4-BE49-F238E27FC236}">
                <a16:creationId xmlns:a16="http://schemas.microsoft.com/office/drawing/2014/main" id="{9965AA9B-0809-5B8C-A120-CF03E50607AE}"/>
              </a:ext>
            </a:extLst>
          </p:cNvPr>
          <p:cNvSpPr txBox="1"/>
          <p:nvPr/>
        </p:nvSpPr>
        <p:spPr>
          <a:xfrm>
            <a:off x="0" y="1221394"/>
            <a:ext cx="4572000" cy="2462213"/>
          </a:xfrm>
          <a:prstGeom prst="rect">
            <a:avLst/>
          </a:prstGeom>
          <a:noFill/>
        </p:spPr>
        <p:txBody>
          <a:bodyPr wrap="square">
            <a:spAutoFit/>
          </a:bodyPr>
          <a:lstStyle/>
          <a:p>
            <a:r>
              <a:rPr lang="en-IN" i="1" dirty="0"/>
              <a:t>Depth First Search (DFS) starts from a given source vertex and explores one path as deeply as possible. When it reaches a vertex with no unvisited </a:t>
            </a:r>
            <a:r>
              <a:rPr lang="en-IN" i="1" dirty="0" err="1"/>
              <a:t>neighbors</a:t>
            </a:r>
            <a:r>
              <a:rPr lang="en-IN" i="1" dirty="0"/>
              <a:t>, it backtracks to the previous vertex to explore other unvisited paths. This continues until all vertices reachable from the source are visited.</a:t>
            </a:r>
            <a:br>
              <a:rPr lang="en-IN" i="1" dirty="0"/>
            </a:br>
            <a:r>
              <a:rPr lang="en-IN" i="1" dirty="0"/>
              <a:t>In a graph, there might be loops. So we use an extra visited array to make sure that we do not process a vertex again.</a:t>
            </a:r>
            <a:endParaRPr lang="en-IN" dirty="0"/>
          </a:p>
          <a:p>
            <a:r>
              <a:rPr lang="en-IN" dirty="0"/>
              <a:t>Let us understand the working of Depth First Search with the help of the following Illustration</a:t>
            </a:r>
            <a:r>
              <a:rPr lang="en-IN" b="1" dirty="0"/>
              <a:t>:</a:t>
            </a:r>
            <a:endParaRPr lang="en-IN" dirty="0"/>
          </a:p>
        </p:txBody>
      </p:sp>
      <p:sp>
        <p:nvSpPr>
          <p:cNvPr id="8" name="TextBox 7">
            <a:extLst>
              <a:ext uri="{FF2B5EF4-FFF2-40B4-BE49-F238E27FC236}">
                <a16:creationId xmlns:a16="http://schemas.microsoft.com/office/drawing/2014/main" id="{64B85C0F-E441-CF96-6E97-39FE9E415853}"/>
              </a:ext>
            </a:extLst>
          </p:cNvPr>
          <p:cNvSpPr txBox="1"/>
          <p:nvPr/>
        </p:nvSpPr>
        <p:spPr>
          <a:xfrm>
            <a:off x="1151164" y="132154"/>
            <a:ext cx="6564086" cy="523220"/>
          </a:xfrm>
          <a:prstGeom prst="rect">
            <a:avLst/>
          </a:prstGeom>
          <a:noFill/>
        </p:spPr>
        <p:txBody>
          <a:bodyPr wrap="square">
            <a:spAutoFit/>
          </a:bodyPr>
          <a:lstStyle/>
          <a:p>
            <a:r>
              <a:rPr lang="en-US" sz="2800" b="1" spc="10" dirty="0">
                <a:solidFill>
                  <a:srgbClr val="273239"/>
                </a:solidFill>
                <a:latin typeface="Times New Roman" panose="02020603050405020304" pitchFamily="18" charset="0"/>
                <a:cs typeface="Times New Roman" panose="02020603050405020304" pitchFamily="18" charset="0"/>
              </a:rPr>
              <a:t>DFS from a Given Source of Graph:</a:t>
            </a:r>
          </a:p>
        </p:txBody>
      </p:sp>
      <p:pic>
        <p:nvPicPr>
          <p:cNvPr id="3" name="Picture 2" descr="A diagram of a graph&#10;&#10;AI-generated content may be incorrect.">
            <a:extLst>
              <a:ext uri="{FF2B5EF4-FFF2-40B4-BE49-F238E27FC236}">
                <a16:creationId xmlns:a16="http://schemas.microsoft.com/office/drawing/2014/main" id="{928E25CF-3F44-7BE9-7508-BEF9A13476FD}"/>
              </a:ext>
            </a:extLst>
          </p:cNvPr>
          <p:cNvPicPr>
            <a:picLocks noChangeAspect="1"/>
          </p:cNvPicPr>
          <p:nvPr/>
        </p:nvPicPr>
        <p:blipFill>
          <a:blip r:embed="rId2"/>
          <a:stretch>
            <a:fillRect/>
          </a:stretch>
        </p:blipFill>
        <p:spPr>
          <a:xfrm>
            <a:off x="4702628" y="1135380"/>
            <a:ext cx="4098471" cy="2872740"/>
          </a:xfrm>
          <a:prstGeom prst="rect">
            <a:avLst/>
          </a:prstGeom>
        </p:spPr>
      </p:pic>
      <p:sp>
        <p:nvSpPr>
          <p:cNvPr id="5" name="TextBox 4">
            <a:extLst>
              <a:ext uri="{FF2B5EF4-FFF2-40B4-BE49-F238E27FC236}">
                <a16:creationId xmlns:a16="http://schemas.microsoft.com/office/drawing/2014/main" id="{30758BA1-CC7C-11A0-D855-96F52FF1E47C}"/>
              </a:ext>
            </a:extLst>
          </p:cNvPr>
          <p:cNvSpPr txBox="1"/>
          <p:nvPr/>
        </p:nvSpPr>
        <p:spPr>
          <a:xfrm>
            <a:off x="5331278" y="4336469"/>
            <a:ext cx="3380015" cy="307777"/>
          </a:xfrm>
          <a:prstGeom prst="rect">
            <a:avLst/>
          </a:prstGeom>
          <a:noFill/>
        </p:spPr>
        <p:txBody>
          <a:bodyPr wrap="square">
            <a:spAutoFit/>
          </a:bodyPr>
          <a:lstStyle/>
          <a:p>
            <a:pPr algn="just"/>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Figure-12 : DFS Graph</a:t>
            </a:r>
            <a:endParaRPr lang="en-IN" b="1" dirty="0"/>
          </a:p>
        </p:txBody>
      </p:sp>
    </p:spTree>
    <p:extLst>
      <p:ext uri="{BB962C8B-B14F-4D97-AF65-F5344CB8AC3E}">
        <p14:creationId xmlns:p14="http://schemas.microsoft.com/office/powerpoint/2010/main" val="33445626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AA38E667-3808-EFC9-1DAC-32F2AECC431A}"/>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2DD7B6BA-C29E-A0A3-0A55-17144159CE0A}"/>
              </a:ext>
            </a:extLst>
          </p:cNvPr>
          <p:cNvSpPr/>
          <p:nvPr/>
        </p:nvSpPr>
        <p:spPr>
          <a:xfrm>
            <a:off x="866899" y="305138"/>
            <a:ext cx="8277101"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8" name="TextBox 7">
            <a:extLst>
              <a:ext uri="{FF2B5EF4-FFF2-40B4-BE49-F238E27FC236}">
                <a16:creationId xmlns:a16="http://schemas.microsoft.com/office/drawing/2014/main" id="{7BB57AAE-D0E4-EE5C-6084-5FA8C06896D8}"/>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17</a:t>
            </a:r>
            <a:endParaRPr lang="en-IN" dirty="0"/>
          </a:p>
        </p:txBody>
      </p:sp>
      <p:sp>
        <p:nvSpPr>
          <p:cNvPr id="3" name="TextBox 2">
            <a:extLst>
              <a:ext uri="{FF2B5EF4-FFF2-40B4-BE49-F238E27FC236}">
                <a16:creationId xmlns:a16="http://schemas.microsoft.com/office/drawing/2014/main" id="{63FA58E4-A22F-1250-E139-1F737250B0DC}"/>
              </a:ext>
            </a:extLst>
          </p:cNvPr>
          <p:cNvSpPr txBox="1"/>
          <p:nvPr/>
        </p:nvSpPr>
        <p:spPr>
          <a:xfrm>
            <a:off x="537544" y="4287483"/>
            <a:ext cx="4592410" cy="307777"/>
          </a:xfrm>
          <a:prstGeom prst="rect">
            <a:avLst/>
          </a:prstGeom>
          <a:noFill/>
        </p:spPr>
        <p:txBody>
          <a:bodyPr wrap="square">
            <a:spAutoFit/>
          </a:bodyPr>
          <a:lstStyle/>
          <a:p>
            <a:pPr algn="just"/>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Figure-13 : Working of Depth First Search (DFS) </a:t>
            </a:r>
            <a:endParaRPr lang="en-IN" b="1" dirty="0"/>
          </a:p>
        </p:txBody>
      </p:sp>
      <p:sp>
        <p:nvSpPr>
          <p:cNvPr id="5" name="TextBox 4">
            <a:extLst>
              <a:ext uri="{FF2B5EF4-FFF2-40B4-BE49-F238E27FC236}">
                <a16:creationId xmlns:a16="http://schemas.microsoft.com/office/drawing/2014/main" id="{52C54E37-F702-D5B4-5FDB-91216EC7421D}"/>
              </a:ext>
            </a:extLst>
          </p:cNvPr>
          <p:cNvSpPr txBox="1"/>
          <p:nvPr/>
        </p:nvSpPr>
        <p:spPr>
          <a:xfrm>
            <a:off x="4571999" y="4336469"/>
            <a:ext cx="3902529" cy="307777"/>
          </a:xfrm>
          <a:prstGeom prst="rect">
            <a:avLst/>
          </a:prstGeom>
          <a:noFill/>
        </p:spPr>
        <p:txBody>
          <a:bodyPr wrap="square">
            <a:spAutoFit/>
          </a:bodyPr>
          <a:lstStyle/>
          <a:p>
            <a:pPr algn="just"/>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Figure-14 : Working of Depth First Search (DFS) </a:t>
            </a:r>
            <a:endParaRPr lang="en-IN" b="1" dirty="0"/>
          </a:p>
        </p:txBody>
      </p:sp>
      <p:pic>
        <p:nvPicPr>
          <p:cNvPr id="2" name="Picture 1" descr="A diagram of a network&#10;&#10;AI-generated content may be incorrect.">
            <a:extLst>
              <a:ext uri="{FF2B5EF4-FFF2-40B4-BE49-F238E27FC236}">
                <a16:creationId xmlns:a16="http://schemas.microsoft.com/office/drawing/2014/main" id="{FC3E2993-6C2E-00BC-C2F5-92D9CD90EA65}"/>
              </a:ext>
            </a:extLst>
          </p:cNvPr>
          <p:cNvPicPr>
            <a:picLocks noChangeAspect="1"/>
          </p:cNvPicPr>
          <p:nvPr/>
        </p:nvPicPr>
        <p:blipFill>
          <a:blip r:embed="rId3"/>
          <a:stretch>
            <a:fillRect/>
          </a:stretch>
        </p:blipFill>
        <p:spPr>
          <a:xfrm>
            <a:off x="408124" y="1097753"/>
            <a:ext cx="4294505" cy="2792730"/>
          </a:xfrm>
          <a:prstGeom prst="rect">
            <a:avLst/>
          </a:prstGeom>
        </p:spPr>
      </p:pic>
      <p:pic>
        <p:nvPicPr>
          <p:cNvPr id="4" name="Picture 3">
            <a:extLst>
              <a:ext uri="{FF2B5EF4-FFF2-40B4-BE49-F238E27FC236}">
                <a16:creationId xmlns:a16="http://schemas.microsoft.com/office/drawing/2014/main" id="{387F2347-90BA-7121-83D2-7CA63666A0E5}"/>
              </a:ext>
            </a:extLst>
          </p:cNvPr>
          <p:cNvPicPr>
            <a:picLocks noChangeAspect="1"/>
          </p:cNvPicPr>
          <p:nvPr/>
        </p:nvPicPr>
        <p:blipFill>
          <a:blip r:embed="rId4"/>
          <a:stretch>
            <a:fillRect/>
          </a:stretch>
        </p:blipFill>
        <p:spPr>
          <a:xfrm>
            <a:off x="4882242" y="1140460"/>
            <a:ext cx="3727281" cy="2862580"/>
          </a:xfrm>
          <a:prstGeom prst="rect">
            <a:avLst/>
          </a:prstGeom>
        </p:spPr>
      </p:pic>
    </p:spTree>
    <p:extLst>
      <p:ext uri="{BB962C8B-B14F-4D97-AF65-F5344CB8AC3E}">
        <p14:creationId xmlns:p14="http://schemas.microsoft.com/office/powerpoint/2010/main" val="1571606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70892E7-F05D-0446-4CFE-972B858B5362}"/>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B3BAF942-FFA2-F23C-521B-89DB4A31C44F}"/>
              </a:ext>
            </a:extLst>
          </p:cNvPr>
          <p:cNvSpPr/>
          <p:nvPr/>
        </p:nvSpPr>
        <p:spPr>
          <a:xfrm>
            <a:off x="866899" y="305138"/>
            <a:ext cx="8277101"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8" name="TextBox 7">
            <a:extLst>
              <a:ext uri="{FF2B5EF4-FFF2-40B4-BE49-F238E27FC236}">
                <a16:creationId xmlns:a16="http://schemas.microsoft.com/office/drawing/2014/main" id="{39AF381F-8E0C-792D-EF92-69CAD3FA8BC4}"/>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18</a:t>
            </a:r>
            <a:endParaRPr lang="en-IN" dirty="0"/>
          </a:p>
        </p:txBody>
      </p:sp>
      <p:sp>
        <p:nvSpPr>
          <p:cNvPr id="3" name="TextBox 2">
            <a:extLst>
              <a:ext uri="{FF2B5EF4-FFF2-40B4-BE49-F238E27FC236}">
                <a16:creationId xmlns:a16="http://schemas.microsoft.com/office/drawing/2014/main" id="{855CA73A-3090-64AF-8C97-9E2A4EE1087D}"/>
              </a:ext>
            </a:extLst>
          </p:cNvPr>
          <p:cNvSpPr txBox="1"/>
          <p:nvPr/>
        </p:nvSpPr>
        <p:spPr>
          <a:xfrm>
            <a:off x="537544" y="4287483"/>
            <a:ext cx="4592410" cy="307777"/>
          </a:xfrm>
          <a:prstGeom prst="rect">
            <a:avLst/>
          </a:prstGeom>
          <a:noFill/>
        </p:spPr>
        <p:txBody>
          <a:bodyPr wrap="square">
            <a:spAutoFit/>
          </a:bodyPr>
          <a:lstStyle/>
          <a:p>
            <a:pPr algn="just"/>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Figure-15 : Working of Depth First Search (DFS) </a:t>
            </a:r>
            <a:endParaRPr lang="en-IN" b="1" dirty="0"/>
          </a:p>
        </p:txBody>
      </p:sp>
      <p:sp>
        <p:nvSpPr>
          <p:cNvPr id="5" name="TextBox 4">
            <a:extLst>
              <a:ext uri="{FF2B5EF4-FFF2-40B4-BE49-F238E27FC236}">
                <a16:creationId xmlns:a16="http://schemas.microsoft.com/office/drawing/2014/main" id="{810F2BE8-BADC-BC19-4E2B-7B3B158A51F7}"/>
              </a:ext>
            </a:extLst>
          </p:cNvPr>
          <p:cNvSpPr txBox="1"/>
          <p:nvPr/>
        </p:nvSpPr>
        <p:spPr>
          <a:xfrm>
            <a:off x="4571999" y="4336469"/>
            <a:ext cx="3902529" cy="307777"/>
          </a:xfrm>
          <a:prstGeom prst="rect">
            <a:avLst/>
          </a:prstGeom>
          <a:noFill/>
        </p:spPr>
        <p:txBody>
          <a:bodyPr wrap="square">
            <a:spAutoFit/>
          </a:bodyPr>
          <a:lstStyle/>
          <a:p>
            <a:pPr algn="just"/>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Figure-16 : Working of Depth First Search (DFS) </a:t>
            </a:r>
            <a:endParaRPr lang="en-IN" b="1" dirty="0"/>
          </a:p>
        </p:txBody>
      </p:sp>
      <p:pic>
        <p:nvPicPr>
          <p:cNvPr id="2" name="Picture 1" descr="A diagram of a network&#10;&#10;AI-generated content may be incorrect.">
            <a:extLst>
              <a:ext uri="{FF2B5EF4-FFF2-40B4-BE49-F238E27FC236}">
                <a16:creationId xmlns:a16="http://schemas.microsoft.com/office/drawing/2014/main" id="{03AAB48A-2FF5-EF79-D519-21CC33C5EE7D}"/>
              </a:ext>
            </a:extLst>
          </p:cNvPr>
          <p:cNvPicPr>
            <a:picLocks noChangeAspect="1"/>
          </p:cNvPicPr>
          <p:nvPr/>
        </p:nvPicPr>
        <p:blipFill>
          <a:blip r:embed="rId3"/>
          <a:stretch>
            <a:fillRect/>
          </a:stretch>
        </p:blipFill>
        <p:spPr>
          <a:xfrm>
            <a:off x="537544" y="968889"/>
            <a:ext cx="4034455" cy="3032246"/>
          </a:xfrm>
          <a:prstGeom prst="rect">
            <a:avLst/>
          </a:prstGeom>
        </p:spPr>
      </p:pic>
      <p:pic>
        <p:nvPicPr>
          <p:cNvPr id="4" name="Picture 3" descr="A diagram of a network&#10;&#10;AI-generated content may be incorrect.">
            <a:extLst>
              <a:ext uri="{FF2B5EF4-FFF2-40B4-BE49-F238E27FC236}">
                <a16:creationId xmlns:a16="http://schemas.microsoft.com/office/drawing/2014/main" id="{0BB97979-521E-97B1-427B-9CCC2E5B79F6}"/>
              </a:ext>
            </a:extLst>
          </p:cNvPr>
          <p:cNvPicPr>
            <a:picLocks noChangeAspect="1"/>
          </p:cNvPicPr>
          <p:nvPr/>
        </p:nvPicPr>
        <p:blipFill>
          <a:blip r:embed="rId4"/>
          <a:stretch>
            <a:fillRect/>
          </a:stretch>
        </p:blipFill>
        <p:spPr>
          <a:xfrm>
            <a:off x="4890407" y="1121092"/>
            <a:ext cx="3657600" cy="2901315"/>
          </a:xfrm>
          <a:prstGeom prst="rect">
            <a:avLst/>
          </a:prstGeom>
        </p:spPr>
      </p:pic>
    </p:spTree>
    <p:extLst>
      <p:ext uri="{BB962C8B-B14F-4D97-AF65-F5344CB8AC3E}">
        <p14:creationId xmlns:p14="http://schemas.microsoft.com/office/powerpoint/2010/main" val="35534966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1EC5DCF2-DFFC-E592-2E5C-064914718C4C}"/>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6B317DC7-ABD7-5DA1-DC4A-7AC52FD67FD1}"/>
              </a:ext>
            </a:extLst>
          </p:cNvPr>
          <p:cNvSpPr/>
          <p:nvPr/>
        </p:nvSpPr>
        <p:spPr>
          <a:xfrm>
            <a:off x="866899" y="305138"/>
            <a:ext cx="8277101"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8" name="TextBox 7">
            <a:extLst>
              <a:ext uri="{FF2B5EF4-FFF2-40B4-BE49-F238E27FC236}">
                <a16:creationId xmlns:a16="http://schemas.microsoft.com/office/drawing/2014/main" id="{6F28DD1B-486D-1008-1A02-925257CAF603}"/>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19</a:t>
            </a:r>
            <a:endParaRPr lang="en-IN" dirty="0"/>
          </a:p>
        </p:txBody>
      </p:sp>
      <p:sp>
        <p:nvSpPr>
          <p:cNvPr id="3" name="TextBox 2">
            <a:extLst>
              <a:ext uri="{FF2B5EF4-FFF2-40B4-BE49-F238E27FC236}">
                <a16:creationId xmlns:a16="http://schemas.microsoft.com/office/drawing/2014/main" id="{A59076EB-AD27-56DA-329B-DFAB63F74793}"/>
              </a:ext>
            </a:extLst>
          </p:cNvPr>
          <p:cNvSpPr txBox="1"/>
          <p:nvPr/>
        </p:nvSpPr>
        <p:spPr>
          <a:xfrm>
            <a:off x="537544" y="4287483"/>
            <a:ext cx="4592410" cy="307777"/>
          </a:xfrm>
          <a:prstGeom prst="rect">
            <a:avLst/>
          </a:prstGeom>
          <a:noFill/>
        </p:spPr>
        <p:txBody>
          <a:bodyPr wrap="square">
            <a:spAutoFit/>
          </a:bodyPr>
          <a:lstStyle/>
          <a:p>
            <a:pPr algn="just"/>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Figure-17 : Working of Depth First Search (DFS) </a:t>
            </a:r>
            <a:endParaRPr lang="en-IN" b="1" dirty="0"/>
          </a:p>
        </p:txBody>
      </p:sp>
      <p:sp>
        <p:nvSpPr>
          <p:cNvPr id="5" name="TextBox 4">
            <a:extLst>
              <a:ext uri="{FF2B5EF4-FFF2-40B4-BE49-F238E27FC236}">
                <a16:creationId xmlns:a16="http://schemas.microsoft.com/office/drawing/2014/main" id="{16F78057-A05A-36D8-B549-1437F103B974}"/>
              </a:ext>
            </a:extLst>
          </p:cNvPr>
          <p:cNvSpPr txBox="1"/>
          <p:nvPr/>
        </p:nvSpPr>
        <p:spPr>
          <a:xfrm>
            <a:off x="4571999" y="4336469"/>
            <a:ext cx="3902529" cy="307777"/>
          </a:xfrm>
          <a:prstGeom prst="rect">
            <a:avLst/>
          </a:prstGeom>
          <a:noFill/>
        </p:spPr>
        <p:txBody>
          <a:bodyPr wrap="square">
            <a:spAutoFit/>
          </a:bodyPr>
          <a:lstStyle/>
          <a:p>
            <a:pPr algn="just"/>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Figure-18 : Working of Depth First Search (DFS) </a:t>
            </a:r>
            <a:endParaRPr lang="en-IN" b="1" dirty="0"/>
          </a:p>
        </p:txBody>
      </p:sp>
      <p:pic>
        <p:nvPicPr>
          <p:cNvPr id="2" name="Picture 1" descr="A diagram of a diagram&#10;&#10;AI-generated content may be incorrect.">
            <a:extLst>
              <a:ext uri="{FF2B5EF4-FFF2-40B4-BE49-F238E27FC236}">
                <a16:creationId xmlns:a16="http://schemas.microsoft.com/office/drawing/2014/main" id="{EDF77AC0-2B11-18B0-72FF-D536320C849B}"/>
              </a:ext>
            </a:extLst>
          </p:cNvPr>
          <p:cNvPicPr>
            <a:picLocks noChangeAspect="1"/>
          </p:cNvPicPr>
          <p:nvPr/>
        </p:nvPicPr>
        <p:blipFill>
          <a:blip r:embed="rId3"/>
          <a:stretch>
            <a:fillRect/>
          </a:stretch>
        </p:blipFill>
        <p:spPr>
          <a:xfrm>
            <a:off x="537544" y="1062828"/>
            <a:ext cx="4034455" cy="2862580"/>
          </a:xfrm>
          <a:prstGeom prst="rect">
            <a:avLst/>
          </a:prstGeom>
        </p:spPr>
      </p:pic>
      <p:pic>
        <p:nvPicPr>
          <p:cNvPr id="4" name="Picture 3" descr="A screenshot of a computer program&#10;&#10;AI-generated content may be incorrect.">
            <a:extLst>
              <a:ext uri="{FF2B5EF4-FFF2-40B4-BE49-F238E27FC236}">
                <a16:creationId xmlns:a16="http://schemas.microsoft.com/office/drawing/2014/main" id="{DB223AEA-0F5F-734A-1E25-C0122FCF6C61}"/>
              </a:ext>
            </a:extLst>
          </p:cNvPr>
          <p:cNvPicPr>
            <a:picLocks noChangeAspect="1"/>
          </p:cNvPicPr>
          <p:nvPr/>
        </p:nvPicPr>
        <p:blipFill>
          <a:blip r:embed="rId4"/>
          <a:stretch>
            <a:fillRect/>
          </a:stretch>
        </p:blipFill>
        <p:spPr>
          <a:xfrm>
            <a:off x="4703927" y="1096256"/>
            <a:ext cx="3902529" cy="2893695"/>
          </a:xfrm>
          <a:prstGeom prst="rect">
            <a:avLst/>
          </a:prstGeom>
        </p:spPr>
      </p:pic>
    </p:spTree>
    <p:extLst>
      <p:ext uri="{BB962C8B-B14F-4D97-AF65-F5344CB8AC3E}">
        <p14:creationId xmlns:p14="http://schemas.microsoft.com/office/powerpoint/2010/main" val="41265837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7FA9944-6158-BD9D-7CBB-9E2FB99232B2}"/>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42D834FF-A7C5-E1D6-B2D9-6BE8CBD714A2}"/>
              </a:ext>
            </a:extLst>
          </p:cNvPr>
          <p:cNvSpPr/>
          <p:nvPr/>
        </p:nvSpPr>
        <p:spPr>
          <a:xfrm>
            <a:off x="866899" y="305138"/>
            <a:ext cx="8277101"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8" name="TextBox 7">
            <a:extLst>
              <a:ext uri="{FF2B5EF4-FFF2-40B4-BE49-F238E27FC236}">
                <a16:creationId xmlns:a16="http://schemas.microsoft.com/office/drawing/2014/main" id="{DEA06B60-9EA7-A426-478A-D825E970DB31}"/>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20</a:t>
            </a:r>
            <a:endParaRPr lang="en-IN" dirty="0"/>
          </a:p>
        </p:txBody>
      </p:sp>
      <p:sp>
        <p:nvSpPr>
          <p:cNvPr id="3" name="TextBox 2">
            <a:extLst>
              <a:ext uri="{FF2B5EF4-FFF2-40B4-BE49-F238E27FC236}">
                <a16:creationId xmlns:a16="http://schemas.microsoft.com/office/drawing/2014/main" id="{1BC98324-2780-5078-1830-695CE470D094}"/>
              </a:ext>
            </a:extLst>
          </p:cNvPr>
          <p:cNvSpPr txBox="1"/>
          <p:nvPr/>
        </p:nvSpPr>
        <p:spPr>
          <a:xfrm>
            <a:off x="537544" y="4287483"/>
            <a:ext cx="4592410" cy="307777"/>
          </a:xfrm>
          <a:prstGeom prst="rect">
            <a:avLst/>
          </a:prstGeom>
          <a:noFill/>
        </p:spPr>
        <p:txBody>
          <a:bodyPr wrap="square">
            <a:spAutoFit/>
          </a:bodyPr>
          <a:lstStyle/>
          <a:p>
            <a:pPr algn="just"/>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Figure-19 : Working of Depth First Search (DFS) </a:t>
            </a:r>
            <a:endParaRPr lang="en-IN" b="1" dirty="0"/>
          </a:p>
        </p:txBody>
      </p:sp>
      <p:sp>
        <p:nvSpPr>
          <p:cNvPr id="5" name="TextBox 4">
            <a:extLst>
              <a:ext uri="{FF2B5EF4-FFF2-40B4-BE49-F238E27FC236}">
                <a16:creationId xmlns:a16="http://schemas.microsoft.com/office/drawing/2014/main" id="{CBD18FC0-03A7-D0A4-015A-C63F02FED700}"/>
              </a:ext>
            </a:extLst>
          </p:cNvPr>
          <p:cNvSpPr txBox="1"/>
          <p:nvPr/>
        </p:nvSpPr>
        <p:spPr>
          <a:xfrm>
            <a:off x="4571999" y="4336469"/>
            <a:ext cx="3902529" cy="307777"/>
          </a:xfrm>
          <a:prstGeom prst="rect">
            <a:avLst/>
          </a:prstGeom>
          <a:noFill/>
        </p:spPr>
        <p:txBody>
          <a:bodyPr wrap="square">
            <a:spAutoFit/>
          </a:bodyPr>
          <a:lstStyle/>
          <a:p>
            <a:pPr algn="just"/>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Figure-20 : Working of Depth First Search (DFS) </a:t>
            </a:r>
            <a:endParaRPr lang="en-IN" b="1" dirty="0"/>
          </a:p>
        </p:txBody>
      </p:sp>
      <p:pic>
        <p:nvPicPr>
          <p:cNvPr id="6" name="Picture 5" descr="A diagram of a network&#10;&#10;AI-generated content may be incorrect.">
            <a:extLst>
              <a:ext uri="{FF2B5EF4-FFF2-40B4-BE49-F238E27FC236}">
                <a16:creationId xmlns:a16="http://schemas.microsoft.com/office/drawing/2014/main" id="{2928410A-5BB1-D231-8EF2-86CFFAFD1793}"/>
              </a:ext>
            </a:extLst>
          </p:cNvPr>
          <p:cNvPicPr>
            <a:picLocks noChangeAspect="1"/>
          </p:cNvPicPr>
          <p:nvPr/>
        </p:nvPicPr>
        <p:blipFill>
          <a:blip r:embed="rId3"/>
          <a:stretch>
            <a:fillRect/>
          </a:stretch>
        </p:blipFill>
        <p:spPr>
          <a:xfrm>
            <a:off x="537544" y="1147445"/>
            <a:ext cx="4034455" cy="2848610"/>
          </a:xfrm>
          <a:prstGeom prst="rect">
            <a:avLst/>
          </a:prstGeom>
        </p:spPr>
      </p:pic>
      <p:pic>
        <p:nvPicPr>
          <p:cNvPr id="7" name="Picture 6">
            <a:extLst>
              <a:ext uri="{FF2B5EF4-FFF2-40B4-BE49-F238E27FC236}">
                <a16:creationId xmlns:a16="http://schemas.microsoft.com/office/drawing/2014/main" id="{AC61D57E-3E55-C93B-6809-8E45B92B5890}"/>
              </a:ext>
            </a:extLst>
          </p:cNvPr>
          <p:cNvPicPr>
            <a:picLocks noChangeAspect="1"/>
          </p:cNvPicPr>
          <p:nvPr/>
        </p:nvPicPr>
        <p:blipFill>
          <a:blip r:embed="rId4"/>
          <a:stretch>
            <a:fillRect/>
          </a:stretch>
        </p:blipFill>
        <p:spPr>
          <a:xfrm>
            <a:off x="4882242" y="1143952"/>
            <a:ext cx="3724213" cy="2855595"/>
          </a:xfrm>
          <a:prstGeom prst="rect">
            <a:avLst/>
          </a:prstGeom>
        </p:spPr>
      </p:pic>
    </p:spTree>
    <p:extLst>
      <p:ext uri="{BB962C8B-B14F-4D97-AF65-F5344CB8AC3E}">
        <p14:creationId xmlns:p14="http://schemas.microsoft.com/office/powerpoint/2010/main" val="25596330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759279" y="885750"/>
            <a:ext cx="7600950" cy="679375"/>
          </a:xfrm>
        </p:spPr>
        <p:txBody>
          <a:bodyPr>
            <a:noAutofit/>
          </a:bodyPr>
          <a:lstStyle/>
          <a:p>
            <a:pPr marL="76200" indent="0">
              <a:buNone/>
            </a:pPr>
            <a:r>
              <a:rPr lang="en-IN" sz="1600" u="sng" dirty="0">
                <a:solidFill>
                  <a:schemeClr val="bg2"/>
                </a:solidFill>
                <a:hlinkClick r:id="rId3">
                  <a:extLst>
                    <a:ext uri="{A12FA001-AC4F-418D-AE19-62706E023703}">
                      <ahyp:hlinkClr xmlns:ahyp="http://schemas.microsoft.com/office/drawing/2018/hyperlinkcolor" val="tx"/>
                    </a:ext>
                  </a:extLst>
                </a:hlinkClick>
              </a:rPr>
              <a:t>Breadth-First Search (BFS)</a:t>
            </a:r>
            <a:r>
              <a:rPr lang="en-IN" sz="1600" dirty="0">
                <a:solidFill>
                  <a:schemeClr val="bg2"/>
                </a:solidFill>
              </a:rPr>
              <a:t> and </a:t>
            </a:r>
            <a:r>
              <a:rPr lang="en-IN" sz="1600" u="sng" dirty="0">
                <a:solidFill>
                  <a:schemeClr val="bg2"/>
                </a:solidFill>
                <a:hlinkClick r:id="rId4">
                  <a:extLst>
                    <a:ext uri="{A12FA001-AC4F-418D-AE19-62706E023703}">
                      <ahyp:hlinkClr xmlns:ahyp="http://schemas.microsoft.com/office/drawing/2018/hyperlinkcolor" val="tx"/>
                    </a:ext>
                  </a:extLst>
                </a:hlinkClick>
              </a:rPr>
              <a:t>Depth-First Search (DFS)</a:t>
            </a:r>
            <a:r>
              <a:rPr lang="en-IN" sz="1600" dirty="0">
                <a:solidFill>
                  <a:schemeClr val="bg2"/>
                </a:solidFill>
              </a:rPr>
              <a:t> are two fundamental algorithms used for traversing or searching graphs and trees. </a:t>
            </a:r>
            <a:endParaRPr lang="en-IN" dirty="0"/>
          </a:p>
        </p:txBody>
      </p:sp>
      <p:sp>
        <p:nvSpPr>
          <p:cNvPr id="2" name="Title 1"/>
          <p:cNvSpPr>
            <a:spLocks noGrp="1"/>
          </p:cNvSpPr>
          <p:nvPr>
            <p:ph type="title" idx="4294967295"/>
          </p:nvPr>
        </p:nvSpPr>
        <p:spPr>
          <a:xfrm>
            <a:off x="685800" y="206375"/>
            <a:ext cx="7543800" cy="679375"/>
          </a:xfrm>
          <a:prstGeom prst="rect">
            <a:avLst/>
          </a:prstGeom>
        </p:spPr>
        <p:txBody>
          <a:bodyPr/>
          <a:lstStyle/>
          <a:p>
            <a:pPr algn="ctr"/>
            <a:r>
              <a:rPr lang="en-US" sz="2800" b="1" dirty="0"/>
              <a:t>Difference between BFS and DFS</a:t>
            </a:r>
          </a:p>
        </p:txBody>
      </p:sp>
      <p:sp>
        <p:nvSpPr>
          <p:cNvPr id="4" name="TextBox 3">
            <a:extLst>
              <a:ext uri="{FF2B5EF4-FFF2-40B4-BE49-F238E27FC236}">
                <a16:creationId xmlns:a16="http://schemas.microsoft.com/office/drawing/2014/main" id="{CBF10B0E-67EA-14A2-5B4D-6AD61B5E2BCC}"/>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21</a:t>
            </a:r>
            <a:endParaRPr lang="en-IN" dirty="0"/>
          </a:p>
        </p:txBody>
      </p:sp>
      <p:pic>
        <p:nvPicPr>
          <p:cNvPr id="6" name="Picture 5">
            <a:extLst>
              <a:ext uri="{FF2B5EF4-FFF2-40B4-BE49-F238E27FC236}">
                <a16:creationId xmlns:a16="http://schemas.microsoft.com/office/drawing/2014/main" id="{A898546D-BBAF-B8F0-B77E-888B41C88104}"/>
              </a:ext>
            </a:extLst>
          </p:cNvPr>
          <p:cNvPicPr>
            <a:picLocks noChangeAspect="1"/>
          </p:cNvPicPr>
          <p:nvPr/>
        </p:nvPicPr>
        <p:blipFill>
          <a:blip r:embed="rId5"/>
          <a:stretch>
            <a:fillRect/>
          </a:stretch>
        </p:blipFill>
        <p:spPr>
          <a:xfrm>
            <a:off x="1710690" y="1905544"/>
            <a:ext cx="5996396" cy="2834640"/>
          </a:xfrm>
          <a:prstGeom prst="rect">
            <a:avLst/>
          </a:prstGeom>
        </p:spPr>
      </p:pic>
      <p:sp>
        <p:nvSpPr>
          <p:cNvPr id="7" name="TextBox 6">
            <a:extLst>
              <a:ext uri="{FF2B5EF4-FFF2-40B4-BE49-F238E27FC236}">
                <a16:creationId xmlns:a16="http://schemas.microsoft.com/office/drawing/2014/main" id="{B4E085AB-831B-46B3-878B-440BD1219B50}"/>
              </a:ext>
            </a:extLst>
          </p:cNvPr>
          <p:cNvSpPr txBox="1"/>
          <p:nvPr/>
        </p:nvSpPr>
        <p:spPr>
          <a:xfrm>
            <a:off x="2416627" y="4740184"/>
            <a:ext cx="3902529" cy="307777"/>
          </a:xfrm>
          <a:prstGeom prst="rect">
            <a:avLst/>
          </a:prstGeom>
          <a:noFill/>
        </p:spPr>
        <p:txBody>
          <a:bodyPr wrap="square">
            <a:spAutoFit/>
          </a:bodyPr>
          <a:lstStyle/>
          <a:p>
            <a:pPr algn="just"/>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Figure-21 : Difference between BFS and DFS </a:t>
            </a:r>
            <a:endParaRPr lang="en-IN"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8D29F-C619-DD59-74D6-B84EF4B7A5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1EC6A1-D221-B1E5-65E7-A9A3610C6412}"/>
              </a:ext>
            </a:extLst>
          </p:cNvPr>
          <p:cNvSpPr>
            <a:spLocks noGrp="1"/>
          </p:cNvSpPr>
          <p:nvPr>
            <p:ph type="title" idx="4294967295"/>
          </p:nvPr>
        </p:nvSpPr>
        <p:spPr>
          <a:xfrm>
            <a:off x="736168" y="206375"/>
            <a:ext cx="7493431" cy="679375"/>
          </a:xfrm>
          <a:prstGeom prst="rect">
            <a:avLst/>
          </a:prstGeom>
        </p:spPr>
        <p:txBody>
          <a:bodyPr/>
          <a:lstStyle/>
          <a:p>
            <a:pPr algn="ctr"/>
            <a:r>
              <a:rPr lang="en-US" sz="2800" b="1" dirty="0">
                <a:solidFill>
                  <a:schemeClr val="bg2"/>
                </a:solidFill>
              </a:rPr>
              <a:t>Difference between BFS and DFS</a:t>
            </a:r>
            <a:endParaRPr lang="en-IN" sz="2800" b="1" dirty="0"/>
          </a:p>
        </p:txBody>
      </p:sp>
      <p:sp>
        <p:nvSpPr>
          <p:cNvPr id="4" name="TextBox 3">
            <a:extLst>
              <a:ext uri="{FF2B5EF4-FFF2-40B4-BE49-F238E27FC236}">
                <a16:creationId xmlns:a16="http://schemas.microsoft.com/office/drawing/2014/main" id="{D60F9A56-82D9-EB9B-E078-E3B4210FBD5D}"/>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22</a:t>
            </a:r>
            <a:endParaRPr lang="en-IN" dirty="0"/>
          </a:p>
        </p:txBody>
      </p:sp>
      <p:graphicFrame>
        <p:nvGraphicFramePr>
          <p:cNvPr id="8" name="Table 7">
            <a:extLst>
              <a:ext uri="{FF2B5EF4-FFF2-40B4-BE49-F238E27FC236}">
                <a16:creationId xmlns:a16="http://schemas.microsoft.com/office/drawing/2014/main" id="{B677B7C3-FB35-574C-AF14-E2F663DF00E0}"/>
              </a:ext>
            </a:extLst>
          </p:cNvPr>
          <p:cNvGraphicFramePr>
            <a:graphicFrameLocks noGrp="1"/>
          </p:cNvGraphicFramePr>
          <p:nvPr>
            <p:extLst>
              <p:ext uri="{D42A27DB-BD31-4B8C-83A1-F6EECF244321}">
                <p14:modId xmlns:p14="http://schemas.microsoft.com/office/powerpoint/2010/main" val="2045020499"/>
              </p:ext>
            </p:extLst>
          </p:nvPr>
        </p:nvGraphicFramePr>
        <p:xfrm>
          <a:off x="1311728" y="741663"/>
          <a:ext cx="6983187" cy="4195462"/>
        </p:xfrm>
        <a:graphic>
          <a:graphicData uri="http://schemas.openxmlformats.org/drawingml/2006/table">
            <a:tbl>
              <a:tblPr firstRow="1" bandRow="1">
                <a:tableStyleId>{775DCB02-9BB8-47FD-8907-85C794F793BA}</a:tableStyleId>
              </a:tblPr>
              <a:tblGrid>
                <a:gridCol w="2327729">
                  <a:extLst>
                    <a:ext uri="{9D8B030D-6E8A-4147-A177-3AD203B41FA5}">
                      <a16:colId xmlns:a16="http://schemas.microsoft.com/office/drawing/2014/main" val="480309169"/>
                    </a:ext>
                  </a:extLst>
                </a:gridCol>
                <a:gridCol w="2327729">
                  <a:extLst>
                    <a:ext uri="{9D8B030D-6E8A-4147-A177-3AD203B41FA5}">
                      <a16:colId xmlns:a16="http://schemas.microsoft.com/office/drawing/2014/main" val="483392388"/>
                    </a:ext>
                  </a:extLst>
                </a:gridCol>
                <a:gridCol w="2327729">
                  <a:extLst>
                    <a:ext uri="{9D8B030D-6E8A-4147-A177-3AD203B41FA5}">
                      <a16:colId xmlns:a16="http://schemas.microsoft.com/office/drawing/2014/main" val="3476696848"/>
                    </a:ext>
                  </a:extLst>
                </a:gridCol>
              </a:tblGrid>
              <a:tr h="686631">
                <a:tc>
                  <a:txBody>
                    <a:bodyPr/>
                    <a:lstStyle/>
                    <a:p>
                      <a:pPr>
                        <a:lnSpc>
                          <a:spcPct val="107000"/>
                        </a:lnSpc>
                        <a:spcAft>
                          <a:spcPts val="800"/>
                        </a:spcAft>
                        <a:buNone/>
                      </a:pPr>
                      <a:r>
                        <a:rPr lang="en-IN" sz="11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Parameters</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38100" marR="38100" marT="95250" marB="952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BFS</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95250" marB="952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DFS</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95250" marB="952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153785"/>
                  </a:ext>
                </a:extLst>
              </a:tr>
              <a:tr h="686631">
                <a:tc>
                  <a:txBody>
                    <a:bodyPr/>
                    <a:lstStyle/>
                    <a:p>
                      <a:pPr>
                        <a:lnSpc>
                          <a:spcPct val="107000"/>
                        </a:lnSpc>
                        <a:spcAft>
                          <a:spcPts val="800"/>
                        </a:spcAft>
                        <a:buNone/>
                      </a:pPr>
                      <a:r>
                        <a:rPr lang="en-IN" sz="11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Stands for</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38100" marR="38100" marT="93345" marB="9334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BFS stands for Breadth First Search.</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DFS stands for Depth First Search.</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0317264"/>
                  </a:ext>
                </a:extLst>
              </a:tr>
              <a:tr h="686631">
                <a:tc>
                  <a:txBody>
                    <a:bodyPr/>
                    <a:lstStyle/>
                    <a:p>
                      <a:pPr>
                        <a:lnSpc>
                          <a:spcPct val="107000"/>
                        </a:lnSpc>
                        <a:spcAft>
                          <a:spcPts val="800"/>
                        </a:spcAft>
                        <a:buNone/>
                      </a:pPr>
                      <a:r>
                        <a:rPr lang="en-IN" sz="11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Data Structure</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38100" marR="38100" marT="93345" marB="9334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BFS(Breadth First Search) uses Queue data structure for finding the shortest path.</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DFS(Depth First Search) uses Stack data structure.</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486741"/>
                  </a:ext>
                </a:extLst>
              </a:tr>
              <a:tr h="686631">
                <a:tc>
                  <a:txBody>
                    <a:bodyPr/>
                    <a:lstStyle/>
                    <a:p>
                      <a:pPr>
                        <a:lnSpc>
                          <a:spcPct val="107000"/>
                        </a:lnSpc>
                        <a:spcAft>
                          <a:spcPts val="800"/>
                        </a:spcAft>
                        <a:buNone/>
                      </a:pPr>
                      <a:r>
                        <a:rPr lang="en-IN" sz="11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Definition</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38100" marR="38100" marT="93345" marB="9334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BFS is a traversal approach in which we first walk through all nodes on the same level before moving on to the next level.  </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DFS is also a traversal approach in which the traverse begins at the root node and proceeds through the nodes as far as possible until we reach the node with no unvisited nearby nodes.</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6379288"/>
                  </a:ext>
                </a:extLst>
              </a:tr>
              <a:tr h="686631">
                <a:tc>
                  <a:txBody>
                    <a:bodyPr/>
                    <a:lstStyle/>
                    <a:p>
                      <a:pPr>
                        <a:lnSpc>
                          <a:spcPct val="107000"/>
                        </a:lnSpc>
                        <a:spcAft>
                          <a:spcPts val="800"/>
                        </a:spcAft>
                        <a:buNone/>
                      </a:pPr>
                      <a:r>
                        <a:rPr lang="en-IN" sz="11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Conceptual Difference</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38100" marR="38100" marT="93345" marB="9334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BFS builds the tree level by level.</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DFS builds the tree sub-tree by sub-tree.</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6487694"/>
                  </a:ext>
                </a:extLst>
              </a:tr>
            </a:tbl>
          </a:graphicData>
        </a:graphic>
      </p:graphicFrame>
    </p:spTree>
    <p:extLst>
      <p:ext uri="{BB962C8B-B14F-4D97-AF65-F5344CB8AC3E}">
        <p14:creationId xmlns:p14="http://schemas.microsoft.com/office/powerpoint/2010/main" val="14989296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026B6-4E41-00A8-C55D-93B7A9ACC5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22FE26-FADB-83FE-AC20-94A843DE17D5}"/>
              </a:ext>
            </a:extLst>
          </p:cNvPr>
          <p:cNvSpPr>
            <a:spLocks noGrp="1"/>
          </p:cNvSpPr>
          <p:nvPr>
            <p:ph type="title" idx="4294967295"/>
          </p:nvPr>
        </p:nvSpPr>
        <p:spPr>
          <a:xfrm>
            <a:off x="736168" y="206375"/>
            <a:ext cx="7493431" cy="679375"/>
          </a:xfrm>
          <a:prstGeom prst="rect">
            <a:avLst/>
          </a:prstGeom>
        </p:spPr>
        <p:txBody>
          <a:bodyPr/>
          <a:lstStyle/>
          <a:p>
            <a:pPr algn="ctr"/>
            <a:r>
              <a:rPr lang="en-US" sz="2800" b="1" dirty="0">
                <a:solidFill>
                  <a:schemeClr val="bg2"/>
                </a:solidFill>
              </a:rPr>
              <a:t>Difference between BFS and DFS</a:t>
            </a:r>
            <a:endParaRPr lang="en-IN" sz="2800" b="1" dirty="0"/>
          </a:p>
        </p:txBody>
      </p:sp>
      <p:sp>
        <p:nvSpPr>
          <p:cNvPr id="4" name="TextBox 3">
            <a:extLst>
              <a:ext uri="{FF2B5EF4-FFF2-40B4-BE49-F238E27FC236}">
                <a16:creationId xmlns:a16="http://schemas.microsoft.com/office/drawing/2014/main" id="{373AA8E3-C833-94C0-E675-FA72B17DDBC6}"/>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23</a:t>
            </a:r>
            <a:endParaRPr lang="en-IN" dirty="0"/>
          </a:p>
        </p:txBody>
      </p:sp>
      <p:graphicFrame>
        <p:nvGraphicFramePr>
          <p:cNvPr id="8" name="Table 7">
            <a:extLst>
              <a:ext uri="{FF2B5EF4-FFF2-40B4-BE49-F238E27FC236}">
                <a16:creationId xmlns:a16="http://schemas.microsoft.com/office/drawing/2014/main" id="{BF666C5F-CC4C-E6AE-A1B2-27CFCBFBE085}"/>
              </a:ext>
            </a:extLst>
          </p:cNvPr>
          <p:cNvGraphicFramePr>
            <a:graphicFrameLocks noGrp="1"/>
          </p:cNvGraphicFramePr>
          <p:nvPr>
            <p:extLst>
              <p:ext uri="{D42A27DB-BD31-4B8C-83A1-F6EECF244321}">
                <p14:modId xmlns:p14="http://schemas.microsoft.com/office/powerpoint/2010/main" val="1497998199"/>
              </p:ext>
            </p:extLst>
          </p:nvPr>
        </p:nvGraphicFramePr>
        <p:xfrm>
          <a:off x="829364" y="733499"/>
          <a:ext cx="7307037" cy="4262777"/>
        </p:xfrm>
        <a:graphic>
          <a:graphicData uri="http://schemas.openxmlformats.org/drawingml/2006/table">
            <a:tbl>
              <a:tblPr firstRow="1" bandRow="1">
                <a:tableStyleId>{775DCB02-9BB8-47FD-8907-85C794F793BA}</a:tableStyleId>
              </a:tblPr>
              <a:tblGrid>
                <a:gridCol w="2435679">
                  <a:extLst>
                    <a:ext uri="{9D8B030D-6E8A-4147-A177-3AD203B41FA5}">
                      <a16:colId xmlns:a16="http://schemas.microsoft.com/office/drawing/2014/main" val="480309169"/>
                    </a:ext>
                  </a:extLst>
                </a:gridCol>
                <a:gridCol w="2435679">
                  <a:extLst>
                    <a:ext uri="{9D8B030D-6E8A-4147-A177-3AD203B41FA5}">
                      <a16:colId xmlns:a16="http://schemas.microsoft.com/office/drawing/2014/main" val="483392388"/>
                    </a:ext>
                  </a:extLst>
                </a:gridCol>
                <a:gridCol w="2435679">
                  <a:extLst>
                    <a:ext uri="{9D8B030D-6E8A-4147-A177-3AD203B41FA5}">
                      <a16:colId xmlns:a16="http://schemas.microsoft.com/office/drawing/2014/main" val="3476696848"/>
                    </a:ext>
                  </a:extLst>
                </a:gridCol>
              </a:tblGrid>
              <a:tr h="686631">
                <a:tc>
                  <a:txBody>
                    <a:bodyPr/>
                    <a:lstStyle/>
                    <a:p>
                      <a:pPr>
                        <a:lnSpc>
                          <a:spcPct val="107000"/>
                        </a:lnSpc>
                        <a:spcAft>
                          <a:spcPts val="800"/>
                        </a:spcAft>
                        <a:buNone/>
                      </a:pPr>
                      <a:r>
                        <a:rPr lang="en-IN" sz="11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Parameters</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38100" marR="38100" marT="95250" marB="952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b="1"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BFS</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95250" marB="952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DFS</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95250" marB="952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153785"/>
                  </a:ext>
                </a:extLst>
              </a:tr>
              <a:tr h="686631">
                <a:tc>
                  <a:txBody>
                    <a:bodyPr/>
                    <a:lstStyle/>
                    <a:p>
                      <a:pPr>
                        <a:lnSpc>
                          <a:spcPct val="107000"/>
                        </a:lnSpc>
                        <a:spcAft>
                          <a:spcPts val="800"/>
                        </a:spcAft>
                        <a:buNone/>
                      </a:pPr>
                      <a:r>
                        <a:rPr lang="en-IN" sz="11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Approach used</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38100" marR="38100" marT="93345" marB="9334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It works on the concept of FIFO (First In First Out). </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It works on the concept of LIFO (Last In First Out).</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0317264"/>
                  </a:ext>
                </a:extLst>
              </a:tr>
              <a:tr h="686631">
                <a:tc>
                  <a:txBody>
                    <a:bodyPr/>
                    <a:lstStyle/>
                    <a:p>
                      <a:pPr>
                        <a:lnSpc>
                          <a:spcPct val="107000"/>
                        </a:lnSpc>
                        <a:spcAft>
                          <a:spcPts val="800"/>
                        </a:spcAft>
                        <a:buNone/>
                      </a:pPr>
                      <a:r>
                        <a:rPr lang="en-IN" sz="11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Suitable for</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38100" marR="38100" marT="93345" marB="9334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BFS is more suitable for searching vertices closer to the given source.</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DFS is more suitable when there are solutions away from source.</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486741"/>
                  </a:ext>
                </a:extLst>
              </a:tr>
              <a:tr h="686631">
                <a:tc>
                  <a:txBody>
                    <a:bodyPr/>
                    <a:lstStyle/>
                    <a:p>
                      <a:pPr>
                        <a:lnSpc>
                          <a:spcPct val="107000"/>
                        </a:lnSpc>
                        <a:spcAft>
                          <a:spcPts val="800"/>
                        </a:spcAft>
                        <a:buNone/>
                      </a:pPr>
                      <a:r>
                        <a:rPr lang="en-IN" sz="11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Applications</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38100" marR="38100" marT="93345" marB="9334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BFS is used in various applications such as bipartite graphs, shortest paths, etc. If weight of every edge is same, then BFS gives shortest path from source to every other vertex.</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DFS is used in various applications such as acyclic graphs and finding strongly connected components etc. There are many applications where both BFS and DFS can be used like Topological Sorting, Cycle Detection, etc.</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6379288"/>
                  </a:ext>
                </a:extLst>
              </a:tr>
              <a:tr h="686631">
                <a:tc>
                  <a:txBody>
                    <a:bodyPr/>
                    <a:lstStyle/>
                    <a:p>
                      <a:pPr>
                        <a:lnSpc>
                          <a:spcPct val="107000"/>
                        </a:lnSpc>
                        <a:spcAft>
                          <a:spcPts val="800"/>
                        </a:spcAft>
                        <a:buNone/>
                      </a:pPr>
                      <a:r>
                        <a:rPr lang="en-IN" sz="11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Approach used</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38100" marR="38100" marT="93345" marB="9334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It works on the concept of FIFO (First In First Out). </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It works on the concept of LIFO (Last In First Out).</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6487694"/>
                  </a:ext>
                </a:extLst>
              </a:tr>
            </a:tbl>
          </a:graphicData>
        </a:graphic>
      </p:graphicFrame>
    </p:spTree>
    <p:extLst>
      <p:ext uri="{BB962C8B-B14F-4D97-AF65-F5344CB8AC3E}">
        <p14:creationId xmlns:p14="http://schemas.microsoft.com/office/powerpoint/2010/main" val="5995282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914400" y="604157"/>
            <a:ext cx="8001000" cy="3935186"/>
          </a:xfrm>
        </p:spPr>
        <p:txBody>
          <a:bodyPr>
            <a:noAutofit/>
          </a:bodyPr>
          <a:lstStyle/>
          <a:p>
            <a:pPr marL="76200" indent="0">
              <a:buClr>
                <a:schemeClr val="bg2"/>
              </a:buClr>
              <a:buNone/>
            </a:pPr>
            <a:r>
              <a:rPr lang="en-US" sz="1200" b="1" dirty="0">
                <a:solidFill>
                  <a:schemeClr val="bg2"/>
                </a:solidFill>
              </a:rPr>
              <a:t>Heuristic Search Techniques in AI </a:t>
            </a:r>
          </a:p>
          <a:p>
            <a:pPr>
              <a:buClr>
                <a:schemeClr val="bg2"/>
              </a:buClr>
            </a:pPr>
            <a:r>
              <a:rPr lang="en-US" sz="1200" dirty="0">
                <a:solidFill>
                  <a:schemeClr val="bg2"/>
                </a:solidFill>
              </a:rPr>
              <a:t>Heuristic search techniques are used for problem-solving in AI systems. These techniques help find the most efficient path from a starting point to a goal, making them essential for applications such as navigation systems, game playing, and optimization problems.</a:t>
            </a:r>
          </a:p>
          <a:p>
            <a:pPr>
              <a:buClr>
                <a:schemeClr val="bg2"/>
              </a:buClr>
            </a:pPr>
            <a:r>
              <a:rPr lang="en-US" sz="1200" dirty="0">
                <a:solidFill>
                  <a:schemeClr val="bg2"/>
                </a:solidFill>
              </a:rPr>
              <a:t>Heuristic search operates within the search space of a problem to find the best or near-optimal solution using systematic algorithms.</a:t>
            </a:r>
          </a:p>
          <a:p>
            <a:pPr>
              <a:buClr>
                <a:schemeClr val="bg2"/>
              </a:buClr>
            </a:pPr>
            <a:r>
              <a:rPr lang="en-US" sz="1200" dirty="0">
                <a:solidFill>
                  <a:schemeClr val="bg2"/>
                </a:solidFill>
              </a:rPr>
              <a:t>Unlike brute-force methods, which exhaustively evaluate all possible solutions, heuristic search leverages heuristic information to guide the search toward more promising paths.</a:t>
            </a:r>
          </a:p>
          <a:p>
            <a:pPr>
              <a:buClr>
                <a:schemeClr val="bg2"/>
              </a:buClr>
            </a:pPr>
            <a:r>
              <a:rPr lang="en-US" sz="1200" dirty="0">
                <a:solidFill>
                  <a:schemeClr val="bg2"/>
                </a:solidFill>
              </a:rPr>
              <a:t>In this context, heuristics refer to a set of criteria or rules of thumb that provide an estimate of the most viable solution. By balancing exploration (searching new possibilities) and exploitation (refining known solutions), heuristic algorithms efficiently solve complex problems that would otherwise be computationally expensive.</a:t>
            </a:r>
          </a:p>
          <a:p>
            <a:pPr marL="76200" indent="0">
              <a:buClr>
                <a:schemeClr val="bg2"/>
              </a:buClr>
              <a:buNone/>
            </a:pPr>
            <a:r>
              <a:rPr lang="en-US" sz="1200" b="1" dirty="0">
                <a:solidFill>
                  <a:schemeClr val="bg2"/>
                </a:solidFill>
              </a:rPr>
              <a:t>Significance of Heuristic Search in AI</a:t>
            </a:r>
          </a:p>
          <a:p>
            <a:pPr>
              <a:buClr>
                <a:schemeClr val="bg2"/>
              </a:buClr>
            </a:pPr>
            <a:r>
              <a:rPr lang="en-US" sz="1200" dirty="0">
                <a:solidFill>
                  <a:schemeClr val="bg2"/>
                </a:solidFill>
              </a:rPr>
              <a:t>The advantage of heuristic search techniques in AI is their ability to efficiently navigate large search spaces. By prioritizing the most promising paths, heuristics significantly reduce the number of possibilities that need to be explored. </a:t>
            </a:r>
          </a:p>
          <a:p>
            <a:pPr>
              <a:buClr>
                <a:schemeClr val="bg2"/>
              </a:buClr>
            </a:pPr>
            <a:r>
              <a:rPr lang="en-US" sz="1200" dirty="0">
                <a:solidFill>
                  <a:schemeClr val="bg2"/>
                </a:solidFill>
              </a:rPr>
              <a:t>This not only accelerates the search process but also enables AI systems to solve complex problems that would be impractical for exact algorithms.</a:t>
            </a:r>
          </a:p>
          <a:p>
            <a:pPr marL="76200" indent="0">
              <a:buClr>
                <a:schemeClr val="bg2"/>
              </a:buClr>
              <a:buNone/>
            </a:pPr>
            <a:endParaRPr lang="en-US" sz="1400" dirty="0">
              <a:solidFill>
                <a:schemeClr val="bg2"/>
              </a:solidFill>
            </a:endParaRPr>
          </a:p>
        </p:txBody>
      </p:sp>
      <p:sp>
        <p:nvSpPr>
          <p:cNvPr id="2" name="Title 1"/>
          <p:cNvSpPr>
            <a:spLocks noGrp="1"/>
          </p:cNvSpPr>
          <p:nvPr>
            <p:ph type="title" idx="4294967295"/>
          </p:nvPr>
        </p:nvSpPr>
        <p:spPr>
          <a:xfrm>
            <a:off x="984142" y="206375"/>
            <a:ext cx="7245458" cy="699861"/>
          </a:xfrm>
          <a:prstGeom prst="rect">
            <a:avLst/>
          </a:prstGeom>
        </p:spPr>
        <p:txBody>
          <a:bodyPr/>
          <a:lstStyle/>
          <a:p>
            <a:pPr algn="ctr"/>
            <a:r>
              <a:rPr lang="en-US" sz="1600" b="1" dirty="0"/>
              <a:t>Heuristic Search Techniques in AI and Significance of Heuristic Search in AI</a:t>
            </a:r>
            <a:br>
              <a:rPr lang="en-US" sz="1600" b="1" dirty="0"/>
            </a:br>
            <a:endParaRPr lang="en-US" sz="1600" b="1" dirty="0"/>
          </a:p>
        </p:txBody>
      </p:sp>
      <p:sp>
        <p:nvSpPr>
          <p:cNvPr id="4" name="TextBox 3">
            <a:extLst>
              <a:ext uri="{FF2B5EF4-FFF2-40B4-BE49-F238E27FC236}">
                <a16:creationId xmlns:a16="http://schemas.microsoft.com/office/drawing/2014/main" id="{682C5293-E9D4-6756-2DF4-E4370C2925B2}"/>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24</a:t>
            </a:r>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914400" y="996043"/>
            <a:ext cx="8001000" cy="3690407"/>
          </a:xfrm>
        </p:spPr>
        <p:txBody>
          <a:bodyPr>
            <a:normAutofit fontScale="62500" lnSpcReduction="20000"/>
          </a:bodyPr>
          <a:lstStyle/>
          <a:p>
            <a:pPr marL="76200" indent="0">
              <a:buClr>
                <a:schemeClr val="bg2"/>
              </a:buClr>
              <a:buNone/>
            </a:pPr>
            <a:r>
              <a:rPr lang="en-US" b="1" dirty="0">
                <a:solidFill>
                  <a:schemeClr val="bg2"/>
                </a:solidFill>
              </a:rPr>
              <a:t>Components of Heuristic Search</a:t>
            </a:r>
          </a:p>
          <a:p>
            <a:pPr marL="76200" indent="0">
              <a:buClr>
                <a:schemeClr val="bg2"/>
              </a:buClr>
              <a:buNone/>
            </a:pPr>
            <a:r>
              <a:rPr lang="en-US" dirty="0">
                <a:solidFill>
                  <a:schemeClr val="bg2"/>
                </a:solidFill>
              </a:rPr>
              <a:t>Heuristic search algorithms typically comprise several essential components:</a:t>
            </a:r>
          </a:p>
          <a:p>
            <a:pPr marL="76200" indent="0">
              <a:buClr>
                <a:schemeClr val="bg2"/>
              </a:buClr>
              <a:buNone/>
            </a:pPr>
            <a:r>
              <a:rPr lang="en-US" b="1" dirty="0">
                <a:solidFill>
                  <a:schemeClr val="bg2"/>
                </a:solidFill>
              </a:rPr>
              <a:t>1.State Space:</a:t>
            </a:r>
            <a:r>
              <a:rPr lang="en-US" dirty="0">
                <a:solidFill>
                  <a:schemeClr val="bg2"/>
                </a:solidFill>
              </a:rPr>
              <a:t> This implies that the totality of all possible states or settings, which is considered to be the solution for the given problem.</a:t>
            </a:r>
          </a:p>
          <a:p>
            <a:pPr marL="76200" indent="0">
              <a:buClr>
                <a:schemeClr val="bg2"/>
              </a:buClr>
              <a:buNone/>
            </a:pPr>
            <a:r>
              <a:rPr lang="en-US" b="1" dirty="0">
                <a:solidFill>
                  <a:schemeClr val="bg2"/>
                </a:solidFill>
              </a:rPr>
              <a:t>2.Initial State: </a:t>
            </a:r>
            <a:r>
              <a:rPr lang="en-US" dirty="0">
                <a:solidFill>
                  <a:schemeClr val="bg2"/>
                </a:solidFill>
              </a:rPr>
              <a:t>The instance in the search tree of the highest level with no null values, serving as the initial state of the problem at hand.</a:t>
            </a:r>
          </a:p>
          <a:p>
            <a:pPr marL="76200" indent="0">
              <a:buClr>
                <a:schemeClr val="bg2"/>
              </a:buClr>
              <a:buNone/>
            </a:pPr>
            <a:r>
              <a:rPr lang="en-US" b="1" dirty="0">
                <a:solidFill>
                  <a:schemeClr val="bg2"/>
                </a:solidFill>
              </a:rPr>
              <a:t>3.Goal Test: </a:t>
            </a:r>
            <a:r>
              <a:rPr lang="en-US" dirty="0">
                <a:solidFill>
                  <a:schemeClr val="bg2"/>
                </a:solidFill>
              </a:rPr>
              <a:t>The exploration phase ensures whether the present state is a terminal or consenting state in which the problem is solved.</a:t>
            </a:r>
          </a:p>
          <a:p>
            <a:pPr marL="76200" indent="0">
              <a:buClr>
                <a:schemeClr val="bg2"/>
              </a:buClr>
              <a:buNone/>
            </a:pPr>
            <a:r>
              <a:rPr lang="en-US" b="1" dirty="0">
                <a:solidFill>
                  <a:schemeClr val="bg2"/>
                </a:solidFill>
              </a:rPr>
              <a:t>4.Successor Function: </a:t>
            </a:r>
            <a:r>
              <a:rPr lang="en-US" dirty="0">
                <a:solidFill>
                  <a:schemeClr val="bg2"/>
                </a:solidFill>
              </a:rPr>
              <a:t>This create a situation where individual states supplant the current state which represent the possible moves or solutions in the problem space.</a:t>
            </a:r>
          </a:p>
          <a:p>
            <a:pPr marL="76200" indent="0">
              <a:buClr>
                <a:schemeClr val="bg2"/>
              </a:buClr>
              <a:buNone/>
            </a:pPr>
            <a:r>
              <a:rPr lang="en-US" b="1" dirty="0">
                <a:solidFill>
                  <a:schemeClr val="bg2"/>
                </a:solidFill>
              </a:rPr>
              <a:t>5.Heuristic Function: </a:t>
            </a:r>
            <a:r>
              <a:rPr lang="en-US" dirty="0">
                <a:solidFill>
                  <a:schemeClr val="bg2"/>
                </a:solidFill>
              </a:rPr>
              <a:t>The function of a heuristic is to estimate the value or distance from a given state to the target state. It helps to focus the process on regions or states that has prospect of achieving the goal.</a:t>
            </a:r>
          </a:p>
          <a:p>
            <a:pPr marL="76200" indent="0">
              <a:buClr>
                <a:schemeClr val="bg2"/>
              </a:buClr>
              <a:buNone/>
            </a:pPr>
            <a:endParaRPr lang="en-US" dirty="0">
              <a:solidFill>
                <a:schemeClr val="bg2"/>
              </a:solidFill>
            </a:endParaRPr>
          </a:p>
        </p:txBody>
      </p:sp>
      <p:sp>
        <p:nvSpPr>
          <p:cNvPr id="2" name="Title 1"/>
          <p:cNvSpPr>
            <a:spLocks noGrp="1"/>
          </p:cNvSpPr>
          <p:nvPr>
            <p:ph type="title" idx="4294967295"/>
          </p:nvPr>
        </p:nvSpPr>
        <p:spPr>
          <a:xfrm>
            <a:off x="1506510" y="206375"/>
            <a:ext cx="6723089" cy="857250"/>
          </a:xfrm>
          <a:prstGeom prst="rect">
            <a:avLst/>
          </a:prstGeom>
        </p:spPr>
        <p:txBody>
          <a:bodyPr/>
          <a:lstStyle/>
          <a:p>
            <a:pPr marL="76200" indent="0">
              <a:buClr>
                <a:schemeClr val="bg2"/>
              </a:buClr>
              <a:buNone/>
            </a:pPr>
            <a:r>
              <a:rPr lang="en-US" sz="2800" b="1" dirty="0">
                <a:solidFill>
                  <a:schemeClr val="bg2"/>
                </a:solidFill>
              </a:rPr>
              <a:t>Components of Heuristic Search</a:t>
            </a:r>
          </a:p>
        </p:txBody>
      </p:sp>
      <p:sp>
        <p:nvSpPr>
          <p:cNvPr id="4" name="TextBox 3">
            <a:extLst>
              <a:ext uri="{FF2B5EF4-FFF2-40B4-BE49-F238E27FC236}">
                <a16:creationId xmlns:a16="http://schemas.microsoft.com/office/drawing/2014/main" id="{180B7A02-8FB2-8A6B-7A15-CB91D14888FC}"/>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25</a:t>
            </a:r>
            <a:endParaRPr lang="en-I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33827-1948-FB82-5AB6-7D32BC174E9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16AEFD-F868-71A7-D656-419B9B0CF3DE}"/>
              </a:ext>
            </a:extLst>
          </p:cNvPr>
          <p:cNvSpPr>
            <a:spLocks noGrp="1"/>
          </p:cNvSpPr>
          <p:nvPr>
            <p:ph type="body" idx="1"/>
          </p:nvPr>
        </p:nvSpPr>
        <p:spPr>
          <a:xfrm>
            <a:off x="914400" y="914400"/>
            <a:ext cx="8001000" cy="3772050"/>
          </a:xfrm>
        </p:spPr>
        <p:txBody>
          <a:bodyPr>
            <a:normAutofit fontScale="92500"/>
          </a:bodyPr>
          <a:lstStyle/>
          <a:p>
            <a:pPr marL="76200" indent="0">
              <a:buClr>
                <a:schemeClr val="bg2"/>
              </a:buClr>
              <a:buNone/>
            </a:pPr>
            <a:r>
              <a:rPr lang="en-US" sz="1600" dirty="0">
                <a:solidFill>
                  <a:schemeClr val="bg2"/>
                </a:solidFill>
              </a:rPr>
              <a:t>Over the history of heuristic search algorithms, there have been a lot of techniques created to improve them further and attend different problem domains. Some prominent techniques include:</a:t>
            </a:r>
          </a:p>
          <a:p>
            <a:pPr marL="76200" indent="0">
              <a:buClr>
                <a:schemeClr val="bg2"/>
              </a:buClr>
              <a:buNone/>
            </a:pPr>
            <a:r>
              <a:rPr lang="en-US" sz="1600" b="1" dirty="0">
                <a:solidFill>
                  <a:schemeClr val="bg2"/>
                </a:solidFill>
              </a:rPr>
              <a:t>1. A* Search Algorithm:- </a:t>
            </a:r>
            <a:r>
              <a:rPr lang="en-US" sz="1600" dirty="0">
                <a:solidFill>
                  <a:schemeClr val="bg2"/>
                </a:solidFill>
              </a:rPr>
              <a:t>A* Search Algorithm is perhaps the most well-known heuristic search algorithm. It uses a best-first search and finds the least-cost path from a given initial node to a target node. It has a heuristic function, often denoted as f(n)=g(n)+h(n) , where g(n) is the cost from the start node to n, and h(n) is a heuristic that estimates the cost of the cheapest path from n to the goal. A* is widely used in pathfinding and graph traversal.</a:t>
            </a:r>
          </a:p>
          <a:p>
            <a:pPr marL="76200" indent="0">
              <a:buClr>
                <a:schemeClr val="bg2"/>
              </a:buClr>
              <a:buNone/>
            </a:pPr>
            <a:r>
              <a:rPr lang="en-US" sz="1600" b="1" dirty="0">
                <a:solidFill>
                  <a:schemeClr val="bg2"/>
                </a:solidFill>
              </a:rPr>
              <a:t>2. Greedy Best-First Search:- </a:t>
            </a:r>
            <a:r>
              <a:rPr lang="en-US" sz="1600" dirty="0">
                <a:solidFill>
                  <a:schemeClr val="bg2"/>
                </a:solidFill>
              </a:rPr>
              <a:t>Greedy best-first search expands the node that is closest to the goal, as estimated by a heuristic function. Unlike A*, which considers both path cost and estimated remaining cost, greedy best-first search only prioritizes the estimated cost to the goal. While this makes it faster, it can be less optimal, often leading to sub optimal solutions.</a:t>
            </a:r>
          </a:p>
        </p:txBody>
      </p:sp>
      <p:sp>
        <p:nvSpPr>
          <p:cNvPr id="2" name="Title 1">
            <a:extLst>
              <a:ext uri="{FF2B5EF4-FFF2-40B4-BE49-F238E27FC236}">
                <a16:creationId xmlns:a16="http://schemas.microsoft.com/office/drawing/2014/main" id="{4DF9EA06-C413-C67F-7D6D-9654D2FDB415}"/>
              </a:ext>
            </a:extLst>
          </p:cNvPr>
          <p:cNvSpPr>
            <a:spLocks noGrp="1"/>
          </p:cNvSpPr>
          <p:nvPr>
            <p:ph type="title" idx="4294967295"/>
          </p:nvPr>
        </p:nvSpPr>
        <p:spPr>
          <a:xfrm>
            <a:off x="1506510" y="206375"/>
            <a:ext cx="6723089" cy="857250"/>
          </a:xfrm>
          <a:prstGeom prst="rect">
            <a:avLst/>
          </a:prstGeom>
        </p:spPr>
        <p:txBody>
          <a:bodyPr/>
          <a:lstStyle/>
          <a:p>
            <a:pPr algn="ctr"/>
            <a:r>
              <a:rPr lang="en-US" sz="2800" b="1" dirty="0"/>
              <a:t>Types of Heuristic Search Techniques</a:t>
            </a:r>
          </a:p>
        </p:txBody>
      </p:sp>
      <p:sp>
        <p:nvSpPr>
          <p:cNvPr id="4" name="TextBox 3">
            <a:extLst>
              <a:ext uri="{FF2B5EF4-FFF2-40B4-BE49-F238E27FC236}">
                <a16:creationId xmlns:a16="http://schemas.microsoft.com/office/drawing/2014/main" id="{7C9B933B-A8F0-DFB9-A8D7-D2A70174FF11}"/>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26</a:t>
            </a:r>
            <a:endParaRPr lang="en-IN" dirty="0"/>
          </a:p>
        </p:txBody>
      </p:sp>
    </p:spTree>
    <p:extLst>
      <p:ext uri="{BB962C8B-B14F-4D97-AF65-F5344CB8AC3E}">
        <p14:creationId xmlns:p14="http://schemas.microsoft.com/office/powerpoint/2010/main" val="23571097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C5691-2E12-210C-B282-E0865D02AC6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57F406-C5D1-E75F-7BA6-86856BC45D3B}"/>
              </a:ext>
            </a:extLst>
          </p:cNvPr>
          <p:cNvSpPr>
            <a:spLocks noGrp="1"/>
          </p:cNvSpPr>
          <p:nvPr>
            <p:ph type="body" idx="1"/>
          </p:nvPr>
        </p:nvSpPr>
        <p:spPr>
          <a:xfrm>
            <a:off x="914400" y="914400"/>
            <a:ext cx="8001000" cy="3772050"/>
          </a:xfrm>
        </p:spPr>
        <p:txBody>
          <a:bodyPr>
            <a:normAutofit lnSpcReduction="10000"/>
          </a:bodyPr>
          <a:lstStyle/>
          <a:p>
            <a:pPr marL="76200" indent="0">
              <a:buClr>
                <a:schemeClr val="bg2"/>
              </a:buClr>
              <a:buNone/>
            </a:pPr>
            <a:r>
              <a:rPr lang="en-US" sz="1600" b="1" dirty="0">
                <a:solidFill>
                  <a:schemeClr val="bg2"/>
                </a:solidFill>
              </a:rPr>
              <a:t>3. Hill Climbing:- </a:t>
            </a:r>
            <a:r>
              <a:rPr lang="en-US" sz="1600" dirty="0">
                <a:solidFill>
                  <a:schemeClr val="bg2"/>
                </a:solidFill>
              </a:rPr>
              <a:t>Hill climbing is a heuristic search used for mathematical optimization problems. It is a variant of the gradient ascent method. It starts from a random initial point and iteratively moves toward higher values (local maxima) by choosing the best neighboring state. However, it can get stuck in local maxima, failing to find the global optimum.</a:t>
            </a:r>
          </a:p>
          <a:p>
            <a:pPr marL="76200" indent="0">
              <a:buClr>
                <a:schemeClr val="bg2"/>
              </a:buClr>
              <a:buNone/>
            </a:pPr>
            <a:r>
              <a:rPr lang="en-US" sz="1600" b="1" dirty="0">
                <a:solidFill>
                  <a:schemeClr val="bg2"/>
                </a:solidFill>
              </a:rPr>
              <a:t>4. Simulated Annealing:- </a:t>
            </a:r>
            <a:r>
              <a:rPr lang="en-US" sz="1600" dirty="0">
                <a:solidFill>
                  <a:schemeClr val="bg2"/>
                </a:solidFill>
              </a:rPr>
              <a:t>Inspired by annealing in metallurgy, simulated annealing is a probabilistic technique for finding the global optimum. Unlike hill climbing, it allows the search to accept worse solutions temporarily to escape local optima. This probabilistic acceptance decreases over time, allowing it to converge toward the best solution.</a:t>
            </a:r>
          </a:p>
          <a:p>
            <a:pPr marL="76200" indent="0">
              <a:buClr>
                <a:schemeClr val="bg2"/>
              </a:buClr>
              <a:buNone/>
            </a:pPr>
            <a:r>
              <a:rPr lang="en-US" sz="1600" b="1" dirty="0">
                <a:solidFill>
                  <a:schemeClr val="bg2"/>
                </a:solidFill>
              </a:rPr>
              <a:t>5. Beam </a:t>
            </a:r>
            <a:r>
              <a:rPr lang="en-US" sz="1600" b="1" dirty="0" err="1">
                <a:solidFill>
                  <a:schemeClr val="bg2"/>
                </a:solidFill>
              </a:rPr>
              <a:t>Searc</a:t>
            </a:r>
            <a:r>
              <a:rPr lang="en-US" sz="1600" b="1" dirty="0">
                <a:solidFill>
                  <a:schemeClr val="bg2"/>
                </a:solidFill>
              </a:rPr>
              <a:t>:-</a:t>
            </a:r>
            <a:r>
              <a:rPr lang="en-US" sz="1600" dirty="0">
                <a:solidFill>
                  <a:schemeClr val="bg2"/>
                </a:solidFill>
              </a:rPr>
              <a:t>Beam search is a graph-based search technique that explores only a limited number of promising nodes (a beam). The beam width, which limits the number of nodes stored in memory, plays a crucial role in the performance and accuracy of the search.</a:t>
            </a:r>
          </a:p>
        </p:txBody>
      </p:sp>
      <p:sp>
        <p:nvSpPr>
          <p:cNvPr id="2" name="Title 1">
            <a:extLst>
              <a:ext uri="{FF2B5EF4-FFF2-40B4-BE49-F238E27FC236}">
                <a16:creationId xmlns:a16="http://schemas.microsoft.com/office/drawing/2014/main" id="{42DC7CBD-C070-5805-6D54-DC7EFFA5E81F}"/>
              </a:ext>
            </a:extLst>
          </p:cNvPr>
          <p:cNvSpPr>
            <a:spLocks noGrp="1"/>
          </p:cNvSpPr>
          <p:nvPr>
            <p:ph type="title" idx="4294967295"/>
          </p:nvPr>
        </p:nvSpPr>
        <p:spPr>
          <a:xfrm>
            <a:off x="1506510" y="206375"/>
            <a:ext cx="6723089" cy="857250"/>
          </a:xfrm>
          <a:prstGeom prst="rect">
            <a:avLst/>
          </a:prstGeom>
        </p:spPr>
        <p:txBody>
          <a:bodyPr/>
          <a:lstStyle/>
          <a:p>
            <a:pPr algn="ctr"/>
            <a:r>
              <a:rPr lang="en-US" sz="2800" b="1" dirty="0"/>
              <a:t>Types of Heuristic Search Techniques</a:t>
            </a:r>
          </a:p>
        </p:txBody>
      </p:sp>
      <p:sp>
        <p:nvSpPr>
          <p:cNvPr id="4" name="TextBox 3">
            <a:extLst>
              <a:ext uri="{FF2B5EF4-FFF2-40B4-BE49-F238E27FC236}">
                <a16:creationId xmlns:a16="http://schemas.microsoft.com/office/drawing/2014/main" id="{2BEC2EA7-EDAB-EEF2-E87E-4E63327E1CF8}"/>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27</a:t>
            </a:r>
            <a:endParaRPr lang="en-IN" dirty="0"/>
          </a:p>
        </p:txBody>
      </p:sp>
    </p:spTree>
    <p:extLst>
      <p:ext uri="{BB962C8B-B14F-4D97-AF65-F5344CB8AC3E}">
        <p14:creationId xmlns:p14="http://schemas.microsoft.com/office/powerpoint/2010/main" val="1981559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DC975-6A25-72E1-88E1-5CBB14FAE14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643068-9EC9-B9B0-9B78-BDBBE771B40B}"/>
              </a:ext>
            </a:extLst>
          </p:cNvPr>
          <p:cNvSpPr>
            <a:spLocks noGrp="1"/>
          </p:cNvSpPr>
          <p:nvPr>
            <p:ph type="body" idx="1"/>
          </p:nvPr>
        </p:nvSpPr>
        <p:spPr>
          <a:xfrm>
            <a:off x="914400" y="914400"/>
            <a:ext cx="8001000" cy="3772050"/>
          </a:xfrm>
        </p:spPr>
        <p:txBody>
          <a:bodyPr>
            <a:normAutofit fontScale="92500"/>
          </a:bodyPr>
          <a:lstStyle/>
          <a:p>
            <a:pPr>
              <a:buClr>
                <a:schemeClr val="bg2"/>
              </a:buClr>
              <a:buFont typeface="Arial" panose="020B0604020202020204" pitchFamily="34" charset="0"/>
              <a:buChar char="•"/>
            </a:pPr>
            <a:r>
              <a:rPr lang="en-US" sz="1600" dirty="0">
                <a:solidFill>
                  <a:schemeClr val="bg2"/>
                </a:solidFill>
              </a:rPr>
              <a:t>Heuristic search techniques are widely used in various real-world scenarios, including:</a:t>
            </a:r>
          </a:p>
          <a:p>
            <a:pPr>
              <a:buClr>
                <a:schemeClr val="bg2"/>
              </a:buClr>
              <a:buFont typeface="Arial" panose="020B0604020202020204" pitchFamily="34" charset="0"/>
              <a:buChar char="•"/>
            </a:pPr>
            <a:r>
              <a:rPr lang="en-US" sz="1600" b="1" dirty="0">
                <a:solidFill>
                  <a:schemeClr val="bg2"/>
                </a:solidFill>
              </a:rPr>
              <a:t>Pathfinding: </a:t>
            </a:r>
            <a:r>
              <a:rPr lang="en-US" sz="1600" dirty="0">
                <a:solidFill>
                  <a:schemeClr val="bg2"/>
                </a:solidFill>
              </a:rPr>
              <a:t>Whether it's navigating a city or plotting a route in a game, heuristic search helps find the shortest or most efficient path between two points.</a:t>
            </a:r>
          </a:p>
          <a:p>
            <a:pPr>
              <a:buClr>
                <a:schemeClr val="bg2"/>
              </a:buClr>
              <a:buFont typeface="Arial" panose="020B0604020202020204" pitchFamily="34" charset="0"/>
              <a:buChar char="•"/>
            </a:pPr>
            <a:r>
              <a:rPr lang="en-US" sz="1600" b="1" dirty="0">
                <a:solidFill>
                  <a:schemeClr val="bg2"/>
                </a:solidFill>
              </a:rPr>
              <a:t>Optimization: </a:t>
            </a:r>
            <a:r>
              <a:rPr lang="en-US" sz="1600" dirty="0">
                <a:solidFill>
                  <a:schemeClr val="bg2"/>
                </a:solidFill>
              </a:rPr>
              <a:t>From resource allocation to scheduling, heuristic methods help make the most of available resources while maximizing efficiency.</a:t>
            </a:r>
          </a:p>
          <a:p>
            <a:pPr>
              <a:buClr>
                <a:schemeClr val="bg2"/>
              </a:buClr>
              <a:buFont typeface="Arial" panose="020B0604020202020204" pitchFamily="34" charset="0"/>
              <a:buChar char="•"/>
            </a:pPr>
            <a:r>
              <a:rPr lang="en-US" sz="1600" b="1" dirty="0">
                <a:solidFill>
                  <a:schemeClr val="bg2"/>
                </a:solidFill>
              </a:rPr>
              <a:t>Game Playing: </a:t>
            </a:r>
            <a:r>
              <a:rPr lang="en-US" sz="1600" dirty="0">
                <a:solidFill>
                  <a:schemeClr val="bg2"/>
                </a:solidFill>
              </a:rPr>
              <a:t>In strategy games like chess and Go, AI relies on heuristic search to evaluate possible moves and plan ahead.</a:t>
            </a:r>
          </a:p>
          <a:p>
            <a:pPr>
              <a:buClr>
                <a:schemeClr val="bg2"/>
              </a:buClr>
              <a:buFont typeface="Arial" panose="020B0604020202020204" pitchFamily="34" charset="0"/>
              <a:buChar char="•"/>
            </a:pPr>
            <a:r>
              <a:rPr lang="en-US" sz="1600" b="1" dirty="0">
                <a:solidFill>
                  <a:schemeClr val="bg2"/>
                </a:solidFill>
              </a:rPr>
              <a:t>Robotics:</a:t>
            </a:r>
            <a:r>
              <a:rPr lang="en-US" sz="1600" dirty="0">
                <a:solidFill>
                  <a:schemeClr val="bg2"/>
                </a:solidFill>
              </a:rPr>
              <a:t> Autonomous robots use heuristic search to determine their movements, avoid obstacles, and complete tasks efficiently.</a:t>
            </a:r>
          </a:p>
          <a:p>
            <a:pPr>
              <a:buClr>
                <a:schemeClr val="bg2"/>
              </a:buClr>
              <a:buFont typeface="Arial" panose="020B0604020202020204" pitchFamily="34" charset="0"/>
              <a:buChar char="•"/>
            </a:pPr>
            <a:r>
              <a:rPr lang="en-US" sz="1600" b="1" dirty="0">
                <a:solidFill>
                  <a:schemeClr val="bg2"/>
                </a:solidFill>
              </a:rPr>
              <a:t>Natural Language Processing (NLP): </a:t>
            </a:r>
            <a:r>
              <a:rPr lang="en-US" sz="1600" dirty="0">
                <a:solidFill>
                  <a:schemeClr val="bg2"/>
                </a:solidFill>
              </a:rPr>
              <a:t>Search algorithms play a key role in language processing tasks like parsing, semantic analysis, and text generation, helping AI understand and generate human language.</a:t>
            </a:r>
          </a:p>
        </p:txBody>
      </p:sp>
      <p:sp>
        <p:nvSpPr>
          <p:cNvPr id="2" name="Title 1">
            <a:extLst>
              <a:ext uri="{FF2B5EF4-FFF2-40B4-BE49-F238E27FC236}">
                <a16:creationId xmlns:a16="http://schemas.microsoft.com/office/drawing/2014/main" id="{0880CE70-F2D3-CF7F-3ABD-9E7132FDB8BC}"/>
              </a:ext>
            </a:extLst>
          </p:cNvPr>
          <p:cNvSpPr>
            <a:spLocks noGrp="1"/>
          </p:cNvSpPr>
          <p:nvPr>
            <p:ph type="title" idx="4294967295"/>
          </p:nvPr>
        </p:nvSpPr>
        <p:spPr>
          <a:xfrm>
            <a:off x="1506510" y="206375"/>
            <a:ext cx="6723089" cy="857250"/>
          </a:xfrm>
          <a:prstGeom prst="rect">
            <a:avLst/>
          </a:prstGeom>
        </p:spPr>
        <p:txBody>
          <a:bodyPr/>
          <a:lstStyle/>
          <a:p>
            <a:pPr algn="ctr"/>
            <a:r>
              <a:rPr lang="en-US" sz="2800" b="1" dirty="0"/>
              <a:t>Applications of Heuristic Search</a:t>
            </a:r>
          </a:p>
        </p:txBody>
      </p:sp>
      <p:sp>
        <p:nvSpPr>
          <p:cNvPr id="4" name="TextBox 3">
            <a:extLst>
              <a:ext uri="{FF2B5EF4-FFF2-40B4-BE49-F238E27FC236}">
                <a16:creationId xmlns:a16="http://schemas.microsoft.com/office/drawing/2014/main" id="{BE9CDD33-3B7D-BFD4-B61B-5A0657541AD9}"/>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28</a:t>
            </a:r>
            <a:endParaRPr lang="en-IN" dirty="0"/>
          </a:p>
        </p:txBody>
      </p:sp>
    </p:spTree>
    <p:extLst>
      <p:ext uri="{BB962C8B-B14F-4D97-AF65-F5344CB8AC3E}">
        <p14:creationId xmlns:p14="http://schemas.microsoft.com/office/powerpoint/2010/main" val="561425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03F28-6851-B2E4-2330-450D3130E2C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143793-CCCB-5C2F-0073-0CC6C5C66501}"/>
              </a:ext>
            </a:extLst>
          </p:cNvPr>
          <p:cNvSpPr>
            <a:spLocks noGrp="1"/>
          </p:cNvSpPr>
          <p:nvPr>
            <p:ph type="body" idx="1"/>
          </p:nvPr>
        </p:nvSpPr>
        <p:spPr>
          <a:xfrm>
            <a:off x="914400" y="914400"/>
            <a:ext cx="8001000" cy="3772050"/>
          </a:xfrm>
        </p:spPr>
        <p:txBody>
          <a:bodyPr>
            <a:normAutofit/>
          </a:bodyPr>
          <a:lstStyle/>
          <a:p>
            <a:pPr>
              <a:buClr>
                <a:schemeClr val="bg2"/>
              </a:buClr>
              <a:buFont typeface="Arial" panose="020B0604020202020204" pitchFamily="34" charset="0"/>
              <a:buChar char="•"/>
            </a:pPr>
            <a:r>
              <a:rPr lang="en-US" sz="1600" dirty="0">
                <a:solidFill>
                  <a:schemeClr val="bg2"/>
                </a:solidFill>
              </a:rPr>
              <a:t>Heuristic search techniques offer several advantages:</a:t>
            </a:r>
          </a:p>
          <a:p>
            <a:pPr>
              <a:buClr>
                <a:schemeClr val="bg2"/>
              </a:buClr>
              <a:buFont typeface="Arial" panose="020B0604020202020204" pitchFamily="34" charset="0"/>
              <a:buChar char="•"/>
            </a:pPr>
            <a:r>
              <a:rPr lang="en-US" sz="1600" b="1" dirty="0">
                <a:solidFill>
                  <a:schemeClr val="bg2"/>
                </a:solidFill>
              </a:rPr>
              <a:t>Efficiency: </a:t>
            </a:r>
            <a:r>
              <a:rPr lang="en-US" sz="1600" dirty="0">
                <a:solidFill>
                  <a:schemeClr val="bg2"/>
                </a:solidFill>
              </a:rPr>
              <a:t>By focusing on the most promising paths, heuristic search significantly reduces the number of possibilities explored, saving both time and computational resources.</a:t>
            </a:r>
          </a:p>
          <a:p>
            <a:pPr>
              <a:buClr>
                <a:schemeClr val="bg2"/>
              </a:buClr>
              <a:buFont typeface="Arial" panose="020B0604020202020204" pitchFamily="34" charset="0"/>
              <a:buChar char="•"/>
            </a:pPr>
            <a:r>
              <a:rPr lang="en-US" sz="1600" b="1" dirty="0">
                <a:solidFill>
                  <a:schemeClr val="bg2"/>
                </a:solidFill>
              </a:rPr>
              <a:t>Optimality: </a:t>
            </a:r>
            <a:r>
              <a:rPr lang="en-US" sz="1600" dirty="0">
                <a:solidFill>
                  <a:schemeClr val="bg2"/>
                </a:solidFill>
              </a:rPr>
              <a:t>When using admissible heuristics, certain algorithms like A* can guarantee an optimal solution, ensuring the best possible outcome.</a:t>
            </a:r>
          </a:p>
          <a:p>
            <a:pPr>
              <a:buClr>
                <a:schemeClr val="bg2"/>
              </a:buClr>
              <a:buFont typeface="Arial" panose="020B0604020202020204" pitchFamily="34" charset="0"/>
              <a:buChar char="•"/>
            </a:pPr>
            <a:r>
              <a:rPr lang="en-US" sz="1600" b="1" dirty="0">
                <a:solidFill>
                  <a:schemeClr val="bg2"/>
                </a:solidFill>
              </a:rPr>
              <a:t>Versatility:</a:t>
            </a:r>
            <a:r>
              <a:rPr lang="en-US" sz="1600" dirty="0">
                <a:solidFill>
                  <a:schemeClr val="bg2"/>
                </a:solidFill>
              </a:rPr>
              <a:t> Heuristic methods are adaptable and can be applied to a wide range of problems, from pathfinding and optimization to game AI and robotics.</a:t>
            </a:r>
          </a:p>
        </p:txBody>
      </p:sp>
      <p:sp>
        <p:nvSpPr>
          <p:cNvPr id="2" name="Title 1">
            <a:extLst>
              <a:ext uri="{FF2B5EF4-FFF2-40B4-BE49-F238E27FC236}">
                <a16:creationId xmlns:a16="http://schemas.microsoft.com/office/drawing/2014/main" id="{32374F01-E01E-FB87-F605-160F3AB4E645}"/>
              </a:ext>
            </a:extLst>
          </p:cNvPr>
          <p:cNvSpPr>
            <a:spLocks noGrp="1"/>
          </p:cNvSpPr>
          <p:nvPr>
            <p:ph type="title" idx="4294967295"/>
          </p:nvPr>
        </p:nvSpPr>
        <p:spPr>
          <a:xfrm>
            <a:off x="914400" y="85987"/>
            <a:ext cx="7315199" cy="977638"/>
          </a:xfrm>
          <a:prstGeom prst="rect">
            <a:avLst/>
          </a:prstGeom>
        </p:spPr>
        <p:txBody>
          <a:bodyPr/>
          <a:lstStyle/>
          <a:p>
            <a:pPr algn="ctr">
              <a:buClr>
                <a:schemeClr val="bg2"/>
              </a:buClr>
            </a:pPr>
            <a:r>
              <a:rPr lang="en-US" sz="2800" b="1" dirty="0">
                <a:solidFill>
                  <a:schemeClr val="bg2"/>
                </a:solidFill>
              </a:rPr>
              <a:t>Advantages of Heuristic Search Techniques</a:t>
            </a:r>
          </a:p>
        </p:txBody>
      </p:sp>
      <p:sp>
        <p:nvSpPr>
          <p:cNvPr id="4" name="TextBox 3">
            <a:extLst>
              <a:ext uri="{FF2B5EF4-FFF2-40B4-BE49-F238E27FC236}">
                <a16:creationId xmlns:a16="http://schemas.microsoft.com/office/drawing/2014/main" id="{6079BD69-B30C-6CFA-C53C-02D4D85230B3}"/>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29</a:t>
            </a:r>
            <a:endParaRPr lang="en-IN" dirty="0"/>
          </a:p>
        </p:txBody>
      </p:sp>
    </p:spTree>
    <p:extLst>
      <p:ext uri="{BB962C8B-B14F-4D97-AF65-F5344CB8AC3E}">
        <p14:creationId xmlns:p14="http://schemas.microsoft.com/office/powerpoint/2010/main" val="18254117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6D94E-F42F-4515-EC8F-CE412FBE0BE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6CAD75-DD55-773A-627F-8C75BA2C8F42}"/>
              </a:ext>
            </a:extLst>
          </p:cNvPr>
          <p:cNvSpPr>
            <a:spLocks noGrp="1"/>
          </p:cNvSpPr>
          <p:nvPr>
            <p:ph type="body" idx="1"/>
          </p:nvPr>
        </p:nvSpPr>
        <p:spPr>
          <a:xfrm>
            <a:off x="914400" y="914400"/>
            <a:ext cx="8001000" cy="3772050"/>
          </a:xfrm>
        </p:spPr>
        <p:txBody>
          <a:bodyPr>
            <a:normAutofit/>
          </a:bodyPr>
          <a:lstStyle/>
          <a:p>
            <a:pPr>
              <a:buClr>
                <a:schemeClr val="bg2"/>
              </a:buClr>
              <a:buFont typeface="Arial" panose="020B0604020202020204" pitchFamily="34" charset="0"/>
              <a:buChar char="•"/>
            </a:pPr>
            <a:r>
              <a:rPr lang="en-US" sz="1600" dirty="0">
                <a:solidFill>
                  <a:schemeClr val="bg2"/>
                </a:solidFill>
              </a:rPr>
              <a:t>Despite their advantages, heuristic search techniques also have some limitations:</a:t>
            </a:r>
          </a:p>
          <a:p>
            <a:pPr>
              <a:buClr>
                <a:schemeClr val="bg2"/>
              </a:buClr>
              <a:buFont typeface="Arial" panose="020B0604020202020204" pitchFamily="34" charset="0"/>
              <a:buChar char="•"/>
            </a:pPr>
            <a:r>
              <a:rPr lang="en-US" sz="1600" b="1" dirty="0">
                <a:solidFill>
                  <a:schemeClr val="bg2"/>
                </a:solidFill>
              </a:rPr>
              <a:t>Heuristic Quality: </a:t>
            </a:r>
            <a:r>
              <a:rPr lang="en-US" sz="1600" dirty="0">
                <a:solidFill>
                  <a:schemeClr val="bg2"/>
                </a:solidFill>
              </a:rPr>
              <a:t>The effectiveness of heuristic search heavily depends on the quality of the heuristic function. Poorly designed heuristics can lead to inefficient or suboptimal solutions.</a:t>
            </a:r>
          </a:p>
          <a:p>
            <a:pPr>
              <a:buClr>
                <a:schemeClr val="bg2"/>
              </a:buClr>
              <a:buFont typeface="Arial" panose="020B0604020202020204" pitchFamily="34" charset="0"/>
              <a:buChar char="•"/>
            </a:pPr>
            <a:r>
              <a:rPr lang="en-US" sz="1600" b="1" dirty="0">
                <a:solidFill>
                  <a:schemeClr val="bg2"/>
                </a:solidFill>
              </a:rPr>
              <a:t>Space Complexity: </a:t>
            </a:r>
            <a:r>
              <a:rPr lang="en-US" sz="1600" dirty="0">
                <a:solidFill>
                  <a:schemeClr val="bg2"/>
                </a:solidFill>
              </a:rPr>
              <a:t>Some heuristic algorithms require large amounts of memory, especially when dealing with extensive search spaces, making them less practical for resource-limited environments.</a:t>
            </a:r>
          </a:p>
          <a:p>
            <a:pPr>
              <a:buClr>
                <a:schemeClr val="bg2"/>
              </a:buClr>
              <a:buFont typeface="Arial" panose="020B0604020202020204" pitchFamily="34" charset="0"/>
              <a:buChar char="•"/>
            </a:pPr>
            <a:r>
              <a:rPr lang="en-US" sz="1600" b="1" dirty="0">
                <a:solidFill>
                  <a:schemeClr val="bg2"/>
                </a:solidFill>
              </a:rPr>
              <a:t>Domain-Specificity: </a:t>
            </a:r>
            <a:r>
              <a:rPr lang="en-US" sz="1600" dirty="0">
                <a:solidFill>
                  <a:schemeClr val="bg2"/>
                </a:solidFill>
              </a:rPr>
              <a:t>Designing effective heuristics often requires domain-specific knowledge, which can make it difficult to create general-purpose heuristic approaches.</a:t>
            </a:r>
          </a:p>
        </p:txBody>
      </p:sp>
      <p:sp>
        <p:nvSpPr>
          <p:cNvPr id="2" name="Title 1">
            <a:extLst>
              <a:ext uri="{FF2B5EF4-FFF2-40B4-BE49-F238E27FC236}">
                <a16:creationId xmlns:a16="http://schemas.microsoft.com/office/drawing/2014/main" id="{DE517E28-CC75-1DD1-21EC-DC909DF662A6}"/>
              </a:ext>
            </a:extLst>
          </p:cNvPr>
          <p:cNvSpPr>
            <a:spLocks noGrp="1"/>
          </p:cNvSpPr>
          <p:nvPr>
            <p:ph type="title" idx="4294967295"/>
          </p:nvPr>
        </p:nvSpPr>
        <p:spPr>
          <a:xfrm>
            <a:off x="914400" y="85987"/>
            <a:ext cx="7315199" cy="977638"/>
          </a:xfrm>
          <a:prstGeom prst="rect">
            <a:avLst/>
          </a:prstGeom>
        </p:spPr>
        <p:txBody>
          <a:bodyPr/>
          <a:lstStyle/>
          <a:p>
            <a:pPr algn="ctr">
              <a:buClr>
                <a:schemeClr val="bg2"/>
              </a:buClr>
            </a:pPr>
            <a:r>
              <a:rPr lang="en-US" sz="2800" b="1" dirty="0">
                <a:solidFill>
                  <a:schemeClr val="bg2"/>
                </a:solidFill>
              </a:rPr>
              <a:t>Limitations of Heuristic Search Techniques</a:t>
            </a:r>
          </a:p>
        </p:txBody>
      </p:sp>
      <p:sp>
        <p:nvSpPr>
          <p:cNvPr id="4" name="TextBox 3">
            <a:extLst>
              <a:ext uri="{FF2B5EF4-FFF2-40B4-BE49-F238E27FC236}">
                <a16:creationId xmlns:a16="http://schemas.microsoft.com/office/drawing/2014/main" id="{FEB4AF75-0F6C-D0B0-D497-E1DD958155F2}"/>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30</a:t>
            </a:r>
            <a:endParaRPr lang="en-IN" dirty="0"/>
          </a:p>
        </p:txBody>
      </p:sp>
    </p:spTree>
    <p:extLst>
      <p:ext uri="{BB962C8B-B14F-4D97-AF65-F5344CB8AC3E}">
        <p14:creationId xmlns:p14="http://schemas.microsoft.com/office/powerpoint/2010/main" val="32195607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4451B981-4422-43CB-D0DB-17172D7A8AFA}"/>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4C67D092-A53B-AE68-754E-B78BAE735B68}"/>
              </a:ext>
            </a:extLst>
          </p:cNvPr>
          <p:cNvGrpSpPr/>
          <p:nvPr/>
        </p:nvGrpSpPr>
        <p:grpSpPr>
          <a:xfrm>
            <a:off x="736270" y="218172"/>
            <a:ext cx="8288976" cy="444600"/>
            <a:chOff x="0" y="6299"/>
            <a:chExt cx="5580934" cy="444600"/>
          </a:xfrm>
          <a:noFill/>
        </p:grpSpPr>
        <p:sp>
          <p:nvSpPr>
            <p:cNvPr id="109" name="Google Shape;109;p2">
              <a:extLst>
                <a:ext uri="{FF2B5EF4-FFF2-40B4-BE49-F238E27FC236}">
                  <a16:creationId xmlns:a16="http://schemas.microsoft.com/office/drawing/2014/main" id="{1B0A7FF5-255B-BF87-0FD1-F92E197A7F7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4F9A3AD5-CFA5-C489-FA57-D8D7EA0D607C}"/>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Summary of the Lecture</a:t>
              </a:r>
            </a:p>
          </p:txBody>
        </p:sp>
      </p:grpSp>
      <p:sp>
        <p:nvSpPr>
          <p:cNvPr id="111" name="Google Shape;111;p2">
            <a:extLst>
              <a:ext uri="{FF2B5EF4-FFF2-40B4-BE49-F238E27FC236}">
                <a16:creationId xmlns:a16="http://schemas.microsoft.com/office/drawing/2014/main" id="{A54AD0ED-2116-4DF4-4939-F0229A47F92F}"/>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3D32D63F-F6A4-66FF-27E1-1EB46CAEFBB9}"/>
              </a:ext>
            </a:extLst>
          </p:cNvPr>
          <p:cNvSpPr txBox="1"/>
          <p:nvPr/>
        </p:nvSpPr>
        <p:spPr>
          <a:xfrm>
            <a:off x="612162" y="794957"/>
            <a:ext cx="7547675" cy="3890255"/>
          </a:xfrm>
          <a:prstGeom prst="rect">
            <a:avLst/>
          </a:prstGeom>
          <a:noFill/>
          <a:ln>
            <a:noFill/>
          </a:ln>
        </p:spPr>
        <p:txBody>
          <a:bodyPr spcFirstLastPara="1" wrap="square" lIns="91425" tIns="45700" rIns="91425" bIns="45700" anchor="t" anchorCtr="0">
            <a:spAutoFit/>
          </a:bodyPr>
          <a:lstStyle/>
          <a:p>
            <a:pPr algn="just">
              <a:lnSpc>
                <a:spcPct val="90000"/>
              </a:lnSpc>
            </a:pPr>
            <a:endParaRPr lang="en-US" dirty="0">
              <a:solidFill>
                <a:schemeClr val="bg2"/>
              </a:solidFill>
              <a:latin typeface="+mj-lt"/>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b="1" dirty="0"/>
              <a:t>Graph Traversal and Heuristic Search Techniques</a:t>
            </a:r>
            <a:endParaRPr lang="en-IN" dirty="0"/>
          </a:p>
          <a:p>
            <a:pPr marL="285750" lvl="0" indent="-285750">
              <a:buFont typeface="Arial" panose="020B0604020202020204" pitchFamily="34" charset="0"/>
              <a:buChar char="•"/>
            </a:pPr>
            <a:r>
              <a:rPr lang="en-IN" b="1" dirty="0"/>
              <a:t>Breadth First Search (BFS)</a:t>
            </a:r>
            <a:r>
              <a:rPr lang="en-IN" dirty="0"/>
              <a:t> traverses graphs </a:t>
            </a:r>
            <a:r>
              <a:rPr lang="en-IN" b="1" dirty="0"/>
              <a:t>level by level</a:t>
            </a:r>
            <a:r>
              <a:rPr lang="en-IN" dirty="0"/>
              <a:t> using a </a:t>
            </a:r>
            <a:r>
              <a:rPr lang="en-IN" b="1" dirty="0"/>
              <a:t>queue</a:t>
            </a:r>
            <a:r>
              <a:rPr lang="en-IN" dirty="0"/>
              <a:t>, ensuring shortest paths in </a:t>
            </a:r>
            <a:r>
              <a:rPr lang="en-IN" b="1" dirty="0"/>
              <a:t>unweighted graphs</a:t>
            </a:r>
            <a:r>
              <a:rPr lang="en-IN" dirty="0"/>
              <a:t>.</a:t>
            </a:r>
          </a:p>
          <a:p>
            <a:pPr marL="285750" lvl="0" indent="-285750">
              <a:buFont typeface="Arial" panose="020B0604020202020204" pitchFamily="34" charset="0"/>
              <a:buChar char="•"/>
            </a:pPr>
            <a:r>
              <a:rPr lang="en-IN" b="1" dirty="0"/>
              <a:t>Depth First Search (DFS)</a:t>
            </a:r>
            <a:r>
              <a:rPr lang="en-IN" dirty="0"/>
              <a:t> explores graphs </a:t>
            </a:r>
            <a:r>
              <a:rPr lang="en-IN" b="1" dirty="0"/>
              <a:t>depth-wise</a:t>
            </a:r>
            <a:r>
              <a:rPr lang="en-IN" dirty="0"/>
              <a:t> using a </a:t>
            </a:r>
            <a:r>
              <a:rPr lang="en-IN" b="1" dirty="0"/>
              <a:t>stack or recursion</a:t>
            </a:r>
            <a:r>
              <a:rPr lang="en-IN" dirty="0"/>
              <a:t>, ideal for </a:t>
            </a:r>
            <a:r>
              <a:rPr lang="en-IN" b="1" dirty="0"/>
              <a:t>cycle detection</a:t>
            </a:r>
            <a:r>
              <a:rPr lang="en-IN" dirty="0"/>
              <a:t> and </a:t>
            </a:r>
            <a:r>
              <a:rPr lang="en-IN" b="1" dirty="0"/>
              <a:t>connected components</a:t>
            </a:r>
            <a:r>
              <a:rPr lang="en-IN" dirty="0"/>
              <a:t>.</a:t>
            </a:r>
          </a:p>
          <a:p>
            <a:pPr marL="285750" lvl="0" indent="-285750">
              <a:buFont typeface="Arial" panose="020B0604020202020204" pitchFamily="34" charset="0"/>
              <a:buChar char="•"/>
            </a:pPr>
            <a:r>
              <a:rPr lang="en-IN" dirty="0"/>
              <a:t>BFS is best when solutions are </a:t>
            </a:r>
            <a:r>
              <a:rPr lang="en-IN" b="1" dirty="0"/>
              <a:t>closer to the source</a:t>
            </a:r>
            <a:r>
              <a:rPr lang="en-IN" dirty="0"/>
              <a:t>, while DFS is effective when solutions are </a:t>
            </a:r>
            <a:r>
              <a:rPr lang="en-IN" b="1" dirty="0"/>
              <a:t>deep in the graph</a:t>
            </a:r>
            <a:r>
              <a:rPr lang="en-IN" dirty="0"/>
              <a:t>.</a:t>
            </a:r>
          </a:p>
          <a:p>
            <a:pPr marL="285750" lvl="0" indent="-285750">
              <a:buFont typeface="Arial" panose="020B0604020202020204" pitchFamily="34" charset="0"/>
              <a:buChar char="•"/>
            </a:pPr>
            <a:r>
              <a:rPr lang="en-IN" b="1" dirty="0"/>
              <a:t>Heuristic Search</a:t>
            </a:r>
            <a:r>
              <a:rPr lang="en-IN" dirty="0"/>
              <a:t> improves efficiency by using </a:t>
            </a:r>
            <a:r>
              <a:rPr lang="en-IN" b="1" dirty="0"/>
              <a:t>problem-specific knowledge</a:t>
            </a:r>
            <a:r>
              <a:rPr lang="en-IN" dirty="0"/>
              <a:t> to guide the search.</a:t>
            </a:r>
          </a:p>
          <a:p>
            <a:pPr marL="285750" lvl="0" indent="-285750">
              <a:buFont typeface="Arial" panose="020B0604020202020204" pitchFamily="34" charset="0"/>
              <a:buChar char="•"/>
            </a:pPr>
            <a:r>
              <a:rPr lang="en-IN" dirty="0"/>
              <a:t>Popular heuristic techniques include </a:t>
            </a:r>
            <a:r>
              <a:rPr lang="en-IN" b="1" dirty="0"/>
              <a:t>A*</a:t>
            </a:r>
            <a:r>
              <a:rPr lang="en-IN" dirty="0"/>
              <a:t>, </a:t>
            </a:r>
            <a:r>
              <a:rPr lang="en-IN" b="1" dirty="0"/>
              <a:t>Greedy Best-First Search</a:t>
            </a:r>
            <a:r>
              <a:rPr lang="en-IN" dirty="0"/>
              <a:t>, </a:t>
            </a:r>
            <a:r>
              <a:rPr lang="en-IN" b="1" dirty="0"/>
              <a:t>Hill Climbing</a:t>
            </a:r>
            <a:r>
              <a:rPr lang="en-IN" dirty="0"/>
              <a:t>, </a:t>
            </a:r>
            <a:r>
              <a:rPr lang="en-IN" b="1" dirty="0"/>
              <a:t>Simulated Annealing</a:t>
            </a:r>
            <a:r>
              <a:rPr lang="en-IN" dirty="0"/>
              <a:t>, and </a:t>
            </a:r>
            <a:r>
              <a:rPr lang="en-IN" b="1" dirty="0"/>
              <a:t>Beam Search</a:t>
            </a:r>
            <a:r>
              <a:rPr lang="en-IN" dirty="0"/>
              <a:t>.</a:t>
            </a:r>
          </a:p>
          <a:p>
            <a:pPr marL="285750" lvl="0" indent="-285750">
              <a:buFont typeface="Arial" panose="020B0604020202020204" pitchFamily="34" charset="0"/>
              <a:buChar char="•"/>
            </a:pPr>
            <a:r>
              <a:rPr lang="en-IN" dirty="0"/>
              <a:t>Heuristic methods are widely used in </a:t>
            </a:r>
            <a:r>
              <a:rPr lang="en-IN" b="1" dirty="0"/>
              <a:t>pathfinding, game AI, robotics, and optimization problems</a:t>
            </a:r>
            <a:r>
              <a:rPr lang="en-IN" dirty="0"/>
              <a:t>.</a:t>
            </a:r>
          </a:p>
          <a:p>
            <a:pPr lvl="0" algn="just">
              <a:lnSpc>
                <a:spcPct val="90000"/>
              </a:lnSpc>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just" rtl="0">
              <a:lnSpc>
                <a:spcPct val="90000"/>
              </a:lnSpc>
              <a:spcBef>
                <a:spcPts val="0"/>
              </a:spcBef>
              <a:spcAft>
                <a:spcPts val="0"/>
              </a:spcAft>
              <a:buNone/>
            </a:pPr>
            <a:endParaRPr lang="en-US" sz="300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 name="TextBox 6">
            <a:extLst>
              <a:ext uri="{FF2B5EF4-FFF2-40B4-BE49-F238E27FC236}">
                <a16:creationId xmlns:a16="http://schemas.microsoft.com/office/drawing/2014/main" id="{1B2EFE67-1BDD-5907-C33A-2B86C9EBFFAB}"/>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31</a:t>
            </a:r>
            <a:endParaRPr lang="en-IN" dirty="0"/>
          </a:p>
        </p:txBody>
      </p:sp>
    </p:spTree>
    <p:extLst>
      <p:ext uri="{BB962C8B-B14F-4D97-AF65-F5344CB8AC3E}">
        <p14:creationId xmlns:p14="http://schemas.microsoft.com/office/powerpoint/2010/main" val="11890538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F1A71372-B014-307D-6154-2C9E638CD11B}"/>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5D0218A6-9BF1-9083-EB88-7F511EEA18C0}"/>
              </a:ext>
            </a:extLst>
          </p:cNvPr>
          <p:cNvGrpSpPr/>
          <p:nvPr/>
        </p:nvGrpSpPr>
        <p:grpSpPr>
          <a:xfrm>
            <a:off x="736270" y="218172"/>
            <a:ext cx="8288976" cy="444600"/>
            <a:chOff x="0" y="6299"/>
            <a:chExt cx="5580934" cy="444600"/>
          </a:xfrm>
          <a:noFill/>
        </p:grpSpPr>
        <p:sp>
          <p:nvSpPr>
            <p:cNvPr id="109" name="Google Shape;109;p2">
              <a:extLst>
                <a:ext uri="{FF2B5EF4-FFF2-40B4-BE49-F238E27FC236}">
                  <a16:creationId xmlns:a16="http://schemas.microsoft.com/office/drawing/2014/main" id="{27463C9E-EE99-A9D7-FCED-1185005F48F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37989E15-3DCD-C8F4-3603-7387C0C582C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Next Lecture</a:t>
              </a:r>
            </a:p>
          </p:txBody>
        </p:sp>
      </p:grpSp>
      <p:sp>
        <p:nvSpPr>
          <p:cNvPr id="111" name="Google Shape;111;p2">
            <a:extLst>
              <a:ext uri="{FF2B5EF4-FFF2-40B4-BE49-F238E27FC236}">
                <a16:creationId xmlns:a16="http://schemas.microsoft.com/office/drawing/2014/main" id="{021A92BF-2EAE-86ED-1A52-97FD472F5620}"/>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7EC51C08-00CA-303F-88CF-6761C177812F}"/>
              </a:ext>
            </a:extLst>
          </p:cNvPr>
          <p:cNvSpPr txBox="1"/>
          <p:nvPr/>
        </p:nvSpPr>
        <p:spPr>
          <a:xfrm>
            <a:off x="83127" y="1101387"/>
            <a:ext cx="8942119" cy="1255688"/>
          </a:xfrm>
          <a:prstGeom prst="rect">
            <a:avLst/>
          </a:prstGeom>
          <a:noFill/>
          <a:ln>
            <a:noFill/>
          </a:ln>
        </p:spPr>
        <p:txBody>
          <a:bodyPr spcFirstLastPara="1" wrap="square" lIns="91425" tIns="45700" rIns="91425" bIns="45700" anchor="t" anchorCtr="0">
            <a:spAutoFit/>
          </a:bodyPr>
          <a:lstStyle/>
          <a:p>
            <a:pPr marL="457200" lvl="0" indent="-457200" algn="just">
              <a:lnSpc>
                <a:spcPct val="90000"/>
              </a:lnSpc>
              <a:buFont typeface="Arial" panose="020B0604020202020204" pitchFamily="34" charset="0"/>
              <a:buChar char="•"/>
            </a:pPr>
            <a:r>
              <a:rPr lang="en-US" sz="2800" b="1" dirty="0">
                <a:solidFill>
                  <a:schemeClr val="bg2"/>
                </a:solidFill>
                <a:latin typeface="Calibri" panose="020F0502020204030204" pitchFamily="34" charset="0"/>
                <a:ea typeface="Calibri" panose="020F0502020204030204" pitchFamily="34" charset="0"/>
                <a:cs typeface="Calibri" panose="020F0502020204030204" pitchFamily="34" charset="0"/>
              </a:rPr>
              <a:t>Introduction to Neural Networks, </a:t>
            </a:r>
          </a:p>
          <a:p>
            <a:pPr marL="457200" lvl="0" indent="-457200" algn="just">
              <a:lnSpc>
                <a:spcPct val="90000"/>
              </a:lnSpc>
              <a:buFont typeface="Arial" panose="020B0604020202020204" pitchFamily="34" charset="0"/>
              <a:buChar char="•"/>
            </a:pPr>
            <a:r>
              <a:rPr lang="en-US" sz="2800" b="1" dirty="0">
                <a:solidFill>
                  <a:schemeClr val="bg2"/>
                </a:solidFill>
                <a:latin typeface="Calibri" panose="020F0502020204030204" pitchFamily="34" charset="0"/>
                <a:ea typeface="Calibri" panose="020F0502020204030204" pitchFamily="34" charset="0"/>
                <a:cs typeface="Calibri" panose="020F0502020204030204" pitchFamily="34" charset="0"/>
              </a:rPr>
              <a:t>Biological neuron vs. artificial neuron, </a:t>
            </a:r>
          </a:p>
          <a:p>
            <a:pPr marL="457200" lvl="0" indent="-457200" algn="just">
              <a:lnSpc>
                <a:spcPct val="90000"/>
              </a:lnSpc>
              <a:buFont typeface="Arial" panose="020B0604020202020204" pitchFamily="34" charset="0"/>
              <a:buChar char="•"/>
            </a:pPr>
            <a:r>
              <a:rPr lang="en-US" sz="2800" b="1" dirty="0">
                <a:solidFill>
                  <a:schemeClr val="bg2"/>
                </a:solidFill>
                <a:latin typeface="Calibri" panose="020F0502020204030204" pitchFamily="34" charset="0"/>
                <a:ea typeface="Calibri" panose="020F0502020204030204" pitchFamily="34" charset="0"/>
                <a:cs typeface="Calibri" panose="020F0502020204030204" pitchFamily="34" charset="0"/>
              </a:rPr>
              <a:t>Importance &amp; applications of neural networks</a:t>
            </a:r>
          </a:p>
        </p:txBody>
      </p:sp>
      <p:sp>
        <p:nvSpPr>
          <p:cNvPr id="2" name="TextBox 1">
            <a:extLst>
              <a:ext uri="{FF2B5EF4-FFF2-40B4-BE49-F238E27FC236}">
                <a16:creationId xmlns:a16="http://schemas.microsoft.com/office/drawing/2014/main" id="{E25D5782-05D4-0951-44EA-B9EE5A8C2310}"/>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32</a:t>
            </a:r>
            <a:endParaRPr lang="en-IN" dirty="0"/>
          </a:p>
        </p:txBody>
      </p:sp>
    </p:spTree>
    <p:extLst>
      <p:ext uri="{BB962C8B-B14F-4D97-AF65-F5344CB8AC3E}">
        <p14:creationId xmlns:p14="http://schemas.microsoft.com/office/powerpoint/2010/main" val="19223101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712518" y="218172"/>
            <a:ext cx="8312727" cy="44460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Quiz/ FAQ’s</a:t>
              </a:r>
            </a:p>
          </p:txBody>
        </p:sp>
      </p:grpSp>
      <p:sp>
        <p:nvSpPr>
          <p:cNvPr id="111" name="Google Shape;111;p2">
            <a:extLst>
              <a:ext uri="{FF2B5EF4-FFF2-40B4-BE49-F238E27FC236}">
                <a16:creationId xmlns:a16="http://schemas.microsoft.com/office/drawing/2014/main" id="{BD6EBDB1-8664-1692-8A39-12350449E110}"/>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6" name="TextBox 5"/>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33</a:t>
            </a:r>
            <a:endParaRPr lang="en-IN" dirty="0"/>
          </a:p>
        </p:txBody>
      </p:sp>
      <p:sp>
        <p:nvSpPr>
          <p:cNvPr id="10" name="Google Shape;113;p2">
            <a:extLst>
              <a:ext uri="{FF2B5EF4-FFF2-40B4-BE49-F238E27FC236}">
                <a16:creationId xmlns:a16="http://schemas.microsoft.com/office/drawing/2014/main" id="{7EC51C08-00CA-303F-88CF-6761C177812F}"/>
              </a:ext>
            </a:extLst>
          </p:cNvPr>
          <p:cNvSpPr txBox="1"/>
          <p:nvPr/>
        </p:nvSpPr>
        <p:spPr>
          <a:xfrm>
            <a:off x="201881" y="1153017"/>
            <a:ext cx="8312727" cy="2225184"/>
          </a:xfrm>
          <a:prstGeom prst="rect">
            <a:avLst/>
          </a:prstGeom>
          <a:noFill/>
          <a:ln>
            <a:noFill/>
          </a:ln>
        </p:spPr>
        <p:txBody>
          <a:bodyPr spcFirstLastPara="1" wrap="square" lIns="91425" tIns="45700" rIns="91425" bIns="45700" anchor="t" anchorCtr="0">
            <a:spAutoFit/>
          </a:bodyPr>
          <a:lstStyle/>
          <a:p>
            <a:pPr algn="just">
              <a:lnSpc>
                <a:spcPct val="90000"/>
              </a:lnSpc>
            </a:pPr>
            <a:endParaRPr lang="en-US" dirty="0">
              <a:solidFill>
                <a:schemeClr val="bg2"/>
              </a:solidFill>
              <a:ea typeface="Calibri" panose="020F0502020204030204" pitchFamily="34" charset="0"/>
              <a:cs typeface="Calibri" panose="020F0502020204030204" pitchFamily="34" charset="0"/>
            </a:endParaRPr>
          </a:p>
          <a:p>
            <a:pPr algn="just">
              <a:lnSpc>
                <a:spcPct val="90000"/>
              </a:lnSpc>
            </a:pPr>
            <a:r>
              <a:rPr lang="en-US" dirty="0">
                <a:solidFill>
                  <a:schemeClr val="bg2"/>
                </a:solidFill>
              </a:rPr>
              <a:t>1. What is the main difference between BFS and DFS traversal strategies?</a:t>
            </a:r>
          </a:p>
          <a:p>
            <a:pPr algn="just">
              <a:lnSpc>
                <a:spcPct val="90000"/>
              </a:lnSpc>
            </a:pPr>
            <a:r>
              <a:rPr lang="en-US" dirty="0">
                <a:solidFill>
                  <a:schemeClr val="bg2"/>
                </a:solidFill>
              </a:rPr>
              <a:t>2. Why does BFS guarantee the shortest path in an unweighted graph?</a:t>
            </a:r>
          </a:p>
          <a:p>
            <a:pPr algn="just">
              <a:lnSpc>
                <a:spcPct val="90000"/>
              </a:lnSpc>
            </a:pPr>
            <a:r>
              <a:rPr lang="en-US" dirty="0">
                <a:solidFill>
                  <a:schemeClr val="bg2"/>
                </a:solidFill>
              </a:rPr>
              <a:t>3. Which data structure is used in DFS and why?</a:t>
            </a:r>
          </a:p>
          <a:p>
            <a:pPr algn="just">
              <a:lnSpc>
                <a:spcPct val="90000"/>
              </a:lnSpc>
            </a:pPr>
            <a:r>
              <a:rPr lang="en-US" dirty="0">
                <a:solidFill>
                  <a:schemeClr val="bg2"/>
                </a:solidFill>
              </a:rPr>
              <a:t>4. Can BFS and DFS handle graphs with cycles? How?</a:t>
            </a:r>
          </a:p>
          <a:p>
            <a:pPr algn="just">
              <a:lnSpc>
                <a:spcPct val="90000"/>
              </a:lnSpc>
            </a:pPr>
            <a:r>
              <a:rPr lang="en-US" dirty="0">
                <a:solidFill>
                  <a:schemeClr val="bg2"/>
                </a:solidFill>
              </a:rPr>
              <a:t>5. Why can DFS produce different traversal orders for the same graph?</a:t>
            </a:r>
          </a:p>
          <a:p>
            <a:pPr algn="just">
              <a:lnSpc>
                <a:spcPct val="90000"/>
              </a:lnSpc>
            </a:pPr>
            <a:r>
              <a:rPr lang="en-US" dirty="0">
                <a:solidFill>
                  <a:schemeClr val="bg2"/>
                </a:solidFill>
              </a:rPr>
              <a:t>6. In which scenarios is DFS preferred over BFS?</a:t>
            </a:r>
          </a:p>
          <a:p>
            <a:pPr algn="just">
              <a:lnSpc>
                <a:spcPct val="90000"/>
              </a:lnSpc>
            </a:pPr>
            <a:r>
              <a:rPr lang="en-US" dirty="0">
                <a:solidFill>
                  <a:schemeClr val="bg2"/>
                </a:solidFill>
              </a:rPr>
              <a:t>7. What is a heuristic function and why is it important in AI search?</a:t>
            </a:r>
          </a:p>
          <a:p>
            <a:pPr algn="just">
              <a:lnSpc>
                <a:spcPct val="90000"/>
              </a:lnSpc>
            </a:pPr>
            <a:r>
              <a:rPr lang="en-US" dirty="0">
                <a:solidFill>
                  <a:schemeClr val="bg2"/>
                </a:solidFill>
              </a:rPr>
              <a:t>8. How does A* search differ from Greedy Best-First Search?</a:t>
            </a:r>
          </a:p>
          <a:p>
            <a:pPr algn="just">
              <a:lnSpc>
                <a:spcPct val="90000"/>
              </a:lnSpc>
            </a:pPr>
            <a:r>
              <a:rPr lang="en-US" dirty="0">
                <a:solidFill>
                  <a:schemeClr val="bg2"/>
                </a:solidFill>
              </a:rPr>
              <a:t>9. What are the limitations of heuristic search techniques?</a:t>
            </a:r>
          </a:p>
          <a:p>
            <a:pPr algn="just">
              <a:lnSpc>
                <a:spcPct val="90000"/>
              </a:lnSpc>
            </a:pPr>
            <a:r>
              <a:rPr lang="en-US" dirty="0">
                <a:solidFill>
                  <a:schemeClr val="bg2"/>
                </a:solidFill>
              </a:rPr>
              <a:t>10.Can BFS and DFS be applied to real-world problems? Give examples.</a:t>
            </a:r>
          </a:p>
        </p:txBody>
      </p:sp>
    </p:spTree>
    <p:extLst>
      <p:ext uri="{BB962C8B-B14F-4D97-AF65-F5344CB8AC3E}">
        <p14:creationId xmlns:p14="http://schemas.microsoft.com/office/powerpoint/2010/main" val="30270363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23510B7-C3A2-E27A-3736-0F10336312B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78445F02-A161-533C-83C3-5BC21C2F7F4B}"/>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20A44487-169C-8822-4CE0-BBB62C89DEBF}"/>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67D92D25-44E7-E9BB-697B-B5F6A519F27B}"/>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R</a:t>
              </a: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eferences/ Articles</a:t>
              </a:r>
            </a:p>
          </p:txBody>
        </p:sp>
      </p:grpSp>
      <p:sp>
        <p:nvSpPr>
          <p:cNvPr id="111" name="Google Shape;111;p2">
            <a:extLst>
              <a:ext uri="{FF2B5EF4-FFF2-40B4-BE49-F238E27FC236}">
                <a16:creationId xmlns:a16="http://schemas.microsoft.com/office/drawing/2014/main" id="{95329CA0-B433-F78D-DDAC-218F49813DA1}"/>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E730872A-040D-2549-AF98-86A7A4840E43}"/>
              </a:ext>
            </a:extLst>
          </p:cNvPr>
          <p:cNvSpPr txBox="1"/>
          <p:nvPr/>
        </p:nvSpPr>
        <p:spPr>
          <a:xfrm>
            <a:off x="83126" y="239875"/>
            <a:ext cx="8942119" cy="12197145"/>
          </a:xfrm>
          <a:prstGeom prst="rect">
            <a:avLst/>
          </a:prstGeom>
          <a:noFill/>
          <a:ln>
            <a:noFill/>
          </a:ln>
        </p:spPr>
        <p:txBody>
          <a:bodyPr spcFirstLastPara="1" wrap="square" lIns="91425" tIns="45700" rIns="91425" bIns="45700" anchor="t" anchorCtr="0">
            <a:spAutoFit/>
          </a:bodyPr>
          <a:lstStyle/>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3"/>
            </a:endParaRPr>
          </a:p>
          <a:p>
            <a:pPr lvl="0" algn="just">
              <a:lnSpc>
                <a:spcPct val="90000"/>
              </a:lnSpc>
            </a:pP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3"/>
            </a:endParaRPr>
          </a:p>
          <a:p>
            <a:pPr marL="457200" lvl="0" indent="-457200" algn="just">
              <a:lnSpc>
                <a:spcPct val="90000"/>
              </a:lnSpc>
              <a:buFont typeface="Arial" panose="020B0604020202020204" pitchFamily="34" charset="0"/>
              <a:buChar char="•"/>
            </a:pP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4"/>
              </a:rPr>
              <a:t>https://www.geeksforgeeks.org/dsa/breadth-first-search-or-bfs-for-a-graph/</a:t>
            </a: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5"/>
              </a:rPr>
              <a:t>https://www.geeksforgeeks.org/dsa/depth-first-search-or-dfs-for-a-graph/</a:t>
            </a: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6"/>
              </a:rPr>
              <a:t>https://www.geeksforgeeks.org/dsa/difference-between-bfs-and-dfs/</a:t>
            </a: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7"/>
              </a:rPr>
              <a:t>https://www.geeksforgeeks.org/artificial-intelligence/heuristic-search-techniques-in-ai/</a:t>
            </a: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just">
              <a:lnSpc>
                <a:spcPct val="90000"/>
              </a:lnSpc>
            </a:pP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just">
              <a:lnSpc>
                <a:spcPct val="90000"/>
              </a:lnSpc>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just">
              <a:lnSpc>
                <a:spcPct val="90000"/>
              </a:lnSpc>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just">
              <a:lnSpc>
                <a:spcPct val="90000"/>
              </a:lnSpc>
            </a:pPr>
            <a:endParaRPr lang="en-US" sz="28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just" rtl="0">
              <a:lnSpc>
                <a:spcPct val="90000"/>
              </a:lnSpc>
              <a:spcBef>
                <a:spcPts val="0"/>
              </a:spcBef>
              <a:spcAft>
                <a:spcPts val="0"/>
              </a:spcAft>
              <a:buNone/>
            </a:pPr>
            <a:endParaRPr lang="en-US" sz="30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 name="TextBox 6"/>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34</a:t>
            </a:r>
            <a:endParaRPr lang="en-IN" dirty="0"/>
          </a:p>
        </p:txBody>
      </p:sp>
    </p:spTree>
    <p:extLst>
      <p:ext uri="{BB962C8B-B14F-4D97-AF65-F5344CB8AC3E}">
        <p14:creationId xmlns:p14="http://schemas.microsoft.com/office/powerpoint/2010/main" val="22947860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87ED0C6-7719-FB97-ED94-7F5CE38D07A8}"/>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91D700B6-6EB7-B931-A6BA-3293795C4FD6}"/>
              </a:ext>
            </a:extLst>
          </p:cNvPr>
          <p:cNvGrpSpPr/>
          <p:nvPr/>
        </p:nvGrpSpPr>
        <p:grpSpPr>
          <a:xfrm>
            <a:off x="715861" y="-42871"/>
            <a:ext cx="8277101" cy="1217475"/>
            <a:chOff x="0" y="6299"/>
            <a:chExt cx="5580934" cy="1217475"/>
          </a:xfrm>
          <a:noFill/>
        </p:grpSpPr>
        <p:sp>
          <p:nvSpPr>
            <p:cNvPr id="109" name="Google Shape;109;p2">
              <a:extLst>
                <a:ext uri="{FF2B5EF4-FFF2-40B4-BE49-F238E27FC236}">
                  <a16:creationId xmlns:a16="http://schemas.microsoft.com/office/drawing/2014/main" id="{D9F7BC64-7A52-69C2-0340-DEC4747604CB}"/>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DD12C81D-38E2-6BA8-4944-E9161F70F1EA}"/>
                </a:ext>
              </a:extLst>
            </p:cNvPr>
            <p:cNvSpPr txBox="1"/>
            <p:nvPr/>
          </p:nvSpPr>
          <p:spPr>
            <a:xfrm>
              <a:off x="0" y="822582"/>
              <a:ext cx="5537526" cy="401192"/>
            </a:xfrm>
            <a:prstGeom prst="rect">
              <a:avLst/>
            </a:prstGeom>
            <a:grpFill/>
            <a:ln>
              <a:noFill/>
            </a:ln>
          </p:spPr>
          <p:txBody>
            <a:bodyPr spcFirstLastPara="1" wrap="square" lIns="72375" tIns="72375" rIns="72375" bIns="72375" anchor="ctr" anchorCtr="0">
              <a:noAutofit/>
            </a:bodyPr>
            <a:lstStyle/>
            <a:p>
              <a:pPr lvl="0" algn="just">
                <a:lnSpc>
                  <a:spcPct val="90000"/>
                </a:lnSpc>
                <a:buSzPts val="1900"/>
              </a:pPr>
              <a:r>
                <a:rPr lang="en-US" sz="2800" b="1" dirty="0">
                  <a:solidFill>
                    <a:schemeClr val="bg2"/>
                  </a:solidFill>
                  <a:latin typeface="Calibri" panose="020F0502020204030204" pitchFamily="34" charset="0"/>
                  <a:ea typeface="Calibri" panose="020F0502020204030204" pitchFamily="34" charset="0"/>
                  <a:cs typeface="Calibri" panose="020F0502020204030204" pitchFamily="34" charset="0"/>
                </a:rPr>
                <a:t>Faculty-curated videos, NPTEL, Coursera, LinkedIn, or other relevant learning resources</a:t>
              </a:r>
            </a:p>
          </p:txBody>
        </p:sp>
      </p:grpSp>
      <p:sp>
        <p:nvSpPr>
          <p:cNvPr id="111" name="Google Shape;111;p2">
            <a:extLst>
              <a:ext uri="{FF2B5EF4-FFF2-40B4-BE49-F238E27FC236}">
                <a16:creationId xmlns:a16="http://schemas.microsoft.com/office/drawing/2014/main" id="{5AD00F48-AF9F-87AF-B3AB-2CA9606A4E8B}"/>
              </a:ext>
            </a:extLst>
          </p:cNvPr>
          <p:cNvSpPr txBox="1">
            <a:spLocks noGrp="1"/>
          </p:cNvSpPr>
          <p:nvPr>
            <p:ph type="body" idx="1"/>
          </p:nvPr>
        </p:nvSpPr>
        <p:spPr>
          <a:xfrm>
            <a:off x="374989" y="1285244"/>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E59C2B9C-619B-7F1D-73C8-04AA5F67C4ED}"/>
              </a:ext>
            </a:extLst>
          </p:cNvPr>
          <p:cNvSpPr txBox="1"/>
          <p:nvPr/>
        </p:nvSpPr>
        <p:spPr>
          <a:xfrm>
            <a:off x="50843" y="1546287"/>
            <a:ext cx="8942119" cy="2973081"/>
          </a:xfrm>
          <a:prstGeom prst="rect">
            <a:avLst/>
          </a:prstGeom>
          <a:noFill/>
          <a:ln>
            <a:noFill/>
          </a:ln>
        </p:spPr>
        <p:txBody>
          <a:bodyPr spcFirstLastPara="1" wrap="square" lIns="91425" tIns="45700" rIns="91425" bIns="45700" anchor="t" anchorCtr="0">
            <a:spAutoFit/>
          </a:bodyPr>
          <a:lstStyle/>
          <a:p>
            <a:pPr marL="457200" lvl="0" indent="-457200" algn="just">
              <a:lnSpc>
                <a:spcPct val="90000"/>
              </a:lnSpc>
              <a:buFont typeface="Arial" panose="020B0604020202020204" pitchFamily="34" charset="0"/>
              <a:buChar char="•"/>
            </a:pP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3"/>
              </a:rPr>
              <a:t>https://www.youtube.com/watch?v=SZ2a668G6vA</a:t>
            </a:r>
          </a:p>
          <a:p>
            <a:pPr lvl="0" algn="just">
              <a:lnSpc>
                <a:spcPct val="90000"/>
              </a:lnSpc>
            </a:pPr>
            <a:endPar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3"/>
            </a:endParaRPr>
          </a:p>
          <a:p>
            <a:pPr marL="457200" lvl="0" indent="-457200" algn="just">
              <a:lnSpc>
                <a:spcPct val="90000"/>
              </a:lnSpc>
              <a:buFont typeface="Arial" panose="020B0604020202020204" pitchFamily="34" charset="0"/>
              <a:buChar char="•"/>
            </a:pP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3"/>
              </a:rPr>
              <a:t>https://www.youtube.com/watch?v=dWpvK-8uAqM</a:t>
            </a:r>
          </a:p>
          <a:p>
            <a:pPr marL="457200" lvl="0" indent="-457200" algn="just">
              <a:lnSpc>
                <a:spcPct val="90000"/>
              </a:lnSpc>
              <a:buFont typeface="Arial" panose="020B0604020202020204" pitchFamily="34" charset="0"/>
              <a:buChar char="•"/>
            </a:pPr>
            <a:endPar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3"/>
            </a:endParaRPr>
          </a:p>
          <a:p>
            <a:pPr marL="457200" lvl="0" indent="-457200" algn="just">
              <a:lnSpc>
                <a:spcPct val="90000"/>
              </a:lnSpc>
              <a:buFont typeface="Arial" panose="020B0604020202020204" pitchFamily="34" charset="0"/>
              <a:buChar char="•"/>
            </a:pP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3"/>
              </a:rPr>
              <a:t>https://www.youtube.com/watch?v=xaVTpt58bFI</a:t>
            </a:r>
          </a:p>
          <a:p>
            <a:pPr marL="457200" lvl="0" indent="-457200" algn="just">
              <a:lnSpc>
                <a:spcPct val="90000"/>
              </a:lnSpc>
              <a:buFont typeface="Arial" panose="020B0604020202020204" pitchFamily="34" charset="0"/>
              <a:buChar char="•"/>
            </a:pPr>
            <a:endPar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3"/>
            </a:endParaRPr>
          </a:p>
          <a:p>
            <a:pPr marL="457200" lvl="0" indent="-457200" algn="just">
              <a:lnSpc>
                <a:spcPct val="90000"/>
              </a:lnSpc>
              <a:buFont typeface="Arial" panose="020B0604020202020204" pitchFamily="34" charset="0"/>
              <a:buChar char="•"/>
            </a:pP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3"/>
              </a:rPr>
              <a:t>https://www.youtube.com/watch?v=CnqMV_wXcBg</a:t>
            </a:r>
          </a:p>
          <a:p>
            <a:pPr lvl="0" algn="just">
              <a:lnSpc>
                <a:spcPct val="90000"/>
              </a:lnSpc>
            </a:pPr>
            <a:endPar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3"/>
            </a:endParaRPr>
          </a:p>
          <a:p>
            <a:pPr marL="457200" lvl="0" indent="-457200" algn="just">
              <a:lnSpc>
                <a:spcPct val="90000"/>
              </a:lnSpc>
              <a:buFont typeface="Arial" panose="020B0604020202020204" pitchFamily="34" charset="0"/>
              <a:buChar char="•"/>
            </a:pPr>
            <a:endPar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3"/>
            </a:endParaRP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3"/>
            </a:endParaRPr>
          </a:p>
        </p:txBody>
      </p:sp>
      <p:sp>
        <p:nvSpPr>
          <p:cNvPr id="7" name="TextBox 6"/>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35</a:t>
            </a:r>
            <a:endParaRPr lang="en-IN" dirty="0"/>
          </a:p>
        </p:txBody>
      </p:sp>
    </p:spTree>
    <p:extLst>
      <p:ext uri="{BB962C8B-B14F-4D97-AF65-F5344CB8AC3E}">
        <p14:creationId xmlns:p14="http://schemas.microsoft.com/office/powerpoint/2010/main" val="32888665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712518" y="218172"/>
            <a:ext cx="8312727" cy="44460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Class-Wise </a:t>
              </a:r>
              <a:r>
                <a:rPr lang="en-IN" sz="4000" b="1" dirty="0">
                  <a:solidFill>
                    <a:schemeClr val="bg2"/>
                  </a:solidFill>
                  <a:latin typeface="Calibri" panose="020F0502020204030204" pitchFamily="34" charset="0"/>
                  <a:ea typeface="Calibri" panose="020F0502020204030204" pitchFamily="34" charset="0"/>
                  <a:cs typeface="Calibri" panose="020F0502020204030204" pitchFamily="34" charset="0"/>
                </a:rPr>
                <a:t>Feedback</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BD6EBDB1-8664-1692-8A39-12350449E110}"/>
              </a:ext>
            </a:extLst>
          </p:cNvPr>
          <p:cNvSpPr txBox="1">
            <a:spLocks noGrp="1"/>
          </p:cNvSpPr>
          <p:nvPr>
            <p:ph type="body" idx="1"/>
          </p:nvPr>
        </p:nvSpPr>
        <p:spPr>
          <a:xfrm>
            <a:off x="-315311" y="1117226"/>
            <a:ext cx="9459311" cy="2655989"/>
          </a:xfrm>
          <a:prstGeom prst="rect">
            <a:avLst/>
          </a:prstGeom>
          <a:noFill/>
          <a:ln>
            <a:noFill/>
          </a:ln>
        </p:spPr>
        <p:txBody>
          <a:bodyPr spcFirstLastPara="1" wrap="square" lIns="91425" tIns="45700" rIns="91425" bIns="45700" anchor="t" anchorCtr="0">
            <a:normAutofit/>
          </a:bodyPr>
          <a:lstStyle/>
          <a:p>
            <a:pPr marL="342900" indent="-342900" algn="just">
              <a:lnSpc>
                <a:spcPct val="100000"/>
              </a:lnSpc>
              <a:spcBef>
                <a:spcPts val="0"/>
              </a:spcBef>
              <a:buNone/>
            </a:pPr>
            <a:r>
              <a:rPr lang="en-US" sz="2600" b="0" i="0" u="none" strike="noStrike" cap="none" dirty="0">
                <a:solidFill>
                  <a:schemeClr val="bg2"/>
                </a:solidFill>
                <a:latin typeface="Calibri" panose="020F0502020204030204" pitchFamily="34" charset="0"/>
                <a:ea typeface="Times New Roman"/>
                <a:cs typeface="Calibri" panose="020F0502020204030204" pitchFamily="34" charset="0"/>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6" name="TextBox 5"/>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36</a:t>
            </a:r>
            <a:endParaRPr lang="en-IN"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1417" y="1606730"/>
            <a:ext cx="5995852" cy="2468881"/>
          </a:xfrm>
          <a:prstGeom prst="rect">
            <a:avLst/>
          </a:prstGeom>
        </p:spPr>
      </p:pic>
    </p:spTree>
    <p:extLst>
      <p:ext uri="{BB962C8B-B14F-4D97-AF65-F5344CB8AC3E}">
        <p14:creationId xmlns:p14="http://schemas.microsoft.com/office/powerpoint/2010/main" val="32179637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1900A86-A15B-28B5-54CA-49F17AC3B9FE}"/>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1F095B4-BE95-F6C7-73C0-ED3F8AB0372C}"/>
              </a:ext>
            </a:extLst>
          </p:cNvPr>
          <p:cNvSpPr txBox="1"/>
          <p:nvPr/>
        </p:nvSpPr>
        <p:spPr>
          <a:xfrm>
            <a:off x="385500" y="2170166"/>
            <a:ext cx="8471559" cy="1200288"/>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8000" b="1" u="none" strike="noStrike" cap="none" dirty="0">
                <a:solidFill>
                  <a:srgbClr val="FF0000"/>
                </a:solidFill>
                <a:latin typeface="Vladimir Script" panose="03050402040407070305" pitchFamily="66" charset="0"/>
                <a:ea typeface="Calibri" panose="020F0502020204030204" pitchFamily="34" charset="0"/>
                <a:cs typeface="Calibri" panose="020F0502020204030204" pitchFamily="34" charset="0"/>
                <a:sym typeface="Arial"/>
              </a:rPr>
              <a:t>Thank You</a:t>
            </a:r>
          </a:p>
        </p:txBody>
      </p:sp>
      <p:sp>
        <p:nvSpPr>
          <p:cNvPr id="3" name="TextBox 2">
            <a:extLst>
              <a:ext uri="{FF2B5EF4-FFF2-40B4-BE49-F238E27FC236}">
                <a16:creationId xmlns:a16="http://schemas.microsoft.com/office/drawing/2014/main" id="{B12A2976-DC1D-EB73-7C31-7FA517DF4948}"/>
              </a:ext>
            </a:extLst>
          </p:cNvPr>
          <p:cNvSpPr txBox="1"/>
          <p:nvPr/>
        </p:nvSpPr>
        <p:spPr>
          <a:xfrm>
            <a:off x="385500" y="3948192"/>
            <a:ext cx="4572000" cy="707886"/>
          </a:xfrm>
          <a:prstGeom prst="rect">
            <a:avLst/>
          </a:prstGeom>
          <a:noFill/>
        </p:spPr>
        <p:txBody>
          <a:bodyPr wrap="square">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For queries</a:t>
            </a:r>
          </a:p>
          <a:p>
            <a:r>
              <a:rPr lang="en-US" sz="2000" dirty="0">
                <a:latin typeface="Calibri" panose="020F0502020204030204" pitchFamily="34" charset="0"/>
                <a:ea typeface="Calibri" panose="020F0502020204030204" pitchFamily="34" charset="0"/>
                <a:cs typeface="Calibri" panose="020F0502020204030204" pitchFamily="34" charset="0"/>
              </a:rPr>
              <a:t>Email: parveen.e13339@cumail.in</a:t>
            </a:r>
          </a:p>
        </p:txBody>
      </p:sp>
      <p:sp>
        <p:nvSpPr>
          <p:cNvPr id="5" name="TextBox 4"/>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37</a:t>
            </a:r>
            <a:endParaRPr lang="en-IN" dirty="0"/>
          </a:p>
        </p:txBody>
      </p:sp>
    </p:spTree>
    <p:extLst>
      <p:ext uri="{BB962C8B-B14F-4D97-AF65-F5344CB8AC3E}">
        <p14:creationId xmlns:p14="http://schemas.microsoft.com/office/powerpoint/2010/main" val="1786127203"/>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2701</TotalTime>
  <Words>3395</Words>
  <Application>Microsoft Office PowerPoint</Application>
  <PresentationFormat>On-screen Show (16:9)</PresentationFormat>
  <Paragraphs>290</Paragraphs>
  <Slides>38</Slides>
  <Notes>23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Times New Roman</vt:lpstr>
      <vt:lpstr>Cambria</vt:lpstr>
      <vt:lpstr>Arial Black</vt:lpstr>
      <vt:lpstr>Calibri</vt:lpstr>
      <vt:lpstr>Arial</vt:lpstr>
      <vt:lpstr>Lato</vt:lpstr>
      <vt:lpstr>Aptos</vt:lpstr>
      <vt:lpstr>Vladimir Script</vt:lpstr>
      <vt:lpstr>Streamline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Applications of BFS in Graphs</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Difference between BFS and DFS</vt:lpstr>
      <vt:lpstr>Difference between BFS and DFS</vt:lpstr>
      <vt:lpstr>Difference between BFS and DFS</vt:lpstr>
      <vt:lpstr>Heuristic Search Techniques in AI and Significance of Heuristic Search in AI </vt:lpstr>
      <vt:lpstr>Components of Heuristic Search</vt:lpstr>
      <vt:lpstr>Types of Heuristic Search Techniques</vt:lpstr>
      <vt:lpstr>Types of Heuristic Search Techniques</vt:lpstr>
      <vt:lpstr>Applications of Heuristic Search</vt:lpstr>
      <vt:lpstr>Advantages of Heuristic Search Techniques</vt:lpstr>
      <vt:lpstr>Limitations of Heuristic Search Techniques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Parveen kumar Saini</cp:lastModifiedBy>
  <cp:revision>272</cp:revision>
  <dcterms:modified xsi:type="dcterms:W3CDTF">2026-01-03T10:24:13Z</dcterms:modified>
</cp:coreProperties>
</file>