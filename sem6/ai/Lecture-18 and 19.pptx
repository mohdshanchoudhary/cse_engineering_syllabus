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83" r:id="rId3"/>
    <p:sldId id="284" r:id="rId4"/>
    <p:sldId id="346" r:id="rId5"/>
    <p:sldId id="401" r:id="rId6"/>
    <p:sldId id="403" r:id="rId7"/>
    <p:sldId id="402" r:id="rId8"/>
    <p:sldId id="387" r:id="rId9"/>
    <p:sldId id="388" r:id="rId10"/>
    <p:sldId id="418" r:id="rId11"/>
    <p:sldId id="384" r:id="rId12"/>
    <p:sldId id="404" r:id="rId13"/>
    <p:sldId id="386" r:id="rId14"/>
    <p:sldId id="405" r:id="rId15"/>
    <p:sldId id="261" r:id="rId16"/>
    <p:sldId id="262" r:id="rId17"/>
    <p:sldId id="406" r:id="rId18"/>
    <p:sldId id="265" r:id="rId19"/>
    <p:sldId id="266" r:id="rId20"/>
    <p:sldId id="398" r:id="rId21"/>
    <p:sldId id="420" r:id="rId22"/>
    <p:sldId id="421" r:id="rId23"/>
    <p:sldId id="422" r:id="rId24"/>
    <p:sldId id="269" r:id="rId25"/>
    <p:sldId id="423" r:id="rId26"/>
    <p:sldId id="424" r:id="rId27"/>
    <p:sldId id="271" r:id="rId28"/>
    <p:sldId id="419" r:id="rId29"/>
    <p:sldId id="425" r:id="rId30"/>
    <p:sldId id="416" r:id="rId31"/>
    <p:sldId id="287" r:id="rId32"/>
    <p:sldId id="288" r:id="rId33"/>
    <p:sldId id="300" r:id="rId34"/>
    <p:sldId id="301" r:id="rId35"/>
    <p:sldId id="307" r:id="rId36"/>
    <p:sldId id="305" r:id="rId37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39"/>
    </p:embeddedFont>
    <p:embeddedFont>
      <p:font typeface="Cambria" panose="02040503050406030204" pitchFamily="18" charset="0"/>
      <p:regular r:id="rId40"/>
      <p:bold r:id="rId41"/>
      <p:italic r:id="rId42"/>
      <p:boldItalic r:id="rId43"/>
    </p:embeddedFont>
    <p:embeddedFont>
      <p:font typeface="Lato" panose="020F0502020204030203" pitchFamily="34" charset="0"/>
      <p:regular r:id="rId44"/>
      <p:bold r:id="rId45"/>
      <p:italic r:id="rId46"/>
      <p:boldItalic r:id="rId47"/>
    </p:embeddedFont>
    <p:embeddedFont>
      <p:font typeface="Nunito" pitchFamily="2" charset="0"/>
      <p:regular r:id="rId48"/>
      <p:bold r:id="rId49"/>
      <p:italic r:id="rId50"/>
      <p:boldItalic r:id="rId51"/>
    </p:embeddedFont>
    <p:embeddedFont>
      <p:font typeface="Vladimir Script" panose="03050402040407070305" pitchFamily="66" charset="0"/>
      <p:regular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7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719" autoAdjust="0"/>
  </p:normalViewPr>
  <p:slideViewPr>
    <p:cSldViewPr snapToGrid="0">
      <p:cViewPr varScale="1">
        <p:scale>
          <a:sx n="94" d="100"/>
          <a:sy n="94" d="100"/>
        </p:scale>
        <p:origin x="1066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6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A372F58-B768-6479-9ED4-231ABFBAF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9F8A51-43DF-FAB8-9D31-F7DFABF9A2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FECEDFC-D3CA-4766-DF21-08B560A1F1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29919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91E8F2C-75C7-101D-EF07-268DB153A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A9A37B5-C172-0E61-4669-1089C7B060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77EA759-DB9F-43E9-D952-68F8DEF2F6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64936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D6185DD-C274-B352-83CE-D10F760D0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8DAB87B-2AA6-1553-3050-5B69A94627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04E2E68-13F5-EE94-3809-013AD8F724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5028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55562E9-51F3-8B39-59B6-2B54DDF56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26D14E9-B934-3687-C698-1A0AEE409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F62F7F3-4ADC-F218-92B4-A1B18038B3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3495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BB63D35-EB88-A04F-2DEE-71DA82B1D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058AA1D-DF23-4A33-0648-E19DDCCA16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52EFA2D-1F6A-3C95-E152-CA2BC40B1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4054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4AC8334-8435-597A-6005-640159069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66BDE4D-504A-E452-0434-80E8925704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63F824E-6753-EC86-B124-3B47586E72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9734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DB109B8-DAFB-AA3F-4C7B-BD4427EBF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152953F-2BFE-E964-74E2-C77324DA72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E97E621-D113-C3F1-AA70-BE1665D1D3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427261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5804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3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6667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DCB3726-0362-2FAF-4544-D653E80A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054C790-CB3A-86B2-E1FC-93F356669F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BC27911-813F-4265-92D1-B0A5189F1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23639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E3C6B5E-FCDB-9EF8-CC17-386914C3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9253D92-9448-ACDA-7653-E48E9D40B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0C9986F-9DA2-F02D-1CFE-06C0DD4719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65213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5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artificial-intelligence/artificial-intelligence-101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dsa/graph-data-structure-and-algorithms/" TargetMode="External"/><Relationship Id="rId5" Type="http://schemas.openxmlformats.org/officeDocument/2006/relationships/hyperlink" Target="https://www.geeksforgeeks.org/dsa/graph-theory-tutorial/" TargetMode="External"/><Relationship Id="rId4" Type="http://schemas.openxmlformats.org/officeDocument/2006/relationships/hyperlink" Target="https://www.geeksforgeeks.org/maths/mathematics-graph-theory-basics-set-1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artificial_intelligence/artificial_intelligence_overview.htm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59132" y="664368"/>
            <a:ext cx="8213400" cy="476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3200"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NAME-UIE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IN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PROGRAM NAME:-Bachelor of Engineering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SPECIALIZATION/ SEMESTER-6th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IN" sz="24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SUBJECT </a:t>
            </a:r>
            <a:r>
              <a:rPr lang="en-IN" sz="2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NAME:-Principles of Artificial Intelligence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(SUBJECT CODE-23CST-306)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No.2                 Chapter No.2                  Lecture No.18 and 19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:Graph Theory and Search Strategies in Artificial Intelligence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Name-</a:t>
            </a:r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Er.Parveen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kumar saini and </a:t>
            </a:r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E_Code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-13339  Designation-AP</a:t>
            </a:r>
          </a:p>
          <a:p>
            <a:pPr>
              <a:spcBef>
                <a:spcPts val="1120"/>
              </a:spcBef>
              <a:buSzPts val="3200"/>
            </a:pPr>
            <a:endParaRPr lang="en-US" sz="3200"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187779" y="1082770"/>
            <a:ext cx="8705797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Understand and explain fundamental graph theory concepts, including vertices, edges, paths, cycles, and different types of graphs.</a:t>
            </a: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Understanding the differentiate between data-driven (forward chaining) and goal-driven (backward chaining) search strategies used in artificial intelligence.</a:t>
            </a: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Understanding graph-based search algorithms such as BFS, DFS, and A* to solve real-world problems in computer science and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7B7C442-1162-E7EE-DA61-E33D8E4C9122}"/>
              </a:ext>
            </a:extLst>
          </p:cNvPr>
          <p:cNvGrpSpPr/>
          <p:nvPr/>
        </p:nvGrpSpPr>
        <p:grpSpPr>
          <a:xfrm>
            <a:off x="760020" y="218172"/>
            <a:ext cx="826522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E0F9992-62FC-4C63-BED6-091FF56DEF0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FBE6ABC-C3B9-AA73-42F9-036BD547E8E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Recap of Previous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427E39E-1443-8E67-323E-AC3515D4A144}"/>
              </a:ext>
            </a:extLst>
          </p:cNvPr>
          <p:cNvSpPr txBox="1"/>
          <p:nvPr/>
        </p:nvSpPr>
        <p:spPr>
          <a:xfrm>
            <a:off x="83127" y="1089514"/>
            <a:ext cx="8526397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90000"/>
              </a:lnSpc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“Problem Solving and Search Techniques in Artificial Intelligence”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21FBDEB-A913-C1B9-948B-6A35B30A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525DBEF-CA7B-47A3-92F8-3679D6387577}"/>
              </a:ext>
            </a:extLst>
          </p:cNvPr>
          <p:cNvGrpSpPr/>
          <p:nvPr/>
        </p:nvGrpSpPr>
        <p:grpSpPr>
          <a:xfrm>
            <a:off x="748144" y="218172"/>
            <a:ext cx="8277101" cy="613782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41BCD14-E6E6-1ADF-D1DD-D2A6AFA033C6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F1020CC-0566-0A52-43C0-3E230CEE54D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2000" b="1" dirty="0"/>
                <a:t>Introduction to Graph Theory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60BEAFEA-0E8E-56E7-C58A-8786E9B24727}"/>
              </a:ext>
            </a:extLst>
          </p:cNvPr>
          <p:cNvSpPr txBox="1"/>
          <p:nvPr/>
        </p:nvSpPr>
        <p:spPr>
          <a:xfrm>
            <a:off x="449704" y="960560"/>
            <a:ext cx="4609475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In many real-world situations, we often deal with a set of objects and the relationships between them. </a:t>
            </a: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For example, cities connected by roads, people linked through friendships, or computers connected in a network. </a:t>
            </a: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To study such relationships mathematically, we utilize graph theory.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7CCFEE-FB5C-2756-D387-5566C80C68A0}"/>
              </a:ext>
            </a:extLst>
          </p:cNvPr>
          <p:cNvSpPr txBox="1"/>
          <p:nvPr/>
        </p:nvSpPr>
        <p:spPr>
          <a:xfrm>
            <a:off x="5449423" y="4154971"/>
            <a:ext cx="3597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Figure-1 : Applications of graph theory in real life   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FEF5F2-9B19-7CFA-F900-4BB804E835F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C12422-1B4D-E991-D772-21D6183AFDD8}"/>
              </a:ext>
            </a:extLst>
          </p:cNvPr>
          <p:cNvSpPr/>
          <p:nvPr/>
        </p:nvSpPr>
        <p:spPr>
          <a:xfrm>
            <a:off x="97436" y="4222006"/>
            <a:ext cx="5464769" cy="79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buSzPct val="150000"/>
            </a:pPr>
            <a:r>
              <a:rPr lang="en-IN" b="1" i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/ Recommended Readings: </a:t>
            </a:r>
            <a:endParaRPr lang="en-IN" i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0000"/>
              </a:lnSpc>
              <a:buSzPct val="150000"/>
            </a:pPr>
            <a:r>
              <a:rPr lang="en-IN" i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https://www.geeksforgeeks.org/maths/mathematics-graph-theory-basics-set-1/</a:t>
            </a:r>
          </a:p>
        </p:txBody>
      </p:sp>
      <p:pic>
        <p:nvPicPr>
          <p:cNvPr id="2" name="Picture 1" descr="A diagram of a network&#10;&#10;AI-generated content may be incorrect.">
            <a:extLst>
              <a:ext uri="{FF2B5EF4-FFF2-40B4-BE49-F238E27FC236}">
                <a16:creationId xmlns:a16="http://schemas.microsoft.com/office/drawing/2014/main" id="{4DA19D41-D760-BB6C-5079-2B3012633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205" y="1069927"/>
            <a:ext cx="3132091" cy="276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34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0A9412B-860E-0607-B04F-01432778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D6F1BC58-1F2F-755C-B5E3-3B189793E5CC}"/>
              </a:ext>
            </a:extLst>
          </p:cNvPr>
          <p:cNvGrpSpPr/>
          <p:nvPr/>
        </p:nvGrpSpPr>
        <p:grpSpPr>
          <a:xfrm>
            <a:off x="748144" y="218172"/>
            <a:ext cx="8277101" cy="645196"/>
            <a:chOff x="0" y="6299"/>
            <a:chExt cx="5580934" cy="645196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D914C2D-01B0-AEE0-E401-45DAEACE34A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9726C3A-23F9-4005-AC22-A39192A18383}"/>
                </a:ext>
              </a:extLst>
            </p:cNvPr>
            <p:cNvSpPr txBox="1"/>
            <p:nvPr/>
          </p:nvSpPr>
          <p:spPr>
            <a:xfrm>
              <a:off x="21704" y="2503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2800" b="1" dirty="0"/>
                <a:t>Graph Theory 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D278B0E-6E20-9736-EFE8-6EB91635E8AD}"/>
              </a:ext>
            </a:extLst>
          </p:cNvPr>
          <p:cNvSpPr txBox="1"/>
          <p:nvPr/>
        </p:nvSpPr>
        <p:spPr>
          <a:xfrm>
            <a:off x="862315" y="1233768"/>
            <a:ext cx="7889235" cy="2496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Graph Theory is a branch of mathematics that deals with graphs—structures made up of </a:t>
            </a:r>
            <a:r>
              <a:rPr lang="en-IN" b="1" dirty="0"/>
              <a:t>vertices (points)</a:t>
            </a:r>
            <a:r>
              <a:rPr lang="en-IN" dirty="0"/>
              <a:t> and </a:t>
            </a:r>
            <a:r>
              <a:rPr lang="en-IN" b="1" dirty="0"/>
              <a:t>edges (lines)</a:t>
            </a:r>
            <a:r>
              <a:rPr lang="en-IN" dirty="0"/>
              <a:t>. These graphs help us model and solve problems in computer science, engineering, biology, logistics, and many other fields.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Definition of Graph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graph is a mathematical structure used to represent a set of objects and the connections between them: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objects are called vertices ( or nodes),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connections between them are called edges (or links).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i="1" dirty="0"/>
              <a:t>Nodes:</a:t>
            </a:r>
            <a:r>
              <a:rPr lang="en-IN" i="1" dirty="0"/>
              <a:t> A finite non-empty set of points.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i="1" dirty="0"/>
              <a:t>Edges:</a:t>
            </a:r>
            <a:r>
              <a:rPr lang="en-IN" i="1" dirty="0"/>
              <a:t> A set of pairs of vertices that represent the connections between them</a:t>
            </a:r>
            <a:endParaRPr lang="en-IN" dirty="0"/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144192-64DF-FDC5-7282-495276A210F7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152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0B0D13F-3DB6-7244-4CA3-B312C139F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AEDBE41-AE9B-68DF-2C90-18F8DD088375}"/>
              </a:ext>
            </a:extLst>
          </p:cNvPr>
          <p:cNvGrpSpPr/>
          <p:nvPr/>
        </p:nvGrpSpPr>
        <p:grpSpPr>
          <a:xfrm>
            <a:off x="748144" y="218172"/>
            <a:ext cx="8277101" cy="645196"/>
            <a:chOff x="0" y="6299"/>
            <a:chExt cx="5580934" cy="645196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3367A9D2-4563-3FD7-D2A9-3FA36E86D7D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EF58564-153C-37B9-EA1C-709DFE51EAE0}"/>
                </a:ext>
              </a:extLst>
            </p:cNvPr>
            <p:cNvSpPr txBox="1"/>
            <p:nvPr/>
          </p:nvSpPr>
          <p:spPr>
            <a:xfrm>
              <a:off x="21704" y="2503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2800" b="1" dirty="0"/>
                <a:t>Simple Graph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C78AF4A-13A0-A2B5-0B78-189846DAA866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5</a:t>
            </a:r>
            <a:endParaRPr lang="en-IN" dirty="0"/>
          </a:p>
        </p:txBody>
      </p:sp>
      <p:pic>
        <p:nvPicPr>
          <p:cNvPr id="2" name="Picture 1" descr="A diagram of a simple graph&#10;&#10;AI-generated content may be incorrect.">
            <a:extLst>
              <a:ext uri="{FF2B5EF4-FFF2-40B4-BE49-F238E27FC236}">
                <a16:creationId xmlns:a16="http://schemas.microsoft.com/office/drawing/2014/main" id="{F86005F5-1515-A056-CD22-BBBED5255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680" y="1274680"/>
            <a:ext cx="3967844" cy="29962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1936F5-9DAB-117F-DCF9-AF2EB90E1A96}"/>
              </a:ext>
            </a:extLst>
          </p:cNvPr>
          <p:cNvSpPr txBox="1"/>
          <p:nvPr/>
        </p:nvSpPr>
        <p:spPr>
          <a:xfrm>
            <a:off x="535404" y="1542247"/>
            <a:ext cx="4036596" cy="177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Formally: A graph G is defined as: G - (V, E)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Where: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 = a set of </a:t>
            </a:r>
            <a:r>
              <a:rPr lang="en-IN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vertices (or nodes)</a:t>
            </a: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representing objects.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 = a set of </a:t>
            </a:r>
            <a:r>
              <a:rPr lang="en-IN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edges (or links)</a:t>
            </a: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representing connections between pairs of vertices.</a:t>
            </a:r>
          </a:p>
        </p:txBody>
      </p:sp>
    </p:spTree>
    <p:extLst>
      <p:ext uri="{BB962C8B-B14F-4D97-AF65-F5344CB8AC3E}">
        <p14:creationId xmlns:p14="http://schemas.microsoft.com/office/powerpoint/2010/main" val="4190969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D0518D5-4570-AD1F-A950-7631E715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7B89310-7BB6-7D66-7184-8CE55C305E23}"/>
              </a:ext>
            </a:extLst>
          </p:cNvPr>
          <p:cNvGrpSpPr/>
          <p:nvPr/>
        </p:nvGrpSpPr>
        <p:grpSpPr>
          <a:xfrm>
            <a:off x="748144" y="218172"/>
            <a:ext cx="8277101" cy="645196"/>
            <a:chOff x="0" y="6299"/>
            <a:chExt cx="5580934" cy="645196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0FDA6A8C-F1FF-284F-C522-E23FB23B0D4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8A2DB8B-03B2-ED61-5639-21BF01D9F493}"/>
                </a:ext>
              </a:extLst>
            </p:cNvPr>
            <p:cNvSpPr txBox="1"/>
            <p:nvPr/>
          </p:nvSpPr>
          <p:spPr>
            <a:xfrm>
              <a:off x="21704" y="2503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2800" b="1" dirty="0"/>
                <a:t>Basic Concepts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52C7364-9F28-C96A-CF53-0B71FC935B8A}"/>
              </a:ext>
            </a:extLst>
          </p:cNvPr>
          <p:cNvSpPr txBox="1"/>
          <p:nvPr/>
        </p:nvSpPr>
        <p:spPr>
          <a:xfrm>
            <a:off x="862315" y="1391165"/>
            <a:ext cx="7889235" cy="1849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Below are the basic terminologies used in graph theory.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Vertex (Node):</a:t>
            </a:r>
            <a:r>
              <a:rPr lang="en-IN" dirty="0"/>
              <a:t> A fundamental element of a graph, representing an object, entity, or 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Edge (Link):</a:t>
            </a:r>
            <a:r>
              <a:rPr lang="en-IN" dirty="0"/>
              <a:t> A connection between two vertices, showing a relationship or pathway.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Adjacent Vertices:</a:t>
            </a:r>
            <a:r>
              <a:rPr lang="en-IN" dirty="0"/>
              <a:t> Two vertices that are directly connected by an 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Degree of a Vertex:</a:t>
            </a:r>
            <a:r>
              <a:rPr lang="en-IN" dirty="0"/>
              <a:t> The number of edges incident on a vertex.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 a </a:t>
            </a:r>
            <a:r>
              <a:rPr lang="en-IN" b="1" dirty="0"/>
              <a:t>directed graph</a:t>
            </a:r>
            <a:r>
              <a:rPr lang="en-IN" dirty="0"/>
              <a:t>, we distinguish between </a:t>
            </a:r>
            <a:r>
              <a:rPr lang="en-IN" b="1" dirty="0"/>
              <a:t>in-degree</a:t>
            </a:r>
            <a:r>
              <a:rPr lang="en-IN" dirty="0"/>
              <a:t> (incoming edges) and </a:t>
            </a:r>
            <a:r>
              <a:rPr lang="en-IN" b="1" dirty="0"/>
              <a:t>out-degree</a:t>
            </a:r>
            <a:r>
              <a:rPr lang="en-IN" dirty="0"/>
              <a:t> (outgoing edges).</a:t>
            </a: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7CA153-3554-9FBE-D628-0A54F153C05A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8909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72D2616-980D-F33A-6B06-350312E0D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F027BEB-287B-F914-06B5-0581FD7888D2}"/>
              </a:ext>
            </a:extLst>
          </p:cNvPr>
          <p:cNvGrpSpPr/>
          <p:nvPr/>
        </p:nvGrpSpPr>
        <p:grpSpPr>
          <a:xfrm>
            <a:off x="748144" y="218172"/>
            <a:ext cx="8277101" cy="645196"/>
            <a:chOff x="0" y="6299"/>
            <a:chExt cx="5580934" cy="645196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CFF82B2-5135-297D-24AA-1229BF00DB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0EDD6DA-2AD1-B60C-D90A-998AA7B39FB1}"/>
                </a:ext>
              </a:extLst>
            </p:cNvPr>
            <p:cNvSpPr txBox="1"/>
            <p:nvPr/>
          </p:nvSpPr>
          <p:spPr>
            <a:xfrm>
              <a:off x="21704" y="2503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2800" b="1" dirty="0"/>
                <a:t>Basic Concepts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19E52FF-989C-B7E0-C56A-29201433ADAB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7</a:t>
            </a:r>
            <a:endParaRPr lang="en-IN" dirty="0"/>
          </a:p>
        </p:txBody>
      </p:sp>
      <p:pic>
        <p:nvPicPr>
          <p:cNvPr id="2" name="Picture 1" descr="A diagram of a diagram&#10;&#10;AI-generated content may be incorrect.">
            <a:extLst>
              <a:ext uri="{FF2B5EF4-FFF2-40B4-BE49-F238E27FC236}">
                <a16:creationId xmlns:a16="http://schemas.microsoft.com/office/drawing/2014/main" id="{167FEAC9-0AB9-199A-74FD-00CEAA33E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844" y="1593737"/>
            <a:ext cx="3722830" cy="2324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CC3FDA-B006-D224-1A2F-51EE504019BE}"/>
              </a:ext>
            </a:extLst>
          </p:cNvPr>
          <p:cNvSpPr txBox="1"/>
          <p:nvPr/>
        </p:nvSpPr>
        <p:spPr>
          <a:xfrm>
            <a:off x="314694" y="1593737"/>
            <a:ext cx="457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Path:</a:t>
            </a:r>
            <a:r>
              <a:rPr lang="en-IN" dirty="0"/>
              <a:t> A sequence of vertices connected by edges, with no vertex repeated.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Cycle:</a:t>
            </a:r>
            <a:r>
              <a:rPr lang="en-IN" dirty="0"/>
              <a:t> A path that begins and ends at the same vertex, forming a closed loop.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Connected Graph:</a:t>
            </a:r>
            <a:r>
              <a:rPr lang="en-IN" dirty="0"/>
              <a:t> A graph in which there exists a path between every pair of vertices.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Subgraph:</a:t>
            </a:r>
            <a:r>
              <a:rPr lang="en-IN" dirty="0"/>
              <a:t> A smaller graph formed using a subset of the vertices and edges of a larger graph.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Loop:</a:t>
            </a:r>
            <a:r>
              <a:rPr lang="en-IN" dirty="0"/>
              <a:t> An edge that connects a vertex back to itself.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Parallel Edges:</a:t>
            </a:r>
            <a:r>
              <a:rPr lang="en-IN" dirty="0"/>
              <a:t> Two or more edges that connect the same pair of vertices.</a:t>
            </a:r>
          </a:p>
        </p:txBody>
      </p:sp>
    </p:spTree>
    <p:extLst>
      <p:ext uri="{BB962C8B-B14F-4D97-AF65-F5344CB8AC3E}">
        <p14:creationId xmlns:p14="http://schemas.microsoft.com/office/powerpoint/2010/main" val="548355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56E3BE-EF27-0E97-C065-C0AE4F57A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309B969E-C36E-9BE2-283A-20A6EFE89717}"/>
              </a:ext>
            </a:extLst>
          </p:cNvPr>
          <p:cNvGrpSpPr/>
          <p:nvPr/>
        </p:nvGrpSpPr>
        <p:grpSpPr>
          <a:xfrm>
            <a:off x="866899" y="305138"/>
            <a:ext cx="8277101" cy="733703"/>
            <a:chOff x="0" y="6299"/>
            <a:chExt cx="5580934" cy="733703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E65AA5D-0D67-C926-8487-755CE6EFC20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01CF71B-BB0F-FC6B-93FC-C7AD1F17CC92}"/>
                </a:ext>
              </a:extLst>
            </p:cNvPr>
            <p:cNvSpPr txBox="1"/>
            <p:nvPr/>
          </p:nvSpPr>
          <p:spPr>
            <a:xfrm>
              <a:off x="21704" y="28003"/>
              <a:ext cx="5250958" cy="711999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1900"/>
              </a:pPr>
              <a:r>
                <a:rPr lang="en-US" sz="1800" b="1" dirty="0"/>
                <a:t>Explanation of the image below: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124913F-DF52-D751-C4AE-820520A8179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8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BCC876-CDF1-7642-7872-ACF3B6182573}"/>
              </a:ext>
            </a:extLst>
          </p:cNvPr>
          <p:cNvSpPr txBox="1"/>
          <p:nvPr/>
        </p:nvSpPr>
        <p:spPr>
          <a:xfrm>
            <a:off x="77561" y="1324591"/>
            <a:ext cx="5253718" cy="243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Explanation of the image below:</a:t>
            </a:r>
            <a:endParaRPr lang="en-IN" dirty="0"/>
          </a:p>
          <a:p>
            <a:pPr lvl="0"/>
            <a:r>
              <a:rPr lang="en-IN" b="1" i="1" dirty="0"/>
              <a:t>Vertex (Node):</a:t>
            </a:r>
            <a:r>
              <a:rPr lang="en-IN" i="1" dirty="0"/>
              <a:t> The circles </a:t>
            </a:r>
            <a:r>
              <a:rPr lang="en-IN" i="1" dirty="0" err="1"/>
              <a:t>labeled</a:t>
            </a:r>
            <a:r>
              <a:rPr lang="en-IN" i="1" dirty="0"/>
              <a:t> in the graph.</a:t>
            </a:r>
            <a:br>
              <a:rPr lang="en-IN" i="1" dirty="0"/>
            </a:br>
            <a:r>
              <a:rPr lang="en-IN" i="1" dirty="0"/>
              <a:t>Example: 1, 2, 3, 4, 5, 6 are vertices.</a:t>
            </a:r>
            <a:endParaRPr lang="en-IN" dirty="0"/>
          </a:p>
          <a:p>
            <a:pPr lvl="0"/>
            <a:r>
              <a:rPr lang="en-IN" b="1" i="1" dirty="0"/>
              <a:t>Edge (Link):</a:t>
            </a:r>
            <a:r>
              <a:rPr lang="en-IN" i="1" dirty="0"/>
              <a:t> The lines connecting two vertices.</a:t>
            </a:r>
            <a:br>
              <a:rPr lang="en-IN" i="1" dirty="0"/>
            </a:br>
            <a:r>
              <a:rPr lang="en-IN" i="1" dirty="0"/>
              <a:t>Example: The line between vertex 3 and 5 is an edge.</a:t>
            </a:r>
            <a:endParaRPr lang="en-IN" dirty="0"/>
          </a:p>
          <a:p>
            <a:pPr lvl="0"/>
            <a:r>
              <a:rPr lang="en-IN" b="1" i="1" dirty="0"/>
              <a:t>Adjacent Vertices:</a:t>
            </a:r>
            <a:r>
              <a:rPr lang="en-IN" i="1" dirty="0"/>
              <a:t> Vertices that are directly connected by an edge.</a:t>
            </a:r>
            <a:br>
              <a:rPr lang="en-IN" i="1" dirty="0"/>
            </a:br>
            <a:r>
              <a:rPr lang="en-IN" i="1" dirty="0"/>
              <a:t>Example: 3 and 5 are adjacent because they share an edge.</a:t>
            </a:r>
            <a:endParaRPr lang="en-IN" dirty="0"/>
          </a:p>
          <a:p>
            <a:pPr lvl="0"/>
            <a:r>
              <a:rPr lang="en-IN" b="1" i="1" dirty="0"/>
              <a:t>Degree of a Vertex:</a:t>
            </a:r>
            <a:r>
              <a:rPr lang="en-IN" i="1" dirty="0"/>
              <a:t> The number of edges incident on a vertex.</a:t>
            </a:r>
            <a:br>
              <a:rPr lang="en-IN" i="1" dirty="0"/>
            </a:br>
            <a:r>
              <a:rPr lang="en-IN" i="1" dirty="0"/>
              <a:t>Example: Vertex 3 has degree 3 (connected to 1, 4, and 5).</a:t>
            </a:r>
            <a:endParaRPr lang="en-IN" dirty="0"/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diagram of a diagram&#10;&#10;AI-generated content may be incorrect.">
            <a:extLst>
              <a:ext uri="{FF2B5EF4-FFF2-40B4-BE49-F238E27FC236}">
                <a16:creationId xmlns:a16="http://schemas.microsoft.com/office/drawing/2014/main" id="{EB86B03D-7D80-9DD2-151A-EB8E65741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49" y="1208314"/>
            <a:ext cx="3257551" cy="270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816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F0D61C9-4997-9297-E8BB-6D6C0C9A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8B770B-6D87-3C70-D78C-74D1CCCD0686}"/>
              </a:ext>
            </a:extLst>
          </p:cNvPr>
          <p:cNvGrpSpPr/>
          <p:nvPr/>
        </p:nvGrpSpPr>
        <p:grpSpPr>
          <a:xfrm>
            <a:off x="866899" y="305138"/>
            <a:ext cx="8277101" cy="733703"/>
            <a:chOff x="0" y="6299"/>
            <a:chExt cx="5580934" cy="733703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3D6E493-BAAD-0A6B-CBE1-737B40C175B2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C8C3AF8-E996-6D9A-77F8-5EA74B889990}"/>
                </a:ext>
              </a:extLst>
            </p:cNvPr>
            <p:cNvSpPr txBox="1"/>
            <p:nvPr/>
          </p:nvSpPr>
          <p:spPr>
            <a:xfrm>
              <a:off x="21704" y="28003"/>
              <a:ext cx="5250958" cy="711999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1900"/>
              </a:pPr>
              <a:r>
                <a:rPr lang="en-US" sz="1800" b="1" dirty="0"/>
                <a:t>Explanation of the image below: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B015261-DE14-91D6-D033-976EE67864B4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9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FB398-52E7-1912-BEE2-CB92B85C551E}"/>
              </a:ext>
            </a:extLst>
          </p:cNvPr>
          <p:cNvSpPr txBox="1"/>
          <p:nvPr/>
        </p:nvSpPr>
        <p:spPr>
          <a:xfrm>
            <a:off x="77561" y="1324591"/>
            <a:ext cx="5253718" cy="243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Explanation of the image below:</a:t>
            </a:r>
            <a:endParaRPr lang="en-IN" dirty="0"/>
          </a:p>
          <a:p>
            <a:pPr lvl="0"/>
            <a:r>
              <a:rPr lang="en-IN" b="1" i="1" dirty="0"/>
              <a:t>Path:</a:t>
            </a:r>
            <a:r>
              <a:rPr lang="en-IN" i="1" dirty="0"/>
              <a:t> A sequence of vertices connected by edges.</a:t>
            </a:r>
            <a:br>
              <a:rPr lang="en-IN" i="1" dirty="0"/>
            </a:br>
            <a:r>
              <a:rPr lang="en-IN" i="1" dirty="0"/>
              <a:t>Example: One path is 5 → 3 → 1 → 2 → 6.</a:t>
            </a:r>
            <a:endParaRPr lang="en-IN" dirty="0"/>
          </a:p>
          <a:p>
            <a:pPr lvl="0"/>
            <a:r>
              <a:rPr lang="en-IN" b="1" i="1" dirty="0"/>
              <a:t>Cycle:</a:t>
            </a:r>
            <a:r>
              <a:rPr lang="en-IN" i="1" dirty="0"/>
              <a:t> A path that starts and ends at the same vertex, without repeating edges.</a:t>
            </a:r>
            <a:br>
              <a:rPr lang="en-IN" i="1" dirty="0"/>
            </a:br>
            <a:r>
              <a:rPr lang="en-IN" i="1" dirty="0"/>
              <a:t>Example: 1 → 3 → 4 → 2 → 1 forms a cycle.</a:t>
            </a:r>
            <a:endParaRPr lang="en-IN" dirty="0"/>
          </a:p>
          <a:p>
            <a:pPr lvl="0"/>
            <a:r>
              <a:rPr lang="en-IN" b="1" i="1" dirty="0"/>
              <a:t>Connected Graph:</a:t>
            </a:r>
            <a:r>
              <a:rPr lang="en-IN" i="1" dirty="0"/>
              <a:t> A graph where there is a path between every pair of vertices.</a:t>
            </a:r>
            <a:br>
              <a:rPr lang="en-IN" i="1" dirty="0"/>
            </a:br>
            <a:r>
              <a:rPr lang="en-IN" i="1" dirty="0"/>
              <a:t>Example: From vertex 5, we can reach vertex 6 via 5 → 3 → 2 → 6, so this graph is connected.</a:t>
            </a:r>
            <a:endParaRPr lang="en-IN" dirty="0"/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12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diagram of a diagram&#10;&#10;AI-generated content may be incorrect.">
            <a:extLst>
              <a:ext uri="{FF2B5EF4-FFF2-40B4-BE49-F238E27FC236}">
                <a16:creationId xmlns:a16="http://schemas.microsoft.com/office/drawing/2014/main" id="{1EAB9E6E-5800-B23D-684F-59CE89191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49" y="1208314"/>
            <a:ext cx="3257551" cy="270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43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136927" y="873310"/>
            <a:ext cx="7472597" cy="2990539"/>
          </a:xfrm>
        </p:spPr>
        <p:txBody>
          <a:bodyPr>
            <a:noAutofit/>
          </a:bodyPr>
          <a:lstStyle/>
          <a:p>
            <a:pPr fontAlgn="base">
              <a:buClr>
                <a:schemeClr val="bg2"/>
              </a:buClr>
            </a:pPr>
            <a:r>
              <a:rPr lang="en-IN" dirty="0">
                <a:solidFill>
                  <a:schemeClr val="bg2"/>
                </a:solidFill>
              </a:rPr>
              <a:t>Graphs are of two types based on the type of edge, these are:</a:t>
            </a:r>
          </a:p>
          <a:p>
            <a:pPr>
              <a:buClr>
                <a:schemeClr val="bg2"/>
              </a:buClr>
              <a:buSzPct val="100000"/>
              <a:buFont typeface="Cambria" panose="02040503050406030204" pitchFamily="18" charset="0"/>
              <a:buChar char="•"/>
            </a:pP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71550" y="206375"/>
            <a:ext cx="7258049" cy="857250"/>
          </a:xfrm>
          <a:prstGeom prst="rect">
            <a:avLst/>
          </a:prstGeom>
        </p:spPr>
        <p:txBody>
          <a:bodyPr/>
          <a:lstStyle/>
          <a:p>
            <a:pPr marL="76200" indent="0" algn="ctr">
              <a:buClr>
                <a:schemeClr val="bg2"/>
              </a:buClr>
              <a:buNone/>
            </a:pPr>
            <a:r>
              <a:rPr lang="en-US" sz="2800" b="1" dirty="0">
                <a:solidFill>
                  <a:schemeClr val="bg2"/>
                </a:solidFill>
              </a:rPr>
              <a:t>Types of Graphs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678B8-F295-642D-F3AF-B93D927A0909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10</a:t>
            </a:r>
            <a:endParaRPr lang="en-IN" dirty="0"/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1B1E177E-B3FF-8C43-93A1-21B97AE64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960" y="2031365"/>
            <a:ext cx="5731510" cy="2905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0C21D-0552-9012-25D3-51C9C8A59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47CD2-0C5D-EA84-F910-F12FB0D56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7002" y="885750"/>
            <a:ext cx="8001000" cy="3645429"/>
          </a:xfrm>
        </p:spPr>
        <p:txBody>
          <a:bodyPr>
            <a:noAutofit/>
          </a:bodyPr>
          <a:lstStyle/>
          <a:p>
            <a:pPr marL="76200" indent="0">
              <a:buClr>
                <a:schemeClr val="bg2"/>
              </a:buClr>
              <a:buNone/>
            </a:pPr>
            <a:r>
              <a:rPr lang="en-US" sz="1400" dirty="0">
                <a:solidFill>
                  <a:schemeClr val="bg2"/>
                </a:solidFill>
              </a:rPr>
              <a:t>Directed Graph</a:t>
            </a:r>
          </a:p>
          <a:p>
            <a:pPr marL="76200" indent="0">
              <a:buClr>
                <a:schemeClr val="bg2"/>
              </a:buClr>
              <a:buNone/>
            </a:pPr>
            <a:r>
              <a:rPr lang="en-US" sz="1400" dirty="0">
                <a:solidFill>
                  <a:schemeClr val="bg2"/>
                </a:solidFill>
              </a:rPr>
              <a:t>A graph in which the direction of the edge is defined for a particular node is a directed graph.</a:t>
            </a:r>
          </a:p>
          <a:p>
            <a:pPr marL="76200" indent="0">
              <a:buClr>
                <a:schemeClr val="bg2"/>
              </a:buClr>
              <a:buNone/>
            </a:pP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65836A-A354-EEE2-01C1-8F80695B19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7002" y="206375"/>
            <a:ext cx="7472597" cy="67937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Let's discuss the types in detail.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A1B12-138D-6772-7C4E-9EF531341E54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12</a:t>
            </a:r>
            <a:endParaRPr lang="en-IN" dirty="0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56B743B9-4E8F-B9F2-F39C-2B993FC8B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929" y="1967593"/>
            <a:ext cx="6376307" cy="247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18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9C685A-4F77-0B50-598A-449039E7A46A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12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D128B5-543F-B5E2-1362-36BBC59ABD75}"/>
              </a:ext>
            </a:extLst>
          </p:cNvPr>
          <p:cNvSpPr txBox="1"/>
          <p:nvPr/>
        </p:nvSpPr>
        <p:spPr>
          <a:xfrm>
            <a:off x="498021" y="760928"/>
            <a:ext cx="4572000" cy="362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285750" fontAlgn="base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00" b="1" kern="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Directed Acyclic: </a:t>
            </a:r>
            <a:r>
              <a:rPr lang="en-IN" sz="1400" kern="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a directed graph with no cycle. For a vertex ‘v’ in DAG, there is no directed edge starting and ending with vertex ‘v’. The arrows go in one direction only (Directed), and you can’t go in a circle or loop (Acyclic).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14350" indent="-285750" fontAlgn="base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00" b="1" kern="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Tree: </a:t>
            </a:r>
            <a:r>
              <a:rPr lang="en-IN" sz="1400" kern="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tree is just a restricted form of graph. That is, it is a DAG with a restriction that a child can have only one parent.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14350" indent="-285750" fontAlgn="base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00" b="1" kern="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Undirected Graph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14350" indent="-285750" fontAlgn="base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00" kern="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graph in which the direction of the edge is not defined. So if an edge exists between node ‘u’ and ‘v’, then there is a path from node ‘u’ to ‘v’ and vice versa.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diagram of a triangle with green circles and black letters&#10;&#10;AI-generated content may be incorrect.">
            <a:extLst>
              <a:ext uri="{FF2B5EF4-FFF2-40B4-BE49-F238E27FC236}">
                <a16:creationId xmlns:a16="http://schemas.microsoft.com/office/drawing/2014/main" id="{46D5E8F9-CDFF-94FF-21D4-53645242B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114" y="760928"/>
            <a:ext cx="3118757" cy="31905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A1FB58-40F8-7CFE-5925-DEA64B0A9EA2}"/>
              </a:ext>
            </a:extLst>
          </p:cNvPr>
          <p:cNvSpPr txBox="1"/>
          <p:nvPr/>
        </p:nvSpPr>
        <p:spPr>
          <a:xfrm>
            <a:off x="2310492" y="13215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kern="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Directed Acyclic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D90E-E827-E2C8-BB3F-672C79EDF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90FB-7514-ED7B-7ED1-D17CE4D851E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7002" y="206375"/>
            <a:ext cx="7472597" cy="679375"/>
          </a:xfrm>
          <a:prstGeom prst="rect">
            <a:avLst/>
          </a:prstGeom>
        </p:spPr>
        <p:txBody>
          <a:bodyPr/>
          <a:lstStyle/>
          <a:p>
            <a:pPr algn="ctr"/>
            <a:br>
              <a:rPr lang="en-US" sz="2400" b="1" dirty="0">
                <a:solidFill>
                  <a:schemeClr val="bg2"/>
                </a:solidFill>
              </a:rPr>
            </a:br>
            <a:endParaRPr lang="en-US" sz="2400" b="1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329153-FC47-78F3-3C99-4C1A62C9C5EB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13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5AA9B-0809-5B8C-A120-CF03E50607AE}"/>
              </a:ext>
            </a:extLst>
          </p:cNvPr>
          <p:cNvSpPr txBox="1"/>
          <p:nvPr/>
        </p:nvSpPr>
        <p:spPr>
          <a:xfrm>
            <a:off x="0" y="1221394"/>
            <a:ext cx="4572000" cy="3059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fontAlgn="base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b="1" kern="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Connected graph:</a:t>
            </a:r>
            <a:r>
              <a:rPr lang="en-IN" sz="1400" kern="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 graph is connected when there is a path between every pair of vertices. In a connected graph, there is no unreachable node.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 fontAlgn="base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b="1" kern="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graph: </a:t>
            </a:r>
            <a:r>
              <a:rPr lang="en-IN" sz="1400" kern="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graph in which each pair of graph vertices is connected by an edge. In other words, every node ‘u’ is adjacent to every other node ‘v’ in graph ‘G’. A complete graph would have n(n-1)/2 edges.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 fontAlgn="base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b="1" kern="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Biconnected graph:</a:t>
            </a:r>
            <a:r>
              <a:rPr lang="en-IN" sz="1400" kern="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 connected graph that cannot be broken down into any further pieces by the deletion of any vertex. It is a graph with no articulation point. 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diagram of a triangle with green circles and black letters&#10;&#10;AI-generated content may be incorrect.">
            <a:extLst>
              <a:ext uri="{FF2B5EF4-FFF2-40B4-BE49-F238E27FC236}">
                <a16:creationId xmlns:a16="http://schemas.microsoft.com/office/drawing/2014/main" id="{EB1AF3BF-6373-0F35-6FCE-9BCEE33F2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279" y="1221394"/>
            <a:ext cx="3118757" cy="31905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B85C0F-E441-CF96-6E97-39FE9E415853}"/>
              </a:ext>
            </a:extLst>
          </p:cNvPr>
          <p:cNvSpPr txBox="1"/>
          <p:nvPr/>
        </p:nvSpPr>
        <p:spPr>
          <a:xfrm>
            <a:off x="2310492" y="13215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spc="1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Graph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562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8524" y="1134089"/>
            <a:ext cx="8001000" cy="3803036"/>
          </a:xfrm>
        </p:spPr>
        <p:txBody>
          <a:bodyPr>
            <a:noAutofit/>
          </a:bodyPr>
          <a:lstStyle/>
          <a:p>
            <a:pPr marL="76200" indent="0">
              <a:buClr>
                <a:schemeClr val="bg2"/>
              </a:buClr>
              <a:buNone/>
            </a:pPr>
            <a:r>
              <a:rPr lang="en-US" sz="1600" b="1" dirty="0">
                <a:solidFill>
                  <a:schemeClr val="bg2"/>
                </a:solidFill>
              </a:rPr>
              <a:t>1. Regular Graph: </a:t>
            </a:r>
            <a:r>
              <a:rPr lang="en-US" sz="1600" dirty="0">
                <a:solidFill>
                  <a:schemeClr val="bg2"/>
                </a:solidFill>
              </a:rPr>
              <a:t>A graph in which every vertex x has the same/equal degree. A K-regular graph means every vertex has k edges. Every complete graph </a:t>
            </a:r>
            <a:r>
              <a:rPr lang="en-US" sz="1600" dirty="0" err="1">
                <a:solidFill>
                  <a:schemeClr val="bg2"/>
                </a:solidFill>
              </a:rPr>
              <a:t>Kn</a:t>
            </a:r>
            <a:r>
              <a:rPr lang="en-US" sz="1600" dirty="0">
                <a:solidFill>
                  <a:schemeClr val="bg2"/>
                </a:solidFill>
              </a:rPr>
              <a:t> will have (n-1)-regular graph, which means the degree is n-1.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50550" y="206375"/>
            <a:ext cx="7479050" cy="69303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dirty="0"/>
              <a:t>Some Important Graphs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B24B5-C0C9-46F0-B216-82434DD05B40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14</a:t>
            </a:r>
            <a:endParaRPr lang="en-IN" dirty="0"/>
          </a:p>
        </p:txBody>
      </p:sp>
      <p:pic>
        <p:nvPicPr>
          <p:cNvPr id="5" name="Picture 4" descr="A diagram of a square and a triangle&#10;&#10;AI-generated content may be incorrect.">
            <a:extLst>
              <a:ext uri="{FF2B5EF4-FFF2-40B4-BE49-F238E27FC236}">
                <a16:creationId xmlns:a16="http://schemas.microsoft.com/office/drawing/2014/main" id="{BE80F424-F936-1374-29ED-B17C5297B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054" y="2422616"/>
            <a:ext cx="5615940" cy="18821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914401" y="885750"/>
            <a:ext cx="7315200" cy="3639756"/>
          </a:xfrm>
        </p:spPr>
        <p:txBody>
          <a:bodyPr>
            <a:noAutofit/>
          </a:bodyPr>
          <a:lstStyle/>
          <a:p>
            <a:pPr marL="76200" indent="0">
              <a:buClr>
                <a:schemeClr val="bg2"/>
              </a:buClr>
              <a:buNone/>
            </a:pPr>
            <a:r>
              <a:rPr lang="en-US" sz="1800" dirty="0">
                <a:solidFill>
                  <a:schemeClr val="bg2"/>
                </a:solidFill>
              </a:rPr>
              <a:t>2</a:t>
            </a:r>
            <a:r>
              <a:rPr lang="en-US" sz="1800" b="1" dirty="0">
                <a:solidFill>
                  <a:schemeClr val="bg2"/>
                </a:solidFill>
              </a:rPr>
              <a:t>. Bipartite Graph: </a:t>
            </a:r>
            <a:r>
              <a:rPr lang="en-US" sz="1800" dirty="0">
                <a:solidFill>
                  <a:schemeClr val="bg2"/>
                </a:solidFill>
              </a:rPr>
              <a:t>It is a graph G in which the vertex set can be partitioned into two subsets U and V such that each edge of G has one end in U and another end point in V.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5800" y="206375"/>
            <a:ext cx="7543800" cy="67937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IN" sz="2800" b="1" dirty="0"/>
              <a:t>Bipartite Graph: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F10B0E-67EA-14A2-5B4D-6AD61B5E2BCC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15</a:t>
            </a:r>
            <a:endParaRPr lang="en-IN" dirty="0"/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ADAE1B29-8C46-BD9E-1299-187DA28AA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212" y="1988185"/>
            <a:ext cx="4785360" cy="29489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D29F-C619-DD59-74D6-B84EF4B7A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D88FA-B610-A4EE-1A90-2CBABBFD8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038" y="1132418"/>
            <a:ext cx="5486398" cy="3639756"/>
          </a:xfrm>
        </p:spPr>
        <p:txBody>
          <a:bodyPr>
            <a:noAutofit/>
          </a:bodyPr>
          <a:lstStyle/>
          <a:p>
            <a:pPr marL="76200" indent="0">
              <a:buClr>
                <a:schemeClr val="bg2"/>
              </a:buClr>
              <a:buNone/>
            </a:pPr>
            <a:r>
              <a:rPr lang="en-US" sz="1800" b="1" dirty="0">
                <a:solidFill>
                  <a:schemeClr val="bg2"/>
                </a:solidFill>
              </a:rPr>
              <a:t>3. Complete Bipartite graph: </a:t>
            </a:r>
            <a:r>
              <a:rPr lang="en-US" sz="1800" dirty="0">
                <a:solidFill>
                  <a:schemeClr val="bg2"/>
                </a:solidFill>
              </a:rPr>
              <a:t>It is a simple graph with a vertex set partitioned into two subsets, u and w.</a:t>
            </a:r>
          </a:p>
          <a:p>
            <a:pPr marL="76200" indent="0">
              <a:buClr>
                <a:schemeClr val="bg2"/>
              </a:buClr>
              <a:buNone/>
            </a:pPr>
            <a:r>
              <a:rPr lang="en-US" sz="1800" dirty="0">
                <a:solidFill>
                  <a:schemeClr val="bg2"/>
                </a:solidFill>
              </a:rPr>
              <a:t>U = {v1, v2 , v3, ..., </a:t>
            </a:r>
            <a:r>
              <a:rPr lang="en-US" sz="1800" dirty="0" err="1">
                <a:solidFill>
                  <a:schemeClr val="bg2"/>
                </a:solidFill>
              </a:rPr>
              <a:t>vm</a:t>
            </a:r>
            <a:r>
              <a:rPr lang="en-US" sz="1800" dirty="0">
                <a:solidFill>
                  <a:schemeClr val="bg2"/>
                </a:solidFill>
              </a:rPr>
              <a:t>} and W = {w1, w2, w3, ..., </a:t>
            </a:r>
            <a:r>
              <a:rPr lang="en-US" sz="1800" dirty="0" err="1">
                <a:solidFill>
                  <a:schemeClr val="bg2"/>
                </a:solidFill>
              </a:rPr>
              <a:t>wn</a:t>
            </a:r>
            <a:r>
              <a:rPr lang="en-US" sz="1800" dirty="0">
                <a:solidFill>
                  <a:schemeClr val="bg2"/>
                </a:solidFill>
              </a:rPr>
              <a:t>}</a:t>
            </a:r>
          </a:p>
          <a:p>
            <a:pPr marL="76200" indent="0">
              <a:buClr>
                <a:schemeClr val="bg2"/>
              </a:buClr>
              <a:buNone/>
            </a:pPr>
            <a:r>
              <a:rPr lang="en-US" sz="1800" dirty="0">
                <a:solidFill>
                  <a:schemeClr val="bg2"/>
                </a:solidFill>
              </a:rPr>
              <a:t>The elements in these sets are the vertices.</a:t>
            </a:r>
          </a:p>
          <a:p>
            <a:pPr marL="76200" indent="0">
              <a:buClr>
                <a:schemeClr val="bg2"/>
              </a:buClr>
              <a:buNone/>
            </a:pPr>
            <a:r>
              <a:rPr lang="en-US" sz="1800" dirty="0">
                <a:solidFill>
                  <a:schemeClr val="bg2"/>
                </a:solidFill>
              </a:rPr>
              <a:t>1.There is an edge from each vi to each </a:t>
            </a:r>
            <a:r>
              <a:rPr lang="en-US" sz="1800" dirty="0" err="1">
                <a:solidFill>
                  <a:schemeClr val="bg2"/>
                </a:solidFill>
              </a:rPr>
              <a:t>wj</a:t>
            </a:r>
            <a:r>
              <a:rPr lang="en-US" sz="1800" dirty="0">
                <a:solidFill>
                  <a:schemeClr val="bg2"/>
                </a:solidFill>
              </a:rPr>
              <a:t>.</a:t>
            </a:r>
          </a:p>
          <a:p>
            <a:pPr marL="76200" indent="0">
              <a:buClr>
                <a:schemeClr val="bg2"/>
              </a:buClr>
              <a:buNone/>
            </a:pPr>
            <a:r>
              <a:rPr lang="en-US" sz="1800" dirty="0">
                <a:solidFill>
                  <a:schemeClr val="bg2"/>
                </a:solidFill>
              </a:rPr>
              <a:t>2.There is no self-loop.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1EC6A1-D221-B1E5-65E7-A9A3610C64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36168" y="206375"/>
            <a:ext cx="7493431" cy="67937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2"/>
                </a:solidFill>
              </a:rPr>
              <a:t>Complete Bipartite graph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F9A56-82D9-EB9B-E078-E3B4210FBD5D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16</a:t>
            </a:r>
            <a:endParaRPr lang="en-IN" dirty="0"/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9ADBE014-CB1F-AC94-E763-2854E5D72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386" y="1559379"/>
            <a:ext cx="3457576" cy="321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929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914400" y="775607"/>
            <a:ext cx="8001000" cy="3935186"/>
          </a:xfrm>
        </p:spPr>
        <p:txBody>
          <a:bodyPr>
            <a:noAutofit/>
          </a:bodyPr>
          <a:lstStyle/>
          <a:p>
            <a:pPr marL="76200" indent="0">
              <a:buClr>
                <a:schemeClr val="bg2"/>
              </a:buClr>
              <a:buNone/>
            </a:pPr>
            <a:r>
              <a:rPr lang="en-US" sz="1200" b="1" dirty="0">
                <a:solidFill>
                  <a:schemeClr val="bg2"/>
                </a:solidFill>
              </a:rPr>
              <a:t>4. Cycle graph: </a:t>
            </a:r>
            <a:r>
              <a:rPr lang="en-US" sz="1200" dirty="0">
                <a:solidFill>
                  <a:schemeClr val="bg2"/>
                </a:solidFill>
              </a:rPr>
              <a:t>It is a connected graph where each vertex has degree 2, forming a single closed loop without any </a:t>
            </a:r>
            <a:r>
              <a:rPr lang="en-US" sz="1400" dirty="0">
                <a:solidFill>
                  <a:schemeClr val="bg2"/>
                </a:solidFill>
              </a:rPr>
              <a:t>branches or endpoints. This graph contains at least 3 vertices. Suppose a graph has the following vertices:</a:t>
            </a:r>
          </a:p>
          <a:p>
            <a:pPr marL="76200" indent="0">
              <a:buClr>
                <a:schemeClr val="bg2"/>
              </a:buClr>
              <a:buNone/>
            </a:pPr>
            <a:r>
              <a:rPr lang="en-US" sz="1400" dirty="0">
                <a:solidFill>
                  <a:schemeClr val="bg2"/>
                </a:solidFill>
              </a:rPr>
              <a:t>v1, v2, v3, ..., </a:t>
            </a:r>
            <a:r>
              <a:rPr lang="en-US" sz="1400" dirty="0" err="1">
                <a:solidFill>
                  <a:schemeClr val="bg2"/>
                </a:solidFill>
              </a:rPr>
              <a:t>vn</a:t>
            </a:r>
            <a:r>
              <a:rPr lang="en-US" sz="1400" dirty="0">
                <a:solidFill>
                  <a:schemeClr val="bg2"/>
                </a:solidFill>
              </a:rPr>
              <a:t> </a:t>
            </a:r>
          </a:p>
          <a:p>
            <a:pPr marL="76200" indent="0">
              <a:buClr>
                <a:schemeClr val="bg2"/>
              </a:buClr>
              <a:buNone/>
            </a:pPr>
            <a:r>
              <a:rPr lang="en-US" sz="1400" dirty="0">
                <a:solidFill>
                  <a:schemeClr val="bg2"/>
                </a:solidFill>
              </a:rPr>
              <a:t>This graph will be a cycle graph if it has edges as follows:</a:t>
            </a:r>
          </a:p>
          <a:p>
            <a:pPr marL="76200" indent="0">
              <a:buClr>
                <a:schemeClr val="bg2"/>
              </a:buClr>
              <a:buNone/>
            </a:pPr>
            <a:r>
              <a:rPr lang="en-US" sz="1400" dirty="0">
                <a:solidFill>
                  <a:schemeClr val="bg2"/>
                </a:solidFill>
              </a:rPr>
              <a:t>(v1,v2), (v2,v3), (v3,v4), ..., (vn-1,vn), (vn,v1).</a:t>
            </a:r>
          </a:p>
          <a:p>
            <a:pPr marL="76200" indent="0">
              <a:buClr>
                <a:schemeClr val="bg2"/>
              </a:buClr>
              <a:buNone/>
            </a:pP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84142" y="206375"/>
            <a:ext cx="7245458" cy="69986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dirty="0"/>
              <a:t>Cycle graph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C5293-E9D4-6756-2DF4-E4370C2925B2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17</a:t>
            </a:r>
            <a:endParaRPr lang="en-IN" dirty="0"/>
          </a:p>
        </p:txBody>
      </p:sp>
      <p:pic>
        <p:nvPicPr>
          <p:cNvPr id="5" name="Picture 4" descr="A diagram of a rectangle with a number of objects&#10;&#10;AI-generated content may be incorrect.">
            <a:extLst>
              <a:ext uri="{FF2B5EF4-FFF2-40B4-BE49-F238E27FC236}">
                <a16:creationId xmlns:a16="http://schemas.microsoft.com/office/drawing/2014/main" id="{B2F770C8-E1FC-381B-FABC-E3A918A86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274" y="2743200"/>
            <a:ext cx="5731510" cy="22726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914400" y="996043"/>
            <a:ext cx="8001000" cy="3690407"/>
          </a:xfrm>
        </p:spPr>
        <p:txBody>
          <a:bodyPr>
            <a:normAutofit fontScale="85000" lnSpcReduction="20000"/>
          </a:bodyPr>
          <a:lstStyle/>
          <a:p>
            <a:pPr marL="76200" indent="0">
              <a:buClr>
                <a:schemeClr val="bg2"/>
              </a:buClr>
              <a:buNone/>
            </a:pPr>
            <a:r>
              <a:rPr lang="en-US" b="1" dirty="0">
                <a:solidFill>
                  <a:schemeClr val="bg2"/>
                </a:solidFill>
              </a:rPr>
              <a:t>The major applications of Graph Theory in Computer Science are:</a:t>
            </a:r>
          </a:p>
          <a:p>
            <a:pPr marL="76200" indent="0">
              <a:buClr>
                <a:schemeClr val="bg2"/>
              </a:buClr>
              <a:buNone/>
            </a:pPr>
            <a:r>
              <a:rPr lang="en-US" dirty="0">
                <a:solidFill>
                  <a:schemeClr val="bg2"/>
                </a:solidFill>
              </a:rPr>
              <a:t>•</a:t>
            </a:r>
            <a:r>
              <a:rPr lang="en-US" b="1" dirty="0">
                <a:solidFill>
                  <a:schemeClr val="bg2"/>
                </a:solidFill>
              </a:rPr>
              <a:t>Computer Networks </a:t>
            </a:r>
            <a:r>
              <a:rPr lang="en-US" dirty="0">
                <a:solidFill>
                  <a:schemeClr val="bg2"/>
                </a:solidFill>
              </a:rPr>
              <a:t>– Graphs help in finding the shortest and most efficient path for data transfer between computers.</a:t>
            </a:r>
          </a:p>
          <a:p>
            <a:pPr marL="76200" indent="0">
              <a:buClr>
                <a:schemeClr val="bg2"/>
              </a:buClr>
              <a:buNone/>
            </a:pPr>
            <a:r>
              <a:rPr lang="en-US" dirty="0">
                <a:solidFill>
                  <a:schemeClr val="bg2"/>
                </a:solidFill>
              </a:rPr>
              <a:t>•</a:t>
            </a:r>
            <a:r>
              <a:rPr lang="en-US" b="1" dirty="0">
                <a:solidFill>
                  <a:schemeClr val="bg2"/>
                </a:solidFill>
              </a:rPr>
              <a:t>Social Networks </a:t>
            </a:r>
            <a:r>
              <a:rPr lang="en-US" dirty="0">
                <a:solidFill>
                  <a:schemeClr val="bg2"/>
                </a:solidFill>
              </a:rPr>
              <a:t>– People are nodes, and connections are edges. Graphs are used for friend suggestions and finding influencers.</a:t>
            </a:r>
          </a:p>
          <a:p>
            <a:pPr marL="76200" indent="0">
              <a:buClr>
                <a:schemeClr val="bg2"/>
              </a:buClr>
              <a:buNone/>
            </a:pPr>
            <a:r>
              <a:rPr lang="en-US" dirty="0">
                <a:solidFill>
                  <a:schemeClr val="bg2"/>
                </a:solidFill>
              </a:rPr>
              <a:t>•</a:t>
            </a:r>
            <a:r>
              <a:rPr lang="en-US" b="1" dirty="0">
                <a:solidFill>
                  <a:schemeClr val="bg2"/>
                </a:solidFill>
              </a:rPr>
              <a:t>Operating Systems </a:t>
            </a:r>
            <a:r>
              <a:rPr lang="en-US" dirty="0">
                <a:solidFill>
                  <a:schemeClr val="bg2"/>
                </a:solidFill>
              </a:rPr>
              <a:t>– Resource Allocation Graphs detect deadlocks by checking for cycles.</a:t>
            </a:r>
          </a:p>
          <a:p>
            <a:pPr marL="76200" indent="0">
              <a:buClr>
                <a:schemeClr val="bg2"/>
              </a:buClr>
              <a:buNone/>
            </a:pPr>
            <a:r>
              <a:rPr lang="en-US" dirty="0">
                <a:solidFill>
                  <a:schemeClr val="bg2"/>
                </a:solidFill>
              </a:rPr>
              <a:t>•</a:t>
            </a:r>
            <a:r>
              <a:rPr lang="en-US" b="1" dirty="0">
                <a:solidFill>
                  <a:schemeClr val="bg2"/>
                </a:solidFill>
              </a:rPr>
              <a:t>Compiler Design </a:t>
            </a:r>
            <a:r>
              <a:rPr lang="en-US" dirty="0">
                <a:solidFill>
                  <a:schemeClr val="bg2"/>
                </a:solidFill>
              </a:rPr>
              <a:t>– Control Flow Graphs show program execution flow, and graph coloring is used for register allocation.</a:t>
            </a:r>
          </a:p>
          <a:p>
            <a:pPr marL="76200" indent="0">
              <a:buClr>
                <a:schemeClr val="bg2"/>
              </a:buClr>
              <a:buNone/>
            </a:pPr>
            <a:r>
              <a:rPr lang="en-US" dirty="0">
                <a:solidFill>
                  <a:schemeClr val="bg2"/>
                </a:solidFill>
              </a:rPr>
              <a:t>•</a:t>
            </a:r>
            <a:r>
              <a:rPr lang="en-US" b="1" dirty="0">
                <a:solidFill>
                  <a:schemeClr val="bg2"/>
                </a:solidFill>
              </a:rPr>
              <a:t>Search Engines (Web Graphs) </a:t>
            </a:r>
            <a:r>
              <a:rPr lang="en-US" dirty="0">
                <a:solidFill>
                  <a:schemeClr val="bg2"/>
                </a:solidFill>
              </a:rPr>
              <a:t>– The internet is a huge directed graph of web pages. PageRank uses graph theory to rank search results.</a:t>
            </a:r>
          </a:p>
          <a:p>
            <a:pPr marL="76200" indent="0">
              <a:buClr>
                <a:schemeClr val="bg2"/>
              </a:buClr>
              <a:buNone/>
            </a:pP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06510" y="206375"/>
            <a:ext cx="6723089" cy="857250"/>
          </a:xfrm>
          <a:prstGeom prst="rect">
            <a:avLst/>
          </a:prstGeom>
        </p:spPr>
        <p:txBody>
          <a:bodyPr/>
          <a:lstStyle/>
          <a:p>
            <a:pPr marL="76200" indent="0">
              <a:buClr>
                <a:schemeClr val="bg2"/>
              </a:buClr>
              <a:buNone/>
            </a:pPr>
            <a:r>
              <a:rPr lang="en-US" sz="2800" b="1" dirty="0">
                <a:solidFill>
                  <a:schemeClr val="bg2"/>
                </a:solidFill>
              </a:rPr>
              <a:t>Applications of Graph Theory in 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B7A02-8FB2-8A6B-7A15-CB91D14888FC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18</a:t>
            </a: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33827-1948-FB82-5AB6-7D32BC174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6AEFD-F868-71A7-D656-419B9B0CF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8001000" cy="3772050"/>
          </a:xfrm>
        </p:spPr>
        <p:txBody>
          <a:bodyPr>
            <a:normAutofit/>
          </a:bodyPr>
          <a:lstStyle/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Data-driven search in AI begins from the initial state and explores possible states forward until the goal state is reached, relying on available data to guide the process. 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This approach is also known as forward chaining and is commonly used in scenarios with many possible states, such as pathfinding in navigation systems. 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Algorithms like Breadth-First Search (BFS) and Depth-First Search (DFS) are typical examples of data-driven search methods. 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While BFS guarantees the shortest path in unweighted graphs, it requires high memory usage. 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DFS, on the other hand, is memory-efficient but does not guarantee the shortest path and may get stuck in infinite loops if cycles exist.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F9EA06-C413-C67F-7D6D-9654D2FDB41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6510" y="206375"/>
            <a:ext cx="6723089" cy="8572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dirty="0"/>
              <a:t>Data-driven search in AI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9B933B-A8F0-DFB9-A8D7-D2A70174FF11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19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109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DC975-6A25-72E1-88E1-5CBB14FAE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43068-9EC9-B9B0-9B78-BDBBE771B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8001000" cy="3772050"/>
          </a:xfrm>
        </p:spPr>
        <p:txBody>
          <a:bodyPr>
            <a:normAutofit/>
          </a:bodyPr>
          <a:lstStyle/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Data-driven search in artificial intelligence leverages machine learning and natural language processing to deliver more accurate, personalized, and context-aware results by understanding user intent and analyzing vast datasets. 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This approach enables search engines to move beyond simple keyword matching, offering smarter responses to complex, conversational queries and integrating features like voice and image search.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80CE70-F2D3-CF7F-3ABD-9E7132FDB8B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6510" y="206375"/>
            <a:ext cx="6723089" cy="8572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dirty="0"/>
              <a:t>Data-driven search in AI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CDD33-3B7D-BFD4-B61B-5A0657541AD9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142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03F28-6851-B2E4-2330-450D3130E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43793-CCCB-5C2F-0073-0CC6C5C66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8001000" cy="3772050"/>
          </a:xfrm>
        </p:spPr>
        <p:txBody>
          <a:bodyPr>
            <a:normAutofit/>
          </a:bodyPr>
          <a:lstStyle/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AI-powered search engines use advanced technologies such as machine learning and natural language processing (NLP) to interpret user queries, identify context, and deliver relevant results tailored to individual needs.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These systems analyze patterns in user behavior, content quality, and engagement metrics to rank web pages, ensuring that high-value, trustworthy content appears first.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Features like Google’s MUM (Multitask Unified Model) allow the processing of information across text, images, and videos to answer multi-layered questions, such as comparing hiking preparations for different mountains based on prior experience.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74F01-E01E-FB87-F605-160F3AB4E64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4400" y="85987"/>
            <a:ext cx="7315199" cy="977638"/>
          </a:xfrm>
          <a:prstGeom prst="rect">
            <a:avLst/>
          </a:prstGeom>
        </p:spPr>
        <p:txBody>
          <a:bodyPr/>
          <a:lstStyle/>
          <a:p>
            <a:pPr algn="ctr">
              <a:buClr>
                <a:schemeClr val="bg2"/>
              </a:buClr>
            </a:pPr>
            <a:r>
              <a:rPr lang="en-US" sz="2800" b="1" dirty="0">
                <a:solidFill>
                  <a:schemeClr val="bg2"/>
                </a:solidFill>
              </a:rPr>
              <a:t>Role of Artificial Intelligence in Modern Search Engines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9BD69-B30C-6CFA-C53C-02D4D85230B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5411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D346-A08B-FECE-8117-C7A6B25A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54BEF-3B14-22B5-9A38-53F2CC15B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8001000" cy="3772050"/>
          </a:xfrm>
        </p:spPr>
        <p:txBody>
          <a:bodyPr>
            <a:normAutofit/>
          </a:bodyPr>
          <a:lstStyle/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AI also enhances search through visual and voice recognition, enabling users to upload images or ask spoken questions to receive precise, relevant results, such as identifying plants or translating foreign dishes.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The integration of AI in search is transforming user experiences by providing real-time, personalized results and improving accessibility, particularly for travelers, students, and international users.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Future developments may include privacy-preserving techniques like federated learning and differential privacy, allowing personalization without extensive data collection.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E0A7C-4A6B-B180-07F2-8C1631F2EFE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4400" y="85987"/>
            <a:ext cx="7315199" cy="705949"/>
          </a:xfrm>
          <a:prstGeom prst="rect">
            <a:avLst/>
          </a:prstGeom>
        </p:spPr>
        <p:txBody>
          <a:bodyPr/>
          <a:lstStyle/>
          <a:p>
            <a:pPr algn="ctr">
              <a:buClr>
                <a:schemeClr val="bg2"/>
              </a:buClr>
            </a:pPr>
            <a:r>
              <a:rPr lang="en-US" sz="2800" b="1" dirty="0">
                <a:solidFill>
                  <a:schemeClr val="bg2"/>
                </a:solidFill>
              </a:rPr>
              <a:t>Role of Artificial Intelligence in Modern Search Engines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F52E76-AA09-90BD-99BB-549440BC8680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22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1159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914400" y="1139125"/>
            <a:ext cx="8001000" cy="3547325"/>
          </a:xfrm>
        </p:spPr>
        <p:txBody>
          <a:bodyPr>
            <a:normAutofit fontScale="85000" lnSpcReduction="10000"/>
          </a:bodyPr>
          <a:lstStyle/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In contrast, goal-driven search starts from the goal state and works backward to determine the initial state, reasoning backward through sub-goals and rules to reach the starting point. 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This method is also referred to as backward chaining and is particularly effective when the goal is well-defined, such as in planning and decision-making tasks. 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It is often more efficient in large search spaces when the goal is clear, as it avoids exploring irrelevant paths. 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A classic example of a goal-driven algorithm is backward chaining, used in rule-based expert systems.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97424" y="206375"/>
            <a:ext cx="7532176" cy="8572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IN" sz="2800" b="1" dirty="0"/>
              <a:t>Goal-driven search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346979-8325-492B-C08E-C05F819184CF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23</a:t>
            </a:r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AB851-80B5-ADAC-80D3-9591A4898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63896-CDD5-20E7-2F2B-17DC5F4D2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139125"/>
            <a:ext cx="8001000" cy="3547325"/>
          </a:xfrm>
        </p:spPr>
        <p:txBody>
          <a:bodyPr>
            <a:normAutofit fontScale="70000" lnSpcReduction="20000"/>
          </a:bodyPr>
          <a:lstStyle/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The choice between data-driven and goal-driven search depends on the problem context. 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Data-driven search is suitable for problems where the initial data is rich and the goal is not clearly defined, while goal-driven search excels when the objective is known and the search space is large but can be narrowed down through backward reasoning. 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Both approaches are supported by informed and uninformed search algorithms, with informed methods using heuristics to improve efficiency. 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For instance, A* graph search combines the cost to reach a node and the estimated cost to the goal, ensuring optimality and completeness when the heuristic is admissible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8E4209-E537-7D24-6B60-035917F04F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97424" y="206375"/>
            <a:ext cx="7532176" cy="8572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IN" sz="2800" b="1" dirty="0"/>
              <a:t>Goal-driven search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2954A5-A90F-85D7-0FA6-B4595E8F85AC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24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149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E731B-0715-D09F-A647-EA023EA54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76273-0420-46BE-1674-3A4238AE2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139125"/>
            <a:ext cx="8001000" cy="3547325"/>
          </a:xfrm>
        </p:spPr>
        <p:txBody>
          <a:bodyPr>
            <a:normAutofit fontScale="85000" lnSpcReduction="20000"/>
          </a:bodyPr>
          <a:lstStyle/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Goal-driven search in artificial intelligence refers to a problem-solving approach where the search process is directed towards achieving a specific goal state, using available information to guide the path efficiently.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 This type of search is a core component of informed search algorithms, which leverage heuristics—estimates of the cost to reach the goal from a given state—to prioritize the most promising paths and avoid exploring less relevant areas of the search space.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 The primary objective is to find a solution as quickly and efficiently as possible, often guaranteeing optimality if the heuristic used is admissible and consistent.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9504F-2CCF-A047-AB63-B02E469C627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97424" y="206375"/>
            <a:ext cx="7532176" cy="8572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IN" sz="2800" b="1" dirty="0"/>
              <a:t>Goal-driven search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05098F-771B-51F4-8C88-5F36C881E28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76271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914400" y="1194253"/>
            <a:ext cx="8001000" cy="3622825"/>
          </a:xfrm>
        </p:spPr>
        <p:txBody>
          <a:bodyPr>
            <a:normAutofit fontScale="70000" lnSpcReduction="20000"/>
          </a:bodyPr>
          <a:lstStyle/>
          <a:p>
            <a:pPr lvl="0">
              <a:buClr>
                <a:schemeClr val="bg2"/>
              </a:buClr>
            </a:pPr>
            <a:r>
              <a:rPr lang="en-IN" dirty="0">
                <a:solidFill>
                  <a:schemeClr val="bg2"/>
                </a:solidFill>
              </a:rPr>
              <a:t>Goal-driven search is </a:t>
            </a:r>
            <a:r>
              <a:rPr lang="en-IN" b="1" dirty="0">
                <a:solidFill>
                  <a:schemeClr val="bg2"/>
                </a:solidFill>
              </a:rPr>
              <a:t>a defining characteristic of informed search algorithms, which use domain-specific knowledge to direct the search process toward the goal</a:t>
            </a:r>
            <a:r>
              <a:rPr lang="en-IN" dirty="0">
                <a:solidFill>
                  <a:schemeClr val="bg2"/>
                </a:solidFill>
              </a:rPr>
              <a:t>.</a:t>
            </a:r>
          </a:p>
          <a:p>
            <a:pPr lvl="0">
              <a:buClr>
                <a:schemeClr val="bg2"/>
              </a:buClr>
            </a:pPr>
            <a:r>
              <a:rPr lang="en-IN" dirty="0">
                <a:solidFill>
                  <a:schemeClr val="bg2"/>
                </a:solidFill>
              </a:rPr>
              <a:t>Algorithms like A* search and Greedy Best-First Search are prominent examples of goal-driven strategies that use heuristic functions to estimate the distance to the goal.</a:t>
            </a:r>
          </a:p>
          <a:p>
            <a:pPr lvl="0">
              <a:buClr>
                <a:schemeClr val="bg2"/>
              </a:buClr>
            </a:pPr>
            <a:r>
              <a:rPr lang="en-IN" dirty="0">
                <a:solidFill>
                  <a:schemeClr val="bg2"/>
                </a:solidFill>
              </a:rPr>
              <a:t>The effectiveness of goal-driven search depends heavily on the quality of the heuristic function; a good heuristic can drastically reduce the number of nodes explored and improve performance.</a:t>
            </a:r>
          </a:p>
          <a:p>
            <a:pPr lvl="0">
              <a:buClr>
                <a:schemeClr val="bg2"/>
              </a:buClr>
            </a:pPr>
            <a:r>
              <a:rPr lang="en-IN" dirty="0">
                <a:solidFill>
                  <a:schemeClr val="bg2"/>
                </a:solidFill>
              </a:rPr>
              <a:t>In contrast to uninformed (blind) search methods like BFS or DFS, which explore the search space systematically without guidance, goal-driven search is more efficient, especially in large or complex problem spaces</a:t>
            </a:r>
          </a:p>
          <a:p>
            <a:pPr marL="76200" lvl="0" indent="0">
              <a:buClr>
                <a:schemeClr val="bg2"/>
              </a:buClr>
              <a:buNone/>
            </a:pP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14400" y="206375"/>
            <a:ext cx="7315200" cy="85725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 dirty="0"/>
              <a:t>Goal-Driven (Informed) Search Algorithms in Artificial Intelligence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B4E8A-F992-F0B2-273E-64C5BBF0A5E1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26</a:t>
            </a:r>
            <a:endParaRPr lang="en-I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01FB3-B165-1E10-1926-B6E83B2BA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AB6A-F823-5CAA-80DD-AB855B4088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7002" y="206375"/>
            <a:ext cx="7472597" cy="67937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2"/>
                </a:solidFill>
              </a:rPr>
              <a:t>Comparison of Data-Driven Search (Forward Chaining) Goal-Driven Search (Backward Chaining)</a:t>
            </a:r>
            <a:br>
              <a:rPr lang="en-US" sz="2400" b="1" dirty="0">
                <a:solidFill>
                  <a:schemeClr val="bg2"/>
                </a:solidFill>
              </a:rPr>
            </a:br>
            <a:endParaRPr lang="en-US" sz="2400" b="1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6278E-3084-A2FF-A1FB-92A71ED6302C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27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858BD9-CAA6-6525-D1A7-B26CE0007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693869"/>
              </p:ext>
            </p:extLst>
          </p:nvPr>
        </p:nvGraphicFramePr>
        <p:xfrm>
          <a:off x="838645" y="1049879"/>
          <a:ext cx="7315197" cy="3617827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467891">
                  <a:extLst>
                    <a:ext uri="{9D8B030D-6E8A-4147-A177-3AD203B41FA5}">
                      <a16:colId xmlns:a16="http://schemas.microsoft.com/office/drawing/2014/main" val="2102647067"/>
                    </a:ext>
                  </a:extLst>
                </a:gridCol>
                <a:gridCol w="2408907">
                  <a:extLst>
                    <a:ext uri="{9D8B030D-6E8A-4147-A177-3AD203B41FA5}">
                      <a16:colId xmlns:a16="http://schemas.microsoft.com/office/drawing/2014/main" val="579076010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2599520394"/>
                    </a:ext>
                  </a:extLst>
                </a:gridCol>
              </a:tblGrid>
              <a:tr h="5944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solidFill>
                            <a:schemeClr val="bg2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IN" sz="1100" kern="10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solidFill>
                            <a:schemeClr val="bg2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Data-Driven Search (Forward Chaining)</a:t>
                      </a:r>
                      <a:endParaRPr lang="en-IN" sz="1100" kern="10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solidFill>
                            <a:schemeClr val="bg2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Goal-Driven Search (Backward Chaining)</a:t>
                      </a:r>
                      <a:endParaRPr lang="en-IN" sz="1100" kern="100" dirty="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882673"/>
                  </a:ext>
                </a:extLst>
              </a:tr>
              <a:tr h="5367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Starting Point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Begins from the </a:t>
                      </a:r>
                      <a:r>
                        <a:rPr lang="en-IN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initial state or available data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Begins from the </a:t>
                      </a:r>
                      <a:r>
                        <a:rPr lang="en-IN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goal state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334990"/>
                  </a:ext>
                </a:extLst>
              </a:tr>
              <a:tr h="2777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Direction of Search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Moves </a:t>
                      </a:r>
                      <a:r>
                        <a:rPr lang="en-IN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forward</a:t>
                      </a: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toward the goal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Moves </a:t>
                      </a:r>
                      <a:r>
                        <a:rPr lang="en-IN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backward</a:t>
                      </a: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toward the initial state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7462725"/>
                  </a:ext>
                </a:extLst>
              </a:tr>
              <a:tr h="5522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Alternate Name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Forward Chaining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Backward Chaining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2962612"/>
                  </a:ext>
                </a:extLst>
              </a:tr>
              <a:tr h="5522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Search Strategy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Explores all possible states derived from current data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Focuses only on states relevant to achieving the goal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832044"/>
                  </a:ext>
                </a:extLst>
              </a:tr>
              <a:tr h="5522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Goal Knowledge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Goal may be </a:t>
                      </a:r>
                      <a:r>
                        <a:rPr lang="en-IN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unknown or loosely defined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Goal is </a:t>
                      </a:r>
                      <a:r>
                        <a:rPr lang="en-IN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clearly defined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07138"/>
                  </a:ext>
                </a:extLst>
              </a:tr>
              <a:tr h="5522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Efficiency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May explore many irrelevant states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More efficient when the goal is well specified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748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27991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21FC7-5BEF-82F9-2111-748AABFC1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D216-9CDD-0724-030B-774F3D650C9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7002" y="206375"/>
            <a:ext cx="7472597" cy="67937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2"/>
                </a:solidFill>
              </a:rPr>
              <a:t>Comparison of Data-Driven Search (Forward Chaining) Goal-Driven Search (Backward Chaining)</a:t>
            </a:r>
            <a:br>
              <a:rPr lang="en-US" sz="2400" b="1" dirty="0">
                <a:solidFill>
                  <a:schemeClr val="bg2"/>
                </a:solidFill>
              </a:rPr>
            </a:br>
            <a:endParaRPr lang="en-US" sz="2400" b="1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8E3A25-8A23-80A9-CA3A-EF6B31F51C31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28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19EE4F-E3BE-847E-A2AB-1AE75D998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87133"/>
              </p:ext>
            </p:extLst>
          </p:nvPr>
        </p:nvGraphicFramePr>
        <p:xfrm>
          <a:off x="757002" y="1141745"/>
          <a:ext cx="7315197" cy="3438295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438399">
                  <a:extLst>
                    <a:ext uri="{9D8B030D-6E8A-4147-A177-3AD203B41FA5}">
                      <a16:colId xmlns:a16="http://schemas.microsoft.com/office/drawing/2014/main" val="2102647067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579076010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2599520394"/>
                    </a:ext>
                  </a:extLst>
                </a:gridCol>
              </a:tblGrid>
              <a:tr h="4115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solidFill>
                            <a:schemeClr val="bg2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IN" sz="1100" kern="10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>
                          <a:solidFill>
                            <a:schemeClr val="bg2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Data-Driven Search (Forward Chaining)</a:t>
                      </a:r>
                      <a:endParaRPr lang="en-IN" sz="1100" kern="10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solidFill>
                            <a:schemeClr val="bg2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Goal-Driven Search (Backward Chaining)</a:t>
                      </a:r>
                      <a:endParaRPr lang="en-IN" sz="1100" kern="100" dirty="0">
                        <a:solidFill>
                          <a:schemeClr val="bg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882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Search Space Handling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Suitable when </a:t>
                      </a:r>
                      <a:r>
                        <a:rPr lang="en-IN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 is rich and dynamic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Suitable when </a:t>
                      </a:r>
                      <a:r>
                        <a:rPr lang="en-IN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search space is large but goal is specific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397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Typical Algorithms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Breadth-First Search (BFS), Depth-First Search (DFS)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A*, Greedy Best-First Search, Backward Chaining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334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Use of Heuristics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Generally </a:t>
                      </a:r>
                      <a:r>
                        <a:rPr lang="en-IN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uninformed</a:t>
                      </a: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(no heuristics)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Often </a:t>
                      </a:r>
                      <a:r>
                        <a:rPr lang="en-IN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informed</a:t>
                      </a: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using heuristic functions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7462725"/>
                  </a:ext>
                </a:extLst>
              </a:tr>
              <a:tr h="3823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Memory Usage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BFS uses </a:t>
                      </a:r>
                      <a:r>
                        <a:rPr lang="en-IN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 memory</a:t>
                      </a: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DFS uses less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Depends on heuristic; usually more optimized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2962612"/>
                  </a:ext>
                </a:extLst>
              </a:tr>
              <a:tr h="3823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Optimality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BFS guarantees shortest path (unweighted graphs)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A* guarantees optimality with admissible heuristic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832044"/>
                  </a:ext>
                </a:extLst>
              </a:tr>
              <a:tr h="3823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Risk Factors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DFS may enter </a:t>
                      </a:r>
                      <a:r>
                        <a:rPr lang="en-IN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infinite loops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Poor heuristic may reduce efficiency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07138"/>
                  </a:ext>
                </a:extLst>
              </a:tr>
              <a:tr h="3823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Common Applications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Pathfinding, navigation systems, data mining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Planning, expert systems, decision making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748306"/>
                  </a:ext>
                </a:extLst>
              </a:tr>
              <a:tr h="3823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Real-World Example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Web crawling, route exploration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Medical diagnosis systems, rule-based AI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0100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6296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451B981-4422-43CB-D0DB-17172D7A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C67D092-A53B-AE68-754E-B78BAE735B68}"/>
              </a:ext>
            </a:extLst>
          </p:cNvPr>
          <p:cNvGrpSpPr/>
          <p:nvPr/>
        </p:nvGrpSpPr>
        <p:grpSpPr>
          <a:xfrm>
            <a:off x="736270" y="218172"/>
            <a:ext cx="828897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B0A7FF5-255B-BF87-0FD1-F92E197A7F7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F9A3AD5-CFA5-C489-FA57-D8D7EA0D607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54AD0ED-2116-4DF4-4939-F0229A47F9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D32D63F-F6A4-66FF-27E1-1EB46CAEFBB9}"/>
              </a:ext>
            </a:extLst>
          </p:cNvPr>
          <p:cNvSpPr txBox="1"/>
          <p:nvPr/>
        </p:nvSpPr>
        <p:spPr>
          <a:xfrm>
            <a:off x="612162" y="794957"/>
            <a:ext cx="7547675" cy="427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90000"/>
              </a:lnSpc>
            </a:pPr>
            <a:endParaRPr lang="en-US" dirty="0">
              <a:solidFill>
                <a:schemeClr val="bg2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Graph Theory provides a mathematical way to model relationships and connections using vertices and edges.</a:t>
            </a:r>
          </a:p>
          <a:p>
            <a:pPr marL="457200" indent="-4572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Graphs are widely used in computer networks, social media, operating systems, compilers, and search engines.</a:t>
            </a:r>
          </a:p>
          <a:p>
            <a:pPr marL="457200" indent="-4572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Different types of graphs exist, such as directed, undirected, cyclic, acyclic, bipartite, complete, and connected graphs.</a:t>
            </a:r>
          </a:p>
          <a:p>
            <a:pPr marL="457200" indent="-4572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Data-driven search (Forward Chaining) starts from the initial state and explores forward (e.g., BFS, DFS).</a:t>
            </a:r>
          </a:p>
          <a:p>
            <a:pPr marL="457200" indent="-4572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Goal-driven search (Backward Chaining) starts from the goal and reasons backward using heuristics (e.g., A*, Greedy Best-First Search).</a:t>
            </a:r>
          </a:p>
          <a:p>
            <a:pPr marL="457200" indent="-4572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The choice of search strategy depends on problem size, goal clarity, and available data.</a:t>
            </a:r>
          </a:p>
          <a:p>
            <a:pPr marL="457200" indent="-4572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Graph-based AI search techniques enable efficient problem-solving and intelligent decision-making.</a:t>
            </a:r>
          </a:p>
          <a:p>
            <a:pPr lvl="0" algn="just">
              <a:lnSpc>
                <a:spcPct val="90000"/>
              </a:lnSpc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>
              <a:lnSpc>
                <a:spcPct val="90000"/>
              </a:lnSpc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EFE67-1BDD-5907-C33A-2B86C9EBFFAB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29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90538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1A71372-B014-307D-6154-2C9E638CD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736270" y="218172"/>
            <a:ext cx="828897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83127" y="1101387"/>
            <a:ext cx="8942119" cy="12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Depth-First and </a:t>
            </a: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Breadth-First Searches, </a:t>
            </a: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HEURISTIC SEARCHES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5D5782-05D4-0951-44EA-B9EE5A8C2310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3101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31</a:t>
            </a:r>
            <a:endParaRPr lang="en-IN" dirty="0"/>
          </a:p>
        </p:txBody>
      </p:sp>
      <p:sp>
        <p:nvSpPr>
          <p:cNvPr id="10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201881" y="1153017"/>
            <a:ext cx="8312727" cy="1837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90000"/>
              </a:lnSpc>
            </a:pPr>
            <a:endParaRPr lang="en-US" dirty="0">
              <a:solidFill>
                <a:schemeClr val="bg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 algn="just">
              <a:lnSpc>
                <a:spcPct val="90000"/>
              </a:lnSpc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What is the difference between a graph and a tree?</a:t>
            </a:r>
          </a:p>
          <a:p>
            <a:pPr marL="514350" indent="-514350" algn="just">
              <a:lnSpc>
                <a:spcPct val="90000"/>
              </a:lnSpc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Why is BFS guaranteed to find the shortest path, but DFS is not?</a:t>
            </a:r>
          </a:p>
          <a:p>
            <a:pPr marL="514350" indent="-514350" algn="just">
              <a:lnSpc>
                <a:spcPct val="90000"/>
              </a:lnSpc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What is the difference between directed and undirected graphs?</a:t>
            </a:r>
          </a:p>
          <a:p>
            <a:pPr marL="514350" indent="-514350" algn="just">
              <a:lnSpc>
                <a:spcPct val="90000"/>
              </a:lnSpc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Why are graphs important in Artificial Intelligence?</a:t>
            </a:r>
          </a:p>
          <a:p>
            <a:pPr marL="514350" indent="-514350" algn="just">
              <a:lnSpc>
                <a:spcPct val="90000"/>
              </a:lnSpc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When should we prefer data-driven search over goal-driven search?</a:t>
            </a:r>
          </a:p>
          <a:p>
            <a:pPr marL="514350" indent="-514350" algn="just">
              <a:lnSpc>
                <a:spcPct val="90000"/>
              </a:lnSpc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What role do heuristics play in goal-driven search algorithms like A*?</a:t>
            </a:r>
          </a:p>
          <a:p>
            <a:pPr marL="514350" indent="-514350" algn="just">
              <a:lnSpc>
                <a:spcPct val="90000"/>
              </a:lnSpc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Can a graph have both cycles and directed edges? Give an example.</a:t>
            </a:r>
          </a:p>
          <a:p>
            <a:pPr marL="514350" indent="-514350" algn="just">
              <a:lnSpc>
                <a:spcPct val="90000"/>
              </a:lnSpc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8.	How does graph theory help search engines like Google?</a:t>
            </a: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6" y="239875"/>
            <a:ext cx="8942119" cy="10535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3"/>
            </a:endParaRPr>
          </a:p>
          <a:p>
            <a:pPr lvl="0" algn="just">
              <a:lnSpc>
                <a:spcPct val="90000"/>
              </a:lnSpc>
            </a:pPr>
            <a:endParaRPr lang="en-US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3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https://www.geeksforgeeks.org/maths/mathematics-graph-theory-basics-set-1/</a:t>
            </a:r>
            <a:endParaRPr lang="en-US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https://www.geeksforgeeks.org/dsa/graph-theory-tutorial/</a:t>
            </a:r>
            <a:endParaRPr lang="en-US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https://www.geeksforgeeks.org/dsa/graph-data-structure-and-algorithms/</a:t>
            </a:r>
            <a:endParaRPr lang="en-US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>
              <a:lnSpc>
                <a:spcPct val="90000"/>
              </a:lnSpc>
            </a:pPr>
            <a:endParaRPr lang="en-US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>
              <a:lnSpc>
                <a:spcPct val="90000"/>
              </a:lnSpc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>
              <a:lnSpc>
                <a:spcPct val="90000"/>
              </a:lnSpc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>
              <a:lnSpc>
                <a:spcPct val="90000"/>
              </a:lnSpc>
            </a:pPr>
            <a:endParaRPr lang="en-US" sz="28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32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28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AD00F48-AF9F-87AF-B3AB-2CA9606A4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4989" y="1285244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59C2B9C-619B-7F1D-73C8-04AA5F67C4ED}"/>
              </a:ext>
            </a:extLst>
          </p:cNvPr>
          <p:cNvSpPr txBox="1"/>
          <p:nvPr/>
        </p:nvSpPr>
        <p:spPr>
          <a:xfrm>
            <a:off x="50843" y="1546287"/>
            <a:ext cx="8942119" cy="158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https://www.youtube.com/watch?v=LFKZLXVO-Dg</a:t>
            </a: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3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https://www.youtube.com/watch?v=VZFpA63C5yo</a:t>
            </a: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3"/>
            </a:endParaRPr>
          </a:p>
          <a:p>
            <a:pPr marL="457200" lvl="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33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34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417" y="1606730"/>
            <a:ext cx="5995852" cy="246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parveen.e13339@cumail.in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35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2595</TotalTime>
  <Words>3013</Words>
  <Application>Microsoft Office PowerPoint</Application>
  <PresentationFormat>On-screen Show (16:9)</PresentationFormat>
  <Paragraphs>294</Paragraphs>
  <Slides>36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Symbol</vt:lpstr>
      <vt:lpstr>Times New Roman</vt:lpstr>
      <vt:lpstr>Cambria</vt:lpstr>
      <vt:lpstr>Arial Black</vt:lpstr>
      <vt:lpstr>Calibri</vt:lpstr>
      <vt:lpstr>Arial</vt:lpstr>
      <vt:lpstr>Nunito</vt:lpstr>
      <vt:lpstr>Aptos</vt:lpstr>
      <vt:lpstr>Lato</vt:lpstr>
      <vt:lpstr>Vladimir Script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Graphs</vt:lpstr>
      <vt:lpstr>Let's discuss the types in detail.</vt:lpstr>
      <vt:lpstr>PowerPoint Presentation</vt:lpstr>
      <vt:lpstr> </vt:lpstr>
      <vt:lpstr>Some Important Graphs</vt:lpstr>
      <vt:lpstr>Bipartite Graph: </vt:lpstr>
      <vt:lpstr>Complete Bipartite graph</vt:lpstr>
      <vt:lpstr>Cycle graph</vt:lpstr>
      <vt:lpstr>Applications of Graph Theory in CS</vt:lpstr>
      <vt:lpstr>Data-driven search in AI </vt:lpstr>
      <vt:lpstr>Data-driven search in AI </vt:lpstr>
      <vt:lpstr>Role of Artificial Intelligence in Modern Search Engines</vt:lpstr>
      <vt:lpstr>Role of Artificial Intelligence in Modern Search Engines</vt:lpstr>
      <vt:lpstr>Goal-driven search </vt:lpstr>
      <vt:lpstr>Goal-driven search </vt:lpstr>
      <vt:lpstr>Goal-driven search </vt:lpstr>
      <vt:lpstr>Goal-Driven (Informed) Search Algorithms in Artificial Intelligence</vt:lpstr>
      <vt:lpstr>Comparison of Data-Driven Search (Forward Chaining) Goal-Driven Search (Backward Chaining) </vt:lpstr>
      <vt:lpstr>Comparison of Data-Driven Search (Forward Chaining) Goal-Driven Search (Backward Chaining)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Parveen kumar Saini</cp:lastModifiedBy>
  <cp:revision>268</cp:revision>
  <dcterms:modified xsi:type="dcterms:W3CDTF">2025-12-23T10:26:02Z</dcterms:modified>
</cp:coreProperties>
</file>