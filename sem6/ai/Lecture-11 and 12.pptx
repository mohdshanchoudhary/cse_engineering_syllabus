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3"/>
  </p:notesMasterIdLst>
  <p:sldIdLst>
    <p:sldId id="256" r:id="rId2"/>
    <p:sldId id="283" r:id="rId3"/>
    <p:sldId id="284" r:id="rId4"/>
    <p:sldId id="346" r:id="rId5"/>
    <p:sldId id="387" r:id="rId6"/>
    <p:sldId id="388" r:id="rId7"/>
    <p:sldId id="364" r:id="rId8"/>
    <p:sldId id="384" r:id="rId9"/>
    <p:sldId id="386" r:id="rId10"/>
    <p:sldId id="261" r:id="rId11"/>
    <p:sldId id="262" r:id="rId12"/>
    <p:sldId id="263" r:id="rId13"/>
    <p:sldId id="264" r:id="rId14"/>
    <p:sldId id="265" r:id="rId15"/>
    <p:sldId id="266" r:id="rId16"/>
    <p:sldId id="398" r:id="rId17"/>
    <p:sldId id="268" r:id="rId18"/>
    <p:sldId id="399" r:id="rId19"/>
    <p:sldId id="269" r:id="rId20"/>
    <p:sldId id="270" r:id="rId21"/>
    <p:sldId id="271" r:id="rId22"/>
    <p:sldId id="272" r:id="rId23"/>
    <p:sldId id="274" r:id="rId24"/>
    <p:sldId id="279" r:id="rId25"/>
    <p:sldId id="395" r:id="rId26"/>
    <p:sldId id="396" r:id="rId27"/>
    <p:sldId id="397" r:id="rId28"/>
    <p:sldId id="280" r:id="rId29"/>
    <p:sldId id="389" r:id="rId30"/>
    <p:sldId id="390" r:id="rId31"/>
    <p:sldId id="391" r:id="rId32"/>
    <p:sldId id="392" r:id="rId33"/>
    <p:sldId id="393" r:id="rId34"/>
    <p:sldId id="394" r:id="rId35"/>
    <p:sldId id="292" r:id="rId36"/>
    <p:sldId id="287" r:id="rId37"/>
    <p:sldId id="288" r:id="rId38"/>
    <p:sldId id="300" r:id="rId39"/>
    <p:sldId id="301" r:id="rId40"/>
    <p:sldId id="307" r:id="rId41"/>
    <p:sldId id="305" r:id="rId42"/>
  </p:sldIdLst>
  <p:sldSz cx="9144000" cy="5143500" type="screen16x9"/>
  <p:notesSz cx="6858000" cy="9144000"/>
  <p:embeddedFontLst>
    <p:embeddedFont>
      <p:font typeface="Arial Black" panose="020B0A04020102020204" pitchFamily="34" charset="0"/>
      <p:bold r:id="rId44"/>
    </p:embeddedFont>
    <p:embeddedFont>
      <p:font typeface="Cambria" panose="02040503050406030204" pitchFamily="18" charset="0"/>
      <p:regular r:id="rId45"/>
      <p:bold r:id="rId46"/>
      <p:italic r:id="rId47"/>
      <p:boldItalic r:id="rId48"/>
    </p:embeddedFont>
    <p:embeddedFont>
      <p:font typeface="Cambria Math" panose="02040503050406030204" pitchFamily="18" charset="0"/>
      <p:regular r:id="rId49"/>
    </p:embeddedFont>
    <p:embeddedFont>
      <p:font typeface="Lato" panose="020F0502020204030203" pitchFamily="34" charset="0"/>
      <p:regular r:id="rId50"/>
      <p:bold r:id="rId51"/>
      <p:italic r:id="rId52"/>
      <p:boldItalic r:id="rId53"/>
    </p:embeddedFont>
    <p:embeddedFont>
      <p:font typeface="Vladimir Script" panose="03050402040407070305" pitchFamily="66" charset="0"/>
      <p:regular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37" autoAdjust="0"/>
  </p:normalViewPr>
  <p:slideViewPr>
    <p:cSldViewPr snapToGrid="0">
      <p:cViewPr varScale="1">
        <p:scale>
          <a:sx n="102" d="100"/>
          <a:sy n="102" d="100"/>
        </p:scale>
        <p:origin x="89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A372F58-B768-6479-9ED4-231ABFBAFC1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9F8A51-43DF-FAB8-9D31-F7DFABF9A2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FECEDFC-D3CA-4766-DF21-08B560A1F1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9919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BB63D35-EB88-A04F-2DEE-71DA82B1DD9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58AA1D-DF23-4A33-0648-E19DDCCA16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252EFA2D-1F6A-3C95-E152-CA2BC40B1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5943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AC8334-8435-597A-6005-64015906922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66BDE4D-504A-E452-0434-80E8925704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463F824E-6753-EC86-B124-3B47586E7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9734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6F4A333-401D-5662-CF0D-371C569A967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B7A0E49-D9AE-782A-3374-10A9D14967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DB723CF9-A0F4-1676-2CBE-6B918F2E0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2581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521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8553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artificial-intelligence/artificial-intelligence-101/" TargetMode="External"/><Relationship Id="rId7" Type="http://schemas.openxmlformats.org/officeDocument/2006/relationships/hyperlink" Target="https://www.geeksforgeeks.org/artificial-intelligence/heuristic-search-techniques-in-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geeksforgeeks.org/artificial-intelligence/uniformed-search-algorithms-in-ai/" TargetMode="External"/><Relationship Id="rId5" Type="http://schemas.openxmlformats.org/officeDocument/2006/relationships/hyperlink" Target="https://www.geeksforgeeks.org/artificial-intelligence/informed-search-algorithms-in-artificial-intelligence/" TargetMode="External"/><Relationship Id="rId4" Type="http://schemas.openxmlformats.org/officeDocument/2006/relationships/hyperlink" Target="https://www.geeksforgeeks.org/artificial-intelligence/difference-between-informed-and-uninformed-search-in-ai/"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tutorialspoint.com/artificial_intelligence/artificial_intelligence_overview.htm"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818521" y="766649"/>
            <a:ext cx="8213400" cy="4764854"/>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DEPARTMENT NAME-UIE</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ctr">
              <a:lnSpc>
                <a:spcPct val="90000"/>
              </a:lnSpc>
              <a:spcBef>
                <a:spcPts val="1120"/>
              </a:spcBef>
              <a:buClr>
                <a:schemeClr val="dk1"/>
              </a:buClr>
              <a:buSzPts val="2800"/>
            </a:pPr>
            <a:r>
              <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PROGRAM NAME:-Bachelor of Engineering</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SPECIALIZATION/ SEMESTER-6th</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IN"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SUBJECT </a:t>
            </a:r>
            <a:r>
              <a:rPr lang="en-IN" sz="2400" b="1" dirty="0">
                <a:solidFill>
                  <a:schemeClr val="bg2"/>
                </a:solidFill>
                <a:latin typeface="Calibri" panose="020F0502020204030204" pitchFamily="34" charset="0"/>
                <a:ea typeface="Calibri" panose="020F0502020204030204" pitchFamily="34" charset="0"/>
                <a:cs typeface="Calibri" panose="020F0502020204030204" pitchFamily="34" charset="0"/>
              </a:rPr>
              <a:t>NAME:-Principles of Artificial Intelligence</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(SUBJECT CODE-23CST-306)</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No.2                 Chapter No.1                  Lecture No.11 and 12</a:t>
            </a:r>
          </a:p>
          <a:p>
            <a:pPr lvl="0">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:Informed and Uninformed Search Techniques in Artificial Intelligence</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Faculty Name-</a:t>
            </a:r>
            <a:r>
              <a:rPr lang="en-US" sz="1800" b="1" dirty="0" err="1">
                <a:latin typeface="Calibri" panose="020F0502020204030204" pitchFamily="34" charset="0"/>
                <a:ea typeface="Calibri" panose="020F0502020204030204" pitchFamily="34" charset="0"/>
                <a:cs typeface="Calibri" panose="020F0502020204030204" pitchFamily="34" charset="0"/>
              </a:rPr>
              <a:t>Er.Parveen</a:t>
            </a:r>
            <a:r>
              <a:rPr lang="en-US" sz="1800" b="1" dirty="0">
                <a:latin typeface="Calibri" panose="020F0502020204030204" pitchFamily="34" charset="0"/>
                <a:ea typeface="Calibri" panose="020F0502020204030204" pitchFamily="34" charset="0"/>
                <a:cs typeface="Calibri" panose="020F0502020204030204" pitchFamily="34" charset="0"/>
              </a:rPr>
              <a:t> kumar saini and </a:t>
            </a:r>
            <a:r>
              <a:rPr lang="en-US" sz="1800" b="1" dirty="0" err="1">
                <a:latin typeface="Calibri" panose="020F0502020204030204" pitchFamily="34" charset="0"/>
                <a:ea typeface="Calibri" panose="020F0502020204030204" pitchFamily="34" charset="0"/>
                <a:cs typeface="Calibri" panose="020F0502020204030204" pitchFamily="34" charset="0"/>
              </a:rPr>
              <a:t>E_Code</a:t>
            </a:r>
            <a:r>
              <a:rPr lang="en-US" sz="1800" b="1" dirty="0">
                <a:latin typeface="Calibri" panose="020F0502020204030204" pitchFamily="34" charset="0"/>
                <a:ea typeface="Calibri" panose="020F0502020204030204" pitchFamily="34" charset="0"/>
                <a:cs typeface="Calibri" panose="020F0502020204030204" pitchFamily="34" charset="0"/>
              </a:rPr>
              <a:t> -13339  Designation-AP</a:t>
            </a:r>
          </a:p>
          <a:p>
            <a:pPr>
              <a:spcBef>
                <a:spcPts val="1120"/>
              </a:spcBef>
              <a:buSzPts val="3200"/>
            </a:pPr>
            <a:endParaRPr lang="en-US" sz="32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82F60C0-9493-6D30-C2FB-A190B5DAFBD4}"/>
              </a:ext>
            </a:extLst>
          </p:cNvPr>
          <p:cNvSpPr txBox="1"/>
          <p:nvPr/>
        </p:nvSpPr>
        <p:spPr>
          <a:xfrm>
            <a:off x="83125" y="1082770"/>
            <a:ext cx="8942119" cy="3416279"/>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r>
              <a:rPr lang="en-US" sz="2400" dirty="0"/>
              <a:t>Understanding the concept of search in Artificial Intelligence and differentiate between informed and uninformed search techniques.</a:t>
            </a:r>
          </a:p>
          <a:p>
            <a:pPr marL="457200" lvl="0" indent="-457200" algn="just">
              <a:lnSpc>
                <a:spcPct val="90000"/>
              </a:lnSpc>
              <a:buFont typeface="Arial" panose="020B0604020202020204" pitchFamily="34" charset="0"/>
              <a:buChar char="•"/>
            </a:pPr>
            <a:r>
              <a:rPr lang="en-US" sz="2400" dirty="0"/>
              <a:t>Understanding the working principles, characteristics, and applications of major uninformed search algorithms (BFS, DFS) and informed search algorithms (Greedy Search, A* Search).</a:t>
            </a:r>
          </a:p>
          <a:p>
            <a:pPr marL="457200" lvl="0" indent="-457200" algn="just">
              <a:lnSpc>
                <a:spcPct val="90000"/>
              </a:lnSpc>
              <a:buFont typeface="Arial" panose="020B0604020202020204" pitchFamily="34" charset="0"/>
              <a:buChar char="•"/>
            </a:pPr>
            <a:r>
              <a:rPr lang="en-US" sz="2400" dirty="0"/>
              <a:t> Understanding the efficiency, optimality, and completeness of informed and uninformed search algorithms and select an appropriate algorithm for a given problem.</a:t>
            </a: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760020" y="218172"/>
            <a:ext cx="8265225" cy="444600"/>
            <a:chOff x="0" y="6299"/>
            <a:chExt cx="5580934" cy="444600"/>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Recap of Previous Lecture</a:t>
              </a: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427E39E-1443-8E67-323E-AC3515D4A144}"/>
              </a:ext>
            </a:extLst>
          </p:cNvPr>
          <p:cNvSpPr txBox="1"/>
          <p:nvPr/>
        </p:nvSpPr>
        <p:spPr>
          <a:xfrm>
            <a:off x="83127" y="1089514"/>
            <a:ext cx="8526397" cy="480091"/>
          </a:xfrm>
          <a:prstGeom prst="rect">
            <a:avLst/>
          </a:prstGeom>
          <a:noFill/>
          <a:ln>
            <a:noFill/>
          </a:ln>
        </p:spPr>
        <p:txBody>
          <a:bodyPr spcFirstLastPara="1" wrap="square" lIns="91425" tIns="45700" rIns="91425" bIns="45700" anchor="t" anchorCtr="0">
            <a:spAutoFit/>
          </a:bodyPr>
          <a:lstStyle/>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Rules of Inference</a:t>
            </a: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1FBDEB-A913-C1B9-948B-6A35B30A8F9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525DBEF-CA7B-47A3-92F8-3679D6387577}"/>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A41BCD14-E6E6-1ADF-D1DD-D2A6AFA033C6}"/>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F1020CC-0566-0A52-43C0-3E230CEE54D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Search in AI</a:t>
              </a:r>
            </a:p>
          </p:txBody>
        </p:sp>
      </p:grpSp>
      <p:sp>
        <p:nvSpPr>
          <p:cNvPr id="113" name="Google Shape;113;p2">
            <a:extLst>
              <a:ext uri="{FF2B5EF4-FFF2-40B4-BE49-F238E27FC236}">
                <a16:creationId xmlns:a16="http://schemas.microsoft.com/office/drawing/2014/main" id="{60BEAFEA-0E8E-56E7-C58A-8786E9B24727}"/>
              </a:ext>
            </a:extLst>
          </p:cNvPr>
          <p:cNvSpPr txBox="1"/>
          <p:nvPr/>
        </p:nvSpPr>
        <p:spPr>
          <a:xfrm>
            <a:off x="464695" y="776569"/>
            <a:ext cx="4609475" cy="2114385"/>
          </a:xfrm>
          <a:prstGeom prst="rect">
            <a:avLst/>
          </a:prstGeom>
          <a:noFill/>
          <a:ln>
            <a:noFill/>
          </a:ln>
        </p:spPr>
        <p:txBody>
          <a:bodyPr spcFirstLastPara="1" wrap="square" lIns="91425" tIns="45700" rIns="91425" bIns="45700" anchor="t" anchorCtr="0">
            <a:spAutoFit/>
          </a:bodyPr>
          <a:lstStyle/>
          <a:p>
            <a:pPr marL="457200" indent="-457200" algn="just">
              <a:lnSpc>
                <a:spcPct val="90000"/>
              </a:lnSpc>
              <a:buFont typeface="Arial" panose="020B0604020202020204" pitchFamily="34" charset="0"/>
              <a:buChar char="•"/>
            </a:pPr>
            <a:r>
              <a:rPr lang="en-US" sz="1600" dirty="0"/>
              <a:t>Search is a problem-solving technique where AI explores states to reach a goal.</a:t>
            </a:r>
          </a:p>
          <a:p>
            <a:pPr marL="457200" indent="-457200" algn="just">
              <a:lnSpc>
                <a:spcPct val="90000"/>
              </a:lnSpc>
              <a:buFont typeface="Arial" panose="020B0604020202020204" pitchFamily="34" charset="0"/>
              <a:buChar char="•"/>
            </a:pPr>
            <a:r>
              <a:rPr lang="en-US" sz="1600" dirty="0"/>
              <a:t>Search is a fundamental problem-solving technique in Artificial Intelligence (AI) where an intelligent agent systematically explores a set of possible states (called the state space) to find a sequence of actions that leads from an initial state to a goal state.</a:t>
            </a:r>
          </a:p>
          <a:p>
            <a:pPr marL="457200" indent="-457200" algn="just">
              <a:lnSpc>
                <a:spcPct val="90000"/>
              </a:lnSpc>
              <a:buFont typeface="Arial" panose="020B0604020202020204" pitchFamily="34" charset="0"/>
              <a:buChar char="•"/>
            </a:pPr>
            <a:endParaRPr lang="en-US" sz="1800" dirty="0"/>
          </a:p>
        </p:txBody>
      </p:sp>
      <p:sp>
        <p:nvSpPr>
          <p:cNvPr id="6" name="TextBox 5">
            <a:extLst>
              <a:ext uri="{FF2B5EF4-FFF2-40B4-BE49-F238E27FC236}">
                <a16:creationId xmlns:a16="http://schemas.microsoft.com/office/drawing/2014/main" id="{E57CCFEE-FB5C-2756-D387-5566C80C68A0}"/>
              </a:ext>
            </a:extLst>
          </p:cNvPr>
          <p:cNvSpPr txBox="1"/>
          <p:nvPr/>
        </p:nvSpPr>
        <p:spPr>
          <a:xfrm>
            <a:off x="5449423" y="4154971"/>
            <a:ext cx="3597142"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 AI search  </a:t>
            </a:r>
            <a:endParaRPr lang="en-IN" b="1" dirty="0"/>
          </a:p>
        </p:txBody>
      </p:sp>
      <p:sp>
        <p:nvSpPr>
          <p:cNvPr id="8" name="TextBox 7">
            <a:extLst>
              <a:ext uri="{FF2B5EF4-FFF2-40B4-BE49-F238E27FC236}">
                <a16:creationId xmlns:a16="http://schemas.microsoft.com/office/drawing/2014/main" id="{89FEF5F2-9B19-7CFA-F900-4BB804E835F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4" name="Rectangle 3">
            <a:extLst>
              <a:ext uri="{FF2B5EF4-FFF2-40B4-BE49-F238E27FC236}">
                <a16:creationId xmlns:a16="http://schemas.microsoft.com/office/drawing/2014/main" id="{E7C12422-1B4D-E991-D772-21D6183AFDD8}"/>
              </a:ext>
            </a:extLst>
          </p:cNvPr>
          <p:cNvSpPr/>
          <p:nvPr/>
        </p:nvSpPr>
        <p:spPr>
          <a:xfrm>
            <a:off x="97436" y="4222006"/>
            <a:ext cx="4897645" cy="791435"/>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https://www.geeksforgeeks.org/artificial-intelligence/difference-between-informed-and-uninformed-search-in-ai/</a:t>
            </a:r>
          </a:p>
        </p:txBody>
      </p:sp>
      <p:pic>
        <p:nvPicPr>
          <p:cNvPr id="3" name="Picture 2" descr="A hand pressing a button&#10;&#10;AI-generated content may be incorrect.">
            <a:extLst>
              <a:ext uri="{FF2B5EF4-FFF2-40B4-BE49-F238E27FC236}">
                <a16:creationId xmlns:a16="http://schemas.microsoft.com/office/drawing/2014/main" id="{ED26BE42-4D09-2BA9-7530-B9F04BAC71BA}"/>
              </a:ext>
            </a:extLst>
          </p:cNvPr>
          <p:cNvPicPr>
            <a:picLocks noChangeAspect="1"/>
          </p:cNvPicPr>
          <p:nvPr/>
        </p:nvPicPr>
        <p:blipFill>
          <a:blip r:embed="rId3"/>
          <a:stretch>
            <a:fillRect/>
          </a:stretch>
        </p:blipFill>
        <p:spPr>
          <a:xfrm>
            <a:off x="5224072" y="776569"/>
            <a:ext cx="3385452" cy="3025917"/>
          </a:xfrm>
          <a:prstGeom prst="rect">
            <a:avLst/>
          </a:prstGeom>
        </p:spPr>
      </p:pic>
    </p:spTree>
    <p:extLst>
      <p:ext uri="{BB962C8B-B14F-4D97-AF65-F5344CB8AC3E}">
        <p14:creationId xmlns:p14="http://schemas.microsoft.com/office/powerpoint/2010/main" val="3017234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72D2616-980D-F33A-6B06-350312E0DBB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F027BEB-287B-F914-06B5-0581FD7888D2}"/>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6CFF82B2-5135-297D-24AA-1229BF00DB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0EDD6DA-2AD1-B60C-D90A-998AA7B39FB1}"/>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Search in AI</a:t>
              </a:r>
            </a:p>
          </p:txBody>
        </p:sp>
      </p:grpSp>
      <p:sp>
        <p:nvSpPr>
          <p:cNvPr id="113" name="Google Shape;113;p2">
            <a:extLst>
              <a:ext uri="{FF2B5EF4-FFF2-40B4-BE49-F238E27FC236}">
                <a16:creationId xmlns:a16="http://schemas.microsoft.com/office/drawing/2014/main" id="{C76F4378-B2F9-D560-3778-BB9D7EB73A87}"/>
              </a:ext>
            </a:extLst>
          </p:cNvPr>
          <p:cNvSpPr txBox="1"/>
          <p:nvPr/>
        </p:nvSpPr>
        <p:spPr>
          <a:xfrm>
            <a:off x="1004341" y="776569"/>
            <a:ext cx="7889235" cy="2114385"/>
          </a:xfrm>
          <a:prstGeom prst="rect">
            <a:avLst/>
          </a:prstGeom>
          <a:noFill/>
          <a:ln>
            <a:noFill/>
          </a:ln>
        </p:spPr>
        <p:txBody>
          <a:bodyPr spcFirstLastPara="1" wrap="square" lIns="91425" tIns="45700" rIns="91425" bIns="45700" anchor="t" anchorCtr="0">
            <a:spAutoFit/>
          </a:bodyPr>
          <a:lstStyle/>
          <a:p>
            <a:pPr marL="285750" indent="-285750">
              <a:lnSpc>
                <a:spcPct val="90000"/>
              </a:lnSpc>
              <a:buFont typeface="Arial" panose="020B0604020202020204" pitchFamily="34" charset="0"/>
              <a:buChar char="•"/>
            </a:pPr>
            <a:r>
              <a:rPr lang="en-US" sz="1600" dirty="0"/>
              <a:t>In AI, many real-world problems—such as path finding, game playing, scheduling, and decision making—can be formulated as search problems.</a:t>
            </a:r>
          </a:p>
          <a:p>
            <a:pPr>
              <a:lnSpc>
                <a:spcPct val="90000"/>
              </a:lnSpc>
            </a:pPr>
            <a:endParaRPr lang="en-US" sz="1600" dirty="0"/>
          </a:p>
          <a:p>
            <a:pPr>
              <a:lnSpc>
                <a:spcPct val="90000"/>
              </a:lnSpc>
            </a:pPr>
            <a:endParaRPr lang="en-US" sz="1600" dirty="0"/>
          </a:p>
          <a:p>
            <a:pPr>
              <a:lnSpc>
                <a:spcPct val="90000"/>
              </a:lnSpc>
            </a:pPr>
            <a:r>
              <a:rPr lang="en-US" sz="1600" dirty="0"/>
              <a:t>   Why Search is Needed in AI</a:t>
            </a:r>
          </a:p>
          <a:p>
            <a:pPr marL="285750" indent="-285750">
              <a:lnSpc>
                <a:spcPct val="90000"/>
              </a:lnSpc>
              <a:buFont typeface="Arial" panose="020B0604020202020204" pitchFamily="34" charset="0"/>
              <a:buChar char="•"/>
            </a:pPr>
            <a:r>
              <a:rPr lang="en-US" sz="1600" dirty="0"/>
              <a:t>An AI agent often does not know the solution in advance.</a:t>
            </a:r>
          </a:p>
          <a:p>
            <a:pPr marL="285750" indent="-285750">
              <a:lnSpc>
                <a:spcPct val="90000"/>
              </a:lnSpc>
              <a:buFont typeface="Arial" panose="020B0604020202020204" pitchFamily="34" charset="0"/>
              <a:buChar char="•"/>
            </a:pPr>
            <a:r>
              <a:rPr lang="en-US" sz="1600" dirty="0"/>
              <a:t>The agent must try different possibilities to reach the goal.</a:t>
            </a:r>
          </a:p>
          <a:p>
            <a:pPr marL="285750" indent="-285750">
              <a:lnSpc>
                <a:spcPct val="90000"/>
              </a:lnSpc>
              <a:buFont typeface="Arial" panose="020B0604020202020204" pitchFamily="34" charset="0"/>
              <a:buChar char="•"/>
            </a:pPr>
            <a:r>
              <a:rPr lang="en-US" sz="1600" dirty="0"/>
              <a:t>Search provides a structured way to explore alternatives and make decisions.</a:t>
            </a:r>
          </a:p>
          <a:p>
            <a:pPr marL="457200" indent="-457200" algn="just">
              <a:lnSpc>
                <a:spcPct val="90000"/>
              </a:lnSpc>
              <a:buFont typeface="Arial" panose="020B0604020202020204" pitchFamily="34" charset="0"/>
              <a:buChar char="•"/>
            </a:pPr>
            <a:endParaRPr lang="en-US" sz="1800" dirty="0"/>
          </a:p>
        </p:txBody>
      </p:sp>
      <p:sp>
        <p:nvSpPr>
          <p:cNvPr id="8" name="TextBox 7">
            <a:extLst>
              <a:ext uri="{FF2B5EF4-FFF2-40B4-BE49-F238E27FC236}">
                <a16:creationId xmlns:a16="http://schemas.microsoft.com/office/drawing/2014/main" id="{F19E52FF-989C-B7E0-C56A-29201433ADA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4" name="Rectangle 3">
            <a:extLst>
              <a:ext uri="{FF2B5EF4-FFF2-40B4-BE49-F238E27FC236}">
                <a16:creationId xmlns:a16="http://schemas.microsoft.com/office/drawing/2014/main" id="{65E9BEEA-E94E-55B2-7EE7-F0780D3EDC8E}"/>
              </a:ext>
            </a:extLst>
          </p:cNvPr>
          <p:cNvSpPr/>
          <p:nvPr/>
        </p:nvSpPr>
        <p:spPr>
          <a:xfrm>
            <a:off x="97436" y="4222006"/>
            <a:ext cx="8927809" cy="554447"/>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https://www.geeksforgeeks.org/artificial-intelligence/difference-between-informed-and-uninformed-search-in-ai/</a:t>
            </a:r>
          </a:p>
        </p:txBody>
      </p:sp>
    </p:spTree>
    <p:extLst>
      <p:ext uri="{BB962C8B-B14F-4D97-AF65-F5344CB8AC3E}">
        <p14:creationId xmlns:p14="http://schemas.microsoft.com/office/powerpoint/2010/main" val="3707915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56E3BE-EF27-0E97-C065-C0AE4F57ACD1}"/>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09B969E-C36E-9BE2-283A-20A6EFE89717}"/>
              </a:ext>
            </a:extLst>
          </p:cNvPr>
          <p:cNvGrpSpPr/>
          <p:nvPr/>
        </p:nvGrpSpPr>
        <p:grpSpPr>
          <a:xfrm>
            <a:off x="748144" y="218172"/>
            <a:ext cx="8277101" cy="958556"/>
            <a:chOff x="0" y="6299"/>
            <a:chExt cx="5580934" cy="958556"/>
          </a:xfrm>
          <a:noFill/>
        </p:grpSpPr>
        <p:sp>
          <p:nvSpPr>
            <p:cNvPr id="109" name="Google Shape;109;p2">
              <a:extLst>
                <a:ext uri="{FF2B5EF4-FFF2-40B4-BE49-F238E27FC236}">
                  <a16:creationId xmlns:a16="http://schemas.microsoft.com/office/drawing/2014/main" id="{8E65AA5D-0D67-C926-8487-755CE6EFC20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01CF71B-BB0F-FC6B-93FC-C7AD1F17CC92}"/>
                </a:ext>
              </a:extLst>
            </p:cNvPr>
            <p:cNvSpPr txBox="1"/>
            <p:nvPr/>
          </p:nvSpPr>
          <p:spPr>
            <a:xfrm>
              <a:off x="21704" y="28003"/>
              <a:ext cx="5537526" cy="936852"/>
            </a:xfrm>
            <a:prstGeom prst="rect">
              <a:avLst/>
            </a:prstGeom>
            <a:grpFill/>
            <a:ln>
              <a:noFill/>
            </a:ln>
          </p:spPr>
          <p:txBody>
            <a:bodyPr spcFirstLastPara="1" wrap="square" lIns="72375" tIns="72375" rIns="72375" bIns="72375" anchor="ctr" anchorCtr="0">
              <a:noAutofit/>
            </a:bodyPr>
            <a:lstStyle/>
            <a:p>
              <a:pPr algn="ctr">
                <a:lnSpc>
                  <a:spcPct val="90000"/>
                </a:lnSpc>
                <a:buSzPts val="1900"/>
              </a:pPr>
              <a:r>
                <a:rPr lang="en-US" sz="2800" b="1" dirty="0"/>
                <a:t>Search in AI(Key Components of a Search Problem)</a:t>
              </a:r>
            </a:p>
          </p:txBody>
        </p:sp>
      </p:grpSp>
      <p:sp>
        <p:nvSpPr>
          <p:cNvPr id="113" name="Google Shape;113;p2">
            <a:extLst>
              <a:ext uri="{FF2B5EF4-FFF2-40B4-BE49-F238E27FC236}">
                <a16:creationId xmlns:a16="http://schemas.microsoft.com/office/drawing/2014/main" id="{05BC3E2E-58B7-7245-07F9-BEF578B7E7CE}"/>
              </a:ext>
            </a:extLst>
          </p:cNvPr>
          <p:cNvSpPr txBox="1"/>
          <p:nvPr/>
        </p:nvSpPr>
        <p:spPr>
          <a:xfrm>
            <a:off x="1004341" y="1278740"/>
            <a:ext cx="7889235" cy="2779182"/>
          </a:xfrm>
          <a:prstGeom prst="rect">
            <a:avLst/>
          </a:prstGeom>
          <a:noFill/>
          <a:ln>
            <a:noFill/>
          </a:ln>
        </p:spPr>
        <p:txBody>
          <a:bodyPr spcFirstLastPara="1" wrap="square" lIns="91425" tIns="45700" rIns="91425" bIns="45700" anchor="t" anchorCtr="0">
            <a:spAutoFit/>
          </a:bodyPr>
          <a:lstStyle/>
          <a:p>
            <a:pPr marL="285750" indent="-285750">
              <a:lnSpc>
                <a:spcPct val="90000"/>
              </a:lnSpc>
              <a:buFont typeface="Arial" panose="020B0604020202020204" pitchFamily="34" charset="0"/>
              <a:buChar char="•"/>
            </a:pPr>
            <a:r>
              <a:rPr lang="en-US" sz="1600" b="1" dirty="0"/>
              <a:t>Initial State:-</a:t>
            </a:r>
            <a:r>
              <a:rPr lang="en-US" sz="1600" dirty="0"/>
              <a:t>The starting point of the problem.</a:t>
            </a:r>
          </a:p>
          <a:p>
            <a:pPr marL="285750" indent="-285750">
              <a:lnSpc>
                <a:spcPct val="90000"/>
              </a:lnSpc>
              <a:buFont typeface="Arial" panose="020B0604020202020204" pitchFamily="34" charset="0"/>
              <a:buChar char="•"/>
            </a:pPr>
            <a:r>
              <a:rPr lang="en-US" sz="1600" b="1" dirty="0"/>
              <a:t>Example: </a:t>
            </a:r>
            <a:r>
              <a:rPr lang="en-US" sz="1600" dirty="0"/>
              <a:t>Starting city in a route-finding problem.</a:t>
            </a:r>
          </a:p>
          <a:p>
            <a:pPr marL="285750" indent="-285750">
              <a:lnSpc>
                <a:spcPct val="90000"/>
              </a:lnSpc>
              <a:buFont typeface="Arial" panose="020B0604020202020204" pitchFamily="34" charset="0"/>
              <a:buChar char="•"/>
            </a:pPr>
            <a:r>
              <a:rPr lang="en-US" sz="1600" b="1" dirty="0">
                <a:solidFill>
                  <a:schemeClr val="bg2"/>
                </a:solidFill>
              </a:rPr>
              <a:t>Goal State:-</a:t>
            </a:r>
            <a:r>
              <a:rPr lang="en-US" sz="1600" dirty="0"/>
              <a:t>The desired state that the agent wants to reach.</a:t>
            </a:r>
          </a:p>
          <a:p>
            <a:pPr marL="285750" indent="-285750">
              <a:lnSpc>
                <a:spcPct val="90000"/>
              </a:lnSpc>
              <a:buFont typeface="Arial" panose="020B0604020202020204" pitchFamily="34" charset="0"/>
              <a:buChar char="•"/>
            </a:pPr>
            <a:r>
              <a:rPr lang="en-US" sz="1600" b="1" dirty="0"/>
              <a:t>Example:</a:t>
            </a:r>
            <a:r>
              <a:rPr lang="en-US" sz="1600" dirty="0"/>
              <a:t> Destination city.</a:t>
            </a:r>
          </a:p>
          <a:p>
            <a:pPr marL="285750" indent="-285750">
              <a:lnSpc>
                <a:spcPct val="90000"/>
              </a:lnSpc>
              <a:buFont typeface="Arial" panose="020B0604020202020204" pitchFamily="34" charset="0"/>
              <a:buChar char="•"/>
            </a:pPr>
            <a:r>
              <a:rPr lang="en-US" sz="1600" b="1" dirty="0"/>
              <a:t>State Space:-</a:t>
            </a:r>
            <a:r>
              <a:rPr lang="en-US" sz="1600" dirty="0"/>
              <a:t>The set of all possible states that can be reached from the initial state.</a:t>
            </a:r>
          </a:p>
          <a:p>
            <a:pPr marL="285750" indent="-285750">
              <a:lnSpc>
                <a:spcPct val="90000"/>
              </a:lnSpc>
              <a:buFont typeface="Arial" panose="020B0604020202020204" pitchFamily="34" charset="0"/>
              <a:buChar char="•"/>
            </a:pPr>
            <a:r>
              <a:rPr lang="en-US" sz="1600" b="1" dirty="0"/>
              <a:t>Actions / Operators:-</a:t>
            </a:r>
            <a:r>
              <a:rPr lang="en-US" sz="1600" dirty="0"/>
              <a:t>The possible moves or actions that transition from one state to another.</a:t>
            </a:r>
          </a:p>
          <a:p>
            <a:pPr marL="285750" indent="-285750">
              <a:lnSpc>
                <a:spcPct val="90000"/>
              </a:lnSpc>
              <a:buFont typeface="Arial" panose="020B0604020202020204" pitchFamily="34" charset="0"/>
              <a:buChar char="•"/>
            </a:pPr>
            <a:r>
              <a:rPr lang="en-US" sz="1600" b="1" dirty="0"/>
              <a:t>Path:-</a:t>
            </a:r>
            <a:r>
              <a:rPr lang="en-US" sz="1600" dirty="0"/>
              <a:t>A sequence of states from the initial state to the goal state.</a:t>
            </a:r>
          </a:p>
          <a:p>
            <a:pPr marL="285750" indent="-285750">
              <a:lnSpc>
                <a:spcPct val="90000"/>
              </a:lnSpc>
              <a:buFont typeface="Arial" panose="020B0604020202020204" pitchFamily="34" charset="0"/>
              <a:buChar char="•"/>
            </a:pPr>
            <a:r>
              <a:rPr lang="en-US" sz="1600" b="1" dirty="0"/>
              <a:t>Path Cost:-</a:t>
            </a:r>
            <a:r>
              <a:rPr lang="en-US" sz="1600" dirty="0"/>
              <a:t>The cost associated with a path (distance, time, energy, etc.).</a:t>
            </a:r>
          </a:p>
          <a:p>
            <a:pPr>
              <a:lnSpc>
                <a:spcPct val="90000"/>
              </a:lnSpc>
            </a:pPr>
            <a:endParaRPr lang="en-US" sz="1600" dirty="0"/>
          </a:p>
          <a:p>
            <a:pPr marL="457200" indent="-457200" algn="just">
              <a:lnSpc>
                <a:spcPct val="90000"/>
              </a:lnSpc>
              <a:buFont typeface="Arial" panose="020B0604020202020204" pitchFamily="34" charset="0"/>
              <a:buChar char="•"/>
            </a:pPr>
            <a:endParaRPr lang="en-US" sz="1800" dirty="0"/>
          </a:p>
        </p:txBody>
      </p:sp>
      <p:sp>
        <p:nvSpPr>
          <p:cNvPr id="8" name="TextBox 7">
            <a:extLst>
              <a:ext uri="{FF2B5EF4-FFF2-40B4-BE49-F238E27FC236}">
                <a16:creationId xmlns:a16="http://schemas.microsoft.com/office/drawing/2014/main" id="{5124913F-DF52-D751-C4AE-820520A8179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4" name="Rectangle 3">
            <a:extLst>
              <a:ext uri="{FF2B5EF4-FFF2-40B4-BE49-F238E27FC236}">
                <a16:creationId xmlns:a16="http://schemas.microsoft.com/office/drawing/2014/main" id="{3355EF1D-A636-C5FF-213F-C9D9729225BC}"/>
              </a:ext>
            </a:extLst>
          </p:cNvPr>
          <p:cNvSpPr/>
          <p:nvPr/>
        </p:nvSpPr>
        <p:spPr>
          <a:xfrm>
            <a:off x="97436" y="4222006"/>
            <a:ext cx="8927809" cy="554447"/>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https://www.geeksforgeeks.org/artificial-intelligence/difference-between-informed-and-uninformed-search-in-ai/</a:t>
            </a:r>
          </a:p>
        </p:txBody>
      </p:sp>
    </p:spTree>
    <p:extLst>
      <p:ext uri="{BB962C8B-B14F-4D97-AF65-F5344CB8AC3E}">
        <p14:creationId xmlns:p14="http://schemas.microsoft.com/office/powerpoint/2010/main" val="164481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9160C41-8996-C30C-CF57-2F3A2335117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647D2C06-D532-83C5-4F28-20BA2204623E}"/>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4CC9BDF-4AA1-5AFC-119C-3F689F4B15E0}"/>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71BF90B-C5B4-DB72-BC49-DD1AE81D79B8}"/>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Search in AI</a:t>
              </a:r>
            </a:p>
          </p:txBody>
        </p:sp>
      </p:grpSp>
      <p:sp>
        <p:nvSpPr>
          <p:cNvPr id="6" name="TextBox 5">
            <a:extLst>
              <a:ext uri="{FF2B5EF4-FFF2-40B4-BE49-F238E27FC236}">
                <a16:creationId xmlns:a16="http://schemas.microsoft.com/office/drawing/2014/main" id="{B2BA3156-4BFB-31C5-B824-0A7DF1B0CBC1}"/>
              </a:ext>
            </a:extLst>
          </p:cNvPr>
          <p:cNvSpPr txBox="1"/>
          <p:nvPr/>
        </p:nvSpPr>
        <p:spPr>
          <a:xfrm>
            <a:off x="5576341" y="4428998"/>
            <a:ext cx="314043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 Search Algorithms </a:t>
            </a:r>
            <a:endParaRPr lang="en-IN" b="1" dirty="0"/>
          </a:p>
        </p:txBody>
      </p:sp>
      <p:sp>
        <p:nvSpPr>
          <p:cNvPr id="8" name="TextBox 7">
            <a:extLst>
              <a:ext uri="{FF2B5EF4-FFF2-40B4-BE49-F238E27FC236}">
                <a16:creationId xmlns:a16="http://schemas.microsoft.com/office/drawing/2014/main" id="{0E40D2C2-CE84-72B9-F90A-18CA50F57E47}"/>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9" name="TextBox 8">
            <a:extLst>
              <a:ext uri="{FF2B5EF4-FFF2-40B4-BE49-F238E27FC236}">
                <a16:creationId xmlns:a16="http://schemas.microsoft.com/office/drawing/2014/main" id="{4156284E-2968-7344-A2CD-69CF765046AF}"/>
              </a:ext>
            </a:extLst>
          </p:cNvPr>
          <p:cNvSpPr txBox="1"/>
          <p:nvPr/>
        </p:nvSpPr>
        <p:spPr>
          <a:xfrm>
            <a:off x="575141" y="1231067"/>
            <a:ext cx="4199226" cy="1200329"/>
          </a:xfrm>
          <a:prstGeom prst="rect">
            <a:avLst/>
          </a:prstGeom>
          <a:noFill/>
        </p:spPr>
        <p:txBody>
          <a:bodyPr wrap="square">
            <a:spAutoFit/>
          </a:bodyPr>
          <a:lstStyle/>
          <a:p>
            <a:r>
              <a:rPr lang="en-US" sz="1800" b="1" dirty="0"/>
              <a:t>Search Algorithm:- </a:t>
            </a:r>
          </a:p>
          <a:p>
            <a:r>
              <a:rPr lang="en-US" sz="1800" dirty="0">
                <a:solidFill>
                  <a:schemeClr val="bg2"/>
                </a:solidFill>
              </a:rPr>
              <a:t>A search algorithm finds a path from initial state to goal state.</a:t>
            </a:r>
          </a:p>
          <a:p>
            <a:endParaRPr lang="en-US" sz="1800" b="1" dirty="0"/>
          </a:p>
        </p:txBody>
      </p:sp>
      <p:sp>
        <p:nvSpPr>
          <p:cNvPr id="10" name="Rectangle 9">
            <a:extLst>
              <a:ext uri="{FF2B5EF4-FFF2-40B4-BE49-F238E27FC236}">
                <a16:creationId xmlns:a16="http://schemas.microsoft.com/office/drawing/2014/main" id="{28478625-6276-6CF5-4337-F35A890B24E2}"/>
              </a:ext>
            </a:extLst>
          </p:cNvPr>
          <p:cNvSpPr/>
          <p:nvPr/>
        </p:nvSpPr>
        <p:spPr>
          <a:xfrm>
            <a:off x="191528" y="4133893"/>
            <a:ext cx="5384813" cy="791435"/>
          </a:xfrm>
          <a:prstGeom prst="rect">
            <a:avLst/>
          </a:prstGeom>
        </p:spPr>
        <p:txBody>
          <a:bodyPr wrap="square">
            <a:spAutoFit/>
          </a:bodyPr>
          <a:lstStyle/>
          <a:p>
            <a:pPr algn="just">
              <a:lnSpc>
                <a:spcPct val="110000"/>
              </a:lnSpc>
              <a:buSzPct val="150000"/>
            </a:pPr>
            <a:r>
              <a:rPr lang="en-US"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US" b="1"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https://www.geeksforgeeks.org/artificial-intelligence/difference-between-informed-and-uninformed-search-in-ai/</a:t>
            </a:r>
          </a:p>
        </p:txBody>
      </p:sp>
      <p:pic>
        <p:nvPicPr>
          <p:cNvPr id="4" name="Picture 3" descr="A green and white diagram&#10;&#10;AI-generated content may be incorrect.">
            <a:extLst>
              <a:ext uri="{FF2B5EF4-FFF2-40B4-BE49-F238E27FC236}">
                <a16:creationId xmlns:a16="http://schemas.microsoft.com/office/drawing/2014/main" id="{66424B61-6485-CA23-3E8B-07605524F908}"/>
              </a:ext>
            </a:extLst>
          </p:cNvPr>
          <p:cNvPicPr>
            <a:picLocks noChangeAspect="1"/>
          </p:cNvPicPr>
          <p:nvPr/>
        </p:nvPicPr>
        <p:blipFill>
          <a:blip r:embed="rId3"/>
          <a:stretch>
            <a:fillRect/>
          </a:stretch>
        </p:blipFill>
        <p:spPr>
          <a:xfrm>
            <a:off x="4864308" y="988267"/>
            <a:ext cx="3852472" cy="3115236"/>
          </a:xfrm>
          <a:prstGeom prst="rect">
            <a:avLst/>
          </a:prstGeom>
        </p:spPr>
      </p:pic>
    </p:spTree>
    <p:extLst>
      <p:ext uri="{BB962C8B-B14F-4D97-AF65-F5344CB8AC3E}">
        <p14:creationId xmlns:p14="http://schemas.microsoft.com/office/powerpoint/2010/main" val="3395489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State space is the set of all possible states from the initial state.</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solidFill>
                  <a:schemeClr val="bg2"/>
                </a:solidFill>
              </a:rPr>
              <a:t>State Space</a:t>
            </a:r>
          </a:p>
        </p:txBody>
      </p:sp>
      <p:sp>
        <p:nvSpPr>
          <p:cNvPr id="4" name="TextBox 3">
            <a:extLst>
              <a:ext uri="{FF2B5EF4-FFF2-40B4-BE49-F238E27FC236}">
                <a16:creationId xmlns:a16="http://schemas.microsoft.com/office/drawing/2014/main" id="{1EB678B8-F295-642D-F3AF-B93D927A0909}"/>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7</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Uninformed search has no extra knowledge about the goal.</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Uninformed Search</a:t>
            </a:r>
          </a:p>
        </p:txBody>
      </p:sp>
      <p:sp>
        <p:nvSpPr>
          <p:cNvPr id="4" name="TextBox 3">
            <a:extLst>
              <a:ext uri="{FF2B5EF4-FFF2-40B4-BE49-F238E27FC236}">
                <a16:creationId xmlns:a16="http://schemas.microsoft.com/office/drawing/2014/main" id="{E79C685A-4F77-0B50-598A-449039E7A46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Blind search explores without knowing closeness to goal.</a:t>
            </a:r>
          </a:p>
        </p:txBody>
      </p:sp>
      <p:sp>
        <p:nvSpPr>
          <p:cNvPr id="2" name="Title 1"/>
          <p:cNvSpPr>
            <a:spLocks noGrp="1"/>
          </p:cNvSpPr>
          <p:nvPr>
            <p:ph type="title" idx="4294967295"/>
          </p:nvPr>
        </p:nvSpPr>
        <p:spPr>
          <a:xfrm>
            <a:off x="689548" y="206375"/>
            <a:ext cx="7540052" cy="857250"/>
          </a:xfrm>
          <a:prstGeom prst="rect">
            <a:avLst/>
          </a:prstGeom>
        </p:spPr>
        <p:txBody>
          <a:bodyPr/>
          <a:lstStyle/>
          <a:p>
            <a:pPr algn="ctr"/>
            <a:r>
              <a:rPr sz="2800" b="1" dirty="0"/>
              <a:t>Blind Search</a:t>
            </a:r>
          </a:p>
        </p:txBody>
      </p:sp>
      <p:sp>
        <p:nvSpPr>
          <p:cNvPr id="4" name="TextBox 3">
            <a:extLst>
              <a:ext uri="{FF2B5EF4-FFF2-40B4-BE49-F238E27FC236}">
                <a16:creationId xmlns:a16="http://schemas.microsoft.com/office/drawing/2014/main" id="{833B24B5-C0C9-46F0-B216-82434DD05B40}"/>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No heuristics</a:t>
            </a:r>
          </a:p>
          <a:p>
            <a:pPr>
              <a:buClr>
                <a:schemeClr val="bg2"/>
              </a:buClr>
            </a:pPr>
            <a:r>
              <a:rPr dirty="0">
                <a:solidFill>
                  <a:schemeClr val="bg2"/>
                </a:solidFill>
              </a:rPr>
              <a:t>Systematic exploration</a:t>
            </a:r>
          </a:p>
          <a:p>
            <a:pPr>
              <a:buClr>
                <a:schemeClr val="bg2"/>
              </a:buClr>
            </a:pPr>
            <a:r>
              <a:rPr dirty="0">
                <a:solidFill>
                  <a:schemeClr val="bg2"/>
                </a:solidFill>
              </a:rPr>
              <a:t>Simple but inefficient</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Features of Uninformed Search</a:t>
            </a:r>
          </a:p>
        </p:txBody>
      </p:sp>
      <p:sp>
        <p:nvSpPr>
          <p:cNvPr id="4" name="TextBox 3">
            <a:extLst>
              <a:ext uri="{FF2B5EF4-FFF2-40B4-BE49-F238E27FC236}">
                <a16:creationId xmlns:a16="http://schemas.microsoft.com/office/drawing/2014/main" id="{CBF10B0E-67EA-14A2-5B4D-6AD61B5E2BC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10</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Explores level by level</a:t>
            </a:r>
          </a:p>
          <a:p>
            <a:pPr>
              <a:buClr>
                <a:schemeClr val="bg2"/>
              </a:buClr>
            </a:pPr>
            <a:r>
              <a:rPr dirty="0">
                <a:solidFill>
                  <a:schemeClr val="bg2"/>
                </a:solidFill>
              </a:rPr>
              <a:t>Finds shortest path</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Breadth First Search</a:t>
            </a:r>
          </a:p>
        </p:txBody>
      </p:sp>
      <p:sp>
        <p:nvSpPr>
          <p:cNvPr id="4" name="TextBox 3">
            <a:extLst>
              <a:ext uri="{FF2B5EF4-FFF2-40B4-BE49-F238E27FC236}">
                <a16:creationId xmlns:a16="http://schemas.microsoft.com/office/drawing/2014/main" id="{D9B5F83E-FCCC-3627-C8B5-563625E3406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11</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Explores deepest node first</a:t>
            </a:r>
          </a:p>
          <a:p>
            <a:pPr>
              <a:buClr>
                <a:schemeClr val="bg2"/>
              </a:buClr>
            </a:pPr>
            <a:r>
              <a:rPr dirty="0">
                <a:solidFill>
                  <a:schemeClr val="bg2"/>
                </a:solidFill>
              </a:rPr>
              <a:t>Uses less memory</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Depth First Search</a:t>
            </a:r>
          </a:p>
        </p:txBody>
      </p:sp>
      <p:sp>
        <p:nvSpPr>
          <p:cNvPr id="4" name="TextBox 3">
            <a:extLst>
              <a:ext uri="{FF2B5EF4-FFF2-40B4-BE49-F238E27FC236}">
                <a16:creationId xmlns:a16="http://schemas.microsoft.com/office/drawing/2014/main" id="{ED697482-9A10-410D-60B9-8FF7A99CA47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12</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lnSpcReduction="10000"/>
          </a:bodyPr>
          <a:lstStyle/>
          <a:p>
            <a:pPr>
              <a:buClr>
                <a:schemeClr val="bg2"/>
              </a:buClr>
            </a:pPr>
            <a:r>
              <a:rPr lang="en-US" dirty="0">
                <a:solidFill>
                  <a:schemeClr val="bg2"/>
                </a:solidFill>
              </a:rPr>
              <a:t>The AI agent begins at the initial state.</a:t>
            </a:r>
          </a:p>
          <a:p>
            <a:pPr>
              <a:buClr>
                <a:schemeClr val="bg2"/>
              </a:buClr>
            </a:pPr>
            <a:r>
              <a:rPr lang="en-US" dirty="0">
                <a:solidFill>
                  <a:schemeClr val="bg2"/>
                </a:solidFill>
              </a:rPr>
              <a:t>It applies possible actions to generate new states.</a:t>
            </a:r>
          </a:p>
          <a:p>
            <a:pPr>
              <a:buClr>
                <a:schemeClr val="bg2"/>
              </a:buClr>
            </a:pPr>
            <a:r>
              <a:rPr lang="en-US" dirty="0">
                <a:solidFill>
                  <a:schemeClr val="bg2"/>
                </a:solidFill>
              </a:rPr>
              <a:t>These states are explored according to a search strategy.</a:t>
            </a:r>
          </a:p>
          <a:p>
            <a:pPr marL="76200" indent="0">
              <a:buClr>
                <a:schemeClr val="bg2"/>
              </a:buClr>
              <a:buNone/>
            </a:pPr>
            <a:endParaRPr lang="en-US" dirty="0">
              <a:solidFill>
                <a:schemeClr val="bg2"/>
              </a:solidFill>
            </a:endParaRPr>
          </a:p>
          <a:p>
            <a:pPr>
              <a:buClr>
                <a:schemeClr val="bg2"/>
              </a:buClr>
            </a:pPr>
            <a:r>
              <a:rPr lang="en-US" dirty="0">
                <a:solidFill>
                  <a:schemeClr val="bg2"/>
                </a:solidFill>
              </a:rPr>
              <a:t>The process continues until:</a:t>
            </a:r>
          </a:p>
          <a:p>
            <a:pPr marL="76200" indent="0">
              <a:buClr>
                <a:schemeClr val="bg2"/>
              </a:buClr>
              <a:buNone/>
            </a:pPr>
            <a:r>
              <a:rPr lang="en-US" dirty="0">
                <a:solidFill>
                  <a:schemeClr val="bg2"/>
                </a:solidFill>
              </a:rPr>
              <a:t>The goal state is found, or</a:t>
            </a:r>
          </a:p>
          <a:p>
            <a:pPr marL="76200" indent="0">
              <a:buClr>
                <a:schemeClr val="bg2"/>
              </a:buClr>
              <a:buNone/>
            </a:pPr>
            <a:r>
              <a:rPr lang="en-US" dirty="0">
                <a:solidFill>
                  <a:schemeClr val="bg2"/>
                </a:solidFill>
              </a:rPr>
              <a:t>The search space is exhausted.</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lang="en-US" sz="2800" b="1" dirty="0"/>
              <a:t>How Search Works in AI</a:t>
            </a:r>
          </a:p>
        </p:txBody>
      </p:sp>
      <p:sp>
        <p:nvSpPr>
          <p:cNvPr id="4" name="TextBox 3">
            <a:extLst>
              <a:ext uri="{FF2B5EF4-FFF2-40B4-BE49-F238E27FC236}">
                <a16:creationId xmlns:a16="http://schemas.microsoft.com/office/drawing/2014/main" id="{682C5293-E9D4-6756-2DF4-E4370C2925B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13</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fontScale="92500" lnSpcReduction="10000"/>
          </a:bodyPr>
          <a:lstStyle/>
          <a:p>
            <a:pPr>
              <a:buClr>
                <a:schemeClr val="bg2"/>
              </a:buClr>
            </a:pPr>
            <a:r>
              <a:rPr lang="en-US" dirty="0">
                <a:solidFill>
                  <a:schemeClr val="bg2"/>
                </a:solidFill>
              </a:rPr>
              <a:t>Based on the availability of information about the goal, search techniques are classified into:</a:t>
            </a:r>
          </a:p>
          <a:p>
            <a:pPr marL="76200" indent="0">
              <a:buClr>
                <a:schemeClr val="bg2"/>
              </a:buClr>
              <a:buNone/>
            </a:pPr>
            <a:r>
              <a:rPr lang="en-US" b="1" dirty="0">
                <a:solidFill>
                  <a:schemeClr val="bg2"/>
                </a:solidFill>
              </a:rPr>
              <a:t>1. Uninformed (Blind) Search</a:t>
            </a:r>
          </a:p>
          <a:p>
            <a:pPr>
              <a:buClr>
                <a:schemeClr val="bg2"/>
              </a:buClr>
            </a:pPr>
            <a:r>
              <a:rPr lang="en-US" dirty="0">
                <a:solidFill>
                  <a:schemeClr val="bg2"/>
                </a:solidFill>
              </a:rPr>
              <a:t>No additional knowledge about the goal.</a:t>
            </a:r>
          </a:p>
          <a:p>
            <a:pPr>
              <a:buClr>
                <a:schemeClr val="bg2"/>
              </a:buClr>
            </a:pPr>
            <a:r>
              <a:rPr lang="en-US" dirty="0">
                <a:solidFill>
                  <a:schemeClr val="bg2"/>
                </a:solidFill>
              </a:rPr>
              <a:t>Explores states systematically.</a:t>
            </a:r>
          </a:p>
          <a:p>
            <a:pPr>
              <a:buClr>
                <a:schemeClr val="bg2"/>
              </a:buClr>
            </a:pPr>
            <a:r>
              <a:rPr lang="en-US" dirty="0">
                <a:solidFill>
                  <a:schemeClr val="bg2"/>
                </a:solidFill>
              </a:rPr>
              <a:t>Examples:</a:t>
            </a:r>
          </a:p>
          <a:p>
            <a:pPr marL="76200" indent="0">
              <a:buClr>
                <a:schemeClr val="bg2"/>
              </a:buClr>
              <a:buNone/>
            </a:pPr>
            <a:r>
              <a:rPr lang="en-US" dirty="0">
                <a:solidFill>
                  <a:schemeClr val="bg2"/>
                </a:solidFill>
              </a:rPr>
              <a:t>Breadth-First Search (BFS)</a:t>
            </a:r>
          </a:p>
          <a:p>
            <a:pPr marL="76200" indent="0">
              <a:buClr>
                <a:schemeClr val="bg2"/>
              </a:buClr>
              <a:buNone/>
            </a:pPr>
            <a:r>
              <a:rPr lang="en-US" dirty="0">
                <a:solidFill>
                  <a:schemeClr val="bg2"/>
                </a:solidFill>
              </a:rPr>
              <a:t>Depth-First Search (DFS)</a:t>
            </a:r>
          </a:p>
        </p:txBody>
      </p:sp>
      <p:sp>
        <p:nvSpPr>
          <p:cNvPr id="2" name="Title 1"/>
          <p:cNvSpPr>
            <a:spLocks noGrp="1"/>
          </p:cNvSpPr>
          <p:nvPr>
            <p:ph type="title" idx="4294967295"/>
          </p:nvPr>
        </p:nvSpPr>
        <p:spPr>
          <a:xfrm>
            <a:off x="1506510" y="206375"/>
            <a:ext cx="6723089" cy="857250"/>
          </a:xfrm>
          <a:prstGeom prst="rect">
            <a:avLst/>
          </a:prstGeom>
        </p:spPr>
        <p:txBody>
          <a:bodyPr/>
          <a:lstStyle/>
          <a:p>
            <a:pPr algn="ctr"/>
            <a:r>
              <a:rPr lang="en-US" sz="2800" b="1" dirty="0"/>
              <a:t>Types of Search in AI</a:t>
            </a:r>
          </a:p>
        </p:txBody>
      </p:sp>
      <p:sp>
        <p:nvSpPr>
          <p:cNvPr id="4" name="TextBox 3">
            <a:extLst>
              <a:ext uri="{FF2B5EF4-FFF2-40B4-BE49-F238E27FC236}">
                <a16:creationId xmlns:a16="http://schemas.microsoft.com/office/drawing/2014/main" id="{180B7A02-8FB2-8A6B-7A15-CB91D14888F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14</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3827-1948-FB82-5AB6-7D32BC174E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6AEFD-F868-71A7-D656-419B9B0CF3DE}"/>
              </a:ext>
            </a:extLst>
          </p:cNvPr>
          <p:cNvSpPr>
            <a:spLocks noGrp="1"/>
          </p:cNvSpPr>
          <p:nvPr>
            <p:ph type="body" idx="1"/>
          </p:nvPr>
        </p:nvSpPr>
        <p:spPr/>
        <p:txBody>
          <a:bodyPr>
            <a:normAutofit/>
          </a:bodyPr>
          <a:lstStyle/>
          <a:p>
            <a:pPr marL="76200" indent="0">
              <a:buClr>
                <a:schemeClr val="bg2"/>
              </a:buClr>
              <a:buNone/>
            </a:pPr>
            <a:r>
              <a:rPr lang="en-US" b="1" dirty="0">
                <a:solidFill>
                  <a:schemeClr val="bg2"/>
                </a:solidFill>
              </a:rPr>
              <a:t>2. Informed (Heuristic) Search</a:t>
            </a:r>
          </a:p>
          <a:p>
            <a:pPr>
              <a:buClr>
                <a:schemeClr val="bg2"/>
              </a:buClr>
            </a:pPr>
            <a:r>
              <a:rPr lang="en-US" dirty="0">
                <a:solidFill>
                  <a:schemeClr val="bg2"/>
                </a:solidFill>
              </a:rPr>
              <a:t>Uses extra information (heuristics) to guide the search.</a:t>
            </a:r>
          </a:p>
          <a:p>
            <a:pPr>
              <a:buClr>
                <a:schemeClr val="bg2"/>
              </a:buClr>
            </a:pPr>
            <a:r>
              <a:rPr lang="en-US" dirty="0">
                <a:solidFill>
                  <a:schemeClr val="bg2"/>
                </a:solidFill>
              </a:rPr>
              <a:t>More efficient and goal-directed.</a:t>
            </a:r>
          </a:p>
          <a:p>
            <a:pPr>
              <a:buClr>
                <a:schemeClr val="bg2"/>
              </a:buClr>
            </a:pPr>
            <a:r>
              <a:rPr lang="en-US" dirty="0">
                <a:solidFill>
                  <a:schemeClr val="bg2"/>
                </a:solidFill>
              </a:rPr>
              <a:t>Examples:</a:t>
            </a:r>
          </a:p>
          <a:p>
            <a:pPr>
              <a:buClr>
                <a:schemeClr val="bg2"/>
              </a:buClr>
            </a:pPr>
            <a:r>
              <a:rPr lang="en-US" dirty="0">
                <a:solidFill>
                  <a:schemeClr val="bg2"/>
                </a:solidFill>
              </a:rPr>
              <a:t>Greedy Best-First Search</a:t>
            </a:r>
          </a:p>
          <a:p>
            <a:pPr>
              <a:buClr>
                <a:schemeClr val="bg2"/>
              </a:buClr>
            </a:pPr>
            <a:r>
              <a:rPr lang="en-US" dirty="0">
                <a:solidFill>
                  <a:schemeClr val="bg2"/>
                </a:solidFill>
              </a:rPr>
              <a:t>A* Search</a:t>
            </a:r>
          </a:p>
        </p:txBody>
      </p:sp>
      <p:sp>
        <p:nvSpPr>
          <p:cNvPr id="2" name="Title 1">
            <a:extLst>
              <a:ext uri="{FF2B5EF4-FFF2-40B4-BE49-F238E27FC236}">
                <a16:creationId xmlns:a16="http://schemas.microsoft.com/office/drawing/2014/main" id="{4DF9EA06-C413-C67F-7D6D-9654D2FDB415}"/>
              </a:ext>
            </a:extLst>
          </p:cNvPr>
          <p:cNvSpPr>
            <a:spLocks noGrp="1"/>
          </p:cNvSpPr>
          <p:nvPr>
            <p:ph type="title" idx="4294967295"/>
          </p:nvPr>
        </p:nvSpPr>
        <p:spPr>
          <a:xfrm>
            <a:off x="1506510" y="206375"/>
            <a:ext cx="6723089" cy="857250"/>
          </a:xfrm>
          <a:prstGeom prst="rect">
            <a:avLst/>
          </a:prstGeom>
        </p:spPr>
        <p:txBody>
          <a:bodyPr/>
          <a:lstStyle/>
          <a:p>
            <a:pPr algn="ctr"/>
            <a:r>
              <a:rPr lang="en-US" sz="2800" b="1" dirty="0"/>
              <a:t>Types of Search in AI</a:t>
            </a:r>
          </a:p>
        </p:txBody>
      </p:sp>
      <p:sp>
        <p:nvSpPr>
          <p:cNvPr id="4" name="TextBox 3">
            <a:extLst>
              <a:ext uri="{FF2B5EF4-FFF2-40B4-BE49-F238E27FC236}">
                <a16:creationId xmlns:a16="http://schemas.microsoft.com/office/drawing/2014/main" id="{7C9B933B-A8F0-DFB9-A8D7-D2A70174FF1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15</a:t>
            </a:r>
            <a:endParaRPr lang="en-IN" dirty="0"/>
          </a:p>
        </p:txBody>
      </p:sp>
    </p:spTree>
    <p:extLst>
      <p:ext uri="{BB962C8B-B14F-4D97-AF65-F5344CB8AC3E}">
        <p14:creationId xmlns:p14="http://schemas.microsoft.com/office/powerpoint/2010/main" val="2357109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a:bodyPr>
          <a:lstStyle/>
          <a:p>
            <a:pPr>
              <a:buClr>
                <a:schemeClr val="bg2"/>
              </a:buClr>
            </a:pPr>
            <a:r>
              <a:rPr dirty="0">
                <a:solidFill>
                  <a:schemeClr val="bg2"/>
                </a:solidFill>
              </a:rPr>
              <a:t>Heuristic estimates distance to goal</a:t>
            </a:r>
            <a:endParaRPr lang="en-IN" dirty="0">
              <a:solidFill>
                <a:schemeClr val="bg2"/>
              </a:solidFill>
            </a:endParaRPr>
          </a:p>
          <a:p>
            <a:pPr>
              <a:buClr>
                <a:schemeClr val="bg2"/>
              </a:buClr>
            </a:pPr>
            <a:r>
              <a:rPr lang="en-US" b="1" dirty="0">
                <a:solidFill>
                  <a:schemeClr val="bg2"/>
                </a:solidFill>
              </a:rPr>
              <a:t>Heuristic function</a:t>
            </a:r>
            <a:r>
              <a:rPr lang="en-US" dirty="0">
                <a:solidFill>
                  <a:schemeClr val="bg2"/>
                </a:solidFill>
              </a:rPr>
              <a:t>, denoted as h(n), is a function that: Estimates the cost of the cheapest path from a current node (state) n to the goal state.</a:t>
            </a:r>
          </a:p>
          <a:p>
            <a:pPr>
              <a:buClr>
                <a:schemeClr val="bg2"/>
              </a:buClr>
            </a:pPr>
            <a:r>
              <a:rPr lang="en-US" dirty="0">
                <a:solidFill>
                  <a:schemeClr val="bg2"/>
                </a:solidFill>
              </a:rPr>
              <a:t>It uses problem-specific knowledge to guide the search efficiently.</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Heuristic Function</a:t>
            </a:r>
          </a:p>
        </p:txBody>
      </p:sp>
      <p:sp>
        <p:nvSpPr>
          <p:cNvPr id="4" name="TextBox 3">
            <a:extLst>
              <a:ext uri="{FF2B5EF4-FFF2-40B4-BE49-F238E27FC236}">
                <a16:creationId xmlns:a16="http://schemas.microsoft.com/office/drawing/2014/main" id="{9C4BB0A9-6307-79BA-8643-5B19C2A8EB2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16</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FD5D0-D841-8691-9FE4-5DEEC21CE6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27E49A-0580-36F7-3E27-DD2E56B0C5BE}"/>
              </a:ext>
            </a:extLst>
          </p:cNvPr>
          <p:cNvSpPr>
            <a:spLocks noGrp="1"/>
          </p:cNvSpPr>
          <p:nvPr>
            <p:ph type="body" idx="1"/>
          </p:nvPr>
        </p:nvSpPr>
        <p:spPr/>
        <p:txBody>
          <a:bodyPr>
            <a:normAutofit/>
          </a:bodyPr>
          <a:lstStyle/>
          <a:p>
            <a:pPr>
              <a:buClr>
                <a:schemeClr val="bg2"/>
              </a:buClr>
            </a:pPr>
            <a:r>
              <a:rPr lang="en-US" b="1" dirty="0">
                <a:solidFill>
                  <a:schemeClr val="bg2"/>
                </a:solidFill>
              </a:rPr>
              <a:t>Purpose of a Heuristic </a:t>
            </a:r>
            <a:r>
              <a:rPr lang="en-US" b="1" dirty="0" err="1">
                <a:solidFill>
                  <a:schemeClr val="bg2"/>
                </a:solidFill>
              </a:rPr>
              <a:t>FunctionThe</a:t>
            </a:r>
            <a:r>
              <a:rPr lang="en-US" b="1" dirty="0">
                <a:solidFill>
                  <a:schemeClr val="bg2"/>
                </a:solidFill>
              </a:rPr>
              <a:t> main purposes are</a:t>
            </a:r>
            <a:r>
              <a:rPr lang="en-US" dirty="0">
                <a:solidFill>
                  <a:schemeClr val="bg2"/>
                </a:solidFill>
              </a:rPr>
              <a:t>:</a:t>
            </a:r>
          </a:p>
          <a:p>
            <a:pPr>
              <a:buClr>
                <a:schemeClr val="bg2"/>
              </a:buClr>
            </a:pPr>
            <a:r>
              <a:rPr lang="en-US" dirty="0">
                <a:solidFill>
                  <a:schemeClr val="bg2"/>
                </a:solidFill>
              </a:rPr>
              <a:t>To reduce the search </a:t>
            </a:r>
            <a:r>
              <a:rPr lang="en-US" dirty="0" err="1">
                <a:solidFill>
                  <a:schemeClr val="bg2"/>
                </a:solidFill>
              </a:rPr>
              <a:t>spaceTo</a:t>
            </a:r>
            <a:r>
              <a:rPr lang="en-US" dirty="0">
                <a:solidFill>
                  <a:schemeClr val="bg2"/>
                </a:solidFill>
              </a:rPr>
              <a:t> speed up problem </a:t>
            </a:r>
            <a:r>
              <a:rPr lang="en-US" dirty="0" err="1">
                <a:solidFill>
                  <a:schemeClr val="bg2"/>
                </a:solidFill>
              </a:rPr>
              <a:t>solvingTo</a:t>
            </a:r>
            <a:r>
              <a:rPr lang="en-US" dirty="0">
                <a:solidFill>
                  <a:schemeClr val="bg2"/>
                </a:solidFill>
              </a:rPr>
              <a:t> guide the search toward the most promising </a:t>
            </a:r>
            <a:r>
              <a:rPr lang="en-US" dirty="0" err="1">
                <a:solidFill>
                  <a:schemeClr val="bg2"/>
                </a:solidFill>
              </a:rPr>
              <a:t>statesWithout</a:t>
            </a:r>
            <a:r>
              <a:rPr lang="en-US" dirty="0">
                <a:solidFill>
                  <a:schemeClr val="bg2"/>
                </a:solidFill>
              </a:rPr>
              <a:t> heuristics, AI must rely on uninformed (blind) search, which is slow and inefficient.</a:t>
            </a:r>
            <a:endParaRPr dirty="0">
              <a:solidFill>
                <a:schemeClr val="bg2"/>
              </a:solidFill>
            </a:endParaRPr>
          </a:p>
        </p:txBody>
      </p:sp>
      <p:sp>
        <p:nvSpPr>
          <p:cNvPr id="2" name="Title 1">
            <a:extLst>
              <a:ext uri="{FF2B5EF4-FFF2-40B4-BE49-F238E27FC236}">
                <a16:creationId xmlns:a16="http://schemas.microsoft.com/office/drawing/2014/main" id="{0B42FE15-9B5F-08B0-48D8-E5125BEE64CD}"/>
              </a:ext>
            </a:extLst>
          </p:cNvPr>
          <p:cNvSpPr>
            <a:spLocks noGrp="1"/>
          </p:cNvSpPr>
          <p:nvPr>
            <p:ph type="title" idx="4294967295"/>
          </p:nvPr>
        </p:nvSpPr>
        <p:spPr>
          <a:xfrm>
            <a:off x="0" y="206375"/>
            <a:ext cx="8229600" cy="857250"/>
          </a:xfrm>
          <a:prstGeom prst="rect">
            <a:avLst/>
          </a:prstGeom>
        </p:spPr>
        <p:txBody>
          <a:bodyPr/>
          <a:lstStyle/>
          <a:p>
            <a:pPr algn="ctr"/>
            <a:r>
              <a:rPr sz="2800" b="1" dirty="0"/>
              <a:t>Heuristic Function</a:t>
            </a:r>
          </a:p>
        </p:txBody>
      </p:sp>
      <p:sp>
        <p:nvSpPr>
          <p:cNvPr id="4" name="TextBox 3">
            <a:extLst>
              <a:ext uri="{FF2B5EF4-FFF2-40B4-BE49-F238E27FC236}">
                <a16:creationId xmlns:a16="http://schemas.microsoft.com/office/drawing/2014/main" id="{32737D69-6CFC-8516-029B-F33BC418967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17</a:t>
            </a:r>
            <a:endParaRPr lang="en-IN" dirty="0"/>
          </a:p>
        </p:txBody>
      </p:sp>
    </p:spTree>
    <p:extLst>
      <p:ext uri="{BB962C8B-B14F-4D97-AF65-F5344CB8AC3E}">
        <p14:creationId xmlns:p14="http://schemas.microsoft.com/office/powerpoint/2010/main" val="1947887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Uses heuristics</a:t>
            </a:r>
          </a:p>
          <a:p>
            <a:pPr>
              <a:buClr>
                <a:schemeClr val="bg2"/>
              </a:buClr>
            </a:pPr>
            <a:r>
              <a:rPr dirty="0">
                <a:solidFill>
                  <a:schemeClr val="bg2"/>
                </a:solidFill>
              </a:rPr>
              <a:t>Goal directed</a:t>
            </a:r>
          </a:p>
          <a:p>
            <a:pPr>
              <a:buClr>
                <a:schemeClr val="bg2"/>
              </a:buClr>
            </a:pPr>
            <a:r>
              <a:rPr dirty="0">
                <a:solidFill>
                  <a:schemeClr val="bg2"/>
                </a:solidFill>
              </a:rPr>
              <a:t>Efficient</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Features of Informed Search</a:t>
            </a:r>
          </a:p>
        </p:txBody>
      </p:sp>
      <p:sp>
        <p:nvSpPr>
          <p:cNvPr id="4" name="TextBox 3">
            <a:extLst>
              <a:ext uri="{FF2B5EF4-FFF2-40B4-BE49-F238E27FC236}">
                <a16:creationId xmlns:a16="http://schemas.microsoft.com/office/drawing/2014/main" id="{57346979-8325-492B-C08E-C05F819184C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18</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type="body" idx="1"/>
              </p:nvPr>
            </p:nvSpPr>
            <p:spPr/>
            <p:txBody>
              <a:bodyPr>
                <a:normAutofit fontScale="92500" lnSpcReduction="10000"/>
              </a:bodyPr>
              <a:lstStyle/>
              <a:p>
                <a:pPr>
                  <a:buClr>
                    <a:schemeClr val="bg2"/>
                  </a:buClr>
                </a:pPr>
                <a:r>
                  <a:rPr dirty="0">
                    <a:solidFill>
                      <a:schemeClr val="bg2"/>
                    </a:solidFill>
                  </a:rPr>
                  <a:t>Chooses node closest to goal</a:t>
                </a:r>
                <a:endParaRPr lang="en-US" dirty="0">
                  <a:solidFill>
                    <a:schemeClr val="bg2"/>
                  </a:solidFill>
                </a:endParaRPr>
              </a:p>
              <a:p>
                <a:pPr>
                  <a:buClr>
                    <a:schemeClr val="bg2"/>
                  </a:buClr>
                </a:pPr>
                <a:r>
                  <a:rPr lang="en-IN" b="1" dirty="0">
                    <a:solidFill>
                      <a:schemeClr val="bg2"/>
                    </a:solidFill>
                  </a:rPr>
                  <a:t>Greedy Best First Search</a:t>
                </a:r>
                <a:r>
                  <a:rPr lang="en-IN" dirty="0">
                    <a:solidFill>
                      <a:schemeClr val="bg2"/>
                    </a:solidFill>
                  </a:rPr>
                  <a:t> selects the next node to expand by choosing the one with the </a:t>
                </a:r>
                <a:r>
                  <a:rPr lang="en-IN" b="1" dirty="0">
                    <a:solidFill>
                      <a:schemeClr val="bg2"/>
                    </a:solidFill>
                  </a:rPr>
                  <a:t>lowest heuristic value</a:t>
                </a:r>
                <a:r>
                  <a:rPr lang="en-IN" dirty="0">
                    <a:solidFill>
                      <a:schemeClr val="bg2"/>
                    </a:solidFill>
                  </a:rPr>
                  <a:t>.</a:t>
                </a:r>
              </a:p>
              <a:p>
                <a:pPr>
                  <a:buClr>
                    <a:schemeClr val="bg2"/>
                  </a:buClr>
                </a:pPr>
                <a14:m>
                  <m:oMath xmlns:m="http://schemas.openxmlformats.org/officeDocument/2006/math">
                    <m:r>
                      <a:rPr lang="en-IN" i="1">
                        <a:solidFill>
                          <a:schemeClr val="bg2"/>
                        </a:solidFill>
                        <a:latin typeface="Cambria Math" panose="02040503050406030204" pitchFamily="18" charset="0"/>
                      </a:rPr>
                      <m:t>𝑓</m:t>
                    </m:r>
                    <m:d>
                      <m:dPr>
                        <m:ctrlPr>
                          <a:rPr lang="ar-AE" i="1">
                            <a:solidFill>
                              <a:schemeClr val="bg2"/>
                            </a:solidFill>
                            <a:latin typeface="Cambria Math" panose="02040503050406030204" pitchFamily="18" charset="0"/>
                          </a:rPr>
                        </m:ctrlPr>
                      </m:dPr>
                      <m:e>
                        <m:r>
                          <a:rPr lang="ar-AE" i="1">
                            <a:solidFill>
                              <a:schemeClr val="bg2"/>
                            </a:solidFill>
                            <a:latin typeface="Cambria Math" panose="02040503050406030204" pitchFamily="18" charset="0"/>
                          </a:rPr>
                          <m:t>𝑛</m:t>
                        </m:r>
                      </m:e>
                    </m:d>
                    <m:r>
                      <a:rPr lang="ar-AE">
                        <a:solidFill>
                          <a:schemeClr val="bg2"/>
                        </a:solidFill>
                        <a:latin typeface="Cambria Math" panose="02040503050406030204" pitchFamily="18" charset="0"/>
                      </a:rPr>
                      <m:t>=</m:t>
                    </m:r>
                    <m:r>
                      <a:rPr lang="ar-AE" i="1">
                        <a:solidFill>
                          <a:schemeClr val="bg2"/>
                        </a:solidFill>
                        <a:latin typeface="Cambria Math" panose="02040503050406030204" pitchFamily="18" charset="0"/>
                      </a:rPr>
                      <m:t>h</m:t>
                    </m:r>
                    <m:d>
                      <m:dPr>
                        <m:ctrlPr>
                          <a:rPr lang="ar-AE" i="1">
                            <a:solidFill>
                              <a:schemeClr val="bg2"/>
                            </a:solidFill>
                            <a:latin typeface="Cambria Math" panose="02040503050406030204" pitchFamily="18" charset="0"/>
                          </a:rPr>
                        </m:ctrlPr>
                      </m:dPr>
                      <m:e>
                        <m:r>
                          <a:rPr lang="ar-AE" i="1">
                            <a:solidFill>
                              <a:schemeClr val="bg2"/>
                            </a:solidFill>
                            <a:latin typeface="Cambria Math" panose="02040503050406030204" pitchFamily="18" charset="0"/>
                          </a:rPr>
                          <m:t>𝑛</m:t>
                        </m:r>
                      </m:e>
                    </m:d>
                  </m:oMath>
                </a14:m>
                <a:endParaRPr lang="ar-AE" dirty="0">
                  <a:solidFill>
                    <a:schemeClr val="bg2"/>
                  </a:solidFill>
                </a:endParaRPr>
              </a:p>
              <a:p>
                <a:pPr>
                  <a:buClr>
                    <a:schemeClr val="bg2"/>
                  </a:buClr>
                </a:pPr>
                <a:r>
                  <a:rPr lang="en-IN" dirty="0">
                    <a:solidFill>
                      <a:schemeClr val="bg2"/>
                    </a:solidFill>
                  </a:rPr>
                  <a:t>Where:</a:t>
                </a:r>
              </a:p>
              <a:p>
                <a:pPr>
                  <a:buClr>
                    <a:schemeClr val="bg2"/>
                  </a:buClr>
                </a:pPr>
                <a:r>
                  <a:rPr lang="en-IN" dirty="0">
                    <a:solidFill>
                      <a:schemeClr val="bg2"/>
                    </a:solidFill>
                  </a:rPr>
                  <a:t>h(n) = estimated cost from node n to the goal</a:t>
                </a:r>
              </a:p>
              <a:p>
                <a:pPr>
                  <a:buClr>
                    <a:schemeClr val="bg2"/>
                  </a:buClr>
                </a:pPr>
                <a:r>
                  <a:rPr lang="en-IN" dirty="0">
                    <a:solidFill>
                      <a:schemeClr val="bg2"/>
                    </a:solidFill>
                  </a:rPr>
                  <a:t>It is called </a:t>
                </a:r>
                <a:r>
                  <a:rPr lang="en-IN" b="1" dirty="0">
                    <a:solidFill>
                      <a:schemeClr val="bg2"/>
                    </a:solidFill>
                  </a:rPr>
                  <a:t>greedy</a:t>
                </a:r>
                <a:r>
                  <a:rPr lang="en-IN" dirty="0">
                    <a:solidFill>
                      <a:schemeClr val="bg2"/>
                    </a:solidFill>
                  </a:rPr>
                  <a:t> because it always chooses what seems best </a:t>
                </a:r>
                <a:r>
                  <a:rPr lang="en-IN" b="1" dirty="0">
                    <a:solidFill>
                      <a:schemeClr val="bg2"/>
                    </a:solidFill>
                  </a:rPr>
                  <a:t>at the moment</a:t>
                </a:r>
                <a:r>
                  <a:rPr lang="en-IN" dirty="0">
                    <a:solidFill>
                      <a:schemeClr val="bg2"/>
                    </a:solidFill>
                  </a:rPr>
                  <a:t>, without considering the path cost so far.</a:t>
                </a:r>
              </a:p>
              <a:p>
                <a:pPr>
                  <a:buClr>
                    <a:schemeClr val="bg2"/>
                  </a:buClr>
                </a:pPr>
                <a:endParaRPr dirty="0">
                  <a:solidFill>
                    <a:schemeClr val="bg2"/>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type="body" idx="1"/>
              </p:nvPr>
            </p:nvSpPr>
            <p:spPr>
              <a:blipFill>
                <a:blip r:embed="rId2"/>
                <a:stretch>
                  <a:fillRect l="-76" r="-1676" b="-1447"/>
                </a:stretch>
              </a:blipFill>
            </p:spPr>
            <p:txBody>
              <a:bodyPr/>
              <a:lstStyle/>
              <a:p>
                <a:r>
                  <a:rPr lang="en-IN">
                    <a:noFill/>
                  </a:rPr>
                  <a:t> </a:t>
                </a:r>
              </a:p>
            </p:txBody>
          </p:sp>
        </mc:Fallback>
      </mc:AlternateContent>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solidFill>
                  <a:schemeClr val="bg2"/>
                </a:solidFill>
              </a:rPr>
              <a:t>Greedy Best First Search</a:t>
            </a:r>
          </a:p>
        </p:txBody>
      </p:sp>
      <p:sp>
        <p:nvSpPr>
          <p:cNvPr id="4" name="TextBox 3">
            <a:extLst>
              <a:ext uri="{FF2B5EF4-FFF2-40B4-BE49-F238E27FC236}">
                <a16:creationId xmlns:a16="http://schemas.microsoft.com/office/drawing/2014/main" id="{B3618BF3-EF86-CA51-A9DA-5E7A487C986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19</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lang="en-US" dirty="0">
                <a:solidFill>
                  <a:schemeClr val="bg2"/>
                </a:solidFill>
              </a:rPr>
              <a:t>“Move towards the goal as quickly as possible.”</a:t>
            </a:r>
          </a:p>
          <a:p>
            <a:pPr>
              <a:buClr>
                <a:schemeClr val="bg2"/>
              </a:buClr>
            </a:pPr>
            <a:r>
              <a:rPr lang="en-US" dirty="0">
                <a:solidFill>
                  <a:schemeClr val="bg2"/>
                </a:solidFill>
              </a:rPr>
              <a:t>The algorithm ignores how expensive the path has been and focuses only on how close a node looks to the goal.</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lang="en-IN" sz="2800" b="1" dirty="0"/>
              <a:t>Key Idea of </a:t>
            </a:r>
            <a:r>
              <a:rPr lang="en-IN" sz="2800" b="1" dirty="0">
                <a:solidFill>
                  <a:schemeClr val="bg2"/>
                </a:solidFill>
              </a:rPr>
              <a:t>Greedy Best First Search</a:t>
            </a:r>
            <a:endParaRPr lang="en-IN" sz="2800" b="1" dirty="0"/>
          </a:p>
        </p:txBody>
      </p:sp>
      <p:sp>
        <p:nvSpPr>
          <p:cNvPr id="4" name="TextBox 3">
            <a:extLst>
              <a:ext uri="{FF2B5EF4-FFF2-40B4-BE49-F238E27FC236}">
                <a16:creationId xmlns:a16="http://schemas.microsoft.com/office/drawing/2014/main" id="{26BB4E8A-F992-F0B2-273E-64C5BBF0A5E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20</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lang="en-US" b="1" dirty="0">
                <a:solidFill>
                  <a:schemeClr val="bg2"/>
                </a:solidFill>
              </a:rPr>
              <a:t>A* Search Algorithm</a:t>
            </a:r>
          </a:p>
          <a:p>
            <a:pPr>
              <a:buClr>
                <a:schemeClr val="bg2"/>
              </a:buClr>
            </a:pPr>
            <a:r>
              <a:rPr dirty="0">
                <a:solidFill>
                  <a:schemeClr val="bg2"/>
                </a:solidFill>
              </a:rPr>
              <a:t>Uses path cost + heuristic</a:t>
            </a:r>
          </a:p>
          <a:p>
            <a:pPr>
              <a:buClr>
                <a:schemeClr val="bg2"/>
              </a:buClr>
            </a:pPr>
            <a:r>
              <a:rPr dirty="0">
                <a:solidFill>
                  <a:schemeClr val="bg2"/>
                </a:solidFill>
              </a:rPr>
              <a:t>Optimal if heuristic admissible</a:t>
            </a:r>
            <a:endParaRPr lang="en-US" dirty="0">
              <a:solidFill>
                <a:schemeClr val="bg2"/>
              </a:solidFill>
            </a:endParaRPr>
          </a:p>
          <a:p>
            <a:pPr>
              <a:buClr>
                <a:schemeClr val="bg2"/>
              </a:buClr>
            </a:pPr>
            <a:endParaRPr lang="en-IN" dirty="0">
              <a:solidFill>
                <a:schemeClr val="bg2"/>
              </a:solidFill>
            </a:endParaRPr>
          </a:p>
          <a:p>
            <a:pPr>
              <a:buClr>
                <a:schemeClr val="bg2"/>
              </a:buClr>
            </a:pPr>
            <a:r>
              <a:rPr lang="en-IN" b="1" dirty="0">
                <a:solidFill>
                  <a:schemeClr val="bg2"/>
                </a:solidFill>
              </a:rPr>
              <a:t>AO* Algorithm</a:t>
            </a:r>
            <a:r>
              <a:rPr lang="en-IN" dirty="0">
                <a:solidFill>
                  <a:schemeClr val="bg2"/>
                </a:solidFill>
              </a:rPr>
              <a:t>:-Used for AND-OR graphs</a:t>
            </a:r>
          </a:p>
          <a:p>
            <a:pPr>
              <a:buClr>
                <a:schemeClr val="bg2"/>
              </a:buClr>
            </a:pPr>
            <a:endParaRPr dirty="0">
              <a:solidFill>
                <a:schemeClr val="bg2"/>
              </a:solidFill>
            </a:endParaRP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 Search Algorithm</a:t>
            </a:r>
          </a:p>
        </p:txBody>
      </p:sp>
      <p:sp>
        <p:nvSpPr>
          <p:cNvPr id="4" name="TextBox 3">
            <a:extLst>
              <a:ext uri="{FF2B5EF4-FFF2-40B4-BE49-F238E27FC236}">
                <a16:creationId xmlns:a16="http://schemas.microsoft.com/office/drawing/2014/main" id="{2CC0C40F-81E7-5AD6-E5BD-A08DA0E372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21</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lang="en-IN" b="1" dirty="0">
                <a:solidFill>
                  <a:schemeClr val="bg2"/>
                </a:solidFill>
              </a:rPr>
              <a:t>Hill Climbing:-</a:t>
            </a:r>
            <a:r>
              <a:rPr dirty="0">
                <a:solidFill>
                  <a:schemeClr val="bg2"/>
                </a:solidFill>
              </a:rPr>
              <a:t>Moves toward better neighboring state</a:t>
            </a:r>
            <a:endParaRPr lang="en-US" dirty="0">
              <a:solidFill>
                <a:schemeClr val="bg2"/>
              </a:solidFill>
            </a:endParaRPr>
          </a:p>
          <a:p>
            <a:pPr>
              <a:buClr>
                <a:schemeClr val="bg2"/>
              </a:buClr>
            </a:pPr>
            <a:r>
              <a:rPr lang="en-US" b="1" dirty="0">
                <a:solidFill>
                  <a:schemeClr val="bg2"/>
                </a:solidFill>
              </a:rPr>
              <a:t>Admissible Heuristic:-</a:t>
            </a:r>
            <a:r>
              <a:rPr lang="en-IN" dirty="0">
                <a:solidFill>
                  <a:schemeClr val="bg2"/>
                </a:solidFill>
              </a:rPr>
              <a:t>Never overestimates actual cost</a:t>
            </a:r>
          </a:p>
          <a:p>
            <a:pPr>
              <a:buClr>
                <a:schemeClr val="bg2"/>
              </a:buClr>
            </a:pPr>
            <a:r>
              <a:rPr lang="en-IN" b="1" dirty="0">
                <a:solidFill>
                  <a:schemeClr val="bg2"/>
                </a:solidFill>
              </a:rPr>
              <a:t>Consistent Heuristic:-</a:t>
            </a:r>
            <a:r>
              <a:rPr lang="en-US" dirty="0">
                <a:solidFill>
                  <a:schemeClr val="bg2"/>
                </a:solidFill>
              </a:rPr>
              <a:t>Estimated cost always lower bound</a:t>
            </a:r>
          </a:p>
          <a:p>
            <a:pPr>
              <a:buClr>
                <a:schemeClr val="bg2"/>
              </a:buClr>
            </a:pPr>
            <a:r>
              <a:rPr lang="en-US" b="1" dirty="0">
                <a:solidFill>
                  <a:schemeClr val="bg2"/>
                </a:solidFill>
              </a:rPr>
              <a:t>Optimality</a:t>
            </a:r>
            <a:r>
              <a:rPr lang="en-US" dirty="0">
                <a:solidFill>
                  <a:schemeClr val="bg2"/>
                </a:solidFill>
              </a:rPr>
              <a:t>:-</a:t>
            </a:r>
            <a:r>
              <a:rPr lang="en-IN" dirty="0">
                <a:solidFill>
                  <a:schemeClr val="bg2"/>
                </a:solidFill>
              </a:rPr>
              <a:t>Finds best solution</a:t>
            </a:r>
          </a:p>
          <a:p>
            <a:pPr>
              <a:buClr>
                <a:schemeClr val="bg2"/>
              </a:buClr>
            </a:pPr>
            <a:r>
              <a:rPr lang="en-IN" b="1" dirty="0">
                <a:solidFill>
                  <a:schemeClr val="bg2"/>
                </a:solidFill>
              </a:rPr>
              <a:t>Completeness:-</a:t>
            </a:r>
            <a:r>
              <a:rPr lang="en-US" dirty="0">
                <a:solidFill>
                  <a:schemeClr val="bg2"/>
                </a:solidFill>
              </a:rPr>
              <a:t>Always finds solution if exists</a:t>
            </a:r>
          </a:p>
          <a:p>
            <a:pPr>
              <a:buClr>
                <a:schemeClr val="bg2"/>
              </a:buClr>
            </a:pPr>
            <a:endParaRPr lang="en-IN" dirty="0">
              <a:solidFill>
                <a:schemeClr val="bg2"/>
              </a:solidFill>
            </a:endParaRPr>
          </a:p>
          <a:p>
            <a:pPr>
              <a:buClr>
                <a:schemeClr val="bg2"/>
              </a:buClr>
            </a:pPr>
            <a:endParaRPr lang="en-US" dirty="0">
              <a:solidFill>
                <a:schemeClr val="bg2"/>
              </a:solidFill>
            </a:endParaRPr>
          </a:p>
          <a:p>
            <a:pPr>
              <a:buClr>
                <a:schemeClr val="bg2"/>
              </a:buClr>
            </a:pPr>
            <a:endParaRPr lang="en-IN" b="1" dirty="0">
              <a:solidFill>
                <a:schemeClr val="bg2"/>
              </a:solidFill>
            </a:endParaRPr>
          </a:p>
          <a:p>
            <a:pPr>
              <a:buClr>
                <a:schemeClr val="bg2"/>
              </a:buClr>
            </a:pPr>
            <a:endParaRPr lang="en-US" dirty="0">
              <a:solidFill>
                <a:schemeClr val="bg2"/>
              </a:solidFill>
            </a:endParaRPr>
          </a:p>
          <a:p>
            <a:pPr>
              <a:buClr>
                <a:schemeClr val="bg2"/>
              </a:buClr>
            </a:pPr>
            <a:endParaRPr dirty="0">
              <a:solidFill>
                <a:schemeClr val="bg2"/>
              </a:solidFill>
            </a:endParaRPr>
          </a:p>
        </p:txBody>
      </p:sp>
      <p:sp>
        <p:nvSpPr>
          <p:cNvPr id="2" name="Title 1"/>
          <p:cNvSpPr>
            <a:spLocks noGrp="1"/>
          </p:cNvSpPr>
          <p:nvPr>
            <p:ph type="title" idx="4294967295"/>
          </p:nvPr>
        </p:nvSpPr>
        <p:spPr>
          <a:xfrm>
            <a:off x="914400" y="206375"/>
            <a:ext cx="7315200" cy="857250"/>
          </a:xfrm>
          <a:prstGeom prst="rect">
            <a:avLst/>
          </a:prstGeom>
        </p:spPr>
        <p:txBody>
          <a:bodyPr/>
          <a:lstStyle/>
          <a:p>
            <a:pPr algn="ctr"/>
            <a:r>
              <a:rPr lang="en-IN" sz="2800" b="1" dirty="0"/>
              <a:t>Search Algorithm</a:t>
            </a:r>
            <a:br>
              <a:rPr lang="en-US" sz="2800" b="1" dirty="0"/>
            </a:br>
            <a:endParaRPr sz="2800" b="1" dirty="0"/>
          </a:p>
        </p:txBody>
      </p:sp>
      <p:sp>
        <p:nvSpPr>
          <p:cNvPr id="4" name="TextBox 3">
            <a:extLst>
              <a:ext uri="{FF2B5EF4-FFF2-40B4-BE49-F238E27FC236}">
                <a16:creationId xmlns:a16="http://schemas.microsoft.com/office/drawing/2014/main" id="{FC99BEBF-E8A8-1E5E-6631-C745EACAED7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22</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Informed: fast &amp; guided</a:t>
            </a:r>
          </a:p>
          <a:p>
            <a:pPr>
              <a:buClr>
                <a:schemeClr val="bg2"/>
              </a:buClr>
            </a:pPr>
            <a:r>
              <a:rPr dirty="0">
                <a:solidFill>
                  <a:schemeClr val="bg2"/>
                </a:solidFill>
              </a:rPr>
              <a:t>Uninformed: slow &amp; blind</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Informed vs Uninformed Search</a:t>
            </a:r>
          </a:p>
        </p:txBody>
      </p:sp>
      <p:sp>
        <p:nvSpPr>
          <p:cNvPr id="4" name="TextBox 3">
            <a:extLst>
              <a:ext uri="{FF2B5EF4-FFF2-40B4-BE49-F238E27FC236}">
                <a16:creationId xmlns:a16="http://schemas.microsoft.com/office/drawing/2014/main" id="{D4356942-B2CE-32FD-63FE-DC0AB82D78B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23</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3E83F-6B33-9080-3882-FBF38A40F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4AD3A-6442-4818-5841-5939C2E385C7}"/>
              </a:ext>
            </a:extLst>
          </p:cNvPr>
          <p:cNvSpPr>
            <a:spLocks noGrp="1"/>
          </p:cNvSpPr>
          <p:nvPr>
            <p:ph type="title" idx="4294967295"/>
          </p:nvPr>
        </p:nvSpPr>
        <p:spPr>
          <a:xfrm>
            <a:off x="0" y="206375"/>
            <a:ext cx="8229600" cy="857250"/>
          </a:xfrm>
          <a:prstGeom prst="rect">
            <a:avLst/>
          </a:prstGeom>
        </p:spPr>
        <p:txBody>
          <a:bodyPr/>
          <a:lstStyle/>
          <a:p>
            <a:pPr algn="ctr"/>
            <a:r>
              <a:rPr sz="2800" b="1" dirty="0"/>
              <a:t>Informed vs Uninformed Search</a:t>
            </a:r>
          </a:p>
        </p:txBody>
      </p:sp>
      <p:sp>
        <p:nvSpPr>
          <p:cNvPr id="4" name="TextBox 3">
            <a:extLst>
              <a:ext uri="{FF2B5EF4-FFF2-40B4-BE49-F238E27FC236}">
                <a16:creationId xmlns:a16="http://schemas.microsoft.com/office/drawing/2014/main" id="{205FECA1-3BA7-96F1-45EB-38136325E45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24</a:t>
            </a:r>
            <a:endParaRPr lang="en-IN" dirty="0"/>
          </a:p>
        </p:txBody>
      </p:sp>
      <p:graphicFrame>
        <p:nvGraphicFramePr>
          <p:cNvPr id="10" name="Table 9">
            <a:extLst>
              <a:ext uri="{FF2B5EF4-FFF2-40B4-BE49-F238E27FC236}">
                <a16:creationId xmlns:a16="http://schemas.microsoft.com/office/drawing/2014/main" id="{7DBA513D-0EBB-7F6C-AE48-B199E4F660A4}"/>
              </a:ext>
            </a:extLst>
          </p:cNvPr>
          <p:cNvGraphicFramePr>
            <a:graphicFrameLocks noGrp="1"/>
          </p:cNvGraphicFramePr>
          <p:nvPr>
            <p:extLst>
              <p:ext uri="{D42A27DB-BD31-4B8C-83A1-F6EECF244321}">
                <p14:modId xmlns:p14="http://schemas.microsoft.com/office/powerpoint/2010/main" val="3134117262"/>
              </p:ext>
            </p:extLst>
          </p:nvPr>
        </p:nvGraphicFramePr>
        <p:xfrm>
          <a:off x="727023" y="841849"/>
          <a:ext cx="7397646" cy="3692675"/>
        </p:xfrm>
        <a:graphic>
          <a:graphicData uri="http://schemas.openxmlformats.org/drawingml/2006/table">
            <a:tbl>
              <a:tblPr firstRow="1" bandRow="1">
                <a:tableStyleId>{E8034E78-7F5D-4C2E-B375-FC64B27BC917}</a:tableStyleId>
              </a:tblPr>
              <a:tblGrid>
                <a:gridCol w="2465882">
                  <a:extLst>
                    <a:ext uri="{9D8B030D-6E8A-4147-A177-3AD203B41FA5}">
                      <a16:colId xmlns:a16="http://schemas.microsoft.com/office/drawing/2014/main" val="3242285843"/>
                    </a:ext>
                  </a:extLst>
                </a:gridCol>
                <a:gridCol w="2465882">
                  <a:extLst>
                    <a:ext uri="{9D8B030D-6E8A-4147-A177-3AD203B41FA5}">
                      <a16:colId xmlns:a16="http://schemas.microsoft.com/office/drawing/2014/main" val="1879581433"/>
                    </a:ext>
                  </a:extLst>
                </a:gridCol>
                <a:gridCol w="2465882">
                  <a:extLst>
                    <a:ext uri="{9D8B030D-6E8A-4147-A177-3AD203B41FA5}">
                      <a16:colId xmlns:a16="http://schemas.microsoft.com/office/drawing/2014/main" val="3402298007"/>
                    </a:ext>
                  </a:extLst>
                </a:gridCol>
              </a:tblGrid>
              <a:tr h="441593">
                <a:tc>
                  <a:txBody>
                    <a:bodyPr/>
                    <a:lstStyle/>
                    <a:p>
                      <a:pPr>
                        <a:lnSpc>
                          <a:spcPct val="107000"/>
                        </a:lnSpc>
                        <a:spcAft>
                          <a:spcPts val="800"/>
                        </a:spcAft>
                        <a:buNone/>
                      </a:pPr>
                      <a:r>
                        <a:rPr lang="en-IN" sz="1100" kern="100" dirty="0">
                          <a:solidFill>
                            <a:schemeClr val="bg2"/>
                          </a:solidFill>
                          <a:effectLst/>
                        </a:rPr>
                        <a:t>Parameters</a:t>
                      </a:r>
                      <a:endParaRPr lang="en-IN" sz="1100" kern="100" dirty="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07000"/>
                        </a:lnSpc>
                        <a:spcAft>
                          <a:spcPts val="800"/>
                        </a:spcAft>
                        <a:buNone/>
                      </a:pPr>
                      <a:r>
                        <a:rPr lang="en-IN" sz="1100" kern="100">
                          <a:solidFill>
                            <a:schemeClr val="bg2"/>
                          </a:solidFill>
                          <a:effectLst/>
                        </a:rPr>
                        <a:t>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buNone/>
                      </a:pPr>
                      <a:r>
                        <a:rPr lang="en-IN" sz="1100" kern="100">
                          <a:solidFill>
                            <a:schemeClr val="bg2"/>
                          </a:solidFill>
                          <a:effectLst/>
                        </a:rPr>
                        <a:t>Uninformed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1078420197"/>
                  </a:ext>
                </a:extLst>
              </a:tr>
              <a:tr h="735662">
                <a:tc>
                  <a:txBody>
                    <a:bodyPr/>
                    <a:lstStyle/>
                    <a:p>
                      <a:pPr>
                        <a:lnSpc>
                          <a:spcPct val="107000"/>
                        </a:lnSpc>
                        <a:spcAft>
                          <a:spcPts val="800"/>
                        </a:spcAft>
                        <a:buNone/>
                      </a:pPr>
                      <a:r>
                        <a:rPr lang="en-IN" sz="1100" kern="100" dirty="0">
                          <a:solidFill>
                            <a:schemeClr val="bg2"/>
                          </a:solidFill>
                          <a:effectLst/>
                        </a:rPr>
                        <a:t>Known as</a:t>
                      </a:r>
                      <a:endParaRPr lang="en-IN" sz="1100" kern="100" dirty="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is also known as Heuristic Search. </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is also known as Blind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456664810"/>
                  </a:ext>
                </a:extLst>
              </a:tr>
              <a:tr h="735662">
                <a:tc>
                  <a:txBody>
                    <a:bodyPr/>
                    <a:lstStyle/>
                    <a:p>
                      <a:pPr>
                        <a:lnSpc>
                          <a:spcPct val="107000"/>
                        </a:lnSpc>
                        <a:spcAft>
                          <a:spcPts val="800"/>
                        </a:spcAft>
                        <a:buNone/>
                      </a:pPr>
                      <a:r>
                        <a:rPr lang="en-IN" sz="1100" kern="100">
                          <a:solidFill>
                            <a:schemeClr val="bg2"/>
                          </a:solidFill>
                          <a:effectLst/>
                        </a:rPr>
                        <a:t>Using Knowledge</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uses knowledge for the searching process. </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doesn't use knowledge for the searching process.</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586069702"/>
                  </a:ext>
                </a:extLst>
              </a:tr>
              <a:tr h="735662">
                <a:tc>
                  <a:txBody>
                    <a:bodyPr/>
                    <a:lstStyle/>
                    <a:p>
                      <a:pPr>
                        <a:lnSpc>
                          <a:spcPct val="107000"/>
                        </a:lnSpc>
                        <a:spcAft>
                          <a:spcPts val="800"/>
                        </a:spcAft>
                        <a:buNone/>
                      </a:pPr>
                      <a:r>
                        <a:rPr lang="en-IN" sz="1100" kern="100">
                          <a:solidFill>
                            <a:schemeClr val="bg2"/>
                          </a:solidFill>
                          <a:effectLst/>
                        </a:rPr>
                        <a:t>Performance</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finds a solution more quickly.</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finds solution slow as compared to an 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320432584"/>
                  </a:ext>
                </a:extLst>
              </a:tr>
              <a:tr h="522048">
                <a:tc>
                  <a:txBody>
                    <a:bodyPr/>
                    <a:lstStyle/>
                    <a:p>
                      <a:pPr>
                        <a:lnSpc>
                          <a:spcPct val="107000"/>
                        </a:lnSpc>
                        <a:spcAft>
                          <a:spcPts val="800"/>
                        </a:spcAft>
                        <a:buNone/>
                      </a:pPr>
                      <a:r>
                        <a:rPr lang="en-IN" sz="1100" kern="100">
                          <a:solidFill>
                            <a:schemeClr val="bg2"/>
                          </a:solidFill>
                          <a:effectLst/>
                        </a:rPr>
                        <a:t>Completion</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may or may not be complete.</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It is always complete.</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249880491"/>
                  </a:ext>
                </a:extLst>
              </a:tr>
              <a:tr h="522048">
                <a:tc>
                  <a:txBody>
                    <a:bodyPr/>
                    <a:lstStyle/>
                    <a:p>
                      <a:pPr>
                        <a:lnSpc>
                          <a:spcPct val="107000"/>
                        </a:lnSpc>
                        <a:spcAft>
                          <a:spcPts val="800"/>
                        </a:spcAft>
                        <a:buNone/>
                      </a:pPr>
                      <a:r>
                        <a:rPr lang="en-IN" sz="1100" kern="100">
                          <a:solidFill>
                            <a:schemeClr val="bg2"/>
                          </a:solidFill>
                          <a:effectLst/>
                        </a:rPr>
                        <a:t>Cost Factor</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chemeClr val="bg2"/>
                          </a:solidFill>
                          <a:effectLst/>
                        </a:rPr>
                        <a:t>Cost is low.</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dirty="0">
                          <a:solidFill>
                            <a:schemeClr val="bg2"/>
                          </a:solidFill>
                          <a:effectLst/>
                        </a:rPr>
                        <a:t>Cost is high.</a:t>
                      </a:r>
                      <a:endParaRPr lang="en-IN" sz="1100" kern="100" dirty="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410478033"/>
                  </a:ext>
                </a:extLst>
              </a:tr>
            </a:tbl>
          </a:graphicData>
        </a:graphic>
      </p:graphicFrame>
    </p:spTree>
    <p:extLst>
      <p:ext uri="{BB962C8B-B14F-4D97-AF65-F5344CB8AC3E}">
        <p14:creationId xmlns:p14="http://schemas.microsoft.com/office/powerpoint/2010/main" val="1187089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8465-514A-9E1F-7532-94B547407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9C897-29A9-C779-63B8-088E988E805D}"/>
              </a:ext>
            </a:extLst>
          </p:cNvPr>
          <p:cNvSpPr>
            <a:spLocks noGrp="1"/>
          </p:cNvSpPr>
          <p:nvPr>
            <p:ph type="title" idx="4294967295"/>
          </p:nvPr>
        </p:nvSpPr>
        <p:spPr>
          <a:xfrm>
            <a:off x="0" y="206375"/>
            <a:ext cx="8229600" cy="857250"/>
          </a:xfrm>
          <a:prstGeom prst="rect">
            <a:avLst/>
          </a:prstGeom>
        </p:spPr>
        <p:txBody>
          <a:bodyPr/>
          <a:lstStyle/>
          <a:p>
            <a:pPr algn="ctr"/>
            <a:r>
              <a:rPr sz="2800" b="1" dirty="0"/>
              <a:t>Informed vs Uninformed Search</a:t>
            </a:r>
          </a:p>
        </p:txBody>
      </p:sp>
      <p:sp>
        <p:nvSpPr>
          <p:cNvPr id="4" name="TextBox 3">
            <a:extLst>
              <a:ext uri="{FF2B5EF4-FFF2-40B4-BE49-F238E27FC236}">
                <a16:creationId xmlns:a16="http://schemas.microsoft.com/office/drawing/2014/main" id="{5490D83E-DF7A-D8E0-3B96-26192FA8B97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25</a:t>
            </a:r>
            <a:endParaRPr lang="en-IN" dirty="0"/>
          </a:p>
        </p:txBody>
      </p:sp>
      <p:graphicFrame>
        <p:nvGraphicFramePr>
          <p:cNvPr id="10" name="Table 9">
            <a:extLst>
              <a:ext uri="{FF2B5EF4-FFF2-40B4-BE49-F238E27FC236}">
                <a16:creationId xmlns:a16="http://schemas.microsoft.com/office/drawing/2014/main" id="{84D9FECF-8BDC-BA7C-A4CD-A96169DDA552}"/>
              </a:ext>
            </a:extLst>
          </p:cNvPr>
          <p:cNvGraphicFramePr>
            <a:graphicFrameLocks noGrp="1"/>
          </p:cNvGraphicFramePr>
          <p:nvPr>
            <p:extLst>
              <p:ext uri="{D42A27DB-BD31-4B8C-83A1-F6EECF244321}">
                <p14:modId xmlns:p14="http://schemas.microsoft.com/office/powerpoint/2010/main" val="1470731856"/>
              </p:ext>
            </p:extLst>
          </p:nvPr>
        </p:nvGraphicFramePr>
        <p:xfrm>
          <a:off x="981854" y="819365"/>
          <a:ext cx="7247745" cy="3826195"/>
        </p:xfrm>
        <a:graphic>
          <a:graphicData uri="http://schemas.openxmlformats.org/drawingml/2006/table">
            <a:tbl>
              <a:tblPr firstRow="1" bandRow="1">
                <a:tableStyleId>{E8034E78-7F5D-4C2E-B375-FC64B27BC917}</a:tableStyleId>
              </a:tblPr>
              <a:tblGrid>
                <a:gridCol w="2415915">
                  <a:extLst>
                    <a:ext uri="{9D8B030D-6E8A-4147-A177-3AD203B41FA5}">
                      <a16:colId xmlns:a16="http://schemas.microsoft.com/office/drawing/2014/main" val="3242285843"/>
                    </a:ext>
                  </a:extLst>
                </a:gridCol>
                <a:gridCol w="2415915">
                  <a:extLst>
                    <a:ext uri="{9D8B030D-6E8A-4147-A177-3AD203B41FA5}">
                      <a16:colId xmlns:a16="http://schemas.microsoft.com/office/drawing/2014/main" val="1879581433"/>
                    </a:ext>
                  </a:extLst>
                </a:gridCol>
                <a:gridCol w="2415915">
                  <a:extLst>
                    <a:ext uri="{9D8B030D-6E8A-4147-A177-3AD203B41FA5}">
                      <a16:colId xmlns:a16="http://schemas.microsoft.com/office/drawing/2014/main" val="3402298007"/>
                    </a:ext>
                  </a:extLst>
                </a:gridCol>
              </a:tblGrid>
              <a:tr h="370840">
                <a:tc>
                  <a:txBody>
                    <a:bodyPr/>
                    <a:lstStyle/>
                    <a:p>
                      <a:pPr>
                        <a:lnSpc>
                          <a:spcPct val="107000"/>
                        </a:lnSpc>
                        <a:spcAft>
                          <a:spcPts val="800"/>
                        </a:spcAft>
                        <a:buNone/>
                      </a:pPr>
                      <a:r>
                        <a:rPr lang="en-IN" sz="1100" kern="100" dirty="0">
                          <a:solidFill>
                            <a:schemeClr val="bg2"/>
                          </a:solidFill>
                          <a:effectLst/>
                        </a:rPr>
                        <a:t>Parameters</a:t>
                      </a:r>
                      <a:endParaRPr lang="en-IN" sz="1100" kern="100" dirty="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07000"/>
                        </a:lnSpc>
                        <a:spcAft>
                          <a:spcPts val="800"/>
                        </a:spcAft>
                        <a:buNone/>
                      </a:pPr>
                      <a:r>
                        <a:rPr lang="en-IN" sz="1100" kern="100">
                          <a:solidFill>
                            <a:schemeClr val="bg2"/>
                          </a:solidFill>
                          <a:effectLst/>
                        </a:rPr>
                        <a:t>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buNone/>
                      </a:pPr>
                      <a:r>
                        <a:rPr lang="en-IN" sz="1100" kern="100">
                          <a:solidFill>
                            <a:schemeClr val="bg2"/>
                          </a:solidFill>
                          <a:effectLst/>
                        </a:rPr>
                        <a:t>Uninformed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1078420197"/>
                  </a:ext>
                </a:extLst>
              </a:tr>
              <a:tr h="370840">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Time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consumes less time because of quick searching.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consumes moderate time because of slow searching.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456664810"/>
                  </a:ext>
                </a:extLst>
              </a:tr>
              <a:tr h="370840">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Direction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There is a direction given about the solution.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No suggestion is given regarding the solution in it.</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586069702"/>
                  </a:ext>
                </a:extLst>
              </a:tr>
              <a:tr h="370840">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Implementation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is less lengthy while implemented.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is more lengthy while implemented.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320432584"/>
                  </a:ext>
                </a:extLst>
              </a:tr>
              <a:tr h="370840">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Efficiency</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is more efficient as efficiency takes into account cost and performance. The incurred cost is less and speed of finding solutions is quick.</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is comparatively less efficient as incurred cost is more and the speed of finding the Breadth-Firstsolution is slow.</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249880491"/>
                  </a:ext>
                </a:extLst>
              </a:tr>
              <a:tr h="370840">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Computational requirements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Computational requirements are lessened.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Comparatively higher computational requirements.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410478033"/>
                  </a:ext>
                </a:extLst>
              </a:tr>
            </a:tbl>
          </a:graphicData>
        </a:graphic>
      </p:graphicFrame>
    </p:spTree>
    <p:extLst>
      <p:ext uri="{BB962C8B-B14F-4D97-AF65-F5344CB8AC3E}">
        <p14:creationId xmlns:p14="http://schemas.microsoft.com/office/powerpoint/2010/main" val="2191491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A7F2E-7E66-79EE-DB1C-AE218E462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5ECCF-0E81-C628-129B-0849CA23CE80}"/>
              </a:ext>
            </a:extLst>
          </p:cNvPr>
          <p:cNvSpPr>
            <a:spLocks noGrp="1"/>
          </p:cNvSpPr>
          <p:nvPr>
            <p:ph type="title" idx="4294967295"/>
          </p:nvPr>
        </p:nvSpPr>
        <p:spPr>
          <a:xfrm>
            <a:off x="0" y="206375"/>
            <a:ext cx="8229600" cy="857250"/>
          </a:xfrm>
          <a:prstGeom prst="rect">
            <a:avLst/>
          </a:prstGeom>
        </p:spPr>
        <p:txBody>
          <a:bodyPr/>
          <a:lstStyle/>
          <a:p>
            <a:pPr algn="ctr"/>
            <a:r>
              <a:rPr sz="2800" b="1" dirty="0"/>
              <a:t>Informed vs Uninformed Search</a:t>
            </a:r>
          </a:p>
        </p:txBody>
      </p:sp>
      <p:sp>
        <p:nvSpPr>
          <p:cNvPr id="4" name="TextBox 3">
            <a:extLst>
              <a:ext uri="{FF2B5EF4-FFF2-40B4-BE49-F238E27FC236}">
                <a16:creationId xmlns:a16="http://schemas.microsoft.com/office/drawing/2014/main" id="{6D0E0EA7-97CE-D9A4-2349-31C08976334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26</a:t>
            </a:r>
            <a:endParaRPr lang="en-IN" dirty="0"/>
          </a:p>
        </p:txBody>
      </p:sp>
      <p:graphicFrame>
        <p:nvGraphicFramePr>
          <p:cNvPr id="10" name="Table 9">
            <a:extLst>
              <a:ext uri="{FF2B5EF4-FFF2-40B4-BE49-F238E27FC236}">
                <a16:creationId xmlns:a16="http://schemas.microsoft.com/office/drawing/2014/main" id="{9E58AFD4-1A64-C095-7348-8961D0AF0D75}"/>
              </a:ext>
            </a:extLst>
          </p:cNvPr>
          <p:cNvGraphicFramePr>
            <a:graphicFrameLocks noGrp="1"/>
          </p:cNvGraphicFramePr>
          <p:nvPr>
            <p:extLst>
              <p:ext uri="{D42A27DB-BD31-4B8C-83A1-F6EECF244321}">
                <p14:modId xmlns:p14="http://schemas.microsoft.com/office/powerpoint/2010/main" val="2010533511"/>
              </p:ext>
            </p:extLst>
          </p:nvPr>
        </p:nvGraphicFramePr>
        <p:xfrm>
          <a:off x="981854" y="819365"/>
          <a:ext cx="7247745" cy="3123048"/>
        </p:xfrm>
        <a:graphic>
          <a:graphicData uri="http://schemas.openxmlformats.org/drawingml/2006/table">
            <a:tbl>
              <a:tblPr firstRow="1" bandRow="1">
                <a:tableStyleId>{E8034E78-7F5D-4C2E-B375-FC64B27BC917}</a:tableStyleId>
              </a:tblPr>
              <a:tblGrid>
                <a:gridCol w="2415915">
                  <a:extLst>
                    <a:ext uri="{9D8B030D-6E8A-4147-A177-3AD203B41FA5}">
                      <a16:colId xmlns:a16="http://schemas.microsoft.com/office/drawing/2014/main" val="3242285843"/>
                    </a:ext>
                  </a:extLst>
                </a:gridCol>
                <a:gridCol w="2415915">
                  <a:extLst>
                    <a:ext uri="{9D8B030D-6E8A-4147-A177-3AD203B41FA5}">
                      <a16:colId xmlns:a16="http://schemas.microsoft.com/office/drawing/2014/main" val="1879581433"/>
                    </a:ext>
                  </a:extLst>
                </a:gridCol>
                <a:gridCol w="2415915">
                  <a:extLst>
                    <a:ext uri="{9D8B030D-6E8A-4147-A177-3AD203B41FA5}">
                      <a16:colId xmlns:a16="http://schemas.microsoft.com/office/drawing/2014/main" val="3402298007"/>
                    </a:ext>
                  </a:extLst>
                </a:gridCol>
              </a:tblGrid>
              <a:tr h="509515">
                <a:tc>
                  <a:txBody>
                    <a:bodyPr/>
                    <a:lstStyle/>
                    <a:p>
                      <a:pPr>
                        <a:lnSpc>
                          <a:spcPct val="107000"/>
                        </a:lnSpc>
                        <a:spcAft>
                          <a:spcPts val="800"/>
                        </a:spcAft>
                        <a:buNone/>
                      </a:pPr>
                      <a:r>
                        <a:rPr lang="en-IN" sz="1100" kern="100" dirty="0">
                          <a:solidFill>
                            <a:schemeClr val="bg2"/>
                          </a:solidFill>
                          <a:effectLst/>
                        </a:rPr>
                        <a:t>Parameters</a:t>
                      </a:r>
                      <a:endParaRPr lang="en-IN" sz="1100" kern="100" dirty="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07000"/>
                        </a:lnSpc>
                        <a:spcAft>
                          <a:spcPts val="800"/>
                        </a:spcAft>
                        <a:buNone/>
                      </a:pPr>
                      <a:r>
                        <a:rPr lang="en-IN" sz="1100" kern="100">
                          <a:solidFill>
                            <a:schemeClr val="bg2"/>
                          </a:solidFill>
                          <a:effectLst/>
                        </a:rPr>
                        <a:t>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buNone/>
                      </a:pPr>
                      <a:r>
                        <a:rPr lang="en-IN" sz="1100" kern="100">
                          <a:solidFill>
                            <a:schemeClr val="bg2"/>
                          </a:solidFill>
                          <a:effectLst/>
                        </a:rPr>
                        <a:t>Uninformed Search</a:t>
                      </a:r>
                      <a:endParaRPr lang="en-IN" sz="1100" kern="100">
                        <a:solidFill>
                          <a:schemeClr val="bg2"/>
                        </a:solidFill>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1078420197"/>
                  </a:ext>
                </a:extLst>
              </a:tr>
              <a:tr h="850908">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Size of search problems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Having a wide scope in terms of handling large search problems.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Solving a massive search task is challenging.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456664810"/>
                  </a:ext>
                </a:extLst>
              </a:tr>
              <a:tr h="1762625">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Examples of Algorithms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Greedy Search</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A* Search</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AO* Search</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Hill Climbing Algorithm</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Depth First Search (DFS)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Breadth First Search (BFS)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Branch and Bound</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586069702"/>
                  </a:ext>
                </a:extLst>
              </a:tr>
            </a:tbl>
          </a:graphicData>
        </a:graphic>
      </p:graphicFrame>
    </p:spTree>
    <p:extLst>
      <p:ext uri="{BB962C8B-B14F-4D97-AF65-F5344CB8AC3E}">
        <p14:creationId xmlns:p14="http://schemas.microsoft.com/office/powerpoint/2010/main" val="986325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a:buClr>
                <a:schemeClr val="bg2"/>
              </a:buClr>
            </a:pPr>
            <a:r>
              <a:rPr dirty="0">
                <a:solidFill>
                  <a:schemeClr val="bg2"/>
                </a:solidFill>
              </a:rPr>
              <a:t>Routing</a:t>
            </a:r>
          </a:p>
          <a:p>
            <a:pPr>
              <a:buClr>
                <a:schemeClr val="bg2"/>
              </a:buClr>
            </a:pPr>
            <a:r>
              <a:rPr dirty="0">
                <a:solidFill>
                  <a:schemeClr val="bg2"/>
                </a:solidFill>
              </a:rPr>
              <a:t>Games</a:t>
            </a:r>
          </a:p>
          <a:p>
            <a:pPr>
              <a:buClr>
                <a:schemeClr val="bg2"/>
              </a:buClr>
            </a:pPr>
            <a:r>
              <a:rPr dirty="0">
                <a:solidFill>
                  <a:schemeClr val="bg2"/>
                </a:solidFill>
              </a:rPr>
              <a:t>Robotics</a:t>
            </a:r>
          </a:p>
          <a:p>
            <a:pPr>
              <a:buClr>
                <a:schemeClr val="bg2"/>
              </a:buClr>
            </a:pPr>
            <a:r>
              <a:rPr dirty="0">
                <a:solidFill>
                  <a:schemeClr val="bg2"/>
                </a:solidFill>
              </a:rPr>
              <a:t>Scheduling</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Applications</a:t>
            </a:r>
          </a:p>
        </p:txBody>
      </p:sp>
      <p:sp>
        <p:nvSpPr>
          <p:cNvPr id="4" name="TextBox 3">
            <a:extLst>
              <a:ext uri="{FF2B5EF4-FFF2-40B4-BE49-F238E27FC236}">
                <a16:creationId xmlns:a16="http://schemas.microsoft.com/office/drawing/2014/main" id="{2C4273C8-B158-C197-3397-D314684971E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27</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73C86-06F0-8668-B8B3-13CE7ABCA1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865F7A-F302-43B3-766A-866CB2078985}"/>
              </a:ext>
            </a:extLst>
          </p:cNvPr>
          <p:cNvSpPr>
            <a:spLocks noGrp="1"/>
          </p:cNvSpPr>
          <p:nvPr>
            <p:ph type="body" idx="1"/>
          </p:nvPr>
        </p:nvSpPr>
        <p:spPr/>
        <p:txBody>
          <a:bodyPr>
            <a:normAutofit fontScale="85000" lnSpcReduction="10000"/>
          </a:bodyPr>
          <a:lstStyle/>
          <a:p>
            <a:pPr>
              <a:buClr>
                <a:schemeClr val="bg2"/>
              </a:buClr>
              <a:buFont typeface="Arial" panose="020B0604020202020204" pitchFamily="34" charset="0"/>
              <a:buChar char="•"/>
            </a:pPr>
            <a:r>
              <a:rPr lang="en-US" dirty="0">
                <a:solidFill>
                  <a:schemeClr val="bg2"/>
                </a:solidFill>
              </a:rPr>
              <a:t>Heuristic search techniques are used for problem-solving in AI systems. These techniques help find the most efficient path from a starting point to a goal, making them essential for applications such as navigation systems, game playing, and optimization problems.</a:t>
            </a:r>
          </a:p>
          <a:p>
            <a:pPr>
              <a:buClr>
                <a:schemeClr val="bg2"/>
              </a:buClr>
              <a:buFont typeface="Arial" panose="020B0604020202020204" pitchFamily="34" charset="0"/>
              <a:buChar char="•"/>
            </a:pPr>
            <a:r>
              <a:rPr lang="en-US" dirty="0">
                <a:solidFill>
                  <a:schemeClr val="bg2"/>
                </a:solidFill>
              </a:rPr>
              <a:t>Heuristic search operates within the search space of a problem to find the best or near-optimal solution using systematic algorithms.</a:t>
            </a:r>
          </a:p>
          <a:p>
            <a:pPr>
              <a:buClr>
                <a:schemeClr val="bg2"/>
              </a:buClr>
              <a:buFont typeface="Arial" panose="020B0604020202020204" pitchFamily="34" charset="0"/>
              <a:buChar char="•"/>
            </a:pPr>
            <a:r>
              <a:rPr lang="en-US" dirty="0">
                <a:solidFill>
                  <a:schemeClr val="bg2"/>
                </a:solidFill>
              </a:rPr>
              <a:t>Unlike brute-force methods, which exhaustively evaluate all possible solutions, heuristic search leverages heuristic information to guide the search toward more promising paths.</a:t>
            </a:r>
          </a:p>
          <a:p>
            <a:pPr>
              <a:buClr>
                <a:schemeClr val="bg2"/>
              </a:buClr>
            </a:pPr>
            <a:endParaRPr dirty="0">
              <a:solidFill>
                <a:schemeClr val="bg2"/>
              </a:solidFill>
            </a:endParaRPr>
          </a:p>
        </p:txBody>
      </p:sp>
      <p:sp>
        <p:nvSpPr>
          <p:cNvPr id="2" name="Title 1">
            <a:extLst>
              <a:ext uri="{FF2B5EF4-FFF2-40B4-BE49-F238E27FC236}">
                <a16:creationId xmlns:a16="http://schemas.microsoft.com/office/drawing/2014/main" id="{CD6DBAF8-4CA5-67B3-DF62-2905AF48ADDA}"/>
              </a:ext>
            </a:extLst>
          </p:cNvPr>
          <p:cNvSpPr>
            <a:spLocks noGrp="1"/>
          </p:cNvSpPr>
          <p:nvPr>
            <p:ph type="title" idx="4294967295"/>
          </p:nvPr>
        </p:nvSpPr>
        <p:spPr>
          <a:xfrm>
            <a:off x="0" y="206375"/>
            <a:ext cx="8229600" cy="857250"/>
          </a:xfrm>
          <a:prstGeom prst="rect">
            <a:avLst/>
          </a:prstGeom>
        </p:spPr>
        <p:txBody>
          <a:bodyPr/>
          <a:lstStyle/>
          <a:p>
            <a:pPr algn="ctr">
              <a:buClr>
                <a:schemeClr val="bg2"/>
              </a:buClr>
            </a:pPr>
            <a:r>
              <a:rPr lang="en-US" sz="2800" b="1" dirty="0">
                <a:solidFill>
                  <a:schemeClr val="bg2"/>
                </a:solidFill>
              </a:rPr>
              <a:t>Heuristic Search Techniques in AI</a:t>
            </a:r>
          </a:p>
        </p:txBody>
      </p:sp>
      <p:sp>
        <p:nvSpPr>
          <p:cNvPr id="4" name="TextBox 3">
            <a:extLst>
              <a:ext uri="{FF2B5EF4-FFF2-40B4-BE49-F238E27FC236}">
                <a16:creationId xmlns:a16="http://schemas.microsoft.com/office/drawing/2014/main" id="{C90E3A19-9CB8-F887-DF34-401C8171BEB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28</a:t>
            </a:r>
            <a:endParaRPr lang="en-IN" dirty="0"/>
          </a:p>
        </p:txBody>
      </p:sp>
    </p:spTree>
    <p:extLst>
      <p:ext uri="{BB962C8B-B14F-4D97-AF65-F5344CB8AC3E}">
        <p14:creationId xmlns:p14="http://schemas.microsoft.com/office/powerpoint/2010/main" val="2598301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C6070-8D39-6FEB-A49A-96498842D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8931A0-7008-258C-DBC7-1B59824D90B0}"/>
              </a:ext>
            </a:extLst>
          </p:cNvPr>
          <p:cNvSpPr>
            <a:spLocks noGrp="1"/>
          </p:cNvSpPr>
          <p:nvPr>
            <p:ph type="body" idx="1"/>
          </p:nvPr>
        </p:nvSpPr>
        <p:spPr/>
        <p:txBody>
          <a:bodyPr>
            <a:normAutofit fontScale="70000" lnSpcReduction="20000"/>
          </a:bodyPr>
          <a:lstStyle/>
          <a:p>
            <a:pPr>
              <a:buClr>
                <a:schemeClr val="bg2"/>
              </a:buClr>
              <a:buFont typeface="Arial" panose="020B0604020202020204" pitchFamily="34" charset="0"/>
              <a:buChar char="•"/>
            </a:pPr>
            <a:r>
              <a:rPr lang="en-US" dirty="0">
                <a:solidFill>
                  <a:schemeClr val="bg2"/>
                </a:solidFill>
              </a:rPr>
              <a:t>Heuristics refer to a set of criteria or rules of thumb that provide an estimate of the most viable solution. By balancing exploration (searching new possibilities) and exploitation (refining known solutions), heuristic algorithms efficiently solve complex problems that would otherwise be computationally expensive.</a:t>
            </a:r>
          </a:p>
          <a:p>
            <a:pPr>
              <a:buClr>
                <a:schemeClr val="bg2"/>
              </a:buClr>
              <a:buFont typeface="Arial" panose="020B0604020202020204" pitchFamily="34" charset="0"/>
              <a:buChar char="•"/>
            </a:pPr>
            <a:r>
              <a:rPr lang="en-US" dirty="0">
                <a:solidFill>
                  <a:schemeClr val="bg2"/>
                </a:solidFill>
              </a:rPr>
              <a:t>Significance of Heuristic Search in AI</a:t>
            </a:r>
          </a:p>
          <a:p>
            <a:pPr>
              <a:buClr>
                <a:schemeClr val="bg2"/>
              </a:buClr>
              <a:buFont typeface="Arial" panose="020B0604020202020204" pitchFamily="34" charset="0"/>
              <a:buChar char="•"/>
            </a:pPr>
            <a:r>
              <a:rPr lang="en-US" dirty="0">
                <a:solidFill>
                  <a:schemeClr val="bg2"/>
                </a:solidFill>
              </a:rPr>
              <a:t>The advantage of heuristic search techniques in AI is their ability to efficiently navigate large search spaces. By prioritizing the most promising paths, heuristics significantly reduce the number of possibilities that need to be explored. This not only accelerates the search process but also enables AI systems to solve complex problems that would be impractical for exact algorithms.</a:t>
            </a:r>
          </a:p>
          <a:p>
            <a:pPr marL="76200" indent="0">
              <a:buClr>
                <a:schemeClr val="bg2"/>
              </a:buClr>
              <a:buNone/>
            </a:pPr>
            <a:endParaRPr dirty="0">
              <a:solidFill>
                <a:schemeClr val="bg2"/>
              </a:solidFill>
            </a:endParaRPr>
          </a:p>
        </p:txBody>
      </p:sp>
      <p:sp>
        <p:nvSpPr>
          <p:cNvPr id="2" name="Title 1">
            <a:extLst>
              <a:ext uri="{FF2B5EF4-FFF2-40B4-BE49-F238E27FC236}">
                <a16:creationId xmlns:a16="http://schemas.microsoft.com/office/drawing/2014/main" id="{BD1FDCA8-E73E-B1AC-CEFE-2414767FC2FB}"/>
              </a:ext>
            </a:extLst>
          </p:cNvPr>
          <p:cNvSpPr>
            <a:spLocks noGrp="1"/>
          </p:cNvSpPr>
          <p:nvPr>
            <p:ph type="title" idx="4294967295"/>
          </p:nvPr>
        </p:nvSpPr>
        <p:spPr>
          <a:xfrm>
            <a:off x="0" y="206375"/>
            <a:ext cx="8229600" cy="857250"/>
          </a:xfrm>
          <a:prstGeom prst="rect">
            <a:avLst/>
          </a:prstGeom>
        </p:spPr>
        <p:txBody>
          <a:bodyPr/>
          <a:lstStyle/>
          <a:p>
            <a:pPr algn="ctr">
              <a:buClr>
                <a:schemeClr val="bg2"/>
              </a:buClr>
            </a:pPr>
            <a:r>
              <a:rPr lang="en-US" sz="2800" b="1" dirty="0">
                <a:solidFill>
                  <a:schemeClr val="bg2"/>
                </a:solidFill>
              </a:rPr>
              <a:t>Heuristic Search Techniques in AI</a:t>
            </a:r>
          </a:p>
        </p:txBody>
      </p:sp>
      <p:sp>
        <p:nvSpPr>
          <p:cNvPr id="4" name="TextBox 3">
            <a:extLst>
              <a:ext uri="{FF2B5EF4-FFF2-40B4-BE49-F238E27FC236}">
                <a16:creationId xmlns:a16="http://schemas.microsoft.com/office/drawing/2014/main" id="{09B65854-90BE-4D0C-B328-9E53462E46B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29</a:t>
            </a:r>
            <a:endParaRPr lang="en-IN" dirty="0"/>
          </a:p>
        </p:txBody>
      </p:sp>
    </p:spTree>
    <p:extLst>
      <p:ext uri="{BB962C8B-B14F-4D97-AF65-F5344CB8AC3E}">
        <p14:creationId xmlns:p14="http://schemas.microsoft.com/office/powerpoint/2010/main" val="1859812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8AF8-F637-E9F4-115F-5A761D9679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F80211-C937-48A0-3752-25C3D73CE319}"/>
              </a:ext>
            </a:extLst>
          </p:cNvPr>
          <p:cNvSpPr>
            <a:spLocks noGrp="1"/>
          </p:cNvSpPr>
          <p:nvPr>
            <p:ph type="body" idx="1"/>
          </p:nvPr>
        </p:nvSpPr>
        <p:spPr/>
        <p:txBody>
          <a:bodyPr>
            <a:normAutofit fontScale="62500" lnSpcReduction="20000"/>
          </a:bodyPr>
          <a:lstStyle/>
          <a:p>
            <a:pPr marL="76200" indent="0">
              <a:buClr>
                <a:schemeClr val="bg2"/>
              </a:buClr>
              <a:buNone/>
            </a:pPr>
            <a:r>
              <a:rPr lang="en-US" b="1" dirty="0">
                <a:solidFill>
                  <a:schemeClr val="bg2"/>
                </a:solidFill>
              </a:rPr>
              <a:t>Heuristic search algorithms typically comprise several essential components:</a:t>
            </a:r>
          </a:p>
          <a:p>
            <a:pPr marL="76200" indent="0">
              <a:buClr>
                <a:schemeClr val="bg2"/>
              </a:buClr>
              <a:buNone/>
            </a:pPr>
            <a:endParaRPr lang="en-US" dirty="0">
              <a:solidFill>
                <a:schemeClr val="bg2"/>
              </a:solidFill>
            </a:endParaRPr>
          </a:p>
          <a:p>
            <a:pPr marL="76200" indent="0">
              <a:buClr>
                <a:schemeClr val="bg2"/>
              </a:buClr>
              <a:buNone/>
            </a:pPr>
            <a:r>
              <a:rPr lang="en-US" b="1" dirty="0">
                <a:solidFill>
                  <a:schemeClr val="bg2"/>
                </a:solidFill>
              </a:rPr>
              <a:t>1.State Space: </a:t>
            </a:r>
            <a:r>
              <a:rPr lang="en-US" dirty="0">
                <a:solidFill>
                  <a:schemeClr val="bg2"/>
                </a:solidFill>
              </a:rPr>
              <a:t>This implies that the totality of all possible states or settings, which is considered to be the solution for the given problem.</a:t>
            </a:r>
          </a:p>
          <a:p>
            <a:pPr marL="76200" indent="0">
              <a:buClr>
                <a:schemeClr val="bg2"/>
              </a:buClr>
              <a:buNone/>
            </a:pPr>
            <a:r>
              <a:rPr lang="en-US" b="1" dirty="0">
                <a:solidFill>
                  <a:schemeClr val="bg2"/>
                </a:solidFill>
              </a:rPr>
              <a:t>2.Initial State: </a:t>
            </a:r>
            <a:r>
              <a:rPr lang="en-US" dirty="0">
                <a:solidFill>
                  <a:schemeClr val="bg2"/>
                </a:solidFill>
              </a:rPr>
              <a:t>The instance in the search tree of the highest level with no null values, serving as the initial state of the problem at hand.</a:t>
            </a:r>
          </a:p>
          <a:p>
            <a:pPr marL="76200" indent="0">
              <a:buClr>
                <a:schemeClr val="bg2"/>
              </a:buClr>
              <a:buNone/>
            </a:pPr>
            <a:r>
              <a:rPr lang="en-US" b="1" dirty="0">
                <a:solidFill>
                  <a:schemeClr val="bg2"/>
                </a:solidFill>
              </a:rPr>
              <a:t>3.Goal Test: </a:t>
            </a:r>
            <a:r>
              <a:rPr lang="en-US" dirty="0">
                <a:solidFill>
                  <a:schemeClr val="bg2"/>
                </a:solidFill>
              </a:rPr>
              <a:t>The exploration phase ensures whether the present state is a terminal or consenting state in which the problem is solved.</a:t>
            </a:r>
          </a:p>
          <a:p>
            <a:pPr marL="76200" indent="0">
              <a:buClr>
                <a:schemeClr val="bg2"/>
              </a:buClr>
              <a:buNone/>
            </a:pPr>
            <a:r>
              <a:rPr lang="en-US" b="1" dirty="0">
                <a:solidFill>
                  <a:schemeClr val="bg2"/>
                </a:solidFill>
              </a:rPr>
              <a:t>4.Successor Function: </a:t>
            </a:r>
            <a:r>
              <a:rPr lang="en-US" dirty="0">
                <a:solidFill>
                  <a:schemeClr val="bg2"/>
                </a:solidFill>
              </a:rPr>
              <a:t>This create a situation where individual states supplant the current state which represent the possible moves or solutions in the problem space.</a:t>
            </a:r>
          </a:p>
          <a:p>
            <a:pPr marL="76200" indent="0">
              <a:buClr>
                <a:schemeClr val="bg2"/>
              </a:buClr>
              <a:buNone/>
            </a:pPr>
            <a:r>
              <a:rPr lang="en-US" b="1" dirty="0">
                <a:solidFill>
                  <a:schemeClr val="bg2"/>
                </a:solidFill>
              </a:rPr>
              <a:t>5.Heuristic Function: </a:t>
            </a:r>
            <a:r>
              <a:rPr lang="en-US" dirty="0">
                <a:solidFill>
                  <a:schemeClr val="bg2"/>
                </a:solidFill>
              </a:rPr>
              <a:t>The function of a heuristic is to estimate the value or distance from a given state to the target state. It helps to focus the process on regions or states that has prospect of achieving the goal.</a:t>
            </a:r>
          </a:p>
          <a:p>
            <a:pPr marL="76200" indent="0">
              <a:buClr>
                <a:schemeClr val="bg2"/>
              </a:buClr>
              <a:buNone/>
            </a:pPr>
            <a:endParaRPr dirty="0">
              <a:solidFill>
                <a:schemeClr val="bg2"/>
              </a:solidFill>
            </a:endParaRPr>
          </a:p>
        </p:txBody>
      </p:sp>
      <p:sp>
        <p:nvSpPr>
          <p:cNvPr id="2" name="Title 1">
            <a:extLst>
              <a:ext uri="{FF2B5EF4-FFF2-40B4-BE49-F238E27FC236}">
                <a16:creationId xmlns:a16="http://schemas.microsoft.com/office/drawing/2014/main" id="{4032A206-D545-DB11-C1D7-D8C904493091}"/>
              </a:ext>
            </a:extLst>
          </p:cNvPr>
          <p:cNvSpPr>
            <a:spLocks noGrp="1"/>
          </p:cNvSpPr>
          <p:nvPr>
            <p:ph type="title" idx="4294967295"/>
          </p:nvPr>
        </p:nvSpPr>
        <p:spPr>
          <a:xfrm>
            <a:off x="0" y="206375"/>
            <a:ext cx="8229600" cy="857250"/>
          </a:xfrm>
          <a:prstGeom prst="rect">
            <a:avLst/>
          </a:prstGeom>
        </p:spPr>
        <p:txBody>
          <a:bodyPr/>
          <a:lstStyle/>
          <a:p>
            <a:pPr algn="ctr">
              <a:buClr>
                <a:schemeClr val="bg2"/>
              </a:buClr>
            </a:pPr>
            <a:r>
              <a:rPr lang="en-US" sz="2800" b="1" dirty="0">
                <a:solidFill>
                  <a:schemeClr val="bg2"/>
                </a:solidFill>
              </a:rPr>
              <a:t>Components of Heuristic Search</a:t>
            </a:r>
          </a:p>
        </p:txBody>
      </p:sp>
      <p:sp>
        <p:nvSpPr>
          <p:cNvPr id="4" name="TextBox 3">
            <a:extLst>
              <a:ext uri="{FF2B5EF4-FFF2-40B4-BE49-F238E27FC236}">
                <a16:creationId xmlns:a16="http://schemas.microsoft.com/office/drawing/2014/main" id="{96D75185-63CB-9216-0E5C-C238C2795A5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30</a:t>
            </a:r>
            <a:endParaRPr lang="en-IN" dirty="0"/>
          </a:p>
        </p:txBody>
      </p:sp>
    </p:spTree>
    <p:extLst>
      <p:ext uri="{BB962C8B-B14F-4D97-AF65-F5344CB8AC3E}">
        <p14:creationId xmlns:p14="http://schemas.microsoft.com/office/powerpoint/2010/main" val="2887455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C35A4-A685-A11C-A5A6-7599C2B8F4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E7DB20-934D-FD9E-964D-63EC557E294C}"/>
              </a:ext>
            </a:extLst>
          </p:cNvPr>
          <p:cNvSpPr>
            <a:spLocks noGrp="1"/>
          </p:cNvSpPr>
          <p:nvPr>
            <p:ph type="body" idx="1"/>
          </p:nvPr>
        </p:nvSpPr>
        <p:spPr/>
        <p:txBody>
          <a:bodyPr>
            <a:normAutofit fontScale="55000" lnSpcReduction="20000"/>
          </a:bodyPr>
          <a:lstStyle/>
          <a:p>
            <a:pPr marL="76200" indent="0">
              <a:buClr>
                <a:schemeClr val="bg2"/>
              </a:buClr>
              <a:buNone/>
            </a:pPr>
            <a:r>
              <a:rPr lang="en-US" b="1" dirty="0">
                <a:solidFill>
                  <a:schemeClr val="bg2"/>
                </a:solidFill>
              </a:rPr>
              <a:t>Over the history of heuristic search algorithms, there have been a lot of techniques created to improve them further and attend different problem domains. Some prominent techniques include:</a:t>
            </a:r>
          </a:p>
          <a:p>
            <a:pPr marL="76200" indent="0">
              <a:buClr>
                <a:schemeClr val="bg2"/>
              </a:buClr>
              <a:buNone/>
            </a:pPr>
            <a:r>
              <a:rPr lang="en-US" b="1" dirty="0">
                <a:solidFill>
                  <a:schemeClr val="bg2"/>
                </a:solidFill>
              </a:rPr>
              <a:t>1. A* Search Algorithm</a:t>
            </a:r>
          </a:p>
          <a:p>
            <a:pPr marL="76200" indent="0">
              <a:buClr>
                <a:schemeClr val="bg2"/>
              </a:buClr>
              <a:buNone/>
            </a:pPr>
            <a:r>
              <a:rPr lang="en-US" dirty="0">
                <a:solidFill>
                  <a:schemeClr val="bg2"/>
                </a:solidFill>
              </a:rPr>
              <a:t>A* Search Algorithm is perhaps the most well-known heuristic search algorithm. It uses a best-first search and finds the least-cost path from a given initial node to a target node. It has a heuristic function, often denoted as �(�)=�(�)+h(�) , where g(n) is the cost from the start node to n, and h(n) is a heuristic that estimates the cost of the cheapest path from n to the goal. A* is widely used in pathfinding and graph traversal.</a:t>
            </a:r>
          </a:p>
          <a:p>
            <a:pPr marL="76200" indent="0">
              <a:buClr>
                <a:schemeClr val="bg2"/>
              </a:buClr>
              <a:buNone/>
            </a:pPr>
            <a:r>
              <a:rPr lang="en-US" b="1" dirty="0">
                <a:solidFill>
                  <a:schemeClr val="bg2"/>
                </a:solidFill>
              </a:rPr>
              <a:t>2. Greedy Best-First Search</a:t>
            </a:r>
          </a:p>
          <a:p>
            <a:pPr marL="76200" indent="0">
              <a:buClr>
                <a:schemeClr val="bg2"/>
              </a:buClr>
              <a:buNone/>
            </a:pPr>
            <a:r>
              <a:rPr lang="en-US" dirty="0">
                <a:solidFill>
                  <a:schemeClr val="bg2"/>
                </a:solidFill>
              </a:rPr>
              <a:t>Greedy best-first search expands the node that is closest to the goal, as estimated by a heuristic function. Unlike A*, which considers both path cost and estimated remaining cost, greedy best-first search only prioritizes the estimated cost to the goal. While this makes it faster, it can be less optimal, often leading to sub optimal solutions.</a:t>
            </a:r>
          </a:p>
          <a:p>
            <a:pPr marL="76200" indent="0">
              <a:buClr>
                <a:schemeClr val="bg2"/>
              </a:buClr>
              <a:buNone/>
            </a:pPr>
            <a:endParaRPr dirty="0">
              <a:solidFill>
                <a:schemeClr val="bg2"/>
              </a:solidFill>
            </a:endParaRPr>
          </a:p>
        </p:txBody>
      </p:sp>
      <p:sp>
        <p:nvSpPr>
          <p:cNvPr id="2" name="Title 1">
            <a:extLst>
              <a:ext uri="{FF2B5EF4-FFF2-40B4-BE49-F238E27FC236}">
                <a16:creationId xmlns:a16="http://schemas.microsoft.com/office/drawing/2014/main" id="{62C61CE4-4222-A262-BBC3-9B000EF757CC}"/>
              </a:ext>
            </a:extLst>
          </p:cNvPr>
          <p:cNvSpPr>
            <a:spLocks noGrp="1"/>
          </p:cNvSpPr>
          <p:nvPr>
            <p:ph type="title" idx="4294967295"/>
          </p:nvPr>
        </p:nvSpPr>
        <p:spPr>
          <a:xfrm>
            <a:off x="0" y="206375"/>
            <a:ext cx="8229600" cy="857250"/>
          </a:xfrm>
          <a:prstGeom prst="rect">
            <a:avLst/>
          </a:prstGeom>
        </p:spPr>
        <p:txBody>
          <a:bodyPr/>
          <a:lstStyle/>
          <a:p>
            <a:pPr algn="ctr">
              <a:buClr>
                <a:schemeClr val="bg2"/>
              </a:buClr>
            </a:pPr>
            <a:r>
              <a:rPr lang="en-US" sz="2800" b="1" dirty="0">
                <a:solidFill>
                  <a:schemeClr val="bg2"/>
                </a:solidFill>
              </a:rPr>
              <a:t>Types of Heuristic Search Techniques</a:t>
            </a:r>
          </a:p>
        </p:txBody>
      </p:sp>
      <p:sp>
        <p:nvSpPr>
          <p:cNvPr id="4" name="TextBox 3">
            <a:extLst>
              <a:ext uri="{FF2B5EF4-FFF2-40B4-BE49-F238E27FC236}">
                <a16:creationId xmlns:a16="http://schemas.microsoft.com/office/drawing/2014/main" id="{03091E8F-F76F-72FB-6269-255F4E18747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31</a:t>
            </a:r>
            <a:endParaRPr lang="en-IN" dirty="0"/>
          </a:p>
        </p:txBody>
      </p:sp>
    </p:spTree>
    <p:extLst>
      <p:ext uri="{BB962C8B-B14F-4D97-AF65-F5344CB8AC3E}">
        <p14:creationId xmlns:p14="http://schemas.microsoft.com/office/powerpoint/2010/main" val="3193778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AFBE-321E-311A-0596-F57A3238D5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83CEEC-C002-7454-00C8-D000AF547BA0}"/>
              </a:ext>
            </a:extLst>
          </p:cNvPr>
          <p:cNvSpPr>
            <a:spLocks noGrp="1"/>
          </p:cNvSpPr>
          <p:nvPr>
            <p:ph type="body" idx="1"/>
          </p:nvPr>
        </p:nvSpPr>
        <p:spPr/>
        <p:txBody>
          <a:bodyPr>
            <a:normAutofit fontScale="55000" lnSpcReduction="20000"/>
          </a:bodyPr>
          <a:lstStyle/>
          <a:p>
            <a:pPr marL="76200" indent="0">
              <a:buClr>
                <a:schemeClr val="bg2"/>
              </a:buClr>
              <a:buNone/>
            </a:pPr>
            <a:r>
              <a:rPr lang="en-US" b="1" dirty="0">
                <a:solidFill>
                  <a:schemeClr val="bg2"/>
                </a:solidFill>
              </a:rPr>
              <a:t>Over the history of heuristic search algorithms, there have been a lot of techniques created to improve them further and attend different problem domains. Some prominent techniques include:</a:t>
            </a:r>
          </a:p>
          <a:p>
            <a:pPr marL="76200" indent="0">
              <a:buClr>
                <a:schemeClr val="bg2"/>
              </a:buClr>
              <a:buNone/>
            </a:pPr>
            <a:r>
              <a:rPr lang="en-US" b="1" dirty="0">
                <a:solidFill>
                  <a:schemeClr val="bg2"/>
                </a:solidFill>
              </a:rPr>
              <a:t>3. Hill Climbing</a:t>
            </a:r>
          </a:p>
          <a:p>
            <a:pPr marL="76200" indent="0">
              <a:buClr>
                <a:schemeClr val="bg2"/>
              </a:buClr>
              <a:buNone/>
            </a:pPr>
            <a:r>
              <a:rPr lang="en-US" dirty="0">
                <a:solidFill>
                  <a:schemeClr val="bg2"/>
                </a:solidFill>
              </a:rPr>
              <a:t>Hill climbing is a heuristic search used for mathematical optimization problems. It is a variant of the gradient ascent method. It starts from a random initial point and iteratively moves toward higher values (local maxima) by choosing the best neighboring state. However, it can get stuck in local maxima, failing to find the global optimum.</a:t>
            </a:r>
          </a:p>
          <a:p>
            <a:pPr marL="76200" indent="0">
              <a:buClr>
                <a:schemeClr val="bg2"/>
              </a:buClr>
              <a:buNone/>
            </a:pPr>
            <a:r>
              <a:rPr lang="en-US" b="1" dirty="0">
                <a:solidFill>
                  <a:schemeClr val="bg2"/>
                </a:solidFill>
              </a:rPr>
              <a:t>4. Simulated Annealing</a:t>
            </a:r>
          </a:p>
          <a:p>
            <a:pPr marL="76200" indent="0">
              <a:buClr>
                <a:schemeClr val="bg2"/>
              </a:buClr>
              <a:buNone/>
            </a:pPr>
            <a:r>
              <a:rPr lang="en-US" dirty="0">
                <a:solidFill>
                  <a:schemeClr val="bg2"/>
                </a:solidFill>
              </a:rPr>
              <a:t>Inspired by annealing in metallurgy, simulated annealing is a probabilistic technique for finding the global optimum. Unlike hill climbing, it allows the search to accept worse solutions temporarily to escape local optima. This probabilistic acceptance decreases over time, allowing it to converge toward the best solution.</a:t>
            </a:r>
          </a:p>
          <a:p>
            <a:pPr marL="76200" indent="0">
              <a:buClr>
                <a:schemeClr val="bg2"/>
              </a:buClr>
              <a:buNone/>
            </a:pPr>
            <a:r>
              <a:rPr lang="en-US" b="1" dirty="0">
                <a:solidFill>
                  <a:schemeClr val="bg2"/>
                </a:solidFill>
              </a:rPr>
              <a:t>5. Beam Search</a:t>
            </a:r>
          </a:p>
          <a:p>
            <a:pPr marL="76200" indent="0">
              <a:buClr>
                <a:schemeClr val="bg2"/>
              </a:buClr>
              <a:buNone/>
            </a:pPr>
            <a:r>
              <a:rPr lang="en-US" dirty="0">
                <a:solidFill>
                  <a:schemeClr val="bg2"/>
                </a:solidFill>
              </a:rPr>
              <a:t>Beam search is a graph-based search technique that explores only a limited number of promising nodes (a beam). The beam width, which limits the number of nodes stored in memory, plays a crucial role in the performance and accuracy of the search.</a:t>
            </a:r>
          </a:p>
          <a:p>
            <a:pPr marL="76200" indent="0">
              <a:buClr>
                <a:schemeClr val="bg2"/>
              </a:buClr>
              <a:buNone/>
            </a:pPr>
            <a:endParaRPr dirty="0">
              <a:solidFill>
                <a:schemeClr val="bg2"/>
              </a:solidFill>
            </a:endParaRPr>
          </a:p>
        </p:txBody>
      </p:sp>
      <p:sp>
        <p:nvSpPr>
          <p:cNvPr id="2" name="Title 1">
            <a:extLst>
              <a:ext uri="{FF2B5EF4-FFF2-40B4-BE49-F238E27FC236}">
                <a16:creationId xmlns:a16="http://schemas.microsoft.com/office/drawing/2014/main" id="{D9548FD7-F7B1-398B-6232-AC16DB81DFE5}"/>
              </a:ext>
            </a:extLst>
          </p:cNvPr>
          <p:cNvSpPr>
            <a:spLocks noGrp="1"/>
          </p:cNvSpPr>
          <p:nvPr>
            <p:ph type="title" idx="4294967295"/>
          </p:nvPr>
        </p:nvSpPr>
        <p:spPr>
          <a:xfrm>
            <a:off x="0" y="206375"/>
            <a:ext cx="8229600" cy="857250"/>
          </a:xfrm>
          <a:prstGeom prst="rect">
            <a:avLst/>
          </a:prstGeom>
        </p:spPr>
        <p:txBody>
          <a:bodyPr/>
          <a:lstStyle/>
          <a:p>
            <a:pPr algn="ctr">
              <a:buClr>
                <a:schemeClr val="bg2"/>
              </a:buClr>
            </a:pPr>
            <a:r>
              <a:rPr lang="en-US" sz="2800" b="1" dirty="0">
                <a:solidFill>
                  <a:schemeClr val="bg2"/>
                </a:solidFill>
              </a:rPr>
              <a:t>Types of Heuristic Search Techniques</a:t>
            </a:r>
          </a:p>
        </p:txBody>
      </p:sp>
      <p:sp>
        <p:nvSpPr>
          <p:cNvPr id="4" name="TextBox 3">
            <a:extLst>
              <a:ext uri="{FF2B5EF4-FFF2-40B4-BE49-F238E27FC236}">
                <a16:creationId xmlns:a16="http://schemas.microsoft.com/office/drawing/2014/main" id="{FA7A2B6F-6FA2-3650-7ED8-9F6B2696212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32</a:t>
            </a:r>
            <a:endParaRPr lang="en-IN" dirty="0"/>
          </a:p>
        </p:txBody>
      </p:sp>
    </p:spTree>
    <p:extLst>
      <p:ext uri="{BB962C8B-B14F-4D97-AF65-F5344CB8AC3E}">
        <p14:creationId xmlns:p14="http://schemas.microsoft.com/office/powerpoint/2010/main" val="797622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F6E2E-05B5-D60C-72E4-C5D2822B5D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1FFF2D-A954-1590-2F74-67394E330460}"/>
              </a:ext>
            </a:extLst>
          </p:cNvPr>
          <p:cNvSpPr>
            <a:spLocks noGrp="1"/>
          </p:cNvSpPr>
          <p:nvPr>
            <p:ph type="body" idx="1"/>
          </p:nvPr>
        </p:nvSpPr>
        <p:spPr/>
        <p:txBody>
          <a:bodyPr>
            <a:normAutofit fontScale="62500" lnSpcReduction="20000"/>
          </a:bodyPr>
          <a:lstStyle/>
          <a:p>
            <a:pPr marL="76200" indent="0">
              <a:buClr>
                <a:schemeClr val="bg2"/>
              </a:buClr>
              <a:buNone/>
            </a:pPr>
            <a:r>
              <a:rPr lang="en-US" b="1" dirty="0">
                <a:solidFill>
                  <a:schemeClr val="bg2"/>
                </a:solidFill>
              </a:rPr>
              <a:t>Heuristic search techniques are widely used in various real-world scenarios, including:</a:t>
            </a:r>
          </a:p>
          <a:p>
            <a:pPr marL="76200" indent="0">
              <a:buClr>
                <a:schemeClr val="bg2"/>
              </a:buClr>
              <a:buNone/>
            </a:pPr>
            <a:r>
              <a:rPr lang="en-US" b="1" dirty="0">
                <a:solidFill>
                  <a:schemeClr val="bg2"/>
                </a:solidFill>
              </a:rPr>
              <a:t>•Pathfinding: </a:t>
            </a:r>
            <a:r>
              <a:rPr lang="en-US" dirty="0">
                <a:solidFill>
                  <a:schemeClr val="bg2"/>
                </a:solidFill>
              </a:rPr>
              <a:t>Whether it's navigating a city or plotting a route in a game, heuristic search helps find the shortest or most efficient path between two points.</a:t>
            </a:r>
          </a:p>
          <a:p>
            <a:pPr marL="76200" indent="0">
              <a:buClr>
                <a:schemeClr val="bg2"/>
              </a:buClr>
              <a:buNone/>
            </a:pPr>
            <a:r>
              <a:rPr lang="en-US" b="1" dirty="0">
                <a:solidFill>
                  <a:schemeClr val="bg2"/>
                </a:solidFill>
              </a:rPr>
              <a:t>•Optimization:</a:t>
            </a:r>
            <a:r>
              <a:rPr lang="en-US" dirty="0">
                <a:solidFill>
                  <a:schemeClr val="bg2"/>
                </a:solidFill>
              </a:rPr>
              <a:t> From resource allocation to scheduling, heuristic methods help make the most of available resources while maximizing efficiency.</a:t>
            </a:r>
          </a:p>
          <a:p>
            <a:pPr marL="76200" indent="0">
              <a:buClr>
                <a:schemeClr val="bg2"/>
              </a:buClr>
              <a:buNone/>
            </a:pPr>
            <a:r>
              <a:rPr lang="en-US" b="1" dirty="0">
                <a:solidFill>
                  <a:schemeClr val="bg2"/>
                </a:solidFill>
              </a:rPr>
              <a:t>•Game Playing: </a:t>
            </a:r>
            <a:r>
              <a:rPr lang="en-US" dirty="0">
                <a:solidFill>
                  <a:schemeClr val="bg2"/>
                </a:solidFill>
              </a:rPr>
              <a:t>In strategy games like chess and Go, AI relies on heuristic search to evaluate possible moves and plan ahead.</a:t>
            </a:r>
          </a:p>
          <a:p>
            <a:pPr marL="76200" indent="0">
              <a:buClr>
                <a:schemeClr val="bg2"/>
              </a:buClr>
              <a:buNone/>
            </a:pPr>
            <a:r>
              <a:rPr lang="en-US" b="1" dirty="0">
                <a:solidFill>
                  <a:schemeClr val="bg2"/>
                </a:solidFill>
              </a:rPr>
              <a:t>•Robotics: </a:t>
            </a:r>
            <a:r>
              <a:rPr lang="en-US" dirty="0">
                <a:solidFill>
                  <a:schemeClr val="bg2"/>
                </a:solidFill>
              </a:rPr>
              <a:t>Autonomous robots use heuristic search to determine their movements, avoid obstacles, and complete tasks efficiently.</a:t>
            </a:r>
          </a:p>
          <a:p>
            <a:pPr marL="76200" indent="0">
              <a:buClr>
                <a:schemeClr val="bg2"/>
              </a:buClr>
              <a:buNone/>
            </a:pPr>
            <a:r>
              <a:rPr lang="en-US" b="1" dirty="0">
                <a:solidFill>
                  <a:schemeClr val="bg2"/>
                </a:solidFill>
              </a:rPr>
              <a:t>•Natural Language Processing (NLP): </a:t>
            </a:r>
            <a:r>
              <a:rPr lang="en-US" dirty="0">
                <a:solidFill>
                  <a:schemeClr val="bg2"/>
                </a:solidFill>
              </a:rPr>
              <a:t>Search algorithms play a key role in language processing tasks like parsing, semantic analysis, and text generation, helping AI understand and generate human language.</a:t>
            </a:r>
          </a:p>
          <a:p>
            <a:pPr marL="76200" indent="0">
              <a:buClr>
                <a:schemeClr val="bg2"/>
              </a:buClr>
              <a:buNone/>
            </a:pPr>
            <a:endParaRPr dirty="0">
              <a:solidFill>
                <a:schemeClr val="bg2"/>
              </a:solidFill>
            </a:endParaRPr>
          </a:p>
        </p:txBody>
      </p:sp>
      <p:sp>
        <p:nvSpPr>
          <p:cNvPr id="2" name="Title 1">
            <a:extLst>
              <a:ext uri="{FF2B5EF4-FFF2-40B4-BE49-F238E27FC236}">
                <a16:creationId xmlns:a16="http://schemas.microsoft.com/office/drawing/2014/main" id="{06FD1BB2-5095-36E5-AEA8-D7BA4CFCA46B}"/>
              </a:ext>
            </a:extLst>
          </p:cNvPr>
          <p:cNvSpPr>
            <a:spLocks noGrp="1"/>
          </p:cNvSpPr>
          <p:nvPr>
            <p:ph type="title" idx="4294967295"/>
          </p:nvPr>
        </p:nvSpPr>
        <p:spPr>
          <a:xfrm>
            <a:off x="0" y="206375"/>
            <a:ext cx="8229600" cy="857250"/>
          </a:xfrm>
          <a:prstGeom prst="rect">
            <a:avLst/>
          </a:prstGeom>
        </p:spPr>
        <p:txBody>
          <a:bodyPr/>
          <a:lstStyle/>
          <a:p>
            <a:pPr algn="ctr">
              <a:buClr>
                <a:schemeClr val="bg2"/>
              </a:buClr>
            </a:pPr>
            <a:r>
              <a:rPr lang="en-US" sz="2800" b="1" dirty="0">
                <a:solidFill>
                  <a:schemeClr val="bg2"/>
                </a:solidFill>
              </a:rPr>
              <a:t>Applications of Heuristic Search</a:t>
            </a:r>
          </a:p>
        </p:txBody>
      </p:sp>
      <p:sp>
        <p:nvSpPr>
          <p:cNvPr id="4" name="TextBox 3">
            <a:extLst>
              <a:ext uri="{FF2B5EF4-FFF2-40B4-BE49-F238E27FC236}">
                <a16:creationId xmlns:a16="http://schemas.microsoft.com/office/drawing/2014/main" id="{524D78AB-3544-35D1-4C3A-DE814E6293A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33</a:t>
            </a:r>
            <a:endParaRPr lang="en-IN" dirty="0"/>
          </a:p>
        </p:txBody>
      </p:sp>
    </p:spTree>
    <p:extLst>
      <p:ext uri="{BB962C8B-B14F-4D97-AF65-F5344CB8AC3E}">
        <p14:creationId xmlns:p14="http://schemas.microsoft.com/office/powerpoint/2010/main" val="115476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Summary of the Lecture</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F2DF282-8D00-4EFA-4D08-6B9ABBAA7A52}"/>
              </a:ext>
            </a:extLst>
          </p:cNvPr>
          <p:cNvSpPr txBox="1"/>
          <p:nvPr/>
        </p:nvSpPr>
        <p:spPr>
          <a:xfrm>
            <a:off x="90622" y="1101387"/>
            <a:ext cx="8942119" cy="4213421"/>
          </a:xfrm>
          <a:prstGeom prst="rect">
            <a:avLst/>
          </a:prstGeom>
          <a:noFill/>
          <a:ln>
            <a:noFill/>
          </a:ln>
        </p:spPr>
        <p:txBody>
          <a:bodyPr spcFirstLastPara="1" wrap="square" lIns="91425" tIns="45700" rIns="91425" bIns="45700" anchor="t" anchorCtr="0">
            <a:spAutoFit/>
          </a:bodyPr>
          <a:lstStyle/>
          <a:p>
            <a:pPr algn="just">
              <a:lnSpc>
                <a:spcPct val="90000"/>
              </a:lnSpc>
            </a:pPr>
            <a:endParaRPr lang="en-US" sz="2800" dirty="0">
              <a:solidFill>
                <a:schemeClr val="bg2"/>
              </a:solidFill>
              <a:latin typeface="+mj-lt"/>
              <a:ea typeface="Calibri" panose="020F0502020204030204" pitchFamily="34" charset="0"/>
              <a:cs typeface="Calibri" panose="020F0502020204030204" pitchFamily="34" charset="0"/>
            </a:endParaRPr>
          </a:p>
          <a:p>
            <a:pPr marL="457200" indent="-457200">
              <a:buClr>
                <a:schemeClr val="bg2"/>
              </a:buClr>
              <a:buFont typeface="Arial" panose="020B0604020202020204" pitchFamily="34" charset="0"/>
              <a:buChar char="•"/>
            </a:pPr>
            <a:r>
              <a:rPr lang="en-US" sz="2800" dirty="0">
                <a:solidFill>
                  <a:schemeClr val="bg2"/>
                </a:solidFill>
              </a:rPr>
              <a:t>Search is core of AI</a:t>
            </a:r>
          </a:p>
          <a:p>
            <a:pPr marL="457200" indent="-457200">
              <a:buClr>
                <a:schemeClr val="bg2"/>
              </a:buClr>
              <a:buFont typeface="Arial" panose="020B0604020202020204" pitchFamily="34" charset="0"/>
              <a:buChar char="•"/>
            </a:pPr>
            <a:r>
              <a:rPr lang="en-US" sz="2800" dirty="0">
                <a:solidFill>
                  <a:schemeClr val="bg2"/>
                </a:solidFill>
              </a:rPr>
              <a:t>Informed search is efficient</a:t>
            </a:r>
          </a:p>
          <a:p>
            <a:pPr marL="457200" indent="-457200">
              <a:buClr>
                <a:schemeClr val="bg2"/>
              </a:buClr>
              <a:buFont typeface="Arial" panose="020B0604020202020204" pitchFamily="34" charset="0"/>
              <a:buChar char="•"/>
            </a:pPr>
            <a:r>
              <a:rPr lang="en-US" sz="2800" dirty="0">
                <a:solidFill>
                  <a:schemeClr val="bg2"/>
                </a:solidFill>
              </a:rPr>
              <a:t>Difference between Informed and Uninformed Search.</a:t>
            </a:r>
          </a:p>
          <a:p>
            <a:pPr marL="457200" indent="-457200">
              <a:buClr>
                <a:schemeClr val="bg2"/>
              </a:buClr>
              <a:buFont typeface="Arial" panose="020B0604020202020204" pitchFamily="34" charset="0"/>
              <a:buChar char="•"/>
            </a:pPr>
            <a:r>
              <a:rPr lang="en-US" sz="2800" dirty="0">
                <a:solidFill>
                  <a:schemeClr val="bg2"/>
                </a:solidFill>
              </a:rPr>
              <a:t>Explain Heuristic Search Techniques in AI.</a:t>
            </a:r>
          </a:p>
          <a:p>
            <a:pPr algn="just">
              <a:lnSpc>
                <a:spcPct val="90000"/>
              </a:lnSpc>
            </a:pPr>
            <a:endParaRPr lang="en-US" sz="2800" dirty="0">
              <a:solidFill>
                <a:schemeClr val="bg2"/>
              </a:solidFill>
              <a:latin typeface="+mj-lt"/>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90000"/>
              </a:lnSpc>
              <a:spcBef>
                <a:spcPts val="0"/>
              </a:spcBef>
              <a:spcAft>
                <a:spcPts val="0"/>
              </a:spcAft>
              <a:buNone/>
            </a:pPr>
            <a:endParaRPr lang="en-US"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34</a:t>
            </a:r>
            <a:endParaRPr lang="en-IN" dirty="0"/>
          </a:p>
        </p:txBody>
      </p:sp>
    </p:spTree>
    <p:extLst>
      <p:ext uri="{BB962C8B-B14F-4D97-AF65-F5344CB8AC3E}">
        <p14:creationId xmlns:p14="http://schemas.microsoft.com/office/powerpoint/2010/main" val="1833566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83127" y="1101387"/>
            <a:ext cx="8942119" cy="480091"/>
          </a:xfrm>
          <a:prstGeom prst="rect">
            <a:avLst/>
          </a:prstGeom>
          <a:noFill/>
          <a:ln>
            <a:noFill/>
          </a:ln>
        </p:spPr>
        <p:txBody>
          <a:bodyPr spcFirstLastPara="1" wrap="square" lIns="91425" tIns="45700" rIns="91425" bIns="45700" anchor="t" anchorCtr="0">
            <a:spAutoFit/>
          </a:bodyPr>
          <a:lstStyle/>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Local Search Algorithms and Optimization Problems </a:t>
            </a:r>
          </a:p>
        </p:txBody>
      </p:sp>
      <p:sp>
        <p:nvSpPr>
          <p:cNvPr id="2" name="TextBox 1">
            <a:extLst>
              <a:ext uri="{FF2B5EF4-FFF2-40B4-BE49-F238E27FC236}">
                <a16:creationId xmlns:a16="http://schemas.microsoft.com/office/drawing/2014/main" id="{E25D5782-05D4-0951-44EA-B9EE5A8C231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35</a:t>
            </a:r>
            <a:endParaRPr lang="en-IN" dirty="0"/>
          </a:p>
        </p:txBody>
      </p:sp>
    </p:spTree>
    <p:extLst>
      <p:ext uri="{BB962C8B-B14F-4D97-AF65-F5344CB8AC3E}">
        <p14:creationId xmlns:p14="http://schemas.microsoft.com/office/powerpoint/2010/main" val="1922310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36</a:t>
            </a:r>
            <a:endParaRPr lang="en-IN" dirty="0"/>
          </a:p>
        </p:txBody>
      </p:sp>
      <p:sp>
        <p:nvSpPr>
          <p:cNvPr id="10" name="Google Shape;113;p2">
            <a:extLst>
              <a:ext uri="{FF2B5EF4-FFF2-40B4-BE49-F238E27FC236}">
                <a16:creationId xmlns:a16="http://schemas.microsoft.com/office/drawing/2014/main" id="{7EC51C08-00CA-303F-88CF-6761C177812F}"/>
              </a:ext>
            </a:extLst>
          </p:cNvPr>
          <p:cNvSpPr txBox="1"/>
          <p:nvPr/>
        </p:nvSpPr>
        <p:spPr>
          <a:xfrm>
            <a:off x="83127" y="1101387"/>
            <a:ext cx="8942119" cy="2806882"/>
          </a:xfrm>
          <a:prstGeom prst="rect">
            <a:avLst/>
          </a:prstGeom>
          <a:noFill/>
          <a:ln>
            <a:noFill/>
          </a:ln>
        </p:spPr>
        <p:txBody>
          <a:bodyPr spcFirstLastPara="1" wrap="square" lIns="91425" tIns="45700" rIns="91425" bIns="45700" anchor="t" anchorCtr="0">
            <a:spAutoFit/>
          </a:bodyPr>
          <a:lstStyle/>
          <a:p>
            <a:pPr algn="just">
              <a:lnSpc>
                <a:spcPct val="90000"/>
              </a:lnSpc>
            </a:pPr>
            <a:endParaRPr lang="en-US" sz="2800" dirty="0">
              <a:solidFill>
                <a:schemeClr val="bg2"/>
              </a:solidFill>
              <a:ea typeface="Calibri" panose="020F0502020204030204" pitchFamily="34" charset="0"/>
              <a:cs typeface="Calibri" panose="020F0502020204030204" pitchFamily="34" charset="0"/>
            </a:endParaRPr>
          </a:p>
          <a:p>
            <a:pPr marL="514350" indent="-514350" algn="just">
              <a:lnSpc>
                <a:spcPct val="90000"/>
              </a:lnSpc>
              <a:buAutoNum type="arabicPeriod"/>
            </a:pPr>
            <a:r>
              <a:rPr lang="en-US" sz="2800" dirty="0"/>
              <a:t>What is Search in AI?</a:t>
            </a:r>
          </a:p>
          <a:p>
            <a:pPr marL="514350" indent="-514350" algn="just">
              <a:lnSpc>
                <a:spcPct val="90000"/>
              </a:lnSpc>
              <a:buAutoNum type="arabicPeriod"/>
            </a:pPr>
            <a:r>
              <a:rPr lang="en-US" sz="2800" dirty="0"/>
              <a:t>What is Informed search?</a:t>
            </a:r>
          </a:p>
          <a:p>
            <a:pPr marL="514350" indent="-514350" algn="just">
              <a:lnSpc>
                <a:spcPct val="90000"/>
              </a:lnSpc>
              <a:buAutoNum type="arabicPeriod"/>
            </a:pPr>
            <a:r>
              <a:rPr lang="en-US" sz="2800" dirty="0"/>
              <a:t>What is uninformed search?</a:t>
            </a:r>
          </a:p>
          <a:p>
            <a:pPr marL="514350" indent="-514350" algn="just">
              <a:lnSpc>
                <a:spcPct val="90000"/>
              </a:lnSpc>
              <a:buAutoNum type="arabicPeriod"/>
            </a:pPr>
            <a:r>
              <a:rPr lang="en-US" sz="2800" dirty="0"/>
              <a:t>Informed vs Uninformed Search</a:t>
            </a:r>
          </a:p>
          <a:p>
            <a:pPr marL="514350" indent="-514350" algn="just">
              <a:lnSpc>
                <a:spcPct val="90000"/>
              </a:lnSpc>
              <a:buAutoNum type="arabicPeriod"/>
            </a:pPr>
            <a:r>
              <a:rPr lang="en-US" sz="2800" dirty="0"/>
              <a:t>Heuristic Search Techniques in AI</a:t>
            </a: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7036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 Articles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83126" y="239875"/>
            <a:ext cx="8942119" cy="9537955"/>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lvl="0" algn="just">
              <a:lnSpc>
                <a:spcPct val="90000"/>
              </a:lnSpc>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4"/>
              </a:rPr>
              <a:t>https://www.geeksforgeeks.org/artificial-intelligence/difference-between-informed-and-uninformed-search-in-ai/</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5"/>
              </a:rPr>
              <a:t>https://www.geeksforgeeks.org/artificial-intelligence/informed-search-algorithms-in-artificial-intelligence/</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6"/>
              </a:rPr>
              <a:t>https://www.geeksforgeeks.org/artificial-intelligence/uniformed-search-algorithms-in-ai/</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7"/>
              </a:rPr>
              <a:t>https://www.geeksforgeeks.org/artificial-intelligence/heuristic-search-techniques-in-ai/</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37</a:t>
            </a:r>
            <a:endParaRPr lang="en-IN" dirty="0"/>
          </a:p>
        </p:txBody>
      </p:sp>
    </p:spTree>
    <p:extLst>
      <p:ext uri="{BB962C8B-B14F-4D97-AF65-F5344CB8AC3E}">
        <p14:creationId xmlns:p14="http://schemas.microsoft.com/office/powerpoint/2010/main" val="2294786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74989" y="1285244"/>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50843" y="1907716"/>
            <a:ext cx="8942119" cy="2031285"/>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https://www.youtube.com/watch?v=gZpUcsB9TFc</a:t>
            </a: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https://www.youtube.com/watch?v=FRBzy5-BR74</a:t>
            </a: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38</a:t>
            </a:r>
            <a:endParaRPr lang="en-IN" dirty="0"/>
          </a:p>
        </p:txBody>
      </p:sp>
    </p:spTree>
    <p:extLst>
      <p:ext uri="{BB962C8B-B14F-4D97-AF65-F5344CB8AC3E}">
        <p14:creationId xmlns:p14="http://schemas.microsoft.com/office/powerpoint/2010/main" val="3288866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15311" y="1117226"/>
            <a:ext cx="9459311" cy="2655989"/>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39</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417" y="1606730"/>
            <a:ext cx="5995852" cy="2468881"/>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parveen.e13339@cumail.in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40</a:t>
            </a:r>
            <a:endParaRPr lang="en-IN" dirty="0"/>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2139</TotalTime>
  <Words>2467</Words>
  <Application>Microsoft Office PowerPoint</Application>
  <PresentationFormat>On-screen Show (16:9)</PresentationFormat>
  <Paragraphs>327</Paragraphs>
  <Slides>41</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Vladimir Script</vt:lpstr>
      <vt:lpstr>Lato</vt:lpstr>
      <vt:lpstr>Symbol</vt:lpstr>
      <vt:lpstr>Times New Roman</vt:lpstr>
      <vt:lpstr>Cambria</vt:lpstr>
      <vt:lpstr>Arial Black</vt:lpstr>
      <vt:lpstr>Calibri</vt:lpstr>
      <vt:lpstr>Cambria Math</vt:lpstr>
      <vt:lpstr>Arial</vt:lpstr>
      <vt:lpstr>Aptos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State Space</vt:lpstr>
      <vt:lpstr>Uninformed Search</vt:lpstr>
      <vt:lpstr>Blind Search</vt:lpstr>
      <vt:lpstr>Features of Uninformed Search</vt:lpstr>
      <vt:lpstr>Breadth First Search</vt:lpstr>
      <vt:lpstr>Depth First Search</vt:lpstr>
      <vt:lpstr>How Search Works in AI</vt:lpstr>
      <vt:lpstr>Types of Search in AI</vt:lpstr>
      <vt:lpstr>Types of Search in AI</vt:lpstr>
      <vt:lpstr>Heuristic Function</vt:lpstr>
      <vt:lpstr>Heuristic Function</vt:lpstr>
      <vt:lpstr>Features of Informed Search</vt:lpstr>
      <vt:lpstr>Greedy Best First Search</vt:lpstr>
      <vt:lpstr>Key Idea of Greedy Best First Search</vt:lpstr>
      <vt:lpstr> Search Algorithm</vt:lpstr>
      <vt:lpstr>Search Algorithm </vt:lpstr>
      <vt:lpstr>Informed vs Uninformed Search</vt:lpstr>
      <vt:lpstr>Informed vs Uninformed Search</vt:lpstr>
      <vt:lpstr>Informed vs Uninformed Search</vt:lpstr>
      <vt:lpstr>Informed vs Uninformed Search</vt:lpstr>
      <vt:lpstr>Applications</vt:lpstr>
      <vt:lpstr>Heuristic Search Techniques in AI</vt:lpstr>
      <vt:lpstr>Heuristic Search Techniques in AI</vt:lpstr>
      <vt:lpstr>Components of Heuristic Search</vt:lpstr>
      <vt:lpstr>Types of Heuristic Search Techniques</vt:lpstr>
      <vt:lpstr>Types of Heuristic Search Techniques</vt:lpstr>
      <vt:lpstr>Applications of Heuristic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Parveen kumar Saini</cp:lastModifiedBy>
  <cp:revision>233</cp:revision>
  <dcterms:modified xsi:type="dcterms:W3CDTF">2025-12-19T10:31:03Z</dcterms:modified>
</cp:coreProperties>
</file>